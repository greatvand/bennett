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4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4"/>
            <a:ext cx="10566400" cy="419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4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4"/>
            <a:ext cx="10566400" cy="419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image" Target="../media/image-3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CSET217 · SOFTWARE DEVELOPMENT WITH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8643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4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site.yml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31648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BA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4</a:t>
            </a:r>
            <a:endParaRPr lang="en-US" sz="18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2839720"/>
            <a:ext cx="981075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spc="-10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 and Continuous Monitoring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12800" y="453644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scripting · Configuration management with Ansible · Metrics, alerts and logs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562673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5831840"/>
            <a:ext cx="12776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contact hours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3936" y="5831840"/>
            <a:ext cx="23217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outcomes CO2 · CO3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25102" y="5831840"/>
            <a:ext cx="1748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Semester III · Year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4 · 9 CONTACT HOURS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4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85330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431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2278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 after deployment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88000" y="19685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operations problem after deployment · Manual runbooks and their failure modes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30949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44602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42570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 scripting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88000" y="2471420"/>
            <a:ext cx="59649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Scripting operations tasks · Idempotency and safe re-runs · Log rotation and archival · Backups and restore verification · Health checks and self-restart · Task scheduling · Best practices · Limits of scripted automation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2289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365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34518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Configuration management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88000" y="3390900"/>
            <a:ext cx="5964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and need · Desired state vs imperative steps · CM tool landscape · Ansible: inventory, modules, playbooks · Idempotent web server · Managing CM at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93509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07162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4051300"/>
            <a:ext cx="392430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monitoring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88000" y="4097020"/>
            <a:ext cx="59649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to measure · System and application metrics · Thresholds, alerting and alert fatigue · Log analysis and structured logging · Assessing pipeline and platform performance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51104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Hands-on: operations scripting (log rotation, backup with restore verification, health check, scheduling) · configuration management with Ansible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4 · PART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4231641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BBA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514604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 After Deployment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796280"/>
            <a:ext cx="784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operations problem after deployment · Manual runbooks and their failure modes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OPERATIONS AFTER DEPLOYMENT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Operations Problem After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573530" cy="365760"/>
          </a:xfrm>
          <a:prstGeom prst="roundRect">
            <a:avLst>
              <a:gd name="adj" fmla="val 13889"/>
            </a:avLst>
          </a:prstGeom>
          <a:solidFill>
            <a:srgbClr val="E9E6DF"/>
          </a:solidFill>
          <a:ln/>
        </p:spPr>
        <p:txBody>
          <a:bodyPr wrap="square" lIns="86721" tIns="61321" rIns="35921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19961"/>
            <a:ext cx="16243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4430" y="1803400"/>
            <a:ext cx="1573530" cy="365760"/>
          </a:xfrm>
          <a:prstGeom prst="roundRect">
            <a:avLst>
              <a:gd name="adj" fmla="val 13889"/>
            </a:avLst>
          </a:prstGeom>
          <a:solidFill>
            <a:srgbClr val="D9CEF2"/>
          </a:solidFill>
          <a:ln/>
        </p:spPr>
        <p:txBody>
          <a:bodyPr wrap="square" lIns="86721" tIns="61321" rIns="35921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4430" y="2219961"/>
            <a:ext cx="16243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36060" y="1803400"/>
            <a:ext cx="7343140" cy="365760"/>
          </a:xfrm>
          <a:prstGeom prst="roundRect">
            <a:avLst>
              <a:gd name="adj" fmla="val 13889"/>
            </a:avLst>
          </a:prstGeom>
          <a:solidFill>
            <a:srgbClr val="6941C6"/>
          </a:solidFill>
          <a:ln/>
        </p:spPr>
        <p:txBody>
          <a:bodyPr wrap="square" lIns="86721" tIns="61321" rIns="0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2 and beyond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36060" y="2219961"/>
            <a:ext cx="75634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Operate, fix, patch and scale — most of a system's life is spent 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2690495"/>
            <a:ext cx="3414157" cy="808990"/>
          </a:xfrm>
          <a:prstGeom prst="roundRect">
            <a:avLst>
              <a:gd name="adj" fmla="val 1216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2844800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 keep growing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5680" y="3131820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until the disk fills up and the service stops.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8882" y="2690495"/>
            <a:ext cx="3414157" cy="808990"/>
          </a:xfrm>
          <a:prstGeom prst="roundRect">
            <a:avLst>
              <a:gd name="adj" fmla="val 1216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8587" y="2844800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needs backups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8587" y="3131820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the backups must actually restore.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61789" y="2690495"/>
            <a:ext cx="3414157" cy="808990"/>
          </a:xfrm>
          <a:prstGeom prst="roundRect">
            <a:avLst>
              <a:gd name="adj" fmla="val 1216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1494" y="2844800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crash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41494" y="3131820"/>
            <a:ext cx="3231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someone has to notice and restart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658236"/>
            <a:ext cx="3414157" cy="1022350"/>
          </a:xfrm>
          <a:prstGeom prst="roundRect">
            <a:avLst>
              <a:gd name="adj" fmla="val 962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5680" y="3812541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Servers drift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5680" y="4099561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changes make “identical” servers differ.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8882" y="3658236"/>
            <a:ext cx="3414157" cy="1022350"/>
          </a:xfrm>
          <a:prstGeom prst="roundRect">
            <a:avLst>
              <a:gd name="adj" fmla="val 962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8587" y="3812541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repeats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68587" y="4099561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Patches, certificates, clean-ups, user accounts.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61789" y="3658236"/>
            <a:ext cx="3414157" cy="1022350"/>
          </a:xfrm>
          <a:prstGeom prst="roundRect">
            <a:avLst>
              <a:gd name="adj" fmla="val 962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1494" y="3812541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Problems hide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41494" y="4099561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monitoring, users find them first.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1 · OPERATIONS AFTER DEPLOYMENT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Runbooks and Their Failure Modes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073650" cy="3803650"/>
          </a:xfrm>
          <a:prstGeom prst="roundRect">
            <a:avLst>
              <a:gd name="adj" fmla="val 258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86282"/>
            <a:ext cx="48556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RUNBOOK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75839"/>
            <a:ext cx="4855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server out of disk space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2626361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5080" y="262636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to the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1680" y="2626361"/>
            <a:ext cx="2501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ssh ops@web-03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5680" y="2915921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75080" y="291592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disk 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81680" y="2915921"/>
            <a:ext cx="2501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-h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5680" y="3205482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75080" y="320548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biggest logs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81680" y="3205482"/>
            <a:ext cx="25010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du -sh /var/log/* | sort -h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5680" y="3708400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75080" y="3708400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Compress old logs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81680" y="3708400"/>
            <a:ext cx="25010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gzip /var/log/myapp/*.log.1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5680" y="4211321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5080" y="4211321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archives over 14 days 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81680" y="4211321"/>
            <a:ext cx="2501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 … -mtime +14 -delete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5680" y="4714239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75080" y="4714239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Restart the 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81680" y="4714239"/>
            <a:ext cx="25010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sudo systemctl restart myapp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5680" y="5217161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75080" y="521716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 what you did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81680" y="5217161"/>
            <a:ext cx="2501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(in the ticket)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7600" y="180340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runbooks fail</a:t>
            </a:r>
            <a:endParaRPr lang="en-US" sz="1200" dirty="0"/>
          </a:p>
        </p:txBody>
      </p:sp>
      <p:pic>
        <p:nvPicPr>
          <p:cNvPr id="29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7600" y="2118361"/>
            <a:ext cx="203200" cy="203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502400" y="2118361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 get skipped or done out of order, especially at 3 a.m.</a:t>
            </a:r>
            <a:endParaRPr lang="en-US" sz="1200" dirty="0"/>
          </a:p>
        </p:txBody>
      </p:sp>
      <p:pic>
        <p:nvPicPr>
          <p:cNvPr id="31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7600" y="2433321"/>
            <a:ext cx="203200" cy="203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502400" y="2433321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typo in a path can delete the wrong files.</a:t>
            </a:r>
            <a:endParaRPr lang="en-US" sz="1200" dirty="0"/>
          </a:p>
        </p:txBody>
      </p:sp>
      <p:pic>
        <p:nvPicPr>
          <p:cNvPr id="3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7600" y="2748282"/>
            <a:ext cx="203200" cy="203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502400" y="2748282"/>
            <a:ext cx="50231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document is out of date; the system has changed since it was written.</a:t>
            </a:r>
            <a:endParaRPr lang="en-US" sz="1200" dirty="0"/>
          </a:p>
        </p:txBody>
      </p:sp>
      <p:pic>
        <p:nvPicPr>
          <p:cNvPr id="35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7600" y="3276600"/>
            <a:ext cx="203200" cy="203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502400" y="3276600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one person really knows how — and they are on leave.</a:t>
            </a:r>
            <a:endParaRPr lang="en-US" sz="1200" dirty="0"/>
          </a:p>
        </p:txBody>
      </p:sp>
      <p:pic>
        <p:nvPicPr>
          <p:cNvPr id="37" name="Image 4" descr="War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7600" y="3591561"/>
            <a:ext cx="203200" cy="203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502400" y="3591561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Nobody records exactly what was run.</a:t>
            </a:r>
            <a:endParaRPr lang="en-US" sz="1200" dirty="0"/>
          </a:p>
        </p:txBody>
      </p:sp>
      <p:pic>
        <p:nvPicPr>
          <p:cNvPr id="39" name="Image 5" descr="Warni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97600" y="3906521"/>
            <a:ext cx="203200" cy="203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502400" y="3906521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does not scale: now do it on 40 servers.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4 · PART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3982721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BBA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8971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 Scripting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547361"/>
            <a:ext cx="85026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Scripting operations tasks · Idempotency · Log rotation · Backups and restore verification · Health checks · Scheduling · Best practices · Limits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 Scripting for Operations Tasks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6350000" cy="3286760"/>
          </a:xfrm>
          <a:prstGeom prst="roundRect">
            <a:avLst>
              <a:gd name="adj" fmla="val 3091"/>
            </a:avLst>
          </a:prstGeom>
          <a:solidFill>
            <a:srgbClr val="172430"/>
          </a:solidFill>
          <a:ln/>
        </p:spPr>
        <p:txBody>
          <a:bodyPr wrap="square" lIns="224242" tIns="173442" rIns="48982" bIns="148043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#!/usr/bin/env bash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clean-logs.sh: the disk-space runbook, as code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 -euo pipefail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LOG_DIR="${LOG_DIR:-/var/log/myapp}"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KEEP_DAYS="${KEEP_DAYS:-14}"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log() { echo "$(date '+%F %T') [$1] $2"; }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[[ -d "$LOG_DIR" ]] || { log ERROR "missing $LOG_DIR"; exit 1; }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 "$LOG_DIR" -name '*.log.[0-9]' -exec gzip -f {} +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 "$LOG_DIR" -name '*.gz' -mtime +"$KEEP_DAYS" -delete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 INFO "cleaned $LOG_DIR"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67600" y="4660265"/>
            <a:ext cx="3911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67600" y="1806575"/>
            <a:ext cx="3911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7600" y="1910082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 -euo pipefail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7600" y="2148839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at the first error, unset variable or failed pipe.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67600" y="2466975"/>
            <a:ext cx="3911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7600" y="2570482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Settings at the 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67600" y="2809239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Defaults you can override: KEEP_DAYS=7 ./clean-logs.sh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67600" y="3127375"/>
            <a:ext cx="3911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7600" y="3230882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log function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67600" y="3469639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Timestamps and levels make cron output useful later.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67600" y="3787775"/>
            <a:ext cx="3911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7600" y="3891282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Exit codes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67600" y="4130039"/>
            <a:ext cx="40289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on success, non-zero on failure, so cron and monitors can react.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Idempotency and Safe Re-runs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Idempotent: running it once or ten times leaves the system in the same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414210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17932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idempotent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91000" y="217932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Idempotent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0" y="2179321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44665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2476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mkdir /data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91000" y="252476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mkdir -p /data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39200" y="2524761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error if it already exists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8174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2895600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echo "10.0.1.5 db" &gt;&gt; /etc/hosts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91000" y="2895600"/>
            <a:ext cx="45783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grep -qxF "10.0.1.5 db" /etc/hosts || echo "10.0.1.5 db" &gt;&gt; /etc/hosts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39200" y="28956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Adds the line only once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4016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479800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useradd deploy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91000" y="3479800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 deploy &amp;&gt;/dev/null || useradd deploy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39200" y="347980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Creates the user only when missing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377253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385063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ln -s /opt/app-2.1 /opt/app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91000" y="38506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ln -sfn /opt/app-2.1 /opt/app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39200" y="3850639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Replaces the link instead of failing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975" y="4402454"/>
            <a:ext cx="3414157" cy="1299210"/>
          </a:xfrm>
          <a:prstGeom prst="roundRect">
            <a:avLst>
              <a:gd name="adj" fmla="val 757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5680" y="4556764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Lock against overlap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5680" y="485647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flock -n /tmp/b.lock ./backup.sh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5680" y="5120642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copy exits instead of running twice.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8882" y="4402454"/>
            <a:ext cx="3414236" cy="1299210"/>
          </a:xfrm>
          <a:prstGeom prst="roundRect">
            <a:avLst>
              <a:gd name="adj" fmla="val 757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68587" y="4556764"/>
            <a:ext cx="3146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before you act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68587" y="4856479"/>
            <a:ext cx="31464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[[ -f "$OUT" ]] &amp;&amp; exit 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68587" y="5120642"/>
            <a:ext cx="31464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the current state; change only what differs.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61868" y="4402454"/>
            <a:ext cx="3414157" cy="1299210"/>
          </a:xfrm>
          <a:prstGeom prst="roundRect">
            <a:avLst>
              <a:gd name="adj" fmla="val 757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1574" y="4556764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Write, then rename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41574" y="485647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mv app.tmp app.conf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41574" y="5120642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Readers never see a half-written file.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 Rotation and Archival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715000" cy="2540000"/>
          </a:xfrm>
          <a:prstGeom prst="roundRect">
            <a:avLst>
              <a:gd name="adj" fmla="val 4000"/>
            </a:avLst>
          </a:prstGeom>
          <a:solidFill>
            <a:srgbClr val="172430"/>
          </a:solidFill>
          <a:ln/>
        </p:spPr>
        <p:txBody>
          <a:bodyPr wrap="square" lIns="224242" tIns="173442" rIns="68032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/etc/logrotate.d/myapp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/var/log/myapp/*.log 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daily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rotate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14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compress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delaycompress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missingok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notifempty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copytruncate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4470400"/>
            <a:ext cx="5715000" cy="1270000"/>
          </a:xfrm>
          <a:prstGeom prst="roundRect">
            <a:avLst>
              <a:gd name="adj" fmla="val 8000"/>
            </a:avLst>
          </a:prstGeom>
          <a:solidFill>
            <a:srgbClr val="172430"/>
          </a:solidFill>
          <a:ln/>
        </p:spPr>
        <p:txBody>
          <a:bodyPr wrap="square" lIns="224242" tIns="148042" rIns="68032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logrotate -d /etc/logrotate.d/myapp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dry run: shows what would happen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sudo logrotate -f /etc/logrotate.d/myapp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force a rotation 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32600" y="456882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2600" y="1806575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2600" y="1871979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daily · rotate 14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32600" y="2110742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Rotate once a day, keep 14 old files. logrotate itself runs from a daily timer.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32600" y="2604139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2600" y="2669542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compress · delaycompress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32600" y="2908300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Gzip old logs, but leave the newest old file plain for one more 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32600" y="3188339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2600" y="3253742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missingok · notifempty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32600" y="3492500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error if the log is missing; skip empty logs.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32600" y="3772539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2600" y="3837942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copytruncate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32600" y="4076700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the log, then empty it, so the app keeps writing to the same file.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2600" y="4699000"/>
            <a:ext cx="4546600" cy="655320"/>
          </a:xfrm>
          <a:prstGeom prst="roundRect">
            <a:avLst>
              <a:gd name="adj" fmla="val 11628"/>
            </a:avLst>
          </a:prstGeom>
          <a:solidFill>
            <a:srgbClr val="EAE5F6"/>
          </a:solidFill>
          <a:ln/>
        </p:spPr>
        <p:txBody>
          <a:bodyPr wrap="square" lIns="130082" tIns="91982" rIns="2828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Archive: sync the .gz files to S3 and let a lifecycle rule move them to Glacier later.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Backups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461000" cy="3286760"/>
          </a:xfrm>
          <a:prstGeom prst="roundRect">
            <a:avLst>
              <a:gd name="adj" fmla="val 3091"/>
            </a:avLst>
          </a:prstGeom>
          <a:solidFill>
            <a:srgbClr val="172430"/>
          </a:solidFill>
          <a:ln/>
        </p:spPr>
        <p:txBody>
          <a:bodyPr wrap="square" lIns="224242" tIns="173442" rIns="75652" bIns="148043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#!/usr/bin/env bash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backup-db.sh: nightly database backup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 -euo pipefail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STAMP="$(date +%F-%H%M)"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DEST=/backup/db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FILE="$DEST/appdb-$STAMP.sql.gz"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mkdir -p "$DEST"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pg_dump --no-owner -U app appdb | gzip &gt; "$FILE"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sha256sum "$FILE" &gt; "$FILE.sha256"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aws s3 cp "$FILE" s3://ops-backups/db/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aws s3 cp "$FILE.sha256" s3://ops-backups/db/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 "$DEST" -name 'appdb-*' -mtime +7 -delete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78600" y="429958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78600" y="18065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78600" y="1884680"/>
            <a:ext cx="49446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Dated names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every run makes a new file; nothing is overwritten.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78600" y="21774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78600" y="2255522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pipefail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if pg_dump fails, the whole line fails instead of saving an empty file.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78600" y="27616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8600" y="2839722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Checksum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.sha256 file proves later that the backup is not corrupted.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78600" y="3345817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8600" y="3423922"/>
            <a:ext cx="49446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 the server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backup on the same disk dies with that disk.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78600" y="3716654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8600" y="3794759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Retention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7 days here; S3 lifecycle rules keep longer history cheaply.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78600" y="4429764"/>
            <a:ext cx="4800600" cy="779780"/>
          </a:xfrm>
          <a:prstGeom prst="roundRect">
            <a:avLst>
              <a:gd name="adj" fmla="val 13029"/>
            </a:avLst>
          </a:prstGeom>
          <a:solidFill>
            <a:srgbClr val="6941C6"/>
          </a:solidFill>
          <a:ln/>
        </p:spPr>
      </p:sp>
      <p:sp>
        <p:nvSpPr>
          <p:cNvPr id="17" name="Text 15"/>
          <p:cNvSpPr/>
          <p:nvPr/>
        </p:nvSpPr>
        <p:spPr>
          <a:xfrm>
            <a:off x="6756400" y="4569464"/>
            <a:ext cx="4578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3-2-1 rule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56400" y="485647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copies of the data, on 2 kinds of storage, with 1 off-site.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Restore Verification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Until you have restored it, a backup is untested.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79321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8400" y="2204721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checksum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file arrived intact.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517142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8400" y="2542542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Restore into a scratch database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never into production.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854964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8400" y="2880364"/>
            <a:ext cx="43167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sanity checks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tables exist; row counts and the newest record look right.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395979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8400" y="3421379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the result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alert if the restore fails.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733800"/>
            <a:ext cx="27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8400" y="3759200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 on a schedule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weekly is common.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4200" y="1803400"/>
            <a:ext cx="5715000" cy="3492500"/>
          </a:xfrm>
          <a:prstGeom prst="roundRect">
            <a:avLst>
              <a:gd name="adj" fmla="val 2909"/>
            </a:avLst>
          </a:prstGeom>
          <a:solidFill>
            <a:srgbClr val="172430"/>
          </a:solidFill>
          <a:ln/>
        </p:spPr>
        <p:txBody>
          <a:bodyPr wrap="square" lIns="224242" tIns="173442" rIns="68032" bIns="148042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#!/usr/bin/env bash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verify-backup.sh FILE: test-restore a backup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 -euo pipefail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FILE="$1"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sha256sum -c "$FILE.sha256"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-d --name restore-test \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-e POSTGRES_PASSWORD=test postgres:16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until docker exec restore-test \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pg_isready -h 127.0.0.1 -U postgres; do sleep 2; done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gunzip -c "$FILE" | docker exec -i restore-test \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psql -U postgres -q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exec restore-test psql -U postgres -tc \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"SELECT count(*) FROM orders;"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rm -f restore-test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 Health Checks and Self-restart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414157" cy="2691130"/>
          </a:xfrm>
          <a:prstGeom prst="roundRect">
            <a:avLst>
              <a:gd name="adj" fmla="val 365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8627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CRASHES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63142"/>
            <a:ext cx="31463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systemd restarts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2557779"/>
            <a:ext cx="3054747" cy="1056640"/>
          </a:xfrm>
          <a:prstGeom prst="roundRect">
            <a:avLst>
              <a:gd name="adj" fmla="val 6010"/>
            </a:avLst>
          </a:prstGeom>
          <a:solidFill>
            <a:srgbClr val="172430"/>
          </a:solidFill>
          <a:ln/>
        </p:spPr>
        <p:txBody>
          <a:bodyPr wrap="square" lIns="108401" tIns="83001" rIns="24379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[Service]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ExecStart=/opt/myapp/run.sh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Restart=on-failure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RestartSec=5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5680" y="3677921"/>
            <a:ext cx="31463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process dies, systemd starts it again after 5 seconds. StartLimitBurst stops endless restart loops.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82" y="1806575"/>
            <a:ext cx="3414236" cy="2691130"/>
          </a:xfrm>
          <a:prstGeom prst="roundRect">
            <a:avLst>
              <a:gd name="adj" fmla="val 365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587" y="1986279"/>
            <a:ext cx="31464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HANGS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68587" y="2263142"/>
            <a:ext cx="314647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health check restarts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8587" y="2557779"/>
            <a:ext cx="3054826" cy="843280"/>
          </a:xfrm>
          <a:prstGeom prst="roundRect">
            <a:avLst>
              <a:gd name="adj" fmla="val 7530"/>
            </a:avLst>
          </a:prstGeom>
          <a:solidFill>
            <a:srgbClr val="172430"/>
          </a:solidFill>
          <a:ln/>
        </p:spPr>
        <p:txBody>
          <a:bodyPr wrap="square" lIns="108401" tIns="83001" rIns="24377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-fsS --max-time 5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localhost:8000/health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|| systemctl restart myapp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8587" y="3464564"/>
            <a:ext cx="31464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Catches a process that is still running but no longer answering. Run it every few minutes from cron.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1868" y="1806575"/>
            <a:ext cx="3414157" cy="2691130"/>
          </a:xfrm>
          <a:prstGeom prst="roundRect">
            <a:avLst>
              <a:gd name="adj" fmla="val 365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1574" y="1986279"/>
            <a:ext cx="31463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· CONTAINERS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41574" y="2263142"/>
            <a:ext cx="31463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 status and restart policy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41574" y="2557779"/>
            <a:ext cx="3054747" cy="843280"/>
          </a:xfrm>
          <a:prstGeom prst="roundRect">
            <a:avLst>
              <a:gd name="adj" fmla="val 7530"/>
            </a:avLst>
          </a:prstGeom>
          <a:solidFill>
            <a:srgbClr val="172430"/>
          </a:solidFill>
          <a:ln/>
        </p:spPr>
        <p:txBody>
          <a:bodyPr wrap="square" lIns="108401" tIns="83001" rIns="24379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HEALTHCHECK CMD curl -f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localhost:8000/health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|| exit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1574" y="3464564"/>
            <a:ext cx="31463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marks the container unhealthy; --restart unless-stopped acts only when the process exits. Orchestrators act on health.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761229"/>
            <a:ext cx="10566400" cy="0"/>
          </a:xfrm>
          <a:prstGeom prst="line">
            <a:avLst/>
          </a:prstGeom>
          <a:noFill/>
          <a:ln w="12700">
            <a:solidFill>
              <a:srgbClr val="6941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489203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Exit-based restarts handle crashes; health checks catch hangs. Use both.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Task Scheduling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952500" cy="447040"/>
          </a:xfrm>
          <a:custGeom>
            <a:avLst/>
            <a:gdLst/>
            <a:ahLst/>
            <a:cxnLst/>
            <a:rect l="l" t="t" r="r" b="b"/>
            <a:pathLst>
              <a:path w="952500" h="447040">
                <a:moveTo>
                  <a:pt x="50800" y="0"/>
                </a:moveTo>
                <a:lnTo>
                  <a:pt x="901700" y="0"/>
                </a:lnTo>
                <a:arcTo hR="50800" wR="50800" stAng="16200000" swAng="5400000"/>
                <a:lnTo>
                  <a:pt x="952500" y="396240"/>
                </a:lnTo>
                <a:arcTo hR="50800" wR="50800" stAng="0" swAng="5400000"/>
                <a:lnTo>
                  <a:pt x="50800" y="4470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EAE5F6"/>
          </a:solidFill>
          <a:ln/>
        </p:spPr>
        <p:txBody>
          <a:bodyPr wrap="square" lIns="38100" tIns="63500" rIns="38100" bIns="3810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301242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minute 0–59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41500" y="1803400"/>
            <a:ext cx="952500" cy="447040"/>
          </a:xfrm>
          <a:custGeom>
            <a:avLst/>
            <a:gdLst/>
            <a:ahLst/>
            <a:cxnLst/>
            <a:rect l="l" t="t" r="r" b="b"/>
            <a:pathLst>
              <a:path w="952500" h="447040">
                <a:moveTo>
                  <a:pt x="50800" y="0"/>
                </a:moveTo>
                <a:lnTo>
                  <a:pt x="901700" y="0"/>
                </a:lnTo>
                <a:arcTo hR="50800" wR="50800" stAng="16200000" swAng="5400000"/>
                <a:lnTo>
                  <a:pt x="952500" y="396240"/>
                </a:lnTo>
                <a:arcTo hR="50800" wR="50800" stAng="0" swAng="5400000"/>
                <a:lnTo>
                  <a:pt x="50800" y="4470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EAE5F6"/>
          </a:solidFill>
          <a:ln/>
        </p:spPr>
        <p:txBody>
          <a:bodyPr wrap="square" lIns="38100" tIns="63500" rIns="38100" bIns="3810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41500" y="2301242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hour 0–23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70200" y="1803400"/>
            <a:ext cx="952500" cy="447040"/>
          </a:xfrm>
          <a:custGeom>
            <a:avLst/>
            <a:gdLst/>
            <a:ahLst/>
            <a:cxnLst/>
            <a:rect l="l" t="t" r="r" b="b"/>
            <a:pathLst>
              <a:path w="952500" h="447040">
                <a:moveTo>
                  <a:pt x="50800" y="0"/>
                </a:moveTo>
                <a:lnTo>
                  <a:pt x="901700" y="0"/>
                </a:lnTo>
                <a:arcTo hR="50800" wR="50800" stAng="16200000" swAng="5400000"/>
                <a:lnTo>
                  <a:pt x="952500" y="396240"/>
                </a:lnTo>
                <a:arcTo hR="50800" wR="50800" stAng="0" swAng="5400000"/>
                <a:lnTo>
                  <a:pt x="50800" y="4470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EAE5F6"/>
          </a:solidFill>
          <a:ln/>
        </p:spPr>
        <p:txBody>
          <a:bodyPr wrap="square" lIns="38100" tIns="63500" rIns="38100" bIns="3810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70200" y="2301242"/>
            <a:ext cx="1003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of month 1–31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98900" y="1803400"/>
            <a:ext cx="952500" cy="447040"/>
          </a:xfrm>
          <a:custGeom>
            <a:avLst/>
            <a:gdLst/>
            <a:ahLst/>
            <a:cxnLst/>
            <a:rect l="l" t="t" r="r" b="b"/>
            <a:pathLst>
              <a:path w="952500" h="447040">
                <a:moveTo>
                  <a:pt x="50800" y="0"/>
                </a:moveTo>
                <a:lnTo>
                  <a:pt x="901700" y="0"/>
                </a:lnTo>
                <a:arcTo hR="50800" wR="50800" stAng="16200000" swAng="5400000"/>
                <a:lnTo>
                  <a:pt x="952500" y="396240"/>
                </a:lnTo>
                <a:arcTo hR="50800" wR="50800" stAng="0" swAng="5400000"/>
                <a:lnTo>
                  <a:pt x="50800" y="4470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EAE5F6"/>
          </a:solidFill>
          <a:ln/>
        </p:spPr>
        <p:txBody>
          <a:bodyPr wrap="square" lIns="38100" tIns="63500" rIns="38100" bIns="3810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98900" y="2301242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 1–12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27600" y="1803400"/>
            <a:ext cx="952500" cy="447040"/>
          </a:xfrm>
          <a:custGeom>
            <a:avLst/>
            <a:gdLst/>
            <a:ahLst/>
            <a:cxnLst/>
            <a:rect l="l" t="t" r="r" b="b"/>
            <a:pathLst>
              <a:path w="952500" h="447040">
                <a:moveTo>
                  <a:pt x="50800" y="0"/>
                </a:moveTo>
                <a:lnTo>
                  <a:pt x="901700" y="0"/>
                </a:lnTo>
                <a:arcTo hR="50800" wR="50800" stAng="16200000" swAng="5400000"/>
                <a:lnTo>
                  <a:pt x="952500" y="396240"/>
                </a:lnTo>
                <a:arcTo hR="50800" wR="50800" stAng="0" swAng="5400000"/>
                <a:lnTo>
                  <a:pt x="50800" y="44704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EAE5F6"/>
          </a:solidFill>
          <a:ln/>
        </p:spPr>
        <p:txBody>
          <a:bodyPr wrap="square" lIns="38100" tIns="63500" rIns="38100" bIns="3810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27600" y="2301242"/>
            <a:ext cx="10033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of week 0–7 (Sunday = 0 or 7)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56300" y="1803400"/>
            <a:ext cx="5422900" cy="401320"/>
          </a:xfrm>
          <a:prstGeom prst="roundRect">
            <a:avLst>
              <a:gd name="adj" fmla="val 12658"/>
            </a:avLst>
          </a:prstGeom>
          <a:solidFill>
            <a:srgbClr val="172430"/>
          </a:solidFill>
          <a:ln/>
        </p:spPr>
        <p:txBody>
          <a:bodyPr wrap="square" lIns="86721" tIns="48621" rIns="0" bIns="23221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/opt/ops/backup-db.sh &gt;&gt; /var/log/backup.log 2&gt;&amp;1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56300" y="2255521"/>
            <a:ext cx="5585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command, with its output saved to a log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84314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195321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94000" y="319532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12200" y="3195321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 for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462654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3528064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*/5 * * * *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94000" y="3528064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5 minutes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12200" y="3528064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3808096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800" y="3873500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* * * *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94000" y="38735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the start of every hour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12200" y="3873500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Disk-space check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4153539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4218942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 2 * * *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94000" y="42189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day at 02:30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12200" y="4218942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backup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800" y="44989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2800" y="4564379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3 * * 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94000" y="456437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Sundays at 03:00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12200" y="4564379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Restore test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5100321"/>
            <a:ext cx="10566400" cy="655320"/>
          </a:xfrm>
          <a:prstGeom prst="roundRect">
            <a:avLst>
              <a:gd name="adj" fmla="val 11628"/>
            </a:avLst>
          </a:prstGeom>
          <a:solidFill>
            <a:srgbClr val="EAE5F6"/>
          </a:solidFill>
          <a:ln/>
        </p:spPr>
        <p:txBody>
          <a:bodyPr wrap="square" lIns="130082" tIns="91982" rIns="0" bIns="665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 with crontab -e, list with crontab -l. systemd timers are the modern alternative: OnCalendar=*-*-* 02:30:00, and Persistent=true runs a job that was missed while the machine was off.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Practices for Automation Scripting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7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25042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 fast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2506979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-euo pipefail; check inputs and required tools first.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806575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380" y="196087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75380" y="2225042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Quote variables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380" y="2506979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"$FILE", not $FILE, so spaces do not split arguments.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806575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087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225042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secrets in scripts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506979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them from the environment or a secrets manager.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806575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780" y="196087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34780" y="2225042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and exit clearly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780" y="2506979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Timestamped logs; exit 0 for success, non-zero for failure.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46011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680" y="361442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5680" y="387857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re-runs safe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5680" y="4160521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Idempotent steps, plus a lock against overlapping runs.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95675" y="346011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380" y="361442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75380" y="387857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Offer a dry run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75380" y="4160521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--dry-run flag prints what would change, without changing it.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5375" y="346011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61442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87857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Lint and review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4160521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ShellCheck catches common bugs; keep scripts in Git and review them.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55075" y="3460117"/>
            <a:ext cx="2520950" cy="1494790"/>
          </a:xfrm>
          <a:prstGeom prst="roundRect">
            <a:avLst>
              <a:gd name="adj" fmla="val 6585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780" y="3614421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34780" y="3878579"/>
            <a:ext cx="2226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before production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34780" y="4160521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it on staging, or on a throwaway VM or container, first.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2 · AUTOMATION SCRIPTING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Limits of Scripted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417570" cy="1837690"/>
          </a:xfrm>
          <a:prstGeom prst="roundRect">
            <a:avLst>
              <a:gd name="adj" fmla="val 535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86279"/>
            <a:ext cx="309758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6941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21080" y="2748279"/>
            <a:ext cx="3097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1080" y="3048000"/>
            <a:ext cx="30975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script works fine.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2295" y="1806575"/>
            <a:ext cx="3417570" cy="1837690"/>
          </a:xfrm>
          <a:prstGeom prst="roundRect">
            <a:avLst>
              <a:gd name="adj" fmla="val 5356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7400" y="1986279"/>
            <a:ext cx="309758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6941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97400" y="2748279"/>
            <a:ext cx="3097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7400" y="3048000"/>
            <a:ext cx="30975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over SSH mostly works.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5440" y="1803400"/>
            <a:ext cx="3413760" cy="1844040"/>
          </a:xfrm>
          <a:prstGeom prst="roundRect">
            <a:avLst>
              <a:gd name="adj" fmla="val 5510"/>
            </a:avLst>
          </a:prstGeom>
          <a:solidFill>
            <a:srgbClr val="0F1A23"/>
          </a:solidFill>
          <a:ln/>
        </p:spPr>
      </p:sp>
      <p:sp>
        <p:nvSpPr>
          <p:cNvPr id="13" name="Text 11"/>
          <p:cNvSpPr/>
          <p:nvPr/>
        </p:nvSpPr>
        <p:spPr>
          <a:xfrm>
            <a:off x="8168640" y="1981200"/>
            <a:ext cx="309758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BBA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168640" y="2743200"/>
            <a:ext cx="3097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68640" y="3042921"/>
            <a:ext cx="30975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 failures, drift, and no record of what changed.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901442"/>
            <a:ext cx="63835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scripts break down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4191000"/>
            <a:ext cx="63835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Scripts say how, not what, and assume a starting state.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4480564"/>
            <a:ext cx="63835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 that fails halfway leaves servers in between states.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770121"/>
            <a:ext cx="63835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OS differs: apt or dnf, paths, service names.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5059679"/>
            <a:ext cx="63835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is no inventory of servers, roles and versions.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5349242"/>
            <a:ext cx="63835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reports what changed, and hand edits drift unseen.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3901442"/>
            <a:ext cx="4064000" cy="1308100"/>
          </a:xfrm>
          <a:prstGeom prst="roundRect">
            <a:avLst>
              <a:gd name="adj" fmla="val 7767"/>
            </a:avLst>
          </a:prstGeom>
          <a:solidFill>
            <a:srgbClr val="6941C6"/>
          </a:solidFill>
          <a:ln/>
        </p:spPr>
      </p:sp>
      <p:sp>
        <p:nvSpPr>
          <p:cNvPr id="23" name="Text 21"/>
          <p:cNvSpPr/>
          <p:nvPr/>
        </p:nvSpPr>
        <p:spPr>
          <a:xfrm>
            <a:off x="7518400" y="407924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18400" y="4391664"/>
            <a:ext cx="3767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 the desired state of every server once, and let a tool make each server match it. That is configuration management — Part 3.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1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Operations Scripting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rotation.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 /etc/logrotate.d/myapp for a demo app; check it with logrotate -d, then force a run with -f.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69827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395227"/>
            <a:ext cx="5860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 backup-db.sh with a dated file, a checksum and 7-day retention.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733042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2758442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Restore verification.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 verify-backup.sh: restore into a scratch container and check a row count.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299458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324858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 check.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Restart=on-failure to nginx with systemctl edit nginx, and write a script that restarts it when its URL stops answering.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86588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3891285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crontab -e: the health check every 5 minutes, the backup nightly, the restore test weekly.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44323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0800" y="4457700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 it.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 every script twice to show it is idempotent; kill nginx's main process and watch systemd bring it back.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1803400"/>
            <a:ext cx="4064000" cy="1270000"/>
          </a:xfrm>
          <a:prstGeom prst="roundRect">
            <a:avLst>
              <a:gd name="adj" fmla="val 8000"/>
            </a:avLst>
          </a:prstGeom>
          <a:solidFill>
            <a:srgbClr val="172430"/>
          </a:solidFill>
          <a:ln/>
        </p:spPr>
        <p:txBody>
          <a:bodyPr wrap="square" lIns="198842" tIns="148042" rIns="90638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crontab -e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*/5 * * * *  /opt/ops/health-check.sh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 2 * * *   /opt/ops/backup-db.sh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3 * * 0    /opt/ops/verify-latest.sh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8375" y="3203575"/>
            <a:ext cx="4057650" cy="1490980"/>
          </a:xfrm>
          <a:prstGeom prst="roundRect">
            <a:avLst>
              <a:gd name="adj" fmla="val 6601"/>
            </a:avLst>
          </a:prstGeom>
          <a:solidFill>
            <a:srgbClr val="FCFBF8"/>
          </a:solidFill>
          <a:ln w="6350">
            <a:solidFill>
              <a:srgbClr val="D6CC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3480" y="3383285"/>
            <a:ext cx="375686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23480" y="3722377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logrotate -d shows the plan with no errors.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23480" y="4011935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restored copy passes your row-count check.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23480" y="4301492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comes back after its process is killed.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Automation Scripting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mkdir /data not idempotent, and what is the fix?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80927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280927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cron schedule for “every day at 02:30”.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758442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2758442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backup job reports success. How do you know the backup is usable?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48488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484885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marks a container unhealthy. Does Docker restart it?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9624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722880"/>
          </a:xfrm>
          <a:prstGeom prst="roundRect">
            <a:avLst>
              <a:gd name="adj" fmla="val 3731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58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fails when the directory already exists. Use mkdir -p.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95148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951485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2 * * 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291842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291842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 its checksum, restore it into a scratch database and check the data.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38455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845558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Restart policies act only when the process exits; orchestrators act on health.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4 · PART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3982727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BBA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897127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Configuration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547358"/>
            <a:ext cx="85026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and need · Desired state vs imperative steps · CM tool landscape · Ansible · Idempotent web server · CM at scale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Configuration Management: Concept and Need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Keeping every system in a known, desired state automatically — with that state written as code.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306327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CM: snowflake servers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9150" y="2602235"/>
            <a:ext cx="1841500" cy="876300"/>
          </a:xfrm>
          <a:prstGeom prst="roundRect">
            <a:avLst>
              <a:gd name="adj" fmla="val 7971"/>
            </a:avLst>
          </a:prstGeom>
          <a:solidFill>
            <a:srgbClr val="FCFBF8"/>
          </a:solidFill>
          <a:ln w="12700">
            <a:solidFill>
              <a:srgbClr val="C9C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49960" y="2707642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9960" y="2946400"/>
            <a:ext cx="1630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1.18, old TLS settings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9550" y="2602235"/>
            <a:ext cx="1841500" cy="876300"/>
          </a:xfrm>
          <a:prstGeom prst="roundRect">
            <a:avLst>
              <a:gd name="adj" fmla="val 7971"/>
            </a:avLst>
          </a:prstGeom>
          <a:solidFill>
            <a:srgbClr val="FCFBF8"/>
          </a:solidFill>
          <a:ln w="12700">
            <a:solidFill>
              <a:srgbClr val="C9C3B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880360" y="2707642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2946400"/>
            <a:ext cx="1630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1.24, hand-edited config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79950" y="2602235"/>
            <a:ext cx="1841500" cy="876300"/>
          </a:xfrm>
          <a:prstGeom prst="roundRect">
            <a:avLst>
              <a:gd name="adj" fmla="val 7971"/>
            </a:avLst>
          </a:prstGeom>
          <a:solidFill>
            <a:srgbClr val="FCFBF8"/>
          </a:solidFill>
          <a:ln w="12700">
            <a:solidFill>
              <a:srgbClr val="C9C3B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10760" y="2707642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0760" y="2946400"/>
            <a:ext cx="1630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1.18, expired certificate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3637285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CM: one definition, identical servers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165600"/>
            <a:ext cx="868680" cy="391160"/>
          </a:xfrm>
          <a:prstGeom prst="roundRect">
            <a:avLst>
              <a:gd name="adj" fmla="val 16234"/>
            </a:avLst>
          </a:prstGeom>
          <a:solidFill>
            <a:srgbClr val="0F1A2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web.yml</a:t>
            </a:r>
            <a:endParaRPr lang="en-US" sz="1200" dirty="0"/>
          </a:p>
        </p:txBody>
      </p:sp>
      <p:pic>
        <p:nvPicPr>
          <p:cNvPr id="1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57680" y="4297685"/>
            <a:ext cx="254000" cy="127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2087880" y="3926842"/>
            <a:ext cx="1429147" cy="868680"/>
          </a:xfrm>
          <a:prstGeom prst="roundRect">
            <a:avLst>
              <a:gd name="adj" fmla="val 8772"/>
            </a:avLst>
          </a:prstGeom>
          <a:solidFill>
            <a:srgbClr val="EAE5F6"/>
          </a:solidFill>
          <a:ln/>
        </p:spPr>
      </p:sp>
      <p:sp>
        <p:nvSpPr>
          <p:cNvPr id="19" name="Text 16"/>
          <p:cNvSpPr/>
          <p:nvPr/>
        </p:nvSpPr>
        <p:spPr>
          <a:xfrm>
            <a:off x="2214880" y="4028442"/>
            <a:ext cx="12259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14880" y="4267200"/>
            <a:ext cx="12259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1.24, same config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93227" y="3926842"/>
            <a:ext cx="1429226" cy="868680"/>
          </a:xfrm>
          <a:prstGeom prst="roundRect">
            <a:avLst>
              <a:gd name="adj" fmla="val 8772"/>
            </a:avLst>
          </a:prstGeom>
          <a:solidFill>
            <a:srgbClr val="EAE5F6"/>
          </a:solidFill>
          <a:ln/>
        </p:spPr>
      </p:sp>
      <p:sp>
        <p:nvSpPr>
          <p:cNvPr id="22" name="Text 19"/>
          <p:cNvSpPr/>
          <p:nvPr/>
        </p:nvSpPr>
        <p:spPr>
          <a:xfrm>
            <a:off x="3720227" y="4028442"/>
            <a:ext cx="12260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720227" y="4267200"/>
            <a:ext cx="122602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1.24, same config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98653" y="3926842"/>
            <a:ext cx="1429147" cy="868680"/>
          </a:xfrm>
          <a:prstGeom prst="roundRect">
            <a:avLst>
              <a:gd name="adj" fmla="val 8772"/>
            </a:avLst>
          </a:prstGeom>
          <a:solidFill>
            <a:srgbClr val="EAE5F6"/>
          </a:solidFill>
          <a:ln/>
        </p:spPr>
      </p:sp>
      <p:sp>
        <p:nvSpPr>
          <p:cNvPr id="25" name="Text 22"/>
          <p:cNvSpPr/>
          <p:nvPr/>
        </p:nvSpPr>
        <p:spPr>
          <a:xfrm>
            <a:off x="5225653" y="4028442"/>
            <a:ext cx="12259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web-3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25653" y="4267200"/>
            <a:ext cx="12259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1.24, same config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32600" y="4802512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32600" y="2309502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32600" y="2387607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Consistency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every server is built the same way, from one definition.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32600" y="2893702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32600" y="2971807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 correction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tool notices manual changes and puts things back.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832600" y="3477902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32600" y="3556007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Repeatability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rebuild a server, or add ten more, in minutes.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832600" y="3848733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2600" y="3926838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trail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changes are reviewed code in Git: who, what and when.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832600" y="4432933"/>
            <a:ext cx="4546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32600" y="4511038"/>
            <a:ext cx="468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one engineer can manage hundreds of servers.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Desired State vs Imperative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Imperative steps: a 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53927"/>
            <a:ext cx="5130800" cy="1092200"/>
          </a:xfrm>
          <a:prstGeom prst="roundRect">
            <a:avLst>
              <a:gd name="adj" fmla="val 9302"/>
            </a:avLst>
          </a:prstGeom>
          <a:solidFill>
            <a:srgbClr val="172430"/>
          </a:solidFill>
          <a:ln/>
        </p:spPr>
        <p:txBody>
          <a:bodyPr wrap="square" lIns="224242" tIns="173442" rIns="85558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apt-get install -y nginx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cp site.conf /etc/nginx/sites-available/default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systemctl restart nginx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347727"/>
            <a:ext cx="52847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Says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Assumes a starting state, repeats every step on every run, and restarts nginx even when nothing changed.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400" y="1803400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Desired state: Ansible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8400" y="2153927"/>
            <a:ext cx="5130800" cy="2113280"/>
          </a:xfrm>
          <a:prstGeom prst="roundRect">
            <a:avLst>
              <a:gd name="adj" fmla="val 4808"/>
            </a:avLst>
          </a:prstGeom>
          <a:solidFill>
            <a:srgbClr val="172430"/>
          </a:solidFill>
          <a:ln/>
        </p:spPr>
        <p:txBody>
          <a:bodyPr wrap="square" lIns="224242" tIns="173442" rIns="85558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 name: nginx is installed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ansible.builtin.apt: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name: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state: present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 name: site config matches the template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ansible.builtin.template: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src: site.conf.j2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dest: /etc/nginx/sites-available/default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48400" y="4368800"/>
            <a:ext cx="528472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Says </a:t>
            </a: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Ansible compares what is there with what should be there and changes only the difference. Run it twice: nothing changes the second time.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CM Tool Landscape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25" y="1803400"/>
            <a:ext cx="0" cy="284988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65010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1160" cy="2834640"/>
        </p:xfrm>
        <a:graphic>
          <a:graphicData uri="http://schemas.openxmlformats.org/drawingml/2006/table">
            <a:tbl>
              <a:tblPr/>
              <a:tblGrid>
                <a:gridCol w="1688186"/>
                <a:gridCol w="2215744"/>
                <a:gridCol w="2215744"/>
                <a:gridCol w="2215744"/>
                <a:gridCol w="2215744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6941C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Ansible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Puppet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SaltStack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Architecture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Agentless: a control node and SSH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agent on each node, plus a Puppet server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agent (Chef Infra Client), plus a Chef Infra Server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master and minions (agents); salt-ssh works without agents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Push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Pull: agents check in, every 30 minutes by default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Pull: the client runs on a schedule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Push over an event bus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Language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YAML playbooks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Puppet DSL manifests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Ruby DSL: cookbooks and recipes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YAML with Jinja (state files)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Transport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SSH (WinRM for Windows)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HTTPS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HTTPS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ZeroMQ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Learning curve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Gentle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Moderate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Steeper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Moderate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5462277"/>
            <a:ext cx="10566400" cy="0"/>
          </a:xfrm>
          <a:prstGeom prst="line">
            <a:avLst/>
          </a:prstGeom>
          <a:noFill/>
          <a:ln w="12700">
            <a:solidFill>
              <a:srgbClr val="6941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800" y="559308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four describe a desired state and apply it idempotently. This course uses Ansible because it needs no agents.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Ansible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8517"/>
            <a:ext cx="2794000" cy="1598930"/>
          </a:xfrm>
          <a:prstGeom prst="roundRect">
            <a:avLst>
              <a:gd name="adj" fmla="val 6354"/>
            </a:avLst>
          </a:prstGeom>
          <a:solidFill>
            <a:srgbClr val="0F1A2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266317"/>
            <a:ext cx="2511552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node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592710"/>
            <a:ext cx="251155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Ansible, the inventory and your playbooks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3082925"/>
            <a:ext cx="251155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laptop (Linux, macOS or WSL), a jump host or a CI server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0" y="2156458"/>
            <a:ext cx="508000" cy="254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10000" y="2499358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89400" y="2499358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over SSH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10000" y="2801627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89400" y="2801627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a small module across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10000" y="3103885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89400" y="3103885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it; it reports ok, changed or failed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10000" y="3406142"/>
            <a:ext cx="22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89400" y="3406142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up, and move to the next task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712200" y="1803400"/>
            <a:ext cx="2667000" cy="655320"/>
          </a:xfrm>
          <a:prstGeom prst="roundRect">
            <a:avLst>
              <a:gd name="adj" fmla="val 11628"/>
            </a:avLst>
          </a:prstGeom>
          <a:solidFill>
            <a:srgbClr val="EAE5F6"/>
          </a:solidFill>
          <a:ln/>
        </p:spPr>
      </p:sp>
      <p:sp>
        <p:nvSpPr>
          <p:cNvPr id="18" name="Text 15"/>
          <p:cNvSpPr/>
          <p:nvPr/>
        </p:nvSpPr>
        <p:spPr>
          <a:xfrm>
            <a:off x="8839200" y="1905000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web1 · 10.0.1.11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839200" y="2143758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+ Python, no agent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712200" y="2560327"/>
            <a:ext cx="2667000" cy="655320"/>
          </a:xfrm>
          <a:prstGeom prst="roundRect">
            <a:avLst>
              <a:gd name="adj" fmla="val 11628"/>
            </a:avLst>
          </a:prstGeom>
          <a:solidFill>
            <a:srgbClr val="EAE5F6"/>
          </a:solidFill>
          <a:ln/>
        </p:spPr>
      </p:sp>
      <p:sp>
        <p:nvSpPr>
          <p:cNvPr id="21" name="Text 18"/>
          <p:cNvSpPr/>
          <p:nvPr/>
        </p:nvSpPr>
        <p:spPr>
          <a:xfrm>
            <a:off x="8839200" y="2661927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web2 · 10.0.1.12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839200" y="2900685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+ Python, no agent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12200" y="3317242"/>
            <a:ext cx="2667000" cy="655320"/>
          </a:xfrm>
          <a:prstGeom prst="roundRect">
            <a:avLst>
              <a:gd name="adj" fmla="val 11628"/>
            </a:avLst>
          </a:prstGeom>
          <a:solidFill>
            <a:srgbClr val="EAE5F6"/>
          </a:solidFill>
          <a:ln/>
        </p:spPr>
      </p:sp>
      <p:sp>
        <p:nvSpPr>
          <p:cNvPr id="24" name="Text 21"/>
          <p:cNvSpPr/>
          <p:nvPr/>
        </p:nvSpPr>
        <p:spPr>
          <a:xfrm>
            <a:off x="8839200" y="3418842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db1 · 10.0.2.21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839200" y="3657600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+ Python, no agent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15975" y="4229733"/>
            <a:ext cx="3414157" cy="1022350"/>
          </a:xfrm>
          <a:prstGeom prst="roundRect">
            <a:avLst>
              <a:gd name="adj" fmla="val 962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5680" y="4384042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Agentless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95680" y="4671058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to install or keep updated on the managed nodes.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388882" y="4229733"/>
            <a:ext cx="3414236" cy="1022350"/>
          </a:xfrm>
          <a:prstGeom prst="roundRect">
            <a:avLst>
              <a:gd name="adj" fmla="val 962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68587" y="4384042"/>
            <a:ext cx="3146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model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68587" y="4671058"/>
            <a:ext cx="31464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Changes happen when you, or your CI pipeline, run a playbook.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61868" y="4229733"/>
            <a:ext cx="3414157" cy="1022350"/>
          </a:xfrm>
          <a:prstGeom prst="roundRect">
            <a:avLst>
              <a:gd name="adj" fmla="val 9627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41574" y="4384042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141574" y="4671058"/>
            <a:ext cx="314638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 install ansible on the control node, or use the OS package.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Ansible Inventory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826000" cy="3393440"/>
          </a:xfrm>
          <a:prstGeom prst="roundRect">
            <a:avLst>
              <a:gd name="adj" fmla="val 2994"/>
            </a:avLst>
          </a:prstGeom>
          <a:solidFill>
            <a:srgbClr val="172430"/>
          </a:solidFill>
          <a:ln/>
        </p:spPr>
        <p:txBody>
          <a:bodyPr wrap="square" lIns="224242" tIns="173442" rIns="94702" bIns="14804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inventory.ini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[web]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web1 ansible_host=10.0.1.11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web2 ansible_host=10.0.1.12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[db]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db1 ansible_host=10.0.2.21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[prod:children]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[all:vars]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ansible_user=ubuntu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371538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8065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1884680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[web] and [db] collect hosts by role; plays target groups, not single hosts.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3907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468880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Children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prod is a group of groups, so one play can reach every server.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761617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839722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per host (ansible_host) or per group ([all:vars], group_vars/).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132460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210565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inventory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on AWS, the amazon.aws.aws_ec2 plugin lists instances by tag instead of a hand-kept file.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845558"/>
            <a:ext cx="5435600" cy="812800"/>
          </a:xfrm>
          <a:prstGeom prst="roundRect">
            <a:avLst>
              <a:gd name="adj" fmla="val 12500"/>
            </a:avLst>
          </a:prstGeom>
          <a:solidFill>
            <a:srgbClr val="172430"/>
          </a:solidFill>
          <a:ln/>
        </p:spPr>
        <p:txBody>
          <a:bodyPr wrap="square" lIns="198842" tIns="148042" rIns="49490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ansible-inventory -i inventory.ini --graph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 all -i inventory.ini -m ping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Ansible Modules and Ad-hoc Commands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14210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40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03400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manages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070733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361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ansible.builtin.apt · dnf · package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136142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packages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41617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481585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ansible.builtin.copy · template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481585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Files, from a static file or a Jinja2 template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761617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2827027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ansible.builtin.service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827027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Services: started, stopped, enabled at boot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107060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172458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ansible.builtin.user · file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172458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Accounts, directories, links and permissions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452502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51790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ansible.builtin.lineinfile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517900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line in a config file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3797933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38633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ansible.builtin.command · shell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863342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else — not idempotent by default, so use them last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4399285"/>
            <a:ext cx="10566400" cy="1270000"/>
          </a:xfrm>
          <a:prstGeom prst="roundRect">
            <a:avLst>
              <a:gd name="adj" fmla="val 8000"/>
            </a:avLst>
          </a:prstGeom>
          <a:solidFill>
            <a:srgbClr val="172430"/>
          </a:solidFill>
          <a:ln/>
        </p:spPr>
        <p:txBody>
          <a:bodyPr wrap="square" lIns="224242" tIns="148042" rIns="0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ad-hoc commands; -b runs the module with sudo ("become")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 web -i inventory.ini -m ansible.builtin.ping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 web -i inventory.ini -a "uptime"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 web -i inventory.ini -b -m ansible.builtin.apt -a "name=nginx state=present"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Ansible Playbooks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461000" cy="3495040"/>
          </a:xfrm>
          <a:prstGeom prst="roundRect">
            <a:avLst>
              <a:gd name="adj" fmla="val 2907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51015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site.yml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58"/>
            <a:ext cx="5101590" cy="279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Install and start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hosts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web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become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true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 name: Install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ansible.builtin.apt: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name: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state: present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 name: Start and enable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ansible.builtin.service: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name: nginx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state: started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enabled: true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78600" y="414210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78600" y="18065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78600" y="188468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maps a group of hosts to a list of tasks; sets hosts, become and vars.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78600" y="23907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8600" y="246888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one module call with its arguments; tasks run in order on every host.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78600" y="29749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8600" y="305308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Handler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runs only when a task notifies it with a change, once at the end of the play.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78600" y="3559175"/>
            <a:ext cx="4800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8600" y="3637280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 and templates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group_vars, host_vars and Jinja2 let one playbook fit many servers.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78600" y="4272285"/>
            <a:ext cx="4800600" cy="1270000"/>
          </a:xfrm>
          <a:prstGeom prst="roundRect">
            <a:avLst>
              <a:gd name="adj" fmla="val 8000"/>
            </a:avLst>
          </a:prstGeom>
          <a:solidFill>
            <a:srgbClr val="172430"/>
          </a:solidFill>
          <a:ln/>
        </p:spPr>
        <p:txBody>
          <a:bodyPr wrap="square" lIns="198842" tIns="148042" rIns="68540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-i inventory.ini site.yml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with the inventory set in ansible.cfg: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site.yml --check --diff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site.yml --limit web1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Idempotent Configuration of a Web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588000" cy="3924300"/>
          </a:xfrm>
          <a:prstGeom prst="roundRect">
            <a:avLst>
              <a:gd name="adj" fmla="val 2589"/>
            </a:avLst>
          </a:prstGeom>
          <a:solidFill>
            <a:srgbClr val="172430"/>
          </a:solidFill>
          <a:ln/>
        </p:spPr>
        <p:txBody>
          <a:bodyPr wrap="square" lIns="198842" tIns="122642" rIns="44918" bIns="97242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 name: Configure web servers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hosts: web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become: 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tasks: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 name: Install nginx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ansible.builtin.apt: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name: nginx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state: present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update_cache: 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 name: Deploy the site config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ansible.builtin.template: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src: templates/site.conf.j2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dest: /etc/nginx/sites-available/default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notify: Reload nginx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 name: Start and enable nginx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ansible.builtin.service: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name: nginx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state: started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enabled: true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05600" y="1803400"/>
            <a:ext cx="4673600" cy="1546860"/>
          </a:xfrm>
          <a:prstGeom prst="roundRect">
            <a:avLst>
              <a:gd name="adj" fmla="val 6568"/>
            </a:avLst>
          </a:prstGeom>
          <a:solidFill>
            <a:srgbClr val="172430"/>
          </a:solidFill>
          <a:ln/>
        </p:spPr>
      </p:sp>
      <p:sp>
        <p:nvSpPr>
          <p:cNvPr id="6" name="Text 4"/>
          <p:cNvSpPr/>
          <p:nvPr/>
        </p:nvSpPr>
        <p:spPr>
          <a:xfrm>
            <a:off x="6934200" y="1955800"/>
            <a:ext cx="43428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end of web.yml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34200" y="2245358"/>
            <a:ext cx="43428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handlers: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 name: Reload nginx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ansible.builtin.service: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name: nginx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state: reloaded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05600" y="3451858"/>
            <a:ext cx="4673600" cy="1546860"/>
          </a:xfrm>
          <a:prstGeom prst="roundRect">
            <a:avLst>
              <a:gd name="adj" fmla="val 6568"/>
            </a:avLst>
          </a:prstGeom>
          <a:solidFill>
            <a:srgbClr val="172430"/>
          </a:solidFill>
          <a:ln/>
        </p:spPr>
      </p:sp>
      <p:sp>
        <p:nvSpPr>
          <p:cNvPr id="9" name="Text 7"/>
          <p:cNvSpPr/>
          <p:nvPr/>
        </p:nvSpPr>
        <p:spPr>
          <a:xfrm>
            <a:off x="6934200" y="3604258"/>
            <a:ext cx="43428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templates/site.conf.j2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34200" y="3893827"/>
            <a:ext cx="43428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server {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listen 80 default_server;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server_name {{ inventory_hostname }};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root /var/www/html;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5100327"/>
            <a:ext cx="48138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handler runs only when the template task changes the config file.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It Twice: Proving Idempotency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207000" cy="3395980"/>
          </a:xfrm>
          <a:prstGeom prst="roundRect">
            <a:avLst>
              <a:gd name="adj" fmla="val 2992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First run · fresh server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58"/>
            <a:ext cx="4839970" cy="270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-i inventory.ini web.yml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[Gathering Facts] *********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ok: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[Install nginx] ***********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changed: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[Deploy the site config] 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changed: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[Start and enable nginx] 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ok: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RUNNING HANDLER [Reload nginx] 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changed: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PLAY RECAP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web1 : ok=5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changed=3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failed=0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803400"/>
            <a:ext cx="5207000" cy="2984500"/>
          </a:xfrm>
          <a:prstGeom prst="roundRect">
            <a:avLst>
              <a:gd name="adj" fmla="val 3404"/>
            </a:avLst>
          </a:prstGeom>
          <a:solidFill>
            <a:srgbClr val="172430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006600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Second run · same command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321558"/>
            <a:ext cx="4839970" cy="2288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-i inventory.ini web.yml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[Gathering Facts] *********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ok: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[Install nginx] ***********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ok: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[Deploy the site config] 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ok: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[Start and enable nginx] **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3A2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ok: [web1]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PLAY RECAP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web1 : ok=4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changed=0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failed=0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5459735"/>
            <a:ext cx="10566400" cy="0"/>
          </a:xfrm>
          <a:prstGeom prst="line">
            <a:avLst/>
          </a:prstGeom>
          <a:noFill/>
          <a:ln w="12700">
            <a:solidFill>
              <a:srgbClr val="6941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559054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run: changed=0. The server already matches the playbook, so nothing is touched — not even a reload.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3 · CONFIGURATION MANAGEMENT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Managing CM Infrastructure at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4826000" cy="3601720"/>
          </a:xfrm>
          <a:prstGeom prst="roundRect">
            <a:avLst>
              <a:gd name="adj" fmla="val 2821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066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project layout that grows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21558"/>
            <a:ext cx="4447540" cy="290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ansible/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ansible.cfg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site.yml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inventories/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├── staging/hosts.ini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└── production/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    ├── hosts.ini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     └── group_vars/web.yml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└──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roles/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├── common/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└── nginx/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├── tasks/main.yml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├── handlers/main.yml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└── templates/site.conf.j2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509714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8065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884680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package tasks, handlers and templates into reusable units; share them as collections on Ansible Galaxy.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3907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468880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inventory per environment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staging and production, with group_vars for what differs.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9749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053080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inventory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read the hosts from AWS by tag instead of keeping lists by hand.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559175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37280"/>
            <a:ext cx="55986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Ansible Vault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passwords and keys stay encrypted inside the Git repository.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930017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008122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serial: "25%" changes a quarter of the hosts at a time; forks sets how many run at once.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4514217"/>
            <a:ext cx="5435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4592322"/>
            <a:ext cx="559866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Test, lint, detect drift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ansible-lint and Molecule before merging; a scheduled --check run reports drift.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A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HANDS-ON LAB 2 · STUDIO 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Lab: Configuration Management with Ansible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28800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pip install ansible on the control node (Linux or WSL); check ansible --version.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57127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382527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List two managed nodes (EC2 instances or VMs) in inventory.ini; ansible all -m ping must succeed.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10842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2936242"/>
            <a:ext cx="5994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 hoc.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Install a package and read uptime on every web host, one command each.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261358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286758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Playbook.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 web.yml from the slides: nginx, the site template and a reload handler.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815085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3840485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Idempotency.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 it twice and compare the PLAY RECAP; the second run must show changed=0.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4368800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0800" y="4394200"/>
            <a:ext cx="58602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Edit the nginx config by hand on one node; find it with --check --diff, then fix it with a normal run.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922527"/>
            <a:ext cx="40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0800" y="4947927"/>
            <a:ext cx="5860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Bonus.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Turn the playbook into a role and add a staging inventory.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1803400"/>
            <a:ext cx="4064000" cy="1498600"/>
          </a:xfrm>
          <a:prstGeom prst="roundRect">
            <a:avLst>
              <a:gd name="adj" fmla="val 6780"/>
            </a:avLst>
          </a:prstGeom>
          <a:solidFill>
            <a:srgbClr val="172430"/>
          </a:solidFill>
          <a:ln/>
        </p:spPr>
        <p:txBody>
          <a:bodyPr wrap="square" lIns="198842" tIns="148042" rIns="90638" bIns="1226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inventory set in ansible.cfg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 all -m ping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web.yml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ansible-playbook web.yml --check --diff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8375" y="3432175"/>
            <a:ext cx="4057650" cy="1704340"/>
          </a:xfrm>
          <a:prstGeom prst="roundRect">
            <a:avLst>
              <a:gd name="adj" fmla="val 5775"/>
            </a:avLst>
          </a:prstGeom>
          <a:solidFill>
            <a:srgbClr val="FCFBF8"/>
          </a:solidFill>
          <a:ln w="6350">
            <a:solidFill>
              <a:srgbClr val="D6CC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3480" y="3611885"/>
            <a:ext cx="3756863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 when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23480" y="3950977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ping returns pong from every node.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23480" y="4240535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second run shows changed=0.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23480" y="4530092"/>
            <a:ext cx="375686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--check --diff shows your hand edit, and a normal run removes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Configuration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Ansible need on a managed node?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80927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280927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Puppet push or pull configuration?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758442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2758442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does a handler run?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235958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235958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“desired state” mean?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713485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722880"/>
          </a:xfrm>
          <a:prstGeom prst="roundRect">
            <a:avLst>
              <a:gd name="adj" fmla="val 3731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58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SSH access and Python. No agent.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738127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738127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Pull: agents fetch it from the Puppet server, every 30 minutes by default.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291842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291842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when a task that notifies it reports changed — once, at the end of the play.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3845558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845558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declare the end result; the tool checks what is there and changes only what differs.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4 · PART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3982715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BBA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897115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Monitoring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5547370"/>
            <a:ext cx="85026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to measure · System and application metrics · Thresholds, alerting and alert fatigue · Log analysis and structured logging · Assessing pipeline and platform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Monitoring: What to Measure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four golden signals: watch them for every service that users depend 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096145"/>
            <a:ext cx="2520950" cy="1338580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5680" y="2267595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0480" y="2250455"/>
            <a:ext cx="1076516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Latency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95680" y="257683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 requests take to serve.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5680" y="306705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e.g. p95 response 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95675" y="2096145"/>
            <a:ext cx="2520950" cy="1338580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11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5380" y="2267595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80180" y="2250455"/>
            <a:ext cx="829247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Traffic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75380" y="2576835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much demand the system gets.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75380" y="306705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e.g. requests per second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5375" y="2096145"/>
            <a:ext cx="2520950" cy="1338580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16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55080" y="2267595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9880" y="2250455"/>
            <a:ext cx="77847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55080" y="257683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requests fail.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55080" y="285370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e.g. % of 5xx responses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855075" y="2096145"/>
            <a:ext cx="2520950" cy="1338580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21" name="Image 3" descr="Databa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4780" y="2267595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9580" y="2250455"/>
            <a:ext cx="139579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Saturation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034780" y="257683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full the system is.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034780" y="2853705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e.g. CPU, memory, queues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15975" y="3644280"/>
            <a:ext cx="5200650" cy="1477010"/>
          </a:xfrm>
          <a:prstGeom prst="roundRect">
            <a:avLst>
              <a:gd name="adj" fmla="val 666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95680" y="3798565"/>
            <a:ext cx="49864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method</a:t>
            </a: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for each resource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95680" y="4093220"/>
            <a:ext cx="25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300480" y="4118620"/>
            <a:ext cx="46725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Utilization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how busy it is, e.g. CPU at 85%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95680" y="4405635"/>
            <a:ext cx="25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300480" y="4431035"/>
            <a:ext cx="46725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Saturation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work left waiting, e.g. the run queue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95680" y="4718050"/>
            <a:ext cx="25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300480" y="4743450"/>
            <a:ext cx="46725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error events, e.g. disk or network errors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175375" y="3644280"/>
            <a:ext cx="5200650" cy="1477010"/>
          </a:xfrm>
          <a:prstGeom prst="roundRect">
            <a:avLst>
              <a:gd name="adj" fmla="val 666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355080" y="3798565"/>
            <a:ext cx="49864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method</a:t>
            </a: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for each service or API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355080" y="4093220"/>
            <a:ext cx="25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659880" y="4118620"/>
            <a:ext cx="46725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requests per second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355080" y="4405635"/>
            <a:ext cx="25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659880" y="4431035"/>
            <a:ext cx="46725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failed requests per second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355080" y="4718050"/>
            <a:ext cx="25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6659880" y="4743450"/>
            <a:ext cx="46725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how long requests take, as percentiles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812800" y="53276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Golden signals: Google's Site Reliability Engineering book. USE: Brendan Gregg. RED: Tom Wilkie.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and Application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metrics · is the machine healthy?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3949075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2096145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174255"/>
            <a:ext cx="18967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CPU and 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55900" y="2174255"/>
            <a:ext cx="3283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top · uptime · vmstat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466975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45085"/>
            <a:ext cx="18967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and swap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55900" y="2545085"/>
            <a:ext cx="3283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free -h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837830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2915915"/>
            <a:ext cx="18967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Disk space and inodes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55900" y="2915915"/>
            <a:ext cx="3283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-h · df -i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3208660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3286770"/>
            <a:ext cx="18967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Disk I/O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55900" y="3286770"/>
            <a:ext cx="3283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iostat -x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3579490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800" y="3657600"/>
            <a:ext cx="18967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5900" y="3657600"/>
            <a:ext cx="3283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ip -s link · ss -tuln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8400" y="18034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metrics · is the service healthy?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8400" y="3949075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8400" y="2096145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8400" y="2174255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10500" y="2174255"/>
            <a:ext cx="36757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 per second, per endpoint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8400" y="2466975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8400" y="2545085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0500" y="2545085"/>
            <a:ext cx="36757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failed requests: 5xx responses and timeouts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48400" y="2837830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8400" y="2915915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Latency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10500" y="2915915"/>
            <a:ext cx="36757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p50, p95 and p99 response 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48400" y="3208660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8400" y="3286770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Saturation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0500" y="3286770"/>
            <a:ext cx="36757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 depth, busy workers, DB connections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8400" y="3579490"/>
            <a:ext cx="51308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8400" y="3657600"/>
            <a:ext cx="1511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events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10500" y="3657600"/>
            <a:ext cx="36757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sign-ups, orders, payments per minute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4206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Collecting and viewing them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2800" y="4559300"/>
            <a:ext cx="1193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057400" y="4495800"/>
            <a:ext cx="1278017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node_exporter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37017" y="4495800"/>
            <a:ext cx="115697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/metrics</a:t>
            </a:r>
            <a:endParaRPr lang="en-US" sz="1200" dirty="0"/>
          </a:p>
        </p:txBody>
      </p:sp>
      <p:pic>
        <p:nvPicPr>
          <p:cNvPr id="42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95587" y="4577085"/>
            <a:ext cx="304800" cy="1778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101987" y="4495800"/>
            <a:ext cx="1112838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Prometheus</a:t>
            </a:r>
            <a:endParaRPr lang="en-US" sz="1200" dirty="0"/>
          </a:p>
        </p:txBody>
      </p:sp>
      <p:pic>
        <p:nvPicPr>
          <p:cNvPr id="4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16425" y="4577085"/>
            <a:ext cx="304800" cy="17780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722825" y="4495800"/>
            <a:ext cx="819309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Grafana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643733" y="4559300"/>
            <a:ext cx="38475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Prometheus scrapes both targets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812800" y="4975870"/>
            <a:ext cx="1193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AWS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2057400" y="4912370"/>
            <a:ext cx="1548130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CloudWatch agent</a:t>
            </a:r>
            <a:endParaRPr lang="en-US" sz="1200" dirty="0"/>
          </a:p>
        </p:txBody>
      </p:sp>
      <p:pic>
        <p:nvPicPr>
          <p:cNvPr id="4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07130" y="4993655"/>
            <a:ext cx="304800" cy="17780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4113530" y="4912370"/>
            <a:ext cx="1113234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CloudWatch</a:t>
            </a:r>
            <a:endParaRPr lang="en-US" sz="1200" dirty="0"/>
          </a:p>
        </p:txBody>
      </p:sp>
      <p:pic>
        <p:nvPicPr>
          <p:cNvPr id="5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28364" y="4993655"/>
            <a:ext cx="304800" cy="17780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734764" y="4912370"/>
            <a:ext cx="1927304" cy="340360"/>
          </a:xfrm>
          <a:prstGeom prst="roundRect">
            <a:avLst>
              <a:gd name="adj" fmla="val 14925"/>
            </a:avLst>
          </a:prstGeom>
          <a:solidFill>
            <a:srgbClr val="17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Alarms and dashboards</a:t>
            </a:r>
            <a:endParaRPr lang="en-US" sz="1200" dirty="0"/>
          </a:p>
        </p:txBody>
      </p:sp>
      <p:sp>
        <p:nvSpPr>
          <p:cNvPr id="53" name="Text 47"/>
          <p:cNvSpPr/>
          <p:nvPr/>
        </p:nvSpPr>
        <p:spPr>
          <a:xfrm>
            <a:off x="7763669" y="4975870"/>
            <a:ext cx="37239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and disk space need the agent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Latency Percentiles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minute, 100 requests: 90 take 100 ms each, and 10 hit a slow database query and take 2,000 ms.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53915"/>
            <a:ext cx="9517380" cy="457200"/>
          </a:xfrm>
          <a:custGeom>
            <a:avLst/>
            <a:gdLst/>
            <a:ahLst/>
            <a:cxnLst/>
            <a:rect l="l" t="t" r="r" b="b"/>
            <a:pathLst>
              <a:path w="9517380" h="457200">
                <a:moveTo>
                  <a:pt x="76200" y="0"/>
                </a:moveTo>
                <a:lnTo>
                  <a:pt x="9517380" y="0"/>
                </a:lnTo>
                <a:lnTo>
                  <a:pt x="9517380" y="457200"/>
                </a:lnTo>
                <a:lnTo>
                  <a:pt x="76200" y="457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D9CEF2"/>
          </a:solidFill>
          <a:ln/>
        </p:spPr>
        <p:txBody>
          <a:bodyPr wrap="square" lIns="152400" tIns="0" rIns="152400" bIns="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 requests · 100 ms each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55580" y="2153915"/>
            <a:ext cx="1023620" cy="457200"/>
          </a:xfrm>
          <a:custGeom>
            <a:avLst/>
            <a:gdLst/>
            <a:ahLst/>
            <a:cxnLst/>
            <a:rect l="l" t="t" r="r" b="b"/>
            <a:pathLst>
              <a:path w="1023620" h="457200">
                <a:moveTo>
                  <a:pt x="0" y="0"/>
                </a:moveTo>
                <a:lnTo>
                  <a:pt x="947420" y="0"/>
                </a:lnTo>
                <a:arcTo hR="76200" wR="76200" stAng="16200000" swAng="5400000"/>
                <a:lnTo>
                  <a:pt x="1023620" y="381000"/>
                </a:lnTo>
                <a:arcTo hR="76200" wR="76200" stAng="0" swAng="5400000"/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941C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2 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71271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= (90 × 100 + 10 × 2,000) ÷ 100 = 290 ms. Sort all 100 times: the 50th is 100 ms, the 95th is 2,000 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3183260"/>
            <a:ext cx="3417570" cy="1710690"/>
          </a:xfrm>
          <a:prstGeom prst="roundRect">
            <a:avLst>
              <a:gd name="adj" fmla="val 575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080" y="3362970"/>
            <a:ext cx="30975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AVERAGE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1080" y="3627115"/>
            <a:ext cx="309758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290 ms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21080" y="4287515"/>
            <a:ext cx="30975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Looks acceptable, yet not one request took 290 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2295" y="3183260"/>
            <a:ext cx="3417570" cy="1710690"/>
          </a:xfrm>
          <a:prstGeom prst="roundRect">
            <a:avLst>
              <a:gd name="adj" fmla="val 5754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7400" y="3362970"/>
            <a:ext cx="30975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p50 · MEDIAN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7400" y="3627115"/>
            <a:ext cx="309758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 ms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97400" y="4287515"/>
            <a:ext cx="30975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Half the requests take this long or less: the typical user is fine.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65440" y="3180085"/>
            <a:ext cx="3413760" cy="1717040"/>
          </a:xfrm>
          <a:prstGeom prst="roundRect">
            <a:avLst>
              <a:gd name="adj" fmla="val 5917"/>
            </a:avLst>
          </a:prstGeom>
          <a:solidFill>
            <a:srgbClr val="0F1A23"/>
          </a:solidFill>
          <a:ln/>
        </p:spPr>
      </p:sp>
      <p:sp>
        <p:nvSpPr>
          <p:cNvPr id="17" name="Text 15"/>
          <p:cNvSpPr/>
          <p:nvPr/>
        </p:nvSpPr>
        <p:spPr>
          <a:xfrm>
            <a:off x="8168640" y="3357885"/>
            <a:ext cx="30975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p95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68640" y="3622055"/>
            <a:ext cx="309758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BBA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2,000 ms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168640" y="4282455"/>
            <a:ext cx="30975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least 1 request in 20 takes this long. This is the slow tail.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5157465"/>
            <a:ext cx="10566400" cy="0"/>
          </a:xfrm>
          <a:prstGeom prst="line">
            <a:avLst/>
          </a:prstGeom>
          <a:noFill/>
          <a:ln w="12700">
            <a:solidFill>
              <a:srgbClr val="6941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528827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Averages hide the slow tail. Graph and alert on p95 and p99; use p50 for the typical user.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Thresholds and Alerting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85330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897380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Threshold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fire when a measure crosses a line: error rate above 5%, disk more than 90% full.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41617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06980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for: duration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condition must hold for a while (here 10 minutes), so one short spike pages nobody.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302577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3116580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Severity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page: act now · ticket: fix in working hours · log: record only.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63537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726180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Symptoms over causes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alert on what users feel (errors, slow pages), not on causes like high CPU.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4244975"/>
            <a:ext cx="44196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4335780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Runbook link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every alert tells the responder what to check first.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4958085"/>
            <a:ext cx="4552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Alertmanager then groups, silences and routes alerts to email, Slack or an on-call pager.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7200" y="1803400"/>
            <a:ext cx="5842000" cy="3495040"/>
          </a:xfrm>
          <a:prstGeom prst="roundRect">
            <a:avLst>
              <a:gd name="adj" fmla="val 2907"/>
            </a:avLst>
          </a:prstGeom>
          <a:solidFill>
            <a:srgbClr val="17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765800" y="2006600"/>
            <a:ext cx="55463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alert-rules.yml · Prometheus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5800" y="2321570"/>
            <a:ext cx="5546344" cy="279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groups: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 name: web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rules: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-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alert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HighErrorRate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expr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|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sum(rate(http_requests_total{status=~"5.."}[5m]))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/ sum(rate(http_requests_total[5m])) &gt; 0.05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10m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labels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severity: page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annotations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summary: More than 5% of requests are failing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runbook_url: https://wiki.example.com/rb/web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 Fatigue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Noisy alerts teach people to ignore alerts — until the one that matters is missed.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306315"/>
            <a:ext cx="4445000" cy="1727200"/>
          </a:xfrm>
          <a:prstGeom prst="roundRect">
            <a:avLst>
              <a:gd name="adj" fmla="val 5882"/>
            </a:avLst>
          </a:prstGeom>
          <a:solidFill>
            <a:srgbClr val="0F1A23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84115"/>
            <a:ext cx="4159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3A2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causes</a:t>
            </a:r>
            <a:endParaRPr lang="en-US" sz="1200" dirty="0"/>
          </a:p>
        </p:txBody>
      </p:sp>
      <p:pic>
        <p:nvPicPr>
          <p:cNvPr id="7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778770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0800" y="2773685"/>
            <a:ext cx="38458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Thresholds so tight that alerts flap</a:t>
            </a:r>
            <a:endParaRPr lang="en-US" sz="1200" dirty="0"/>
          </a:p>
        </p:txBody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16000" y="3068315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0800" y="3063255"/>
            <a:ext cx="38458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 on causes that users never feel</a:t>
            </a:r>
            <a:endParaRPr lang="en-US" sz="1200" dirty="0"/>
          </a:p>
        </p:txBody>
      </p:sp>
      <p:pic>
        <p:nvPicPr>
          <p:cNvPr id="11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16000" y="3357885"/>
            <a:ext cx="2032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0800" y="3352800"/>
            <a:ext cx="38458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outage fires fifty duplicate alerts</a:t>
            </a:r>
            <a:endParaRPr lang="en-US" sz="1200" dirty="0"/>
          </a:p>
        </p:txBody>
      </p:sp>
      <p:pic>
        <p:nvPicPr>
          <p:cNvPr id="13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16000" y="3647455"/>
            <a:ext cx="203200" cy="203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0800" y="3642370"/>
            <a:ext cx="38458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owner, and no clear action to take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562600" y="2306315"/>
            <a:ext cx="5991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Remedies</a:t>
            </a:r>
            <a:endParaRPr lang="en-US" sz="1200" dirty="0"/>
          </a:p>
        </p:txBody>
      </p:sp>
      <p:pic>
        <p:nvPicPr>
          <p:cNvPr id="16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62600" y="2600970"/>
            <a:ext cx="203200" cy="203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67400" y="2595885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or downgrade any alert that nobody acts on</a:t>
            </a:r>
            <a:endParaRPr lang="en-US" sz="1200" dirty="0"/>
          </a:p>
        </p:txBody>
      </p:sp>
      <p:pic>
        <p:nvPicPr>
          <p:cNvPr id="18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562600" y="2890515"/>
            <a:ext cx="203200" cy="203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867400" y="2885455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for: durations so short spikes and flapping do not page</a:t>
            </a:r>
            <a:endParaRPr lang="en-US" sz="1200" dirty="0"/>
          </a:p>
        </p:txBody>
      </p:sp>
      <p:pic>
        <p:nvPicPr>
          <p:cNvPr id="20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562600" y="3180085"/>
            <a:ext cx="203200" cy="203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867400" y="3175000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and deduplicate related alerts in Alertmanager</a:t>
            </a:r>
            <a:endParaRPr lang="en-US" sz="1200" dirty="0"/>
          </a:p>
        </p:txBody>
      </p:sp>
      <p:pic>
        <p:nvPicPr>
          <p:cNvPr id="22" name="Image 7" descr="Che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562600" y="3469655"/>
            <a:ext cx="203200" cy="2032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867400" y="3464570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by severity, and to the team that owns the service</a:t>
            </a:r>
            <a:endParaRPr lang="en-US" sz="1200" dirty="0"/>
          </a:p>
        </p:txBody>
      </p:sp>
      <p:pic>
        <p:nvPicPr>
          <p:cNvPr id="24" name="Image 8" descr="Check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562600" y="3759200"/>
            <a:ext cx="203200" cy="2032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867400" y="3754115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every alert after each on-call week</a:t>
            </a:r>
            <a:endParaRPr lang="en-US" sz="1200" dirty="0"/>
          </a:p>
        </p:txBody>
      </p:sp>
      <p:pic>
        <p:nvPicPr>
          <p:cNvPr id="26" name="Image 9" descr="Check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562600" y="4048770"/>
            <a:ext cx="203200" cy="2032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867400" y="4043685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what share of alerts led to real action</a:t>
            </a:r>
            <a:endParaRPr lang="en-US" sz="1200" dirty="0"/>
          </a:p>
        </p:txBody>
      </p:sp>
      <p:sp>
        <p:nvSpPr>
          <p:cNvPr id="28" name="Shape 16"/>
          <p:cNvSpPr/>
          <p:nvPr/>
        </p:nvSpPr>
        <p:spPr>
          <a:xfrm>
            <a:off x="812800" y="4517405"/>
            <a:ext cx="10566400" cy="0"/>
          </a:xfrm>
          <a:prstGeom prst="line">
            <a:avLst/>
          </a:prstGeom>
          <a:noFill/>
          <a:ln w="12700">
            <a:solidFill>
              <a:srgbClr val="6941C6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812800" y="464821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for a page: is it urgent, can someone act on it, and does it need a human now? If not, make it a ticket or a dashboard.</a:t>
            </a:r>
            <a:endParaRPr lang="en-US" sz="1400" dirty="0"/>
          </a:p>
        </p:txBody>
      </p:sp>
      <p:sp>
        <p:nvSpPr>
          <p:cNvPr id="30" name="Text 18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10566400" cy="975360"/>
          </a:xfrm>
          <a:prstGeom prst="roundRect">
            <a:avLst>
              <a:gd name="adj" fmla="val 10417"/>
            </a:avLst>
          </a:prstGeom>
          <a:solidFill>
            <a:srgbClr val="17243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30400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one line of an nginx access log · awk numbers the fields $1, $2, $3 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194570"/>
            <a:ext cx="10464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$1 client IP    $4 time                           $7 path         $9 status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203.0.113.7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- -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[05/Oct/2026:10:42:13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+0530] "GET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/cart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HTTP/1.1" </a:t>
            </a: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404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512 "-" "Mozilla/5.0"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032770"/>
            <a:ext cx="6096000" cy="2062480"/>
          </a:xfrm>
          <a:prstGeom prst="roundRect">
            <a:avLst>
              <a:gd name="adj" fmla="val 4926"/>
            </a:avLst>
          </a:prstGeom>
          <a:solidFill>
            <a:srgbClr val="172430"/>
          </a:solidFill>
          <a:ln/>
        </p:spPr>
        <p:txBody>
          <a:bodyPr wrap="square" lIns="198842" tIns="148042" rIns="29678" bIns="1226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top 5 client IPs getting 404 errors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awk '$9 == 404 {print $1}' access.log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| sort | uniq -c | sort -rn | head -5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5xx responses per minute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awk '$9 ~ /^5/ {print substr($4, 2, 17)}' access.log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| uniq -c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errors from one service in the last hour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journalctl -u myapp --since "1 hour ago" -p err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62800" y="3032770"/>
            <a:ext cx="43428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Centralized logging, for many servers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62800" y="3322315"/>
            <a:ext cx="4216400" cy="591820"/>
          </a:xfrm>
          <a:prstGeom prst="roundRect">
            <a:avLst>
              <a:gd name="adj" fmla="val 12876"/>
            </a:avLst>
          </a:prstGeom>
          <a:solidFill>
            <a:srgbClr val="EAE5F6"/>
          </a:solidFill>
          <a:ln/>
        </p:spPr>
      </p:sp>
      <p:sp>
        <p:nvSpPr>
          <p:cNvPr id="10" name="Text 8"/>
          <p:cNvSpPr/>
          <p:nvPr/>
        </p:nvSpPr>
        <p:spPr>
          <a:xfrm>
            <a:off x="7289800" y="3398515"/>
            <a:ext cx="4081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89800" y="3624585"/>
            <a:ext cx="4081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Fluent Bit or Filebeat on every server</a:t>
            </a:r>
            <a:endParaRPr lang="en-US" sz="1200" dirty="0"/>
          </a:p>
        </p:txBody>
      </p:sp>
      <p:pic>
        <p:nvPicPr>
          <p:cNvPr id="12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2100" y="3964955"/>
            <a:ext cx="177800" cy="152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62800" y="4168155"/>
            <a:ext cx="4216400" cy="591820"/>
          </a:xfrm>
          <a:prstGeom prst="roundRect">
            <a:avLst>
              <a:gd name="adj" fmla="val 12876"/>
            </a:avLst>
          </a:prstGeom>
          <a:solidFill>
            <a:srgbClr val="EAE5F6"/>
          </a:solidFill>
          <a:ln/>
        </p:spPr>
      </p:sp>
      <p:sp>
        <p:nvSpPr>
          <p:cNvPr id="14" name="Text 11"/>
          <p:cNvSpPr/>
          <p:nvPr/>
        </p:nvSpPr>
        <p:spPr>
          <a:xfrm>
            <a:off x="7289800" y="4244355"/>
            <a:ext cx="4081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and index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89800" y="4470400"/>
            <a:ext cx="4081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Elasticsearch, OpenSearch or Loki</a:t>
            </a:r>
            <a:endParaRPr lang="en-US" sz="1200" dirty="0"/>
          </a:p>
        </p:txBody>
      </p:sp>
      <p:pic>
        <p:nvPicPr>
          <p:cNvPr id="16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2100" y="4810770"/>
            <a:ext cx="177800" cy="1524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162800" y="5013970"/>
            <a:ext cx="4216400" cy="591820"/>
          </a:xfrm>
          <a:prstGeom prst="roundRect">
            <a:avLst>
              <a:gd name="adj" fmla="val 12876"/>
            </a:avLst>
          </a:prstGeom>
          <a:solidFill>
            <a:srgbClr val="0F1A23"/>
          </a:solidFill>
          <a:ln/>
        </p:spPr>
      </p:sp>
      <p:sp>
        <p:nvSpPr>
          <p:cNvPr id="18" name="Text 14"/>
          <p:cNvSpPr/>
          <p:nvPr/>
        </p:nvSpPr>
        <p:spPr>
          <a:xfrm>
            <a:off x="7289800" y="5090170"/>
            <a:ext cx="4081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and dashboards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289800" y="5316215"/>
            <a:ext cx="4081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Kibana or Grafana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Structured Logging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71291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Unstructured · easy to read, hard to query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5975" y="2083445"/>
            <a:ext cx="6915150" cy="420370"/>
          </a:xfrm>
          <a:prstGeom prst="roundRect">
            <a:avLst>
              <a:gd name="adj" fmla="val 17372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 wrap="square" lIns="132917" tIns="82117" rIns="0" bIns="56717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C2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2026-10-05 10:42:13 ERROR Payment failed for order 1182 after 3 retries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659385"/>
            <a:ext cx="71291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· the same event as JSON, one object per 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936255"/>
            <a:ext cx="6921500" cy="894080"/>
          </a:xfrm>
          <a:prstGeom prst="roundRect">
            <a:avLst>
              <a:gd name="adj" fmla="val 8523"/>
            </a:avLst>
          </a:prstGeom>
          <a:solidFill>
            <a:srgbClr val="172430"/>
          </a:solidFill>
          <a:ln/>
        </p:spPr>
        <p:txBody>
          <a:bodyPr wrap="square" lIns="1300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{"ts":"2026-10-05T05:12:13Z","level":"error",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"service":"checkout","event":"payment_failed",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"order_id":1182,"retries":3,"trace_id":"7f3a9c"}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982715"/>
            <a:ext cx="71291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it with jq: count error events by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259585"/>
            <a:ext cx="6921500" cy="416560"/>
          </a:xfrm>
          <a:prstGeom prst="roundRect">
            <a:avLst>
              <a:gd name="adj" fmla="val 18293"/>
            </a:avLst>
          </a:prstGeom>
          <a:solidFill>
            <a:srgbClr val="172430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200" dirty="0">
                <a:solidFill>
                  <a:srgbClr val="E6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jq -r 'select(.level=="error") | .event' app.log | sort | uniq -c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39100" y="1803400"/>
            <a:ext cx="34403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helps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9100" y="4645035"/>
            <a:ext cx="33401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39100" y="2096145"/>
            <a:ext cx="33401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39100" y="2174250"/>
            <a:ext cx="344030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by field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level is error and service is checkout: no fragile regex.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39100" y="2680345"/>
            <a:ext cx="33401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39100" y="2758450"/>
            <a:ext cx="344030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and graph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payment_failed per minute becomes a metric you can alert 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39100" y="3264545"/>
            <a:ext cx="33401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9100" y="3342650"/>
            <a:ext cx="344030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one request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one trace_id links its logs across every service.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39100" y="3848745"/>
            <a:ext cx="33401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39100" y="3926850"/>
            <a:ext cx="344030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 practice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same field names everywhere, UTC ISO 8601 times, log levels, and never secrets or personal data.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Assessing Pipeline and Platform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25" y="1803400"/>
            <a:ext cx="0" cy="298704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787265"/>
            <a:ext cx="10566400" cy="0"/>
          </a:xfrm>
          <a:prstGeom prst="line">
            <a:avLst/>
          </a:prstGeom>
          <a:noFill/>
          <a:ln w="6350">
            <a:solidFill>
              <a:srgbClr val="DDD8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1160" cy="2971800"/>
        </p:xfrm>
        <a:graphic>
          <a:graphicData uri="http://schemas.openxmlformats.org/drawingml/2006/table">
            <a:tbl>
              <a:tblPr/>
              <a:tblGrid>
                <a:gridCol w="2848813"/>
                <a:gridCol w="3270860"/>
                <a:gridCol w="4431487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6941C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Pipeline (DORA)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 it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C2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to measure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Deployment frequency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often do we ship?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 production deploys per day or week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Lead time for changes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fast does a commit reach users?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from commit to running in production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Change failure rate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often does a deploy break things?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Deploys needing a rollback or hotfix ÷ all deploys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Failed deployment recovery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fast do we recover?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from a failed deploy to service restored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941C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Platform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Availability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 users use the service?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Successful requests ÷ all requests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Latency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it fast enough for users?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p95 and p99 response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Saturation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close to its limits is it?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7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CPU, memory, disk, connections vs. limits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5050805"/>
            <a:ext cx="10566400" cy="0"/>
          </a:xfrm>
          <a:prstGeom prst="line">
            <a:avLst/>
          </a:prstGeom>
          <a:noFill/>
          <a:ln w="12700">
            <a:solidFill>
              <a:srgbClr val="6941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800" y="518161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the trend over weeks, and compare each team with its own past, not with other teams.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 4 · CONTINUOUS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SLOs and Error Budgets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41757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85"/>
            <a:ext cx="31499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SLI · INDICATOR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225055"/>
            <a:ext cx="31499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measure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2506985"/>
            <a:ext cx="314990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of requests that succeed in under 300 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2295" y="1806575"/>
            <a:ext cx="3417570" cy="1281430"/>
          </a:xfrm>
          <a:prstGeom prst="roundRect">
            <a:avLst>
              <a:gd name="adj" fmla="val 76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60885"/>
            <a:ext cx="31499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SLO · OBJECTIVE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225055"/>
            <a:ext cx="31499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target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06985"/>
            <a:ext cx="314990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99.9% of requests meet the SLI, over 30 days.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5440" y="1803400"/>
            <a:ext cx="3413760" cy="1287780"/>
          </a:xfrm>
          <a:prstGeom prst="roundRect">
            <a:avLst>
              <a:gd name="adj" fmla="val 7890"/>
            </a:avLst>
          </a:prstGeom>
          <a:solidFill>
            <a:srgbClr val="0F1A23"/>
          </a:solidFill>
          <a:ln/>
        </p:spPr>
      </p:sp>
      <p:sp>
        <p:nvSpPr>
          <p:cNvPr id="13" name="Text 11"/>
          <p:cNvSpPr/>
          <p:nvPr/>
        </p:nvSpPr>
        <p:spPr>
          <a:xfrm>
            <a:off x="8143240" y="1955800"/>
            <a:ext cx="31499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ERROR BUDGET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43240" y="2219970"/>
            <a:ext cx="31499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may fail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43240" y="2501900"/>
            <a:ext cx="314990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− 99.9% = 0.1% of requests can fail without breaking the SLO.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34518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error budget as full-outage time, per 30 days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634755"/>
            <a:ext cx="2032000" cy="828040"/>
          </a:xfrm>
          <a:prstGeom prst="roundRect">
            <a:avLst>
              <a:gd name="adj" fmla="val 10736"/>
            </a:avLst>
          </a:prstGeom>
          <a:solidFill>
            <a:srgbClr val="EAE5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376175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99%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5200" y="4000500"/>
            <a:ext cx="177901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7.2 h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946400" y="3634755"/>
            <a:ext cx="2032000" cy="828040"/>
          </a:xfrm>
          <a:prstGeom prst="roundRect">
            <a:avLst>
              <a:gd name="adj" fmla="val 10736"/>
            </a:avLst>
          </a:prstGeom>
          <a:solidFill>
            <a:srgbClr val="EAE5F6"/>
          </a:solidFill>
          <a:ln/>
        </p:spPr>
      </p:sp>
      <p:sp>
        <p:nvSpPr>
          <p:cNvPr id="21" name="Text 19"/>
          <p:cNvSpPr/>
          <p:nvPr/>
        </p:nvSpPr>
        <p:spPr>
          <a:xfrm>
            <a:off x="3098800" y="376175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99.5%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98800" y="4000500"/>
            <a:ext cx="177901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3.6 h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080000" y="3634755"/>
            <a:ext cx="2032000" cy="828040"/>
          </a:xfrm>
          <a:prstGeom prst="roundRect">
            <a:avLst>
              <a:gd name="adj" fmla="val 10736"/>
            </a:avLst>
          </a:prstGeom>
          <a:solidFill>
            <a:srgbClr val="6941C6"/>
          </a:solidFill>
          <a:ln/>
        </p:spPr>
      </p:sp>
      <p:sp>
        <p:nvSpPr>
          <p:cNvPr id="24" name="Text 22"/>
          <p:cNvSpPr/>
          <p:nvPr/>
        </p:nvSpPr>
        <p:spPr>
          <a:xfrm>
            <a:off x="5232400" y="376175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99.9%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2400" y="4000500"/>
            <a:ext cx="177901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43.2 min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213600" y="3634755"/>
            <a:ext cx="2032000" cy="828040"/>
          </a:xfrm>
          <a:prstGeom prst="roundRect">
            <a:avLst>
              <a:gd name="adj" fmla="val 10736"/>
            </a:avLst>
          </a:prstGeom>
          <a:solidFill>
            <a:srgbClr val="EAE5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66000" y="376175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99.95%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6000" y="4000500"/>
            <a:ext cx="177901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21.6 min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347200" y="3634755"/>
            <a:ext cx="2032000" cy="828040"/>
          </a:xfrm>
          <a:prstGeom prst="roundRect">
            <a:avLst>
              <a:gd name="adj" fmla="val 10736"/>
            </a:avLst>
          </a:prstGeom>
          <a:solidFill>
            <a:srgbClr val="EAE5F6"/>
          </a:solidFill>
          <a:ln/>
        </p:spPr>
      </p:sp>
      <p:sp>
        <p:nvSpPr>
          <p:cNvPr id="30" name="Text 28"/>
          <p:cNvSpPr/>
          <p:nvPr/>
        </p:nvSpPr>
        <p:spPr>
          <a:xfrm>
            <a:off x="9499600" y="3761755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99.99%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99600" y="4000500"/>
            <a:ext cx="177901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4.3 min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15975" y="4719960"/>
            <a:ext cx="5205730" cy="471170"/>
          </a:xfrm>
          <a:prstGeom prst="roundRect">
            <a:avLst>
              <a:gd name="adj" fmla="val 20889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</p:sp>
      <p:pic>
        <p:nvPicPr>
          <p:cNvPr id="3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5680" y="4853955"/>
            <a:ext cx="203200" cy="203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00480" y="4848870"/>
            <a:ext cx="46777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left:</a:t>
            </a:r>
            <a:r>
              <a:rPr lang="en-US" sz="1200" dirty="0">
                <a:solidFill>
                  <a:srgbClr val="3B47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ship faster and take more risks.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7280" y="4716785"/>
            <a:ext cx="5201920" cy="477520"/>
          </a:xfrm>
          <a:prstGeom prst="roundRect">
            <a:avLst>
              <a:gd name="adj" fmla="val 21277"/>
            </a:avLst>
          </a:prstGeom>
          <a:solidFill>
            <a:srgbClr val="0F1A23"/>
          </a:solidFill>
          <a:ln/>
        </p:spPr>
      </p:sp>
      <p:pic>
        <p:nvPicPr>
          <p:cNvPr id="36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4853955"/>
            <a:ext cx="203200" cy="2032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659880" y="4848870"/>
            <a:ext cx="46777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spent:</a:t>
            </a: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pause risky releases, fix reliability.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812800" y="54483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SLA is the contract with customers, with penalties; set it looser than your SLO.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6941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431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PRINCIPLE · MONITOR WHAT USERS FEEL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10520"/>
            <a:ext cx="9156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50" kern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 what users experience, and alert only when a person needs to act.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999235"/>
            <a:ext cx="719455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 are for looking; alerts are for doing. If nobody needs to act, it belongs on a dashboard, not in an alert.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A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21C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Quick Check: Continuous Monitoring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803400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four golden signals.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80915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280915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latency looks fine, but users say the site is slow. What do you check?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00737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007370"/>
            <a:ext cx="541553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alert fires 40 times a day and nobody acts on it. What should you do?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33800"/>
            <a:ext cx="35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941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733800"/>
            <a:ext cx="541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C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much downtime does a 99.9% SLO allow over 30 days?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211315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in pairs for two minutes; the answers appear on the next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85000" y="1803400"/>
            <a:ext cx="4394200" cy="2722880"/>
          </a:xfrm>
          <a:prstGeom prst="roundRect">
            <a:avLst>
              <a:gd name="adj" fmla="val 3731"/>
            </a:avLst>
          </a:prstGeom>
          <a:solidFill>
            <a:srgbClr val="0F1A23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0" y="2057400"/>
            <a:ext cx="4002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ANSWERS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0" y="239777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397770"/>
            <a:ext cx="3688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Latency, traffic, errors and saturation.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0" y="273811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738115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p95 and p99. The average hides the slow tail those users are in.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9000" y="3291855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291855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it actionable (better threshold, a for: duration, a symptom users feel), or downgrade or delete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39000" y="3845570"/>
            <a:ext cx="254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845570"/>
            <a:ext cx="36888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43 minutes: 0.1% of the 43,200 minutes in 30 days.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CSET217 · Module 4 · Operations and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MODULE 4 · SUMMARY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4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42658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0657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6850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1948185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 after deployment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0" y="1993900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operations work goes on after go-live, and where manual runbooks fail.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36029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52221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4000" y="2501900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 scripting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4000" y="2547615"/>
            <a:ext cx="62265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safe, idempotent scripts for logs, backups, health checks and schedules, and know their limits.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11723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279155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4000" y="3258815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Configuration management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4000" y="3304555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 desired state in Ansible playbooks and apply it across many servers.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670945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83287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BA4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" y="3812555"/>
            <a:ext cx="3662680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monitoring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34000" y="3858270"/>
            <a:ext cx="62265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the right metrics, build alerts people trust, analyze logs, and assess pipeline and platform performance.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ET217 Module 4 — Operations and Continuous Monitoring">
  <a:themeElements>
    <a:clrScheme name="CSET217 Module 4 — Operations and Continuous Monitoring">
      <a:dk1>
        <a:srgbClr val="121C25"/>
      </a:dk1>
      <a:lt1>
        <a:srgbClr val="F5F3EE"/>
      </a:lt1>
      <a:dk2>
        <a:srgbClr val="4B5257"/>
      </a:dk2>
      <a:lt2>
        <a:srgbClr val="DEDEDA"/>
      </a:lt2>
      <a:accent1>
        <a:srgbClr val="6941C6"/>
      </a:accent1>
      <a:accent2>
        <a:srgbClr val="BBA4F7"/>
      </a:accent2>
      <a:accent3>
        <a:srgbClr val="3B4752"/>
      </a:accent3>
      <a:accent4>
        <a:srgbClr val="56626C"/>
      </a:accent4>
      <a:accent5>
        <a:srgbClr val="C9D2D9"/>
      </a:accent5>
      <a:accent6>
        <a:srgbClr val="8FA3B3"/>
      </a:accent6>
      <a:hlink>
        <a:srgbClr val="0563C1"/>
      </a:hlink>
      <a:folHlink>
        <a:srgbClr val="954F72"/>
      </a:folHlink>
    </a:clrScheme>
    <a:fontScheme name="CSET217 Module 4 — Operations and Continuous Monitoring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CSET217 Module 4 — Operations and Continuous Monitoring</dc:title>
  <dc:subject/>
  <dc:creator/>
  <cp:lastModifiedBy/>
  <cp:revision>1</cp:revision>
  <dcterms:created xsi:type="dcterms:W3CDTF">2026-10-06T05:21:34Z</dcterms:created>
  <dcterms:modified xsi:type="dcterms:W3CDTF">2026-10-06T05:21:34Z</dcterms:modified>
</cp:coreProperties>
</file>