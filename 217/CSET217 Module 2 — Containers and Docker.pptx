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CSET217 · SOFTWARE DEVELOPMENT WITH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463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4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compose up -d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91592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6B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2</a:t>
            </a:r>
            <a:endParaRPr lang="en-US" sz="18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3439160"/>
            <a:ext cx="981075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spc="-10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Containers and Docker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12800" y="562673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5831840"/>
            <a:ext cx="1277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contact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3936" y="5831840"/>
            <a:ext cx="1736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outcome CO1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37263" y="5831840"/>
            <a:ext cx="1748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Semester III · Year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7 CONTACT HOURS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2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77710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 concepts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88000" y="19939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 and concept · Container vs virtual machine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3602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22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50190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Getting started with Docker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88000" y="2547620"/>
            <a:ext cx="5964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Introduction and installation · Commands to maintain containers · Lifecycle and debugging: logs, exec, inspect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11721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27914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25882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Images and registries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88000" y="330454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 and Docker Hub · Building Docker images · Image layers and optimization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67093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83286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381254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 networking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88000" y="385826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 within a single container · Communication across containers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22465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38658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4000" y="436626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88000" y="441198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Multi-container application definition · Service dependencies and volumes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56286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Hands-on: run, serve and debug containers · Images and networks · A multi-container app with Compose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PART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1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86B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 Concepts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0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 and concept · Container vs virtual machine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CONTAINER CONCEPTS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Containers?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180330" cy="2887980"/>
          </a:xfrm>
          <a:prstGeom prst="roundRect">
            <a:avLst>
              <a:gd name="adj" fmla="val 340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11680"/>
            <a:ext cx="48609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566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Without containers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6480" y="2401570"/>
            <a:ext cx="48609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“Works on my machine”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every laptop, test server and production box has different OS, library and runtime versions.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2955291"/>
            <a:ext cx="48609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clashes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two apps on one server need different versions of Python or Java.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6480" y="3509011"/>
            <a:ext cx="48609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Slow setup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new machine takes hours of manual installs and configuration.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6480" y="4062730"/>
            <a:ext cx="48609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 isolation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whole virtual machine per app wastes memory and boot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2680" y="1803400"/>
            <a:ext cx="5176520" cy="2894330"/>
          </a:xfrm>
          <a:prstGeom prst="roundRect">
            <a:avLst>
              <a:gd name="adj" fmla="val 3510"/>
            </a:avLst>
          </a:prstGeom>
          <a:solidFill>
            <a:srgbClr val="E2E9F5"/>
          </a:solidFill>
          <a:ln/>
        </p:spPr>
      </p:sp>
      <p:sp>
        <p:nvSpPr>
          <p:cNvPr id="11" name="Text 9"/>
          <p:cNvSpPr/>
          <p:nvPr/>
        </p:nvSpPr>
        <p:spPr>
          <a:xfrm>
            <a:off x="6431280" y="2006600"/>
            <a:ext cx="48609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F5B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containers</a:t>
            </a:r>
            <a:endParaRPr lang="en-US" sz="1800" dirty="0"/>
          </a:p>
        </p:txBody>
      </p:sp>
      <p:pic>
        <p:nvPicPr>
          <p:cNvPr id="12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31280" y="2396491"/>
            <a:ext cx="203200" cy="20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36080" y="2396491"/>
            <a:ext cx="45469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ships with everything it needs: code, runtime, libraries and default settings.</a:t>
            </a:r>
            <a:endParaRPr lang="en-US" sz="1200" dirty="0"/>
          </a:p>
        </p:txBody>
      </p:sp>
      <p:pic>
        <p:nvPicPr>
          <p:cNvPr id="14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1280" y="2950211"/>
            <a:ext cx="203200" cy="203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36080" y="2950211"/>
            <a:ext cx="46431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image runs on a laptop, a CI server and in production.</a:t>
            </a:r>
            <a:endParaRPr lang="en-US" sz="1200" dirty="0"/>
          </a:p>
        </p:txBody>
      </p:sp>
      <p:pic>
        <p:nvPicPr>
          <p:cNvPr id="16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31280" y="3290570"/>
            <a:ext cx="203200" cy="203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36080" y="3290570"/>
            <a:ext cx="45469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start in seconds, and many run side by side on one host.</a:t>
            </a:r>
            <a:endParaRPr lang="en-US" sz="1200" dirty="0"/>
          </a:p>
        </p:txBody>
      </p:sp>
      <p:pic>
        <p:nvPicPr>
          <p:cNvPr id="18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1280" y="3844291"/>
            <a:ext cx="203200" cy="203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36080" y="3844291"/>
            <a:ext cx="45469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app is isolated from the others and from the host.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12800" y="5462271"/>
            <a:ext cx="105664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12800" y="559308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Objective: package an application once and run it the same way on any machine with a container runtime.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CONTAINER CONCEPTS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 Container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ordinary Linux process that the kernel isolates and limits, started from an image.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309496"/>
            <a:ext cx="3414157" cy="1577340"/>
          </a:xfrm>
          <a:prstGeom prst="roundRect">
            <a:avLst>
              <a:gd name="adj" fmla="val 6240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2489200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IT CAN SEE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680" y="2753361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Namespaces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680" y="3067050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own process IDs, network stack, mounts, hostname and users. Other processes on the host are invisible to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82" y="2309496"/>
            <a:ext cx="3414236" cy="1577340"/>
          </a:xfrm>
          <a:prstGeom prst="roundRect">
            <a:avLst>
              <a:gd name="adj" fmla="val 6240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587" y="2489200"/>
            <a:ext cx="31464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IT CAN 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8587" y="2753361"/>
            <a:ext cx="3146471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cgroups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8587" y="3067050"/>
            <a:ext cx="31464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Limits and accounting for CPU, memory, disk I/O and the number of processes.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1868" y="2309496"/>
            <a:ext cx="3414157" cy="1577340"/>
          </a:xfrm>
          <a:prstGeom prst="roundRect">
            <a:avLst>
              <a:gd name="adj" fmla="val 6240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1574" y="2489200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IT RUNS FROM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41574" y="2753361"/>
            <a:ext cx="3146389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41574" y="3067050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read-only, layered file system holding the app and all of its dependencies.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4721861"/>
            <a:ext cx="2667000" cy="805180"/>
          </a:xfrm>
          <a:prstGeom prst="roundRect">
            <a:avLst>
              <a:gd name="adj" fmla="val 12618"/>
            </a:avLst>
          </a:prstGeom>
          <a:solidFill>
            <a:srgbClr val="0F1A23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4874261"/>
            <a:ext cx="2380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myapp:1.0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0600" y="5161282"/>
            <a:ext cx="23807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image: a read-only template</a:t>
            </a:r>
            <a:endParaRPr lang="en-US" sz="1200" dirty="0"/>
          </a:p>
        </p:txBody>
      </p:sp>
      <p:pic>
        <p:nvPicPr>
          <p:cNvPr id="2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5060950"/>
            <a:ext cx="254000" cy="127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044950" y="4780282"/>
            <a:ext cx="2366407" cy="688340"/>
          </a:xfrm>
          <a:prstGeom prst="roundRect">
            <a:avLst>
              <a:gd name="adj" fmla="val 10148"/>
            </a:avLst>
          </a:prstGeom>
          <a:solidFill>
            <a:srgbClr val="E2E9F5"/>
          </a:solidFill>
          <a:ln w="12700">
            <a:solidFill>
              <a:srgbClr val="1F5BC4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4201160" y="4898389"/>
            <a:ext cx="21156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01160" y="5137150"/>
            <a:ext cx="21156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its own writable layer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25657" y="4780282"/>
            <a:ext cx="2366486" cy="688340"/>
          </a:xfrm>
          <a:prstGeom prst="roundRect">
            <a:avLst>
              <a:gd name="adj" fmla="val 10148"/>
            </a:avLst>
          </a:prstGeom>
          <a:solidFill>
            <a:srgbClr val="E2E9F5"/>
          </a:solidFill>
          <a:ln w="12700">
            <a:solidFill>
              <a:srgbClr val="1F5BC4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681867" y="4898389"/>
            <a:ext cx="21156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B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81867" y="5137150"/>
            <a:ext cx="21156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its own writable layer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06443" y="4780282"/>
            <a:ext cx="2366407" cy="688340"/>
          </a:xfrm>
          <a:prstGeom prst="roundRect">
            <a:avLst>
              <a:gd name="adj" fmla="val 10148"/>
            </a:avLst>
          </a:prstGeom>
          <a:solidFill>
            <a:srgbClr val="E2E9F5"/>
          </a:solidFill>
          <a:ln w="12700">
            <a:solidFill>
              <a:srgbClr val="1F5BC4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9162653" y="4898389"/>
            <a:ext cx="21156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C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62653" y="5137150"/>
            <a:ext cx="21156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its own writable layer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2800" y="56286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is to container as program is to process: one image can start any number of containers.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CONTAINER CONCEPTS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Containers vs Virtual Machines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2324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Virtual machines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167889"/>
            <a:ext cx="1659414" cy="391160"/>
          </a:xfrm>
          <a:prstGeom prst="roundRect">
            <a:avLst>
              <a:gd name="adj" fmla="val 12987"/>
            </a:avLst>
          </a:prstGeom>
          <a:solidFill>
            <a:srgbClr val="1F5BC4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609850"/>
            <a:ext cx="1659414" cy="391160"/>
          </a:xfrm>
          <a:prstGeom prst="roundRect">
            <a:avLst>
              <a:gd name="adj" fmla="val 12987"/>
            </a:avLst>
          </a:prstGeom>
          <a:solidFill>
            <a:srgbClr val="E2E9F5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Bins / libs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051811"/>
            <a:ext cx="1659414" cy="391160"/>
          </a:xfrm>
          <a:prstGeom prst="roundRect">
            <a:avLst>
              <a:gd name="adj" fmla="val 12987"/>
            </a:avLst>
          </a:prstGeom>
          <a:solidFill>
            <a:srgbClr val="C9D6EC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23014" y="2167889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1F5BC4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23014" y="2609850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E2E9F5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Bins / libs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23014" y="3051811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C9D6EC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33307" y="2167889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1F5BC4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33307" y="2609850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E2E9F5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Bins / libs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33307" y="3051811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C9D6EC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150" y="3500121"/>
            <a:ext cx="5067300" cy="373380"/>
          </a:xfrm>
          <a:prstGeom prst="roundRect">
            <a:avLst>
              <a:gd name="adj" fmla="val 11905"/>
            </a:avLst>
          </a:prstGeom>
          <a:solidFill>
            <a:srgbClr val="FCFBF8"/>
          </a:solidFill>
          <a:ln w="12700">
            <a:solidFill>
              <a:srgbClr val="1F5BC4"/>
            </a:solidFill>
            <a:prstDash val="solid"/>
          </a:ln>
        </p:spPr>
        <p:txBody>
          <a:bodyPr wrap="square" lIns="0" tIns="66991" rIns="0" bIns="4159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Hypervisor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3930650"/>
            <a:ext cx="5080000" cy="391160"/>
          </a:xfrm>
          <a:prstGeom prst="roundRect">
            <a:avLst>
              <a:gd name="adj" fmla="val 12987"/>
            </a:avLst>
          </a:prstGeom>
          <a:solidFill>
            <a:srgbClr val="0F1A23"/>
          </a:solidFill>
          <a:ln/>
        </p:spPr>
        <p:txBody>
          <a:bodyPr wrap="square" lIns="488" tIns="74021" rIns="488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448811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VM boots its own complete operating system and kernel.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9200" y="1803400"/>
            <a:ext cx="52324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99200" y="2167889"/>
            <a:ext cx="1659414" cy="391160"/>
          </a:xfrm>
          <a:prstGeom prst="roundRect">
            <a:avLst>
              <a:gd name="adj" fmla="val 12987"/>
            </a:avLst>
          </a:prstGeom>
          <a:solidFill>
            <a:srgbClr val="1F5BC4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9200" y="2609850"/>
            <a:ext cx="1659414" cy="391160"/>
          </a:xfrm>
          <a:prstGeom prst="roundRect">
            <a:avLst>
              <a:gd name="adj" fmla="val 12987"/>
            </a:avLst>
          </a:prstGeom>
          <a:solidFill>
            <a:srgbClr val="E2E9F5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Bins / libs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9414" y="2167889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1F5BC4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9414" y="2609850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E2E9F5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Bins / libs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19707" y="2167889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1F5BC4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19707" y="2609850"/>
            <a:ext cx="1659493" cy="391160"/>
          </a:xfrm>
          <a:prstGeom prst="roundRect">
            <a:avLst>
              <a:gd name="adj" fmla="val 12987"/>
            </a:avLst>
          </a:prstGeom>
          <a:solidFill>
            <a:srgbClr val="E2E9F5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Bins / libs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5550" y="3058161"/>
            <a:ext cx="5067300" cy="373380"/>
          </a:xfrm>
          <a:prstGeom prst="roundRect">
            <a:avLst>
              <a:gd name="adj" fmla="val 11905"/>
            </a:avLst>
          </a:prstGeom>
          <a:solidFill>
            <a:srgbClr val="FCFBF8"/>
          </a:solidFill>
          <a:ln w="12700">
            <a:solidFill>
              <a:srgbClr val="1F5BC4"/>
            </a:solidFill>
            <a:prstDash val="solid"/>
          </a:ln>
        </p:spPr>
        <p:txBody>
          <a:bodyPr wrap="square" lIns="0" tIns="66991" rIns="0" bIns="4159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engine (Docker)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9200" y="3488689"/>
            <a:ext cx="5080000" cy="391160"/>
          </a:xfrm>
          <a:prstGeom prst="roundRect">
            <a:avLst>
              <a:gd name="adj" fmla="val 12987"/>
            </a:avLst>
          </a:prstGeom>
          <a:solidFill>
            <a:srgbClr val="C9D6EC"/>
          </a:solidFill>
          <a:ln/>
        </p:spPr>
        <p:txBody>
          <a:bodyPr wrap="square" lIns="488" tIns="74021" rIns="488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OS — one shared kernel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9200" y="3930650"/>
            <a:ext cx="5080000" cy="391160"/>
          </a:xfrm>
          <a:prstGeom prst="roundRect">
            <a:avLst>
              <a:gd name="adj" fmla="val 12987"/>
            </a:avLst>
          </a:prstGeom>
          <a:solidFill>
            <a:srgbClr val="0F1A23"/>
          </a:solidFill>
          <a:ln/>
        </p:spPr>
        <p:txBody>
          <a:bodyPr wrap="square" lIns="488" tIns="74021" rIns="488" bIns="486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9200" y="4448811"/>
            <a:ext cx="589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share the host's kernel and carry only the app and its libraries.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CONTAINER CONCEPTS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Choosing Between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54000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34022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524760"/>
        </p:xfrm>
        <a:graphic>
          <a:graphicData uri="http://schemas.openxmlformats.org/drawingml/2006/table">
            <a:tbl>
              <a:tblPr/>
              <a:tblGrid>
                <a:gridCol w="2110232"/>
                <a:gridCol w="4220464"/>
                <a:gridCol w="4220464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Aspect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Virtual machine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Isolation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Strong: its own kernel per VM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Process-level: shares the host kernel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Size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Gigabytes: a full operating system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Megabytes: the app plus its libraries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Minutes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Seconds or less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Density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Tens per host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Hundreds per host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Portability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Disk images tied to a hypervisor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OCI images that run on any container runtime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Best for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different OS or kernel, strong isolation, legacy apps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Microservices, CI jobs, identical environments from laptop to production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374639"/>
            <a:ext cx="10566400" cy="467360"/>
          </a:xfrm>
          <a:prstGeom prst="roundRect">
            <a:avLst>
              <a:gd name="adj" fmla="val 16304"/>
            </a:avLst>
          </a:prstGeom>
          <a:solidFill>
            <a:srgbClr val="E2E9F5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work together: in the cloud, containers usually run inside virtual machines — for example, Docker on an EC2 instance.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PART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86B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Getting Started with Docker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79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Introduction and installation · Commands to maintain containers · Lifecycle and debugging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GETTING STARTED WITH DOCKER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Docker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152650" cy="1648460"/>
          </a:xfrm>
          <a:prstGeom prst="roundRect">
            <a:avLst>
              <a:gd name="adj" fmla="val 597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86279"/>
            <a:ext cx="1847037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5680" y="2312671"/>
            <a:ext cx="184703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build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pull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680" y="3061971"/>
            <a:ext cx="18470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 you type into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91474" y="2422525"/>
            <a:ext cx="7765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API</a:t>
            </a:r>
            <a:endParaRPr lang="en-US" sz="12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27400" y="2686689"/>
            <a:ext cx="304800" cy="15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87800" y="1874521"/>
            <a:ext cx="4597400" cy="1512570"/>
          </a:xfrm>
          <a:prstGeom prst="roundRect">
            <a:avLst>
              <a:gd name="adj" fmla="val 6717"/>
            </a:avLst>
          </a:prstGeom>
          <a:solidFill>
            <a:srgbClr val="0F1A23"/>
          </a:solidFill>
          <a:ln/>
        </p:spPr>
      </p:sp>
      <p:sp>
        <p:nvSpPr>
          <p:cNvPr id="11" name="Text 8"/>
          <p:cNvSpPr/>
          <p:nvPr/>
        </p:nvSpPr>
        <p:spPr>
          <a:xfrm>
            <a:off x="4165600" y="2052321"/>
            <a:ext cx="436905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host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65600" y="2416814"/>
            <a:ext cx="1210707" cy="340360"/>
          </a:xfrm>
          <a:custGeom>
            <a:avLst/>
            <a:gdLst/>
            <a:ahLst/>
            <a:cxnLst/>
            <a:rect l="l" t="t" r="r" b="b"/>
            <a:pathLst>
              <a:path w="1210707" h="340360">
                <a:moveTo>
                  <a:pt x="50800" y="0"/>
                </a:moveTo>
                <a:lnTo>
                  <a:pt x="1159907" y="0"/>
                </a:lnTo>
                <a:arcTo hR="50800" wR="50800" stAng="16200000" swAng="5400000"/>
                <a:lnTo>
                  <a:pt x="1210707" y="289560"/>
                </a:lnTo>
                <a:arcTo hR="50800" wR="50800" stAng="0" swAng="5400000"/>
                <a:lnTo>
                  <a:pt x="50800" y="34036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2313E"/>
          </a:solidFill>
          <a:ln/>
        </p:spPr>
        <p:txBody>
          <a:bodyPr wrap="square" lIns="25400" tIns="63500" rIns="25400" bIns="381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dockerd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39807" y="2542542"/>
            <a:ext cx="177800" cy="88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81107" y="2416814"/>
            <a:ext cx="1210786" cy="340360"/>
          </a:xfrm>
          <a:custGeom>
            <a:avLst/>
            <a:gdLst/>
            <a:ahLst/>
            <a:cxnLst/>
            <a:rect l="l" t="t" r="r" b="b"/>
            <a:pathLst>
              <a:path w="1210786" h="340360">
                <a:moveTo>
                  <a:pt x="50800" y="0"/>
                </a:moveTo>
                <a:lnTo>
                  <a:pt x="1159986" y="0"/>
                </a:lnTo>
                <a:arcTo hR="50800" wR="50800" stAng="16200000" swAng="5400000"/>
                <a:lnTo>
                  <a:pt x="1210786" y="289560"/>
                </a:lnTo>
                <a:arcTo hR="50800" wR="50800" stAng="0" swAng="5400000"/>
                <a:lnTo>
                  <a:pt x="50800" y="34036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2313E"/>
          </a:solidFill>
          <a:ln/>
        </p:spPr>
        <p:txBody>
          <a:bodyPr wrap="square" lIns="25400" tIns="63500" rIns="25400" bIns="381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containerd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55393" y="2542542"/>
            <a:ext cx="177800" cy="88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96693" y="2416814"/>
            <a:ext cx="1210707" cy="340360"/>
          </a:xfrm>
          <a:custGeom>
            <a:avLst/>
            <a:gdLst/>
            <a:ahLst/>
            <a:cxnLst/>
            <a:rect l="l" t="t" r="r" b="b"/>
            <a:pathLst>
              <a:path w="1210707" h="340360">
                <a:moveTo>
                  <a:pt x="50800" y="0"/>
                </a:moveTo>
                <a:lnTo>
                  <a:pt x="1159907" y="0"/>
                </a:lnTo>
                <a:arcTo hR="50800" wR="50800" stAng="16200000" swAng="5400000"/>
                <a:lnTo>
                  <a:pt x="1210707" y="289560"/>
                </a:lnTo>
                <a:arcTo hR="50800" wR="50800" stAng="0" swAng="5400000"/>
                <a:lnTo>
                  <a:pt x="50800" y="34036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2313E"/>
          </a:solidFill>
          <a:ln/>
        </p:spPr>
        <p:txBody>
          <a:bodyPr wrap="square" lIns="25400" tIns="63500" rIns="25400" bIns="381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runc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168775" y="2861946"/>
            <a:ext cx="1006475" cy="344170"/>
          </a:xfrm>
          <a:custGeom>
            <a:avLst/>
            <a:gdLst/>
            <a:ahLst/>
            <a:cxnLst/>
            <a:rect l="l" t="t" r="r" b="b"/>
            <a:pathLst>
              <a:path w="1006475" h="344170">
                <a:moveTo>
                  <a:pt x="47625" y="0"/>
                </a:moveTo>
                <a:lnTo>
                  <a:pt x="958850" y="0"/>
                </a:lnTo>
                <a:arcTo hR="47625" wR="47625" stAng="16200000" swAng="5400000"/>
                <a:lnTo>
                  <a:pt x="1006475" y="296545"/>
                </a:lnTo>
                <a:arcTo hR="47625" wR="47625" stAng="0" swAng="5400000"/>
                <a:lnTo>
                  <a:pt x="47625" y="3441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square" lIns="14605" tIns="65405" rIns="14605" bIns="400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45100" y="2861946"/>
            <a:ext cx="1006475" cy="344170"/>
          </a:xfrm>
          <a:custGeom>
            <a:avLst/>
            <a:gdLst/>
            <a:ahLst/>
            <a:cxnLst/>
            <a:rect l="l" t="t" r="r" b="b"/>
            <a:pathLst>
              <a:path w="1006475" h="344170">
                <a:moveTo>
                  <a:pt x="47625" y="0"/>
                </a:moveTo>
                <a:lnTo>
                  <a:pt x="958850" y="0"/>
                </a:lnTo>
                <a:arcTo hR="47625" wR="47625" stAng="16200000" swAng="5400000"/>
                <a:lnTo>
                  <a:pt x="1006475" y="296545"/>
                </a:lnTo>
                <a:arcTo hR="47625" wR="47625" stAng="0" swAng="5400000"/>
                <a:lnTo>
                  <a:pt x="47625" y="3441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square" lIns="14605" tIns="65405" rIns="14605" bIns="400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21425" y="2861946"/>
            <a:ext cx="1006475" cy="344170"/>
          </a:xfrm>
          <a:custGeom>
            <a:avLst/>
            <a:gdLst/>
            <a:ahLst/>
            <a:cxnLst/>
            <a:rect l="l" t="t" r="r" b="b"/>
            <a:pathLst>
              <a:path w="1006475" h="344170">
                <a:moveTo>
                  <a:pt x="47625" y="0"/>
                </a:moveTo>
                <a:lnTo>
                  <a:pt x="958850" y="0"/>
                </a:lnTo>
                <a:arcTo hR="47625" wR="47625" stAng="16200000" swAng="5400000"/>
                <a:lnTo>
                  <a:pt x="1006475" y="296545"/>
                </a:lnTo>
                <a:arcTo hR="47625" wR="47625" stAng="0" swAng="5400000"/>
                <a:lnTo>
                  <a:pt x="47625" y="3441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square" lIns="14605" tIns="65405" rIns="14605" bIns="400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97750" y="2861946"/>
            <a:ext cx="1006475" cy="344170"/>
          </a:xfrm>
          <a:custGeom>
            <a:avLst/>
            <a:gdLst/>
            <a:ahLst/>
            <a:cxnLst/>
            <a:rect l="l" t="t" r="r" b="b"/>
            <a:pathLst>
              <a:path w="1006475" h="344170">
                <a:moveTo>
                  <a:pt x="47625" y="0"/>
                </a:moveTo>
                <a:lnTo>
                  <a:pt x="958850" y="0"/>
                </a:lnTo>
                <a:arcTo hR="47625" wR="47625" stAng="16200000" swAng="5400000"/>
                <a:lnTo>
                  <a:pt x="1006475" y="296545"/>
                </a:lnTo>
                <a:arcTo hR="47625" wR="47625" stAng="0" swAng="5400000"/>
                <a:lnTo>
                  <a:pt x="47625" y="344170"/>
                </a:lnTo>
                <a:arcTo hR="47625" wR="4762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square" lIns="14605" tIns="65405" rIns="14605" bIns="40005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Volumes</a:t>
            </a:r>
            <a:endParaRPr lang="en-US" sz="1200" dirty="0"/>
          </a:p>
        </p:txBody>
      </p:sp>
      <p:pic>
        <p:nvPicPr>
          <p:cNvPr id="2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0800" y="2214246"/>
            <a:ext cx="304800" cy="152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99922" y="2417446"/>
            <a:ext cx="3865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</a:t>
            </a:r>
            <a:endParaRPr lang="en-US" sz="1200" dirty="0"/>
          </a:p>
        </p:txBody>
      </p:sp>
      <p:pic>
        <p:nvPicPr>
          <p:cNvPr id="23" name="Image 4" descr="arrow-lef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40800" y="2894967"/>
            <a:ext cx="304800" cy="1524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604375" y="1967867"/>
            <a:ext cx="1771650" cy="1325880"/>
          </a:xfrm>
          <a:prstGeom prst="roundRect">
            <a:avLst>
              <a:gd name="adj" fmla="val 742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784080" y="2147571"/>
            <a:ext cx="146304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Registry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784080" y="2473964"/>
            <a:ext cx="14630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Hub or a private registry that stores images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12800" y="4511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 when you type docker run nginx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2800" y="4832350"/>
            <a:ext cx="25273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2800" y="4937764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12800" y="5201921"/>
            <a:ext cx="26031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 sends the request to the daemon, dockerd.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492500" y="4832350"/>
            <a:ext cx="25273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492500" y="4937764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92500" y="5201921"/>
            <a:ext cx="260311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dockerd looks for the nginx image locally and pulls it from Docker Hub if missing.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72200" y="4832350"/>
            <a:ext cx="25273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172200" y="4937764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172200" y="5201921"/>
            <a:ext cx="260311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creates a container: a writable layer, namespaces and a network interface.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851900" y="4832350"/>
            <a:ext cx="25273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851900" y="4937764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8851900" y="5201921"/>
            <a:ext cx="26031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containerd and runc start the nginx process inside it.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GETTING STARTED WITH DOCKER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Installing Docker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715000" cy="2778760"/>
          </a:xfrm>
          <a:prstGeom prst="roundRect">
            <a:avLst>
              <a:gd name="adj" fmla="val 3656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Linux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64"/>
            <a:ext cx="536321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Ubuntu / Debian: convenience script, for labs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-fsSL https://get.docker.com -o get-docker.sh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sh get-docker.sh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Amazon Linux 2023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dnf install -y docker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systemctl enable --now docker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then: docker without sudo (log out and in)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usermod -aG docker $USER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hello-world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35775" y="1806575"/>
            <a:ext cx="4540250" cy="1917700"/>
          </a:xfrm>
          <a:prstGeom prst="roundRect">
            <a:avLst>
              <a:gd name="adj" fmla="val 5132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5480" y="1986279"/>
            <a:ext cx="4306265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Windows and macOS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15480" y="2325371"/>
            <a:ext cx="43062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Docker Desktop: it bundles the Engine, CLI, Compose and Buildx.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15480" y="2828292"/>
            <a:ext cx="43062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Windows it runs on WSL 2: run wsl --install first, then turn on WSL integration for your Ubuntu distro.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15480" y="3331214"/>
            <a:ext cx="43062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Check: docker version lists both Client and Server.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32600" y="3854450"/>
            <a:ext cx="4546600" cy="1334770"/>
          </a:xfrm>
          <a:prstGeom prst="roundRect">
            <a:avLst>
              <a:gd name="adj" fmla="val 7612"/>
            </a:avLst>
          </a:prstGeom>
          <a:solidFill>
            <a:srgbClr val="E2E9F5"/>
          </a:solidFill>
          <a:ln/>
        </p:spPr>
      </p:sp>
      <p:sp>
        <p:nvSpPr>
          <p:cNvPr id="13" name="Text 11"/>
          <p:cNvSpPr/>
          <p:nvPr/>
        </p:nvSpPr>
        <p:spPr>
          <a:xfrm>
            <a:off x="7010400" y="4032250"/>
            <a:ext cx="431673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servers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10400" y="4371342"/>
            <a:ext cx="431673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from Docker's apt or dnf repository (docs.docker.com/engine/install) so updates arrive with normal package updates.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GETTING STARTED WITH DOCKER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Commands to Maintain Containers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Anatomy of docker run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092964"/>
            <a:ext cx="12065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square" lIns="86721" tIns="48621" rIns="35921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84121"/>
            <a:ext cx="1257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+ start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20900" y="2092964"/>
            <a:ext cx="10795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square" lIns="86721" tIns="48621" rIns="35921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20900" y="2484121"/>
            <a:ext cx="1130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2000" y="2092964"/>
            <a:ext cx="13970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square" lIns="86721" tIns="48621" rIns="35921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--name web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2000" y="2484121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name to use later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092964"/>
            <a:ext cx="16510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square" lIns="86721" tIns="48621" rIns="35921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-p 8080:80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484121"/>
            <a:ext cx="1701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port → container 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3200" y="2092964"/>
            <a:ext cx="20955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square" lIns="86721" tIns="48621" rIns="29952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-e TZ=Asia/Kolkata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3200" y="2484121"/>
            <a:ext cx="2158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environment variable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50300" y="2092964"/>
            <a:ext cx="26289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square" lIns="86721" tIns="48621" rIns="13950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nginx:alpine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50300" y="2484121"/>
            <a:ext cx="2707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: tag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164842"/>
            <a:ext cx="5207000" cy="2631440"/>
          </a:xfrm>
          <a:prstGeom prst="roundRect">
            <a:avLst>
              <a:gd name="adj" fmla="val 3861"/>
            </a:avLst>
          </a:prstGeom>
          <a:solidFill>
            <a:srgbClr val="17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1041400" y="3342642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and manage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1400" y="36322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ps · docker ps -a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1400" y="3858264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containers · all, including stopped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1400" y="4147821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stop web · docker start web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1400" y="4373879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Graceful stop (SIGTERM, SIGKILL after 10 s) · start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1400" y="4663442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rm web · docker rm -f web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1400" y="48895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a stopped one · force-remove a running 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1400" y="5179064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--rm -it ubuntu bash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1400" y="5405121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throwaway shell, deleted when you exit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164842"/>
            <a:ext cx="5207000" cy="2631440"/>
          </a:xfrm>
          <a:prstGeom prst="roundRect">
            <a:avLst>
              <a:gd name="adj" fmla="val 3861"/>
            </a:avLst>
          </a:prstGeom>
          <a:solidFill>
            <a:srgbClr val="17243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342642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 and housekeeping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6322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images · docker pull python:3.12-slim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858264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local images · download one without running 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147821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rmi python:3.12-slim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373879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an image that no container uses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663442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stats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8895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CPU, memory and network use per container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179064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system prune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5405121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stopped containers, unused networks, dangling images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GETTING STARTED WITH DOCKER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Container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27250"/>
            <a:ext cx="1765300" cy="749300"/>
          </a:xfrm>
          <a:prstGeom prst="roundRect">
            <a:avLst>
              <a:gd name="adj" fmla="val 11017"/>
            </a:avLst>
          </a:prstGeom>
          <a:solidFill>
            <a:srgbClr val="FCFBF8"/>
          </a:solidFill>
          <a:ln w="12700">
            <a:solidFill>
              <a:srgbClr val="1F5B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2258064"/>
            <a:ext cx="1503680" cy="26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Created</a:t>
            </a:r>
            <a:endParaRPr lang="en-US" sz="1374" dirty="0"/>
          </a:p>
        </p:txBody>
      </p:sp>
      <p:sp>
        <p:nvSpPr>
          <p:cNvPr id="6" name="Text 4"/>
          <p:cNvSpPr/>
          <p:nvPr/>
        </p:nvSpPr>
        <p:spPr>
          <a:xfrm>
            <a:off x="975360" y="2538257"/>
            <a:ext cx="1503680" cy="23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create</a:t>
            </a:r>
            <a:endParaRPr lang="en-US" sz="1196" dirty="0"/>
          </a:p>
        </p:txBody>
      </p:sp>
      <p:sp>
        <p:nvSpPr>
          <p:cNvPr id="7" name="Shape 5"/>
          <p:cNvSpPr/>
          <p:nvPr/>
        </p:nvSpPr>
        <p:spPr>
          <a:xfrm>
            <a:off x="3733800" y="2120900"/>
            <a:ext cx="1778000" cy="762000"/>
          </a:xfrm>
          <a:prstGeom prst="roundRect">
            <a:avLst>
              <a:gd name="adj" fmla="val 11667"/>
            </a:avLst>
          </a:prstGeom>
          <a:solidFill>
            <a:srgbClr val="1F5BC4"/>
          </a:solidFill>
          <a:ln/>
        </p:spPr>
      </p:sp>
      <p:sp>
        <p:nvSpPr>
          <p:cNvPr id="8" name="Text 6"/>
          <p:cNvSpPr/>
          <p:nvPr/>
        </p:nvSpPr>
        <p:spPr>
          <a:xfrm>
            <a:off x="3886200" y="2247900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2534921"/>
            <a:ext cx="152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61150" y="2127250"/>
            <a:ext cx="1765300" cy="749300"/>
          </a:xfrm>
          <a:prstGeom prst="roundRect">
            <a:avLst>
              <a:gd name="adj" fmla="val 11017"/>
            </a:avLst>
          </a:prstGeom>
          <a:solidFill>
            <a:srgbClr val="FCFBF8"/>
          </a:solidFill>
          <a:ln w="12700">
            <a:solidFill>
              <a:srgbClr val="1F5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7360" y="2258064"/>
            <a:ext cx="1503680" cy="26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Stopped</a:t>
            </a:r>
            <a:endParaRPr lang="en-US" sz="1374" dirty="0"/>
          </a:p>
        </p:txBody>
      </p:sp>
      <p:sp>
        <p:nvSpPr>
          <p:cNvPr id="12" name="Text 10"/>
          <p:cNvSpPr/>
          <p:nvPr/>
        </p:nvSpPr>
        <p:spPr>
          <a:xfrm>
            <a:off x="6817360" y="2538257"/>
            <a:ext cx="1503680" cy="23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 code kept</a:t>
            </a:r>
            <a:endParaRPr lang="en-US" sz="1196" dirty="0"/>
          </a:p>
        </p:txBody>
      </p:sp>
      <p:sp>
        <p:nvSpPr>
          <p:cNvPr id="13" name="Shape 11"/>
          <p:cNvSpPr/>
          <p:nvPr/>
        </p:nvSpPr>
        <p:spPr>
          <a:xfrm>
            <a:off x="9601200" y="2120900"/>
            <a:ext cx="1778000" cy="762000"/>
          </a:xfrm>
          <a:prstGeom prst="roundRect">
            <a:avLst>
              <a:gd name="adj" fmla="val 11667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2247900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53600" y="2534921"/>
            <a:ext cx="152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data is gone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33800" y="3581400"/>
            <a:ext cx="1778000" cy="762000"/>
          </a:xfrm>
          <a:prstGeom prst="roundRect">
            <a:avLst>
              <a:gd name="adj" fmla="val 11667"/>
            </a:avLst>
          </a:prstGeom>
          <a:solidFill>
            <a:srgbClr val="E2E9F5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3708400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3995421"/>
            <a:ext cx="152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processes frozen</a:t>
            </a:r>
            <a:endParaRPr lang="en-US" sz="1200" dirty="0"/>
          </a:p>
        </p:txBody>
      </p:sp>
      <p:pic>
        <p:nvPicPr>
          <p:cNvPr id="1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451100"/>
            <a:ext cx="1244600" cy="101600"/>
          </a:xfrm>
          <a:prstGeom prst="rect">
            <a:avLst/>
          </a:prstGeom>
        </p:spPr>
      </p:pic>
      <p:pic>
        <p:nvPicPr>
          <p:cNvPr id="2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61000" y="2451100"/>
            <a:ext cx="1244600" cy="101600"/>
          </a:xfrm>
          <a:prstGeom prst="rect">
            <a:avLst/>
          </a:prstGeom>
        </p:spPr>
      </p:pic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82000" y="2451100"/>
            <a:ext cx="1270000" cy="101600"/>
          </a:xfrm>
          <a:prstGeom prst="rect">
            <a:avLst/>
          </a:prstGeom>
        </p:spPr>
      </p:pic>
      <p:pic>
        <p:nvPicPr>
          <p:cNvPr id="2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64000" y="2832100"/>
            <a:ext cx="101600" cy="800100"/>
          </a:xfrm>
          <a:prstGeom prst="rect">
            <a:avLst/>
          </a:prstGeom>
        </p:spPr>
      </p:pic>
      <p:pic>
        <p:nvPicPr>
          <p:cNvPr id="2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0" y="2832100"/>
            <a:ext cx="101600" cy="800100"/>
          </a:xfrm>
          <a:prstGeom prst="rect">
            <a:avLst/>
          </a:prstGeom>
        </p:spPr>
      </p:pic>
      <p:pic>
        <p:nvPicPr>
          <p:cNvPr id="24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93000" y="2832100"/>
            <a:ext cx="101600" cy="520700"/>
          </a:xfrm>
          <a:prstGeom prst="rect">
            <a:avLst/>
          </a:prstGeom>
        </p:spPr>
      </p:pic>
      <p:pic>
        <p:nvPicPr>
          <p:cNvPr id="25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34000" y="3251200"/>
            <a:ext cx="2260600" cy="101600"/>
          </a:xfrm>
          <a:prstGeom prst="rect">
            <a:avLst/>
          </a:prstGeom>
        </p:spPr>
      </p:pic>
      <p:pic>
        <p:nvPicPr>
          <p:cNvPr id="2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34000" y="2832100"/>
            <a:ext cx="101600" cy="5207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628900" y="2197100"/>
            <a:ext cx="1066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5549900" y="2197100"/>
            <a:ext cx="1066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· kill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8470900" y="2197100"/>
            <a:ext cx="1092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rm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3365500" y="312420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4699000" y="312420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unpause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5638800" y="3365500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· restart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812800" y="4603750"/>
            <a:ext cx="33528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812800" y="4709160"/>
            <a:ext cx="34533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run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docker create + docker start, in one step.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4419600" y="4603750"/>
            <a:ext cx="33528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4419600" y="4709160"/>
            <a:ext cx="34533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stop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sends SIGTERM, waits 10 seconds, then SIGKILL;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kill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sends SIGKILL at once.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026400" y="4603750"/>
            <a:ext cx="3352800" cy="0"/>
          </a:xfrm>
          <a:prstGeom prst="line">
            <a:avLst/>
          </a:prstGeom>
          <a:noFill/>
          <a:ln w="12700">
            <a:solidFill>
              <a:srgbClr val="1F5BC4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8026400" y="4709160"/>
            <a:ext cx="34533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Restart policy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decides what happens when the process exits: no · on-failure · unless-stopped · always.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GETTING STARTED WITH DOCKER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Debugging: logs, exec, inspect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600"/>
            <a:ext cx="274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logs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79321"/>
            <a:ext cx="27470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did the process print to stdout and stderr?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83000" y="1803400"/>
            <a:ext cx="7696200" cy="889000"/>
          </a:xfrm>
          <a:prstGeom prst="roundRect">
            <a:avLst>
              <a:gd name="adj" fmla="val 11429"/>
            </a:avLst>
          </a:prstGeom>
          <a:solidFill>
            <a:srgbClr val="172430"/>
          </a:solidFill>
          <a:ln/>
        </p:spPr>
        <p:txBody>
          <a:bodyPr wrap="square" lIns="173442" tIns="71842" rIns="0" bIns="464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logs web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logs -f --tail 50 web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follow the last 50 lines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logs --since 10m web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only the last 10 minutes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895600"/>
            <a:ext cx="274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exec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195321"/>
            <a:ext cx="27470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 command inside a running container and look around.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83000" y="2819400"/>
            <a:ext cx="7696200" cy="889000"/>
          </a:xfrm>
          <a:prstGeom prst="roundRect">
            <a:avLst>
              <a:gd name="adj" fmla="val 11429"/>
            </a:avLst>
          </a:prstGeom>
          <a:solidFill>
            <a:srgbClr val="172430"/>
          </a:solidFill>
          <a:ln/>
        </p:spPr>
        <p:txBody>
          <a:bodyPr wrap="square" lIns="173442" tIns="71842" rIns="0" bIns="464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exec -it web sh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 shell inside the container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 # cat /etc/nginx/conf.d/default.conf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 # wget -qO- http://localhost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test from the inside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911600"/>
            <a:ext cx="274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inspect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211321"/>
            <a:ext cx="27470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JSON description: state, exit code, IP address, mounts, environment.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3000" y="3835400"/>
            <a:ext cx="7696200" cy="889000"/>
          </a:xfrm>
          <a:prstGeom prst="roundRect">
            <a:avLst>
              <a:gd name="adj" fmla="val 11429"/>
            </a:avLst>
          </a:prstGeom>
          <a:solidFill>
            <a:srgbClr val="172430"/>
          </a:solidFill>
          <a:ln/>
        </p:spPr>
        <p:txBody>
          <a:bodyPr wrap="square" lIns="173442" tIns="71842" rIns="0" bIns="464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inspect web 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everything, as JSON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inspect -f '{{.State.Status}} {{.State.ExitCode}}' web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inspect -f '{{json .Mounts}}' web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4978400"/>
            <a:ext cx="10566400" cy="441960"/>
          </a:xfrm>
          <a:prstGeom prst="roundRect">
            <a:avLst>
              <a:gd name="adj" fmla="val 17241"/>
            </a:avLst>
          </a:prstGeom>
          <a:solidFill>
            <a:srgbClr val="E2E9F5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images often lack bash and curl: try sh, wget or busybox, or debug from a helper container on the same network.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GETTING STARTED WITH DOCKER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 Exit Codes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73646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400"/>
            <a:ext cx="749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14500" y="18034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73700" y="1803400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to check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070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136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14500" y="2161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process finished normally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73700" y="2161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Should it still be running? Check CMD — a web server must not exit.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451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2517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14500" y="2542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error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73700" y="2542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logs: the stack trace or error message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2832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2898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14500" y="2923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run itself failed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73700" y="2923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bad flag or option in your command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213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3279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14500" y="3304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 found but cannot run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73700" y="3304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Permissions: is the entrypoint file executable?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3594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800" y="3660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14500" y="3685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 not found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3700" y="3685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typo in CMD or ENTRYPOINT, or the program is not in the image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3975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4041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714500" y="4066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Killed by SIGKILL (128 + 9)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73700" y="4066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 of memory? docker inspect shows State.OOMKilled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800" y="43567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2800" y="4422142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143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714500" y="44475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Stopped by SIGTERM (128 + 15)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73700" y="4447542"/>
            <a:ext cx="608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 after docker stop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5565142"/>
            <a:ext cx="12211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to see it: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033905" y="5501642"/>
            <a:ext cx="400312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ps -a → Exited (137) 2 minutes ago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2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1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Run, Serve and Debug Containers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Docker Engine on Linux, or Docker Desktop with WSL 2; check docker version and run hello-world.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95221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20621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 nginx in the background on port 8080; list, stop, start and remove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87042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3012442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website.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Serve your own HTML page: mount ./site read-only into /usr/share/nginx/html and open http://localhost:8080.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78864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604264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Debug.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 the failing oops container and explain its exit code from logs; exec into site and find its IP and mounts with inspect.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170679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96079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up.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Remove the containers, then check what is left with docker system df.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56375" y="1806575"/>
            <a:ext cx="4819650" cy="1490980"/>
          </a:xfrm>
          <a:prstGeom prst="roundRect">
            <a:avLst>
              <a:gd name="adj" fmla="val 6601"/>
            </a:avLst>
          </a:prstGeom>
          <a:solidFill>
            <a:srgbClr val="FCFBF8"/>
          </a:solidFill>
          <a:ln w="6350">
            <a:solidFill>
              <a:srgbClr val="C8D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1480" y="1986279"/>
            <a:ext cx="454172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1480" y="2325371"/>
            <a:ext cx="45417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own page loads at http://localhost:8080.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1480" y="2614929"/>
            <a:ext cx="45417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explain why oops exited with code 3.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1480" y="2904492"/>
            <a:ext cx="45417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ps -a is empty after clean-up.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3200" y="3453129"/>
            <a:ext cx="4826000" cy="1955800"/>
          </a:xfrm>
          <a:prstGeom prst="roundRect">
            <a:avLst>
              <a:gd name="adj" fmla="val 5195"/>
            </a:avLst>
          </a:prstGeom>
          <a:solidFill>
            <a:srgbClr val="172430"/>
          </a:solidFill>
          <a:ln/>
        </p:spPr>
        <p:txBody>
          <a:bodyPr wrap="square" lIns="198842" tIns="148042" rIns="67778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-d --name site -p 8080:80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-v "$PWD/site":/usr/share/nginx/html:ro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nginx:alpine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--name oops alpine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sh -c "echo boom; exit 3"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ps -a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logs oops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PART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86B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Images and Registries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 and Docker Hub · Building Docker images · Image layers and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IMAGES AND REGISTRIES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Registries, Repositories and Tags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2584450" cy="401320"/>
          </a:xfrm>
          <a:prstGeom prst="roundRect">
            <a:avLst>
              <a:gd name="adj" fmla="val 12658"/>
            </a:avLst>
          </a:prstGeom>
          <a:solidFill>
            <a:srgbClr val="E9E6DF"/>
          </a:solidFill>
          <a:ln/>
        </p:spPr>
        <p:txBody>
          <a:bodyPr wrap="square" lIns="112121" tIns="61321" rIns="42208" bIns="359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255527"/>
            <a:ext cx="2661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Docker Hub is the default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3450" y="1803400"/>
            <a:ext cx="2584450" cy="401320"/>
          </a:xfrm>
          <a:prstGeom prst="roundRect">
            <a:avLst>
              <a:gd name="adj" fmla="val 12658"/>
            </a:avLst>
          </a:prstGeom>
          <a:solidFill>
            <a:srgbClr val="E2E9F5"/>
          </a:solidFill>
          <a:ln/>
        </p:spPr>
        <p:txBody>
          <a:bodyPr wrap="square" lIns="112121" tIns="61321" rIns="42208" bIns="359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/library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3450" y="2255527"/>
            <a:ext cx="2661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Namespace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library = official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34100" y="1803400"/>
            <a:ext cx="2584450" cy="401320"/>
          </a:xfrm>
          <a:prstGeom prst="roundRect">
            <a:avLst>
              <a:gd name="adj" fmla="val 12658"/>
            </a:avLst>
          </a:prstGeom>
          <a:solidFill>
            <a:srgbClr val="E2E9F5"/>
          </a:solidFill>
          <a:ln/>
        </p:spPr>
        <p:txBody>
          <a:bodyPr wrap="square" lIns="112121" tIns="61321" rIns="42208" bIns="359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/nginx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34100" y="2255527"/>
            <a:ext cx="2661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Repository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the image's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94750" y="1803400"/>
            <a:ext cx="2584450" cy="401320"/>
          </a:xfrm>
          <a:prstGeom prst="roundRect">
            <a:avLst>
              <a:gd name="adj" fmla="val 12658"/>
            </a:avLst>
          </a:prstGeom>
          <a:solidFill>
            <a:srgbClr val="1F5BC4"/>
          </a:solidFill>
          <a:ln/>
        </p:spPr>
        <p:txBody>
          <a:bodyPr wrap="square" lIns="112121" tIns="61321" rIns="42208" bIns="359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:alpine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94750" y="2255527"/>
            <a:ext cx="26619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 version or variant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5452750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" y="2726060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2829558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103885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default public registry: Docker Official Images, verified publishers and your own repositories.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63537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738885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registries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013200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ECR, Azure Container Registry, Google Artifact Registry: private, close to your workloads.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544702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4648200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4922527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Container Registry (ghcr.io), or your own with Harbor or the registry image.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722885"/>
            <a:ext cx="5435600" cy="1778000"/>
          </a:xfrm>
          <a:prstGeom prst="roundRect">
            <a:avLst>
              <a:gd name="adj" fmla="val 5714"/>
            </a:avLst>
          </a:prstGeom>
          <a:solidFill>
            <a:srgbClr val="172430"/>
          </a:solidFill>
          <a:ln/>
        </p:spPr>
        <p:txBody>
          <a:bodyPr wrap="square" lIns="224242" tIns="173442" rIns="76414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login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build -t myapp:1.0 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tag myapp:1.0 asha/myapp:1.0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push asha/myapp:1.0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on any other machine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pull asha/myapp:1.0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627885"/>
            <a:ext cx="5435600" cy="655320"/>
          </a:xfrm>
          <a:prstGeom prst="roundRect">
            <a:avLst>
              <a:gd name="adj" fmla="val 11628"/>
            </a:avLst>
          </a:prstGeom>
          <a:solidFill>
            <a:srgbClr val="E2E9F5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a real version such as python:3.12-slim rather than latest. A digest (@sha256:…) never changes.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IMAGES AND REGISTRIES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an Image with a Dockerfile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461000" cy="2778760"/>
          </a:xfrm>
          <a:prstGeom prst="roundRect">
            <a:avLst>
              <a:gd name="adj" fmla="val 3656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51015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Dockerfile · a small Python web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510159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python:3.12-slim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requirements.txt 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pip install --no-cache-dir -r requirements.txt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. 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useradd --create-home appuser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appuser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EXPOSE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8000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["gunicorn", "-b", "0.0.0.0:8000", "app:app"]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709158"/>
            <a:ext cx="5461000" cy="812800"/>
          </a:xfrm>
          <a:prstGeom prst="roundRect">
            <a:avLst>
              <a:gd name="adj" fmla="val 12500"/>
            </a:avLst>
          </a:prstGeom>
          <a:solidFill>
            <a:srgbClr val="172430"/>
          </a:solidFill>
          <a:ln/>
        </p:spPr>
        <p:txBody>
          <a:bodyPr wrap="square" lIns="224242" tIns="148042" rIns="75652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build -t myapp:1.0 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-d -p 8000:8000 myapp:1.0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78600" y="482790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8600" y="18065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8600" y="1884685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58100" y="1884685"/>
            <a:ext cx="38327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base image to start from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78600" y="21774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8600" y="2255527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58100" y="2255527"/>
            <a:ext cx="383273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directory for the next steps; created if missing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78600" y="27616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8600" y="2839727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8100" y="2839727"/>
            <a:ext cx="38327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files from the build context into the image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78600" y="3132460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8600" y="3210558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58100" y="3210558"/>
            <a:ext cx="383273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 command at build time; the result becomes a 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78600" y="3716660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8600" y="3794758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58100" y="3794758"/>
            <a:ext cx="38327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as this non-root user from here 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78600" y="4087502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8600" y="41656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58100" y="4165600"/>
            <a:ext cx="38327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the port the app listens 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8600" y="4458333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8600" y="4536442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58100" y="4536442"/>
            <a:ext cx="38327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default command when a container starts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IMAGES AND REGISTRIES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Instructions That Look Alike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200650" cy="1797050"/>
          </a:xfrm>
          <a:prstGeom prst="roundRect">
            <a:avLst>
              <a:gd name="adj" fmla="val 547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86285"/>
            <a:ext cx="4934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 vs ENTRYPOINT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1080" y="2311400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CMD is a default that docker run arguments replace. ENTRYPOINT fixes the program; CMD then gives its default arguments.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1080" y="2814327"/>
            <a:ext cx="4790440" cy="609600"/>
          </a:xfrm>
          <a:prstGeom prst="roundRect">
            <a:avLst>
              <a:gd name="adj" fmla="val 8333"/>
            </a:avLst>
          </a:prstGeom>
          <a:solidFill>
            <a:srgbClr val="172430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ENTRYPOINT ["python", "app.py"]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 ["--port", "8000"]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5375" y="1806575"/>
            <a:ext cx="5200650" cy="1797050"/>
          </a:xfrm>
          <a:prstGeom prst="roundRect">
            <a:avLst>
              <a:gd name="adj" fmla="val 547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0480" y="1986285"/>
            <a:ext cx="4934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vs ADD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80480" y="2311400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copies local files — use it by default. ADD can also unpack a tar archive or fetch a URL.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80480" y="2814327"/>
            <a:ext cx="4790440" cy="609600"/>
          </a:xfrm>
          <a:prstGeom prst="roundRect">
            <a:avLst>
              <a:gd name="adj" fmla="val 8333"/>
            </a:avLst>
          </a:prstGeom>
          <a:solidFill>
            <a:srgbClr val="172430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src/ /app/src/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 rootfs.tar.gz 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762375"/>
            <a:ext cx="5200650" cy="1797050"/>
          </a:xfrm>
          <a:prstGeom prst="roundRect">
            <a:avLst>
              <a:gd name="adj" fmla="val 547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942085"/>
            <a:ext cx="4934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ARG vs ENV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1080" y="4267200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 exists only during the build (--build-arg). ENV is stored in the image and seen by the running app.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1080" y="4770127"/>
            <a:ext cx="4790440" cy="609600"/>
          </a:xfrm>
          <a:prstGeom prst="roundRect">
            <a:avLst>
              <a:gd name="adj" fmla="val 8333"/>
            </a:avLst>
          </a:prstGeom>
          <a:solidFill>
            <a:srgbClr val="172430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ARG VERSION=1.0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ENV APP_ENV=production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5375" y="3762375"/>
            <a:ext cx="5200650" cy="1797050"/>
          </a:xfrm>
          <a:prstGeom prst="roundRect">
            <a:avLst>
              <a:gd name="adj" fmla="val 547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0480" y="3942085"/>
            <a:ext cx="4934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EXPOSE vs -p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0480" y="4267200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EXPOSE only documents a port. Publishing it on the host needs -p host:container at docker run.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0480" y="4770127"/>
            <a:ext cx="4790440" cy="609600"/>
          </a:xfrm>
          <a:prstGeom prst="roundRect">
            <a:avLst>
              <a:gd name="adj" fmla="val 8333"/>
            </a:avLst>
          </a:prstGeom>
          <a:solidFill>
            <a:srgbClr val="172430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EXPOSE 8000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-p 8080:8000 myapp:1.0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IMAGES AND REGISTRIES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Image Layers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809750"/>
            <a:ext cx="4813300" cy="373380"/>
          </a:xfrm>
          <a:prstGeom prst="roundRect">
            <a:avLst>
              <a:gd name="adj" fmla="val 15306"/>
            </a:avLst>
          </a:prstGeom>
          <a:solidFill>
            <a:srgbClr val="E2E9F5"/>
          </a:solidFill>
          <a:ln w="12700">
            <a:solidFill>
              <a:srgbClr val="1F5BC4"/>
            </a:solidFill>
            <a:prstDash val="dash"/>
          </a:ln>
        </p:spPr>
        <p:txBody>
          <a:bodyPr wrap="square" lIns="114071" tIns="63271" rIns="0" bIns="3787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layer</a:t>
            </a: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writable, deleted with the container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9150" y="2297435"/>
            <a:ext cx="4813300" cy="2557780"/>
          </a:xfrm>
          <a:prstGeom prst="roundRect">
            <a:avLst>
              <a:gd name="adj" fmla="val 3227"/>
            </a:avLst>
          </a:prstGeom>
          <a:noFill/>
          <a:ln w="12700">
            <a:solidFill>
              <a:srgbClr val="0F1A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9960" y="2428242"/>
            <a:ext cx="46882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IMAGE · READ-ONLY LAYERS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9960" y="2692400"/>
            <a:ext cx="4551680" cy="365760"/>
          </a:xfrm>
          <a:prstGeom prst="roundRect">
            <a:avLst>
              <a:gd name="adj" fmla="val 13889"/>
            </a:avLst>
          </a:prstGeom>
          <a:solidFill>
            <a:srgbClr val="2A3B4A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useradd appuser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9960" y="3108958"/>
            <a:ext cx="4551680" cy="365760"/>
          </a:xfrm>
          <a:prstGeom prst="roundRect">
            <a:avLst>
              <a:gd name="adj" fmla="val 13889"/>
            </a:avLst>
          </a:prstGeom>
          <a:solidFill>
            <a:srgbClr val="22313E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 </a:t>
            </a: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your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9960" y="3525527"/>
            <a:ext cx="4551680" cy="365760"/>
          </a:xfrm>
          <a:prstGeom prst="roundRect">
            <a:avLst>
              <a:gd name="adj" fmla="val 13889"/>
            </a:avLst>
          </a:prstGeom>
          <a:solidFill>
            <a:srgbClr val="1D2B37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… </a:t>
            </a: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dependencies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9960" y="3942085"/>
            <a:ext cx="4551680" cy="365760"/>
          </a:xfrm>
          <a:prstGeom prst="roundRect">
            <a:avLst>
              <a:gd name="adj" fmla="val 13889"/>
            </a:avLst>
          </a:prstGeom>
          <a:solidFill>
            <a:srgbClr val="182530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requirements.txt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9960" y="4358642"/>
            <a:ext cx="4551680" cy="365760"/>
          </a:xfrm>
          <a:prstGeom prst="roundRect">
            <a:avLst>
              <a:gd name="adj" fmla="val 13889"/>
            </a:avLst>
          </a:prstGeom>
          <a:solidFill>
            <a:srgbClr val="0F1A23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python:3.12-slim </a:t>
            </a: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— 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522922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8065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91008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184400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instruction that changes files (RUN, COPY, ADD) adds a layer; stacked, they form the image's file system.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715902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819400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Copy-on-write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093727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container never changes image layers; its edits land in its own writable layer.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411860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15358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and cached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789685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 containers from one image store it once; images with the same base share those layers.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43211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42468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cache rule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4699000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 layer changes, every layer after it is rebuilt — so put rarely changing steps first. docker history lists the layers.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IMAGES AND REGISTRIES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Optimizing Image Size and Build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207000" cy="2016760"/>
          </a:xfrm>
          <a:prstGeom prst="roundRect">
            <a:avLst>
              <a:gd name="adj" fmla="val 5038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81200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Before · large, slow to rebuild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270758"/>
            <a:ext cx="4944618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python:3.12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/app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 /app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-r requirements.txt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 ["python", "app.py"]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803400"/>
            <a:ext cx="5207000" cy="2016760"/>
          </a:xfrm>
          <a:prstGeom prst="roundRect">
            <a:avLst>
              <a:gd name="adj" fmla="val 5038"/>
            </a:avLst>
          </a:prstGeom>
          <a:solidFill>
            <a:srgbClr val="172430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981200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After · small, cache-friendly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5400" y="2270758"/>
            <a:ext cx="494461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python:3.12-slim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 /app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requirements.txt 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--no-cache-dir -r requirements.txt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 ["python", "app.py"]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4077333"/>
            <a:ext cx="2025650" cy="1210310"/>
          </a:xfrm>
          <a:prstGeom prst="roundRect">
            <a:avLst>
              <a:gd name="adj" fmla="val 70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280" y="4218942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0280" y="4505958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-slim, -alpine or distroless variants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9575" y="4077333"/>
            <a:ext cx="2025650" cy="1210310"/>
          </a:xfrm>
          <a:prstGeom prst="roundRect">
            <a:avLst>
              <a:gd name="adj" fmla="val 70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3880" y="4218942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order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3880" y="4505958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dependencies before copying the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83175" y="4077333"/>
            <a:ext cx="2025650" cy="1210310"/>
          </a:xfrm>
          <a:prstGeom prst="roundRect">
            <a:avLst>
              <a:gd name="adj" fmla="val 70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7480" y="4218942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in one RUN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7480" y="4505958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apt-get install … &amp;&amp; rm -rf /var/lib/apt/lists/*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16775" y="4077333"/>
            <a:ext cx="2025650" cy="1210310"/>
          </a:xfrm>
          <a:prstGeom prst="roundRect">
            <a:avLst>
              <a:gd name="adj" fmla="val 70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1080" y="4218942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.dockerignore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71080" y="4505958"/>
            <a:ext cx="176855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.git, venv, node_modules and secrets 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50375" y="4077333"/>
            <a:ext cx="2025650" cy="1210310"/>
          </a:xfrm>
          <a:prstGeom prst="roundRect">
            <a:avLst>
              <a:gd name="adj" fmla="val 708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4680" y="4218942"/>
            <a:ext cx="1768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04680" y="4505958"/>
            <a:ext cx="17685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only what runs; leave build tools behind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IMAGES AND REGISTRIES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Multi-stage Builds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461000" cy="3281680"/>
          </a:xfrm>
          <a:prstGeom prst="roundRect">
            <a:avLst>
              <a:gd name="adj" fmla="val 3096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51015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Dockerfile · a website built with Node.js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5101590" cy="258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Stage 1: build the site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node:22 </a:t>
            </a: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build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/src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package*.json ./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npm ci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. 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npm run build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Stage 2: serve it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nginx:alpine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--from=build /src/dist /usr/share/nginx/html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EXPOSE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80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1775" y="1806575"/>
            <a:ext cx="4794250" cy="786130"/>
          </a:xfrm>
          <a:prstGeom prst="roundRect">
            <a:avLst>
              <a:gd name="adj" fmla="val 12520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1480" y="1960885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STAGE: 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1480" y="2225042"/>
            <a:ext cx="46113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Node.js, npm, node_modules and source code — produces dist/</a:t>
            </a:r>
            <a:endParaRPr lang="en-US" sz="1200" dirty="0"/>
          </a:p>
        </p:txBody>
      </p:sp>
      <p:pic>
        <p:nvPicPr>
          <p:cNvPr id="10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32600" y="2697485"/>
            <a:ext cx="152400" cy="279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2730500"/>
            <a:ext cx="3072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--from=build only dist/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78600" y="3078485"/>
            <a:ext cx="4800600" cy="782320"/>
          </a:xfrm>
          <a:prstGeom prst="roundRect">
            <a:avLst>
              <a:gd name="adj" fmla="val 12987"/>
            </a:avLst>
          </a:prstGeom>
          <a:solidFill>
            <a:srgbClr val="0F1A23"/>
          </a:solidFill>
          <a:ln/>
        </p:spPr>
      </p:sp>
      <p:sp>
        <p:nvSpPr>
          <p:cNvPr id="13" name="Text 10"/>
          <p:cNvSpPr/>
          <p:nvPr/>
        </p:nvSpPr>
        <p:spPr>
          <a:xfrm>
            <a:off x="6756400" y="3230885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FINAL IMAGE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6400" y="34950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nginx:alpine plus the built files — nothing else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78600" y="401320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tools never ship: the final image is smaller, faster to pull and has less to attack.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2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Docker and Images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a container share with its host that a virtual machine does not?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29842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529842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Dockerfile copies the whole project before pip install. Why is every rebuild slow?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25628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256285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library mean in docker.io/library/nginx?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338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7338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ps -a shows Exited (137). What happened, and what do you check?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460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936240"/>
          </a:xfrm>
          <a:prstGeom prst="roundRect">
            <a:avLst>
              <a:gd name="adj" fmla="val 3460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58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host's kernel. A VM runs its own.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738127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738127"/>
            <a:ext cx="368884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code change breaks the cache for that COPY, so pip install reruns. Copy requirements.txt and install first.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50520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505200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namespace of Docker Official Images.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38455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5558"/>
            <a:ext cx="368884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was killed with SIGKILL, often for running out of memory: check State.OOMKilled with docker inspect.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PART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86B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 Networking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 within a single container · Communication across containers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CONTAINER NETWORKING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Networking Within a Single Container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9750"/>
            <a:ext cx="5702300" cy="1724660"/>
          </a:xfrm>
          <a:prstGeom prst="roundRect">
            <a:avLst>
              <a:gd name="adj" fmla="val 5523"/>
            </a:avLst>
          </a:prstGeom>
          <a:noFill/>
          <a:ln w="12700">
            <a:solidFill>
              <a:srgbClr val="9AA5A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49960" y="1940558"/>
            <a:ext cx="56039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· your laptop or an EC2 instance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9960" y="2646685"/>
            <a:ext cx="1026160" cy="340360"/>
          </a:xfrm>
          <a:prstGeom prst="roundRect">
            <a:avLst>
              <a:gd name="adj" fmla="val 14925"/>
            </a:avLst>
          </a:prstGeom>
          <a:solidFill>
            <a:srgbClr val="E2E9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port 8080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77720" y="2753358"/>
            <a:ext cx="2540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33320" y="2230127"/>
            <a:ext cx="3957320" cy="1173480"/>
          </a:xfrm>
          <a:prstGeom prst="roundRect">
            <a:avLst>
              <a:gd name="adj" fmla="val 7576"/>
            </a:avLst>
          </a:prstGeom>
          <a:solidFill>
            <a:srgbClr val="0F1A23"/>
          </a:solidFill>
          <a:ln/>
        </p:spPr>
      </p:sp>
      <p:sp>
        <p:nvSpPr>
          <p:cNvPr id="9" name="Text 6"/>
          <p:cNvSpPr/>
          <p:nvPr/>
        </p:nvSpPr>
        <p:spPr>
          <a:xfrm>
            <a:off x="2585720" y="2357127"/>
            <a:ext cx="376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web · eth0 172.17.0.2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85720" y="2646685"/>
            <a:ext cx="1026160" cy="340360"/>
          </a:xfrm>
          <a:prstGeom prst="roundRect">
            <a:avLst>
              <a:gd name="adj" fmla="val 14925"/>
            </a:avLst>
          </a:prstGeom>
          <a:solidFill>
            <a:srgbClr val="22313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nginx :80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88080" y="2766058"/>
            <a:ext cx="203200" cy="10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7480" y="2646685"/>
            <a:ext cx="1849120" cy="340360"/>
          </a:xfrm>
          <a:prstGeom prst="roundRect">
            <a:avLst>
              <a:gd name="adj" fmla="val 14925"/>
            </a:avLst>
          </a:prstGeom>
          <a:solidFill>
            <a:srgbClr val="22313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 127.0.0.1:8000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85720" y="3063242"/>
            <a:ext cx="376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network namespace: localhost is shared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3693158"/>
            <a:ext cx="5715000" cy="1320800"/>
          </a:xfrm>
          <a:prstGeom prst="roundRect">
            <a:avLst>
              <a:gd name="adj" fmla="val 7692"/>
            </a:avLst>
          </a:prstGeom>
          <a:solidFill>
            <a:srgbClr val="172430"/>
          </a:solidFill>
          <a:ln/>
        </p:spPr>
        <p:txBody>
          <a:bodyPr wrap="square" lIns="224242" tIns="173442" rIns="68032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-d --name web -p 8080:80 nginx:alpine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port web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80/tcp -&gt; 0.0.0.0:8080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curl -I http://localhost:8080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32600" y="522922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32600" y="180657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32600" y="1910085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localhost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832600" y="2184400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Processes in the same container share its network, so they reach each other on 127.0.0.1.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32600" y="271590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32600" y="2819400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own address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832600" y="3093727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container gets an internal IP on a Docker network, such as 172.17.0.2.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832600" y="3625217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32600" y="3728727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to reach it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832600" y="4003042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-p 8080:80 forwards host port 8080 to port 80 inside the container.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832600" y="4534533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32600" y="4638042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EXPOSE only documents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32600" y="4912358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-p, or -P for every exposed port, is what actually publishes.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CONTAINER NETWORKING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Network Drivers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42316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22338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407920"/>
        </p:xfrm>
        <a:graphic>
          <a:graphicData uri="http://schemas.openxmlformats.org/drawingml/2006/table">
            <a:tbl>
              <a:tblPr/>
              <a:tblGrid>
                <a:gridCol w="1688186"/>
                <a:gridCol w="4853534"/>
                <a:gridCol w="4009441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 it when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bridge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private network on one host; each container gets its own IP. The default.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Most single-host apps, on a bridge network you create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container uses the host's network stack directly; no port mapping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need maximum network speed and accept no isolation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network at all, only loopback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job must not talk to anything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overlay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network spanning several Docker hosts (Swarm)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Containers on different machines must talk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macvlan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container gets its own MAC and IP on the physical LAN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Legacy apps expect to sit directly on the network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501642"/>
            <a:ext cx="180848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22880" y="5501642"/>
            <a:ext cx="281432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create appnet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38800" y="5501642"/>
            <a:ext cx="290576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inspect appnet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CONTAINER NETWORKING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Networking Across Containers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4565650" cy="1441450"/>
          </a:xfrm>
          <a:prstGeom prst="roundRect">
            <a:avLst>
              <a:gd name="adj" fmla="val 682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1960885"/>
            <a:ext cx="43847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bridge network (docker0)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0280" y="2250442"/>
            <a:ext cx="2090420" cy="340360"/>
          </a:xfrm>
          <a:prstGeom prst="roundRect">
            <a:avLst>
              <a:gd name="adj" fmla="val 14925"/>
            </a:avLst>
          </a:prstGeom>
          <a:solidFill>
            <a:srgbClr val="E9E6DF"/>
          </a:solidFill>
          <a:ln/>
        </p:spPr>
        <p:txBody>
          <a:bodyPr wrap="square" lIns="86721" tIns="48621" rIns="30105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· 172.17.0.2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36900" y="2250442"/>
            <a:ext cx="2090420" cy="340360"/>
          </a:xfrm>
          <a:prstGeom prst="roundRect">
            <a:avLst>
              <a:gd name="adj" fmla="val 14925"/>
            </a:avLst>
          </a:prstGeom>
          <a:solidFill>
            <a:srgbClr val="E9E6DF"/>
          </a:solidFill>
          <a:ln/>
        </p:spPr>
        <p:txBody>
          <a:bodyPr wrap="square" lIns="86721" tIns="48621" rIns="30105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 · 172.17.0.3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0280" y="2667000"/>
            <a:ext cx="43847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reach each other by IP only — no name lookup. The old --link flag is legacy.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384550"/>
            <a:ext cx="4559300" cy="1231900"/>
          </a:xfrm>
          <a:prstGeom prst="roundRect">
            <a:avLst>
              <a:gd name="adj" fmla="val 7732"/>
            </a:avLst>
          </a:prstGeom>
          <a:solidFill>
            <a:srgbClr val="E2E9F5"/>
          </a:solidFill>
          <a:ln w="12700">
            <a:solidFill>
              <a:srgbClr val="1F5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360" y="3540758"/>
            <a:ext cx="43742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User-defined network: appnet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5360" y="3830327"/>
            <a:ext cx="1920240" cy="340360"/>
          </a:xfrm>
          <a:prstGeom prst="roundRect">
            <a:avLst>
              <a:gd name="adj" fmla="val 14925"/>
            </a:avLst>
          </a:prstGeom>
          <a:solidFill>
            <a:srgbClr val="1F5BC4"/>
          </a:solidFill>
          <a:ln/>
        </p:spPr>
        <p:txBody>
          <a:bodyPr wrap="square" lIns="86721" tIns="48621" rIns="35210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</a:t>
            </a:r>
            <a:endParaRPr lang="en-US" sz="1200" dirty="0"/>
          </a:p>
        </p:txBody>
      </p:sp>
      <p:pic>
        <p:nvPicPr>
          <p:cNvPr id="12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3937000"/>
            <a:ext cx="254000" cy="127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02000" y="3830327"/>
            <a:ext cx="1920240" cy="340360"/>
          </a:xfrm>
          <a:prstGeom prst="roundRect">
            <a:avLst>
              <a:gd name="adj" fmla="val 14925"/>
            </a:avLst>
          </a:prstGeom>
          <a:solidFill>
            <a:srgbClr val="1F5BC4"/>
          </a:solidFill>
          <a:ln/>
        </p:spPr>
        <p:txBody>
          <a:bodyPr wrap="square" lIns="86721" tIns="48621" rIns="35210" bIns="232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db:5432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5360" y="4246885"/>
            <a:ext cx="43742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reaches db by name, through Docker's built-in DNS.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4749800"/>
            <a:ext cx="4572000" cy="655320"/>
          </a:xfrm>
          <a:prstGeom prst="roundRect">
            <a:avLst>
              <a:gd name="adj" fmla="val 11628"/>
            </a:avLst>
          </a:prstGeom>
          <a:solidFill>
            <a:srgbClr val="E9E6DF"/>
          </a:solidFill>
          <a:ln/>
        </p:spPr>
        <p:txBody>
          <a:bodyPr wrap="square" lIns="130082" tIns="91982" rIns="2066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 tiers: containers on different user-defined networks cannot talk unless joined to both.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89600" y="1803400"/>
            <a:ext cx="5689600" cy="2778760"/>
          </a:xfrm>
          <a:prstGeom prst="roundRect">
            <a:avLst>
              <a:gd name="adj" fmla="val 3656"/>
            </a:avLst>
          </a:prstGeom>
          <a:solidFill>
            <a:srgbClr val="172430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00660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bash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2321558"/>
            <a:ext cx="5337048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network create appnet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-d --name db --network appnet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-e POSTGRES_PASSWORD=secret postgres:16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-d --name web --network appnet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-p 8080:8000 -e DB_HOST=db myapp:1.0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run --rm --network appnet busybox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ping -c 2 db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PING db (172.18.0.2): 56 data bytes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network connect appnet old-app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2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2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Images and Networks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 a Dockerfile for a small web app, build it and note its size with docker image 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95227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20627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Use a slim base, reorder for caching, add .dockerignore, try a multi-stage build; compare sizes and rebuild times.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87042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3012442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Tag the image with your Docker Hub username and push it; pull it on a classmate's machine.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78858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604258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Create a user-defined network, run your app and PostgreSQL on it, and prove web reaches db by name.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17068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96085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a second network and show that a container outside it cannot reach the database.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8375" y="1806575"/>
            <a:ext cx="4057650" cy="1704340"/>
          </a:xfrm>
          <a:prstGeom prst="roundRect">
            <a:avLst>
              <a:gd name="adj" fmla="val 5775"/>
            </a:avLst>
          </a:prstGeom>
          <a:solidFill>
            <a:srgbClr val="FCFBF8"/>
          </a:solidFill>
          <a:ln w="6350">
            <a:solidFill>
              <a:srgbClr val="C8D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3480" y="1986285"/>
            <a:ext cx="375686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Record in your notes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177905" y="2325377"/>
            <a:ext cx="0" cy="10058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3480" y="3328042"/>
            <a:ext cx="3657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33640" y="2335537"/>
          <a:ext cx="3642360" cy="990600"/>
        </p:xfrm>
        <a:graphic>
          <a:graphicData uri="http://schemas.openxmlformats.org/drawingml/2006/table">
            <a:tbl>
              <a:tblPr/>
              <a:tblGrid>
                <a:gridCol w="1019861"/>
                <a:gridCol w="1165555"/>
                <a:gridCol w="1456944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Size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Rebuild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Before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___ MB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___ 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___ MB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___ 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318375" y="3669667"/>
            <a:ext cx="4057650" cy="1125220"/>
          </a:xfrm>
          <a:prstGeom prst="roundRect">
            <a:avLst>
              <a:gd name="adj" fmla="val 8747"/>
            </a:avLst>
          </a:prstGeom>
          <a:solidFill>
            <a:srgbClr val="FCFBF8"/>
          </a:solidFill>
          <a:ln w="6350">
            <a:solidFill>
              <a:srgbClr val="C8D5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23480" y="3849377"/>
            <a:ext cx="375686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523480" y="4188458"/>
            <a:ext cx="375686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image is on Docker Hub, and ping db works inside appnet but fails from outside it.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PART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2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86B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Compose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5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Multi-container application definition · Service dependencies and volumes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DOCKER COMPOSE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Compose: One File, Whole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544258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10085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184400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compose.yaml describes every service, network and volume of the application.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715902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819400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command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093727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 up starts everything in the right order; down removes it all.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625217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728727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Names, not IPs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03042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creates a network for the project; services reach each other by service name.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4534533"/>
            <a:ext cx="48260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4638042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v2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912358"/>
            <a:ext cx="49707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docker compose (a CLI plugin). The old docker-compose v1 is retired, and the version: key is no longer needed.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803400"/>
            <a:ext cx="5435600" cy="3309620"/>
          </a:xfrm>
          <a:prstGeom prst="roundRect">
            <a:avLst>
              <a:gd name="adj" fmla="val 3070"/>
            </a:avLst>
          </a:prstGeom>
          <a:solidFill>
            <a:srgbClr val="17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981200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up -d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207258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if needed, then create and start everything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484127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710185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of each service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987042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logs -f web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213100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one service's logs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3489958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exec db psql -U postgres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716027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 command inside a service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992885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4218942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and remove the containers and network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4495800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compose down -v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721858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…and delete the named volumes too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DOCKER COMPOSE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Multi-container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4826000" cy="3190240"/>
          </a:xfrm>
          <a:prstGeom prst="roundRect">
            <a:avLst>
              <a:gd name="adj" fmla="val 3185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compose.yaml · 1 of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4447540" cy="249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services: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web: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build from the Dockerfile here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build: .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ports: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"8080:8000"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environment: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service names work as hostnames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DB_HOST: db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depends_on: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db: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condition: service_healthy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91200" y="1803400"/>
            <a:ext cx="5588000" cy="3395980"/>
          </a:xfrm>
          <a:prstGeom prst="roundRect">
            <a:avLst>
              <a:gd name="adj" fmla="val 2992"/>
            </a:avLst>
          </a:prstGeom>
          <a:solidFill>
            <a:srgbClr val="172430"/>
          </a:solidFill>
          <a:ln/>
        </p:spPr>
      </p:sp>
      <p:sp>
        <p:nvSpPr>
          <p:cNvPr id="8" name="Text 6"/>
          <p:cNvSpPr/>
          <p:nvPr/>
        </p:nvSpPr>
        <p:spPr>
          <a:xfrm>
            <a:off x="6045200" y="200660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compose.yaml · 2 of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45200" y="2321558"/>
            <a:ext cx="5232400" cy="270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db: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image: postgres:16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environment: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POSTGRES_PASSWORD: example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volumes: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db-data:/var/lib/postgresql/data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healthcheck: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test: ["CMD-SHELL", "pg_isready -U postgres"]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interval: 5s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retries: 5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volumes: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db-data: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351785"/>
            <a:ext cx="299720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docker compose up -d --build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11600" y="5415285"/>
            <a:ext cx="70910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open http://localhost:8080 — the web container talks to the database at db:5432.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DOCKER COMPOSE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 Dependencies and Health Checks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depends_on: [db] only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092970"/>
            <a:ext cx="1634014" cy="1056640"/>
          </a:xfrm>
          <a:prstGeom prst="roundRect">
            <a:avLst>
              <a:gd name="adj" fmla="val 6010"/>
            </a:avLst>
          </a:prstGeom>
          <a:solidFill>
            <a:srgbClr val="E9E6DF"/>
          </a:solidFill>
          <a:ln/>
        </p:spPr>
        <p:txBody>
          <a:bodyPr wrap="square" lIns="83001" tIns="83001" rIns="32201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db container starts</a:t>
            </a:r>
            <a:endParaRPr lang="en-US" sz="12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23014" y="2557785"/>
            <a:ext cx="254000" cy="12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53214" y="2092970"/>
            <a:ext cx="1634093" cy="1056640"/>
          </a:xfrm>
          <a:prstGeom prst="roundRect">
            <a:avLst>
              <a:gd name="adj" fmla="val 6010"/>
            </a:avLst>
          </a:prstGeom>
          <a:solidFill>
            <a:srgbClr val="E9E6DF"/>
          </a:solidFill>
          <a:ln/>
        </p:spPr>
        <p:txBody>
          <a:bodyPr wrap="square" lIns="83001" tIns="83001" rIns="32201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starts at once</a:t>
            </a:r>
            <a:endParaRPr lang="en-US" sz="12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3507" y="2557785"/>
            <a:ext cx="254000" cy="127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3707" y="2092970"/>
            <a:ext cx="1634093" cy="1056640"/>
          </a:xfrm>
          <a:prstGeom prst="roundRect">
            <a:avLst>
              <a:gd name="adj" fmla="val 6010"/>
            </a:avLst>
          </a:prstGeom>
          <a:solidFill>
            <a:srgbClr val="0F1A23"/>
          </a:solidFill>
          <a:ln/>
        </p:spPr>
        <p:txBody>
          <a:bodyPr wrap="square" lIns="83001" tIns="83001" rIns="32201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fails: connection refused, the database is still starting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2800" y="33528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condition: service_healthy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2800" y="3642370"/>
            <a:ext cx="1634014" cy="629920"/>
          </a:xfrm>
          <a:prstGeom prst="roundRect">
            <a:avLst>
              <a:gd name="adj" fmla="val 10081"/>
            </a:avLst>
          </a:prstGeom>
          <a:solidFill>
            <a:srgbClr val="E2E9F5"/>
          </a:solidFill>
          <a:ln/>
        </p:spPr>
        <p:txBody>
          <a:bodyPr wrap="square" lIns="83001" tIns="83001" rIns="32201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db container starts</a:t>
            </a:r>
            <a:endParaRPr lang="en-US" sz="1200" dirty="0"/>
          </a:p>
        </p:txBody>
      </p:sp>
      <p:pic>
        <p:nvPicPr>
          <p:cNvPr id="1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23014" y="3893815"/>
            <a:ext cx="254000" cy="127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53214" y="3642370"/>
            <a:ext cx="1634093" cy="629920"/>
          </a:xfrm>
          <a:prstGeom prst="roundRect">
            <a:avLst>
              <a:gd name="adj" fmla="val 10081"/>
            </a:avLst>
          </a:prstGeom>
          <a:solidFill>
            <a:srgbClr val="E2E9F5"/>
          </a:solidFill>
          <a:ln/>
        </p:spPr>
        <p:txBody>
          <a:bodyPr wrap="square" lIns="83001" tIns="83001" rIns="32201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healthcheck passes: pg_isready</a:t>
            </a:r>
            <a:endParaRPr lang="en-US" sz="1200" dirty="0"/>
          </a:p>
        </p:txBody>
      </p:sp>
      <p:pic>
        <p:nvPicPr>
          <p:cNvPr id="14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63507" y="3893815"/>
            <a:ext cx="254000" cy="127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93707" y="3642370"/>
            <a:ext cx="1634093" cy="629920"/>
          </a:xfrm>
          <a:prstGeom prst="roundRect">
            <a:avLst>
              <a:gd name="adj" fmla="val 10081"/>
            </a:avLst>
          </a:prstGeom>
          <a:solidFill>
            <a:srgbClr val="1F5BC4"/>
          </a:solidFill>
          <a:ln/>
        </p:spPr>
        <p:txBody>
          <a:bodyPr wrap="square" lIns="83001" tIns="83001" rIns="32201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starts and connects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832600" y="442658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832600" y="180657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832600" y="1897380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depends_on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sets the start order — not readiness.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832600" y="2202830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32600" y="2293635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healthcheck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tells Docker when a service is really ready to use.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832600" y="2599060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832600" y="2689865"/>
            <a:ext cx="468299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conditions: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service_started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(the default) and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service_completed_successfully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one-off jobs such as migrations.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832600" y="3422030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32600" y="3512835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Apps should still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retry connections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 dependency can restart at any time.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32600" y="4031630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832600" y="4122435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restart: unless-stopped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brings a crashed service back.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5 · DOCKER COMPOSE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Volumes: Keeping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382206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4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803400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56200" y="1803400"/>
            <a:ext cx="25377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it for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23200" y="18034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07074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148855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Named volume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48855"/>
            <a:ext cx="27470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by Docker, under /var/lib/docker/volumes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56200" y="2148855"/>
            <a:ext cx="253771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Databases and anything that must outlive containers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23200" y="2148855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db-data:/var/lib/postgresql/data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265494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2733055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Bind mount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733055"/>
            <a:ext cx="27470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folder you choose on the host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6200" y="2733055"/>
            <a:ext cx="253771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code during development, config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23200" y="2733055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./site:/usr/share/nginx/html:ro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23914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317255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tmpfs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317255"/>
            <a:ext cx="27470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only; gone when the container stops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56200" y="3317255"/>
            <a:ext cx="253771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Scratch space, sensitive temporary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3200" y="3317255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--tmpfs /tmp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4464695"/>
            <a:ext cx="5205730" cy="1374140"/>
          </a:xfrm>
          <a:prstGeom prst="roundRect">
            <a:avLst>
              <a:gd name="adj" fmla="val 716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680" y="4644405"/>
            <a:ext cx="499171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lifecycle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5680" y="4983485"/>
            <a:ext cx="49917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container's writable layer is deleted with the container. docker compose down keeps named volumes; down -v deletes them.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7280" y="4461520"/>
            <a:ext cx="5201920" cy="1380490"/>
          </a:xfrm>
          <a:prstGeom prst="roundRect">
            <a:avLst>
              <a:gd name="adj" fmla="val 7360"/>
            </a:avLst>
          </a:prstGeom>
          <a:solidFill>
            <a:srgbClr val="172430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639320"/>
            <a:ext cx="499171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4978400"/>
            <a:ext cx="499171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volume ls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volume inspect db-data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volume rm db-data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5B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431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PRINCIPLE · DISPOSABLE CONTAINERS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10520"/>
            <a:ext cx="94837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50" kern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Treat containers as disposable: keep data in volumes and settings in environment variables.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999235"/>
            <a:ext cx="719455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any container can be stopped, replaced or scaled at any moment — which is exactly what Compose, CI pipelines and orchestrators do.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2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3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Multi-container App with Compose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 compose.yaml for your web app and PostgreSQL, with a named volume for the database.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8251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407915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a healthcheck to db, and depends_on with condition: service_healthy to web.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6165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2987055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Start it with docker compose up -d --build; watch docker compose ps until db is healthy.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4077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566170"/>
            <a:ext cx="5994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data through the app, run down, then up again — the data is still there.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91668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3942085"/>
            <a:ext cx="5994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Destroy.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 docker compose down -v, confirm the data is gone and explain why.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2926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0800" y="4318000"/>
            <a:ext cx="5860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an adminer service on port 8081 and browse the database with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8375" y="1806575"/>
            <a:ext cx="4057650" cy="1704340"/>
          </a:xfrm>
          <a:prstGeom prst="roundRect">
            <a:avLst>
              <a:gd name="adj" fmla="val 5775"/>
            </a:avLst>
          </a:prstGeom>
          <a:solidFill>
            <a:srgbClr val="FCFBF8"/>
          </a:solidFill>
          <a:ln w="6350">
            <a:solidFill>
              <a:srgbClr val="C8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3480" y="1986285"/>
            <a:ext cx="375686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23480" y="2325365"/>
            <a:ext cx="375686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 ps shows db healthy and web running.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23480" y="2828305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data survives down and up.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23480" y="3117850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explain down versus down -v.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3666505"/>
            <a:ext cx="4064000" cy="1270000"/>
          </a:xfrm>
          <a:prstGeom prst="roundRect">
            <a:avLst>
              <a:gd name="adj" fmla="val 8000"/>
            </a:avLst>
          </a:prstGeom>
          <a:solidFill>
            <a:srgbClr val="172430"/>
          </a:solidFill>
          <a:ln/>
        </p:spPr>
        <p:txBody>
          <a:bodyPr wrap="square" lIns="198842" tIns="148042" rIns="90638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compose up -d --build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compose ps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compose logs -f web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compose down -v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2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Networking and Compose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containers on the default bridge cannot reach each other by name. Why, and what is the fix?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2985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529855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exactly does -p 8080:80 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00737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00737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starts before PostgreSQL is ready, even with depends_on. What do you add?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338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B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7338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docker compose down, is the database data gone?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211315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936240"/>
          </a:xfrm>
          <a:prstGeom prst="roundRect">
            <a:avLst>
              <a:gd name="adj" fmla="val 3460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7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default bridge has no built-in DNS. Use a user-defined network; Compose creates one for you.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95148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951485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forwards port 8080 on the host to port 80 inside the container.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50520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50520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healthcheck on db, and condition: service_healthy in web's depends_on.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405891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4058915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Named volumes survive down; only down -v deletes them.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2 · Containers and Docker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2 ·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2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77710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5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 concepts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80000" y="1993900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what a container is and when to choose one over a virtual machine.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36029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221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501900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basics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0000" y="2547615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Docker, run and maintain containers, and debug them with logs, exec and inspect.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91403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07595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055615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Images and registries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80000" y="3101355"/>
            <a:ext cx="64881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Dockerfiles, keep images small with layers and multi-stage builds, and share them through a registry.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67094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83287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3812555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80000" y="3858270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ports and connect containers by name on user-defined networks.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22466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38658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6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4000" y="4366270"/>
            <a:ext cx="340106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80000" y="4411985"/>
            <a:ext cx="64881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multi-container apps with dependencies, health checks and volumes.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T217 Module 2 — Containers and Docker">
  <a:themeElements>
    <a:clrScheme name="CSET217 Module 2 — Containers and Docker">
      <a:dk1>
        <a:srgbClr val="121C25"/>
      </a:dk1>
      <a:lt1>
        <a:srgbClr val="F5F3EE"/>
      </a:lt1>
      <a:dk2>
        <a:srgbClr val="4B5257"/>
      </a:dk2>
      <a:lt2>
        <a:srgbClr val="DEDEDA"/>
      </a:lt2>
      <a:accent1>
        <a:srgbClr val="1F5BC4"/>
      </a:accent1>
      <a:accent2>
        <a:srgbClr val="86B4FF"/>
      </a:accent2>
      <a:accent3>
        <a:srgbClr val="3B4752"/>
      </a:accent3>
      <a:accent4>
        <a:srgbClr val="56626C"/>
      </a:accent4>
      <a:accent5>
        <a:srgbClr val="C9D2D9"/>
      </a:accent5>
      <a:accent6>
        <a:srgbClr val="93A2AE"/>
      </a:accent6>
      <a:hlink>
        <a:srgbClr val="0563C1"/>
      </a:hlink>
      <a:folHlink>
        <a:srgbClr val="954F72"/>
      </a:folHlink>
    </a:clrScheme>
    <a:fontScheme name="CSET217 Module 2 — Containers and Docker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CSET217 Module 2 — Containers and Docker</dc:title>
  <dc:subject/>
  <dc:creator/>
  <cp:lastModifiedBy/>
  <cp:revision>1</cp:revision>
  <dcterms:created xsi:type="dcterms:W3CDTF">2026-10-06T05:18:59Z</dcterms:created>
  <dcterms:modified xsi:type="dcterms:W3CDTF">2026-10-06T05:18:59Z</dcterms:modified>
</cp:coreProperties>
</file>