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CSET217 · SOFTWARE DEVELOPMENT WITH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904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4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push origin main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5425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3065780"/>
            <a:ext cx="981075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spc="-10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Pipelines, Build and Release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12800" y="562673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5831840"/>
            <a:ext cx="1277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contact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3936" y="5831840"/>
            <a:ext cx="23217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outcomes CO1 · CO2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5102" y="5831840"/>
            <a:ext cx="1748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Semester III · Year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7 CONTACT HOURS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3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50336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8000" y="1993900"/>
            <a:ext cx="5964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 and its pipeline · Implementation and principles · Tools for CI/CD · CI/CD project 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5634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254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705100"/>
            <a:ext cx="3924300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Builds, packages and dependencies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88000" y="2750820"/>
            <a:ext cx="5964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management · Build reporting and status · Package management · Dependency 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3737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53568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51536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management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88000" y="356108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pipeline · Release planning · Project release 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9274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0894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40690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to production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88000" y="4114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a build to production · Deployment strategies: blue-green, canary, rolling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4811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6431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62280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Measuring the pipeline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88000" y="466852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metrics and quality gates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56286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Hands-on: Jenkins setup and system configuration · Building a pipeline with triggers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PART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98272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8971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Foundations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547361"/>
            <a:ext cx="78486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 and its pipeline · Implementation and principles · Tools for CI/CD · CI/CD project overview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CI, Continuous Delivery and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06575"/>
            <a:ext cx="1691164" cy="394970"/>
          </a:xfrm>
          <a:custGeom>
            <a:avLst/>
            <a:gdLst/>
            <a:ahLst/>
            <a:cxnLst/>
            <a:rect l="l" t="t" r="r" b="b"/>
            <a:pathLst>
              <a:path w="1691164" h="394970">
                <a:moveTo>
                  <a:pt x="60325" y="0"/>
                </a:moveTo>
                <a:lnTo>
                  <a:pt x="1630839" y="0"/>
                </a:lnTo>
                <a:arcTo hR="60325" wR="60325" stAng="16200000" swAng="5400000"/>
                <a:lnTo>
                  <a:pt x="1691164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89689" y="1806575"/>
            <a:ext cx="1691243" cy="394970"/>
          </a:xfrm>
          <a:custGeom>
            <a:avLst/>
            <a:gdLst/>
            <a:ahLst/>
            <a:cxnLst/>
            <a:rect l="l" t="t" r="r" b="b"/>
            <a:pathLst>
              <a:path w="1691243" h="394970">
                <a:moveTo>
                  <a:pt x="60325" y="0"/>
                </a:moveTo>
                <a:lnTo>
                  <a:pt x="1630918" y="0"/>
                </a:lnTo>
                <a:arcTo hR="60325" wR="60325" stAng="16200000" swAng="5400000"/>
                <a:lnTo>
                  <a:pt x="1691243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63482" y="1806575"/>
            <a:ext cx="1691164" cy="394970"/>
          </a:xfrm>
          <a:custGeom>
            <a:avLst/>
            <a:gdLst/>
            <a:ahLst/>
            <a:cxnLst/>
            <a:rect l="l" t="t" r="r" b="b"/>
            <a:pathLst>
              <a:path w="1691164" h="394970">
                <a:moveTo>
                  <a:pt x="60325" y="0"/>
                </a:moveTo>
                <a:lnTo>
                  <a:pt x="1630839" y="0"/>
                </a:lnTo>
                <a:arcTo hR="60325" wR="60325" stAng="16200000" swAng="5400000"/>
                <a:lnTo>
                  <a:pt x="1691164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37196" y="1806575"/>
            <a:ext cx="1691243" cy="394970"/>
          </a:xfrm>
          <a:custGeom>
            <a:avLst/>
            <a:gdLst/>
            <a:ahLst/>
            <a:cxnLst/>
            <a:rect l="l" t="t" r="r" b="b"/>
            <a:pathLst>
              <a:path w="1691243" h="394970">
                <a:moveTo>
                  <a:pt x="60325" y="0"/>
                </a:moveTo>
                <a:lnTo>
                  <a:pt x="1630918" y="0"/>
                </a:lnTo>
                <a:arcTo hR="60325" wR="60325" stAng="16200000" swAng="5400000"/>
                <a:lnTo>
                  <a:pt x="1691243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10989" y="1806575"/>
            <a:ext cx="1691243" cy="394970"/>
          </a:xfrm>
          <a:custGeom>
            <a:avLst/>
            <a:gdLst/>
            <a:ahLst/>
            <a:cxnLst/>
            <a:rect l="l" t="t" r="r" b="b"/>
            <a:pathLst>
              <a:path w="1691243" h="394970">
                <a:moveTo>
                  <a:pt x="60325" y="0"/>
                </a:moveTo>
                <a:lnTo>
                  <a:pt x="1630918" y="0"/>
                </a:lnTo>
                <a:arcTo hR="60325" wR="60325" stAng="16200000" swAng="5400000"/>
                <a:lnTo>
                  <a:pt x="1691243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Staging 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84782" y="1806575"/>
            <a:ext cx="1691164" cy="394970"/>
          </a:xfrm>
          <a:custGeom>
            <a:avLst/>
            <a:gdLst/>
            <a:ahLst/>
            <a:cxnLst/>
            <a:rect l="l" t="t" r="r" b="b"/>
            <a:pathLst>
              <a:path w="1691164" h="394970">
                <a:moveTo>
                  <a:pt x="60325" y="0"/>
                </a:moveTo>
                <a:lnTo>
                  <a:pt x="1630839" y="0"/>
                </a:lnTo>
                <a:arcTo hR="60325" wR="60325" stAng="16200000" swAng="5400000"/>
                <a:lnTo>
                  <a:pt x="1691164" y="334645"/>
                </a:lnTo>
                <a:arcTo hR="60325" wR="60325" stAng="0" swAng="5400000"/>
                <a:lnTo>
                  <a:pt x="60325" y="394970"/>
                </a:lnTo>
                <a:arcTo hR="60325" wR="60325" stAng="5400000" swAng="5400000"/>
                <a:lnTo>
                  <a:pt x="0" y="60325"/>
                </a:lnTo>
                <a:arcTo hR="60325" wR="60325" stAng="10800000" swAng="5400000"/>
                <a:close/>
              </a:path>
            </a:pathLst>
          </a:cu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27305" tIns="90805" rIns="27305" bIns="654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280920"/>
            <a:ext cx="5245021" cy="655320"/>
          </a:xfrm>
          <a:prstGeom prst="roundRect">
            <a:avLst>
              <a:gd name="adj" fmla="val 9690"/>
            </a:avLst>
          </a:prstGeom>
          <a:solidFill>
            <a:srgbClr val="F5E6D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2382520"/>
            <a:ext cx="51407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9800" y="2621280"/>
            <a:ext cx="51407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to main often; every change is built and tested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012441"/>
            <a:ext cx="8792607" cy="655320"/>
          </a:xfrm>
          <a:prstGeom prst="roundRect">
            <a:avLst>
              <a:gd name="adj" fmla="val 9690"/>
            </a:avLst>
          </a:prstGeom>
          <a:solidFill>
            <a:srgbClr val="EBC9AE"/>
          </a:solidFill>
          <a:ln/>
        </p:spPr>
      </p:sp>
      <p:sp>
        <p:nvSpPr>
          <p:cNvPr id="14" name="Text 12"/>
          <p:cNvSpPr/>
          <p:nvPr/>
        </p:nvSpPr>
        <p:spPr>
          <a:xfrm>
            <a:off x="939800" y="3114041"/>
            <a:ext cx="87947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Delivery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9800" y="3352800"/>
            <a:ext cx="87947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passing build is ready to deploy; a person approves the production release.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87957" y="3018791"/>
            <a:ext cx="1684814" cy="642620"/>
          </a:xfrm>
          <a:custGeom>
            <a:avLst/>
            <a:gdLst/>
            <a:ahLst/>
            <a:cxnLst/>
            <a:rect l="l" t="t" r="r" b="b"/>
            <a:pathLst>
              <a:path w="1684814" h="642620">
                <a:moveTo>
                  <a:pt x="57150" y="0"/>
                </a:moveTo>
                <a:lnTo>
                  <a:pt x="1627664" y="0"/>
                </a:lnTo>
                <a:arcTo hR="57150" wR="57150" stAng="16200000" swAng="5400000"/>
                <a:lnTo>
                  <a:pt x="1684814" y="585470"/>
                </a:lnTo>
                <a:arcTo hR="57150" wR="57150" stAng="0" swAng="5400000"/>
                <a:lnTo>
                  <a:pt x="57150" y="642620"/>
                </a:lnTo>
                <a:arcTo hR="57150" wR="57150" stAng="5400000" swAng="5400000"/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noFill/>
          <a:ln w="12700">
            <a:solidFill>
              <a:srgbClr val="A8440F"/>
            </a:solidFill>
            <a:prstDash val="dash"/>
          </a:ln>
        </p:spPr>
        <p:txBody>
          <a:bodyPr wrap="square" lIns="29210" tIns="92710" rIns="29210" bIns="6731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approval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743961"/>
            <a:ext cx="10566321" cy="655320"/>
          </a:xfrm>
          <a:prstGeom prst="roundRect">
            <a:avLst>
              <a:gd name="adj" fmla="val 9690"/>
            </a:avLst>
          </a:prstGeom>
          <a:solidFill>
            <a:srgbClr val="A8440F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" y="3845561"/>
            <a:ext cx="106216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9800" y="4084320"/>
            <a:ext cx="106216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change that passes all stages goes to production automatically — no manual step.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5462271"/>
            <a:ext cx="105664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559308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three share one rule: the main branch must always be releasable.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9741"/>
            <a:ext cx="10883392" cy="46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 of a 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98479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52783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16944"/>
            <a:ext cx="222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1666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developer pushes to Git; a webhook starts the pipeline.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798479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1952783"/>
            <a:ext cx="2226386" cy="235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196" dirty="0"/>
          </a:p>
        </p:txBody>
      </p:sp>
      <p:sp>
        <p:nvSpPr>
          <p:cNvPr id="10" name="Text 8"/>
          <p:cNvSpPr/>
          <p:nvPr/>
        </p:nvSpPr>
        <p:spPr>
          <a:xfrm>
            <a:off x="3675380" y="2213611"/>
            <a:ext cx="2226386" cy="270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380" y="2509363"/>
            <a:ext cx="2226386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 dependencies and compile: mvn package, npm ci, pip install.</a:t>
            </a:r>
            <a:endParaRPr lang="en-US" sz="1181" dirty="0"/>
          </a:p>
        </p:txBody>
      </p:sp>
      <p:sp>
        <p:nvSpPr>
          <p:cNvPr id="12" name="Shape 10"/>
          <p:cNvSpPr/>
          <p:nvPr/>
        </p:nvSpPr>
        <p:spPr>
          <a:xfrm>
            <a:off x="6175375" y="1798479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52783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216944"/>
            <a:ext cx="222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1666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tests on every commit, so failures show up early.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798479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1952783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780" y="2216944"/>
            <a:ext cx="222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quality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780" y="251666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analysis, test coverage and a security scan.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452338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680" y="3606642"/>
            <a:ext cx="2226386" cy="235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196" dirty="0"/>
          </a:p>
        </p:txBody>
      </p:sp>
      <p:sp>
        <p:nvSpPr>
          <p:cNvPr id="22" name="Text 20"/>
          <p:cNvSpPr/>
          <p:nvPr/>
        </p:nvSpPr>
        <p:spPr>
          <a:xfrm>
            <a:off x="995680" y="3867469"/>
            <a:ext cx="2226386" cy="270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5680" y="4163219"/>
            <a:ext cx="2226386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artifact once — a JAR, wheel or Docker image — and version it.</a:t>
            </a:r>
            <a:endParaRPr lang="en-US" sz="1181" dirty="0"/>
          </a:p>
        </p:txBody>
      </p:sp>
      <p:sp>
        <p:nvSpPr>
          <p:cNvPr id="24" name="Shape 22"/>
          <p:cNvSpPr/>
          <p:nvPr/>
        </p:nvSpPr>
        <p:spPr>
          <a:xfrm>
            <a:off x="3495675" y="3452338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380" y="360664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75380" y="3870802"/>
            <a:ext cx="222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to staging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380" y="417052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artifact, in a production-like environment.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5375" y="3452338"/>
            <a:ext cx="2520950" cy="1495107"/>
          </a:xfrm>
          <a:prstGeom prst="roundRect">
            <a:avLst>
              <a:gd name="adj" fmla="val 65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60664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870802"/>
            <a:ext cx="222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Acceptance tests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417052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Integration, end-to-end and smoke tests.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1900" y="3449163"/>
            <a:ext cx="2527300" cy="1501457"/>
          </a:xfrm>
          <a:prstGeom prst="roundRect">
            <a:avLst>
              <a:gd name="adj" fmla="val 6767"/>
            </a:avLst>
          </a:prstGeom>
          <a:solidFill>
            <a:srgbClr val="0F1A23"/>
          </a:solidFill>
          <a:ln/>
        </p:spPr>
      </p:sp>
      <p:sp>
        <p:nvSpPr>
          <p:cNvPr id="33" name="Text 31"/>
          <p:cNvSpPr/>
          <p:nvPr/>
        </p:nvSpPr>
        <p:spPr>
          <a:xfrm>
            <a:off x="9029700" y="3601563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29700" y="3865721"/>
            <a:ext cx="2236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29700" y="4165442"/>
            <a:ext cx="22368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production, after approval or automatically.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800" y="5464969"/>
            <a:ext cx="105664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800" y="5595779"/>
            <a:ext cx="10883392" cy="271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2"/>
              </a:lnSpc>
              <a:buNone/>
            </a:pPr>
            <a:r>
              <a:rPr lang="en-US" sz="1387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stage gates the next: a failure stops the run and tells the team within minutes.</a:t>
            </a:r>
            <a:endParaRPr lang="en-US" sz="1387" dirty="0"/>
          </a:p>
        </p:txBody>
      </p:sp>
      <p:sp>
        <p:nvSpPr>
          <p:cNvPr id="38" name="Text 3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Principles of a 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2503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small and often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06982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 into the main branch at least once a 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196088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5380" y="222503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 everything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380" y="2506982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Build, test, package and deploy with no manual steps.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088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22503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it fast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06982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in minutes; slow suites run in later stages.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06575"/>
            <a:ext cx="252095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1960882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780" y="222503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the 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780" y="2506982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red build is fixed before any new work starts.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24675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680" y="340106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5680" y="3665221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once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5680" y="394716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 the same artifact to every environment.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5675" y="324675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380" y="340106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75380" y="3665221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the same way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380" y="394716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deploy script for test, staging and production.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5375" y="324675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40106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665221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as code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394716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App, pipeline, config and infrastructure all live in Git.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5075" y="324675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780" y="340106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34780" y="3665221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it visible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34780" y="3947161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run, test report and deployment is visible to the whole team.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Implementing a Pipeline as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842000" cy="3723640"/>
          </a:xfrm>
          <a:prstGeom prst="roundRect">
            <a:avLst>
              <a:gd name="adj" fmla="val 2729"/>
            </a:avLst>
          </a:prstGeom>
          <a:solidFill>
            <a:srgbClr val="172430"/>
          </a:solidFill>
          <a:ln/>
        </p:spPr>
        <p:txBody>
          <a:bodyPr wrap="square" lIns="224242" tIns="148042" rIns="64222" bIns="122642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pipeline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agent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any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('Build')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sh 'pip install -r requirements.txt' 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('Test')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sh 'pytest --junitxml=tests.xml' 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('Package')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sh 'docker build -t myapp:$BUILD_NUMBER .' 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always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junit 'tests.xml' 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59600" y="487362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59600" y="18065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59600" y="1910082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pipeline · agent any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59600" y="2148839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pipeline; run it on any free Jenkins agent.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59600" y="24669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9600" y="2570482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stages → stage →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59600" y="2809239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Named stages appear in the Jenkins UI; sh runs a shell command.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59600" y="3340736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9600" y="3444239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 { always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59600" y="3683000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at the end, pass or fail — here it publishes the test report.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9600" y="4001136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9600" y="4104639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Jenkinsfile in 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59600" y="434340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pipeline is versioned and reviewed together with the code it builds.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for CI/CD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4875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40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Job in the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1803400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Widely used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0707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36139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136139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Git, hosted on GitHub, GitLab or Bitbucket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4161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481582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 servers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2481582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 · GitHub Actions · GitLab CI/CD · Azure Pipelines · CircleCI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76161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827021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2827021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Maven · Gradle · npm · pip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10705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172461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quality and 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9800" y="3172461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SonarQube · OWASP Dependency-Check · Trivy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4524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51790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 repositories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9800" y="3517900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Sonatype Nexus · JFrog Artifactory · Docker Hub · Amazon ECR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37979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3863339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and configure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9800" y="3863339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· Docker Compose · Kubernetes · Ansible · Argo CD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41433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4208779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9800" y="4208779"/>
            <a:ext cx="813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Prometheus · Grafana · Amazon CloudWatch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374642"/>
            <a:ext cx="10566400" cy="467360"/>
          </a:xfrm>
          <a:prstGeom prst="roundRect">
            <a:avLst>
              <a:gd name="adj" fmla="val 16304"/>
            </a:avLst>
          </a:prstGeom>
          <a:solidFill>
            <a:srgbClr val="F5E6D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this course: Git and GitHub → Jenkins → Docker and Docker Hub → AWS, with Ansible and monitoring in Module 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Jenkins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4826000" cy="882650"/>
          </a:xfrm>
          <a:prstGeom prst="roundRect">
            <a:avLst>
              <a:gd name="adj" fmla="val 11511"/>
            </a:avLst>
          </a:prstGeom>
          <a:solidFill>
            <a:srgbClr val="0F1A2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981200"/>
            <a:ext cx="4604512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Jenkins controller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294892"/>
            <a:ext cx="46045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UI · job scheduling · plugins · credentials · build history</a:t>
            </a:r>
            <a:endParaRPr lang="en-US" sz="1200" dirty="0"/>
          </a:p>
        </p:txBody>
      </p:sp>
      <p:pic>
        <p:nvPicPr>
          <p:cNvPr id="7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49600" y="2762250"/>
            <a:ext cx="1524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9150" y="3098800"/>
            <a:ext cx="2349500" cy="927100"/>
          </a:xfrm>
          <a:prstGeom prst="roundRect">
            <a:avLst>
              <a:gd name="adj" fmla="val 8904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5360" y="3229614"/>
            <a:ext cx="2098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· Linux + Docker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5360" y="3468371"/>
            <a:ext cx="20981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builds and docker commands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82950" y="3098800"/>
            <a:ext cx="2349500" cy="927100"/>
          </a:xfrm>
          <a:prstGeom prst="roundRect">
            <a:avLst>
              <a:gd name="adj" fmla="val 8904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39160" y="3229614"/>
            <a:ext cx="2098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· Linux + JDK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39160" y="3468371"/>
            <a:ext cx="2098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Java and Maven builds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4159250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setups build on the controller itself; bigger ones add agents so many builds run in parallel.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480250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18065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1910079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Freestyle job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218440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Configured by clicking in the UI: quick to start, hard to review or version.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2502539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606042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job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943600" y="2880364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Jenkinsfile describes the stages, versioned with the code. Use this one.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0" y="3198496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3302000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Multibranch pipeline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43600" y="3576321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every branch and pull request with a Jenkinsfile and builds each one.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894454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3997964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Plugins and credentials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0" y="4272279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Plugins add Git, Docker, JUnit and more; credentials keep tokens and keys out of job definitions.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Triggering a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39236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40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7000" y="1803400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69200" y="18034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Jenkinsfile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070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148842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Webhook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7000" y="2148842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calls Jenkins the moment code is pushed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69200" y="21488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githubPush()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441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519679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Poll SCM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67000" y="2519679"/>
            <a:ext cx="4902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 checks Git on a schedule; builds only if something changed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69200" y="251967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pollSCM('H/5 * * * *')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281241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289052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7000" y="2890521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at fixed times, such as a nightly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69200" y="289052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cron('H 2 * * 1-5')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18325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3261364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Upstream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67000" y="3261364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after another job finishes successfully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69200" y="3261364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upstream(upstreamProjects: 'lib-build')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35540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" y="363220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67000" y="3632200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Now, or Build with Parameters for inputs such as a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69200" y="36322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parameters { string(name: 'VERSION') 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4180842"/>
            <a:ext cx="5207000" cy="655320"/>
          </a:xfrm>
          <a:prstGeom prst="roundRect">
            <a:avLst>
              <a:gd name="adj" fmla="val 11628"/>
            </a:avLst>
          </a:prstGeom>
          <a:solidFill>
            <a:srgbClr val="F5E6DA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spreads the load: Jenkins picks a fixed minute per job, so jobs do not all start at once.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180842"/>
            <a:ext cx="5207000" cy="655320"/>
          </a:xfrm>
          <a:prstGeom prst="roundRect">
            <a:avLst>
              <a:gd name="adj" fmla="val 11628"/>
            </a:avLst>
          </a:prstGeom>
          <a:solidFill>
            <a:srgbClr val="F5E6DA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Webhooks need GitHub to reach Jenkins: run it on EC2, or relay with smee.io in labs.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CI/CD 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178050" cy="1009650"/>
          </a:xfrm>
          <a:prstGeom prst="roundRect">
            <a:avLst>
              <a:gd name="adj" fmla="val 849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1948179"/>
            <a:ext cx="192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0280" y="2235200"/>
            <a:ext cx="19255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developer pushes a change to main.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09975" y="1806575"/>
            <a:ext cx="2178050" cy="1009650"/>
          </a:xfrm>
          <a:prstGeom prst="roundRect">
            <a:avLst>
              <a:gd name="adj" fmla="val 849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1948179"/>
            <a:ext cx="192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64280" y="2235200"/>
            <a:ext cx="19255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webhook tells Jenkins about the push.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7150" y="1809750"/>
            <a:ext cx="2171700" cy="1003300"/>
          </a:xfrm>
          <a:prstGeom prst="roundRect">
            <a:avLst>
              <a:gd name="adj" fmla="val 8228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3360" y="1953264"/>
            <a:ext cx="1915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Jenkins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63360" y="2240279"/>
            <a:ext cx="19150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the app and runs the unit tests.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97975" y="1806575"/>
            <a:ext cx="2178050" cy="1009650"/>
          </a:xfrm>
          <a:prstGeom prst="roundRect">
            <a:avLst>
              <a:gd name="adj" fmla="val 849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52280" y="1948179"/>
            <a:ext cx="192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Docker 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52280" y="2235200"/>
            <a:ext cx="19255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 pushes the image myapp:57.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898900"/>
            <a:ext cx="2184400" cy="1016000"/>
          </a:xfrm>
          <a:prstGeom prst="roundRect">
            <a:avLst>
              <a:gd name="adj" fmla="val 8750"/>
            </a:avLst>
          </a:prstGeom>
          <a:solidFill>
            <a:srgbClr val="F5E6DA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" y="4038600"/>
            <a:ext cx="19359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4"/>
              </a:lnSpc>
              <a:buNone/>
            </a:pPr>
            <a:r>
              <a:rPr lang="en-US" sz="1124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r>
              <a:rPr lang="en-US" sz="1124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Staging</a:t>
            </a:r>
            <a:endParaRPr lang="en-US" sz="1124" dirty="0"/>
          </a:p>
        </p:txBody>
      </p:sp>
      <p:sp>
        <p:nvSpPr>
          <p:cNvPr id="18" name="Text 16"/>
          <p:cNvSpPr/>
          <p:nvPr/>
        </p:nvSpPr>
        <p:spPr>
          <a:xfrm>
            <a:off x="965200" y="4272279"/>
            <a:ext cx="193598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EC2 host runs myapp:57; smoke tests pass.</a:t>
            </a:r>
            <a:endParaRPr lang="en-US" sz="1159" dirty="0"/>
          </a:p>
        </p:txBody>
      </p:sp>
      <p:sp>
        <p:nvSpPr>
          <p:cNvPr id="19" name="Shape 17"/>
          <p:cNvSpPr/>
          <p:nvPr/>
        </p:nvSpPr>
        <p:spPr>
          <a:xfrm>
            <a:off x="3606800" y="3898900"/>
            <a:ext cx="2184400" cy="1016000"/>
          </a:xfrm>
          <a:prstGeom prst="roundRect">
            <a:avLst>
              <a:gd name="adj" fmla="val 8750"/>
            </a:avLst>
          </a:prstGeom>
          <a:solidFill>
            <a:srgbClr val="F5E6DA"/>
          </a:solidFill>
          <a:ln/>
        </p:spPr>
      </p:sp>
      <p:sp>
        <p:nvSpPr>
          <p:cNvPr id="20" name="Text 18"/>
          <p:cNvSpPr/>
          <p:nvPr/>
        </p:nvSpPr>
        <p:spPr>
          <a:xfrm>
            <a:off x="3759200" y="4038600"/>
            <a:ext cx="193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Approval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59200" y="4325621"/>
            <a:ext cx="19359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reviews and clicks Proceed.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898900"/>
            <a:ext cx="2184400" cy="1016000"/>
          </a:xfrm>
          <a:prstGeom prst="roundRect">
            <a:avLst>
              <a:gd name="adj" fmla="val 8750"/>
            </a:avLst>
          </a:prstGeom>
          <a:solidFill>
            <a:srgbClr val="A8440F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200" y="4038600"/>
            <a:ext cx="193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Production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53200" y="4325621"/>
            <a:ext cx="19359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image goes live behind the ALB.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94800" y="3898900"/>
            <a:ext cx="2184400" cy="1016000"/>
          </a:xfrm>
          <a:prstGeom prst="roundRect">
            <a:avLst>
              <a:gd name="adj" fmla="val 8750"/>
            </a:avLst>
          </a:prstGeom>
          <a:solidFill>
            <a:srgbClr val="F5E6DA"/>
          </a:solidFill>
          <a:ln/>
        </p:spPr>
      </p:sp>
      <p:sp>
        <p:nvSpPr>
          <p:cNvPr id="26" name="Text 24"/>
          <p:cNvSpPr/>
          <p:nvPr/>
        </p:nvSpPr>
        <p:spPr>
          <a:xfrm>
            <a:off x="9347200" y="4038600"/>
            <a:ext cx="193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Monitor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47200" y="4325621"/>
            <a:ext cx="19359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Metrics, logs and alerts — Module 4.</a:t>
            </a:r>
            <a:endParaRPr lang="en-US" sz="1200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46400" y="2260600"/>
            <a:ext cx="711200" cy="1016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40400" y="2260600"/>
            <a:ext cx="711200" cy="1016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34400" y="2260600"/>
            <a:ext cx="711200" cy="1016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36200" y="2768600"/>
            <a:ext cx="101600" cy="64135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854200" y="3308350"/>
            <a:ext cx="8483600" cy="1016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54200" y="3308350"/>
            <a:ext cx="101600" cy="64135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46400" y="4356100"/>
            <a:ext cx="711200" cy="101600"/>
          </a:xfrm>
          <a:prstGeom prst="rect">
            <a:avLst/>
          </a:prstGeom>
        </p:spPr>
      </p:pic>
      <p:pic>
        <p:nvPicPr>
          <p:cNvPr id="35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40400" y="4356100"/>
            <a:ext cx="711200" cy="101600"/>
          </a:xfrm>
          <a:prstGeom prst="rect">
            <a:avLst/>
          </a:prstGeom>
        </p:spPr>
      </p:pic>
      <p:pic>
        <p:nvPicPr>
          <p:cNvPr id="36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534400" y="4356100"/>
            <a:ext cx="711200" cy="101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12800" y="51689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project ties the course together: Linux and AWS (Module 1) · Docker (Module 2) · the Jenkins pipeline (this module) · operations and monitoring (Module 4).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1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Jenkins Setup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41597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Jenkins.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Start the LTS image in Docker with a named volume for its home directory.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82521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07921"/>
            <a:ext cx="41597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Unlock.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Read the initial admin password, install the suggested plugins, create your admin user.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616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2987042"/>
            <a:ext cx="41597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Manage Jenkins → System: Jenkins URL and executors. Tools: Git, plus a JDK or Maven if needed.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40764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566164"/>
            <a:ext cx="41597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Credentials.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Store a GitHub personal access token as a credential — never paste secrets into a job.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119879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45279"/>
            <a:ext cx="415975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pipeline.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a Pipeline job with a two-stage hello-world script and run 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4200" y="1803400"/>
            <a:ext cx="5715000" cy="1727200"/>
          </a:xfrm>
          <a:prstGeom prst="roundRect">
            <a:avLst>
              <a:gd name="adj" fmla="val 5882"/>
            </a:avLst>
          </a:prstGeom>
          <a:solidFill>
            <a:srgbClr val="172430"/>
          </a:solidFill>
          <a:ln/>
        </p:spPr>
        <p:txBody>
          <a:bodyPr wrap="square" lIns="224242" tIns="148042" rIns="68032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--name jenkins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-p 8080:8080 -p 50000:50000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-v jenkins_home:/var/jenkins_home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jenkins/jenkins:lts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exec jenkins cat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/var/jenkins_home/secrets/initialAdminPassword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7375" y="3660775"/>
            <a:ext cx="5708650" cy="1490980"/>
          </a:xfrm>
          <a:prstGeom prst="roundRect">
            <a:avLst>
              <a:gd name="adj" fmla="val 6601"/>
            </a:avLst>
          </a:prstGeom>
          <a:solidFill>
            <a:srgbClr val="FCFBF8"/>
          </a:solidFill>
          <a:ln w="6350">
            <a:solidFill>
              <a:srgbClr val="E6CD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2480" y="3840479"/>
            <a:ext cx="545739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72480" y="4179571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 opens at http://localhost:8080 and you can sign in.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72480" y="4469129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hello pipeline shows two green stages.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72480" y="4758692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GitHub token is stored as a credential, not in the job.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PART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98272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8971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Builds, Packages and Dependencies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547364"/>
            <a:ext cx="78486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management · Build reporting and status · Package management · Dependency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10079"/>
            <a:ext cx="1507014" cy="365760"/>
          </a:xfrm>
          <a:prstGeom prst="roundRect">
            <a:avLst>
              <a:gd name="adj" fmla="val 17361"/>
            </a:avLst>
          </a:prstGeom>
          <a:solidFill>
            <a:srgbClr val="F5E6DA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 sources</a:t>
            </a:r>
            <a:endParaRPr lang="en-US" sz="12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3314" y="2048514"/>
            <a:ext cx="177800" cy="88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4614" y="1803400"/>
            <a:ext cx="1507093" cy="579120"/>
          </a:xfrm>
          <a:prstGeom prst="roundRect">
            <a:avLst>
              <a:gd name="adj" fmla="val 10965"/>
            </a:avLst>
          </a:prstGeom>
          <a:solidFill>
            <a:srgbClr val="F5E6DA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 dependencies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95207" y="2048514"/>
            <a:ext cx="177800" cy="88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6507" y="1910079"/>
            <a:ext cx="1507014" cy="365760"/>
          </a:xfrm>
          <a:prstGeom prst="roundRect">
            <a:avLst>
              <a:gd name="adj" fmla="val 17361"/>
            </a:avLst>
          </a:prstGeom>
          <a:solidFill>
            <a:srgbClr val="F5E6DA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</a:t>
            </a:r>
            <a:endParaRPr lang="en-US" sz="12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07021" y="2048514"/>
            <a:ext cx="177800" cy="88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8321" y="1910079"/>
            <a:ext cx="1507093" cy="365760"/>
          </a:xfrm>
          <a:prstGeom prst="roundRect">
            <a:avLst>
              <a:gd name="adj" fmla="val 17361"/>
            </a:avLst>
          </a:prstGeom>
          <a:solidFill>
            <a:srgbClr val="F5E6DA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unit tests</a:t>
            </a:r>
            <a:endParaRPr lang="en-US" sz="1200" dirty="0"/>
          </a:p>
        </p:txBody>
      </p:sp>
      <p:pic>
        <p:nvPicPr>
          <p:cNvPr id="1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18914" y="2048514"/>
            <a:ext cx="177800" cy="88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60214" y="1910079"/>
            <a:ext cx="1507093" cy="365760"/>
          </a:xfrm>
          <a:prstGeom prst="roundRect">
            <a:avLst>
              <a:gd name="adj" fmla="val 17361"/>
            </a:avLst>
          </a:prstGeom>
          <a:solidFill>
            <a:srgbClr val="F5E6DA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</a:t>
            </a:r>
            <a:endParaRPr lang="en-US" sz="1200" dirty="0"/>
          </a:p>
        </p:txBody>
      </p:sp>
      <p:pic>
        <p:nvPicPr>
          <p:cNvPr id="13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30807" y="2048514"/>
            <a:ext cx="177800" cy="88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72107" y="1803400"/>
            <a:ext cx="1507093" cy="579120"/>
          </a:xfrm>
          <a:prstGeom prst="roundRect">
            <a:avLst>
              <a:gd name="adj" fmla="val 10965"/>
            </a:avLst>
          </a:prstGeom>
          <a:solidFill>
            <a:srgbClr val="A8440F"/>
          </a:solidFill>
          <a:ln/>
        </p:spPr>
        <p:txBody>
          <a:bodyPr wrap="square" lIns="32201" tIns="57601" rIns="32201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and publish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812800" y="428434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12800" y="263652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2286000" y="263652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tool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394200" y="2636521"/>
            <a:ext cx="33225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file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823200" y="2636521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command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12800" y="290385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12800" y="2969264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2286000" y="2969264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Maven or Gradle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394200" y="2969264"/>
            <a:ext cx="33225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pom.xml · build.gradle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823200" y="2969264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mvn package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32492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12800" y="33147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2286000" y="331470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or Yarn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394200" y="3314700"/>
            <a:ext cx="33225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package.json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823200" y="33147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 ci &amp;&amp; npm run build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2800" y="3594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12800" y="36601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2286000" y="36601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pip, build or Poetry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394200" y="3660142"/>
            <a:ext cx="33225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pyproject.toml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823200" y="36601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-m build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12800" y="39401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12800" y="400557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2286000" y="400557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BuildKit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394200" y="4005579"/>
            <a:ext cx="33225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823200" y="4005579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build -t myapp:1.4.0 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15975" y="4544696"/>
            <a:ext cx="2025650" cy="971550"/>
          </a:xfrm>
          <a:prstGeom prst="roundRect">
            <a:avLst>
              <a:gd name="adj" fmla="val 882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70280" y="4673600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command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970280" y="4960621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Anyone can run the whole build.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2949575" y="4544696"/>
            <a:ext cx="2025650" cy="971550"/>
          </a:xfrm>
          <a:prstGeom prst="roundRect">
            <a:avLst>
              <a:gd name="adj" fmla="val 882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103880" y="4673600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Repeatable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3103880" y="4960621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input, same output, on any machine.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5083175" y="4544696"/>
            <a:ext cx="2025650" cy="971550"/>
          </a:xfrm>
          <a:prstGeom prst="roundRect">
            <a:avLst>
              <a:gd name="adj" fmla="val 882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237480" y="4673600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</a:t>
            </a:r>
            <a:endParaRPr lang="en-US" sz="1400" dirty="0"/>
          </a:p>
        </p:txBody>
      </p:sp>
      <p:sp>
        <p:nvSpPr>
          <p:cNvPr id="48" name="Text 41"/>
          <p:cNvSpPr/>
          <p:nvPr/>
        </p:nvSpPr>
        <p:spPr>
          <a:xfrm>
            <a:off x="5237480" y="4960621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Minutes, not hours; cache what you can.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7216775" y="4544696"/>
            <a:ext cx="2025650" cy="971550"/>
          </a:xfrm>
          <a:prstGeom prst="roundRect">
            <a:avLst>
              <a:gd name="adj" fmla="val 882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371080" y="4673600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Self-testing</a:t>
            </a:r>
            <a:endParaRPr lang="en-US" sz="1400" dirty="0"/>
          </a:p>
        </p:txBody>
      </p:sp>
      <p:sp>
        <p:nvSpPr>
          <p:cNvPr id="51" name="Text 44"/>
          <p:cNvSpPr/>
          <p:nvPr/>
        </p:nvSpPr>
        <p:spPr>
          <a:xfrm>
            <a:off x="7371080" y="4960621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run inside the build itself.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9350375" y="4544696"/>
            <a:ext cx="2025650" cy="971550"/>
          </a:xfrm>
          <a:prstGeom prst="roundRect">
            <a:avLst>
              <a:gd name="adj" fmla="val 882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9504680" y="4673600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</a:t>
            </a:r>
            <a:endParaRPr lang="en-US" sz="1400" dirty="0"/>
          </a:p>
        </p:txBody>
      </p:sp>
      <p:sp>
        <p:nvSpPr>
          <p:cNvPr id="54" name="Text 47"/>
          <p:cNvSpPr/>
          <p:nvPr/>
        </p:nvSpPr>
        <p:spPr>
          <a:xfrm>
            <a:off x="9504680" y="4960621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artifact has a unique version.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Reporting and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454650" cy="1835150"/>
          </a:xfrm>
          <a:prstGeom prst="roundRect">
            <a:avLst>
              <a:gd name="adj" fmla="val 536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79"/>
            <a:ext cx="51957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 run · build #57 · main · 3 min 12 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1080" y="2326642"/>
            <a:ext cx="1203960" cy="668020"/>
          </a:xfrm>
          <a:prstGeom prst="roundRect">
            <a:avLst>
              <a:gd name="adj" fmla="val 9506"/>
            </a:avLst>
          </a:prstGeom>
          <a:solidFill>
            <a:srgbClr val="F5E6DA"/>
          </a:solidFill>
          <a:ln/>
        </p:spPr>
      </p:sp>
      <p:pic>
        <p:nvPicPr>
          <p:cNvPr id="7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2680" y="2433321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6680" y="2428242"/>
            <a:ext cx="4426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2680" y="2679700"/>
            <a:ext cx="1051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01240" y="2326642"/>
            <a:ext cx="1203960" cy="668020"/>
          </a:xfrm>
          <a:prstGeom prst="roundRect">
            <a:avLst>
              <a:gd name="adj" fmla="val 9506"/>
            </a:avLst>
          </a:prstGeom>
          <a:solidFill>
            <a:srgbClr val="F5E6DA"/>
          </a:solidFill>
          <a:ln/>
        </p:spPr>
      </p:sp>
      <p:pic>
        <p:nvPicPr>
          <p:cNvPr id="11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02840" y="2433321"/>
            <a:ext cx="203200" cy="20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6840" y="2428242"/>
            <a:ext cx="354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02840" y="2679700"/>
            <a:ext cx="1051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81400" y="2326642"/>
            <a:ext cx="1203960" cy="668020"/>
          </a:xfrm>
          <a:prstGeom prst="roundRect">
            <a:avLst>
              <a:gd name="adj" fmla="val 9506"/>
            </a:avLst>
          </a:prstGeom>
          <a:solidFill>
            <a:srgbClr val="F5E6DA"/>
          </a:solidFill>
          <a:ln/>
        </p:spPr>
      </p:sp>
      <p:pic>
        <p:nvPicPr>
          <p:cNvPr id="15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83000" y="2433321"/>
            <a:ext cx="203200" cy="203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7000" y="2428242"/>
            <a:ext cx="7161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683000" y="2679700"/>
            <a:ext cx="1051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61560" y="2326642"/>
            <a:ext cx="1203960" cy="668020"/>
          </a:xfrm>
          <a:prstGeom prst="roundRect">
            <a:avLst>
              <a:gd name="adj" fmla="val 9506"/>
            </a:avLst>
          </a:prstGeom>
          <a:solidFill>
            <a:srgbClr val="0F1A23"/>
          </a:solidFill>
          <a:ln/>
        </p:spPr>
      </p:sp>
      <p:pic>
        <p:nvPicPr>
          <p:cNvPr id="19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63160" y="2433321"/>
            <a:ext cx="203200" cy="203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7160" y="2428242"/>
            <a:ext cx="5888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963160" y="2679700"/>
            <a:ext cx="1051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failed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21080" y="3121664"/>
            <a:ext cx="1445181" cy="340360"/>
          </a:xfrm>
          <a:prstGeom prst="roundRect">
            <a:avLst>
              <a:gd name="adj" fmla="val 14925"/>
            </a:avLst>
          </a:prstGeom>
          <a:solidFill>
            <a:srgbClr val="E9E6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Tests: 184 passed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542461" y="3121664"/>
            <a:ext cx="1243965" cy="340360"/>
          </a:xfrm>
          <a:prstGeom prst="roundRect">
            <a:avLst>
              <a:gd name="adj" fmla="val 14925"/>
            </a:avLst>
          </a:prstGeom>
          <a:solidFill>
            <a:srgbClr val="E9E6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Coverage: 81%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862626" y="3121664"/>
            <a:ext cx="1354217" cy="340360"/>
          </a:xfrm>
          <a:prstGeom prst="roundRect">
            <a:avLst>
              <a:gd name="adj" fmla="val 14925"/>
            </a:avLst>
          </a:prstGeom>
          <a:solidFill>
            <a:srgbClr val="A8440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FAILURE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2800" y="3771900"/>
            <a:ext cx="576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 keeps its log, test report and artifacts, so anyone can see why it failed.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78600" y="408622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78600" y="1884679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SUCCESS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912100" y="1884679"/>
            <a:ext cx="35711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stage passed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578600" y="21774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78600" y="2255521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UNSTABLE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912100" y="2255521"/>
            <a:ext cx="35711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Built, but tests failed or a quality threshold was missed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578600" y="27616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78600" y="2839721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FAILURE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912100" y="2839721"/>
            <a:ext cx="35711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stage broke: compile error, failing script, failed deploy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578600" y="33458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578600" y="3423921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ABORTED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912100" y="3423921"/>
            <a:ext cx="35711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Stopped by a person or a timeout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578600" y="3716654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578600" y="3794764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NOT_BUILT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7912100" y="3794764"/>
            <a:ext cx="35711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build or stage did not run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812800" y="43434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back to people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812800" y="4632964"/>
            <a:ext cx="2565400" cy="629920"/>
          </a:xfrm>
          <a:prstGeom prst="roundRect">
            <a:avLst>
              <a:gd name="adj" fmla="val 12097"/>
            </a:avLst>
          </a:prstGeom>
          <a:solidFill>
            <a:srgbClr val="F5E6DA"/>
          </a:solidFill>
          <a:ln/>
        </p:spPr>
        <p:txBody>
          <a:bodyPr wrap="square" lIns="104682" tIns="79282" rIns="3534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status on the pull request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3479800" y="4632964"/>
            <a:ext cx="2565400" cy="629920"/>
          </a:xfrm>
          <a:prstGeom prst="roundRect">
            <a:avLst>
              <a:gd name="adj" fmla="val 12097"/>
            </a:avLst>
          </a:prstGeom>
          <a:solidFill>
            <a:srgbClr val="F5E6DA"/>
          </a:solidFill>
          <a:ln/>
        </p:spPr>
        <p:txBody>
          <a:bodyPr wrap="none" lIns="0" tIns="79282" rIns="0" bIns="5388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or email when a build breaks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6146800" y="4632964"/>
            <a:ext cx="2565400" cy="629920"/>
          </a:xfrm>
          <a:prstGeom prst="roundRect">
            <a:avLst>
              <a:gd name="adj" fmla="val 12097"/>
            </a:avLst>
          </a:prstGeom>
          <a:solidFill>
            <a:srgbClr val="F5E6DA"/>
          </a:solidFill>
          <a:ln/>
        </p:spPr>
        <p:txBody>
          <a:bodyPr wrap="square" lIns="104682" tIns="79282" rIns="3534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status badge in the README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8813800" y="4632964"/>
            <a:ext cx="2565400" cy="629920"/>
          </a:xfrm>
          <a:prstGeom prst="roundRect">
            <a:avLst>
              <a:gd name="adj" fmla="val 12097"/>
            </a:avLst>
          </a:prstGeom>
          <a:solidFill>
            <a:srgbClr val="F5E6DA"/>
          </a:solidFill>
          <a:ln/>
        </p:spPr>
        <p:txBody>
          <a:bodyPr wrap="square" lIns="104682" tIns="79282" rIns="3534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and coverage reports on every run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4445000" cy="1762760"/>
          </a:xfrm>
          <a:prstGeom prst="roundRect">
            <a:avLst>
              <a:gd name="adj" fmla="val 5764"/>
            </a:avLst>
          </a:prstGeom>
          <a:solidFill>
            <a:srgbClr val="0F1A2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81200"/>
            <a:ext cx="4159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myapp-1.4.0.whl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306327"/>
            <a:ext cx="415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and version: myapp 1.4.0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595885"/>
            <a:ext cx="415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code, ready to install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885442"/>
            <a:ext cx="415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Needs: flask&gt;=3.0, requests&gt;=2.31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3175000"/>
            <a:ext cx="415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Licence, author, checksum (sha256)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93158"/>
            <a:ext cx="45783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package is code plus the metadata a tool needs to install it the same way everywhere.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62600" y="3395345"/>
            <a:ext cx="581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2600" y="1803400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1500" y="1803400"/>
            <a:ext cx="31263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 and registry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09200" y="18034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62600" y="2070733"/>
            <a:ext cx="581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2600" y="2148842"/>
            <a:ext cx="1257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21500" y="2148842"/>
            <a:ext cx="31263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apt (Debian, Ubuntu) · dnf (RHEL, Amazon Linux)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09200" y="2148842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.deb · .rpm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62600" y="2654933"/>
            <a:ext cx="581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2600" y="2733042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21500" y="2733042"/>
            <a:ext cx="31263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Maven Central · npm registry · PyPI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09200" y="2733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.jar · npm · wheel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62600" y="3025775"/>
            <a:ext cx="581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2600" y="3103885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1500" y="3103885"/>
            <a:ext cx="31263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Hub · Amazon ECR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09200" y="3103885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OCI image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62600" y="3550927"/>
            <a:ext cx="5816600" cy="1258570"/>
          </a:xfrm>
          <a:prstGeom prst="roundRect">
            <a:avLst>
              <a:gd name="adj" fmla="val 8073"/>
            </a:avLst>
          </a:prstGeom>
          <a:solidFill>
            <a:srgbClr val="F5E6DA"/>
          </a:solidFill>
          <a:ln/>
        </p:spPr>
      </p:sp>
      <p:sp>
        <p:nvSpPr>
          <p:cNvPr id="28" name="Text 26"/>
          <p:cNvSpPr/>
          <p:nvPr/>
        </p:nvSpPr>
        <p:spPr>
          <a:xfrm>
            <a:off x="5740400" y="3703327"/>
            <a:ext cx="562483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Artifact repository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40400" y="4017008"/>
            <a:ext cx="562483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store for everything you download and build — Sonatype Nexus, JFrog Artifactory or GitHub Packages. It caches public packages, keeps your releases and records who published what.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Versioning Packages with SemVer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4157" cy="1847850"/>
          </a:xfrm>
          <a:prstGeom prst="roundRect">
            <a:avLst>
              <a:gd name="adj" fmla="val 532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85"/>
            <a:ext cx="309406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21080" y="2748285"/>
            <a:ext cx="3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MAJOR → 3.0.0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1080" y="3048000"/>
            <a:ext cx="30940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breaking change: code that uses it must be updated.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82" y="1806575"/>
            <a:ext cx="3414236" cy="1847850"/>
          </a:xfrm>
          <a:prstGeom prst="roundRect">
            <a:avLst>
              <a:gd name="adj" fmla="val 532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987" y="1986285"/>
            <a:ext cx="309414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93987" y="2748285"/>
            <a:ext cx="3094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MINOR → 2.5.0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3987" y="3048000"/>
            <a:ext cx="32059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feature that is backward compatible.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1868" y="1806575"/>
            <a:ext cx="3414157" cy="1847850"/>
          </a:xfrm>
          <a:prstGeom prst="roundRect">
            <a:avLst>
              <a:gd name="adj" fmla="val 532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6974" y="1986285"/>
            <a:ext cx="309406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166974" y="2748285"/>
            <a:ext cx="3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 → 2.4.2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6974" y="3048000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backward-compatible bug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917950"/>
            <a:ext cx="25273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023358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2.5.0-rc.1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274827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Pre-release: comes before 2.5.0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2500" y="3917950"/>
            <a:ext cx="25273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2500" y="4023358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2.5.0+build.57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92500" y="4274827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metadata: ignored when comparing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917950"/>
            <a:ext cx="25273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023358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0.y.z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4274827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Early development: anything may change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51900" y="3917950"/>
            <a:ext cx="25273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900" y="4023358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^2.4.1 · ~2.4.1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51900" y="4274827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ranges: below 3.0.0 · below 2.5.0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Dependency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4826000" cy="3495040"/>
          </a:xfrm>
          <a:prstGeom prst="roundRect">
            <a:avLst>
              <a:gd name="adj" fmla="val 2907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pipdeptree · a small Python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4447540" cy="279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myapp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flask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(direct)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werkzeug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jinja2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│   └── markupsafe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itsdangerous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click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└── blinker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└── 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(direct)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├── urllib3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├── idna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├── charset-normalizer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└── certifi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412686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8065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91008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 dependencies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ones you declare yourself: flask and requests.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228217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331722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Transitive dependencies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what those need in turn; usually most of the tree.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649860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753365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conflicts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two libraries need incompatible versions of the same package.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284860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388365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Vulnerabilities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flaw deep in the tree is still a flaw in your app.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706502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810007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unpinned versions give different builds on different days.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BUILDS, PACKAGES AND DEPENDENCIES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Keeping Dependencies Under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635250" cy="1248410"/>
          </a:xfrm>
          <a:prstGeom prst="roundRect">
            <a:avLst>
              <a:gd name="adj" fmla="val 788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5"/>
            <a:ext cx="2344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explicitly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260600"/>
            <a:ext cx="234411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every direct dependency in the build file: requirements.txt, package.json, pom.xml.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09975" y="1806575"/>
            <a:ext cx="2635250" cy="1248410"/>
          </a:xfrm>
          <a:prstGeom prst="roundRect">
            <a:avLst>
              <a:gd name="adj" fmla="val 788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9680" y="1960885"/>
            <a:ext cx="2344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 exact versions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89680" y="2260600"/>
            <a:ext cx="234411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lock file records the whole tree: package-lock.json, poetry.lock, pip freeze.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213733"/>
            <a:ext cx="2635250" cy="1461770"/>
          </a:xfrm>
          <a:prstGeom prst="roundRect">
            <a:avLst>
              <a:gd name="adj" fmla="val 673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3368042"/>
            <a:ext cx="2344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 by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5680" y="3667758"/>
            <a:ext cx="234411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test and build tools out of production: dev dependencies, Maven test scope.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09975" y="3213733"/>
            <a:ext cx="2635250" cy="1461770"/>
          </a:xfrm>
          <a:prstGeom prst="roundRect">
            <a:avLst>
              <a:gd name="adj" fmla="val 673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9680" y="3368042"/>
            <a:ext cx="2344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and update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89680" y="3667758"/>
            <a:ext cx="234411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for known vulnerabilities on every build; update on purpose with Dependabot or Renovate.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53200" y="1803400"/>
            <a:ext cx="4826000" cy="2550160"/>
          </a:xfrm>
          <a:prstGeom prst="roundRect">
            <a:avLst>
              <a:gd name="adj" fmla="val 3984"/>
            </a:avLst>
          </a:prstGeom>
          <a:solidFill>
            <a:srgbClr val="17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68072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inspect · lock · scan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07200" y="2321558"/>
            <a:ext cx="444754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pipdeptree -p flask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pip freeze &gt; requirements.lock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pip-audit -r requirements.txt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npm ls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npm ci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installs exactly what package-lock.json says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npm audit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mvn dependency:tree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Pipelines and Builds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one difference between continuous delivery and continuous deployment?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29842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529842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build the artifact once and promote it, instead of rebuilding for each environment?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25628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256285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 marks a build UNSTABLE. What does that usually mean?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2.4.1 gains a backward-compatible feature. What is the new version?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460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936240"/>
          </a:xfrm>
          <a:prstGeom prst="roundRect">
            <a:avLst>
              <a:gd name="adj" fmla="val 3460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58"/>
            <a:ext cx="368884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waits for a person to approve the production release; deployment releases every passing change automatically.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3164842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164842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tested is exactly what you release; a rebuild could pick up different dependencies.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7185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718558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built, but tests failed or a quality threshold was missed.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42722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4272285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PART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pipeline · Release planning · Project release cycle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RELEASE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Release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840944" cy="1219200"/>
          </a:xfrm>
          <a:prstGeom prst="roundRect">
            <a:avLst>
              <a:gd name="adj" fmla="val 7292"/>
            </a:avLst>
          </a:prstGeom>
          <a:solidFill>
            <a:srgbClr val="0F1A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930400"/>
            <a:ext cx="161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2500" y="2217427"/>
            <a:ext cx="16123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myapp:1.4.0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468885"/>
            <a:ext cx="1612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once, stored in the repository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29944" y="2368550"/>
            <a:ext cx="177800" cy="88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87119" y="1806575"/>
            <a:ext cx="1844834" cy="1212850"/>
          </a:xfrm>
          <a:prstGeom prst="roundRect">
            <a:avLst>
              <a:gd name="adj" fmla="val 706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8724" y="1935485"/>
            <a:ext cx="161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128724" y="2222500"/>
            <a:ext cx="16124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integration tests</a:t>
            </a:r>
            <a:endParaRPr lang="en-US" sz="12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11328" y="2368550"/>
            <a:ext cx="177800" cy="889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68503" y="1806575"/>
            <a:ext cx="1844754" cy="1212850"/>
          </a:xfrm>
          <a:prstGeom prst="roundRect">
            <a:avLst>
              <a:gd name="adj" fmla="val 706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10108" y="1935485"/>
            <a:ext cx="161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10108" y="2222500"/>
            <a:ext cx="161234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Production-like; acceptance and load tests</a:t>
            </a:r>
            <a:endParaRPr lang="en-US" sz="1200" dirty="0"/>
          </a:p>
        </p:txBody>
      </p:sp>
      <p:pic>
        <p:nvPicPr>
          <p:cNvPr id="16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92633" y="2368550"/>
            <a:ext cx="177800" cy="889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52983" y="1809750"/>
            <a:ext cx="1848644" cy="1206500"/>
          </a:xfrm>
          <a:prstGeom prst="roundRect">
            <a:avLst>
              <a:gd name="adj" fmla="val 6842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7496493" y="1940558"/>
            <a:ext cx="161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496493" y="2227585"/>
            <a:ext cx="16124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release owner signs off</a:t>
            </a:r>
            <a:endParaRPr lang="en-US" sz="12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4177" y="2368550"/>
            <a:ext cx="177800" cy="889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538177" y="1803400"/>
            <a:ext cx="1841024" cy="1219200"/>
          </a:xfrm>
          <a:prstGeom prst="roundRect">
            <a:avLst>
              <a:gd name="adj" fmla="val 7292"/>
            </a:avLst>
          </a:prstGeom>
          <a:solidFill>
            <a:srgbClr val="A8440F"/>
          </a:solidFill>
          <a:ln/>
        </p:spPr>
      </p:sp>
      <p:sp>
        <p:nvSpPr>
          <p:cNvPr id="22" name="Text 16"/>
          <p:cNvSpPr/>
          <p:nvPr/>
        </p:nvSpPr>
        <p:spPr>
          <a:xfrm>
            <a:off x="9677877" y="1930400"/>
            <a:ext cx="161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677877" y="2217427"/>
            <a:ext cx="1612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Deploy, then verify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12800" y="3276600"/>
            <a:ext cx="5054600" cy="1334770"/>
          </a:xfrm>
          <a:prstGeom prst="roundRect">
            <a:avLst>
              <a:gd name="adj" fmla="val 7612"/>
            </a:avLst>
          </a:prstGeom>
          <a:solidFill>
            <a:srgbClr val="F5E6DA"/>
          </a:solidFill>
          <a:ln/>
        </p:spPr>
      </p:sp>
      <p:sp>
        <p:nvSpPr>
          <p:cNvPr id="25" name="Text 19"/>
          <p:cNvSpPr/>
          <p:nvPr/>
        </p:nvSpPr>
        <p:spPr>
          <a:xfrm>
            <a:off x="1016000" y="3454400"/>
            <a:ext cx="4787646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Promote, don't rebuild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16000" y="3793492"/>
            <a:ext cx="478764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artifact moves through every environment; only its configuration changes. Each promotion is recorded: which version, who approved, when.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172200" y="3276600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 injected per environment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1376025" y="3566158"/>
            <a:ext cx="0" cy="13360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72200" y="4899023"/>
            <a:ext cx="5207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2360" y="3576318"/>
          <a:ext cx="5191760" cy="1320800"/>
        </p:xfrm>
        <a:graphic>
          <a:graphicData uri="http://schemas.openxmlformats.org/drawingml/2006/table">
            <a:tbl>
              <a:tblPr/>
              <a:tblGrid>
                <a:gridCol w="1453693"/>
                <a:gridCol w="1246022"/>
                <a:gridCol w="1246022"/>
                <a:gridCol w="1246022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Staging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DB_HOST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db-test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db-stage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db-prod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Instances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LOG_LEVEL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debug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warning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RELEASE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Planning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2606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features and fixes ship now, and what waits for the next release.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882" y="18065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587" y="19608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68587" y="22606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Time-based, such as every two weeks, or feature-based: when it is ready.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789" y="18065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494" y="19608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41494" y="22606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branches, or trunk-based development with feature flags.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30003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680" y="31546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and tag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5680" y="34544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next SemVer number and tag the commit: git tag v1.5.0.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882" y="30003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8587" y="31546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notes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68587" y="34544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changed, what broke and how to upgrade, kept in CHANGELOG.md.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1789" y="3000375"/>
            <a:ext cx="3414157" cy="1035050"/>
          </a:xfrm>
          <a:prstGeom prst="roundRect">
            <a:avLst>
              <a:gd name="adj" fmla="val 950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1494" y="3154685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Go/no-go and rollback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1494" y="345440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checklist to ship, and the plan if the release goes wrong.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5374642"/>
            <a:ext cx="10566400" cy="467360"/>
          </a:xfrm>
          <a:prstGeom prst="roundRect">
            <a:avLst>
              <a:gd name="adj" fmla="val 16304"/>
            </a:avLst>
          </a:prstGeom>
          <a:solidFill>
            <a:srgbClr val="F5E6D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flags separate deploying from releasing: code ships switched off and is turned on when the business is ready.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RELEASE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Project Release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6100"/>
            <a:ext cx="1254125" cy="0"/>
          </a:xfrm>
          <a:prstGeom prst="line">
            <a:avLst/>
          </a:prstGeom>
          <a:noFill/>
          <a:ln w="25400">
            <a:solidFill>
              <a:srgbClr val="9AA5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v3.0.0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Goals, scope, 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3125" y="1816100"/>
            <a:ext cx="1254125" cy="0"/>
          </a:xfrm>
          <a:prstGeom prst="line">
            <a:avLst/>
          </a:prstGeom>
          <a:noFill/>
          <a:ln w="25400">
            <a:solidFill>
              <a:srgbClr val="9AA5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3125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3125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3125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built with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3450" y="1816100"/>
            <a:ext cx="1254125" cy="0"/>
          </a:xfrm>
          <a:prstGeom prst="line">
            <a:avLst/>
          </a:prstGeom>
          <a:noFill/>
          <a:ln w="25400">
            <a:solidFill>
              <a:srgbClr val="A84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3450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Alpha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3450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3.0.0-alpha.1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3450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testing; may break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3775" y="1816100"/>
            <a:ext cx="1254125" cy="0"/>
          </a:xfrm>
          <a:prstGeom prst="line">
            <a:avLst/>
          </a:prstGeom>
          <a:noFill/>
          <a:ln w="25400">
            <a:solidFill>
              <a:srgbClr val="A84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3775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3775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3.0.0-beta.2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3775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complete; early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34100" y="1816100"/>
            <a:ext cx="1254125" cy="0"/>
          </a:xfrm>
          <a:prstGeom prst="line">
            <a:avLst/>
          </a:prstGeom>
          <a:noFill/>
          <a:ln w="25400">
            <a:solidFill>
              <a:srgbClr val="A844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4100" y="1930400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candidate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34100" y="2395227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3.0.0-rc.1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34100" y="2646685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Ships unless a blocker appears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64425" y="1816100"/>
            <a:ext cx="1254125" cy="0"/>
          </a:xfrm>
          <a:prstGeom prst="line">
            <a:avLst/>
          </a:prstGeom>
          <a:noFill/>
          <a:ln w="25400">
            <a:solidFill>
              <a:srgbClr val="A84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4425" y="1930400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 availability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64425" y="2395227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3.0.0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64425" y="2646685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Stable, for everyone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94750" y="1816100"/>
            <a:ext cx="1254125" cy="0"/>
          </a:xfrm>
          <a:prstGeom prst="line">
            <a:avLst/>
          </a:prstGeom>
          <a:noFill/>
          <a:ln w="25400">
            <a:solidFill>
              <a:srgbClr val="A84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4750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94750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3.0.1, 3.0.2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94750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Patches and security fixes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125075" y="1816100"/>
            <a:ext cx="1254125" cy="0"/>
          </a:xfrm>
          <a:prstGeom prst="line">
            <a:avLst/>
          </a:prstGeom>
          <a:noFill/>
          <a:ln w="25400">
            <a:solidFill>
              <a:srgbClr val="0F1A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25075" y="1930400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 of life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25075" y="2181858"/>
            <a:ext cx="13049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125075" y="2433327"/>
            <a:ext cx="13049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more fixes; upgrade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5975" y="4739010"/>
            <a:ext cx="5205730" cy="1099820"/>
          </a:xfrm>
          <a:prstGeom prst="roundRect">
            <a:avLst>
              <a:gd name="adj" fmla="val 894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5680" y="4918708"/>
            <a:ext cx="499171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tests what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5680" y="5232400"/>
            <a:ext cx="49917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Alpha: the team and testers · Beta: invited users · Release candidate: everyone checks the final build · GA: all users.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7280" y="4735835"/>
            <a:ext cx="5201920" cy="1106170"/>
          </a:xfrm>
          <a:prstGeom prst="roundRect">
            <a:avLst>
              <a:gd name="adj" fmla="val 9185"/>
            </a:avLst>
          </a:prstGeom>
          <a:solidFill>
            <a:srgbClr val="F5E6DA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4913635"/>
            <a:ext cx="499171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 window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55080" y="5227327"/>
            <a:ext cx="49917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release line gets fixes until its end-of-life date. Publish the date so users can plan their upgrades.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PART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to Production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a build to production · Deployment strategies: blue-green, canary, rolling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DEPLOYING TO PRODUCTION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a Build to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3800" y="1828800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 verified artifact: the exact version that passed staging.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141227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3800" y="2166627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production configuration and secrets.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790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93800" y="2504442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 up, then run database migrations that work with both old and new code.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020058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800" y="3045458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with your chosen strategy: rolling, blue-green or canary.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357885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3800" y="3383285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Smoke test the health endpoint and two or three key pages.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6957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93800" y="3721100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error rate and latency for the first minutes.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033527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93800" y="4058927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 back at once if checks fail; investigate afterwards.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45200" y="1803400"/>
            <a:ext cx="5334000" cy="3007360"/>
          </a:xfrm>
          <a:prstGeom prst="roundRect">
            <a:avLst>
              <a:gd name="adj" fmla="val 3378"/>
            </a:avLst>
          </a:prstGeom>
          <a:solidFill>
            <a:srgbClr val="172430"/>
          </a:solidFill>
          <a:ln/>
        </p:spPr>
      </p:sp>
      <p:sp>
        <p:nvSpPr>
          <p:cNvPr id="19" name="Text 17"/>
          <p:cNvSpPr/>
          <p:nvPr/>
        </p:nvSpPr>
        <p:spPr>
          <a:xfrm>
            <a:off x="6299200" y="200660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Jenkinsfile · production stage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9200" y="2321558"/>
            <a:ext cx="49707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('Deploy to production')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message 'Deploy this build to production?'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ok 'Deploy'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sh './deploy.sh production $BUILD_NUMBER'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sh 'curl -fsS https://myapp.example.com/health'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45200" y="4937758"/>
            <a:ext cx="54940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pauses the pipeline until a person clicks Deploy — that pause is what makes it continuous delivery.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DEPLOYING TO PRODUCTION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Deployment Strategies Compared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7330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5332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717800"/>
        </p:xfrm>
        <a:graphic>
          <a:graphicData uri="http://schemas.openxmlformats.org/drawingml/2006/table">
            <a:tbl>
              <a:tblPr/>
              <a:tblGrid>
                <a:gridCol w="1477162"/>
                <a:gridCol w="2954325"/>
                <a:gridCol w="1266139"/>
                <a:gridCol w="1688186"/>
                <a:gridCol w="1477162"/>
                <a:gridCol w="1688186"/>
              </a:tblGrid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Strategy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it works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Downtime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Extra cost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 sees a bad release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Recreate (baseline)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Stop every old instance, then start the new ones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Redeploy the old version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Everyone, at once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Replace instances a few at a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 back batch by batch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Little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More users with each batch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Blue-green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the new version beside the old, then switch all traffic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Instant: switch 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second full environment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Everyone, but only after testing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Canary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a small share of traffic to the new version first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Fast: route traffic 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Small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the canary's share of users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5462277"/>
            <a:ext cx="10566400" cy="0"/>
          </a:xfrm>
          <a:prstGeom prst="line">
            <a:avLst/>
          </a:prstGeom>
          <a:noFill/>
          <a:ln w="12700">
            <a:solidFill>
              <a:srgbClr val="A844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559308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Rolling, blue-green and canary all avoid downtime; they differ in cost, rollback speed and how many users take the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DEPLOYING TO PRODUCTION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Rolling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6248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instances behind the load balancer; one is replaced per batch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74242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4675" y="2096133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096133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98925" y="2096133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26050" y="2096133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626358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44675" y="2548260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2548260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98925" y="2548260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26050" y="2548260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3078485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44675" y="3000375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3000375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98925" y="3000375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26050" y="3000375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35306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4675" y="3452502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452502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98925" y="3452502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26050" y="3452502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3982727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44675" y="3904617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3904617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98925" y="3904617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26050" y="3904617"/>
            <a:ext cx="1044575" cy="369570"/>
          </a:xfrm>
          <a:prstGeom prst="roundRect">
            <a:avLst>
              <a:gd name="adj" fmla="val 12887"/>
            </a:avLst>
          </a:prstGeom>
          <a:solidFill>
            <a:srgbClr val="A8440F"/>
          </a:solidFill>
          <a:ln w="6350">
            <a:solidFill>
              <a:srgbClr val="A8440F"/>
            </a:solidFill>
            <a:prstDash val="solid"/>
          </a:ln>
        </p:spPr>
        <p:txBody>
          <a:bodyPr wrap="square" lIns="38756" tIns="64156" rIns="38756" bIns="3875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4404358"/>
            <a:ext cx="56248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 = current version · v2 = new version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78600" y="522922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8600" y="1910085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78600" y="218440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 a few instances at a time; each new one must pass its health check before the next batch.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78600" y="2715902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8600" y="2819400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78600" y="3093727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downtime and no second environment.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78600" y="3411860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8600" y="3515358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78600" y="3789685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and new versions serve users at the same time, so the API and database must work with both. Rolling back is another rolling update.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78600" y="43211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8600" y="4424685"/>
            <a:ext cx="494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you see 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78600" y="469900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 Deployments (maxSurge, maxUnavailable), EC2 Auto Scaling instance refresh.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DEPLOYING TO PRODUCTION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Blue-Green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28647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the switch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92958"/>
            <a:ext cx="2781300" cy="365760"/>
          </a:xfrm>
          <a:prstGeom prst="roundRect">
            <a:avLst>
              <a:gd name="adj" fmla="val 17361"/>
            </a:avLst>
          </a:prstGeom>
          <a:solidFill>
            <a:srgbClr val="0F1A23"/>
          </a:solidFill>
          <a:ln/>
        </p:spPr>
        <p:txBody>
          <a:bodyPr wrap="square" lIns="18168" tIns="57601" rIns="18168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534927"/>
            <a:ext cx="1342390" cy="924560"/>
          </a:xfrm>
          <a:prstGeom prst="roundRect">
            <a:avLst>
              <a:gd name="adj" fmla="val 8242"/>
            </a:avLst>
          </a:prstGeom>
          <a:solidFill>
            <a:srgbClr val="A8440F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" y="2636527"/>
            <a:ext cx="116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Blue · 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7100" y="2910842"/>
            <a:ext cx="11645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Live: all traffic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37740" y="2541277"/>
            <a:ext cx="1350010" cy="911860"/>
          </a:xfrm>
          <a:prstGeom prst="roundRect">
            <a:avLst>
              <a:gd name="adj" fmla="val 7660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355850" y="2646685"/>
            <a:ext cx="116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 · v2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55850" y="2921000"/>
            <a:ext cx="116459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Idle: being tested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6500" y="1803400"/>
            <a:ext cx="28647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the switch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6500" y="2092958"/>
            <a:ext cx="2781300" cy="365760"/>
          </a:xfrm>
          <a:prstGeom prst="roundRect">
            <a:avLst>
              <a:gd name="adj" fmla="val 17361"/>
            </a:avLst>
          </a:prstGeom>
          <a:solidFill>
            <a:srgbClr val="0F1A23"/>
          </a:solidFill>
          <a:ln/>
        </p:spPr>
        <p:txBody>
          <a:bodyPr wrap="square" lIns="18168" tIns="57601" rIns="18168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52850" y="2541277"/>
            <a:ext cx="1350010" cy="911860"/>
          </a:xfrm>
          <a:prstGeom prst="roundRect">
            <a:avLst>
              <a:gd name="adj" fmla="val 7660"/>
            </a:avLst>
          </a:prstGeom>
          <a:solidFill>
            <a:srgbClr val="FCFBF8"/>
          </a:solidFill>
          <a:ln w="12700">
            <a:solidFill>
              <a:srgbClr val="A8440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870960" y="2646685"/>
            <a:ext cx="116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Blue · v1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70960" y="2921000"/>
            <a:ext cx="116459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Idle: kept for rollback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85410" y="2534927"/>
            <a:ext cx="1342390" cy="924560"/>
          </a:xfrm>
          <a:prstGeom prst="roundRect">
            <a:avLst>
              <a:gd name="adj" fmla="val 8242"/>
            </a:avLst>
          </a:prstGeom>
          <a:solidFill>
            <a:srgbClr val="A8440F"/>
          </a:solidFill>
          <a:ln/>
        </p:spPr>
      </p:sp>
      <p:sp>
        <p:nvSpPr>
          <p:cNvPr id="18" name="Text 16"/>
          <p:cNvSpPr/>
          <p:nvPr/>
        </p:nvSpPr>
        <p:spPr>
          <a:xfrm>
            <a:off x="5299710" y="2636527"/>
            <a:ext cx="116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 · v2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99710" y="2910842"/>
            <a:ext cx="11645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Live: all traffic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3637285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8400" y="3662685"/>
            <a:ext cx="55201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v2 to Green while Blue keeps serving users.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3962400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8400" y="3987800"/>
            <a:ext cx="55201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Green privately, in the real environment.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287527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8400" y="4312927"/>
            <a:ext cx="55201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the load balancer to Green.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4612642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68400" y="4638042"/>
            <a:ext cx="55201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Blue ready as an instant rollback, then retire 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32600" y="453326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2600" y="180657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2600" y="1910085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32600" y="2184400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switch and instant rollback; the new version is tested in the real environment first.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32600" y="27159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2600" y="2819400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2600" y="3093727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full environments during the release, and the database must work with both versions.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32600" y="3625217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2600" y="3728727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AWS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32600" y="4003042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the ALB listener at the other target group, or shift Route 53 DNS weights.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DEPLOYING TO PRODUCTION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Canary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715000" cy="365760"/>
          </a:xfrm>
          <a:prstGeom prst="roundRect">
            <a:avLst>
              <a:gd name="adj" fmla="val 17361"/>
            </a:avLst>
          </a:prstGeom>
          <a:solidFill>
            <a:srgbClr val="0F1A23"/>
          </a:solidFill>
          <a:ln/>
        </p:spPr>
        <p:txBody>
          <a:bodyPr wrap="square" lIns="0" tIns="57601" rIns="0" bIns="3220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 · weighted routing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273933"/>
            <a:ext cx="4085590" cy="720090"/>
          </a:xfrm>
          <a:prstGeom prst="roundRect">
            <a:avLst>
              <a:gd name="adj" fmla="val 10141"/>
            </a:avLst>
          </a:prstGeom>
          <a:solidFill>
            <a:srgbClr val="FCFBF8"/>
          </a:solidFill>
          <a:ln w="6350">
            <a:solidFill>
              <a:srgbClr val="C9C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580" y="2390142"/>
            <a:ext cx="3916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 · stable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7580" y="2664458"/>
            <a:ext cx="39164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95% of requests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0940" y="2270758"/>
            <a:ext cx="1546860" cy="726440"/>
          </a:xfrm>
          <a:prstGeom prst="roundRect">
            <a:avLst>
              <a:gd name="adj" fmla="val 10490"/>
            </a:avLst>
          </a:prstGeom>
          <a:solidFill>
            <a:srgbClr val="A8440F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385058"/>
            <a:ext cx="1318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v2 · canary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9385"/>
            <a:ext cx="13182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2004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shift traffic in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515358"/>
            <a:ext cx="1200150" cy="365760"/>
          </a:xfrm>
          <a:prstGeom prst="roundRect">
            <a:avLst>
              <a:gd name="adj" fmla="val 13889"/>
            </a:avLst>
          </a:prstGeom>
          <a:solidFill>
            <a:srgbClr val="F5E6DA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5%</a:t>
            </a:r>
            <a:endParaRPr lang="en-US" sz="1200" dirty="0"/>
          </a:p>
        </p:txBody>
      </p:sp>
      <p:pic>
        <p:nvPicPr>
          <p:cNvPr id="13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76450" y="3653792"/>
            <a:ext cx="177800" cy="88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317750" y="3515358"/>
            <a:ext cx="1200150" cy="365760"/>
          </a:xfrm>
          <a:prstGeom prst="roundRect">
            <a:avLst>
              <a:gd name="adj" fmla="val 13889"/>
            </a:avLst>
          </a:prstGeom>
          <a:solidFill>
            <a:srgbClr val="F5E6DA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25%</a:t>
            </a:r>
            <a:endParaRPr lang="en-US" sz="12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1400" y="3653792"/>
            <a:ext cx="177800" cy="88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22700" y="3515358"/>
            <a:ext cx="1200150" cy="365760"/>
          </a:xfrm>
          <a:prstGeom prst="roundRect">
            <a:avLst>
              <a:gd name="adj" fmla="val 13889"/>
            </a:avLst>
          </a:prstGeom>
          <a:solidFill>
            <a:srgbClr val="EBC9AE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50%</a:t>
            </a:r>
            <a:endParaRPr lang="en-US" sz="12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6350" y="3653792"/>
            <a:ext cx="177800" cy="88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7650" y="3515358"/>
            <a:ext cx="1200150" cy="365760"/>
          </a:xfrm>
          <a:prstGeom prst="roundRect">
            <a:avLst>
              <a:gd name="adj" fmla="val 13889"/>
            </a:avLst>
          </a:prstGeom>
          <a:solidFill>
            <a:srgbClr val="A8440F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100%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2800" y="3982727"/>
            <a:ext cx="58864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each step compare v2's error rate and latency with v1. Better or equal: continue. Worse: route everything back to v1.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32600" y="544258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32600" y="180657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32600" y="1910085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832600" y="2184400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users test the release, and a bad version reaches only a few of them.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32600" y="27159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32600" y="2819400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832600" y="3093727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traffic splitting and good monitoring; two versions run side by side.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832600" y="3625217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32600" y="3728727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832600" y="4003042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ALB weighted target groups, Argo Rollouts, service meshes such as Istio.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832600" y="4534533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32600" y="4638042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name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832600" y="4912358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Miners once carried canaries underground as an early warning of bad air.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2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Build a Jenkins Pipeline with Triggers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from SCM.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Commit a Jenkinsfile to your GitHub repo; create a Pipeline job that reads it from Git.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8251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07915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Build, Test (publish JUnit results) and Package (archive the artifact or build an image).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6165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2987055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Webhook.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a GitHub webhook that points at Jenkins and enable the GitHub hook trigger; push and watch a build start.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4077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566170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triggers.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pollSCM as a fallback and a nightly cron build; make a second job run after the first succeeds.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1198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45285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and fix.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Commit a failing test: see the red stage and the test report, then fix it and get green.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3200" y="1803400"/>
            <a:ext cx="4826000" cy="1864360"/>
          </a:xfrm>
          <a:prstGeom prst="roundRect">
            <a:avLst>
              <a:gd name="adj" fmla="val 5450"/>
            </a:avLst>
          </a:prstGeom>
          <a:solidFill>
            <a:srgbClr val="17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68072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Jenkinsfile · inside pipeline { 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07200" y="2321558"/>
            <a:ext cx="444754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triggers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githubPush()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pollSCM('H/15 * * * *')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cron('H 2 * * 1-5')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6375" y="3797945"/>
            <a:ext cx="4819650" cy="1490980"/>
          </a:xfrm>
          <a:prstGeom prst="roundRect">
            <a:avLst>
              <a:gd name="adj" fmla="val 6601"/>
            </a:avLst>
          </a:prstGeom>
          <a:solidFill>
            <a:srgbClr val="FCFBF8"/>
          </a:solidFill>
          <a:ln w="6350">
            <a:solidFill>
              <a:srgbClr val="E6CD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1480" y="3977655"/>
            <a:ext cx="454172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1480" y="4316735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push to main starts a build.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1480" y="4606305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nightly build shows in the schedule.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1480" y="4895850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show a red run, then a green 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PART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55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A3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55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Measuring the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metrics · Quality gates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MEASURING THE PIPELINE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Pipeline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DORA metrics: how well a team delivers software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096145"/>
            <a:ext cx="2526030" cy="1715770"/>
          </a:xfrm>
          <a:prstGeom prst="roundRect">
            <a:avLst>
              <a:gd name="adj" fmla="val 573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250455"/>
            <a:ext cx="22316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THROUGHPUT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2514600"/>
            <a:ext cx="22316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frequency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2796555"/>
            <a:ext cx="22316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often you deploy to production.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0755" y="2096145"/>
            <a:ext cx="2526030" cy="1715770"/>
          </a:xfrm>
          <a:prstGeom prst="roundRect">
            <a:avLst>
              <a:gd name="adj" fmla="val 573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0460" y="2250455"/>
            <a:ext cx="22316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THROUGHPUT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0460" y="2514600"/>
            <a:ext cx="22316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 time for changes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0460" y="2796555"/>
            <a:ext cx="22316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from a commit to that change running in production.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2360" y="2092970"/>
            <a:ext cx="2522220" cy="1722120"/>
          </a:xfrm>
          <a:prstGeom prst="roundRect">
            <a:avLst>
              <a:gd name="adj" fmla="val 5900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6360160" y="2245370"/>
            <a:ext cx="22316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0160" y="2509515"/>
            <a:ext cx="22316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failure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60160" y="2791470"/>
            <a:ext cx="22316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deployments that cause a failure in production.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6980" y="2092970"/>
            <a:ext cx="2522220" cy="1722120"/>
          </a:xfrm>
          <a:prstGeom prst="roundRect">
            <a:avLst>
              <a:gd name="adj" fmla="val 5900"/>
            </a:avLst>
          </a:prstGeom>
          <a:solidFill>
            <a:srgbClr val="0F1A23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780" y="2245370"/>
            <a:ext cx="22316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34780" y="2509515"/>
            <a:ext cx="22316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Failed deployment recovery 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34780" y="3022600"/>
            <a:ext cx="22316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 it takes to restore service after a failed deployment.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389128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DORA research programme, which now also tracks a fifth measure: rework rate.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43586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health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648200"/>
            <a:ext cx="2032000" cy="967740"/>
          </a:xfrm>
          <a:prstGeom prst="roundRect">
            <a:avLst>
              <a:gd name="adj" fmla="val 9186"/>
            </a:avLst>
          </a:prstGeom>
          <a:solidFill>
            <a:srgbClr val="F5E6DA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00" y="4775200"/>
            <a:ext cx="1779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5200" y="506221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to result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46400" y="4648200"/>
            <a:ext cx="2032000" cy="967740"/>
          </a:xfrm>
          <a:prstGeom prst="roundRect">
            <a:avLst>
              <a:gd name="adj" fmla="val 9186"/>
            </a:avLst>
          </a:prstGeom>
          <a:solidFill>
            <a:srgbClr val="F5E6DA"/>
          </a:solidFill>
          <a:ln/>
        </p:spPr>
      </p:sp>
      <p:sp>
        <p:nvSpPr>
          <p:cNvPr id="27" name="Text 25"/>
          <p:cNvSpPr/>
          <p:nvPr/>
        </p:nvSpPr>
        <p:spPr>
          <a:xfrm>
            <a:off x="3098800" y="4775200"/>
            <a:ext cx="1779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 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98800" y="506221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green runs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80000" y="4648200"/>
            <a:ext cx="2032000" cy="967740"/>
          </a:xfrm>
          <a:prstGeom prst="roundRect">
            <a:avLst>
              <a:gd name="adj" fmla="val 9186"/>
            </a:avLst>
          </a:prstGeom>
          <a:solidFill>
            <a:srgbClr val="F5E6DA"/>
          </a:solidFill>
          <a:ln/>
        </p:spPr>
      </p:sp>
      <p:sp>
        <p:nvSpPr>
          <p:cNvPr id="30" name="Text 28"/>
          <p:cNvSpPr/>
          <p:nvPr/>
        </p:nvSpPr>
        <p:spPr>
          <a:xfrm>
            <a:off x="5232400" y="4775200"/>
            <a:ext cx="1779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 time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2400" y="506221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Waiting for an agent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13600" y="4648200"/>
            <a:ext cx="2032000" cy="967740"/>
          </a:xfrm>
          <a:prstGeom prst="roundRect">
            <a:avLst>
              <a:gd name="adj" fmla="val 9186"/>
            </a:avLst>
          </a:prstGeom>
          <a:solidFill>
            <a:srgbClr val="F5E6DA"/>
          </a:solidFill>
          <a:ln/>
        </p:spPr>
      </p:sp>
      <p:sp>
        <p:nvSpPr>
          <p:cNvPr id="33" name="Text 31"/>
          <p:cNvSpPr/>
          <p:nvPr/>
        </p:nvSpPr>
        <p:spPr>
          <a:xfrm>
            <a:off x="7366000" y="4775200"/>
            <a:ext cx="1779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Flaky tests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66000" y="5062215"/>
            <a:ext cx="17790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 and fail on the same code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47200" y="4648200"/>
            <a:ext cx="2032000" cy="967740"/>
          </a:xfrm>
          <a:prstGeom prst="roundRect">
            <a:avLst>
              <a:gd name="adj" fmla="val 9186"/>
            </a:avLst>
          </a:prstGeom>
          <a:solidFill>
            <a:srgbClr val="F5E6DA"/>
          </a:solidFill>
          <a:ln/>
        </p:spPr>
      </p:sp>
      <p:sp>
        <p:nvSpPr>
          <p:cNvPr id="36" name="Text 34"/>
          <p:cNvSpPr/>
          <p:nvPr/>
        </p:nvSpPr>
        <p:spPr>
          <a:xfrm>
            <a:off x="9499600" y="4775200"/>
            <a:ext cx="1779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to green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99600" y="5062215"/>
            <a:ext cx="17790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fast a red build is fixed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MEASURING THE PIPELINE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5986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automatic pass/fail check between stages. If it fails, the artifact does not move 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428255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example gate</a:t>
            </a:r>
            <a:endParaRPr lang="en-US" sz="1200" dirty="0"/>
          </a:p>
        </p:txBody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773685"/>
            <a:ext cx="2032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600" y="27686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unit and integration tests pass</a:t>
            </a:r>
            <a:endParaRPr lang="en-US" sz="12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3063255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7600" y="30581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on new code is at least 80%</a:t>
            </a:r>
            <a:endParaRPr lang="en-US" sz="12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352800"/>
            <a:ext cx="203200" cy="203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7600" y="33477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new critical issues in static analysis</a:t>
            </a:r>
            <a:endParaRPr lang="en-US" sz="12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642370"/>
            <a:ext cx="203200" cy="203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7600" y="363728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known critical vulnerabilities in dependencies or the image</a:t>
            </a:r>
            <a:endParaRPr lang="en-US" sz="1200" dirty="0"/>
          </a:p>
        </p:txBody>
      </p:sp>
      <p:pic>
        <p:nvPicPr>
          <p:cNvPr id="14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931915"/>
            <a:ext cx="203200" cy="203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17600" y="392685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Smoke-test response time within budget</a:t>
            </a:r>
            <a:endParaRPr lang="en-US" sz="1200" dirty="0"/>
          </a:p>
        </p:txBody>
      </p:sp>
      <p:pic>
        <p:nvPicPr>
          <p:cNvPr id="16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4221485"/>
            <a:ext cx="203200" cy="2032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17600" y="42164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approves before production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12800" y="455677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 thresholds: each team sets its own.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553200" y="1803400"/>
            <a:ext cx="4826000" cy="3007360"/>
          </a:xfrm>
          <a:prstGeom prst="roundRect">
            <a:avLst>
              <a:gd name="adj" fmla="val 3378"/>
            </a:avLst>
          </a:prstGeom>
          <a:solidFill>
            <a:srgbClr val="172430"/>
          </a:solidFill>
          <a:ln/>
        </p:spPr>
      </p:sp>
      <p:sp>
        <p:nvSpPr>
          <p:cNvPr id="20" name="Text 12"/>
          <p:cNvSpPr/>
          <p:nvPr/>
        </p:nvSpPr>
        <p:spPr>
          <a:xfrm>
            <a:off x="68072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Jenkinsfile · SonarQube gate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807200" y="2321570"/>
            <a:ext cx="444754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('Quality gate')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withSonarQubeEnv('sonar')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sh 'sonar-scanner'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timeout(time: 10, unit: 'MINUTES')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waitForQualityGate abortPipeline: true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553200" y="493777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pipeline waits for SonarQube's verdict and stops if the gate fails.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A84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946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PRINCIPLE · BUILD ONCE, PROMOTE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76835"/>
            <a:ext cx="9483725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50" kern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commit is a release candidate: build it once, test it hard, and promote that same artifact.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4232920"/>
            <a:ext cx="719455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Rebuilding for each environment means production runs something you never tested. Quality gates decide how far each candidate gets.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Release and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strategy lets you roll back instantly by switching traffic back?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2985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529855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strategy shows a new version to a small share of users first?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25628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256285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four DORA metrics.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4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on new code falls below the gate's threshold. What happens?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46025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722880"/>
          </a:xfrm>
          <a:prstGeom prst="roundRect">
            <a:avLst>
              <a:gd name="adj" fmla="val 3731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70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Blue-green.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73811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738115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0784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078485"/>
            <a:ext cx="368884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frequency, lead time for changes, change failure rate, failed deployment recovery time.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7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gate fails and the pipeline stops; that artifact is not promoted.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3 · CI/CD, Build and Release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3 ·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3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98030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1993900"/>
            <a:ext cx="62265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CI, continuous delivery and deployment, and implement a pipeline as code in Jenkins.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56349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2541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705100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Builds and dependencies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4000" y="2750815"/>
            <a:ext cx="62265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repeatable builds, report their status, version packages and keep dependencies under control.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32043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48235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46201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 management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0" y="3507755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releases and promote one artifact through the release pipeline and release cycle.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87414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03607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401575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to production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4000" y="4061470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safely, and choose between rolling, blue-green and canary.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42786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58978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569470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Measuring the pipeline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34000" y="4615185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the DORA metrics and enforce quality gates.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T217 Module 3 — CI/CD, Build and Release">
  <a:themeElements>
    <a:clrScheme name="CSET217 Module 3 — CI/CD, Build and Release">
      <a:dk1>
        <a:srgbClr val="121C25"/>
      </a:dk1>
      <a:lt1>
        <a:srgbClr val="F5F3EE"/>
      </a:lt1>
      <a:dk2>
        <a:srgbClr val="4B5257"/>
      </a:dk2>
      <a:lt2>
        <a:srgbClr val="DEDEDA"/>
      </a:lt2>
      <a:accent1>
        <a:srgbClr val="A8440F"/>
      </a:accent1>
      <a:accent2>
        <a:srgbClr val="FFA36E"/>
      </a:accent2>
      <a:accent3>
        <a:srgbClr val="EBC9AE"/>
      </a:accent3>
      <a:accent4>
        <a:srgbClr val="3B4752"/>
      </a:accent4>
      <a:accent5>
        <a:srgbClr val="56626C"/>
      </a:accent5>
      <a:accent6>
        <a:srgbClr val="C9D2D9"/>
      </a:accent6>
      <a:hlink>
        <a:srgbClr val="0563C1"/>
      </a:hlink>
      <a:folHlink>
        <a:srgbClr val="954F72"/>
      </a:folHlink>
    </a:clrScheme>
    <a:fontScheme name="CSET217 Module 3 — CI/CD, Build and Releas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CSET217 Module 3 — CI/CD, Build and Release</dc:title>
  <dc:subject/>
  <dc:creator/>
  <cp:lastModifiedBy/>
  <cp:revision>1</cp:revision>
  <dcterms:created xsi:type="dcterms:W3CDTF">2026-10-06T05:20:32Z</dcterms:created>
  <dcterms:modified xsi:type="dcterms:W3CDTF">2026-10-06T05:20:32Z</dcterms:modified>
</cp:coreProperties>
</file>