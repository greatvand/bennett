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0"/>
            <a:ext cx="105664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0"/>
            <a:ext cx="105664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CSET217 · SOFTWARE DEVELOPMENT WITH 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0904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4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systemctl status nginx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54254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FD3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1</a:t>
            </a:r>
            <a:endParaRPr lang="en-US" sz="18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3065780"/>
            <a:ext cx="981075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spc="-10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Linux and Cloud Fundamentals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812800" y="562673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5831840"/>
            <a:ext cx="12776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contact hours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3936" y="5831840"/>
            <a:ext cx="1736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outcome CO1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37263" y="5831840"/>
            <a:ext cx="17480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Semester III · Year 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1 · 5 CONTACT HOURS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1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503364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685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194818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Linux essentials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88000" y="19939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vs Unix · File system commands · Processes and services: start, stop, status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36029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52222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24000" y="2501900"/>
            <a:ext cx="3924300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Permissions, logs and troubleshooting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88000" y="254762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permissions and ownership · Log inspection · A troubleshooting routine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17055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33248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4000" y="331216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 applications on AWS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88000" y="3357880"/>
            <a:ext cx="5964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application on cloud · Addressing in networks · Elastic Load Balancer and its configuration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9274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0894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" y="406908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storage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88000" y="4114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services on cloud · Buckets: creation and storing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48119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64312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24000" y="462280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and access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88000" y="466852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IAM · Security using IAM · Creating IAM users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56286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Hands-on: Linux fundamentals lab · Cloud lab with EC2, a load balancer, S3 and IAM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1 · PART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1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5FD3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Linux Essentials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0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vs Unix · File system commands · Processes and services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LINUX ESSENTIALS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Linux vs Unix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31088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23000" y="1803400"/>
            <a:ext cx="531088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B6B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Linux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" y="222821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235712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17800" y="2357120"/>
            <a:ext cx="43298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Bell Labs, 1969 — Ken Thompson and Dennis Ritchie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5500" y="2357120"/>
            <a:ext cx="43298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Linus Torvalds, 1991 — a free kernel shared online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270065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829561"/>
            <a:ext cx="1701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7800" y="2829561"/>
            <a:ext cx="432981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family of operating systems. “UNIX” is a trademark for systems certified to the Single UNIX Specification.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75500" y="2829561"/>
            <a:ext cx="432981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Unix-like kernel. Kernel + GNU tools + a package manager = a distribution: Ubuntu, Debian, RHEL, Amazon Linux.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338645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515361"/>
            <a:ext cx="1701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Licence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17800" y="3515361"/>
            <a:ext cx="432981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Mostly proprietary: IBM AIX, HP-UX, Oracle Solaris. macOS is also a certified UNIX.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75500" y="3515361"/>
            <a:ext cx="432981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source: the kernel is GPLv2, free to use, study, change and share.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00" y="407225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800" y="454342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420116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you meet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17800" y="4201161"/>
            <a:ext cx="43298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Long-lived enterprise servers, Macs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5500" y="4201161"/>
            <a:ext cx="43298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servers, containers, Android phones, supercomputers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4800600"/>
            <a:ext cx="10566400" cy="731520"/>
          </a:xfrm>
          <a:prstGeom prst="roundRect">
            <a:avLst>
              <a:gd name="adj" fmla="val 10417"/>
            </a:avLst>
          </a:prstGeom>
          <a:solidFill>
            <a:srgbClr val="E9E6DF"/>
          </a:solidFill>
          <a:ln/>
        </p:spPr>
        <p:txBody>
          <a:bodyPr wrap="square" lIns="180882" tIns="130082" rIns="0" bIns="1046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ideas: POSIX shell and commands · multi-user · file permissions · “everything is a file”. What you learn on Linux carries over to Unix and macOS.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LINUX ESSENTIALS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Linux File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tree that starts at </a:t>
            </a: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</a:t>
            </a: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Disks, devices and even running processes appear as files inside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18249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235200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/etc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05000" y="2235200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Configuration for the system and its services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77200" y="22352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/etc/nginx/nginx.conf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50253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555239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/home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05000" y="2555239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folders of normal users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77200" y="2555239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/home/asha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8225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2875282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/root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05000" y="2875282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 folder of the root (administrator) user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77200" y="2875282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/root/.bashrc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14261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195321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/var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05000" y="3195321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that changes: logs, caches, queues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77200" y="3195321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/var/log/syslog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3462657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3515361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/tmp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05000" y="3515361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Temporary files, often cleared at boot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77200" y="3515361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/tmp/build-123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800" y="378269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" y="3835400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/usr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05000" y="3835400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Installed programs and libraries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77200" y="38354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/usr/bin/python3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2800" y="410273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2800" y="4155439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/opt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05000" y="4155439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Optional, self-contained add-on software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77200" y="4155439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/opt/myapp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2800" y="44227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2800" y="4475482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/boot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905000" y="4475482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Kernel and boot loader files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77200" y="4475482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/boot/vmlinuz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2800" y="474281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2800" y="4795521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/dev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905000" y="4795521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 files: disks, terminals, the null device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77200" y="4795521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/dev/sda · /dev/null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2800" y="5062857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2800" y="5381627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2800" y="5115561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/proc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05000" y="5115561"/>
            <a:ext cx="61480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kernel and process information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77200" y="5115561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/proc/cpuinfo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LINUX ESSENTIALS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 System Commands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27300" y="18034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6300" y="1803400"/>
            <a:ext cx="42774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08343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36139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am I?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27300" y="213613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pwd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26300" y="2136139"/>
            <a:ext cx="42774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 the current (working) directory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4034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2456182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27300" y="245618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ls -la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6300" y="2456182"/>
            <a:ext cx="42774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everything with details, hidden files too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272351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2776221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around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7300" y="277622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cd /var/log · cd .. · cd ~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6300" y="2776221"/>
            <a:ext cx="42774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Absolute path, up one level, home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043557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096261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27300" y="309626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mkdir -p app/logs · touch app.conf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6300" y="3096261"/>
            <a:ext cx="42774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Nested directories; an empty file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336359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800" y="3416300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Copy, move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27300" y="34163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cp -r src/ backup/ · mv a.txt b.txt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6300" y="3416300"/>
            <a:ext cx="42774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a directory tree; move or rename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00" y="368363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2800" y="3736339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7300" y="373633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rm old.txt · rm -r build/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6300" y="3736339"/>
            <a:ext cx="42774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files and directories — no recycle bin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800" y="40036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2800" y="4056382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27300" y="405638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cat · less · head -n 20 · tail -f app.log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26300" y="4056382"/>
            <a:ext cx="42774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Print, page, first lines, follow a growing file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2800" y="432371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2800" y="4376421"/>
            <a:ext cx="1511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27300" y="4376421"/>
            <a:ext cx="45783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 /etc -name "*.conf" · grep -rn "error" /var/log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26300" y="4376421"/>
            <a:ext cx="4277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files by name; find text inside files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2800" y="485711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2800" y="517588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2800" y="4909821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Disk usage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527300" y="490982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-h · du -sh *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26300" y="4909821"/>
            <a:ext cx="42774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 space per disk; size of each item here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LINUX ESSENTIALS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2381250" cy="1313180"/>
          </a:xfrm>
          <a:prstGeom prst="roundRect">
            <a:avLst>
              <a:gd name="adj" fmla="val 749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86282"/>
            <a:ext cx="2030171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1080" y="229997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running program with its own memory and a unique process ID (PID).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975" y="1806575"/>
            <a:ext cx="2381250" cy="1313180"/>
          </a:xfrm>
          <a:prstGeom prst="roundRect">
            <a:avLst>
              <a:gd name="adj" fmla="val 749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1080" y="1986282"/>
            <a:ext cx="2030171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Parent, child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1080" y="229997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process is started by another. systemd, PID 1, is the ancestor of 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278507"/>
            <a:ext cx="2381250" cy="1526540"/>
          </a:xfrm>
          <a:prstGeom prst="roundRect">
            <a:avLst>
              <a:gd name="adj" fmla="val 6448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080" y="3458211"/>
            <a:ext cx="2030171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Daemon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1080" y="3771900"/>
            <a:ext cx="2030171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background process with no terminal, such as sshd, nginx or cron. Managed as a service.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5975" y="3278507"/>
            <a:ext cx="2381250" cy="1526540"/>
          </a:xfrm>
          <a:prstGeom prst="roundRect">
            <a:avLst>
              <a:gd name="adj" fmla="val 6448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1080" y="3458211"/>
            <a:ext cx="2030171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Signals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1080" y="377190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you ask a process to stop: SIGTERM (15) politely, SIGKILL (9) by force.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45200" y="1803400"/>
            <a:ext cx="5334000" cy="3235960"/>
          </a:xfrm>
          <a:prstGeom prst="roundRect">
            <a:avLst>
              <a:gd name="adj" fmla="val 3140"/>
            </a:avLst>
          </a:prstGeom>
          <a:solidFill>
            <a:srgbClr val="17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6299200" y="2006600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9200" y="2321561"/>
            <a:ext cx="497078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ps aux | grep nginx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root 812 … nginx: master process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www-data 813 … nginx: worker process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pgrep -a python3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4242 python3 app.py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kill 4242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SIGTERM: asks it to exit cleanly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kill -9 4242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SIGKILL: forced, last resort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top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live CPU and memory view; q quits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LINUX ESSENTIALS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Managing Services with systemctl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6096000" cy="3464560"/>
          </a:xfrm>
          <a:prstGeom prst="roundRect">
            <a:avLst>
              <a:gd name="adj" fmla="val 2933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19300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systemctl start nginx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94200" y="2019300"/>
            <a:ext cx="2328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230886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systemctl stop nginx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94200" y="2308861"/>
            <a:ext cx="2328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now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259842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systemctl restart nginx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94200" y="2598421"/>
            <a:ext cx="2328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Stop, then start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288798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systemctl reload nginx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94200" y="2887982"/>
            <a:ext cx="2328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Re-read config, keep running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317753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systemctl status nginx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94200" y="3177539"/>
            <a:ext cx="2328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and recent log lines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6800" y="3467100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systemctl enable nginx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4200" y="3467100"/>
            <a:ext cx="2328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at every boot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6800" y="375666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systemctl enable --now nginx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94200" y="3756661"/>
            <a:ext cx="2328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 and start in one step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6800" y="404622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systemctl disable nginx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94200" y="4046221"/>
            <a:ext cx="2328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not start at boot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6800" y="433577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systemctl is-active nginx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94200" y="4335779"/>
            <a:ext cx="2328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Prints active or inactive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6800" y="4625342"/>
            <a:ext cx="3270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systemctl list-units --type=service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94200" y="4625342"/>
            <a:ext cx="23284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loaded services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13600" y="1803400"/>
            <a:ext cx="4165600" cy="1498600"/>
          </a:xfrm>
          <a:prstGeom prst="roundRect">
            <a:avLst>
              <a:gd name="adj" fmla="val 6780"/>
            </a:avLst>
          </a:prstGeom>
          <a:solidFill>
            <a:srgbClr val="172430"/>
          </a:solidFill>
          <a:ln/>
        </p:spPr>
        <p:txBody>
          <a:bodyPr wrap="square" lIns="198842" tIns="148042" rIns="87590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systemctl status nginx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● nginx.service - nginx web server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Loaded: … ; </a:t>
            </a: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enabled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 …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Active: </a:t>
            </a: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active (running)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Main PID: 812 (nginx)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13600" y="3454400"/>
            <a:ext cx="42905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enabled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starts automatically at boot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13600" y="3756661"/>
            <a:ext cx="42905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 (running)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healthy right now;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failed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means read the logs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13600" y="4272279"/>
            <a:ext cx="42905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 PID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process that signals go 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1 · PART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5FD3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Permissions, Logs and Troubleshooting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79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permissions and ownership · Log inspection · A troubleshooting routine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PERMISSIONS, LOGS AND TROUBLESHOOTING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 Permissions and Ownership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566400" cy="838200"/>
          </a:xfrm>
          <a:prstGeom prst="roundRect">
            <a:avLst>
              <a:gd name="adj" fmla="val 12121"/>
            </a:avLst>
          </a:prstGeom>
          <a:solidFill>
            <a:srgbClr val="172430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4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ls -l deploy.sh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-rwxr-x--- 1 asha devops 2048 Oct 5 09:30 deploy.sh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844800"/>
            <a:ext cx="1460500" cy="472440"/>
          </a:xfrm>
          <a:prstGeom prst="roundRect">
            <a:avLst>
              <a:gd name="adj" fmla="val 10753"/>
            </a:avLst>
          </a:prstGeom>
          <a:solidFill>
            <a:srgbClr val="E1EEE9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393442"/>
            <a:ext cx="1511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Type: - file, d directory, l link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5700" y="2844800"/>
            <a:ext cx="1651000" cy="472440"/>
          </a:xfrm>
          <a:prstGeom prst="roundRect">
            <a:avLst>
              <a:gd name="adj" fmla="val 10753"/>
            </a:avLst>
          </a:prstGeom>
          <a:solidFill>
            <a:srgbClr val="E1EEE9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rwx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25700" y="3393442"/>
            <a:ext cx="1701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(owner): read, write, execute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29100" y="2844800"/>
            <a:ext cx="1397000" cy="472440"/>
          </a:xfrm>
          <a:prstGeom prst="roundRect">
            <a:avLst>
              <a:gd name="adj" fmla="val 10753"/>
            </a:avLst>
          </a:prstGeom>
          <a:solidFill>
            <a:srgbClr val="E1EEE9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r-x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29100" y="3393442"/>
            <a:ext cx="1447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Group: read, execute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78500" y="2844800"/>
            <a:ext cx="1397000" cy="472440"/>
          </a:xfrm>
          <a:prstGeom prst="roundRect">
            <a:avLst>
              <a:gd name="adj" fmla="val 10753"/>
            </a:avLst>
          </a:prstGeom>
          <a:solidFill>
            <a:srgbClr val="E1EEE9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78500" y="3393442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Others: no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27900" y="2844800"/>
            <a:ext cx="1270000" cy="472440"/>
          </a:xfrm>
          <a:prstGeom prst="roundRect">
            <a:avLst>
              <a:gd name="adj" fmla="val 10753"/>
            </a:avLst>
          </a:prstGeom>
          <a:solidFill>
            <a:srgbClr val="E9E6DF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asha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27900" y="33934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Owning user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50300" y="2844800"/>
            <a:ext cx="1397000" cy="472440"/>
          </a:xfrm>
          <a:prstGeom prst="roundRect">
            <a:avLst>
              <a:gd name="adj" fmla="val 10753"/>
            </a:avLst>
          </a:prstGeom>
          <a:solidFill>
            <a:srgbClr val="E9E6DF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devops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50300" y="3393442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Owning group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376025" y="4023364"/>
            <a:ext cx="0" cy="133604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800" y="535622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033524"/>
          <a:ext cx="10551160" cy="1320800"/>
        </p:xfrm>
        <a:graphic>
          <a:graphicData uri="http://schemas.openxmlformats.org/drawingml/2006/table">
            <a:tbl>
              <a:tblPr/>
              <a:tblGrid>
                <a:gridCol w="1899209"/>
                <a:gridCol w="4325976"/>
                <a:gridCol w="4325976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Letter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 a file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 a directory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 = 4 (read)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 the contents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List the names inside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 = 2 (write)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Change the contents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Create, delete or rename entries inside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 = 1 (execute)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 it as a program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Enter it with cd and reach the files inside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PERMISSIONS, LOGS AND TROUBLESHOOTING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Changing Permissions and Ownership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7091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Octal mode: add the bits for each class of user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69164"/>
            <a:ext cx="1456214" cy="472440"/>
          </a:xfrm>
          <a:prstGeom prst="roundRect">
            <a:avLst>
              <a:gd name="adj" fmla="val 10753"/>
            </a:avLst>
          </a:prstGeom>
          <a:solidFill>
            <a:srgbClr val="E1EEE9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 = 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0614" y="2169164"/>
            <a:ext cx="1456293" cy="472440"/>
          </a:xfrm>
          <a:prstGeom prst="roundRect">
            <a:avLst>
              <a:gd name="adj" fmla="val 10753"/>
            </a:avLst>
          </a:prstGeom>
          <a:solidFill>
            <a:srgbClr val="E1EEE9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 =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28507" y="2169164"/>
            <a:ext cx="1456293" cy="472440"/>
          </a:xfrm>
          <a:prstGeom prst="roundRect">
            <a:avLst>
              <a:gd name="adj" fmla="val 10753"/>
            </a:avLst>
          </a:prstGeom>
          <a:solidFill>
            <a:srgbClr val="E1EEE9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2794000"/>
            <a:ext cx="47091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rwx = 4+2+1 = 7 · r-x = 5 · r-- = 4 · --- =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159764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73200" y="3159764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95600" y="3159764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 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427096"/>
            <a:ext cx="4572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479800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644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73200" y="34798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rw-r--r--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95600" y="3479800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Ordinary files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747139"/>
            <a:ext cx="4572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799842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755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73200" y="37998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rwxr-xr-x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95600" y="3799842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Scripts and directories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067175"/>
            <a:ext cx="4572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119879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73200" y="411987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rw-------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95600" y="4119879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Files that hold secrets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4387217"/>
            <a:ext cx="4572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800" y="4439921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73200" y="443992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r--------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95600" y="4439921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SSH private keys (.pem)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4707254"/>
            <a:ext cx="4572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2800" y="5026024"/>
            <a:ext cx="4572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2800" y="4759964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73200" y="4759964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rwx------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95600" y="4759964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~/.ssh directory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89600" y="1803400"/>
            <a:ext cx="5689600" cy="3464560"/>
          </a:xfrm>
          <a:prstGeom prst="roundRect">
            <a:avLst>
              <a:gd name="adj" fmla="val 2933"/>
            </a:avLst>
          </a:prstGeom>
          <a:solidFill>
            <a:srgbClr val="17243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200660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bash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2321564"/>
            <a:ext cx="5337048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chmod 755 deploy.sh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chmod u+x,g-w notes.txt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symbolic: add x for user, remove w for group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chmod -R 750 /srv/app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-R applies to the whole directory tree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chown asha:devops app.conf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chown -R www-data:www-data /var/www/site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chmod 400 lab-key.pem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ssh refuses a private key others can read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umask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0022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new files get 644, new directories 755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PERMISSIONS, LOGS AND TROUBLESHOOTING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Linux Keeps Its Logs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5462905"/>
            <a:ext cx="4445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4445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88467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/var/log/syslog or /var/log/messages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1234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 system messages; the name depends on the distribution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416175"/>
            <a:ext cx="4445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49427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/var/log/auth.log or /var/log/secure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27330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Logins, sudo and SSH attempts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025775"/>
            <a:ext cx="4445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10387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/var/log/nginx/access.log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3426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line per web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3635375"/>
            <a:ext cx="4445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71347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/var/log/nginx/error.log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9522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server errors and warnings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4244975"/>
            <a:ext cx="4445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32307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journalctl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5618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systemd journal: output from every service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854575"/>
            <a:ext cx="4445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93267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dmesg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51714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Kernel messages: disks, drivers, out-of-memory kills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62600" y="1803400"/>
            <a:ext cx="5816600" cy="3007360"/>
          </a:xfrm>
          <a:prstGeom prst="roundRect">
            <a:avLst>
              <a:gd name="adj" fmla="val 3378"/>
            </a:avLst>
          </a:prstGeom>
          <a:solidFill>
            <a:srgbClr val="172430"/>
          </a:solidFill>
          <a:ln/>
        </p:spPr>
      </p:sp>
      <p:sp>
        <p:nvSpPr>
          <p:cNvPr id="24" name="Text 22"/>
          <p:cNvSpPr/>
          <p:nvPr/>
        </p:nvSpPr>
        <p:spPr>
          <a:xfrm>
            <a:off x="5816600" y="2006600"/>
            <a:ext cx="54678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16600" y="2321564"/>
            <a:ext cx="5467858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tail -f /var/log/nginx/error.log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follow new lines live; Ctrl+C to stop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grep -i "error" /var/log/syslog | tail -20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journalctl -u nginx --since "1 hour ago"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journalctl -u nginx -f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follow one service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journalctl -p err -b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errors and worse since the last boot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dmesg -T | tail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kernel messages with readable times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PERMISSIONS, LOGS AND TROUBLESHOOTING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Troubleshooting Routine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3414157" cy="1615440"/>
          </a:xfrm>
          <a:prstGeom prst="roundRect">
            <a:avLst>
              <a:gd name="adj" fmla="val 609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6087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237742"/>
            <a:ext cx="3146389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Observe the symptom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5680" y="256412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curl -I http://localhost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5680" y="2840992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exactly fails, since when, and for whom?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82" y="1806575"/>
            <a:ext cx="3414157" cy="1615440"/>
          </a:xfrm>
          <a:prstGeom prst="roundRect">
            <a:avLst>
              <a:gd name="adj" fmla="val 609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587" y="196087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68587" y="2237742"/>
            <a:ext cx="3146389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the service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8587" y="256412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systemctl status nginx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8587" y="2840992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Running, failed, or restarting in a loop?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1789" y="1806575"/>
            <a:ext cx="3414157" cy="1615440"/>
          </a:xfrm>
          <a:prstGeom prst="roundRect">
            <a:avLst>
              <a:gd name="adj" fmla="val 609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1494" y="196087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41494" y="2237742"/>
            <a:ext cx="3146389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the logs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41494" y="256412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journalctl -u nginx -n 50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1494" y="2840992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for the first error, not the last 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3580767"/>
            <a:ext cx="3414157" cy="1828800"/>
          </a:xfrm>
          <a:prstGeom prst="roundRect">
            <a:avLst>
              <a:gd name="adj" fmla="val 5382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5680" y="3735071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5680" y="4011929"/>
            <a:ext cx="3146389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Inspect the system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680" y="4338321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nginx -t · ss -tulpn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-h · free -h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5680" y="4828542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 syntax, ports in use, disk and memory.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8882" y="3580767"/>
            <a:ext cx="3414157" cy="1828800"/>
          </a:xfrm>
          <a:prstGeom prst="roundRect">
            <a:avLst>
              <a:gd name="adj" fmla="val 5382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68587" y="3735071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 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68587" y="4011929"/>
            <a:ext cx="3146389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 one thing at a time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68587" y="4338321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systemctl restart nginx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68587" y="4615179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Change, restart, retest — then you know what worked.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61789" y="3580767"/>
            <a:ext cx="3414157" cy="1828800"/>
          </a:xfrm>
          <a:prstGeom prst="roundRect">
            <a:avLst>
              <a:gd name="adj" fmla="val 5382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41494" y="3735071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 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41494" y="4011929"/>
            <a:ext cx="3146389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Verify and record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41494" y="4338321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curl -I http://localhost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41494" y="4615179"/>
            <a:ext cx="3231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the fix; note the cause for next time.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PERMISSIONS, LOGS AND TROUBLESHOOTING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Worked Example: Nginx Will Not Start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93800" y="1828800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Symptom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nothing answers on port 80.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166621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93800" y="2192021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nginx failed when it started.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529842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93800" y="2555242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port 80 is already in use.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2893064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93800" y="2918464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ss shows apache2 holding port 80.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256279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93800" y="3281679"/>
            <a:ext cx="3733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stop and disable apache2, then start nginx.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61950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93800" y="3644900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site answers 200 OK.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982721"/>
            <a:ext cx="3810000" cy="680720"/>
          </a:xfrm>
          <a:prstGeom prst="roundRect">
            <a:avLst>
              <a:gd name="adj" fmla="val 11194"/>
            </a:avLst>
          </a:prstGeom>
          <a:solidFill>
            <a:srgbClr val="E9E6DF"/>
          </a:solidFill>
          <a:ln/>
        </p:spPr>
        <p:txBody>
          <a:bodyPr wrap="square" lIns="130082" tIns="104682" rIns="24926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conclusion came from evidence on the screen, not a guess.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27600" y="1803400"/>
            <a:ext cx="6451600" cy="3495040"/>
          </a:xfrm>
          <a:prstGeom prst="roundRect">
            <a:avLst>
              <a:gd name="adj" fmla="val 2907"/>
            </a:avLst>
          </a:prstGeom>
          <a:solidFill>
            <a:srgbClr val="172430"/>
          </a:solidFill>
          <a:ln/>
        </p:spPr>
      </p:sp>
      <p:sp>
        <p:nvSpPr>
          <p:cNvPr id="18" name="Text 16"/>
          <p:cNvSpPr/>
          <p:nvPr/>
        </p:nvSpPr>
        <p:spPr>
          <a:xfrm>
            <a:off x="5181600" y="2006600"/>
            <a:ext cx="61219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81600" y="2321564"/>
            <a:ext cx="6121908" cy="279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curl -I http://localhost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curl: (7) Failed to connect to localhost port 80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systemctl status nginx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Active: failed (Result: exit-code)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journalctl -u nginx -n 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nginx: [emerg] bind() to 0.0.0.0:80 failed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(98: Address already in use)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ss -tulpn | grep ':80 '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tcp LISTEN 0.0.0.0:80 … users:(("apache2",pid=640))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systemctl disable --now apache2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systemctl start nginx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curl -I http://localhost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HTTP/1.1 200 OK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1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HANDS-ON LAB 1 · STUDIO 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Lab: Linux Fundamentals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28800"/>
            <a:ext cx="59910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up.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Ubuntu on WSL2 (Windows) or a Linux VM, plus VS Code with the WSL or Remote-SSH extension.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407921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433321"/>
            <a:ext cx="59910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system.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Build ~/devops-lab/{app,logs,backup} with mkdir -p; copy, move and delete files; find every .conf file under /etc.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012442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3037842"/>
            <a:ext cx="59910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Install nginx; start, stop, restart and enable it; explain each line of systemctl status.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16964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642364"/>
            <a:ext cx="59910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Permissions.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Create deploy.sh; set it to 700, then 750; give it to a devops group with chown.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4221479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4246879"/>
            <a:ext cx="59910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Stop nginx and find the evidence in journalctl; add a typo to nginx.conf and catch it with nginx -t.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45375" y="1806575"/>
            <a:ext cx="3930650" cy="2070100"/>
          </a:xfrm>
          <a:prstGeom prst="roundRect">
            <a:avLst>
              <a:gd name="adj" fmla="val 4755"/>
            </a:avLst>
          </a:prstGeom>
          <a:solidFill>
            <a:srgbClr val="FCFBF8"/>
          </a:solidFill>
          <a:ln w="6350">
            <a:solidFill>
              <a:srgbClr val="C9DD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0480" y="1986279"/>
            <a:ext cx="362605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 when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50480" y="2325371"/>
            <a:ext cx="36260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systemctl is-enabled nginx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0480" y="2614929"/>
            <a:ext cx="36260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prints enabled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50480" y="2904492"/>
            <a:ext cx="36260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ls -l deploy.sh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50480" y="3194050"/>
            <a:ext cx="36260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starts with -rwxr-x---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50480" y="3483614"/>
            <a:ext cx="36260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 point to the log line behind each failure.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42200" y="4032250"/>
            <a:ext cx="3937000" cy="1498600"/>
          </a:xfrm>
          <a:prstGeom prst="roundRect">
            <a:avLst>
              <a:gd name="adj" fmla="val 6780"/>
            </a:avLst>
          </a:prstGeom>
          <a:solidFill>
            <a:srgbClr val="172430"/>
          </a:solidFill>
          <a:ln/>
        </p:spPr>
        <p:txBody>
          <a:bodyPr wrap="square" lIns="198842" tIns="148042" rIns="94448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Windows PowerShell (admin)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 wsl --install -d Ubuntu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inside Ubuntu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apt update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apt install -y nginx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1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Quick Check: Linux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803400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can each class of user do after chmod 640 report.txt?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280927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280927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runs now but is gone after a reboot. Which command fixes that?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007358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3007358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failed to start. Which two places do you check first?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484885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484885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or Unix: which one is a kernel, and which is a family of operating systems?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211327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in pairs for two minutes; the answers appear on the next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85000" y="1803400"/>
            <a:ext cx="4394200" cy="2936240"/>
          </a:xfrm>
          <a:prstGeom prst="roundRect">
            <a:avLst>
              <a:gd name="adj" fmla="val 3460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0" y="2057400"/>
            <a:ext cx="4002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0" y="2397758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397758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Owner: read and write · group: read · others: nothing.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0" y="295148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2951485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sudo systemctl enable nginx — or enable --now to start it as well.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0" y="350520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505200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systemctl status nginx, then journalctl -u nginx or /var/log/nginx/error.log.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39000" y="4058927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4058927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is a Unix-like kernel; Unix is a family of certified operating systems.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1 · PART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5FD3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 Applications on AWS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5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application on cloud · Addressing in networks · Elastic Load Balancer and its configuration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WEB APPLICATIONS ON AWS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 Application on Cloud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406017"/>
            <a:ext cx="1390650" cy="1262380"/>
          </a:xfrm>
          <a:prstGeom prst="roundRect">
            <a:avLst>
              <a:gd name="adj" fmla="val 779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2560327"/>
            <a:ext cx="113284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Browser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0280" y="2874008"/>
            <a:ext cx="11328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opens myapp.example.com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36800" y="2973710"/>
            <a:ext cx="2540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20975" y="2512702"/>
            <a:ext cx="1390650" cy="1049020"/>
          </a:xfrm>
          <a:prstGeom prst="roundRect">
            <a:avLst>
              <a:gd name="adj" fmla="val 93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75280" y="2667000"/>
            <a:ext cx="113284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875280" y="2980692"/>
            <a:ext cx="11328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turns the name into a public IP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41800" y="2973710"/>
            <a:ext cx="2540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29150" y="1809750"/>
            <a:ext cx="6743700" cy="2454910"/>
          </a:xfrm>
          <a:prstGeom prst="roundRect">
            <a:avLst>
              <a:gd name="adj" fmla="val 3880"/>
            </a:avLst>
          </a:prstGeom>
          <a:solidFill>
            <a:srgbClr val="FCFBF8"/>
          </a:solidFill>
          <a:ln w="12700">
            <a:solidFill>
              <a:srgbClr val="0B6B5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9960" y="1940558"/>
            <a:ext cx="66765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VPC 10.0.0.0/16 in Region ap-south-1 (Mumbai) · internet gateway attached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9960" y="2230127"/>
            <a:ext cx="6482080" cy="1903730"/>
          </a:xfrm>
          <a:prstGeom prst="roundRect">
            <a:avLst>
              <a:gd name="adj" fmla="val 4003"/>
            </a:avLst>
          </a:prstGeom>
          <a:solidFill>
            <a:srgbClr val="E1EEE9"/>
          </a:solidFill>
          <a:ln/>
        </p:spPr>
      </p:sp>
      <p:sp>
        <p:nvSpPr>
          <p:cNvPr id="15" name="Text 11"/>
          <p:cNvSpPr/>
          <p:nvPr/>
        </p:nvSpPr>
        <p:spPr>
          <a:xfrm>
            <a:off x="4886960" y="2357127"/>
            <a:ext cx="64149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 subnet 10.0.1.0/24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86960" y="2646685"/>
            <a:ext cx="6228080" cy="1360170"/>
          </a:xfrm>
          <a:prstGeom prst="roundRect">
            <a:avLst>
              <a:gd name="adj" fmla="val 5602"/>
            </a:avLst>
          </a:prstGeom>
          <a:solidFill>
            <a:srgbClr val="0F1A23"/>
          </a:solidFill>
          <a:ln/>
        </p:spPr>
      </p:sp>
      <p:sp>
        <p:nvSpPr>
          <p:cNvPr id="17" name="Text 13"/>
          <p:cNvSpPr/>
          <p:nvPr/>
        </p:nvSpPr>
        <p:spPr>
          <a:xfrm>
            <a:off x="5064760" y="2799085"/>
            <a:ext cx="604865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EC2 instance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064760" y="3112777"/>
            <a:ext cx="60486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Linux + nginx + your app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64760" y="3376935"/>
            <a:ext cx="60486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private 10.0.1.25 · public 203.0.113.25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64760" y="3641092"/>
            <a:ext cx="60486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group: allow 80 and 443; 22 only from my IP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2800" y="5309877"/>
            <a:ext cx="3352800" cy="0"/>
          </a:xfrm>
          <a:prstGeom prst="line">
            <a:avLst/>
          </a:prstGeom>
          <a:noFill/>
          <a:ln w="12700">
            <a:solidFill>
              <a:srgbClr val="0B6B5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2800" y="5415287"/>
            <a:ext cx="34533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EC2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gives you a Linux server in minutes, billed while it runs.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419600" y="5309877"/>
            <a:ext cx="3352800" cy="0"/>
          </a:xfrm>
          <a:prstGeom prst="line">
            <a:avLst/>
          </a:prstGeom>
          <a:noFill/>
          <a:ln w="12700">
            <a:solidFill>
              <a:srgbClr val="0B6B5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419600" y="5415287"/>
            <a:ext cx="34533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security group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a stateful firewall: open only the ports you need.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026400" y="5309877"/>
            <a:ext cx="3352800" cy="0"/>
          </a:xfrm>
          <a:prstGeom prst="line">
            <a:avLst/>
          </a:prstGeom>
          <a:noFill/>
          <a:ln w="12700">
            <a:solidFill>
              <a:srgbClr val="0B6B5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026400" y="5415287"/>
            <a:ext cx="34533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Parts 1 and 2 apply: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services, permissions and logs work the same on the instance.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WEB APPLICATIONS ON AWS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Launching a Web Server on EC2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5600065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871985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93800" y="1897385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AMI (machine image)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3800" y="2123442"/>
            <a:ext cx="45783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Linux 2023, as in the script. On Ubuntu use apt-get; the web root is /var/www/html.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616833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682242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93800" y="27076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Instance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3800" y="29337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t3.micro (2 vCPU, 1 GiB memory) is enough for a lab.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213733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279142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93800" y="33045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pair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93800" y="35306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Download the .pem file once and keep it private.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810633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876042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93800" y="39014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3800" y="41275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VPC, a public subnet, auto-assign public IP 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407533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472942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93800" y="44983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group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93800" y="47244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SSH 22 from My IP; HTTP 80 from anywhere (0.0.0.0/0).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800" y="5004433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" y="5069842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93800" y="50952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93800" y="53213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script that runs once, as root, at first boot.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0" y="1803400"/>
            <a:ext cx="5435600" cy="1864360"/>
          </a:xfrm>
          <a:prstGeom prst="roundRect">
            <a:avLst>
              <a:gd name="adj" fmla="val 5450"/>
            </a:avLst>
          </a:prstGeom>
          <a:solidFill>
            <a:srgbClr val="172430"/>
          </a:solidFill>
          <a:ln/>
        </p:spPr>
      </p:sp>
      <p:sp>
        <p:nvSpPr>
          <p:cNvPr id="30" name="Text 28"/>
          <p:cNvSpPr/>
          <p:nvPr/>
        </p:nvSpPr>
        <p:spPr>
          <a:xfrm>
            <a:off x="6197600" y="2006600"/>
            <a:ext cx="50754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 data · runs once at first boot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7600" y="2321558"/>
            <a:ext cx="5075428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#!/bin/bash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dnf install -y nginx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systemctl enable --now nginx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echo "&lt;h1&gt;Hello from $(hostname -s)&lt;/h1&gt;"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&gt; /usr/share/nginx/html/index.html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3820158"/>
            <a:ext cx="5435600" cy="1635760"/>
          </a:xfrm>
          <a:prstGeom prst="roundRect">
            <a:avLst>
              <a:gd name="adj" fmla="val 6211"/>
            </a:avLst>
          </a:prstGeom>
          <a:solidFill>
            <a:srgbClr val="172430"/>
          </a:solidFill>
          <a:ln/>
        </p:spPr>
      </p:sp>
      <p:sp>
        <p:nvSpPr>
          <p:cNvPr id="33" name="Text 31"/>
          <p:cNvSpPr/>
          <p:nvPr/>
        </p:nvSpPr>
        <p:spPr>
          <a:xfrm>
            <a:off x="6197600" y="4023358"/>
            <a:ext cx="50754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your laptop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7600" y="4338327"/>
            <a:ext cx="507542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chmod 400 lab-key.pem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ssh -i lab-key.pem ec2-user@203.0.113.40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curl http://203.0.113.40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&lt;h1&gt;Hello from ip-172-31-5-20&lt;/h1&gt;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WEB APPLICATIONS ON AWS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Addressing in Networks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2540000" cy="640080"/>
          </a:xfrm>
          <a:prstGeom prst="roundRect">
            <a:avLst>
              <a:gd name="adj" fmla="val 11905"/>
            </a:avLst>
          </a:prstGeom>
          <a:solidFill>
            <a:srgbClr val="E1EEE9"/>
          </a:solidFill>
          <a:ln/>
        </p:spPr>
        <p:txBody>
          <a:bodyPr wrap="square" lIns="130082" tIns="53882" rIns="63026" bIns="28482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10.0.1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2519685"/>
            <a:ext cx="2616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 part: the first 24 bits, shared by every host in the subnet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60750" y="1809750"/>
            <a:ext cx="1892300" cy="622300"/>
          </a:xfrm>
          <a:prstGeom prst="roundRect">
            <a:avLst>
              <a:gd name="adj" fmla="val 11224"/>
            </a:avLst>
          </a:prstGeom>
          <a:solidFill>
            <a:srgbClr val="FCFBF8"/>
          </a:solidFill>
          <a:ln w="12700">
            <a:solidFill>
              <a:srgbClr val="121C25"/>
            </a:solidFill>
            <a:prstDash val="solid"/>
          </a:ln>
        </p:spPr>
        <p:txBody>
          <a:bodyPr wrap="square" lIns="135752" tIns="46852" rIns="84952" bIns="21452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.25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54400" y="2514600"/>
            <a:ext cx="19621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part: the last 8 bits, this machine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11800" y="1879600"/>
            <a:ext cx="1857502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/24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61000" y="2519685"/>
            <a:ext cx="19621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Prefix length: how many bits are network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0" y="1905000"/>
            <a:ext cx="38719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IPv4 addresses are 32 bits, written as four numbers from 0 to 255. IPv6 uses 128 bits, e.g. 2001:db8::25.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4959985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200400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27200" y="3200400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Addresses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76600" y="3200400"/>
            <a:ext cx="24330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 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3467733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35204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/16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27200" y="3520442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65,536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76600" y="3520442"/>
            <a:ext cx="24330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whole VPC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787775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84048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27200" y="3840485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76600" y="3840485"/>
            <a:ext cx="24330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typical subnet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4107817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800" y="4160527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/28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27200" y="4160527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76600" y="4160527"/>
            <a:ext cx="24330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small subnet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00" y="4427860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2800" y="4480558"/>
            <a:ext cx="812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/32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27200" y="4480558"/>
            <a:ext cx="1447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76600" y="4480558"/>
            <a:ext cx="243306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Exactly one host, e.g. in a firewall rule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3200400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ranges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439158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10.0.0.0/8 · 172.16.0.0/12 · 192.168.0.0/16 — used inside networks, never routed on the internet.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992885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 addresses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4231642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Unique on the whole internet. Gateways and NAT connect private networks to them.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4785358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5024127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IP finds the machine; the port finds the service: 22 SSH · 80 HTTP · 443 HTTPS · 5432 PostgreSQL.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WEB APPLICATIONS ON AWS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Addressing Inside an AWS VPC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18071" y="1803400"/>
            <a:ext cx="993457" cy="314960"/>
          </a:xfrm>
          <a:prstGeom prst="roundRect">
            <a:avLst>
              <a:gd name="adj" fmla="val 50000"/>
            </a:avLst>
          </a:prstGeom>
          <a:solidFill>
            <a:srgbClr val="0F1A2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Internet</a:t>
            </a:r>
            <a:endParaRPr lang="en-US" sz="1200" dirty="0"/>
          </a:p>
        </p:txBody>
      </p:sp>
      <p:pic>
        <p:nvPicPr>
          <p:cNvPr id="5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8600" y="2194558"/>
            <a:ext cx="1524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8904" y="2531108"/>
            <a:ext cx="1631791" cy="322580"/>
          </a:xfrm>
          <a:prstGeom prst="roundRect">
            <a:avLst>
              <a:gd name="adj" fmla="val 50000"/>
            </a:avLst>
          </a:prstGeom>
          <a:solidFill>
            <a:srgbClr val="FCFBF8"/>
          </a:solidFill>
          <a:ln w="12700">
            <a:solidFill>
              <a:srgbClr val="0B6B5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Internet gateway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19150" y="2942592"/>
            <a:ext cx="6591300" cy="2567940"/>
          </a:xfrm>
          <a:prstGeom prst="roundRect">
            <a:avLst>
              <a:gd name="adj" fmla="val 3709"/>
            </a:avLst>
          </a:prstGeom>
          <a:solidFill>
            <a:srgbClr val="FCFBF8"/>
          </a:solidFill>
          <a:ln w="12700">
            <a:solidFill>
              <a:srgbClr val="0B6B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9960" y="3073400"/>
            <a:ext cx="65195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VPC 10.0.0.0/16 · Region ap-south-1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49960" y="3388358"/>
            <a:ext cx="3101340" cy="1991360"/>
          </a:xfrm>
          <a:prstGeom prst="roundRect">
            <a:avLst>
              <a:gd name="adj" fmla="val 3827"/>
            </a:avLst>
          </a:prstGeom>
          <a:solidFill>
            <a:srgbClr val="E1EEE9"/>
          </a:solidFill>
          <a:ln/>
        </p:spPr>
      </p:sp>
      <p:sp>
        <p:nvSpPr>
          <p:cNvPr id="10" name="Text 7"/>
          <p:cNvSpPr/>
          <p:nvPr/>
        </p:nvSpPr>
        <p:spPr>
          <a:xfrm>
            <a:off x="1076960" y="3515358"/>
            <a:ext cx="29327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 subnet 10.0.1.0/24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6960" y="3792227"/>
            <a:ext cx="29327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ap-south-1a · route 0.0.0.0/0 → internet gateway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76960" y="4282442"/>
            <a:ext cx="2847340" cy="970280"/>
          </a:xfrm>
          <a:prstGeom prst="roundRect">
            <a:avLst>
              <a:gd name="adj" fmla="val 7853"/>
            </a:avLst>
          </a:prstGeom>
          <a:solidFill>
            <a:srgbClr val="0F1A23"/>
          </a:solidFill>
          <a:ln/>
        </p:spPr>
      </p:sp>
      <p:sp>
        <p:nvSpPr>
          <p:cNvPr id="13" name="Text 10"/>
          <p:cNvSpPr/>
          <p:nvPr/>
        </p:nvSpPr>
        <p:spPr>
          <a:xfrm>
            <a:off x="1229360" y="4409442"/>
            <a:ext cx="26188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web-1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29360" y="4660900"/>
            <a:ext cx="26188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private 10.0.1.25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29360" y="4912358"/>
            <a:ext cx="26188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203.0.113.25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78300" y="3388358"/>
            <a:ext cx="3101340" cy="1991360"/>
          </a:xfrm>
          <a:prstGeom prst="roundRect">
            <a:avLst>
              <a:gd name="adj" fmla="val 3827"/>
            </a:avLst>
          </a:prstGeom>
          <a:solidFill>
            <a:srgbClr val="E9E6DF"/>
          </a:solidFill>
          <a:ln/>
        </p:spPr>
      </p:sp>
      <p:sp>
        <p:nvSpPr>
          <p:cNvPr id="17" name="Text 14"/>
          <p:cNvSpPr/>
          <p:nvPr/>
        </p:nvSpPr>
        <p:spPr>
          <a:xfrm>
            <a:off x="4305300" y="3515358"/>
            <a:ext cx="29327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subnet 10.0.2.0/24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05300" y="3792227"/>
            <a:ext cx="29327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ap-south-1b · local routes only, no internet route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305300" y="4282442"/>
            <a:ext cx="2847340" cy="970280"/>
          </a:xfrm>
          <a:prstGeom prst="roundRect">
            <a:avLst>
              <a:gd name="adj" fmla="val 7853"/>
            </a:avLst>
          </a:prstGeom>
          <a:solidFill>
            <a:srgbClr val="0F1A23"/>
          </a:solidFill>
          <a:ln/>
        </p:spPr>
      </p:sp>
      <p:sp>
        <p:nvSpPr>
          <p:cNvPr id="20" name="Text 17"/>
          <p:cNvSpPr/>
          <p:nvPr/>
        </p:nvSpPr>
        <p:spPr>
          <a:xfrm>
            <a:off x="4457700" y="4409442"/>
            <a:ext cx="26188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db-1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57700" y="4660900"/>
            <a:ext cx="26188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private 10.0.2.40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457700" y="4912358"/>
            <a:ext cx="26188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public IP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721600" y="4726305"/>
            <a:ext cx="3657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21600" y="1806575"/>
            <a:ext cx="3657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21600" y="1884680"/>
            <a:ext cx="37673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VPC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your private network in one Region; you choose its address range (CIDR).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721600" y="2390775"/>
            <a:ext cx="3657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21600" y="2468880"/>
            <a:ext cx="37673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subnet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sits in one Availability Zone and takes a slice of that range.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721600" y="2974975"/>
            <a:ext cx="3657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21600" y="3053080"/>
            <a:ext cx="37673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reserves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addresses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every subnet, so a /24 leaves 251 for you.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721600" y="3559175"/>
            <a:ext cx="3657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21600" y="3637280"/>
            <a:ext cx="37673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Instances talk on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IPs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only web-1 can be reached from the internet.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721600" y="4143375"/>
            <a:ext cx="3657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21600" y="4221480"/>
            <a:ext cx="37673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account has a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VPC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each Region: 172.31.0.0/16.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WEB APPLICATIONS ON AWS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Elastic Load Balancing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3414157" cy="1480820"/>
          </a:xfrm>
          <a:prstGeom prst="roundRect">
            <a:avLst>
              <a:gd name="adj" fmla="val 664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5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1986285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080" y="2354585"/>
            <a:ext cx="3094065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entry point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1080" y="2680977"/>
            <a:ext cx="309406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Clients use one DNS name; requests are spread across many servers.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8882" y="1806575"/>
            <a:ext cx="3414236" cy="1480820"/>
          </a:xfrm>
          <a:prstGeom prst="roundRect">
            <a:avLst>
              <a:gd name="adj" fmla="val 664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3987" y="1986285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3987" y="2354585"/>
            <a:ext cx="3094147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 checks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93987" y="2680977"/>
            <a:ext cx="309414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Unhealthy servers stop getting traffic until they pass again.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61868" y="1806575"/>
            <a:ext cx="3414157" cy="1480820"/>
          </a:xfrm>
          <a:prstGeom prst="roundRect">
            <a:avLst>
              <a:gd name="adj" fmla="val 664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13" name="Image 2" descr="Clou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6974" y="1986285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6974" y="2354585"/>
            <a:ext cx="3094065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Several zones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66974" y="2680977"/>
            <a:ext cx="309406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Targets in more than one Availability Zone keep the site up when a zone fails.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11376025" y="3544577"/>
            <a:ext cx="0" cy="166624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2800" y="5207642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554737"/>
          <a:ext cx="10551160" cy="1651000"/>
        </p:xfrm>
        <a:graphic>
          <a:graphicData uri="http://schemas.openxmlformats.org/drawingml/2006/table">
            <a:tbl>
              <a:tblPr/>
              <a:tblGrid>
                <a:gridCol w="3587394"/>
                <a:gridCol w="2321255"/>
                <a:gridCol w="464251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Works at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 it for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Application Load Balancer (ALB)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7 — HTTP, HTTPS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 apps and APIs; routes by URL path or host name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Network Load Balancer (NLB)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4 — TCP, UDP, TLS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Very high throughput, low latency, a static IP per zone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Gateway Load Balancer (GWLB)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3 — IP packets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Putting firewalls and other appliances in the traffic path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Classic Load Balancer (CLB)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Layers 4 and 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Previous generation — avoid for new work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WEB APPLICATIONS ON AWS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an Application Load Balancer Is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11375"/>
            <a:ext cx="1390650" cy="835660"/>
          </a:xfrm>
          <a:prstGeom prst="roundRect">
            <a:avLst>
              <a:gd name="adj" fmla="val 11778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2265685"/>
            <a:ext cx="113284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0280" y="2579377"/>
            <a:ext cx="11328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or app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36800" y="2465710"/>
            <a:ext cx="2540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17800" y="1803400"/>
            <a:ext cx="2667000" cy="1451610"/>
          </a:xfrm>
          <a:prstGeom prst="roundRect">
            <a:avLst>
              <a:gd name="adj" fmla="val 6999"/>
            </a:avLst>
          </a:prstGeom>
          <a:solidFill>
            <a:srgbClr val="0F1A23"/>
          </a:solidFill>
          <a:ln/>
        </p:spPr>
      </p:sp>
      <p:sp>
        <p:nvSpPr>
          <p:cNvPr id="9" name="Text 6"/>
          <p:cNvSpPr/>
          <p:nvPr/>
        </p:nvSpPr>
        <p:spPr>
          <a:xfrm>
            <a:off x="2895600" y="1981200"/>
            <a:ext cx="2380742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 balancer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895600" y="2320292"/>
            <a:ext cx="2311400" cy="340360"/>
          </a:xfrm>
          <a:prstGeom prst="roundRect">
            <a:avLst>
              <a:gd name="adj" fmla="val 14925"/>
            </a:avLst>
          </a:prstGeom>
          <a:solidFill>
            <a:srgbClr val="22313E"/>
          </a:solidFill>
          <a:ln/>
        </p:spPr>
        <p:txBody>
          <a:bodyPr wrap="square" lIns="86721" tIns="48621" rIns="23475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Listener · HTTP :80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95600" y="2736850"/>
            <a:ext cx="2311400" cy="340360"/>
          </a:xfrm>
          <a:prstGeom prst="roundRect">
            <a:avLst>
              <a:gd name="adj" fmla="val 14925"/>
            </a:avLst>
          </a:prstGeom>
          <a:solidFill>
            <a:srgbClr val="22313E"/>
          </a:solidFill>
          <a:ln/>
        </p:spPr>
        <p:txBody>
          <a:bodyPr wrap="square" lIns="86721" tIns="48621" rIns="23475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Rule · /* → forward</a:t>
            </a:r>
            <a:endParaRPr lang="en-US" sz="12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11800" y="2465710"/>
            <a:ext cx="254000" cy="127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99150" y="1845308"/>
            <a:ext cx="2400300" cy="1367790"/>
          </a:xfrm>
          <a:prstGeom prst="roundRect">
            <a:avLst>
              <a:gd name="adj" fmla="val 6964"/>
            </a:avLst>
          </a:prstGeom>
          <a:solidFill>
            <a:srgbClr val="FCFBF8"/>
          </a:solidFill>
          <a:ln w="12700">
            <a:solidFill>
              <a:srgbClr val="0B6B5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80760" y="2026927"/>
            <a:ext cx="209819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group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080760" y="2340608"/>
            <a:ext cx="2098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web-tg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080760" y="2604777"/>
            <a:ext cx="20981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 check: GET / every 30 seconds</a:t>
            </a:r>
            <a:endParaRPr lang="en-US" sz="1200" dirty="0"/>
          </a:p>
        </p:txBody>
      </p:sp>
      <p:pic>
        <p:nvPicPr>
          <p:cNvPr id="17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32800" y="2465710"/>
            <a:ext cx="254000" cy="1270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816975" y="1841500"/>
            <a:ext cx="2559050" cy="633730"/>
          </a:xfrm>
          <a:prstGeom prst="roundRect">
            <a:avLst>
              <a:gd name="adj" fmla="val 1152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19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45880" y="2031367"/>
            <a:ext cx="254000" cy="254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76080" y="1945010"/>
            <a:ext cx="20301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web-1 · zone 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276080" y="2158367"/>
            <a:ext cx="20301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6B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healthy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816975" y="2583185"/>
            <a:ext cx="2559050" cy="633730"/>
          </a:xfrm>
          <a:prstGeom prst="roundRect">
            <a:avLst>
              <a:gd name="adj" fmla="val 1152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23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45880" y="2773052"/>
            <a:ext cx="254000" cy="2540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76080" y="2686683"/>
            <a:ext cx="20301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web-2 · zone b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9276080" y="2900052"/>
            <a:ext cx="20301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6B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healthy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12800" y="4796792"/>
            <a:ext cx="2527300" cy="0"/>
          </a:xfrm>
          <a:prstGeom prst="line">
            <a:avLst/>
          </a:prstGeom>
          <a:noFill/>
          <a:ln w="12700">
            <a:solidFill>
              <a:srgbClr val="0B6B59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12800" y="4902200"/>
            <a:ext cx="2603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Listener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12800" y="5201927"/>
            <a:ext cx="260311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port and protocol the load balancer accepts, e.g. HTTP :80 or HTTPS :443.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492500" y="4796792"/>
            <a:ext cx="2527300" cy="0"/>
          </a:xfrm>
          <a:prstGeom prst="line">
            <a:avLst/>
          </a:prstGeom>
          <a:noFill/>
          <a:ln w="12700">
            <a:solidFill>
              <a:srgbClr val="0B6B59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492500" y="4902200"/>
            <a:ext cx="2603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3492500" y="5201927"/>
            <a:ext cx="260311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condition (path, host, header) plus an action: forward, redirect or fixed response.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172200" y="4796792"/>
            <a:ext cx="2527300" cy="0"/>
          </a:xfrm>
          <a:prstGeom prst="line">
            <a:avLst/>
          </a:prstGeom>
          <a:noFill/>
          <a:ln w="12700">
            <a:solidFill>
              <a:srgbClr val="0B6B59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172200" y="4902200"/>
            <a:ext cx="2603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group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6172200" y="5201927"/>
            <a:ext cx="26031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set of targets and the health check that decides which receive traffic.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851900" y="4796792"/>
            <a:ext cx="2527300" cy="0"/>
          </a:xfrm>
          <a:prstGeom prst="line">
            <a:avLst/>
          </a:prstGeom>
          <a:noFill/>
          <a:ln w="12700">
            <a:solidFill>
              <a:srgbClr val="0B6B59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851900" y="4902200"/>
            <a:ext cx="2603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8851900" y="5201927"/>
            <a:ext cx="260311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requests land: an EC2 instance, an IP address or a Lambda function.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WEB APPLICATIONS ON AWS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Configuring an Application Load Balancer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93800" y="1828800"/>
            <a:ext cx="520623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two web servers in different Availability Zones, with the same user data.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57127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93800" y="2382527"/>
            <a:ext cx="5359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a target group: type Instances, HTTP, port 80, health check path /.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707642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93800" y="2733042"/>
            <a:ext cx="52062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Register both instances as targets.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058158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93800" y="3083558"/>
            <a:ext cx="520623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the load balancer: Application, internet-facing, IPv4, subnets in at least two zones, and a security group that allows HTTP 80.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611885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93800" y="3637285"/>
            <a:ext cx="52062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listener: HTTP :80 → forward to the target group.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96240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93800" y="3987800"/>
            <a:ext cx="520623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Wait until both targets are healthy, then open the load balancer's DNS name.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516127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93800" y="4541527"/>
            <a:ext cx="52062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one instance and watch traffic move to the other.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6375" y="1806575"/>
            <a:ext cx="4819650" cy="1452880"/>
          </a:xfrm>
          <a:prstGeom prst="roundRect">
            <a:avLst>
              <a:gd name="adj" fmla="val 677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6080" y="1960885"/>
            <a:ext cx="4594047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 check defaults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36080" y="2312677"/>
            <a:ext cx="22577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Path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4300" y="2312677"/>
            <a:ext cx="22577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Success code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36080" y="2602235"/>
            <a:ext cx="22577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Interval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30 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04300" y="2602235"/>
            <a:ext cx="22577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Timeout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5 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36080" y="2891792"/>
            <a:ext cx="22577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after 5 passes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04300" y="2891792"/>
            <a:ext cx="22577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Unhealthy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after 2 fails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53200" y="3389635"/>
            <a:ext cx="4826000" cy="1498600"/>
          </a:xfrm>
          <a:prstGeom prst="roundRect">
            <a:avLst>
              <a:gd name="adj" fmla="val 6780"/>
            </a:avLst>
          </a:prstGeom>
          <a:solidFill>
            <a:srgbClr val="172430"/>
          </a:solidFill>
          <a:ln/>
        </p:spPr>
        <p:txBody>
          <a:bodyPr wrap="square" lIns="198842" tIns="148042" rIns="67778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ALB=lab-alb-123.ap-south-1.elb.amazonaws.com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curl http://$ALB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&lt;h1&gt;Hello from ip-172-31-5-20&lt;/h1&gt;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curl http://$ALB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&lt;h1&gt;Hello from ip-172-31-40-7&lt;/h1&gt;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3200" y="5015235"/>
            <a:ext cx="4826000" cy="655320"/>
          </a:xfrm>
          <a:prstGeom prst="roundRect">
            <a:avLst>
              <a:gd name="adj" fmla="val 11628"/>
            </a:avLst>
          </a:prstGeom>
          <a:solidFill>
            <a:srgbClr val="E9E6DF"/>
          </a:solidFill>
          <a:ln/>
        </p:spPr>
        <p:txBody>
          <a:bodyPr wrap="square" lIns="130082" tIns="91982" rIns="0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Tighten it: let instances accept port 80 only from the load balancer's security group.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1 · PART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5FD3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Storage on the Cloud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5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services on cloud · Buckets on cloud: creation and storing data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CLOUD STORAGE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Storage Services on Cloud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25" y="1803400"/>
            <a:ext cx="0" cy="284988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65010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1160" cy="2834640"/>
        </p:xfrm>
        <a:graphic>
          <a:graphicData uri="http://schemas.openxmlformats.org/drawingml/2006/table">
            <a:tbl>
              <a:tblPr/>
              <a:tblGrid>
                <a:gridCol w="1688186"/>
                <a:gridCol w="2954325"/>
                <a:gridCol w="2954325"/>
                <a:gridCol w="2954325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 storage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Block storage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File storage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AWS service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Amazon S3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Amazon EBS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Amazon EFS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you store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Objects: data + metadata, named by a key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Blocks on a virtual disk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Files and folders on a shared file system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you reach it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HTTPS API, AWS CLI, SDKs, URLs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Attached to an instance as a disk, then formatted and mounted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Mounted over the network (NFS)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Shared by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Anyone you grant access, from anywhere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Usually one instance, in one Availability Zone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Many instances across zones at once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Typical use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Website files, backups, logs, build artifacts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Operating system disk, databases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Shared content, home directories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907285"/>
            <a:ext cx="10566400" cy="467360"/>
          </a:xfrm>
          <a:prstGeom prst="roundRect">
            <a:avLst>
              <a:gd name="adj" fmla="val 16304"/>
            </a:avLst>
          </a:prstGeom>
          <a:solidFill>
            <a:srgbClr val="E9E6DF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 tier: the S3 Glacier storage classes keep rarely read data at the lowest cost, with slower retrieval.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CLOUD STORAGE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Amazon S3: Buckets and Objects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9750"/>
            <a:ext cx="5448300" cy="1978660"/>
          </a:xfrm>
          <a:prstGeom prst="roundRect">
            <a:avLst>
              <a:gd name="adj" fmla="val 4814"/>
            </a:avLst>
          </a:prstGeom>
          <a:solidFill>
            <a:srgbClr val="FCFBF8"/>
          </a:solidFill>
          <a:ln w="12700">
            <a:solidFill>
              <a:srgbClr val="0B6B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6160" y="1991358"/>
            <a:ext cx="51853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Bucket · cset217-reports · ap-south-1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6160" y="2306327"/>
            <a:ext cx="5034280" cy="365760"/>
          </a:xfrm>
          <a:prstGeom prst="roundRect">
            <a:avLst>
              <a:gd name="adj" fmla="val 13889"/>
            </a:avLst>
          </a:prstGeom>
          <a:solidFill>
            <a:srgbClr val="E1EEE9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index.html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6160" y="2773685"/>
            <a:ext cx="5034280" cy="365760"/>
          </a:xfrm>
          <a:prstGeom prst="roundRect">
            <a:avLst>
              <a:gd name="adj" fmla="val 13889"/>
            </a:avLst>
          </a:prstGeom>
          <a:solidFill>
            <a:srgbClr val="E1EEE9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images/logo.png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6160" y="3241042"/>
            <a:ext cx="5034280" cy="365760"/>
          </a:xfrm>
          <a:prstGeom prst="roundRect">
            <a:avLst>
              <a:gd name="adj" fmla="val 13889"/>
            </a:avLst>
          </a:prstGeom>
          <a:solidFill>
            <a:srgbClr val="E1EEE9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reports/2026/oct/summary.pdf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947158"/>
            <a:ext cx="56248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line is one object. Its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the full name; “folders” are only prefixes inside the key.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4526285"/>
            <a:ext cx="56248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 URL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4790442"/>
            <a:ext cx="56248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https://cset217-reports.s3.ap-south-1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.amazonaws.com/reports/2026/oct/summary.pdf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78600" y="544258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8600" y="18065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8600" y="1910085"/>
            <a:ext cx="494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Bucket names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78600" y="2184400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Globally unique; 3–63 characters of lowercase letters, numbers, dots and hyphens.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78600" y="2715902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8600" y="2819400"/>
            <a:ext cx="494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78600" y="3093727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plus metadata, found by key. A bucket can hold any number of them.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78600" y="3625217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8600" y="3728727"/>
            <a:ext cx="494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by default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78600" y="4003042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buckets block public access and disable ACLs; objects are encrypted at rest (SSE-S3).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78600" y="4534533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8600" y="4638042"/>
            <a:ext cx="494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78600" y="4912358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Optional: keeps every version of an object, so overwrites and deletes can be undone.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CLOUD STORAGE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Creating a Bucket and Storing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924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console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166627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8400" y="2192027"/>
            <a:ext cx="3558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→ Create bucket.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529842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8400" y="2555242"/>
            <a:ext cx="3558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 a unique name and choose the Region.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2893058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8400" y="2918458"/>
            <a:ext cx="3558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“Block all public access” switched 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256285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8400" y="3281685"/>
            <a:ext cx="3558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on Bucket Versioning if you need history.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619500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68400" y="3644900"/>
            <a:ext cx="3558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it, then Upload files or folders.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4097027"/>
            <a:ext cx="3810000" cy="655320"/>
          </a:xfrm>
          <a:prstGeom prst="roundRect">
            <a:avLst>
              <a:gd name="adj" fmla="val 11628"/>
            </a:avLst>
          </a:prstGeom>
          <a:solidFill>
            <a:srgbClr val="E9E6DF"/>
          </a:solidFill>
          <a:ln/>
        </p:spPr>
        <p:txBody>
          <a:bodyPr wrap="square" lIns="130082" tIns="91982" rIns="24926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 needs credentials: aws configure on your laptop, or an IAM role on EC2 (Part 5).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27600" y="1803400"/>
            <a:ext cx="6451600" cy="3007360"/>
          </a:xfrm>
          <a:prstGeom prst="roundRect">
            <a:avLst>
              <a:gd name="adj" fmla="val 3378"/>
            </a:avLst>
          </a:prstGeom>
          <a:solidFill>
            <a:srgbClr val="17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5181600" y="2006600"/>
            <a:ext cx="61219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AWS CLI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1600" y="2321558"/>
            <a:ext cx="6121908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s3 mb s3://cset217-asha-lab --region ap-south-1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make_bucket: cset217-asha-lab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s3 cp report.pdf s3://cset217-asha-lab/reports/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s3 sync ./site s3://cset217-asha-lab/site/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s3 ls s3://cset217-asha-lab --recursive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s3 presign s3://cset217-asha-lab/reports/report.pdf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temporary download link, valid 1 hour by default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s3 rm s3://cset217-asha-lab --recursive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s3 rb s3://cset217-asha-lab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remove the bucket once it is empty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CLOUD STORAGE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Choosing a Storage Class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25" y="1803400"/>
            <a:ext cx="0" cy="265684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45706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1160" cy="2641600"/>
        </p:xfrm>
        <a:graphic>
          <a:graphicData uri="http://schemas.openxmlformats.org/drawingml/2006/table">
            <a:tbl>
              <a:tblPr/>
              <a:tblGrid>
                <a:gridCol w="3165348"/>
                <a:gridCol w="5064557"/>
                <a:gridCol w="2321255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Storage class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Best for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Retrieval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Standard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read often: websites, active app data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Milliseconds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Intelligent-Tiering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 or changing access; moves data between tiers for you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Milliseconds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Standard-IA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 rarely but needed fast; a fee per retrieval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Milliseconds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One Zone-IA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Rarely read and easy to re-create; kept in one zone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Milliseconds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Glacier Instant Retrieval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Archives read about once a quarter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Milliseconds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Glacier Flexible Retrieval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Backups and archives you can wait for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Minutes to hours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Glacier Deep Archive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Records kept for years; the lowest cost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Hours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5975" y="5367660"/>
            <a:ext cx="10560050" cy="471170"/>
          </a:xfrm>
          <a:prstGeom prst="roundRect">
            <a:avLst>
              <a:gd name="adj" fmla="val 20889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5680" y="5496558"/>
            <a:ext cx="10664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 rule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062083" y="5496558"/>
            <a:ext cx="94082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logs/ → Standard-IA after 30 days → Glacier Flexible Retrieval after 90 days → deleted after 365 days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1 · PART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5FD3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and Access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5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IAM · Security using IAM · Creating IAM users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IDENTITY AND ACCESS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IAM Building Blocks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1983184" cy="1771650"/>
          </a:xfrm>
          <a:prstGeom prst="roundRect">
            <a:avLst>
              <a:gd name="adj" fmla="val 5735"/>
            </a:avLst>
          </a:prstGeom>
          <a:solidFill>
            <a:srgbClr val="0F1A23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981200"/>
            <a:ext cx="167838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Root user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320292"/>
            <a:ext cx="167838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account owner, with full access. Use it only for the few tasks that need it; protect it with MFA.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51559" y="1806575"/>
            <a:ext cx="1987074" cy="1765300"/>
          </a:xfrm>
          <a:prstGeom prst="roundRect">
            <a:avLst>
              <a:gd name="adj" fmla="val 557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1264" y="1986285"/>
            <a:ext cx="167846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IAM user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31264" y="2325377"/>
            <a:ext cx="167846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person or app with long-term credentials: a console password and/or access keys.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97383" y="1806575"/>
            <a:ext cx="1986994" cy="1765300"/>
          </a:xfrm>
          <a:prstGeom prst="roundRect">
            <a:avLst>
              <a:gd name="adj" fmla="val 557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7088" y="1986285"/>
            <a:ext cx="167838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77088" y="2325377"/>
            <a:ext cx="167838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set of users. Attach permissions to the group once, not to each user.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43128" y="1806575"/>
            <a:ext cx="1987074" cy="1765300"/>
          </a:xfrm>
          <a:prstGeom prst="roundRect">
            <a:avLst>
              <a:gd name="adj" fmla="val 557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2833" y="1986285"/>
            <a:ext cx="167846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22833" y="2325377"/>
            <a:ext cx="167846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identity with temporary credentials that a service or person assumes, e.g. EC2 reading S3.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88952" y="1806575"/>
            <a:ext cx="1987074" cy="1765300"/>
          </a:xfrm>
          <a:prstGeom prst="roundRect">
            <a:avLst>
              <a:gd name="adj" fmla="val 557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68656" y="1986285"/>
            <a:ext cx="167846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68656" y="2325377"/>
            <a:ext cx="167846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JSON document that allows or denies actions on resources, attached to a user, group or role.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65837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request to AWS goes through two 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5080000"/>
            <a:ext cx="2506107" cy="655320"/>
          </a:xfrm>
          <a:prstGeom prst="roundRect">
            <a:avLst>
              <a:gd name="adj" fmla="val 11628"/>
            </a:avLst>
          </a:prstGeom>
          <a:solidFill>
            <a:srgbClr val="E9E6DF"/>
          </a:solidFill>
          <a:ln/>
        </p:spPr>
        <p:txBody>
          <a:bodyPr wrap="square" lIns="130082" tIns="91982" rIns="64043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request arrives: an API call, CLI command or console click</a:t>
            </a:r>
            <a:endParaRPr lang="en-US" sz="1200" dirty="0"/>
          </a:p>
        </p:txBody>
      </p:sp>
      <p:pic>
        <p:nvPicPr>
          <p:cNvPr id="2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45907" y="5344170"/>
            <a:ext cx="254000" cy="127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826907" y="5080000"/>
            <a:ext cx="2506186" cy="655320"/>
          </a:xfrm>
          <a:prstGeom prst="roundRect">
            <a:avLst>
              <a:gd name="adj" fmla="val 11628"/>
            </a:avLst>
          </a:prstGeom>
          <a:solidFill>
            <a:srgbClr val="E1EEE9"/>
          </a:solidFill>
          <a:ln/>
        </p:spPr>
        <p:txBody>
          <a:bodyPr wrap="square" lIns="130082" tIns="91982" rIns="64040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Authentication</a:t>
            </a: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who is calling? Password, MFA or keys</a:t>
            </a:r>
            <a:endParaRPr lang="en-US" sz="1200" dirty="0"/>
          </a:p>
        </p:txBody>
      </p:sp>
      <p:pic>
        <p:nvPicPr>
          <p:cNvPr id="2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60093" y="5344170"/>
            <a:ext cx="254000" cy="1270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841093" y="4973315"/>
            <a:ext cx="2506107" cy="868680"/>
          </a:xfrm>
          <a:prstGeom prst="roundRect">
            <a:avLst>
              <a:gd name="adj" fmla="val 8772"/>
            </a:avLst>
          </a:prstGeom>
          <a:solidFill>
            <a:srgbClr val="E1EEE9"/>
          </a:solidFill>
          <a:ln/>
        </p:spPr>
        <p:txBody>
          <a:bodyPr wrap="square" lIns="130082" tIns="91982" rIns="64043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Authorization</a:t>
            </a: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do the attached policies allow this action?</a:t>
            </a:r>
            <a:endParaRPr lang="en-US" sz="1200" dirty="0"/>
          </a:p>
        </p:txBody>
      </p:sp>
      <p:pic>
        <p:nvPicPr>
          <p:cNvPr id="2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74200" y="5344170"/>
            <a:ext cx="254000" cy="1270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855200" y="5080000"/>
            <a:ext cx="1524000" cy="655320"/>
          </a:xfrm>
          <a:prstGeom prst="roundRect">
            <a:avLst>
              <a:gd name="adj" fmla="val 11628"/>
            </a:avLst>
          </a:prstGeom>
          <a:solidFill>
            <a:srgbClr val="0F1A23"/>
          </a:solidFill>
          <a:ln/>
        </p:spPr>
        <p:txBody>
          <a:bodyPr wrap="square" lIns="130082" tIns="91982" rIns="79282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Allowed or denied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IDENTITY AND ACCESS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Reading an IAM Policy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5588000" cy="3708400"/>
          </a:xfrm>
          <a:prstGeom prst="roundRect">
            <a:avLst>
              <a:gd name="adj" fmla="val 2740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0660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read-reports-policy.json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21570"/>
            <a:ext cx="5232400" cy="301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"Version": "2012-10-17",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"Statement": [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"Sid": "ReadReports",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"Effect": </a:t>
            </a: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"Allow"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"Action": ["s3:GetObject", "s3:ListBucket"],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"Resource": [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"arn:aws:s3:::cset217-reports",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"arn:aws:s3:::cset217-reports/*"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]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]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05600" y="1803400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policy language version, always 2012-10-17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05600" y="2143770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Effect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Allow or Deny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05600" y="2484115"/>
            <a:ext cx="48138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API calls as service:Action; ListBucket lists keys, GetObject downloads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5600" y="3037855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Resource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ARNs: the bucket itself, and every object in it (/*)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5600" y="3378200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optional rules, e.g. require MFA or a source IP range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05600" y="3794770"/>
            <a:ext cx="4673600" cy="1221740"/>
          </a:xfrm>
          <a:prstGeom prst="roundRect">
            <a:avLst>
              <a:gd name="adj" fmla="val 8316"/>
            </a:avLst>
          </a:prstGeom>
          <a:solidFill>
            <a:srgbClr val="0F1A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83400" y="394717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D3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AWS decides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83400" y="4224015"/>
            <a:ext cx="44475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Everything starts denied.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An explicit Allow grants access.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An explicit Deny always wins.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IDENTITY AND ACCESS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Using IAM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252095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60885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225055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Lock away root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5680" y="2506985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MFA on, no access keys, only for account-level tasks.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1806575"/>
            <a:ext cx="252095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380" y="1960885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75380" y="2225055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Least privilege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380" y="2506985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from the minimum; add permissions only when needed.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1806575"/>
            <a:ext cx="252095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0885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225055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groups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506985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permissions to job roles like Developers, not to people.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1806575"/>
            <a:ext cx="252095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780" y="1960885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34780" y="2225055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Roles, not keys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34780" y="2506985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 such as EC2 get short-lived credentials automatically.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3246760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680" y="340107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5680" y="3665215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MFA for humans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5680" y="3947170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second factor for everyone who signs in to the console.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95675" y="3246760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380" y="340107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75380" y="3665215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 policy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75380" y="3947170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minimum length and complexity for console passwords.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5375" y="3246760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40107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665215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the unused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3947170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credential report; delete idle users and old keys.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55075" y="3246760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4780" y="340107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34780" y="3665215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with CloudTrail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34780" y="3947170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API call is recorded: who did what, when, from where.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6B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4315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PRINCIPLE · LEAST PRIVILEGE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10520"/>
            <a:ext cx="9156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spc="-50" kern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user, role and service gets only the permissions its job needs.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999235"/>
            <a:ext cx="719455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with nothing, add what the task requires, review often. A leaked key that can only read one bucket does limited damage; a leaked admin key can do anything.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IDENTITY AND ACCESS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Creating IAM Users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28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console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166615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8400" y="2192015"/>
            <a:ext cx="3662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IAM → User groups → create Developers; attach AmazonS3ReadOnlyAccess.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733055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8400" y="2758455"/>
            <a:ext cx="3662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IAM → Users → create dev-asha with console access.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299470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8400" y="3324870"/>
            <a:ext cx="3662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a temporary password; require a new one at first sign-in.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865885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8400" y="3891285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dev-asha to the Developers group.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4229100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68400" y="4254500"/>
            <a:ext cx="3662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the account's sign-in URL; ask the user to set up MFA.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4909815"/>
            <a:ext cx="3911600" cy="868680"/>
          </a:xfrm>
          <a:prstGeom prst="roundRect">
            <a:avLst>
              <a:gd name="adj" fmla="val 8772"/>
            </a:avLst>
          </a:prstGeom>
          <a:solidFill>
            <a:srgbClr val="E9E6DF"/>
          </a:solidFill>
          <a:ln/>
        </p:spPr>
        <p:txBody>
          <a:bodyPr wrap="square" lIns="130082" tIns="91982" rIns="21878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companies, people usually sign in through IAM Identity Center; IAM users suit labs and service accounts.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803400"/>
            <a:ext cx="6350000" cy="2778760"/>
          </a:xfrm>
          <a:prstGeom prst="roundRect">
            <a:avLst>
              <a:gd name="adj" fmla="val 3656"/>
            </a:avLst>
          </a:prstGeom>
          <a:solidFill>
            <a:srgbClr val="17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5283200" y="2006600"/>
            <a:ext cx="60172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same steps with the AWS CLI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83200" y="2321570"/>
            <a:ext cx="601726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iam create-group --group-name Developers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iam attach-group-policy --group-name Developers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--policy-arn arn:aws:iam::aws:policy/AmazonS3ReadOnlyAccess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iam create-user --user-name dev-asha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iam create-login-profile --user-name dev-asha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--password "$TEMP_PASSWORD" --password-reset-required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iam add-user-to-group --group-name Developers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--user-name dev-asha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aws iam list-groups-for-user --user-name dev-asha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1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HANDS-ON LAB 2 · CLOUD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Lab: Web App Behind a Load Balancer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28800"/>
            <a:ext cx="61219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IAM.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Create a LabAdmins group with PowerUserAccess and your own IAM user with MFA; do the rest of the lab as that user.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9521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420615"/>
            <a:ext cx="61219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EC2.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Launch two web servers in different zones with the user-data script; allow HTTP 80.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8705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3012455"/>
            <a:ext cx="61219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balancer.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Create a target group and an internet-facing ALB; wait until both targets are healthy.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57887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604270"/>
            <a:ext cx="61219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Refresh the ALB's DNS name and see both hostnames; stop one instance and confirm the site stays up.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417068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4196085"/>
            <a:ext cx="61219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Create a bucket, upload your site's images and list them with the AWS CLI.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45593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0800" y="4584700"/>
            <a:ext cx="61219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up.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Delete the ALB and target group, terminate both instances, empty and delete the bucket.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72375" y="1806575"/>
            <a:ext cx="3803650" cy="1831340"/>
          </a:xfrm>
          <a:prstGeom prst="roundRect">
            <a:avLst>
              <a:gd name="adj" fmla="val 5374"/>
            </a:avLst>
          </a:prstGeom>
          <a:solidFill>
            <a:srgbClr val="FCFBF8"/>
          </a:solidFill>
          <a:ln w="6350">
            <a:solidFill>
              <a:srgbClr val="C9DD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7480" y="1986285"/>
            <a:ext cx="349524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 when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7480" y="2338065"/>
            <a:ext cx="34952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targets show Healthy in the target group.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7480" y="2640335"/>
            <a:ext cx="34952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site still loads with one instance stopped.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7480" y="2942605"/>
            <a:ext cx="34952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s3 ls lists your uploaded files.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7480" y="3244850"/>
            <a:ext cx="34952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is left running at the end.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72375" y="3796680"/>
            <a:ext cx="3803650" cy="684530"/>
          </a:xfrm>
          <a:prstGeom prst="roundRect">
            <a:avLst>
              <a:gd name="adj" fmla="val 14378"/>
            </a:avLst>
          </a:prstGeom>
          <a:solidFill>
            <a:srgbClr val="FCFBF8"/>
          </a:solidFill>
          <a:ln w="6350">
            <a:solidFill>
              <a:srgbClr val="C9DDD5"/>
            </a:solidFill>
            <a:prstDash val="solid"/>
          </a:ln>
        </p:spPr>
        <p:txBody>
          <a:bodyPr wrap="square" lIns="150877" tIns="100077" rIns="47550" bIns="74677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Cost: use t3.micro and finish in one session — load balancers and instances bill by the hour.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1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Quick Check: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803400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10.0.5.20 a public or a private address? How can you tell?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280915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280915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an Application Load Balancer need subnets in at least two zones?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00737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300737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storage type suits a database disk on EC2: object, block or file?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7338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B5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73380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app on EC2 must read from S3. Access keys on the server, or an IAM role?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460255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in pairs for two minutes; the answers appear on the next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85000" y="1803400"/>
            <a:ext cx="4394200" cy="2722880"/>
          </a:xfrm>
          <a:prstGeom prst="roundRect">
            <a:avLst>
              <a:gd name="adj" fmla="val 3731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0" y="2057400"/>
            <a:ext cx="4002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0" y="239777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397770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Private: it falls inside 10.0.0.0/8, a range reserved for private networks.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0" y="295148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2951485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the site survives a zone failure; AWS requires two or more zones for an ALB.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0" y="350520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505200"/>
            <a:ext cx="3688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 storage: an Amazon EBS volume.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39000" y="384557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845570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IAM role: temporary credentials, nothing secret stored on the server.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1 · Linux and Cloud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1 · SUMMARY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1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57390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685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1948185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Linux essentials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80000" y="1993900"/>
            <a:ext cx="64881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Navigate the file system, manage processes and control services with systemctl.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36029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52221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24000" y="2501900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Permissions and logs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80000" y="2547615"/>
            <a:ext cx="64881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and set permissions and ownership; find answers in /var/log and journalctl.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91403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07595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4000" y="3055615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 apps on AWS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80000" y="3101355"/>
            <a:ext cx="64881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an EC2 web server, reason about IP addresses and balance traffic with an ALB.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46774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62967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" y="3609355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storage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80000" y="3655070"/>
            <a:ext cx="64881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object, block or file storage; create S3 buckets and store data in them.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02146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18338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D3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24000" y="4163070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and access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80000" y="4208785"/>
            <a:ext cx="64881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users, groups, roles and policies to grant least privilege.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ET217 Module 1 — Linux and Cloud Fundamentals">
  <a:themeElements>
    <a:clrScheme name="CSET217 Module 1 — Linux and Cloud Fundamentals">
      <a:dk1>
        <a:srgbClr val="121C25"/>
      </a:dk1>
      <a:lt1>
        <a:srgbClr val="F5F3EE"/>
      </a:lt1>
      <a:dk2>
        <a:srgbClr val="4B5257"/>
      </a:dk2>
      <a:lt2>
        <a:srgbClr val="DEDEDA"/>
      </a:lt2>
      <a:accent1>
        <a:srgbClr val="0B6B59"/>
      </a:accent1>
      <a:accent2>
        <a:srgbClr val="5FD3B6"/>
      </a:accent2>
      <a:accent3>
        <a:srgbClr val="3B4752"/>
      </a:accent3>
      <a:accent4>
        <a:srgbClr val="56626C"/>
      </a:accent4>
      <a:accent5>
        <a:srgbClr val="C9D2D9"/>
      </a:accent5>
      <a:accent6>
        <a:srgbClr val="93A2AE"/>
      </a:accent6>
      <a:hlink>
        <a:srgbClr val="0563C1"/>
      </a:hlink>
      <a:folHlink>
        <a:srgbClr val="954F72"/>
      </a:folHlink>
    </a:clrScheme>
    <a:fontScheme name="CSET217 Module 1 — Linux and Cloud Fundamentals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CSET217 Module 1 — Linux and Cloud Fundamentals</dc:title>
  <dc:subject/>
  <dc:creator/>
  <cp:lastModifiedBy/>
  <cp:revision>1</cp:revision>
  <dcterms:created xsi:type="dcterms:W3CDTF">2026-10-06T04:42:10Z</dcterms:created>
  <dcterms:modified xsi:type="dcterms:W3CDTF">2026-10-06T04:42:10Z</dcterms:modified>
</cp:coreProperties>
</file>