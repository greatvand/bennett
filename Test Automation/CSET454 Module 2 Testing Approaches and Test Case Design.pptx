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Not at the UI level yet. The screen is unstable, so UI scripts would need rework every day. Cover the combo pricing logic with unit tests now, explore the screen manually, and automate UI checks once the design settles. Q2: Unit tests at the base, integration or API tests in the middle, UI or end-to-end tests at the top. The unit layer should hold the most tests because they are fast, cheap to maintain and point straight at the failing function. Q3: Independent. The test relies on state left behind by another test. Each test should create its own data, for example with a pytest fixture. Q4: Yes. delivery_fee(250) runs every statement but never takes the False path of "if total &gt;= 200". A second test with a total below 200, such as delivery_fee(150) == 20, covers the missing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A stub. Checkout calls the payment module, so a stub stands in for the missing called module and returns canned responses such as "success" or "declined". A driver would be needed only if the module that calls Checkout were missing. Q2: (a) unit testing; (b) integration testing, specifically component integration; (c) system testing; (d) acceptance testing, in the form of beta testing. Q3: Advantage: no stubs or drivers are needed, and it is simple for a small system. Drawback: when a test fails it is hard to tell which interface caused it, and testing starts late because everything must be ready first. Q4: Validation. Acceptance testing answers it, because it checks the system against user and business needs rather than against the written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The smoke suite, which runs right after the deploy to test. The build is rejected and sent back to development; no further testing happens until a fixed build passes smoke. Q2: First re-testing, also called confirmation or sanity testing: check that an 800-rupee order now gets exactly 100 rupees off, along with the nearby coupon cases. Then regression testing of the unchanged areas, such as cart totals, wallet payment and order status, to make sure the fix broke nothing else. Q3: Any two of: regression test selection, running only the tests linked to the changed code; prioritisation, running the most critical tests first; running tests in parallel; and keeping a fast per-commit subset while the full suite runs nightly. Q4: Re-testing confirms that a specific fixed defect no longer occurs, by rerunning the test that failed. Regression testing checks that the change did not break anything in areas that were not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Length partitions: 7 characters or fewer (invalid), 8 to 16 (valid), 17 or more (invalid). Digit rule: contains at least one digit (valid), contains no digit (invalid). 2: Two-value boundary values for length are 7, 8, 16 and 17 characters. 3: Rules: length valid and has a digit, accept; length valid but no digit, reject with "add at least one digit"; length invalid, reject with "use 8 to 16 characters", whatever the digit condition, a don't-care that merges two rules. 4: Example: TC-P01, "Accept a valid password". Precondition: the registration page is open. Data: canteen12, which is 9 characters and contains digits. Steps: enter the password, then submit. Expected result: the password is accepted and no error is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(a) The code and its detailed design, such as the function's contract or docstring for apply_coupon(). (b) The business requirements, user stories and acceptance criteria for ordering, plus the canteen's real processes. Q2: For example: "The app supports 300 students placing orders at the same time, with 95% of order requests answered within 2 seconds." Any version with a measurable load and a measurable response target is fine. Q3: A coverage gap: a requirement with no tests. Forward tracing finds it, going from each requirement to its tests. Q4: An orphan test. Either a requirement is missing or undocumented, or the test is obsolete, perhaps for a feature that was removed. The team should confirm with the product owner, then add the requirement to the basis and the RTM, or update or delete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for marking. 1: Unit: the function that checks the wallet balance covers the total. Integration: the payment service against a stubbed wallet API. System: the full order-to-pay flow on staging. Acceptance: students pay with the wallet during a trial lunch week. 2: A good set is login, menu loads, add an item to the cart, checkout shows the total, a test-mode wallet payment, and the new order shows Placed. Each must be fast and cover a critical path. 3: Partitions: below 200 pays the 20 rupee fee, 200 and above is free, and zero or negative totals are invalid. Two-value boundaries: 199 and 200. Login lock: states for zero, one and two failures, plus Locked; a correct password before the third failure resets the count; in Locked even the correct password is refused. 4: With REQ-07 covered, coverage becomes 6 of 7, about 86%, since REQ-06 still has no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slideLayout" Target="../slideLayouts/slideLayout1.xml"/><Relationship Id="rId1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slideLayout" Target="../slideLayouts/slideLayout1.xml"/><Relationship Id="rId1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1.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1.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slideLayout" Target="../slideLayouts/slideLayout1.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02</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CSET454 · TEST AUTOMATION IN DEVOPS</a:t>
            </a:r>
            <a:endParaRPr lang="en-US" sz="1200" dirty="0"/>
          </a:p>
        </p:txBody>
      </p:sp>
      <p:sp>
        <p:nvSpPr>
          <p:cNvPr id="4" name="Text 2"/>
          <p:cNvSpPr/>
          <p:nvPr/>
        </p:nvSpPr>
        <p:spPr>
          <a:xfrm>
            <a:off x="812800" y="3489960"/>
            <a:ext cx="981075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Testing Approaches</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and Test Case Design</a:t>
            </a:r>
            <a:endParaRPr lang="en-US" sz="5600" dirty="0"/>
          </a:p>
        </p:txBody>
      </p:sp>
      <p:sp>
        <p:nvSpPr>
          <p:cNvPr id="5" name="Text 3"/>
          <p:cNvSpPr/>
          <p:nvPr/>
        </p:nvSpPr>
        <p:spPr>
          <a:xfrm>
            <a:off x="812800" y="518668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5CFDB"/>
                </a:solidFill>
                <a:latin typeface="IBM Plex Sans" pitchFamily="34" charset="0"/>
                <a:ea typeface="IBM Plex Sans" pitchFamily="34" charset="-122"/>
                <a:cs typeface="IBM Plex Sans" pitchFamily="34" charset="-120"/>
              </a:rPr>
              <a:t>Module 2 · Lectures 9–13 · 5 contact hours</a:t>
            </a:r>
            <a:endParaRPr lang="en-US" sz="2000" dirty="0"/>
          </a:p>
        </p:txBody>
      </p:sp>
      <p:sp>
        <p:nvSpPr>
          <p:cNvPr id="6" name="Shape 4"/>
          <p:cNvSpPr/>
          <p:nvPr/>
        </p:nvSpPr>
        <p:spPr>
          <a:xfrm>
            <a:off x="815975" y="5723255"/>
            <a:ext cx="1172210" cy="318770"/>
          </a:xfrm>
          <a:prstGeom prst="roundRect">
            <a:avLst>
              <a:gd name="adj" fmla="val 50000"/>
            </a:avLst>
          </a:prstGeom>
          <a:noFill/>
          <a:ln w="6350">
            <a:solidFill>
              <a:srgbClr val="3A5476"/>
            </a:solidFill>
            <a:prstDash val="solid"/>
          </a:ln>
        </p:spPr>
      </p:sp>
      <p:sp>
        <p:nvSpPr>
          <p:cNvPr id="7" name="Text 5"/>
          <p:cNvSpPr/>
          <p:nvPr/>
        </p:nvSpPr>
        <p:spPr>
          <a:xfrm>
            <a:off x="944880" y="5775960"/>
            <a:ext cx="965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Semester V</a:t>
            </a:r>
            <a:endParaRPr lang="en-US" sz="1200" dirty="0"/>
          </a:p>
        </p:txBody>
      </p:sp>
      <p:sp>
        <p:nvSpPr>
          <p:cNvPr id="8" name="Shape 6"/>
          <p:cNvSpPr/>
          <p:nvPr/>
        </p:nvSpPr>
        <p:spPr>
          <a:xfrm>
            <a:off x="2096135" y="5723255"/>
            <a:ext cx="2360930" cy="318770"/>
          </a:xfrm>
          <a:prstGeom prst="roundRect">
            <a:avLst>
              <a:gd name="adj" fmla="val 50000"/>
            </a:avLst>
          </a:prstGeom>
          <a:noFill/>
          <a:ln w="6350">
            <a:solidFill>
              <a:srgbClr val="3A5476"/>
            </a:solidFill>
            <a:prstDash val="solid"/>
          </a:ln>
        </p:spPr>
      </p:sp>
      <p:sp>
        <p:nvSpPr>
          <p:cNvPr id="9" name="Text 7"/>
          <p:cNvSpPr/>
          <p:nvPr/>
        </p:nvSpPr>
        <p:spPr>
          <a:xfrm>
            <a:off x="2225040" y="5775960"/>
            <a:ext cx="21662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Specialisation elective</a:t>
            </a:r>
            <a:endParaRPr lang="en-US" sz="1200" dirty="0"/>
          </a:p>
        </p:txBody>
      </p:sp>
      <p:sp>
        <p:nvSpPr>
          <p:cNvPr id="10" name="Shape 8"/>
          <p:cNvSpPr/>
          <p:nvPr/>
        </p:nvSpPr>
        <p:spPr>
          <a:xfrm>
            <a:off x="4565015" y="5723255"/>
            <a:ext cx="1263650" cy="318770"/>
          </a:xfrm>
          <a:prstGeom prst="roundRect">
            <a:avLst>
              <a:gd name="adj" fmla="val 50000"/>
            </a:avLst>
          </a:prstGeom>
          <a:noFill/>
          <a:ln w="6350">
            <a:solidFill>
              <a:srgbClr val="3A5476"/>
            </a:solidFill>
            <a:prstDash val="solid"/>
          </a:ln>
        </p:spPr>
      </p:sp>
      <p:sp>
        <p:nvSpPr>
          <p:cNvPr id="11" name="Text 9"/>
          <p:cNvSpPr/>
          <p:nvPr/>
        </p:nvSpPr>
        <p:spPr>
          <a:xfrm>
            <a:off x="4693920" y="5775960"/>
            <a:ext cx="1056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L-T-P 2-0-2</a:t>
            </a:r>
            <a:endParaRPr lang="en-US" sz="1200" dirty="0"/>
          </a:p>
        </p:txBody>
      </p:sp>
      <p:sp>
        <p:nvSpPr>
          <p:cNvPr id="12" name="Shape 10"/>
          <p:cNvSpPr/>
          <p:nvPr/>
        </p:nvSpPr>
        <p:spPr>
          <a:xfrm>
            <a:off x="5936615" y="5723255"/>
            <a:ext cx="1080770" cy="318770"/>
          </a:xfrm>
          <a:prstGeom prst="roundRect">
            <a:avLst>
              <a:gd name="adj" fmla="val 50000"/>
            </a:avLst>
          </a:prstGeom>
          <a:noFill/>
          <a:ln w="6350">
            <a:solidFill>
              <a:srgbClr val="3A5476"/>
            </a:solidFill>
            <a:prstDash val="solid"/>
          </a:ln>
        </p:spPr>
      </p:sp>
      <p:sp>
        <p:nvSpPr>
          <p:cNvPr id="13" name="Text 11"/>
          <p:cNvSpPr/>
          <p:nvPr/>
        </p:nvSpPr>
        <p:spPr>
          <a:xfrm>
            <a:off x="6065520" y="5775960"/>
            <a:ext cx="8737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3 credits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2 · ROADMAP</a:t>
            </a:r>
            <a:endParaRPr lang="en-US" sz="1200" dirty="0"/>
          </a:p>
        </p:txBody>
      </p:sp>
      <p:sp>
        <p:nvSpPr>
          <p:cNvPr id="3" name="Text 1"/>
          <p:cNvSpPr/>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Module 2 at a glance</a:t>
            </a:r>
            <a:endParaRPr lang="en-US" sz="3200" dirty="0"/>
          </a:p>
        </p:txBody>
      </p:sp>
      <p:sp>
        <p:nvSpPr>
          <p:cNvPr id="4" name="Shape 2"/>
          <p:cNvSpPr/>
          <p:nvPr/>
        </p:nvSpPr>
        <p:spPr>
          <a:xfrm>
            <a:off x="812800" y="1831975"/>
            <a:ext cx="1016000" cy="0"/>
          </a:xfrm>
          <a:prstGeom prst="line">
            <a:avLst/>
          </a:prstGeom>
          <a:noFill/>
          <a:ln w="6350">
            <a:solidFill>
              <a:srgbClr val="DDD8CC"/>
            </a:solidFill>
            <a:prstDash val="solid"/>
          </a:ln>
        </p:spPr>
      </p:sp>
      <p:sp>
        <p:nvSpPr>
          <p:cNvPr id="5" name="Text 3"/>
          <p:cNvSpPr/>
          <p:nvPr/>
        </p:nvSpPr>
        <p:spPr>
          <a:xfrm>
            <a:off x="812800" y="19227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L9</a:t>
            </a:r>
            <a:endParaRPr lang="en-US" sz="2000" dirty="0"/>
          </a:p>
        </p:txBody>
      </p:sp>
      <p:sp>
        <p:nvSpPr>
          <p:cNvPr id="6" name="Shape 4"/>
          <p:cNvSpPr/>
          <p:nvPr/>
        </p:nvSpPr>
        <p:spPr>
          <a:xfrm>
            <a:off x="1828800" y="1831975"/>
            <a:ext cx="3183414" cy="0"/>
          </a:xfrm>
          <a:prstGeom prst="line">
            <a:avLst/>
          </a:prstGeom>
          <a:noFill/>
          <a:ln w="6350">
            <a:solidFill>
              <a:srgbClr val="DDD8CC"/>
            </a:solidFill>
            <a:prstDash val="solid"/>
          </a:ln>
        </p:spPr>
      </p:sp>
      <p:sp>
        <p:nvSpPr>
          <p:cNvPr id="7" name="Text 5"/>
          <p:cNvSpPr/>
          <p:nvPr/>
        </p:nvSpPr>
        <p:spPr>
          <a:xfrm>
            <a:off x="1828800" y="1960880"/>
            <a:ext cx="124999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Manual testing</a:t>
            </a:r>
            <a:endParaRPr lang="en-US" sz="1400" dirty="0"/>
          </a:p>
        </p:txBody>
      </p:sp>
      <p:sp>
        <p:nvSpPr>
          <p:cNvPr id="8" name="Text 6"/>
          <p:cNvSpPr/>
          <p:nvPr/>
        </p:nvSpPr>
        <p:spPr>
          <a:xfrm>
            <a:off x="3104198" y="19862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10 min</a:t>
            </a:r>
            <a:endParaRPr lang="en-US" sz="1200" dirty="0"/>
          </a:p>
        </p:txBody>
      </p:sp>
      <p:sp>
        <p:nvSpPr>
          <p:cNvPr id="9" name="Shape 7"/>
          <p:cNvSpPr/>
          <p:nvPr/>
        </p:nvSpPr>
        <p:spPr>
          <a:xfrm>
            <a:off x="5012214" y="1831975"/>
            <a:ext cx="3183493" cy="0"/>
          </a:xfrm>
          <a:prstGeom prst="line">
            <a:avLst/>
          </a:prstGeom>
          <a:noFill/>
          <a:ln w="6350">
            <a:solidFill>
              <a:srgbClr val="DDD8CC"/>
            </a:solidFill>
            <a:prstDash val="solid"/>
          </a:ln>
        </p:spPr>
      </p:sp>
      <p:sp>
        <p:nvSpPr>
          <p:cNvPr id="10" name="Text 8"/>
          <p:cNvSpPr/>
          <p:nvPr/>
        </p:nvSpPr>
        <p:spPr>
          <a:xfrm>
            <a:off x="5012214" y="1960880"/>
            <a:ext cx="160662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Automation testing</a:t>
            </a:r>
            <a:endParaRPr lang="en-US" sz="1400" dirty="0"/>
          </a:p>
        </p:txBody>
      </p:sp>
      <p:sp>
        <p:nvSpPr>
          <p:cNvPr id="11" name="Text 9"/>
          <p:cNvSpPr/>
          <p:nvPr/>
        </p:nvSpPr>
        <p:spPr>
          <a:xfrm>
            <a:off x="6644243" y="19862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10 min</a:t>
            </a:r>
            <a:endParaRPr lang="en-US" sz="1200" dirty="0"/>
          </a:p>
        </p:txBody>
      </p:sp>
      <p:sp>
        <p:nvSpPr>
          <p:cNvPr id="12" name="Shape 10"/>
          <p:cNvSpPr/>
          <p:nvPr/>
        </p:nvSpPr>
        <p:spPr>
          <a:xfrm>
            <a:off x="8195707" y="1831975"/>
            <a:ext cx="3183493" cy="0"/>
          </a:xfrm>
          <a:prstGeom prst="line">
            <a:avLst/>
          </a:prstGeom>
          <a:noFill/>
          <a:ln w="6350">
            <a:solidFill>
              <a:srgbClr val="DDD8CC"/>
            </a:solidFill>
            <a:prstDash val="solid"/>
          </a:ln>
        </p:spPr>
      </p:sp>
      <p:sp>
        <p:nvSpPr>
          <p:cNvPr id="13" name="Text 11"/>
          <p:cNvSpPr/>
          <p:nvPr/>
        </p:nvSpPr>
        <p:spPr>
          <a:xfrm>
            <a:off x="8195707" y="1960880"/>
            <a:ext cx="98988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Unit testing</a:t>
            </a:r>
            <a:endParaRPr lang="en-US" sz="1400" dirty="0"/>
          </a:p>
        </p:txBody>
      </p:sp>
      <p:sp>
        <p:nvSpPr>
          <p:cNvPr id="14" name="Text 12"/>
          <p:cNvSpPr/>
          <p:nvPr/>
        </p:nvSpPr>
        <p:spPr>
          <a:xfrm>
            <a:off x="9210993" y="19862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15" name="Shape 13"/>
          <p:cNvSpPr/>
          <p:nvPr/>
        </p:nvSpPr>
        <p:spPr>
          <a:xfrm>
            <a:off x="812800" y="2339975"/>
            <a:ext cx="1016000" cy="0"/>
          </a:xfrm>
          <a:prstGeom prst="line">
            <a:avLst/>
          </a:prstGeom>
          <a:noFill/>
          <a:ln w="6350">
            <a:solidFill>
              <a:srgbClr val="DDD8CC"/>
            </a:solidFill>
            <a:prstDash val="solid"/>
          </a:ln>
        </p:spPr>
      </p:sp>
      <p:sp>
        <p:nvSpPr>
          <p:cNvPr id="16" name="Text 14"/>
          <p:cNvSpPr/>
          <p:nvPr/>
        </p:nvSpPr>
        <p:spPr>
          <a:xfrm>
            <a:off x="812800" y="24307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L10</a:t>
            </a:r>
            <a:endParaRPr lang="en-US" sz="2000" dirty="0"/>
          </a:p>
        </p:txBody>
      </p:sp>
      <p:sp>
        <p:nvSpPr>
          <p:cNvPr id="17" name="Shape 15"/>
          <p:cNvSpPr/>
          <p:nvPr/>
        </p:nvSpPr>
        <p:spPr>
          <a:xfrm>
            <a:off x="1828800" y="2339975"/>
            <a:ext cx="3183414" cy="0"/>
          </a:xfrm>
          <a:prstGeom prst="line">
            <a:avLst/>
          </a:prstGeom>
          <a:noFill/>
          <a:ln w="6350">
            <a:solidFill>
              <a:srgbClr val="DDD8CC"/>
            </a:solidFill>
            <a:prstDash val="solid"/>
          </a:ln>
        </p:spPr>
      </p:sp>
      <p:sp>
        <p:nvSpPr>
          <p:cNvPr id="18" name="Text 16"/>
          <p:cNvSpPr/>
          <p:nvPr/>
        </p:nvSpPr>
        <p:spPr>
          <a:xfrm>
            <a:off x="1828800" y="2468880"/>
            <a:ext cx="156710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Integration testing</a:t>
            </a:r>
            <a:endParaRPr lang="en-US" sz="1400" dirty="0"/>
          </a:p>
        </p:txBody>
      </p:sp>
      <p:sp>
        <p:nvSpPr>
          <p:cNvPr id="19" name="Text 17"/>
          <p:cNvSpPr/>
          <p:nvPr/>
        </p:nvSpPr>
        <p:spPr>
          <a:xfrm>
            <a:off x="3421301" y="24942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15 min</a:t>
            </a:r>
            <a:endParaRPr lang="en-US" sz="1200" dirty="0"/>
          </a:p>
        </p:txBody>
      </p:sp>
      <p:sp>
        <p:nvSpPr>
          <p:cNvPr id="20" name="Shape 18"/>
          <p:cNvSpPr/>
          <p:nvPr/>
        </p:nvSpPr>
        <p:spPr>
          <a:xfrm>
            <a:off x="5012214" y="2339975"/>
            <a:ext cx="3183493" cy="0"/>
          </a:xfrm>
          <a:prstGeom prst="line">
            <a:avLst/>
          </a:prstGeom>
          <a:noFill/>
          <a:ln w="6350">
            <a:solidFill>
              <a:srgbClr val="DDD8CC"/>
            </a:solidFill>
            <a:prstDash val="solid"/>
          </a:ln>
        </p:spPr>
      </p:sp>
      <p:sp>
        <p:nvSpPr>
          <p:cNvPr id="21" name="Text 19"/>
          <p:cNvSpPr/>
          <p:nvPr/>
        </p:nvSpPr>
        <p:spPr>
          <a:xfrm>
            <a:off x="5012214" y="2468880"/>
            <a:ext cx="12559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System testing</a:t>
            </a:r>
            <a:endParaRPr lang="en-US" sz="1400" dirty="0"/>
          </a:p>
        </p:txBody>
      </p:sp>
      <p:sp>
        <p:nvSpPr>
          <p:cNvPr id="22" name="Text 20"/>
          <p:cNvSpPr/>
          <p:nvPr/>
        </p:nvSpPr>
        <p:spPr>
          <a:xfrm>
            <a:off x="6293564" y="24942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15 min</a:t>
            </a:r>
            <a:endParaRPr lang="en-US" sz="1200" dirty="0"/>
          </a:p>
        </p:txBody>
      </p:sp>
      <p:sp>
        <p:nvSpPr>
          <p:cNvPr id="23" name="Shape 21"/>
          <p:cNvSpPr/>
          <p:nvPr/>
        </p:nvSpPr>
        <p:spPr>
          <a:xfrm>
            <a:off x="8195707" y="2339975"/>
            <a:ext cx="3183493" cy="0"/>
          </a:xfrm>
          <a:prstGeom prst="line">
            <a:avLst/>
          </a:prstGeom>
          <a:noFill/>
          <a:ln w="6350">
            <a:solidFill>
              <a:srgbClr val="DDD8CC"/>
            </a:solidFill>
            <a:prstDash val="solid"/>
          </a:ln>
        </p:spPr>
      </p:sp>
      <p:sp>
        <p:nvSpPr>
          <p:cNvPr id="24" name="Text 22"/>
          <p:cNvSpPr/>
          <p:nvPr/>
        </p:nvSpPr>
        <p:spPr>
          <a:xfrm>
            <a:off x="8195707" y="2468880"/>
            <a:ext cx="16059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Acceptance testing</a:t>
            </a:r>
            <a:endParaRPr lang="en-US" sz="1400" dirty="0"/>
          </a:p>
        </p:txBody>
      </p:sp>
      <p:sp>
        <p:nvSpPr>
          <p:cNvPr id="25" name="Text 23"/>
          <p:cNvSpPr/>
          <p:nvPr/>
        </p:nvSpPr>
        <p:spPr>
          <a:xfrm>
            <a:off x="9827102" y="24942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10 min</a:t>
            </a:r>
            <a:endParaRPr lang="en-US" sz="1200" dirty="0"/>
          </a:p>
        </p:txBody>
      </p:sp>
      <p:sp>
        <p:nvSpPr>
          <p:cNvPr id="26" name="Shape 24"/>
          <p:cNvSpPr/>
          <p:nvPr/>
        </p:nvSpPr>
        <p:spPr>
          <a:xfrm>
            <a:off x="812800" y="2847975"/>
            <a:ext cx="1016000" cy="0"/>
          </a:xfrm>
          <a:prstGeom prst="line">
            <a:avLst/>
          </a:prstGeom>
          <a:noFill/>
          <a:ln w="6350">
            <a:solidFill>
              <a:srgbClr val="DDD8CC"/>
            </a:solidFill>
            <a:prstDash val="solid"/>
          </a:ln>
        </p:spPr>
      </p:sp>
      <p:sp>
        <p:nvSpPr>
          <p:cNvPr id="27" name="Text 25"/>
          <p:cNvSpPr/>
          <p:nvPr/>
        </p:nvSpPr>
        <p:spPr>
          <a:xfrm>
            <a:off x="812800" y="29387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L11</a:t>
            </a:r>
            <a:endParaRPr lang="en-US" sz="2000" dirty="0"/>
          </a:p>
        </p:txBody>
      </p:sp>
      <p:sp>
        <p:nvSpPr>
          <p:cNvPr id="28" name="Shape 26"/>
          <p:cNvSpPr/>
          <p:nvPr/>
        </p:nvSpPr>
        <p:spPr>
          <a:xfrm>
            <a:off x="1828800" y="2847975"/>
            <a:ext cx="3183414" cy="0"/>
          </a:xfrm>
          <a:prstGeom prst="line">
            <a:avLst/>
          </a:prstGeom>
          <a:noFill/>
          <a:ln w="6350">
            <a:solidFill>
              <a:srgbClr val="DDD8CC"/>
            </a:solidFill>
            <a:prstDash val="solid"/>
          </a:ln>
        </p:spPr>
      </p:sp>
      <p:sp>
        <p:nvSpPr>
          <p:cNvPr id="29" name="Text 27"/>
          <p:cNvSpPr/>
          <p:nvPr/>
        </p:nvSpPr>
        <p:spPr>
          <a:xfrm>
            <a:off x="1828800" y="2976880"/>
            <a:ext cx="180910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Smoke–sanity testing</a:t>
            </a:r>
            <a:endParaRPr lang="en-US" sz="1400" dirty="0"/>
          </a:p>
        </p:txBody>
      </p:sp>
      <p:sp>
        <p:nvSpPr>
          <p:cNvPr id="30" name="Text 28"/>
          <p:cNvSpPr/>
          <p:nvPr/>
        </p:nvSpPr>
        <p:spPr>
          <a:xfrm>
            <a:off x="3661410" y="30022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31" name="Shape 29"/>
          <p:cNvSpPr/>
          <p:nvPr/>
        </p:nvSpPr>
        <p:spPr>
          <a:xfrm>
            <a:off x="5012214" y="2847975"/>
            <a:ext cx="3183493" cy="0"/>
          </a:xfrm>
          <a:prstGeom prst="line">
            <a:avLst/>
          </a:prstGeom>
          <a:noFill/>
          <a:ln w="6350">
            <a:solidFill>
              <a:srgbClr val="DDD8CC"/>
            </a:solidFill>
            <a:prstDash val="solid"/>
          </a:ln>
        </p:spPr>
      </p:sp>
      <p:sp>
        <p:nvSpPr>
          <p:cNvPr id="32" name="Text 30"/>
          <p:cNvSpPr/>
          <p:nvPr/>
        </p:nvSpPr>
        <p:spPr>
          <a:xfrm>
            <a:off x="5012214" y="2976880"/>
            <a:ext cx="155170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Regression testing</a:t>
            </a:r>
            <a:endParaRPr lang="en-US" sz="1400" dirty="0"/>
          </a:p>
        </p:txBody>
      </p:sp>
      <p:sp>
        <p:nvSpPr>
          <p:cNvPr id="33" name="Text 31"/>
          <p:cNvSpPr/>
          <p:nvPr/>
        </p:nvSpPr>
        <p:spPr>
          <a:xfrm>
            <a:off x="6589316" y="30022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34" name="Shape 32"/>
          <p:cNvSpPr/>
          <p:nvPr/>
        </p:nvSpPr>
        <p:spPr>
          <a:xfrm>
            <a:off x="8195707" y="2847975"/>
            <a:ext cx="3183493" cy="0"/>
          </a:xfrm>
          <a:prstGeom prst="line">
            <a:avLst/>
          </a:prstGeom>
          <a:noFill/>
          <a:ln w="6350">
            <a:solidFill>
              <a:srgbClr val="DDD8CC"/>
            </a:solidFill>
            <a:prstDash val="solid"/>
          </a:ln>
        </p:spPr>
      </p:sp>
      <p:sp>
        <p:nvSpPr>
          <p:cNvPr id="35" name="Shape 33"/>
          <p:cNvSpPr/>
          <p:nvPr/>
        </p:nvSpPr>
        <p:spPr>
          <a:xfrm>
            <a:off x="812800" y="3355975"/>
            <a:ext cx="1016000" cy="0"/>
          </a:xfrm>
          <a:prstGeom prst="line">
            <a:avLst/>
          </a:prstGeom>
          <a:noFill/>
          <a:ln w="6350">
            <a:solidFill>
              <a:srgbClr val="DDD8CC"/>
            </a:solidFill>
            <a:prstDash val="solid"/>
          </a:ln>
        </p:spPr>
      </p:sp>
      <p:sp>
        <p:nvSpPr>
          <p:cNvPr id="36" name="Text 34"/>
          <p:cNvSpPr/>
          <p:nvPr/>
        </p:nvSpPr>
        <p:spPr>
          <a:xfrm>
            <a:off x="812800" y="34467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L12</a:t>
            </a:r>
            <a:endParaRPr lang="en-US" sz="2000" dirty="0"/>
          </a:p>
        </p:txBody>
      </p:sp>
      <p:sp>
        <p:nvSpPr>
          <p:cNvPr id="37" name="Shape 35"/>
          <p:cNvSpPr/>
          <p:nvPr/>
        </p:nvSpPr>
        <p:spPr>
          <a:xfrm>
            <a:off x="1828800" y="3355975"/>
            <a:ext cx="3183414" cy="0"/>
          </a:xfrm>
          <a:prstGeom prst="line">
            <a:avLst/>
          </a:prstGeom>
          <a:noFill/>
          <a:ln w="6350">
            <a:solidFill>
              <a:srgbClr val="DDD8CC"/>
            </a:solidFill>
            <a:prstDash val="solid"/>
          </a:ln>
        </p:spPr>
      </p:sp>
      <p:sp>
        <p:nvSpPr>
          <p:cNvPr id="38" name="Text 36"/>
          <p:cNvSpPr/>
          <p:nvPr/>
        </p:nvSpPr>
        <p:spPr>
          <a:xfrm>
            <a:off x="1828800" y="3484880"/>
            <a:ext cx="112585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 scenario</a:t>
            </a:r>
            <a:endParaRPr lang="en-US" sz="1400" dirty="0"/>
          </a:p>
        </p:txBody>
      </p:sp>
      <p:sp>
        <p:nvSpPr>
          <p:cNvPr id="39" name="Text 37"/>
          <p:cNvSpPr/>
          <p:nvPr/>
        </p:nvSpPr>
        <p:spPr>
          <a:xfrm>
            <a:off x="2980055" y="35102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40" name="Shape 38"/>
          <p:cNvSpPr/>
          <p:nvPr/>
        </p:nvSpPr>
        <p:spPr>
          <a:xfrm>
            <a:off x="5012214" y="3355975"/>
            <a:ext cx="3183493" cy="0"/>
          </a:xfrm>
          <a:prstGeom prst="line">
            <a:avLst/>
          </a:prstGeom>
          <a:noFill/>
          <a:ln w="6350">
            <a:solidFill>
              <a:srgbClr val="DDD8CC"/>
            </a:solidFill>
            <a:prstDash val="solid"/>
          </a:ln>
        </p:spPr>
      </p:sp>
      <p:sp>
        <p:nvSpPr>
          <p:cNvPr id="41" name="Text 39"/>
          <p:cNvSpPr/>
          <p:nvPr/>
        </p:nvSpPr>
        <p:spPr>
          <a:xfrm>
            <a:off x="5012214" y="3484880"/>
            <a:ext cx="13881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 case design</a:t>
            </a:r>
            <a:endParaRPr lang="en-US" sz="1400" dirty="0"/>
          </a:p>
        </p:txBody>
      </p:sp>
      <p:sp>
        <p:nvSpPr>
          <p:cNvPr id="42" name="Text 40"/>
          <p:cNvSpPr/>
          <p:nvPr/>
        </p:nvSpPr>
        <p:spPr>
          <a:xfrm>
            <a:off x="6425803" y="35102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43" name="Shape 41"/>
          <p:cNvSpPr/>
          <p:nvPr/>
        </p:nvSpPr>
        <p:spPr>
          <a:xfrm>
            <a:off x="8195707" y="3355975"/>
            <a:ext cx="3183493" cy="0"/>
          </a:xfrm>
          <a:prstGeom prst="line">
            <a:avLst/>
          </a:prstGeom>
          <a:noFill/>
          <a:ln w="6350">
            <a:solidFill>
              <a:srgbClr val="DDD8CC"/>
            </a:solidFill>
            <a:prstDash val="solid"/>
          </a:ln>
        </p:spPr>
      </p:sp>
      <p:sp>
        <p:nvSpPr>
          <p:cNvPr id="44" name="Shape 42"/>
          <p:cNvSpPr/>
          <p:nvPr/>
        </p:nvSpPr>
        <p:spPr>
          <a:xfrm>
            <a:off x="812800" y="3863975"/>
            <a:ext cx="1016000" cy="0"/>
          </a:xfrm>
          <a:prstGeom prst="line">
            <a:avLst/>
          </a:prstGeom>
          <a:noFill/>
          <a:ln w="6350">
            <a:solidFill>
              <a:srgbClr val="DDD8CC"/>
            </a:solidFill>
            <a:prstDash val="solid"/>
          </a:ln>
        </p:spPr>
      </p:sp>
      <p:sp>
        <p:nvSpPr>
          <p:cNvPr id="45" name="Text 43"/>
          <p:cNvSpPr/>
          <p:nvPr/>
        </p:nvSpPr>
        <p:spPr>
          <a:xfrm>
            <a:off x="812800" y="39547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L13</a:t>
            </a:r>
            <a:endParaRPr lang="en-US" sz="2000" dirty="0"/>
          </a:p>
        </p:txBody>
      </p:sp>
      <p:sp>
        <p:nvSpPr>
          <p:cNvPr id="46" name="Shape 44"/>
          <p:cNvSpPr/>
          <p:nvPr/>
        </p:nvSpPr>
        <p:spPr>
          <a:xfrm>
            <a:off x="1828800" y="3863975"/>
            <a:ext cx="3183414" cy="0"/>
          </a:xfrm>
          <a:prstGeom prst="line">
            <a:avLst/>
          </a:prstGeom>
          <a:noFill/>
          <a:ln w="6350">
            <a:solidFill>
              <a:srgbClr val="DDD8CC"/>
            </a:solidFill>
            <a:prstDash val="solid"/>
          </a:ln>
        </p:spPr>
      </p:sp>
      <p:sp>
        <p:nvSpPr>
          <p:cNvPr id="47" name="Text 45"/>
          <p:cNvSpPr/>
          <p:nvPr/>
        </p:nvSpPr>
        <p:spPr>
          <a:xfrm>
            <a:off x="1828800" y="3992880"/>
            <a:ext cx="85955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 basis</a:t>
            </a:r>
            <a:endParaRPr lang="en-US" sz="1400" dirty="0"/>
          </a:p>
        </p:txBody>
      </p:sp>
      <p:sp>
        <p:nvSpPr>
          <p:cNvPr id="48" name="Text 46"/>
          <p:cNvSpPr/>
          <p:nvPr/>
        </p:nvSpPr>
        <p:spPr>
          <a:xfrm>
            <a:off x="2713752" y="40182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49" name="Shape 47"/>
          <p:cNvSpPr/>
          <p:nvPr/>
        </p:nvSpPr>
        <p:spPr>
          <a:xfrm>
            <a:off x="5012214" y="3863975"/>
            <a:ext cx="3183493" cy="0"/>
          </a:xfrm>
          <a:prstGeom prst="line">
            <a:avLst/>
          </a:prstGeom>
          <a:noFill/>
          <a:ln w="6350">
            <a:solidFill>
              <a:srgbClr val="DDD8CC"/>
            </a:solidFill>
            <a:prstDash val="solid"/>
          </a:ln>
        </p:spPr>
      </p:sp>
      <p:sp>
        <p:nvSpPr>
          <p:cNvPr id="50" name="Text 48"/>
          <p:cNvSpPr/>
          <p:nvPr/>
        </p:nvSpPr>
        <p:spPr>
          <a:xfrm>
            <a:off x="5012214" y="3992880"/>
            <a:ext cx="157218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Traceability matrix</a:t>
            </a:r>
            <a:endParaRPr lang="en-US" sz="1400" dirty="0"/>
          </a:p>
        </p:txBody>
      </p:sp>
      <p:sp>
        <p:nvSpPr>
          <p:cNvPr id="51" name="Text 49"/>
          <p:cNvSpPr/>
          <p:nvPr/>
        </p:nvSpPr>
        <p:spPr>
          <a:xfrm>
            <a:off x="6609794" y="40182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52" name="Shape 50"/>
          <p:cNvSpPr/>
          <p:nvPr/>
        </p:nvSpPr>
        <p:spPr>
          <a:xfrm>
            <a:off x="8195707" y="3863975"/>
            <a:ext cx="3183493" cy="0"/>
          </a:xfrm>
          <a:prstGeom prst="line">
            <a:avLst/>
          </a:prstGeom>
          <a:noFill/>
          <a:ln w="6350">
            <a:solidFill>
              <a:srgbClr val="DDD8CC"/>
            </a:solidFill>
            <a:prstDash val="solid"/>
          </a:ln>
        </p:spPr>
      </p:sp>
      <p:sp>
        <p:nvSpPr>
          <p:cNvPr id="53" name="Shape 51"/>
          <p:cNvSpPr/>
          <p:nvPr/>
        </p:nvSpPr>
        <p:spPr>
          <a:xfrm>
            <a:off x="812800" y="4371975"/>
            <a:ext cx="10566400" cy="0"/>
          </a:xfrm>
          <a:prstGeom prst="line">
            <a:avLst/>
          </a:prstGeom>
          <a:noFill/>
          <a:ln w="6350">
            <a:solidFill>
              <a:srgbClr val="DDD8CC"/>
            </a:solidFill>
            <a:prstDash val="solid"/>
          </a:ln>
        </p:spPr>
      </p:sp>
      <p:sp>
        <p:nvSpPr>
          <p:cNvPr id="54" name="Shape 52"/>
          <p:cNvSpPr/>
          <p:nvPr/>
        </p:nvSpPr>
        <p:spPr>
          <a:xfrm>
            <a:off x="815975" y="4631055"/>
            <a:ext cx="5175250" cy="1121410"/>
          </a:xfrm>
          <a:prstGeom prst="roundRect">
            <a:avLst>
              <a:gd name="adj" fmla="val 6512"/>
            </a:avLst>
          </a:prstGeom>
          <a:solidFill>
            <a:srgbClr val="FCFBF7"/>
          </a:solidFill>
          <a:ln w="6350">
            <a:solidFill>
              <a:srgbClr val="DDD8CC"/>
            </a:solidFill>
            <a:prstDash val="solid"/>
          </a:ln>
        </p:spPr>
      </p:sp>
      <p:sp>
        <p:nvSpPr>
          <p:cNvPr id="55" name="Text 53"/>
          <p:cNvSpPr/>
          <p:nvPr/>
        </p:nvSpPr>
        <p:spPr>
          <a:xfrm>
            <a:off x="1021080" y="481076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BUILDS ON MODULE 1</a:t>
            </a:r>
            <a:endParaRPr lang="en-US" sz="1200" dirty="0"/>
          </a:p>
        </p:txBody>
      </p:sp>
      <p:sp>
        <p:nvSpPr>
          <p:cNvPr id="56" name="Text 54"/>
          <p:cNvSpPr/>
          <p:nvPr/>
        </p:nvSpPr>
        <p:spPr>
          <a:xfrm>
            <a:off x="1021080" y="5074920"/>
            <a:ext cx="490799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Testing principles, SDLC vs STLC, and functional and non-functional testing types</a:t>
            </a:r>
            <a:endParaRPr lang="en-US" sz="1400" dirty="0"/>
          </a:p>
        </p:txBody>
      </p:sp>
      <p:sp>
        <p:nvSpPr>
          <p:cNvPr id="57" name="Shape 55"/>
          <p:cNvSpPr/>
          <p:nvPr/>
        </p:nvSpPr>
        <p:spPr>
          <a:xfrm>
            <a:off x="6200775" y="4631055"/>
            <a:ext cx="5175250" cy="1121410"/>
          </a:xfrm>
          <a:prstGeom prst="roundRect">
            <a:avLst>
              <a:gd name="adj" fmla="val 6512"/>
            </a:avLst>
          </a:prstGeom>
          <a:solidFill>
            <a:srgbClr val="FCFBF7"/>
          </a:solidFill>
          <a:ln w="6350">
            <a:solidFill>
              <a:srgbClr val="DDD8CC"/>
            </a:solidFill>
            <a:prstDash val="solid"/>
          </a:ln>
        </p:spPr>
      </p:sp>
      <p:sp>
        <p:nvSpPr>
          <p:cNvPr id="58" name="Text 56"/>
          <p:cNvSpPr/>
          <p:nvPr/>
        </p:nvSpPr>
        <p:spPr>
          <a:xfrm>
            <a:off x="6405880" y="481076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LEADS INTO MODULE 3</a:t>
            </a:r>
            <a:endParaRPr lang="en-US" sz="1200" dirty="0"/>
          </a:p>
        </p:txBody>
      </p:sp>
      <p:sp>
        <p:nvSpPr>
          <p:cNvPr id="59" name="Text 57"/>
          <p:cNvSpPr/>
          <p:nvPr/>
        </p:nvSpPr>
        <p:spPr>
          <a:xfrm>
            <a:off x="6405880" y="5074920"/>
            <a:ext cx="490799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Automation types and tools: Selenium WebDriver, pytest, Postman and the Page Object Model</a:t>
            </a:r>
            <a:endParaRPr lang="en-US" sz="1400" dirty="0"/>
          </a:p>
        </p:txBody>
      </p:sp>
      <p:sp>
        <p:nvSpPr>
          <p:cNvPr id="60" name="Text 58"/>
          <p:cNvSpPr/>
          <p:nvPr/>
        </p:nvSpPr>
        <p:spPr>
          <a:xfrm>
            <a:off x="812800" y="6238241"/>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61" name="Text 59"/>
          <p:cNvSpPr/>
          <p:nvPr/>
        </p:nvSpPr>
        <p:spPr>
          <a:xfrm>
            <a:off x="8989695" y="6238241"/>
            <a:ext cx="24611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Minutes from the lecture-wise plan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2 · LEARNING OUTCOMES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Learning outcomes</a:t>
            </a:r>
            <a:endParaRPr lang="en-US" sz="3200" dirty="0"/>
          </a:p>
        </p:txBody>
      </p:sp>
      <p:sp>
        <p:nvSpPr>
          <p:cNvPr id="4" name="Shape 2"/>
          <p:cNvSpPr/>
          <p:nvPr/>
        </p:nvSpPr>
        <p:spPr>
          <a:xfrm>
            <a:off x="812800" y="1831975"/>
            <a:ext cx="10566400" cy="0"/>
          </a:xfrm>
          <a:prstGeom prst="line">
            <a:avLst/>
          </a:prstGeom>
          <a:noFill/>
          <a:ln w="6350">
            <a:solidFill>
              <a:srgbClr val="DDD8CC"/>
            </a:solidFill>
            <a:prstDash val="solid"/>
          </a:ln>
        </p:spPr>
      </p:sp>
      <p:sp>
        <p:nvSpPr>
          <p:cNvPr id="5" name="Text 3"/>
          <p:cNvSpPr/>
          <p:nvPr/>
        </p:nvSpPr>
        <p:spPr>
          <a:xfrm>
            <a:off x="812800" y="1922780"/>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01</a:t>
            </a:r>
            <a:endParaRPr lang="en-US" sz="2000" dirty="0"/>
          </a:p>
        </p:txBody>
      </p:sp>
      <p:sp>
        <p:nvSpPr>
          <p:cNvPr id="6" name="Text 4"/>
          <p:cNvSpPr/>
          <p:nvPr/>
        </p:nvSpPr>
        <p:spPr>
          <a:xfrm>
            <a:off x="1473200" y="1950720"/>
            <a:ext cx="94758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Tell manual from automated testing, and place unit, integration, system and acceptance testing on the V-model.</a:t>
            </a:r>
            <a:endParaRPr lang="en-US" sz="1400" dirty="0"/>
          </a:p>
        </p:txBody>
      </p:sp>
      <p:sp>
        <p:nvSpPr>
          <p:cNvPr id="7" name="Shape 5"/>
          <p:cNvSpPr/>
          <p:nvPr/>
        </p:nvSpPr>
        <p:spPr>
          <a:xfrm>
            <a:off x="10876280" y="1930400"/>
            <a:ext cx="502920" cy="289560"/>
          </a:xfrm>
          <a:prstGeom prst="roundRect">
            <a:avLst>
              <a:gd name="adj" fmla="val 50000"/>
            </a:avLst>
          </a:prstGeom>
          <a:solidFill>
            <a:srgbClr val="DCE7F3"/>
          </a:solidFill>
          <a:ln/>
        </p:spPr>
      </p:sp>
      <p:sp>
        <p:nvSpPr>
          <p:cNvPr id="8" name="Text 6"/>
          <p:cNvSpPr/>
          <p:nvPr/>
        </p:nvSpPr>
        <p:spPr>
          <a:xfrm>
            <a:off x="10990580" y="1968500"/>
            <a:ext cx="3251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CO1</a:t>
            </a:r>
            <a:endParaRPr lang="en-US" sz="1200" dirty="0"/>
          </a:p>
        </p:txBody>
      </p:sp>
      <p:sp>
        <p:nvSpPr>
          <p:cNvPr id="9" name="Shape 7"/>
          <p:cNvSpPr/>
          <p:nvPr/>
        </p:nvSpPr>
        <p:spPr>
          <a:xfrm>
            <a:off x="812800" y="2319655"/>
            <a:ext cx="10566400" cy="0"/>
          </a:xfrm>
          <a:prstGeom prst="line">
            <a:avLst/>
          </a:prstGeom>
          <a:noFill/>
          <a:ln w="6350">
            <a:solidFill>
              <a:srgbClr val="DDD8CC"/>
            </a:solidFill>
            <a:prstDash val="solid"/>
          </a:ln>
        </p:spPr>
      </p:sp>
      <p:sp>
        <p:nvSpPr>
          <p:cNvPr id="10" name="Text 8"/>
          <p:cNvSpPr/>
          <p:nvPr/>
        </p:nvSpPr>
        <p:spPr>
          <a:xfrm>
            <a:off x="812800" y="2410461"/>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02</a:t>
            </a:r>
            <a:endParaRPr lang="en-US" sz="2000" dirty="0"/>
          </a:p>
        </p:txBody>
      </p:sp>
      <p:sp>
        <p:nvSpPr>
          <p:cNvPr id="11" name="Text 9"/>
          <p:cNvSpPr/>
          <p:nvPr/>
        </p:nvSpPr>
        <p:spPr>
          <a:xfrm>
            <a:off x="1473200" y="2438400"/>
            <a:ext cx="94758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Explain when smoke, sanity and regression suites run in a delivery pipeline, and why.</a:t>
            </a:r>
            <a:endParaRPr lang="en-US" sz="1400" dirty="0"/>
          </a:p>
        </p:txBody>
      </p:sp>
      <p:sp>
        <p:nvSpPr>
          <p:cNvPr id="12" name="Shape 10"/>
          <p:cNvSpPr/>
          <p:nvPr/>
        </p:nvSpPr>
        <p:spPr>
          <a:xfrm>
            <a:off x="10876280" y="2418080"/>
            <a:ext cx="502920" cy="289560"/>
          </a:xfrm>
          <a:prstGeom prst="roundRect">
            <a:avLst>
              <a:gd name="adj" fmla="val 50000"/>
            </a:avLst>
          </a:prstGeom>
          <a:solidFill>
            <a:srgbClr val="DCE7F3"/>
          </a:solidFill>
          <a:ln/>
        </p:spPr>
      </p:sp>
      <p:sp>
        <p:nvSpPr>
          <p:cNvPr id="13" name="Text 11"/>
          <p:cNvSpPr/>
          <p:nvPr/>
        </p:nvSpPr>
        <p:spPr>
          <a:xfrm>
            <a:off x="10990580" y="2456180"/>
            <a:ext cx="3251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CO1</a:t>
            </a:r>
            <a:endParaRPr lang="en-US" sz="1200" dirty="0"/>
          </a:p>
        </p:txBody>
      </p:sp>
      <p:sp>
        <p:nvSpPr>
          <p:cNvPr id="14" name="Shape 12"/>
          <p:cNvSpPr/>
          <p:nvPr/>
        </p:nvSpPr>
        <p:spPr>
          <a:xfrm>
            <a:off x="812800" y="2807336"/>
            <a:ext cx="10566400" cy="0"/>
          </a:xfrm>
          <a:prstGeom prst="line">
            <a:avLst/>
          </a:prstGeom>
          <a:noFill/>
          <a:ln w="6350">
            <a:solidFill>
              <a:srgbClr val="DDD8CC"/>
            </a:solidFill>
            <a:prstDash val="solid"/>
          </a:ln>
        </p:spPr>
      </p:sp>
      <p:sp>
        <p:nvSpPr>
          <p:cNvPr id="15" name="Text 13"/>
          <p:cNvSpPr/>
          <p:nvPr/>
        </p:nvSpPr>
        <p:spPr>
          <a:xfrm>
            <a:off x="812800" y="2898141"/>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03</a:t>
            </a:r>
            <a:endParaRPr lang="en-US" sz="2000" dirty="0"/>
          </a:p>
        </p:txBody>
      </p:sp>
      <p:sp>
        <p:nvSpPr>
          <p:cNvPr id="16" name="Text 14"/>
          <p:cNvSpPr/>
          <p:nvPr/>
        </p:nvSpPr>
        <p:spPr>
          <a:xfrm>
            <a:off x="1473200" y="2926080"/>
            <a:ext cx="94758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Write unit and integration tests in pytest with fixtures, mocks, markers and parametrisation.</a:t>
            </a:r>
            <a:endParaRPr lang="en-US" sz="1400" dirty="0"/>
          </a:p>
        </p:txBody>
      </p:sp>
      <p:sp>
        <p:nvSpPr>
          <p:cNvPr id="17" name="Shape 15"/>
          <p:cNvSpPr/>
          <p:nvPr/>
        </p:nvSpPr>
        <p:spPr>
          <a:xfrm>
            <a:off x="10876280" y="2905761"/>
            <a:ext cx="502920" cy="289560"/>
          </a:xfrm>
          <a:prstGeom prst="roundRect">
            <a:avLst>
              <a:gd name="adj" fmla="val 50000"/>
            </a:avLst>
          </a:prstGeom>
          <a:solidFill>
            <a:srgbClr val="DCE7F3"/>
          </a:solidFill>
          <a:ln/>
        </p:spPr>
      </p:sp>
      <p:sp>
        <p:nvSpPr>
          <p:cNvPr id="18" name="Text 16"/>
          <p:cNvSpPr/>
          <p:nvPr/>
        </p:nvSpPr>
        <p:spPr>
          <a:xfrm>
            <a:off x="10990580" y="2943861"/>
            <a:ext cx="3251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CO2</a:t>
            </a:r>
            <a:endParaRPr lang="en-US" sz="1200" dirty="0"/>
          </a:p>
        </p:txBody>
      </p:sp>
      <p:sp>
        <p:nvSpPr>
          <p:cNvPr id="19" name="Shape 17"/>
          <p:cNvSpPr/>
          <p:nvPr/>
        </p:nvSpPr>
        <p:spPr>
          <a:xfrm>
            <a:off x="812800" y="3295016"/>
            <a:ext cx="10566400" cy="0"/>
          </a:xfrm>
          <a:prstGeom prst="line">
            <a:avLst/>
          </a:prstGeom>
          <a:noFill/>
          <a:ln w="6350">
            <a:solidFill>
              <a:srgbClr val="DDD8CC"/>
            </a:solidFill>
            <a:prstDash val="solid"/>
          </a:ln>
        </p:spPr>
      </p:sp>
      <p:sp>
        <p:nvSpPr>
          <p:cNvPr id="20" name="Text 18"/>
          <p:cNvSpPr/>
          <p:nvPr/>
        </p:nvSpPr>
        <p:spPr>
          <a:xfrm>
            <a:off x="812800" y="3482341"/>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04</a:t>
            </a:r>
            <a:endParaRPr lang="en-US" sz="2000" dirty="0"/>
          </a:p>
        </p:txBody>
      </p:sp>
      <p:sp>
        <p:nvSpPr>
          <p:cNvPr id="21" name="Text 19"/>
          <p:cNvSpPr/>
          <p:nvPr/>
        </p:nvSpPr>
        <p:spPr>
          <a:xfrm>
            <a:off x="1473200" y="3385820"/>
            <a:ext cx="947587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Derive test scenarios and design test cases with equivalence partitions, boundary values, decision tables and state transitions.</a:t>
            </a:r>
            <a:endParaRPr lang="en-US" sz="1400" dirty="0"/>
          </a:p>
        </p:txBody>
      </p:sp>
      <p:sp>
        <p:nvSpPr>
          <p:cNvPr id="22" name="Shape 20"/>
          <p:cNvSpPr/>
          <p:nvPr/>
        </p:nvSpPr>
        <p:spPr>
          <a:xfrm>
            <a:off x="10876280" y="3489961"/>
            <a:ext cx="502920" cy="289560"/>
          </a:xfrm>
          <a:prstGeom prst="roundRect">
            <a:avLst>
              <a:gd name="adj" fmla="val 50000"/>
            </a:avLst>
          </a:prstGeom>
          <a:solidFill>
            <a:srgbClr val="DCE7F3"/>
          </a:solidFill>
          <a:ln/>
        </p:spPr>
      </p:sp>
      <p:sp>
        <p:nvSpPr>
          <p:cNvPr id="23" name="Text 21"/>
          <p:cNvSpPr/>
          <p:nvPr/>
        </p:nvSpPr>
        <p:spPr>
          <a:xfrm>
            <a:off x="10990580" y="3528061"/>
            <a:ext cx="3251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CO3</a:t>
            </a:r>
            <a:endParaRPr lang="en-US" sz="1200" dirty="0"/>
          </a:p>
        </p:txBody>
      </p:sp>
      <p:sp>
        <p:nvSpPr>
          <p:cNvPr id="24" name="Shape 22"/>
          <p:cNvSpPr/>
          <p:nvPr/>
        </p:nvSpPr>
        <p:spPr>
          <a:xfrm>
            <a:off x="812800" y="3975736"/>
            <a:ext cx="10566400" cy="0"/>
          </a:xfrm>
          <a:prstGeom prst="line">
            <a:avLst/>
          </a:prstGeom>
          <a:noFill/>
          <a:ln w="6350">
            <a:solidFill>
              <a:srgbClr val="DDD8CC"/>
            </a:solidFill>
            <a:prstDash val="solid"/>
          </a:ln>
        </p:spPr>
      </p:sp>
      <p:sp>
        <p:nvSpPr>
          <p:cNvPr id="25" name="Shape 23"/>
          <p:cNvSpPr/>
          <p:nvPr/>
        </p:nvSpPr>
        <p:spPr>
          <a:xfrm>
            <a:off x="812800" y="4462146"/>
            <a:ext cx="10566400" cy="0"/>
          </a:xfrm>
          <a:prstGeom prst="line">
            <a:avLst/>
          </a:prstGeom>
          <a:noFill/>
          <a:ln w="6350">
            <a:solidFill>
              <a:srgbClr val="DDD8CC"/>
            </a:solidFill>
            <a:prstDash val="solid"/>
          </a:ln>
        </p:spPr>
      </p:sp>
      <p:sp>
        <p:nvSpPr>
          <p:cNvPr id="26" name="Text 24"/>
          <p:cNvSpPr/>
          <p:nvPr/>
        </p:nvSpPr>
        <p:spPr>
          <a:xfrm>
            <a:off x="812800" y="4066541"/>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05</a:t>
            </a:r>
            <a:endParaRPr lang="en-US" sz="2000" dirty="0"/>
          </a:p>
        </p:txBody>
      </p:sp>
      <p:sp>
        <p:nvSpPr>
          <p:cNvPr id="27" name="Text 25"/>
          <p:cNvSpPr/>
          <p:nvPr/>
        </p:nvSpPr>
        <p:spPr>
          <a:xfrm>
            <a:off x="1473200" y="4094480"/>
            <a:ext cx="94758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Build a requirements traceability matrix and use it to measure coverage and judge the impact of a change.</a:t>
            </a:r>
            <a:endParaRPr lang="en-US" sz="1400" dirty="0"/>
          </a:p>
        </p:txBody>
      </p:sp>
      <p:sp>
        <p:nvSpPr>
          <p:cNvPr id="28" name="Shape 26"/>
          <p:cNvSpPr/>
          <p:nvPr/>
        </p:nvSpPr>
        <p:spPr>
          <a:xfrm>
            <a:off x="10876280" y="4074161"/>
            <a:ext cx="502920" cy="289560"/>
          </a:xfrm>
          <a:prstGeom prst="roundRect">
            <a:avLst>
              <a:gd name="adj" fmla="val 50000"/>
            </a:avLst>
          </a:prstGeom>
          <a:solidFill>
            <a:srgbClr val="DCE7F3"/>
          </a:solidFill>
          <a:ln/>
        </p:spPr>
      </p:sp>
      <p:sp>
        <p:nvSpPr>
          <p:cNvPr id="29" name="Text 27"/>
          <p:cNvSpPr/>
          <p:nvPr/>
        </p:nvSpPr>
        <p:spPr>
          <a:xfrm>
            <a:off x="10990580" y="4112261"/>
            <a:ext cx="3251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CO3</a:t>
            </a:r>
            <a:endParaRPr lang="en-US" sz="1200" dirty="0"/>
          </a:p>
        </p:txBody>
      </p:sp>
      <p:sp>
        <p:nvSpPr>
          <p:cNvPr id="30" name="Text 28"/>
          <p:cNvSpPr/>
          <p:nvPr/>
        </p:nvSpPr>
        <p:spPr>
          <a:xfrm>
            <a:off x="812800" y="4719320"/>
            <a:ext cx="98107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Course outcomes: CO1 understand the various testing approaches · CO2 apply automation testing technologies through tools · CO3 test and evaluate automation test cases in DevOps environments</a:t>
            </a:r>
            <a:endParaRPr lang="en-US" sz="1200" dirty="0"/>
          </a:p>
        </p:txBody>
      </p:sp>
      <p:sp>
        <p:nvSpPr>
          <p:cNvPr id="31" name="Text 29"/>
          <p:cNvSpPr/>
          <p:nvPr/>
        </p:nvSpPr>
        <p:spPr>
          <a:xfrm>
            <a:off x="812800" y="6238241"/>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2 · RUNNING EXAMPLE</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Running example: the Canteen App</a:t>
            </a:r>
            <a:endParaRPr lang="en-US" sz="3200" dirty="0"/>
          </a:p>
        </p:txBody>
      </p:sp>
      <p:sp>
        <p:nvSpPr>
          <p:cNvPr id="4" name="Text 2"/>
          <p:cNvSpPr/>
          <p:nvPr/>
        </p:nvSpPr>
        <p:spPr>
          <a:xfrm>
            <a:off x="812800" y="1828800"/>
            <a:ext cx="915670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A campus food-ordering app. Every lecture tests the same six features, so each example builds on the one before.</a:t>
            </a:r>
            <a:endParaRPr lang="en-US" sz="1400" dirty="0"/>
          </a:p>
        </p:txBody>
      </p:sp>
      <p:sp>
        <p:nvSpPr>
          <p:cNvPr id="5" name="Shape 3"/>
          <p:cNvSpPr/>
          <p:nvPr/>
        </p:nvSpPr>
        <p:spPr>
          <a:xfrm>
            <a:off x="815975" y="2583816"/>
            <a:ext cx="3380264" cy="1446530"/>
          </a:xfrm>
          <a:prstGeom prst="roundRect">
            <a:avLst>
              <a:gd name="adj" fmla="val 5048"/>
            </a:avLst>
          </a:prstGeom>
          <a:solidFill>
            <a:srgbClr val="FCFBF7"/>
          </a:solidFill>
          <a:ln w="6350">
            <a:solidFill>
              <a:srgbClr val="DDD8CC"/>
            </a:solidFill>
            <a:prstDash val="solid"/>
          </a:ln>
        </p:spPr>
      </p:sp>
      <p:sp>
        <p:nvSpPr>
          <p:cNvPr id="6" name="Text 4"/>
          <p:cNvSpPr/>
          <p:nvPr/>
        </p:nvSpPr>
        <p:spPr>
          <a:xfrm>
            <a:off x="1021080" y="2788920"/>
            <a:ext cx="305915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F1 · LOGIN</a:t>
            </a:r>
            <a:endParaRPr lang="en-US" sz="1200" dirty="0"/>
          </a:p>
        </p:txBody>
      </p:sp>
      <p:sp>
        <p:nvSpPr>
          <p:cNvPr id="7" name="Text 5"/>
          <p:cNvSpPr/>
          <p:nvPr/>
        </p:nvSpPr>
        <p:spPr>
          <a:xfrm>
            <a:off x="1021080" y="3078480"/>
            <a:ext cx="305915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University ID and password. The account locks after 3 failed attempts.</a:t>
            </a:r>
            <a:endParaRPr lang="en-US" sz="1400" dirty="0"/>
          </a:p>
        </p:txBody>
      </p:sp>
      <p:sp>
        <p:nvSpPr>
          <p:cNvPr id="8" name="Shape 6"/>
          <p:cNvSpPr/>
          <p:nvPr/>
        </p:nvSpPr>
        <p:spPr>
          <a:xfrm>
            <a:off x="4405789" y="2583816"/>
            <a:ext cx="3380343" cy="1446530"/>
          </a:xfrm>
          <a:prstGeom prst="roundRect">
            <a:avLst>
              <a:gd name="adj" fmla="val 5048"/>
            </a:avLst>
          </a:prstGeom>
          <a:solidFill>
            <a:srgbClr val="FCFBF7"/>
          </a:solidFill>
          <a:ln w="6350">
            <a:solidFill>
              <a:srgbClr val="DDD8CC"/>
            </a:solidFill>
            <a:prstDash val="solid"/>
          </a:ln>
        </p:spPr>
      </p:sp>
      <p:sp>
        <p:nvSpPr>
          <p:cNvPr id="9" name="Text 7"/>
          <p:cNvSpPr/>
          <p:nvPr/>
        </p:nvSpPr>
        <p:spPr>
          <a:xfrm>
            <a:off x="4610894" y="2788920"/>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F2 · MENU</a:t>
            </a:r>
            <a:endParaRPr lang="en-US" sz="1200" dirty="0"/>
          </a:p>
        </p:txBody>
      </p:sp>
      <p:sp>
        <p:nvSpPr>
          <p:cNvPr id="10" name="Text 8"/>
          <p:cNvSpPr/>
          <p:nvPr/>
        </p:nvSpPr>
        <p:spPr>
          <a:xfrm>
            <a:off x="4610894" y="3078480"/>
            <a:ext cx="305923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Browse by category, search by name. Loads within 2 seconds at the lunch peak.</a:t>
            </a:r>
            <a:endParaRPr lang="en-US" sz="1400" dirty="0"/>
          </a:p>
        </p:txBody>
      </p:sp>
      <p:sp>
        <p:nvSpPr>
          <p:cNvPr id="11" name="Shape 9"/>
          <p:cNvSpPr/>
          <p:nvPr/>
        </p:nvSpPr>
        <p:spPr>
          <a:xfrm>
            <a:off x="7995682" y="2583816"/>
            <a:ext cx="3380343" cy="1446530"/>
          </a:xfrm>
          <a:prstGeom prst="roundRect">
            <a:avLst>
              <a:gd name="adj" fmla="val 5048"/>
            </a:avLst>
          </a:prstGeom>
          <a:solidFill>
            <a:srgbClr val="FCFBF7"/>
          </a:solidFill>
          <a:ln w="6350">
            <a:solidFill>
              <a:srgbClr val="DDD8CC"/>
            </a:solidFill>
            <a:prstDash val="solid"/>
          </a:ln>
        </p:spPr>
      </p:sp>
      <p:sp>
        <p:nvSpPr>
          <p:cNvPr id="12" name="Text 10"/>
          <p:cNvSpPr/>
          <p:nvPr/>
        </p:nvSpPr>
        <p:spPr>
          <a:xfrm>
            <a:off x="8200787" y="2788920"/>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F3 · CART</a:t>
            </a:r>
            <a:endParaRPr lang="en-US" sz="1200" dirty="0"/>
          </a:p>
        </p:txBody>
      </p:sp>
      <p:sp>
        <p:nvSpPr>
          <p:cNvPr id="13" name="Text 11"/>
          <p:cNvSpPr/>
          <p:nvPr/>
        </p:nvSpPr>
        <p:spPr>
          <a:xfrm>
            <a:off x="8200787" y="3078480"/>
            <a:ext cx="30592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Add and remove items. Quantity per item is a whole number from 1 to 10.</a:t>
            </a:r>
            <a:endParaRPr lang="en-US" sz="1400" dirty="0"/>
          </a:p>
        </p:txBody>
      </p:sp>
      <p:sp>
        <p:nvSpPr>
          <p:cNvPr id="14" name="Shape 12"/>
          <p:cNvSpPr/>
          <p:nvPr/>
        </p:nvSpPr>
        <p:spPr>
          <a:xfrm>
            <a:off x="815975" y="4239895"/>
            <a:ext cx="3380264" cy="1446530"/>
          </a:xfrm>
          <a:prstGeom prst="roundRect">
            <a:avLst>
              <a:gd name="adj" fmla="val 5048"/>
            </a:avLst>
          </a:prstGeom>
          <a:solidFill>
            <a:srgbClr val="FCFBF7"/>
          </a:solidFill>
          <a:ln w="6350">
            <a:solidFill>
              <a:srgbClr val="DDD8CC"/>
            </a:solidFill>
            <a:prstDash val="solid"/>
          </a:ln>
        </p:spPr>
      </p:sp>
      <p:sp>
        <p:nvSpPr>
          <p:cNvPr id="15" name="Text 13"/>
          <p:cNvSpPr/>
          <p:nvPr/>
        </p:nvSpPr>
        <p:spPr>
          <a:xfrm>
            <a:off x="1021080" y="4445000"/>
            <a:ext cx="305915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F4 · COUPON</a:t>
            </a:r>
            <a:endParaRPr lang="en-US" sz="1200" dirty="0"/>
          </a:p>
        </p:txBody>
      </p:sp>
      <p:sp>
        <p:nvSpPr>
          <p:cNvPr id="16" name="Text 14"/>
          <p:cNvSpPr/>
          <p:nvPr/>
        </p:nvSpPr>
        <p:spPr>
          <a:xfrm>
            <a:off x="1021080" y="4734561"/>
            <a:ext cx="305915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SAVE20 takes 20% off orders of ₹200 or more. The discount is capped at ₹100.</a:t>
            </a:r>
            <a:endParaRPr lang="en-US" sz="1400" dirty="0"/>
          </a:p>
        </p:txBody>
      </p:sp>
      <p:sp>
        <p:nvSpPr>
          <p:cNvPr id="17" name="Shape 15"/>
          <p:cNvSpPr/>
          <p:nvPr/>
        </p:nvSpPr>
        <p:spPr>
          <a:xfrm>
            <a:off x="4405789" y="4239895"/>
            <a:ext cx="3380343" cy="1446530"/>
          </a:xfrm>
          <a:prstGeom prst="roundRect">
            <a:avLst>
              <a:gd name="adj" fmla="val 5048"/>
            </a:avLst>
          </a:prstGeom>
          <a:solidFill>
            <a:srgbClr val="FCFBF7"/>
          </a:solidFill>
          <a:ln w="6350">
            <a:solidFill>
              <a:srgbClr val="DDD8CC"/>
            </a:solidFill>
            <a:prstDash val="solid"/>
          </a:ln>
        </p:spPr>
      </p:sp>
      <p:sp>
        <p:nvSpPr>
          <p:cNvPr id="18" name="Text 16"/>
          <p:cNvSpPr/>
          <p:nvPr/>
        </p:nvSpPr>
        <p:spPr>
          <a:xfrm>
            <a:off x="4610894" y="4445000"/>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F5 · PAYMENT</a:t>
            </a:r>
            <a:endParaRPr lang="en-US" sz="1200" dirty="0"/>
          </a:p>
        </p:txBody>
      </p:sp>
      <p:sp>
        <p:nvSpPr>
          <p:cNvPr id="19" name="Text 17"/>
          <p:cNvSpPr/>
          <p:nvPr/>
        </p:nvSpPr>
        <p:spPr>
          <a:xfrm>
            <a:off x="4610894" y="4734561"/>
            <a:ext cx="30592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Campus wallet or UPI. A low wallet balance blocks the payment.</a:t>
            </a:r>
            <a:endParaRPr lang="en-US" sz="1400" dirty="0"/>
          </a:p>
        </p:txBody>
      </p:sp>
      <p:sp>
        <p:nvSpPr>
          <p:cNvPr id="20" name="Shape 18"/>
          <p:cNvSpPr/>
          <p:nvPr/>
        </p:nvSpPr>
        <p:spPr>
          <a:xfrm>
            <a:off x="7995682" y="4239895"/>
            <a:ext cx="3380343" cy="1446530"/>
          </a:xfrm>
          <a:prstGeom prst="roundRect">
            <a:avLst>
              <a:gd name="adj" fmla="val 5048"/>
            </a:avLst>
          </a:prstGeom>
          <a:solidFill>
            <a:srgbClr val="FCFBF7"/>
          </a:solidFill>
          <a:ln w="6350">
            <a:solidFill>
              <a:srgbClr val="DDD8CC"/>
            </a:solidFill>
            <a:prstDash val="solid"/>
          </a:ln>
        </p:spPr>
      </p:sp>
      <p:sp>
        <p:nvSpPr>
          <p:cNvPr id="21" name="Text 19"/>
          <p:cNvSpPr/>
          <p:nvPr/>
        </p:nvSpPr>
        <p:spPr>
          <a:xfrm>
            <a:off x="8200787" y="4445000"/>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F6 · ORDER STATUS</a:t>
            </a:r>
            <a:endParaRPr lang="en-US" sz="1200" dirty="0"/>
          </a:p>
        </p:txBody>
      </p:sp>
      <p:sp>
        <p:nvSpPr>
          <p:cNvPr id="22" name="Text 20"/>
          <p:cNvSpPr/>
          <p:nvPr/>
        </p:nvSpPr>
        <p:spPr>
          <a:xfrm>
            <a:off x="8200787" y="4734561"/>
            <a:ext cx="30592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Placed, Preparing, Ready, Collected. Cancel only while the order is Placed.</a:t>
            </a:r>
            <a:endParaRPr lang="en-US" sz="1400" dirty="0"/>
          </a:p>
        </p:txBody>
      </p:sp>
      <p:sp>
        <p:nvSpPr>
          <p:cNvPr id="23" name="Text 21"/>
          <p:cNvSpPr/>
          <p:nvPr/>
        </p:nvSpPr>
        <p:spPr>
          <a:xfrm>
            <a:off x="812800" y="6238239"/>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4" name="Text 22"/>
          <p:cNvSpPr/>
          <p:nvPr/>
        </p:nvSpPr>
        <p:spPr>
          <a:xfrm>
            <a:off x="8520430" y="6238239"/>
            <a:ext cx="29445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Fictional app; rules simplified for teaching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09</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2 · LECTURE 9 · 40 MINUTES</a:t>
            </a:r>
            <a:endParaRPr lang="en-US" sz="1200" dirty="0"/>
          </a:p>
        </p:txBody>
      </p:sp>
      <p:sp>
        <p:nvSpPr>
          <p:cNvPr id="4" name="Text 2"/>
          <p:cNvSpPr/>
          <p:nvPr/>
        </p:nvSpPr>
        <p:spPr>
          <a:xfrm>
            <a:off x="812800" y="3464561"/>
            <a:ext cx="1046480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Manual, automated</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and unit testing</a:t>
            </a:r>
            <a:endParaRPr lang="en-US" sz="5600" dirty="0"/>
          </a:p>
        </p:txBody>
      </p:sp>
      <p:sp>
        <p:nvSpPr>
          <p:cNvPr id="5" name="Shape 3"/>
          <p:cNvSpPr/>
          <p:nvPr/>
        </p:nvSpPr>
        <p:spPr>
          <a:xfrm>
            <a:off x="812800" y="5320032"/>
            <a:ext cx="2794000" cy="0"/>
          </a:xfrm>
          <a:prstGeom prst="line">
            <a:avLst/>
          </a:prstGeom>
          <a:noFill/>
          <a:ln w="12700">
            <a:solidFill>
              <a:srgbClr val="3A5476"/>
            </a:solidFill>
            <a:prstDash val="solid"/>
          </a:ln>
        </p:spPr>
      </p:sp>
      <p:sp>
        <p:nvSpPr>
          <p:cNvPr id="6" name="Text 4"/>
          <p:cNvSpPr/>
          <p:nvPr/>
        </p:nvSpPr>
        <p:spPr>
          <a:xfrm>
            <a:off x="812800" y="5450839"/>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10 min</a:t>
            </a:r>
            <a:endParaRPr lang="en-US" sz="1200" dirty="0"/>
          </a:p>
        </p:txBody>
      </p:sp>
      <p:sp>
        <p:nvSpPr>
          <p:cNvPr id="7" name="Text 5"/>
          <p:cNvSpPr/>
          <p:nvPr/>
        </p:nvSpPr>
        <p:spPr>
          <a:xfrm>
            <a:off x="8128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Manual testing</a:t>
            </a:r>
            <a:endParaRPr lang="en-US" sz="2000" dirty="0"/>
          </a:p>
        </p:txBody>
      </p:sp>
      <p:sp>
        <p:nvSpPr>
          <p:cNvPr id="8" name="Shape 6"/>
          <p:cNvSpPr/>
          <p:nvPr/>
        </p:nvSpPr>
        <p:spPr>
          <a:xfrm>
            <a:off x="3911600" y="5320032"/>
            <a:ext cx="2794000" cy="0"/>
          </a:xfrm>
          <a:prstGeom prst="line">
            <a:avLst/>
          </a:prstGeom>
          <a:noFill/>
          <a:ln w="12700">
            <a:solidFill>
              <a:srgbClr val="3A5476"/>
            </a:solidFill>
            <a:prstDash val="solid"/>
          </a:ln>
        </p:spPr>
      </p:sp>
      <p:sp>
        <p:nvSpPr>
          <p:cNvPr id="9" name="Text 7"/>
          <p:cNvSpPr/>
          <p:nvPr/>
        </p:nvSpPr>
        <p:spPr>
          <a:xfrm>
            <a:off x="3911600" y="5450839"/>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10 min</a:t>
            </a:r>
            <a:endParaRPr lang="en-US" sz="1200" dirty="0"/>
          </a:p>
        </p:txBody>
      </p:sp>
      <p:sp>
        <p:nvSpPr>
          <p:cNvPr id="10" name="Text 8"/>
          <p:cNvSpPr/>
          <p:nvPr/>
        </p:nvSpPr>
        <p:spPr>
          <a:xfrm>
            <a:off x="39116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Automation testing</a:t>
            </a:r>
            <a:endParaRPr lang="en-US" sz="2000" dirty="0"/>
          </a:p>
        </p:txBody>
      </p:sp>
      <p:sp>
        <p:nvSpPr>
          <p:cNvPr id="11" name="Shape 9"/>
          <p:cNvSpPr/>
          <p:nvPr/>
        </p:nvSpPr>
        <p:spPr>
          <a:xfrm>
            <a:off x="7010400" y="5320032"/>
            <a:ext cx="2794000" cy="0"/>
          </a:xfrm>
          <a:prstGeom prst="line">
            <a:avLst/>
          </a:prstGeom>
          <a:noFill/>
          <a:ln w="12700">
            <a:solidFill>
              <a:srgbClr val="3A5476"/>
            </a:solidFill>
            <a:prstDash val="solid"/>
          </a:ln>
        </p:spPr>
      </p:sp>
      <p:sp>
        <p:nvSpPr>
          <p:cNvPr id="12" name="Text 10"/>
          <p:cNvSpPr/>
          <p:nvPr/>
        </p:nvSpPr>
        <p:spPr>
          <a:xfrm>
            <a:off x="7010400" y="5450839"/>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13" name="Text 11"/>
          <p:cNvSpPr/>
          <p:nvPr/>
        </p:nvSpPr>
        <p:spPr>
          <a:xfrm>
            <a:off x="70104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Unit testing</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L9 · MANUAL AND AUTOMATION TESTING</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Manual and automated testing</a:t>
            </a:r>
            <a:endParaRPr lang="en-US" sz="3200" dirty="0"/>
          </a:p>
        </p:txBody>
      </p:sp>
      <p:sp>
        <p:nvSpPr>
          <p:cNvPr id="4" name="Shape 2"/>
          <p:cNvSpPr/>
          <p:nvPr/>
        </p:nvSpPr>
        <p:spPr>
          <a:xfrm>
            <a:off x="815975" y="1831975"/>
            <a:ext cx="5175250" cy="3224530"/>
          </a:xfrm>
          <a:prstGeom prst="roundRect">
            <a:avLst>
              <a:gd name="adj" fmla="val 2265"/>
            </a:avLst>
          </a:prstGeom>
          <a:solidFill>
            <a:srgbClr val="FCFBF7"/>
          </a:solidFill>
          <a:ln w="6350">
            <a:solidFill>
              <a:srgbClr val="DDD8CC"/>
            </a:solidFill>
            <a:prstDash val="solid"/>
          </a:ln>
        </p:spPr>
      </p:sp>
      <p:sp>
        <p:nvSpPr>
          <p:cNvPr id="5" name="Text 3"/>
          <p:cNvSpPr/>
          <p:nvPr/>
        </p:nvSpPr>
        <p:spPr>
          <a:xfrm>
            <a:off x="1071880" y="2087882"/>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MANUAL TESTING</a:t>
            </a:r>
            <a:endParaRPr lang="en-US" sz="1200" dirty="0"/>
          </a:p>
        </p:txBody>
      </p:sp>
      <p:sp>
        <p:nvSpPr>
          <p:cNvPr id="6" name="Text 4"/>
          <p:cNvSpPr/>
          <p:nvPr/>
        </p:nvSpPr>
        <p:spPr>
          <a:xfrm>
            <a:off x="1071880" y="2402839"/>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person designs and runs each test, watches what happens and decides whether it passed.</a:t>
            </a:r>
            <a:endParaRPr lang="en-US" sz="1400" dirty="0"/>
          </a:p>
        </p:txBody>
      </p:sp>
      <p:sp>
        <p:nvSpPr>
          <p:cNvPr id="7" name="Text 5"/>
          <p:cNvSpPr/>
          <p:nvPr/>
        </p:nvSpPr>
        <p:spPr>
          <a:xfrm>
            <a:off x="1071880" y="3002282"/>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Relies on the tester's knowledge, curiosity and judgement.</a:t>
            </a:r>
            <a:endParaRPr lang="en-US" sz="1200" dirty="0"/>
          </a:p>
        </p:txBody>
      </p:sp>
      <p:sp>
        <p:nvSpPr>
          <p:cNvPr id="8" name="Text 6"/>
          <p:cNvSpPr/>
          <p:nvPr/>
        </p:nvSpPr>
        <p:spPr>
          <a:xfrm>
            <a:off x="1071880" y="3418839"/>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BEST SUITED TO</a:t>
            </a:r>
            <a:endParaRPr lang="en-US" sz="1200" dirty="0"/>
          </a:p>
        </p:txBody>
      </p:sp>
      <p:sp>
        <p:nvSpPr>
          <p:cNvPr id="9" name="Text 7"/>
          <p:cNvSpPr/>
          <p:nvPr/>
        </p:nvSpPr>
        <p:spPr>
          <a:xfrm>
            <a:off x="1071880" y="3733800"/>
            <a:ext cx="4803343" cy="1092200"/>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44505F"/>
                </a:solidFill>
                <a:latin typeface="IBM Plex Sans" pitchFamily="34" charset="0"/>
                <a:ea typeface="IBM Plex Sans" pitchFamily="34" charset="-122"/>
                <a:cs typeface="IBM Plex Sans" pitchFamily="34" charset="-120"/>
              </a:rPr>
              <a:t>Exploratory testing of new features</a:t>
            </a:r>
            <a:endParaRPr lang="en-US" sz="1400" dirty="0"/>
          </a:p>
          <a:p>
            <a:pPr algn="l" marL="213360" indent="-175768">
              <a:lnSpc>
                <a:spcPts val="2100"/>
              </a:lnSpc>
              <a:buSzPct val="100000"/>
              <a:buChar char="•"/>
            </a:pPr>
            <a:r>
              <a:rPr lang="en-US" sz="1400" dirty="0">
                <a:solidFill>
                  <a:srgbClr val="44505F"/>
                </a:solidFill>
                <a:latin typeface="IBM Plex Sans" pitchFamily="34" charset="0"/>
                <a:ea typeface="IBM Plex Sans" pitchFamily="34" charset="-122"/>
                <a:cs typeface="IBM Plex Sans" pitchFamily="34" charset="-120"/>
              </a:rPr>
              <a:t>Usability and look-and-feel judgement</a:t>
            </a:r>
            <a:endParaRPr lang="en-US" sz="1400" dirty="0"/>
          </a:p>
          <a:p>
            <a:pPr algn="l" marL="213360" indent="-175768">
              <a:lnSpc>
                <a:spcPts val="2100"/>
              </a:lnSpc>
              <a:buSzPct val="100000"/>
              <a:buChar char="•"/>
            </a:pPr>
            <a:r>
              <a:rPr lang="en-US" sz="1400" dirty="0">
                <a:solidFill>
                  <a:srgbClr val="44505F"/>
                </a:solidFill>
                <a:latin typeface="IBM Plex Sans" pitchFamily="34" charset="0"/>
                <a:ea typeface="IBM Plex Sans" pitchFamily="34" charset="-122"/>
                <a:cs typeface="IBM Plex Sans" pitchFamily="34" charset="-120"/>
              </a:rPr>
              <a:t>One-off and ad hoc checks</a:t>
            </a:r>
            <a:endParaRPr lang="en-US" sz="1400" dirty="0"/>
          </a:p>
          <a:p>
            <a:pPr algn="l" marL="213360" indent="-175768">
              <a:lnSpc>
                <a:spcPts val="2100"/>
              </a:lnSpc>
              <a:buSzPct val="100000"/>
              <a:buChar char="•"/>
            </a:pPr>
            <a:r>
              <a:rPr lang="en-US" sz="1400" dirty="0">
                <a:solidFill>
                  <a:srgbClr val="44505F"/>
                </a:solidFill>
                <a:latin typeface="IBM Plex Sans" pitchFamily="34" charset="0"/>
                <a:ea typeface="IBM Plex Sans" pitchFamily="34" charset="-122"/>
                <a:cs typeface="IBM Plex Sans" pitchFamily="34" charset="-120"/>
              </a:rPr>
              <a:t>Screens that still change every day</a:t>
            </a:r>
            <a:endParaRPr lang="en-US" sz="1400" dirty="0"/>
          </a:p>
        </p:txBody>
      </p:sp>
      <p:sp>
        <p:nvSpPr>
          <p:cNvPr id="10" name="Shape 8"/>
          <p:cNvSpPr/>
          <p:nvPr/>
        </p:nvSpPr>
        <p:spPr>
          <a:xfrm>
            <a:off x="6200775" y="1831975"/>
            <a:ext cx="5175250" cy="3224530"/>
          </a:xfrm>
          <a:prstGeom prst="roundRect">
            <a:avLst>
              <a:gd name="adj" fmla="val 2265"/>
            </a:avLst>
          </a:prstGeom>
          <a:solidFill>
            <a:srgbClr val="FCFBF7"/>
          </a:solidFill>
          <a:ln w="6350">
            <a:solidFill>
              <a:srgbClr val="DDD8CC"/>
            </a:solidFill>
            <a:prstDash val="solid"/>
          </a:ln>
        </p:spPr>
      </p:sp>
      <p:sp>
        <p:nvSpPr>
          <p:cNvPr id="11" name="Text 9"/>
          <p:cNvSpPr/>
          <p:nvPr/>
        </p:nvSpPr>
        <p:spPr>
          <a:xfrm>
            <a:off x="6456680" y="2087882"/>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AUTOMATION TESTING</a:t>
            </a:r>
            <a:endParaRPr lang="en-US" sz="1200" dirty="0"/>
          </a:p>
        </p:txBody>
      </p:sp>
      <p:sp>
        <p:nvSpPr>
          <p:cNvPr id="12" name="Text 10"/>
          <p:cNvSpPr/>
          <p:nvPr/>
        </p:nvSpPr>
        <p:spPr>
          <a:xfrm>
            <a:off x="6456680" y="2402839"/>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Scripts drive the software, compare actual with expected results and report the outcome.</a:t>
            </a:r>
            <a:endParaRPr lang="en-US" sz="1400" dirty="0"/>
          </a:p>
        </p:txBody>
      </p:sp>
      <p:sp>
        <p:nvSpPr>
          <p:cNvPr id="13" name="Text 11"/>
          <p:cNvSpPr/>
          <p:nvPr/>
        </p:nvSpPr>
        <p:spPr>
          <a:xfrm>
            <a:off x="6456680" y="3002282"/>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ISTQB: “The use of software to perform or support test activities.”</a:t>
            </a:r>
            <a:endParaRPr lang="en-US" sz="1200" dirty="0"/>
          </a:p>
        </p:txBody>
      </p:sp>
      <p:sp>
        <p:nvSpPr>
          <p:cNvPr id="14" name="Text 12"/>
          <p:cNvSpPr/>
          <p:nvPr/>
        </p:nvSpPr>
        <p:spPr>
          <a:xfrm>
            <a:off x="6456680" y="3418839"/>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BEST SUITED TO</a:t>
            </a:r>
            <a:endParaRPr lang="en-US" sz="1200" dirty="0"/>
          </a:p>
        </p:txBody>
      </p:sp>
      <p:sp>
        <p:nvSpPr>
          <p:cNvPr id="15" name="Text 13"/>
          <p:cNvSpPr/>
          <p:nvPr/>
        </p:nvSpPr>
        <p:spPr>
          <a:xfrm>
            <a:off x="6456680" y="3733800"/>
            <a:ext cx="4803343" cy="1092200"/>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44505F"/>
                </a:solidFill>
                <a:latin typeface="IBM Plex Sans" pitchFamily="34" charset="0"/>
                <a:ea typeface="IBM Plex Sans" pitchFamily="34" charset="-122"/>
                <a:cs typeface="IBM Plex Sans" pitchFamily="34" charset="-120"/>
              </a:rPr>
              <a:t>Regression suites run on every build</a:t>
            </a:r>
            <a:endParaRPr lang="en-US" sz="1400" dirty="0"/>
          </a:p>
          <a:p>
            <a:pPr algn="l" marL="213360" indent="-175768">
              <a:lnSpc>
                <a:spcPts val="2100"/>
              </a:lnSpc>
              <a:buSzPct val="100000"/>
              <a:buChar char="•"/>
            </a:pPr>
            <a:r>
              <a:rPr lang="en-US" sz="1400" dirty="0">
                <a:solidFill>
                  <a:srgbClr val="44505F"/>
                </a:solidFill>
                <a:latin typeface="IBM Plex Sans" pitchFamily="34" charset="0"/>
                <a:ea typeface="IBM Plex Sans" pitchFamily="34" charset="-122"/>
                <a:cs typeface="IBM Plex Sans" pitchFamily="34" charset="-120"/>
              </a:rPr>
              <a:t>Data-driven tests with many input sets</a:t>
            </a:r>
            <a:endParaRPr lang="en-US" sz="1400" dirty="0"/>
          </a:p>
          <a:p>
            <a:pPr algn="l" marL="213360" indent="-175768">
              <a:lnSpc>
                <a:spcPts val="2100"/>
              </a:lnSpc>
              <a:buSzPct val="100000"/>
              <a:buChar char="•"/>
            </a:pPr>
            <a:r>
              <a:rPr lang="en-US" sz="1400" dirty="0">
                <a:solidFill>
                  <a:srgbClr val="44505F"/>
                </a:solidFill>
                <a:latin typeface="IBM Plex Sans" pitchFamily="34" charset="0"/>
                <a:ea typeface="IBM Plex Sans" pitchFamily="34" charset="-122"/>
                <a:cs typeface="IBM Plex Sans" pitchFamily="34" charset="-120"/>
              </a:rPr>
              <a:t>Cross-browser and cross-device runs</a:t>
            </a:r>
            <a:endParaRPr lang="en-US" sz="1400" dirty="0"/>
          </a:p>
          <a:p>
            <a:pPr algn="l" marL="213360" indent="-175768">
              <a:lnSpc>
                <a:spcPts val="2100"/>
              </a:lnSpc>
              <a:buSzPct val="100000"/>
              <a:buChar char="•"/>
            </a:pPr>
            <a:r>
              <a:rPr lang="en-US" sz="1400" dirty="0">
                <a:solidFill>
                  <a:srgbClr val="44505F"/>
                </a:solidFill>
                <a:latin typeface="IBM Plex Sans" pitchFamily="34" charset="0"/>
                <a:ea typeface="IBM Plex Sans" pitchFamily="34" charset="-122"/>
                <a:cs typeface="IBM Plex Sans" pitchFamily="34" charset="-120"/>
              </a:rPr>
              <a:t>Load and performance tests</a:t>
            </a:r>
            <a:endParaRPr lang="en-US" sz="1400" dirty="0"/>
          </a:p>
        </p:txBody>
      </p:sp>
      <p:sp>
        <p:nvSpPr>
          <p:cNvPr id="16" name="Text 14"/>
          <p:cNvSpPr/>
          <p:nvPr/>
        </p:nvSpPr>
        <p:spPr>
          <a:xfrm>
            <a:off x="812800" y="6238239"/>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7" name="Text 15"/>
          <p:cNvSpPr/>
          <p:nvPr/>
        </p:nvSpPr>
        <p:spPr>
          <a:xfrm>
            <a:off x="8346678" y="6238239"/>
            <a:ext cx="31234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Definition: ISTQB Glossary (test automation)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L9 · MANUAL AND AUTOMATION TESTING</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Manual vs automated, side by side</a:t>
            </a:r>
            <a:endParaRPr lang="en-US" sz="3200" dirty="0"/>
          </a:p>
        </p:txBody>
      </p:sp>
      <p:sp>
        <p:nvSpPr>
          <p:cNvPr id="4" name="Shape 2"/>
          <p:cNvSpPr/>
          <p:nvPr/>
        </p:nvSpPr>
        <p:spPr>
          <a:xfrm>
            <a:off x="11376025" y="1828800"/>
            <a:ext cx="0" cy="3083560"/>
          </a:xfrm>
          <a:prstGeom prst="line">
            <a:avLst/>
          </a:prstGeom>
          <a:noFill/>
          <a:ln w="6350">
            <a:solidFill>
              <a:srgbClr val="DDD8CC"/>
            </a:solidFill>
            <a:prstDash val="solid"/>
          </a:ln>
        </p:spPr>
      </p:sp>
      <p:sp>
        <p:nvSpPr>
          <p:cNvPr id="5" name="Shape 3"/>
          <p:cNvSpPr/>
          <p:nvPr/>
        </p:nvSpPr>
        <p:spPr>
          <a:xfrm>
            <a:off x="812800" y="490918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3068320"/>
        </p:xfrm>
        <a:graphic>
          <a:graphicData uri="http://schemas.openxmlformats.org/drawingml/2006/table">
            <a:tbl>
              <a:tblPr/>
              <a:tblGrid>
                <a:gridCol w="2532278"/>
                <a:gridCol w="4009441"/>
                <a:gridCol w="4009441"/>
              </a:tblGrid>
              <a:tr h="383540">
                <a:tc>
                  <a:txBody>
                    <a:bodyPr/>
                    <a:lstStyle/>
                    <a:p>
                      <a:pPr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Aspect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Manual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Automated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Speed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Slow; paced by people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Fast; unattended and in parallel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Repeatability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Varies by run and by tester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Same steps and checks every run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Cost over 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Low setup; pay on every run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High setup; low cost per run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Human judgement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Spots UX issues and oddities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Checks only what is scripted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Maintenance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Update test documents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Update scripts as the app changes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CI/CD fit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Cannot run on every commit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Runs on every commit as a gate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Typical use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Exploratory, usability, ad hoc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Regression, smoke, data-driven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Text 4"/>
          <p:cNvSpPr/>
          <p:nvPr/>
        </p:nvSpPr>
        <p:spPr>
          <a:xfrm>
            <a:off x="812800" y="5166361"/>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Most teams combine both: automate the repeatable checks and keep people on exploration and judgement.</a:t>
            </a:r>
            <a:endParaRPr lang="en-US" sz="1400" dirty="0"/>
          </a:p>
        </p:txBody>
      </p:sp>
      <p:sp>
        <p:nvSpPr>
          <p:cNvPr id="8" name="Text 5"/>
          <p:cNvSpPr/>
          <p:nvPr/>
        </p:nvSpPr>
        <p:spPr>
          <a:xfrm>
            <a:off x="812800" y="6238239"/>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L9 · MANUAL AND AUTOMATION TESTING</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Choosing what to automate</a:t>
            </a:r>
            <a:endParaRPr lang="en-US" sz="3200" dirty="0"/>
          </a:p>
        </p:txBody>
      </p:sp>
      <p:sp>
        <p:nvSpPr>
          <p:cNvPr id="4" name="Text 2"/>
          <p:cNvSpPr/>
          <p:nvPr/>
        </p:nvSpPr>
        <p:spPr>
          <a:xfrm>
            <a:off x="787400" y="1828800"/>
            <a:ext cx="1320800" cy="25654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RUNS RARELY</a:t>
            </a:r>
            <a:endParaRPr lang="en-US" sz="1200" dirty="0"/>
          </a:p>
        </p:txBody>
      </p:sp>
      <p:sp>
        <p:nvSpPr>
          <p:cNvPr id="5" name="Text 3"/>
          <p:cNvSpPr/>
          <p:nvPr/>
        </p:nvSpPr>
        <p:spPr>
          <a:xfrm>
            <a:off x="2147824" y="1828800"/>
            <a:ext cx="2511552" cy="25654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RUNS OFTEN</a:t>
            </a:r>
            <a:endParaRPr lang="en-US" sz="1200" dirty="0"/>
          </a:p>
        </p:txBody>
      </p:sp>
      <p:sp>
        <p:nvSpPr>
          <p:cNvPr id="6" name="Text 4"/>
          <p:cNvSpPr/>
          <p:nvPr/>
        </p:nvSpPr>
        <p:spPr>
          <a:xfrm>
            <a:off x="4724400" y="1828800"/>
            <a:ext cx="2511552"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Stable feature</a:t>
            </a:r>
            <a:endParaRPr lang="en-US" sz="1400" dirty="0"/>
          </a:p>
        </p:txBody>
      </p:sp>
      <p:sp>
        <p:nvSpPr>
          <p:cNvPr id="7" name="Shape 5"/>
          <p:cNvSpPr/>
          <p:nvPr/>
        </p:nvSpPr>
        <p:spPr>
          <a:xfrm>
            <a:off x="815975" y="2164714"/>
            <a:ext cx="1263650" cy="1725930"/>
          </a:xfrm>
          <a:prstGeom prst="roundRect">
            <a:avLst>
              <a:gd name="adj" fmla="val 5779"/>
            </a:avLst>
          </a:prstGeom>
          <a:solidFill>
            <a:srgbClr val="FCFBF7"/>
          </a:solidFill>
          <a:ln w="6350">
            <a:solidFill>
              <a:srgbClr val="DDD8CC"/>
            </a:solidFill>
            <a:prstDash val="solid"/>
          </a:ln>
        </p:spPr>
      </p:sp>
      <p:sp>
        <p:nvSpPr>
          <p:cNvPr id="8" name="Text 6"/>
          <p:cNvSpPr/>
          <p:nvPr/>
        </p:nvSpPr>
        <p:spPr>
          <a:xfrm>
            <a:off x="995680" y="2344421"/>
            <a:ext cx="955040" cy="4876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Automate if cheap</a:t>
            </a:r>
            <a:endParaRPr lang="en-US" sz="1400" dirty="0"/>
          </a:p>
        </p:txBody>
      </p:sp>
      <p:sp>
        <p:nvSpPr>
          <p:cNvPr id="9" name="Text 7"/>
          <p:cNvSpPr/>
          <p:nvPr/>
        </p:nvSpPr>
        <p:spPr>
          <a:xfrm>
            <a:off x="995680" y="2857500"/>
            <a:ext cx="95504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e.g. the monthly sales report export</a:t>
            </a:r>
            <a:endParaRPr lang="en-US" sz="1200" dirty="0"/>
          </a:p>
        </p:txBody>
      </p:sp>
      <p:sp>
        <p:nvSpPr>
          <p:cNvPr id="10" name="Shape 8"/>
          <p:cNvSpPr/>
          <p:nvPr/>
        </p:nvSpPr>
        <p:spPr>
          <a:xfrm>
            <a:off x="2187575" y="2164714"/>
            <a:ext cx="2432050" cy="1725930"/>
          </a:xfrm>
          <a:prstGeom prst="roundRect">
            <a:avLst>
              <a:gd name="adj" fmla="val 4231"/>
            </a:avLst>
          </a:prstGeom>
          <a:solidFill>
            <a:srgbClr val="F7E3D5"/>
          </a:solidFill>
          <a:ln w="6350">
            <a:solidFill>
              <a:srgbClr val="E9C3A8"/>
            </a:solidFill>
            <a:prstDash val="solid"/>
          </a:ln>
        </p:spPr>
      </p:sp>
      <p:sp>
        <p:nvSpPr>
          <p:cNvPr id="11" name="Text 9"/>
          <p:cNvSpPr/>
          <p:nvPr/>
        </p:nvSpPr>
        <p:spPr>
          <a:xfrm>
            <a:off x="2367280" y="2344421"/>
            <a:ext cx="213481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Automate first</a:t>
            </a:r>
            <a:endParaRPr lang="en-US" sz="1400" dirty="0"/>
          </a:p>
        </p:txBody>
      </p:sp>
      <p:sp>
        <p:nvSpPr>
          <p:cNvPr id="12" name="Text 10"/>
          <p:cNvSpPr/>
          <p:nvPr/>
        </p:nvSpPr>
        <p:spPr>
          <a:xfrm>
            <a:off x="2367280" y="2626361"/>
            <a:ext cx="21348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e.g. login, add to cart, checkout</a:t>
            </a:r>
            <a:endParaRPr lang="en-US" sz="1200" dirty="0"/>
          </a:p>
        </p:txBody>
      </p:sp>
      <p:sp>
        <p:nvSpPr>
          <p:cNvPr id="13" name="Text 11"/>
          <p:cNvSpPr/>
          <p:nvPr/>
        </p:nvSpPr>
        <p:spPr>
          <a:xfrm>
            <a:off x="4724400" y="2912111"/>
            <a:ext cx="2511552"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Changing feature</a:t>
            </a:r>
            <a:endParaRPr lang="en-US" sz="1400" dirty="0"/>
          </a:p>
        </p:txBody>
      </p:sp>
      <p:sp>
        <p:nvSpPr>
          <p:cNvPr id="14" name="Shape 12"/>
          <p:cNvSpPr/>
          <p:nvPr/>
        </p:nvSpPr>
        <p:spPr>
          <a:xfrm>
            <a:off x="815975" y="3998596"/>
            <a:ext cx="1263650" cy="1725930"/>
          </a:xfrm>
          <a:prstGeom prst="roundRect">
            <a:avLst>
              <a:gd name="adj" fmla="val 5779"/>
            </a:avLst>
          </a:prstGeom>
          <a:solidFill>
            <a:srgbClr val="FCFBF7"/>
          </a:solidFill>
          <a:ln w="6350">
            <a:solidFill>
              <a:srgbClr val="DDD8CC"/>
            </a:solidFill>
            <a:prstDash val="solid"/>
          </a:ln>
        </p:spPr>
      </p:sp>
      <p:sp>
        <p:nvSpPr>
          <p:cNvPr id="15" name="Text 13"/>
          <p:cNvSpPr/>
          <p:nvPr/>
        </p:nvSpPr>
        <p:spPr>
          <a:xfrm>
            <a:off x="995680" y="4178300"/>
            <a:ext cx="955040" cy="4876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Keep manual</a:t>
            </a:r>
            <a:endParaRPr lang="en-US" sz="1400" dirty="0"/>
          </a:p>
        </p:txBody>
      </p:sp>
      <p:sp>
        <p:nvSpPr>
          <p:cNvPr id="16" name="Text 14"/>
          <p:cNvSpPr/>
          <p:nvPr/>
        </p:nvSpPr>
        <p:spPr>
          <a:xfrm>
            <a:off x="995680" y="4691379"/>
            <a:ext cx="95504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e.g. exploring the redesigned menu screen</a:t>
            </a:r>
            <a:endParaRPr lang="en-US" sz="1200" dirty="0"/>
          </a:p>
        </p:txBody>
      </p:sp>
      <p:sp>
        <p:nvSpPr>
          <p:cNvPr id="17" name="Shape 15"/>
          <p:cNvSpPr/>
          <p:nvPr/>
        </p:nvSpPr>
        <p:spPr>
          <a:xfrm>
            <a:off x="2187575" y="3998596"/>
            <a:ext cx="2432050" cy="1725930"/>
          </a:xfrm>
          <a:prstGeom prst="roundRect">
            <a:avLst>
              <a:gd name="adj" fmla="val 4231"/>
            </a:avLst>
          </a:prstGeom>
          <a:solidFill>
            <a:srgbClr val="FCFBF7"/>
          </a:solidFill>
          <a:ln w="6350">
            <a:solidFill>
              <a:srgbClr val="DDD8CC"/>
            </a:solidFill>
            <a:prstDash val="solid"/>
          </a:ln>
        </p:spPr>
      </p:sp>
      <p:sp>
        <p:nvSpPr>
          <p:cNvPr id="18" name="Text 16"/>
          <p:cNvSpPr/>
          <p:nvPr/>
        </p:nvSpPr>
        <p:spPr>
          <a:xfrm>
            <a:off x="2367280" y="4178300"/>
            <a:ext cx="213481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Automate below the UI</a:t>
            </a:r>
            <a:endParaRPr lang="en-US" sz="1400" dirty="0"/>
          </a:p>
        </p:txBody>
      </p:sp>
      <p:sp>
        <p:nvSpPr>
          <p:cNvPr id="19" name="Text 17"/>
          <p:cNvSpPr/>
          <p:nvPr/>
        </p:nvSpPr>
        <p:spPr>
          <a:xfrm>
            <a:off x="2367280" y="4460242"/>
            <a:ext cx="21348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e.g. unit tests for new combo-meal pricing</a:t>
            </a:r>
            <a:endParaRPr lang="en-US" sz="1200" dirty="0"/>
          </a:p>
        </p:txBody>
      </p:sp>
      <p:sp>
        <p:nvSpPr>
          <p:cNvPr id="20" name="Text 18"/>
          <p:cNvSpPr/>
          <p:nvPr/>
        </p:nvSpPr>
        <p:spPr>
          <a:xfrm>
            <a:off x="7467600" y="1828800"/>
            <a:ext cx="40289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AUTOMATE WHEN A TEST IS</a:t>
            </a:r>
            <a:endParaRPr lang="en-US" sz="1200" dirty="0"/>
          </a:p>
        </p:txBody>
      </p:sp>
      <p:sp>
        <p:nvSpPr>
          <p:cNvPr id="21" name="Text 19"/>
          <p:cNvSpPr/>
          <p:nvPr/>
        </p:nvSpPr>
        <p:spPr>
          <a:xfrm>
            <a:off x="7467600" y="2118361"/>
            <a:ext cx="4028948" cy="1358900"/>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Run on every build</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Stable and deterministic</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Guarding a high business risk</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Data-driven, with many inputs</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Needed on many browsers</a:t>
            </a:r>
            <a:endParaRPr lang="en-US" sz="1400" dirty="0"/>
          </a:p>
        </p:txBody>
      </p:sp>
      <p:sp>
        <p:nvSpPr>
          <p:cNvPr id="22" name="Text 20"/>
          <p:cNvSpPr/>
          <p:nvPr/>
        </p:nvSpPr>
        <p:spPr>
          <a:xfrm>
            <a:off x="7467600" y="3680461"/>
            <a:ext cx="40289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KEEP MANUAL WHEN IT NEEDS</a:t>
            </a:r>
            <a:endParaRPr lang="en-US" sz="1200" dirty="0"/>
          </a:p>
        </p:txBody>
      </p:sp>
      <p:sp>
        <p:nvSpPr>
          <p:cNvPr id="23" name="Text 21"/>
          <p:cNvSpPr/>
          <p:nvPr/>
        </p:nvSpPr>
        <p:spPr>
          <a:xfrm>
            <a:off x="7467600" y="3970021"/>
            <a:ext cx="4028948" cy="825500"/>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Human judgement of look and feel</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Free exploration of a new feature</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Only a one-off check</a:t>
            </a:r>
            <a:endParaRPr lang="en-US" sz="1400" dirty="0"/>
          </a:p>
        </p:txBody>
      </p:sp>
      <p:sp>
        <p:nvSpPr>
          <p:cNvPr id="24" name="Text 22"/>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5" name="Text 23"/>
          <p:cNvSpPr/>
          <p:nvPr/>
        </p:nvSpPr>
        <p:spPr>
          <a:xfrm>
            <a:off x="8744903" y="6238242"/>
            <a:ext cx="27133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Highlighted: the first tests to automate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L9 · MANUAL AND AUTOMATION TESTING</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The test automation pyramid</a:t>
            </a:r>
            <a:endParaRPr lang="en-US" sz="3200" dirty="0"/>
          </a:p>
        </p:txBody>
      </p:sp>
      <p:sp>
        <p:nvSpPr>
          <p:cNvPr id="4" name="Shape 2"/>
          <p:cNvSpPr/>
          <p:nvPr/>
        </p:nvSpPr>
        <p:spPr>
          <a:xfrm>
            <a:off x="2597150" y="1835150"/>
            <a:ext cx="2781300" cy="398780"/>
          </a:xfrm>
          <a:prstGeom prst="roundRect">
            <a:avLst>
              <a:gd name="adj" fmla="val 50000"/>
            </a:avLst>
          </a:prstGeom>
          <a:noFill/>
          <a:ln w="12700">
            <a:solidFill>
              <a:srgbClr val="7FA3D1"/>
            </a:solidFill>
            <a:prstDash val="dash"/>
          </a:ln>
        </p:spPr>
      </p:sp>
      <p:sp>
        <p:nvSpPr>
          <p:cNvPr id="5" name="Text 3"/>
          <p:cNvSpPr/>
          <p:nvPr/>
        </p:nvSpPr>
        <p:spPr>
          <a:xfrm>
            <a:off x="2716327" y="1927860"/>
            <a:ext cx="254294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Manual exploratory testing</a:t>
            </a:r>
            <a:endParaRPr lang="en-US" sz="1200" dirty="0"/>
          </a:p>
        </p:txBody>
      </p:sp>
      <p:sp>
        <p:nvSpPr>
          <p:cNvPr id="6" name="Shape 4"/>
          <p:cNvSpPr/>
          <p:nvPr/>
        </p:nvSpPr>
        <p:spPr>
          <a:xfrm>
            <a:off x="2654300" y="2316479"/>
            <a:ext cx="2667000" cy="741680"/>
          </a:xfrm>
          <a:prstGeom prst="roundRect">
            <a:avLst>
              <a:gd name="adj" fmla="val 6849"/>
            </a:avLst>
          </a:prstGeom>
          <a:solidFill>
            <a:srgbClr val="E98B53"/>
          </a:solidFill>
          <a:ln/>
        </p:spPr>
      </p:sp>
      <p:sp>
        <p:nvSpPr>
          <p:cNvPr id="7" name="Text 5"/>
          <p:cNvSpPr/>
          <p:nvPr/>
        </p:nvSpPr>
        <p:spPr>
          <a:xfrm>
            <a:off x="3341450" y="2443479"/>
            <a:ext cx="134342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UI / end-to-end</a:t>
            </a:r>
            <a:endParaRPr lang="en-US" sz="1400" dirty="0"/>
          </a:p>
        </p:txBody>
      </p:sp>
      <p:sp>
        <p:nvSpPr>
          <p:cNvPr id="8" name="Text 6"/>
          <p:cNvSpPr/>
          <p:nvPr/>
        </p:nvSpPr>
        <p:spPr>
          <a:xfrm>
            <a:off x="3376533" y="2717800"/>
            <a:ext cx="12732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few · slow · brittle</a:t>
            </a:r>
            <a:endParaRPr lang="en-US" sz="1200" dirty="0"/>
          </a:p>
        </p:txBody>
      </p:sp>
      <p:sp>
        <p:nvSpPr>
          <p:cNvPr id="9" name="Shape 7"/>
          <p:cNvSpPr/>
          <p:nvPr/>
        </p:nvSpPr>
        <p:spPr>
          <a:xfrm>
            <a:off x="1733550" y="3134364"/>
            <a:ext cx="4508500" cy="741680"/>
          </a:xfrm>
          <a:prstGeom prst="roundRect">
            <a:avLst>
              <a:gd name="adj" fmla="val 6849"/>
            </a:avLst>
          </a:prstGeom>
          <a:solidFill>
            <a:srgbClr val="7FA3D1"/>
          </a:solidFill>
          <a:ln/>
        </p:spPr>
      </p:sp>
      <p:sp>
        <p:nvSpPr>
          <p:cNvPr id="10" name="Text 8"/>
          <p:cNvSpPr/>
          <p:nvPr/>
        </p:nvSpPr>
        <p:spPr>
          <a:xfrm>
            <a:off x="3288506" y="3261364"/>
            <a:ext cx="144938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Integration / API</a:t>
            </a:r>
            <a:endParaRPr lang="en-US" sz="1400" dirty="0"/>
          </a:p>
        </p:txBody>
      </p:sp>
      <p:sp>
        <p:nvSpPr>
          <p:cNvPr id="11" name="Text 9"/>
          <p:cNvSpPr/>
          <p:nvPr/>
        </p:nvSpPr>
        <p:spPr>
          <a:xfrm>
            <a:off x="3272631" y="3535679"/>
            <a:ext cx="14811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some · seconds each</a:t>
            </a:r>
            <a:endParaRPr lang="en-US" sz="1200" dirty="0"/>
          </a:p>
        </p:txBody>
      </p:sp>
      <p:sp>
        <p:nvSpPr>
          <p:cNvPr id="12" name="Shape 10"/>
          <p:cNvSpPr/>
          <p:nvPr/>
        </p:nvSpPr>
        <p:spPr>
          <a:xfrm>
            <a:off x="812800" y="3952242"/>
            <a:ext cx="6350000" cy="741680"/>
          </a:xfrm>
          <a:prstGeom prst="roundRect">
            <a:avLst>
              <a:gd name="adj" fmla="val 6849"/>
            </a:avLst>
          </a:prstGeom>
          <a:solidFill>
            <a:srgbClr val="245A9C"/>
          </a:solidFill>
          <a:ln/>
        </p:spPr>
      </p:sp>
      <p:sp>
        <p:nvSpPr>
          <p:cNvPr id="13" name="Text 11"/>
          <p:cNvSpPr/>
          <p:nvPr/>
        </p:nvSpPr>
        <p:spPr>
          <a:xfrm>
            <a:off x="3816509" y="4079242"/>
            <a:ext cx="39330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Unit</a:t>
            </a:r>
            <a:endParaRPr lang="en-US" sz="1400" dirty="0"/>
          </a:p>
        </p:txBody>
      </p:sp>
      <p:sp>
        <p:nvSpPr>
          <p:cNvPr id="14" name="Text 12"/>
          <p:cNvSpPr/>
          <p:nvPr/>
        </p:nvSpPr>
        <p:spPr>
          <a:xfrm>
            <a:off x="2453640" y="4353564"/>
            <a:ext cx="3160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many · milliseconds each · cheap to maintain</a:t>
            </a:r>
            <a:endParaRPr lang="en-US" sz="1200" dirty="0"/>
          </a:p>
        </p:txBody>
      </p:sp>
      <p:sp>
        <p:nvSpPr>
          <p:cNvPr id="15" name="Text 13"/>
          <p:cNvSpPr/>
          <p:nvPr/>
        </p:nvSpPr>
        <p:spPr>
          <a:xfrm>
            <a:off x="7467600" y="1828800"/>
            <a:ext cx="40289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WHY THIS SHAPE</a:t>
            </a:r>
            <a:endParaRPr lang="en-US" sz="1200" dirty="0"/>
          </a:p>
        </p:txBody>
      </p:sp>
      <p:sp>
        <p:nvSpPr>
          <p:cNvPr id="16" name="Text 14"/>
          <p:cNvSpPr/>
          <p:nvPr/>
        </p:nvSpPr>
        <p:spPr>
          <a:xfrm>
            <a:off x="7467600" y="2143764"/>
            <a:ext cx="402894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Lower layers are fast and precise: a failing unit test points at one function.</a:t>
            </a:r>
            <a:endParaRPr lang="en-US" sz="1400" dirty="0"/>
          </a:p>
        </p:txBody>
      </p:sp>
      <p:sp>
        <p:nvSpPr>
          <p:cNvPr id="17" name="Text 15"/>
          <p:cNvSpPr/>
          <p:nvPr/>
        </p:nvSpPr>
        <p:spPr>
          <a:xfrm>
            <a:off x="7467600" y="2743200"/>
            <a:ext cx="402894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Upper layers are realistic but slow, costly and more likely to be flaky.</a:t>
            </a:r>
            <a:endParaRPr lang="en-US" sz="1400" dirty="0"/>
          </a:p>
        </p:txBody>
      </p:sp>
      <p:sp>
        <p:nvSpPr>
          <p:cNvPr id="18" name="Text 16"/>
          <p:cNvSpPr/>
          <p:nvPr/>
        </p:nvSpPr>
        <p:spPr>
          <a:xfrm>
            <a:off x="7467600" y="3342642"/>
            <a:ext cx="402894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Push each check down to the lowest layer that can catch the bug.</a:t>
            </a:r>
            <a:endParaRPr lang="en-US" sz="1400" dirty="0"/>
          </a:p>
        </p:txBody>
      </p:sp>
      <p:sp>
        <p:nvSpPr>
          <p:cNvPr id="19" name="Shape 17"/>
          <p:cNvSpPr/>
          <p:nvPr/>
        </p:nvSpPr>
        <p:spPr>
          <a:xfrm>
            <a:off x="7467600" y="3942079"/>
            <a:ext cx="3911600" cy="995680"/>
          </a:xfrm>
          <a:prstGeom prst="roundRect">
            <a:avLst>
              <a:gd name="adj" fmla="val 7653"/>
            </a:avLst>
          </a:prstGeom>
          <a:solidFill>
            <a:srgbClr val="F7E3D5"/>
          </a:solidFill>
          <a:ln/>
        </p:spPr>
      </p:sp>
      <p:sp>
        <p:nvSpPr>
          <p:cNvPr id="20" name="Text 18"/>
          <p:cNvSpPr/>
          <p:nvPr/>
        </p:nvSpPr>
        <p:spPr>
          <a:xfrm>
            <a:off x="7645400" y="4094479"/>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ANTI-PATTERN: ICE-CREAM CONE</a:t>
            </a:r>
            <a:endParaRPr lang="en-US" sz="1200" dirty="0"/>
          </a:p>
        </p:txBody>
      </p:sp>
      <p:sp>
        <p:nvSpPr>
          <p:cNvPr id="21" name="Text 19"/>
          <p:cNvSpPr/>
          <p:nvPr/>
        </p:nvSpPr>
        <p:spPr>
          <a:xfrm>
            <a:off x="7645400" y="4358642"/>
            <a:ext cx="36626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Mostly manual and UI tests, few unit tests: feedback is slow and failures are hard to locate.</a:t>
            </a:r>
            <a:endParaRPr lang="en-US" sz="1200" dirty="0"/>
          </a:p>
        </p:txBody>
      </p:sp>
      <p:sp>
        <p:nvSpPr>
          <p:cNvPr id="22" name="Text 20"/>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3" name="Text 21"/>
          <p:cNvSpPr/>
          <p:nvPr/>
        </p:nvSpPr>
        <p:spPr>
          <a:xfrm>
            <a:off x="7944485" y="6238242"/>
            <a:ext cx="35377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Pyramid: Mike Cohn, Succeeding with Agile (2009)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8B53"/>
        </a:solidFill>
      </p:bgPr>
    </p:bg>
    <p:spTree>
      <p:nvGrpSpPr>
        <p:cNvPr id="1" name=""/>
        <p:cNvGrpSpPr/>
        <p:nvPr/>
      </p:nvGrpSpPr>
      <p:grpSpPr>
        <a:xfrm>
          <a:off x="0" y="0"/>
          <a:ext cx="0" cy="0"/>
          <a:chOff x="0" y="0"/>
          <a:chExt cx="0" cy="0"/>
        </a:xfrm>
      </p:grpSpPr>
      <p:sp>
        <p:nvSpPr>
          <p:cNvPr id="2" name="Text 0"/>
          <p:cNvSpPr/>
          <p:nvPr/>
        </p:nvSpPr>
        <p:spPr>
          <a:xfrm>
            <a:off x="812800" y="166877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3233A"/>
                </a:solidFill>
                <a:latin typeface="JetBrains Mono" pitchFamily="34" charset="0"/>
                <a:ea typeface="JetBrains Mono" pitchFamily="34" charset="-122"/>
                <a:cs typeface="JetBrains Mono" pitchFamily="34" charset="-120"/>
              </a:rPr>
              <a:t>A COMMON STARTING RATIO</a:t>
            </a:r>
            <a:endParaRPr lang="en-US" sz="1200" dirty="0"/>
          </a:p>
        </p:txBody>
      </p:sp>
      <p:sp>
        <p:nvSpPr>
          <p:cNvPr id="3" name="Shape 1"/>
          <p:cNvSpPr/>
          <p:nvPr/>
        </p:nvSpPr>
        <p:spPr>
          <a:xfrm>
            <a:off x="812800" y="2247267"/>
            <a:ext cx="3318907" cy="0"/>
          </a:xfrm>
          <a:prstGeom prst="line">
            <a:avLst/>
          </a:prstGeom>
          <a:noFill/>
          <a:ln w="19050">
            <a:solidFill>
              <a:srgbClr val="13233A"/>
            </a:solidFill>
            <a:prstDash val="solid"/>
          </a:ln>
        </p:spPr>
      </p:sp>
      <p:sp>
        <p:nvSpPr>
          <p:cNvPr id="4" name="Text 2"/>
          <p:cNvSpPr/>
          <p:nvPr/>
        </p:nvSpPr>
        <p:spPr>
          <a:xfrm>
            <a:off x="812800" y="2405379"/>
            <a:ext cx="3418474"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13233A"/>
                </a:solidFill>
                <a:latin typeface="Space Grotesk" pitchFamily="34" charset="0"/>
                <a:ea typeface="Space Grotesk" pitchFamily="34" charset="-122"/>
                <a:cs typeface="Space Grotesk" pitchFamily="34" charset="-120"/>
              </a:rPr>
              <a:t>70%</a:t>
            </a:r>
            <a:endParaRPr lang="en-US" sz="10000" dirty="0"/>
          </a:p>
        </p:txBody>
      </p:sp>
      <p:sp>
        <p:nvSpPr>
          <p:cNvPr id="5" name="Text 3"/>
          <p:cNvSpPr/>
          <p:nvPr/>
        </p:nvSpPr>
        <p:spPr>
          <a:xfrm>
            <a:off x="812800" y="3726179"/>
            <a:ext cx="341847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3233A"/>
                </a:solidFill>
                <a:latin typeface="IBM Plex Sans" pitchFamily="34" charset="0"/>
                <a:ea typeface="IBM Plex Sans" pitchFamily="34" charset="-122"/>
                <a:cs typeface="IBM Plex Sans" pitchFamily="34" charset="-120"/>
              </a:rPr>
              <a:t>unit tests</a:t>
            </a:r>
            <a:endParaRPr lang="en-US" sz="2000" dirty="0"/>
          </a:p>
        </p:txBody>
      </p:sp>
      <p:sp>
        <p:nvSpPr>
          <p:cNvPr id="6" name="Shape 4"/>
          <p:cNvSpPr/>
          <p:nvPr/>
        </p:nvSpPr>
        <p:spPr>
          <a:xfrm>
            <a:off x="4436507" y="2247267"/>
            <a:ext cx="3318986" cy="0"/>
          </a:xfrm>
          <a:prstGeom prst="line">
            <a:avLst/>
          </a:prstGeom>
          <a:noFill/>
          <a:ln w="19050">
            <a:solidFill>
              <a:srgbClr val="13233A"/>
            </a:solidFill>
            <a:prstDash val="solid"/>
          </a:ln>
        </p:spPr>
      </p:sp>
      <p:sp>
        <p:nvSpPr>
          <p:cNvPr id="7" name="Text 5"/>
          <p:cNvSpPr/>
          <p:nvPr/>
        </p:nvSpPr>
        <p:spPr>
          <a:xfrm>
            <a:off x="4436507" y="2405379"/>
            <a:ext cx="3418556"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13233A"/>
                </a:solidFill>
                <a:latin typeface="Space Grotesk" pitchFamily="34" charset="0"/>
                <a:ea typeface="Space Grotesk" pitchFamily="34" charset="-122"/>
                <a:cs typeface="Space Grotesk" pitchFamily="34" charset="-120"/>
              </a:rPr>
              <a:t>20%</a:t>
            </a:r>
            <a:endParaRPr lang="en-US" sz="10000" dirty="0"/>
          </a:p>
        </p:txBody>
      </p:sp>
      <p:sp>
        <p:nvSpPr>
          <p:cNvPr id="8" name="Text 6"/>
          <p:cNvSpPr/>
          <p:nvPr/>
        </p:nvSpPr>
        <p:spPr>
          <a:xfrm>
            <a:off x="4436507" y="3726179"/>
            <a:ext cx="3418556"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3233A"/>
                </a:solidFill>
                <a:latin typeface="IBM Plex Sans" pitchFamily="34" charset="0"/>
                <a:ea typeface="IBM Plex Sans" pitchFamily="34" charset="-122"/>
                <a:cs typeface="IBM Plex Sans" pitchFamily="34" charset="-120"/>
              </a:rPr>
              <a:t>integration tests</a:t>
            </a:r>
            <a:endParaRPr lang="en-US" sz="2000" dirty="0"/>
          </a:p>
        </p:txBody>
      </p:sp>
      <p:sp>
        <p:nvSpPr>
          <p:cNvPr id="9" name="Shape 7"/>
          <p:cNvSpPr/>
          <p:nvPr/>
        </p:nvSpPr>
        <p:spPr>
          <a:xfrm>
            <a:off x="8060293" y="2247267"/>
            <a:ext cx="3318907" cy="0"/>
          </a:xfrm>
          <a:prstGeom prst="line">
            <a:avLst/>
          </a:prstGeom>
          <a:noFill/>
          <a:ln w="19050">
            <a:solidFill>
              <a:srgbClr val="13233A"/>
            </a:solidFill>
            <a:prstDash val="solid"/>
          </a:ln>
        </p:spPr>
      </p:sp>
      <p:sp>
        <p:nvSpPr>
          <p:cNvPr id="10" name="Text 8"/>
          <p:cNvSpPr/>
          <p:nvPr/>
        </p:nvSpPr>
        <p:spPr>
          <a:xfrm>
            <a:off x="8060293" y="2405379"/>
            <a:ext cx="3418474"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13233A"/>
                </a:solidFill>
                <a:latin typeface="Space Grotesk" pitchFamily="34" charset="0"/>
                <a:ea typeface="Space Grotesk" pitchFamily="34" charset="-122"/>
                <a:cs typeface="Space Grotesk" pitchFamily="34" charset="-120"/>
              </a:rPr>
              <a:t>10%</a:t>
            </a:r>
            <a:endParaRPr lang="en-US" sz="10000" dirty="0"/>
          </a:p>
        </p:txBody>
      </p:sp>
      <p:sp>
        <p:nvSpPr>
          <p:cNvPr id="11" name="Text 9"/>
          <p:cNvSpPr/>
          <p:nvPr/>
        </p:nvSpPr>
        <p:spPr>
          <a:xfrm>
            <a:off x="8060293" y="3726179"/>
            <a:ext cx="341847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3233A"/>
                </a:solidFill>
                <a:latin typeface="IBM Plex Sans" pitchFamily="34" charset="0"/>
                <a:ea typeface="IBM Plex Sans" pitchFamily="34" charset="-122"/>
                <a:cs typeface="IBM Plex Sans" pitchFamily="34" charset="-120"/>
              </a:rPr>
              <a:t>end-to-end tests</a:t>
            </a:r>
            <a:endParaRPr lang="en-US" sz="2000" dirty="0"/>
          </a:p>
        </p:txBody>
      </p:sp>
      <p:sp>
        <p:nvSpPr>
          <p:cNvPr id="12" name="Text 10"/>
          <p:cNvSpPr/>
          <p:nvPr/>
        </p:nvSpPr>
        <p:spPr>
          <a:xfrm>
            <a:off x="812800" y="4437379"/>
            <a:ext cx="98107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“Google often suggests a 70/20/10 split: 70% unit tests, 20% integration tests, and 10% end-to-end tests.”</a:t>
            </a:r>
            <a:endParaRPr lang="en-US" sz="1400" dirty="0"/>
          </a:p>
        </p:txBody>
      </p:sp>
      <p:sp>
        <p:nvSpPr>
          <p:cNvPr id="13" name="Text 11"/>
          <p:cNvSpPr/>
          <p:nvPr/>
        </p:nvSpPr>
        <p:spPr>
          <a:xfrm>
            <a:off x="812800" y="4762500"/>
            <a:ext cx="98107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Mike Wacker, “Just Say No to More End-to-End Tests”, Google Testing Blog, 22 April 2015. A starting point to tune for your system, not a fixed rule.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L9 · UNIT TESTING</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Unit testing</a:t>
            </a:r>
            <a:endParaRPr lang="en-US" sz="3200" dirty="0"/>
          </a:p>
        </p:txBody>
      </p:sp>
      <p:sp>
        <p:nvSpPr>
          <p:cNvPr id="4" name="Text 2"/>
          <p:cNvSpPr/>
          <p:nvPr/>
        </p:nvSpPr>
        <p:spPr>
          <a:xfrm>
            <a:off x="812800" y="1828800"/>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ISTQB · COMPONENT TESTING</a:t>
            </a:r>
            <a:endParaRPr lang="en-US" sz="1200" dirty="0"/>
          </a:p>
        </p:txBody>
      </p:sp>
      <p:sp>
        <p:nvSpPr>
          <p:cNvPr id="5" name="Text 3"/>
          <p:cNvSpPr/>
          <p:nvPr/>
        </p:nvSpPr>
        <p:spPr>
          <a:xfrm>
            <a:off x="812800" y="2143764"/>
            <a:ext cx="4970780"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13233A"/>
                </a:solidFill>
                <a:latin typeface="Space Grotesk" pitchFamily="34" charset="0"/>
                <a:ea typeface="Space Grotesk" pitchFamily="34" charset="-122"/>
                <a:cs typeface="Space Grotesk" pitchFamily="34" charset="-120"/>
              </a:rPr>
              <a:t>“A test level that focuses on individual hardware or software components.”</a:t>
            </a:r>
            <a:endParaRPr lang="en-US" sz="2000" dirty="0"/>
          </a:p>
        </p:txBody>
      </p:sp>
      <p:sp>
        <p:nvSpPr>
          <p:cNvPr id="6" name="Text 4"/>
          <p:cNvSpPr/>
          <p:nvPr/>
        </p:nvSpPr>
        <p:spPr>
          <a:xfrm>
            <a:off x="812800" y="2880364"/>
            <a:ext cx="49707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The glossary lists unit testing as a synonym.</a:t>
            </a:r>
            <a:endParaRPr lang="en-US" sz="1200" dirty="0"/>
          </a:p>
        </p:txBody>
      </p:sp>
      <p:sp>
        <p:nvSpPr>
          <p:cNvPr id="7" name="Shape 5"/>
          <p:cNvSpPr/>
          <p:nvPr/>
        </p:nvSpPr>
        <p:spPr>
          <a:xfrm>
            <a:off x="812800" y="3350896"/>
            <a:ext cx="4826000" cy="0"/>
          </a:xfrm>
          <a:prstGeom prst="line">
            <a:avLst/>
          </a:prstGeom>
          <a:noFill/>
          <a:ln w="6350">
            <a:solidFill>
              <a:srgbClr val="DDD8CC"/>
            </a:solidFill>
            <a:prstDash val="solid"/>
          </a:ln>
        </p:spPr>
      </p:sp>
      <p:sp>
        <p:nvSpPr>
          <p:cNvPr id="8" name="Text 6"/>
          <p:cNvSpPr/>
          <p:nvPr/>
        </p:nvSpPr>
        <p:spPr>
          <a:xfrm>
            <a:off x="812800" y="3479800"/>
            <a:ext cx="9398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WHO</a:t>
            </a:r>
            <a:endParaRPr lang="en-US" sz="1200" dirty="0"/>
          </a:p>
        </p:txBody>
      </p:sp>
      <p:sp>
        <p:nvSpPr>
          <p:cNvPr id="9" name="Text 7"/>
          <p:cNvSpPr/>
          <p:nvPr/>
        </p:nvSpPr>
        <p:spPr>
          <a:xfrm>
            <a:off x="1854200" y="3454400"/>
            <a:ext cx="389813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Developers, while writing the code</a:t>
            </a:r>
            <a:endParaRPr lang="en-US" sz="1400" dirty="0"/>
          </a:p>
        </p:txBody>
      </p:sp>
      <p:sp>
        <p:nvSpPr>
          <p:cNvPr id="10" name="Shape 8"/>
          <p:cNvSpPr/>
          <p:nvPr/>
        </p:nvSpPr>
        <p:spPr>
          <a:xfrm>
            <a:off x="812800" y="3808096"/>
            <a:ext cx="4826000" cy="0"/>
          </a:xfrm>
          <a:prstGeom prst="line">
            <a:avLst/>
          </a:prstGeom>
          <a:noFill/>
          <a:ln w="6350">
            <a:solidFill>
              <a:srgbClr val="DDD8CC"/>
            </a:solidFill>
            <a:prstDash val="solid"/>
          </a:ln>
        </p:spPr>
      </p:sp>
      <p:sp>
        <p:nvSpPr>
          <p:cNvPr id="11" name="Text 9"/>
          <p:cNvSpPr/>
          <p:nvPr/>
        </p:nvSpPr>
        <p:spPr>
          <a:xfrm>
            <a:off x="812800" y="3937000"/>
            <a:ext cx="9398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WHEN</a:t>
            </a:r>
            <a:endParaRPr lang="en-US" sz="1200" dirty="0"/>
          </a:p>
        </p:txBody>
      </p:sp>
      <p:sp>
        <p:nvSpPr>
          <p:cNvPr id="12" name="Text 10"/>
          <p:cNvSpPr/>
          <p:nvPr/>
        </p:nvSpPr>
        <p:spPr>
          <a:xfrm>
            <a:off x="1854200" y="3911600"/>
            <a:ext cx="389813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On every commit, before merging</a:t>
            </a:r>
            <a:endParaRPr lang="en-US" sz="1400" dirty="0"/>
          </a:p>
        </p:txBody>
      </p:sp>
      <p:sp>
        <p:nvSpPr>
          <p:cNvPr id="13" name="Shape 11"/>
          <p:cNvSpPr/>
          <p:nvPr/>
        </p:nvSpPr>
        <p:spPr>
          <a:xfrm>
            <a:off x="812800" y="4265296"/>
            <a:ext cx="4826000" cy="0"/>
          </a:xfrm>
          <a:prstGeom prst="line">
            <a:avLst/>
          </a:prstGeom>
          <a:noFill/>
          <a:ln w="6350">
            <a:solidFill>
              <a:srgbClr val="DDD8CC"/>
            </a:solidFill>
            <a:prstDash val="solid"/>
          </a:ln>
        </p:spPr>
      </p:sp>
      <p:sp>
        <p:nvSpPr>
          <p:cNvPr id="14" name="Shape 12"/>
          <p:cNvSpPr/>
          <p:nvPr/>
        </p:nvSpPr>
        <p:spPr>
          <a:xfrm>
            <a:off x="812800" y="4970146"/>
            <a:ext cx="4826000" cy="0"/>
          </a:xfrm>
          <a:prstGeom prst="line">
            <a:avLst/>
          </a:prstGeom>
          <a:noFill/>
          <a:ln w="6350">
            <a:solidFill>
              <a:srgbClr val="DDD8CC"/>
            </a:solidFill>
            <a:prstDash val="solid"/>
          </a:ln>
        </p:spPr>
      </p:sp>
      <p:sp>
        <p:nvSpPr>
          <p:cNvPr id="15" name="Text 13"/>
          <p:cNvSpPr/>
          <p:nvPr/>
        </p:nvSpPr>
        <p:spPr>
          <a:xfrm>
            <a:off x="812800" y="4394200"/>
            <a:ext cx="9398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HOW</a:t>
            </a:r>
            <a:endParaRPr lang="en-US" sz="1200" dirty="0"/>
          </a:p>
        </p:txBody>
      </p:sp>
      <p:sp>
        <p:nvSpPr>
          <p:cNvPr id="16" name="Text 14"/>
          <p:cNvSpPr/>
          <p:nvPr/>
        </p:nvSpPr>
        <p:spPr>
          <a:xfrm>
            <a:off x="1854200" y="4368800"/>
            <a:ext cx="389813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In isolation; dependencies are replaced by test doubles</a:t>
            </a:r>
            <a:endParaRPr lang="en-US" sz="1400" dirty="0"/>
          </a:p>
        </p:txBody>
      </p:sp>
      <p:sp>
        <p:nvSpPr>
          <p:cNvPr id="17" name="Text 15"/>
          <p:cNvSpPr/>
          <p:nvPr/>
        </p:nvSpPr>
        <p:spPr>
          <a:xfrm>
            <a:off x="5943600" y="1828800"/>
            <a:ext cx="559866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GOOD UNIT TESTS ARE F.I.R.S.T.</a:t>
            </a:r>
            <a:endParaRPr lang="en-US" sz="1200" dirty="0"/>
          </a:p>
        </p:txBody>
      </p:sp>
      <p:sp>
        <p:nvSpPr>
          <p:cNvPr id="18" name="Shape 16"/>
          <p:cNvSpPr/>
          <p:nvPr/>
        </p:nvSpPr>
        <p:spPr>
          <a:xfrm>
            <a:off x="5946775" y="2146939"/>
            <a:ext cx="5429250" cy="537210"/>
          </a:xfrm>
          <a:prstGeom prst="roundRect">
            <a:avLst>
              <a:gd name="adj" fmla="val 13593"/>
            </a:avLst>
          </a:prstGeom>
          <a:solidFill>
            <a:srgbClr val="FCFBF7"/>
          </a:solidFill>
          <a:ln w="6350">
            <a:solidFill>
              <a:srgbClr val="DDD8CC"/>
            </a:solidFill>
            <a:prstDash val="solid"/>
          </a:ln>
        </p:spPr>
      </p:sp>
      <p:sp>
        <p:nvSpPr>
          <p:cNvPr id="19" name="Text 17"/>
          <p:cNvSpPr/>
          <p:nvPr/>
        </p:nvSpPr>
        <p:spPr>
          <a:xfrm>
            <a:off x="6101080" y="2237742"/>
            <a:ext cx="330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F</a:t>
            </a:r>
            <a:endParaRPr lang="en-US" sz="2000" dirty="0"/>
          </a:p>
        </p:txBody>
      </p:sp>
      <p:sp>
        <p:nvSpPr>
          <p:cNvPr id="20" name="Text 18"/>
          <p:cNvSpPr/>
          <p:nvPr/>
        </p:nvSpPr>
        <p:spPr>
          <a:xfrm>
            <a:off x="6532880" y="2319021"/>
            <a:ext cx="4829505"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33A"/>
                </a:solidFill>
                <a:latin typeface="IBM Plex Sans" pitchFamily="34" charset="0"/>
                <a:ea typeface="IBM Plex Sans" pitchFamily="34" charset="-122"/>
                <a:cs typeface="IBM Plex Sans" pitchFamily="34" charset="-120"/>
              </a:rPr>
              <a:t>Fast</a:t>
            </a:r>
            <a:r>
              <a:rPr lang="en-US" sz="1400" dirty="0">
                <a:solidFill>
                  <a:srgbClr val="13233A"/>
                </a:solidFill>
                <a:latin typeface="IBM Plex Sans" pitchFamily="34" charset="0"/>
                <a:ea typeface="IBM Plex Sans" pitchFamily="34" charset="-122"/>
                <a:cs typeface="IBM Plex Sans" pitchFamily="34" charset="-120"/>
              </a:rPr>
              <a:t> </a:t>
            </a:r>
            <a:r>
              <a:rPr lang="en-US" sz="1400" dirty="0">
                <a:solidFill>
                  <a:srgbClr val="44505F"/>
                </a:solidFill>
                <a:latin typeface="IBM Plex Sans" pitchFamily="34" charset="0"/>
                <a:ea typeface="IBM Plex Sans" pitchFamily="34" charset="-122"/>
                <a:cs typeface="IBM Plex Sans" pitchFamily="34" charset="-120"/>
              </a:rPr>
              <a:t>· milliseconds each, so the suite runs on every change</a:t>
            </a:r>
            <a:endParaRPr lang="en-US" sz="1400" dirty="0"/>
          </a:p>
        </p:txBody>
      </p:sp>
      <p:sp>
        <p:nvSpPr>
          <p:cNvPr id="21" name="Shape 19"/>
          <p:cNvSpPr/>
          <p:nvPr/>
        </p:nvSpPr>
        <p:spPr>
          <a:xfrm>
            <a:off x="5946775" y="2741296"/>
            <a:ext cx="5429250" cy="742950"/>
          </a:xfrm>
          <a:prstGeom prst="roundRect">
            <a:avLst>
              <a:gd name="adj" fmla="val 9829"/>
            </a:avLst>
          </a:prstGeom>
          <a:solidFill>
            <a:srgbClr val="FCFBF7"/>
          </a:solidFill>
          <a:ln w="6350">
            <a:solidFill>
              <a:srgbClr val="DDD8CC"/>
            </a:solidFill>
            <a:prstDash val="solid"/>
          </a:ln>
        </p:spPr>
      </p:sp>
      <p:sp>
        <p:nvSpPr>
          <p:cNvPr id="22" name="Text 20"/>
          <p:cNvSpPr/>
          <p:nvPr/>
        </p:nvSpPr>
        <p:spPr>
          <a:xfrm>
            <a:off x="6101080" y="2832100"/>
            <a:ext cx="330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I</a:t>
            </a:r>
            <a:endParaRPr lang="en-US" sz="2000" dirty="0"/>
          </a:p>
        </p:txBody>
      </p:sp>
      <p:sp>
        <p:nvSpPr>
          <p:cNvPr id="23" name="Text 21"/>
          <p:cNvSpPr/>
          <p:nvPr/>
        </p:nvSpPr>
        <p:spPr>
          <a:xfrm>
            <a:off x="6532880" y="2913379"/>
            <a:ext cx="4829505"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33A"/>
                </a:solidFill>
                <a:latin typeface="IBM Plex Sans" pitchFamily="34" charset="0"/>
                <a:ea typeface="IBM Plex Sans" pitchFamily="34" charset="-122"/>
                <a:cs typeface="IBM Plex Sans" pitchFamily="34" charset="-120"/>
              </a:rPr>
              <a:t>Independent</a:t>
            </a:r>
            <a:r>
              <a:rPr lang="en-US" sz="1400" dirty="0">
                <a:solidFill>
                  <a:srgbClr val="13233A"/>
                </a:solidFill>
                <a:latin typeface="IBM Plex Sans" pitchFamily="34" charset="0"/>
                <a:ea typeface="IBM Plex Sans" pitchFamily="34" charset="-122"/>
                <a:cs typeface="IBM Plex Sans" pitchFamily="34" charset="-120"/>
              </a:rPr>
              <a:t> </a:t>
            </a:r>
            <a:r>
              <a:rPr lang="en-US" sz="1400" dirty="0">
                <a:solidFill>
                  <a:srgbClr val="44505F"/>
                </a:solidFill>
                <a:latin typeface="IBM Plex Sans" pitchFamily="34" charset="0"/>
                <a:ea typeface="IBM Plex Sans" pitchFamily="34" charset="-122"/>
                <a:cs typeface="IBM Plex Sans" pitchFamily="34" charset="-120"/>
              </a:rPr>
              <a:t>· no test relies on another test or on run order</a:t>
            </a:r>
            <a:endParaRPr lang="en-US" sz="1400" dirty="0"/>
          </a:p>
        </p:txBody>
      </p:sp>
      <p:sp>
        <p:nvSpPr>
          <p:cNvPr id="24" name="Shape 22"/>
          <p:cNvSpPr/>
          <p:nvPr/>
        </p:nvSpPr>
        <p:spPr>
          <a:xfrm>
            <a:off x="5946775" y="3541396"/>
            <a:ext cx="5429250" cy="537210"/>
          </a:xfrm>
          <a:prstGeom prst="roundRect">
            <a:avLst>
              <a:gd name="adj" fmla="val 13593"/>
            </a:avLst>
          </a:prstGeom>
          <a:solidFill>
            <a:srgbClr val="FCFBF7"/>
          </a:solidFill>
          <a:ln w="6350">
            <a:solidFill>
              <a:srgbClr val="DDD8CC"/>
            </a:solidFill>
            <a:prstDash val="solid"/>
          </a:ln>
        </p:spPr>
      </p:sp>
      <p:sp>
        <p:nvSpPr>
          <p:cNvPr id="25" name="Text 23"/>
          <p:cNvSpPr/>
          <p:nvPr/>
        </p:nvSpPr>
        <p:spPr>
          <a:xfrm>
            <a:off x="6101080" y="3632200"/>
            <a:ext cx="330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R</a:t>
            </a:r>
            <a:endParaRPr lang="en-US" sz="2000" dirty="0"/>
          </a:p>
        </p:txBody>
      </p:sp>
      <p:sp>
        <p:nvSpPr>
          <p:cNvPr id="26" name="Text 24"/>
          <p:cNvSpPr/>
          <p:nvPr/>
        </p:nvSpPr>
        <p:spPr>
          <a:xfrm>
            <a:off x="6532880" y="3713479"/>
            <a:ext cx="4829505"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33A"/>
                </a:solidFill>
                <a:latin typeface="IBM Plex Sans" pitchFamily="34" charset="0"/>
                <a:ea typeface="IBM Plex Sans" pitchFamily="34" charset="-122"/>
                <a:cs typeface="IBM Plex Sans" pitchFamily="34" charset="-120"/>
              </a:rPr>
              <a:t>Repeatable</a:t>
            </a:r>
            <a:r>
              <a:rPr lang="en-US" sz="1400" dirty="0">
                <a:solidFill>
                  <a:srgbClr val="13233A"/>
                </a:solidFill>
                <a:latin typeface="IBM Plex Sans" pitchFamily="34" charset="0"/>
                <a:ea typeface="IBM Plex Sans" pitchFamily="34" charset="-122"/>
                <a:cs typeface="IBM Plex Sans" pitchFamily="34" charset="-120"/>
              </a:rPr>
              <a:t> </a:t>
            </a:r>
            <a:r>
              <a:rPr lang="en-US" sz="1400" dirty="0">
                <a:solidFill>
                  <a:srgbClr val="44505F"/>
                </a:solidFill>
                <a:latin typeface="IBM Plex Sans" pitchFamily="34" charset="0"/>
                <a:ea typeface="IBM Plex Sans" pitchFamily="34" charset="-122"/>
                <a:cs typeface="IBM Plex Sans" pitchFamily="34" charset="-120"/>
              </a:rPr>
              <a:t>· same result on any machine, at any time</a:t>
            </a:r>
            <a:endParaRPr lang="en-US" sz="1400" dirty="0"/>
          </a:p>
        </p:txBody>
      </p:sp>
      <p:sp>
        <p:nvSpPr>
          <p:cNvPr id="27" name="Shape 25"/>
          <p:cNvSpPr/>
          <p:nvPr/>
        </p:nvSpPr>
        <p:spPr>
          <a:xfrm>
            <a:off x="5946775" y="4135754"/>
            <a:ext cx="5429250" cy="742950"/>
          </a:xfrm>
          <a:prstGeom prst="roundRect">
            <a:avLst>
              <a:gd name="adj" fmla="val 9829"/>
            </a:avLst>
          </a:prstGeom>
          <a:solidFill>
            <a:srgbClr val="FCFBF7"/>
          </a:solidFill>
          <a:ln w="6350">
            <a:solidFill>
              <a:srgbClr val="DDD8CC"/>
            </a:solidFill>
            <a:prstDash val="solid"/>
          </a:ln>
        </p:spPr>
      </p:sp>
      <p:sp>
        <p:nvSpPr>
          <p:cNvPr id="28" name="Text 26"/>
          <p:cNvSpPr/>
          <p:nvPr/>
        </p:nvSpPr>
        <p:spPr>
          <a:xfrm>
            <a:off x="6101080" y="4226564"/>
            <a:ext cx="330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S</a:t>
            </a:r>
            <a:endParaRPr lang="en-US" sz="2000" dirty="0"/>
          </a:p>
        </p:txBody>
      </p:sp>
      <p:sp>
        <p:nvSpPr>
          <p:cNvPr id="29" name="Text 27"/>
          <p:cNvSpPr/>
          <p:nvPr/>
        </p:nvSpPr>
        <p:spPr>
          <a:xfrm>
            <a:off x="6532880" y="4307842"/>
            <a:ext cx="4829505"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33A"/>
                </a:solidFill>
                <a:latin typeface="IBM Plex Sans" pitchFamily="34" charset="0"/>
                <a:ea typeface="IBM Plex Sans" pitchFamily="34" charset="-122"/>
                <a:cs typeface="IBM Plex Sans" pitchFamily="34" charset="-120"/>
              </a:rPr>
              <a:t>Self-validating</a:t>
            </a:r>
            <a:r>
              <a:rPr lang="en-US" sz="1400" dirty="0">
                <a:solidFill>
                  <a:srgbClr val="13233A"/>
                </a:solidFill>
                <a:latin typeface="IBM Plex Sans" pitchFamily="34" charset="0"/>
                <a:ea typeface="IBM Plex Sans" pitchFamily="34" charset="-122"/>
                <a:cs typeface="IBM Plex Sans" pitchFamily="34" charset="-120"/>
              </a:rPr>
              <a:t> </a:t>
            </a:r>
            <a:r>
              <a:rPr lang="en-US" sz="1400" dirty="0">
                <a:solidFill>
                  <a:srgbClr val="44505F"/>
                </a:solidFill>
                <a:latin typeface="IBM Plex Sans" pitchFamily="34" charset="0"/>
                <a:ea typeface="IBM Plex Sans" pitchFamily="34" charset="-122"/>
                <a:cs typeface="IBM Plex Sans" pitchFamily="34" charset="-120"/>
              </a:rPr>
              <a:t>· passes or fails on its own; nobody reads logs</a:t>
            </a:r>
            <a:endParaRPr lang="en-US" sz="1400" dirty="0"/>
          </a:p>
        </p:txBody>
      </p:sp>
      <p:sp>
        <p:nvSpPr>
          <p:cNvPr id="30" name="Shape 28"/>
          <p:cNvSpPr/>
          <p:nvPr/>
        </p:nvSpPr>
        <p:spPr>
          <a:xfrm>
            <a:off x="5946775" y="4935854"/>
            <a:ext cx="5429250" cy="537210"/>
          </a:xfrm>
          <a:prstGeom prst="roundRect">
            <a:avLst>
              <a:gd name="adj" fmla="val 13593"/>
            </a:avLst>
          </a:prstGeom>
          <a:solidFill>
            <a:srgbClr val="FCFBF7"/>
          </a:solidFill>
          <a:ln w="6350">
            <a:solidFill>
              <a:srgbClr val="DDD8CC"/>
            </a:solidFill>
            <a:prstDash val="solid"/>
          </a:ln>
        </p:spPr>
      </p:sp>
      <p:sp>
        <p:nvSpPr>
          <p:cNvPr id="31" name="Text 29"/>
          <p:cNvSpPr/>
          <p:nvPr/>
        </p:nvSpPr>
        <p:spPr>
          <a:xfrm>
            <a:off x="6101080" y="5026664"/>
            <a:ext cx="330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T</a:t>
            </a:r>
            <a:endParaRPr lang="en-US" sz="2000" dirty="0"/>
          </a:p>
        </p:txBody>
      </p:sp>
      <p:sp>
        <p:nvSpPr>
          <p:cNvPr id="32" name="Text 30"/>
          <p:cNvSpPr/>
          <p:nvPr/>
        </p:nvSpPr>
        <p:spPr>
          <a:xfrm>
            <a:off x="6532880" y="5107942"/>
            <a:ext cx="4829505"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33A"/>
                </a:solidFill>
                <a:latin typeface="IBM Plex Sans" pitchFamily="34" charset="0"/>
                <a:ea typeface="IBM Plex Sans" pitchFamily="34" charset="-122"/>
                <a:cs typeface="IBM Plex Sans" pitchFamily="34" charset="-120"/>
              </a:rPr>
              <a:t>Timely</a:t>
            </a:r>
            <a:r>
              <a:rPr lang="en-US" sz="1400" dirty="0">
                <a:solidFill>
                  <a:srgbClr val="13233A"/>
                </a:solidFill>
                <a:latin typeface="IBM Plex Sans" pitchFamily="34" charset="0"/>
                <a:ea typeface="IBM Plex Sans" pitchFamily="34" charset="-122"/>
                <a:cs typeface="IBM Plex Sans" pitchFamily="34" charset="-120"/>
              </a:rPr>
              <a:t> </a:t>
            </a:r>
            <a:r>
              <a:rPr lang="en-US" sz="1400" dirty="0">
                <a:solidFill>
                  <a:srgbClr val="44505F"/>
                </a:solidFill>
                <a:latin typeface="IBM Plex Sans" pitchFamily="34" charset="0"/>
                <a:ea typeface="IBM Plex Sans" pitchFamily="34" charset="-122"/>
                <a:cs typeface="IBM Plex Sans" pitchFamily="34" charset="-120"/>
              </a:rPr>
              <a:t>· written with, or just before, the code it tests</a:t>
            </a:r>
            <a:endParaRPr lang="en-US" sz="1400" dirty="0"/>
          </a:p>
        </p:txBody>
      </p:sp>
      <p:sp>
        <p:nvSpPr>
          <p:cNvPr id="33" name="Text 31"/>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34" name="Text 32"/>
          <p:cNvSpPr/>
          <p:nvPr/>
        </p:nvSpPr>
        <p:spPr>
          <a:xfrm>
            <a:off x="7372985" y="6238242"/>
            <a:ext cx="412640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ISTQB Glossary · F.I.R.S.T.: R. C. Martin, Clean Code (2008)</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L9 · UNIT TESTING</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A unit test in pytest</a:t>
            </a:r>
            <a:endParaRPr lang="en-US" sz="3200" dirty="0"/>
          </a:p>
        </p:txBody>
      </p:sp>
      <p:sp>
        <p:nvSpPr>
          <p:cNvPr id="4" name="Text 2"/>
          <p:cNvSpPr/>
          <p:nvPr/>
        </p:nvSpPr>
        <p:spPr>
          <a:xfrm>
            <a:off x="812800" y="1828800"/>
            <a:ext cx="49707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Unit under test · canteen/pricing.py</a:t>
            </a:r>
            <a:endParaRPr lang="en-US" sz="1200" dirty="0"/>
          </a:p>
        </p:txBody>
      </p:sp>
      <p:sp>
        <p:nvSpPr>
          <p:cNvPr id="5" name="Shape 3"/>
          <p:cNvSpPr/>
          <p:nvPr/>
        </p:nvSpPr>
        <p:spPr>
          <a:xfrm>
            <a:off x="812800" y="2118364"/>
            <a:ext cx="4826000" cy="1849120"/>
          </a:xfrm>
          <a:prstGeom prst="roundRect">
            <a:avLst>
              <a:gd name="adj" fmla="val 4121"/>
            </a:avLst>
          </a:prstGeom>
          <a:solidFill>
            <a:srgbClr val="13233A"/>
          </a:solidFill>
          <a:ln/>
        </p:spPr>
      </p:sp>
      <p:sp>
        <p:nvSpPr>
          <p:cNvPr id="6" name="Text 4"/>
          <p:cNvSpPr/>
          <p:nvPr/>
        </p:nvSpPr>
        <p:spPr>
          <a:xfrm>
            <a:off x="990600" y="2296164"/>
            <a:ext cx="4604512" cy="15189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apply_coupon(total, code):</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if</a:t>
            </a:r>
            <a:r>
              <a:rPr lang="en-US" sz="1200" dirty="0">
                <a:solidFill>
                  <a:srgbClr val="E6EAF0"/>
                </a:solidFill>
                <a:latin typeface="JetBrains Mono" pitchFamily="34" charset="0"/>
                <a:ea typeface="JetBrains Mono" pitchFamily="34" charset="-122"/>
                <a:cs typeface="JetBrains Mono" pitchFamily="34" charset="-120"/>
              </a:rPr>
              <a:t> code != </a:t>
            </a:r>
            <a:r>
              <a:rPr lang="en-US" sz="1200" dirty="0">
                <a:solidFill>
                  <a:srgbClr val="9CC7F0"/>
                </a:solidFill>
                <a:latin typeface="JetBrains Mono" pitchFamily="34" charset="0"/>
                <a:ea typeface="JetBrains Mono" pitchFamily="34" charset="-122"/>
                <a:cs typeface="JetBrains Mono" pitchFamily="34" charset="-120"/>
              </a:rPr>
              <a:t>"SAVE20"</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raise</a:t>
            </a:r>
            <a:r>
              <a:rPr lang="en-US" sz="1200" dirty="0">
                <a:solidFill>
                  <a:srgbClr val="E6EAF0"/>
                </a:solidFill>
                <a:latin typeface="JetBrains Mono" pitchFamily="34" charset="0"/>
                <a:ea typeface="JetBrains Mono" pitchFamily="34" charset="-122"/>
                <a:cs typeface="JetBrains Mono" pitchFamily="34" charset="-120"/>
              </a:rPr>
              <a:t> ValueError(</a:t>
            </a:r>
            <a:r>
              <a:rPr lang="en-US" sz="1200" dirty="0">
                <a:solidFill>
                  <a:srgbClr val="9CC7F0"/>
                </a:solidFill>
                <a:latin typeface="JetBrains Mono" pitchFamily="34" charset="0"/>
                <a:ea typeface="JetBrains Mono" pitchFamily="34" charset="-122"/>
                <a:cs typeface="JetBrains Mono" pitchFamily="34" charset="-120"/>
              </a:rPr>
              <a:t>"invalid coupon"</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if</a:t>
            </a:r>
            <a:r>
              <a:rPr lang="en-US" sz="1200" dirty="0">
                <a:solidFill>
                  <a:srgbClr val="E6EAF0"/>
                </a:solidFill>
                <a:latin typeface="JetBrains Mono" pitchFamily="34" charset="0"/>
                <a:ea typeface="JetBrains Mono" pitchFamily="34" charset="-122"/>
                <a:cs typeface="JetBrains Mono" pitchFamily="34" charset="-120"/>
              </a:rPr>
              <a:t> total &lt; 200: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raise</a:t>
            </a:r>
            <a:r>
              <a:rPr lang="en-US" sz="1200" dirty="0">
                <a:solidFill>
                  <a:srgbClr val="E6EAF0"/>
                </a:solidFill>
                <a:latin typeface="JetBrains Mono" pitchFamily="34" charset="0"/>
                <a:ea typeface="JetBrains Mono" pitchFamily="34" charset="-122"/>
                <a:cs typeface="JetBrains Mono" pitchFamily="34" charset="-120"/>
              </a:rPr>
              <a:t> ValueError(</a:t>
            </a:r>
            <a:r>
              <a:rPr lang="en-US" sz="1200" dirty="0">
                <a:solidFill>
                  <a:srgbClr val="9CC7F0"/>
                </a:solidFill>
                <a:latin typeface="JetBrains Mono" pitchFamily="34" charset="0"/>
                <a:ea typeface="JetBrains Mono" pitchFamily="34" charset="-122"/>
                <a:cs typeface="JetBrains Mono" pitchFamily="34" charset="-120"/>
              </a:rPr>
              <a:t>"minimum order is 200"</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discount = min(total * 20 // 100, 100)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return</a:t>
            </a:r>
            <a:r>
              <a:rPr lang="en-US" sz="1200" dirty="0">
                <a:solidFill>
                  <a:srgbClr val="E6EAF0"/>
                </a:solidFill>
                <a:latin typeface="JetBrains Mono" pitchFamily="34" charset="0"/>
                <a:ea typeface="JetBrains Mono" pitchFamily="34" charset="-122"/>
                <a:cs typeface="JetBrains Mono" pitchFamily="34" charset="-120"/>
              </a:rPr>
              <a:t> total - discount</a:t>
            </a:r>
            <a:endParaRPr lang="en-US" sz="1200" dirty="0"/>
          </a:p>
        </p:txBody>
      </p:sp>
      <p:sp>
        <p:nvSpPr>
          <p:cNvPr id="7" name="Shape 5"/>
          <p:cNvSpPr/>
          <p:nvPr/>
        </p:nvSpPr>
        <p:spPr>
          <a:xfrm>
            <a:off x="812800" y="4173854"/>
            <a:ext cx="4826000" cy="0"/>
          </a:xfrm>
          <a:prstGeom prst="line">
            <a:avLst/>
          </a:prstGeom>
          <a:noFill/>
          <a:ln w="6350">
            <a:solidFill>
              <a:srgbClr val="DDD8CC"/>
            </a:solidFill>
            <a:prstDash val="solid"/>
          </a:ln>
        </p:spPr>
      </p:sp>
      <p:sp>
        <p:nvSpPr>
          <p:cNvPr id="8" name="Text 6"/>
          <p:cNvSpPr/>
          <p:nvPr/>
        </p:nvSpPr>
        <p:spPr>
          <a:xfrm>
            <a:off x="812800" y="4277364"/>
            <a:ext cx="1003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Arrange</a:t>
            </a:r>
            <a:endParaRPr lang="en-US" sz="1200" dirty="0"/>
          </a:p>
        </p:txBody>
      </p:sp>
      <p:sp>
        <p:nvSpPr>
          <p:cNvPr id="9" name="Text 7"/>
          <p:cNvSpPr/>
          <p:nvPr/>
        </p:nvSpPr>
        <p:spPr>
          <a:xfrm>
            <a:off x="1892300" y="4251964"/>
            <a:ext cx="385889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Set up the inputs and objects</a:t>
            </a:r>
            <a:endParaRPr lang="en-US" sz="1400" dirty="0"/>
          </a:p>
        </p:txBody>
      </p:sp>
      <p:sp>
        <p:nvSpPr>
          <p:cNvPr id="10" name="Shape 8"/>
          <p:cNvSpPr/>
          <p:nvPr/>
        </p:nvSpPr>
        <p:spPr>
          <a:xfrm>
            <a:off x="812800" y="4580254"/>
            <a:ext cx="4826000" cy="0"/>
          </a:xfrm>
          <a:prstGeom prst="line">
            <a:avLst/>
          </a:prstGeom>
          <a:noFill/>
          <a:ln w="6350">
            <a:solidFill>
              <a:srgbClr val="DDD8CC"/>
            </a:solidFill>
            <a:prstDash val="solid"/>
          </a:ln>
        </p:spPr>
      </p:sp>
      <p:sp>
        <p:nvSpPr>
          <p:cNvPr id="11" name="Text 9"/>
          <p:cNvSpPr/>
          <p:nvPr/>
        </p:nvSpPr>
        <p:spPr>
          <a:xfrm>
            <a:off x="812800" y="4683764"/>
            <a:ext cx="1003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Act</a:t>
            </a:r>
            <a:endParaRPr lang="en-US" sz="1200" dirty="0"/>
          </a:p>
        </p:txBody>
      </p:sp>
      <p:sp>
        <p:nvSpPr>
          <p:cNvPr id="12" name="Text 10"/>
          <p:cNvSpPr/>
          <p:nvPr/>
        </p:nvSpPr>
        <p:spPr>
          <a:xfrm>
            <a:off x="1892300" y="4658364"/>
            <a:ext cx="385889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Call the unit under test once</a:t>
            </a:r>
            <a:endParaRPr lang="en-US" sz="1400" dirty="0"/>
          </a:p>
        </p:txBody>
      </p:sp>
      <p:sp>
        <p:nvSpPr>
          <p:cNvPr id="13" name="Shape 11"/>
          <p:cNvSpPr/>
          <p:nvPr/>
        </p:nvSpPr>
        <p:spPr>
          <a:xfrm>
            <a:off x="812800" y="4986654"/>
            <a:ext cx="4826000" cy="0"/>
          </a:xfrm>
          <a:prstGeom prst="line">
            <a:avLst/>
          </a:prstGeom>
          <a:noFill/>
          <a:ln w="6350">
            <a:solidFill>
              <a:srgbClr val="DDD8CC"/>
            </a:solidFill>
            <a:prstDash val="solid"/>
          </a:ln>
        </p:spPr>
      </p:sp>
      <p:sp>
        <p:nvSpPr>
          <p:cNvPr id="14" name="Shape 12"/>
          <p:cNvSpPr/>
          <p:nvPr/>
        </p:nvSpPr>
        <p:spPr>
          <a:xfrm>
            <a:off x="812800" y="5391784"/>
            <a:ext cx="4826000" cy="0"/>
          </a:xfrm>
          <a:prstGeom prst="line">
            <a:avLst/>
          </a:prstGeom>
          <a:noFill/>
          <a:ln w="6350">
            <a:solidFill>
              <a:srgbClr val="DDD8CC"/>
            </a:solidFill>
            <a:prstDash val="solid"/>
          </a:ln>
        </p:spPr>
      </p:sp>
      <p:sp>
        <p:nvSpPr>
          <p:cNvPr id="15" name="Text 13"/>
          <p:cNvSpPr/>
          <p:nvPr/>
        </p:nvSpPr>
        <p:spPr>
          <a:xfrm>
            <a:off x="812800" y="5090164"/>
            <a:ext cx="1003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Assert</a:t>
            </a:r>
            <a:endParaRPr lang="en-US" sz="1200" dirty="0"/>
          </a:p>
        </p:txBody>
      </p:sp>
      <p:sp>
        <p:nvSpPr>
          <p:cNvPr id="16" name="Text 14"/>
          <p:cNvSpPr/>
          <p:nvPr/>
        </p:nvSpPr>
        <p:spPr>
          <a:xfrm>
            <a:off x="1892300" y="5064764"/>
            <a:ext cx="385889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Compare actual with expected</a:t>
            </a:r>
            <a:endParaRPr lang="en-US" sz="1400" dirty="0"/>
          </a:p>
        </p:txBody>
      </p:sp>
      <p:sp>
        <p:nvSpPr>
          <p:cNvPr id="17" name="Text 15"/>
          <p:cNvSpPr/>
          <p:nvPr/>
        </p:nvSpPr>
        <p:spPr>
          <a:xfrm>
            <a:off x="812800" y="5521964"/>
            <a:ext cx="49707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 pytest -q tests/test_pricing.py → 3 passed</a:t>
            </a:r>
            <a:endParaRPr lang="en-US" sz="1200" dirty="0"/>
          </a:p>
        </p:txBody>
      </p:sp>
      <p:sp>
        <p:nvSpPr>
          <p:cNvPr id="18" name="Text 16"/>
          <p:cNvSpPr/>
          <p:nvPr/>
        </p:nvSpPr>
        <p:spPr>
          <a:xfrm>
            <a:off x="5943600" y="1828800"/>
            <a:ext cx="55986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Tests · tests/test_pricing.py</a:t>
            </a:r>
            <a:endParaRPr lang="en-US" sz="1200" dirty="0"/>
          </a:p>
        </p:txBody>
      </p:sp>
      <p:sp>
        <p:nvSpPr>
          <p:cNvPr id="19" name="Shape 17"/>
          <p:cNvSpPr/>
          <p:nvPr/>
        </p:nvSpPr>
        <p:spPr>
          <a:xfrm>
            <a:off x="5943600" y="2118364"/>
            <a:ext cx="5435600" cy="3342640"/>
          </a:xfrm>
          <a:prstGeom prst="roundRect">
            <a:avLst>
              <a:gd name="adj" fmla="val 2280"/>
            </a:avLst>
          </a:prstGeom>
          <a:solidFill>
            <a:srgbClr val="13233A"/>
          </a:solidFill>
          <a:ln/>
        </p:spPr>
      </p:sp>
      <p:sp>
        <p:nvSpPr>
          <p:cNvPr id="20" name="Text 18"/>
          <p:cNvSpPr/>
          <p:nvPr/>
        </p:nvSpPr>
        <p:spPr>
          <a:xfrm>
            <a:off x="6121400" y="2296164"/>
            <a:ext cx="5232400" cy="30124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pytest</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from</a:t>
            </a:r>
            <a:r>
              <a:rPr lang="en-US" sz="1200" dirty="0">
                <a:solidFill>
                  <a:srgbClr val="E6EAF0"/>
                </a:solidFill>
                <a:latin typeface="JetBrains Mono" pitchFamily="34" charset="0"/>
                <a:ea typeface="JetBrains Mono" pitchFamily="34" charset="-122"/>
                <a:cs typeface="JetBrains Mono" pitchFamily="34" charset="-120"/>
              </a:rPr>
              <a:t> canteen.pricing </a:t>
            </a: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apply_coupon</a:t>
            </a:r>
            <a:endParaRPr lang="en-US" sz="1200" dirty="0"/>
          </a:p>
          <a:p>
            <a:pPr algn="l" indent="0" marL="0">
              <a:lnSpc>
                <a:spcPts val="1680"/>
              </a:lnSpc>
              <a:buNone/>
            </a:pP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test_valid_coupon_gives_20_percent_off():</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total = 300                              </a:t>
            </a:r>
            <a:r>
              <a:rPr lang="en-US" sz="1200" dirty="0">
                <a:solidFill>
                  <a:srgbClr val="8C9AAD"/>
                </a:solidFill>
                <a:latin typeface="JetBrains Mono" pitchFamily="34" charset="0"/>
                <a:ea typeface="JetBrains Mono" pitchFamily="34" charset="-122"/>
                <a:cs typeface="JetBrains Mono" pitchFamily="34" charset="-120"/>
              </a:rPr>
              <a:t># Arrange</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payable = apply_coupon(total, </a:t>
            </a:r>
            <a:r>
              <a:rPr lang="en-US" sz="1200" dirty="0">
                <a:solidFill>
                  <a:srgbClr val="9CC7F0"/>
                </a:solidFill>
                <a:latin typeface="JetBrains Mono" pitchFamily="34" charset="0"/>
                <a:ea typeface="JetBrains Mono" pitchFamily="34" charset="-122"/>
                <a:cs typeface="JetBrains Mono" pitchFamily="34" charset="-120"/>
              </a:rPr>
              <a:t>"SAVE20"</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8C9AAD"/>
                </a:solidFill>
                <a:latin typeface="JetBrains Mono" pitchFamily="34" charset="0"/>
                <a:ea typeface="JetBrains Mono" pitchFamily="34" charset="-122"/>
                <a:cs typeface="JetBrains Mono" pitchFamily="34" charset="-120"/>
              </a:rPr>
              <a:t># Act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payable == 240                    </a:t>
            </a:r>
            <a:r>
              <a:rPr lang="en-US" sz="1200" dirty="0">
                <a:solidFill>
                  <a:srgbClr val="8C9AAD"/>
                </a:solidFill>
                <a:latin typeface="JetBrains Mono" pitchFamily="34" charset="0"/>
                <a:ea typeface="JetBrains Mono" pitchFamily="34" charset="-122"/>
                <a:cs typeface="JetBrains Mono" pitchFamily="34" charset="-120"/>
              </a:rPr>
              <a:t># Assert</a:t>
            </a:r>
            <a:endParaRPr lang="en-US" sz="1200" dirty="0"/>
          </a:p>
          <a:p>
            <a:pPr algn="l" indent="0" marL="0">
              <a:lnSpc>
                <a:spcPts val="1680"/>
              </a:lnSpc>
              <a:buNone/>
            </a:pP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test_discount_is_capped_at_100():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apply_coupon(800, </a:t>
            </a:r>
            <a:r>
              <a:rPr lang="en-US" sz="1200" dirty="0">
                <a:solidFill>
                  <a:srgbClr val="9CC7F0"/>
                </a:solidFill>
                <a:latin typeface="JetBrains Mono" pitchFamily="34" charset="0"/>
                <a:ea typeface="JetBrains Mono" pitchFamily="34" charset="-122"/>
                <a:cs typeface="JetBrains Mono" pitchFamily="34" charset="-120"/>
              </a:rPr>
              <a:t>"SAVE20"</a:t>
            </a:r>
            <a:r>
              <a:rPr lang="en-US" sz="1200" dirty="0">
                <a:solidFill>
                  <a:srgbClr val="E6EAF0"/>
                </a:solidFill>
                <a:latin typeface="JetBrains Mono" pitchFamily="34" charset="0"/>
                <a:ea typeface="JetBrains Mono" pitchFamily="34" charset="-122"/>
                <a:cs typeface="JetBrains Mono" pitchFamily="34" charset="-120"/>
              </a:rPr>
              <a:t>) == 700</a:t>
            </a:r>
            <a:endParaRPr lang="en-US" sz="1200" dirty="0"/>
          </a:p>
          <a:p>
            <a:pPr algn="l" indent="0" marL="0">
              <a:lnSpc>
                <a:spcPts val="1680"/>
              </a:lnSpc>
              <a:buNone/>
            </a:pP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test_unknown_code_is_rejected():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with</a:t>
            </a:r>
            <a:r>
              <a:rPr lang="en-US" sz="1200" dirty="0">
                <a:solidFill>
                  <a:srgbClr val="E6EAF0"/>
                </a:solidFill>
                <a:latin typeface="JetBrains Mono" pitchFamily="34" charset="0"/>
                <a:ea typeface="JetBrains Mono" pitchFamily="34" charset="-122"/>
                <a:cs typeface="JetBrains Mono" pitchFamily="34" charset="-120"/>
              </a:rPr>
              <a:t> pytest.raises(ValueError, match=</a:t>
            </a:r>
            <a:r>
              <a:rPr lang="en-US" sz="1200" dirty="0">
                <a:solidFill>
                  <a:srgbClr val="9CC7F0"/>
                </a:solidFill>
                <a:latin typeface="JetBrains Mono" pitchFamily="34" charset="0"/>
                <a:ea typeface="JetBrains Mono" pitchFamily="34" charset="-122"/>
                <a:cs typeface="JetBrains Mono" pitchFamily="34" charset="-120"/>
              </a:rPr>
              <a:t>"invalid"</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apply_coupon(300, </a:t>
            </a:r>
            <a:r>
              <a:rPr lang="en-US" sz="1200" dirty="0">
                <a:solidFill>
                  <a:srgbClr val="9CC7F0"/>
                </a:solidFill>
                <a:latin typeface="JetBrains Mono" pitchFamily="34" charset="0"/>
                <a:ea typeface="JetBrains Mono" pitchFamily="34" charset="-122"/>
                <a:cs typeface="JetBrains Mono" pitchFamily="34" charset="-120"/>
              </a:rPr>
              <a:t>"FREE100"</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p:txBody>
      </p:sp>
      <p:sp>
        <p:nvSpPr>
          <p:cNvPr id="21" name="Text 19"/>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2" name="Text 20"/>
          <p:cNvSpPr/>
          <p:nvPr/>
        </p:nvSpPr>
        <p:spPr>
          <a:xfrm>
            <a:off x="6978015" y="6238242"/>
            <a:ext cx="45332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pytest collects files named test_*.py and functions named test_*</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L9 · UNIT TESTING</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Test doubles</a:t>
            </a:r>
            <a:endParaRPr lang="en-US" sz="3200" dirty="0"/>
          </a:p>
        </p:txBody>
      </p:sp>
      <p:sp>
        <p:nvSpPr>
          <p:cNvPr id="4" name="Text 2"/>
          <p:cNvSpPr/>
          <p:nvPr/>
        </p:nvSpPr>
        <p:spPr>
          <a:xfrm>
            <a:off x="812800" y="1828800"/>
            <a:ext cx="502310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test double stands in for a real dependency, so a unit can be tested quickly and in isolation.</a:t>
            </a:r>
            <a:endParaRPr lang="en-US" sz="1400" dirty="0"/>
          </a:p>
        </p:txBody>
      </p:sp>
      <p:sp>
        <p:nvSpPr>
          <p:cNvPr id="5" name="Shape 3"/>
          <p:cNvSpPr/>
          <p:nvPr/>
        </p:nvSpPr>
        <p:spPr>
          <a:xfrm>
            <a:off x="812800" y="2482217"/>
            <a:ext cx="4876800" cy="0"/>
          </a:xfrm>
          <a:prstGeom prst="line">
            <a:avLst/>
          </a:prstGeom>
          <a:noFill/>
          <a:ln w="6350">
            <a:solidFill>
              <a:srgbClr val="DDD8CC"/>
            </a:solidFill>
            <a:prstDash val="solid"/>
          </a:ln>
        </p:spPr>
      </p:sp>
      <p:sp>
        <p:nvSpPr>
          <p:cNvPr id="6" name="Text 4"/>
          <p:cNvSpPr/>
          <p:nvPr/>
        </p:nvSpPr>
        <p:spPr>
          <a:xfrm>
            <a:off x="812800" y="2598421"/>
            <a:ext cx="812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Dummy</a:t>
            </a:r>
            <a:endParaRPr lang="en-US" sz="1400" dirty="0"/>
          </a:p>
        </p:txBody>
      </p:sp>
      <p:sp>
        <p:nvSpPr>
          <p:cNvPr id="7" name="Text 5"/>
          <p:cNvSpPr/>
          <p:nvPr/>
        </p:nvSpPr>
        <p:spPr>
          <a:xfrm>
            <a:off x="1727200" y="2598421"/>
            <a:ext cx="408127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Fills a parameter; never used</a:t>
            </a:r>
            <a:endParaRPr lang="en-US" sz="1400" dirty="0"/>
          </a:p>
        </p:txBody>
      </p:sp>
      <p:sp>
        <p:nvSpPr>
          <p:cNvPr id="8" name="Shape 6"/>
          <p:cNvSpPr/>
          <p:nvPr/>
        </p:nvSpPr>
        <p:spPr>
          <a:xfrm>
            <a:off x="812800" y="2964817"/>
            <a:ext cx="4876800" cy="0"/>
          </a:xfrm>
          <a:prstGeom prst="line">
            <a:avLst/>
          </a:prstGeom>
          <a:noFill/>
          <a:ln w="6350">
            <a:solidFill>
              <a:srgbClr val="DDD8CC"/>
            </a:solidFill>
            <a:prstDash val="solid"/>
          </a:ln>
        </p:spPr>
      </p:sp>
      <p:sp>
        <p:nvSpPr>
          <p:cNvPr id="9" name="Text 7"/>
          <p:cNvSpPr/>
          <p:nvPr/>
        </p:nvSpPr>
        <p:spPr>
          <a:xfrm>
            <a:off x="812800" y="3081021"/>
            <a:ext cx="812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Stub</a:t>
            </a:r>
            <a:endParaRPr lang="en-US" sz="1400" dirty="0"/>
          </a:p>
        </p:txBody>
      </p:sp>
      <p:sp>
        <p:nvSpPr>
          <p:cNvPr id="10" name="Text 8"/>
          <p:cNvSpPr/>
          <p:nvPr/>
        </p:nvSpPr>
        <p:spPr>
          <a:xfrm>
            <a:off x="1727200" y="3081021"/>
            <a:ext cx="408127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Returns canned answers</a:t>
            </a:r>
            <a:endParaRPr lang="en-US" sz="1400" dirty="0"/>
          </a:p>
        </p:txBody>
      </p:sp>
      <p:sp>
        <p:nvSpPr>
          <p:cNvPr id="11" name="Shape 9"/>
          <p:cNvSpPr/>
          <p:nvPr/>
        </p:nvSpPr>
        <p:spPr>
          <a:xfrm>
            <a:off x="812800" y="3447417"/>
            <a:ext cx="4876800" cy="0"/>
          </a:xfrm>
          <a:prstGeom prst="line">
            <a:avLst/>
          </a:prstGeom>
          <a:noFill/>
          <a:ln w="6350">
            <a:solidFill>
              <a:srgbClr val="DDD8CC"/>
            </a:solidFill>
            <a:prstDash val="solid"/>
          </a:ln>
        </p:spPr>
      </p:sp>
      <p:sp>
        <p:nvSpPr>
          <p:cNvPr id="12" name="Text 10"/>
          <p:cNvSpPr/>
          <p:nvPr/>
        </p:nvSpPr>
        <p:spPr>
          <a:xfrm>
            <a:off x="812800" y="3563621"/>
            <a:ext cx="812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Spy</a:t>
            </a:r>
            <a:endParaRPr lang="en-US" sz="1400" dirty="0"/>
          </a:p>
        </p:txBody>
      </p:sp>
      <p:sp>
        <p:nvSpPr>
          <p:cNvPr id="13" name="Text 11"/>
          <p:cNvSpPr/>
          <p:nvPr/>
        </p:nvSpPr>
        <p:spPr>
          <a:xfrm>
            <a:off x="1727200" y="3563621"/>
            <a:ext cx="408127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A stub that also records its calls</a:t>
            </a:r>
            <a:endParaRPr lang="en-US" sz="1400" dirty="0"/>
          </a:p>
        </p:txBody>
      </p:sp>
      <p:sp>
        <p:nvSpPr>
          <p:cNvPr id="14" name="Shape 12"/>
          <p:cNvSpPr/>
          <p:nvPr/>
        </p:nvSpPr>
        <p:spPr>
          <a:xfrm>
            <a:off x="812800" y="3930017"/>
            <a:ext cx="4876800" cy="0"/>
          </a:xfrm>
          <a:prstGeom prst="line">
            <a:avLst/>
          </a:prstGeom>
          <a:noFill/>
          <a:ln w="6350">
            <a:solidFill>
              <a:srgbClr val="DDD8CC"/>
            </a:solidFill>
            <a:prstDash val="solid"/>
          </a:ln>
        </p:spPr>
      </p:sp>
      <p:sp>
        <p:nvSpPr>
          <p:cNvPr id="15" name="Text 13"/>
          <p:cNvSpPr/>
          <p:nvPr/>
        </p:nvSpPr>
        <p:spPr>
          <a:xfrm>
            <a:off x="812800" y="4046221"/>
            <a:ext cx="812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Mock</a:t>
            </a:r>
            <a:endParaRPr lang="en-US" sz="1400" dirty="0"/>
          </a:p>
        </p:txBody>
      </p:sp>
      <p:sp>
        <p:nvSpPr>
          <p:cNvPr id="16" name="Text 14"/>
          <p:cNvSpPr/>
          <p:nvPr/>
        </p:nvSpPr>
        <p:spPr>
          <a:xfrm>
            <a:off x="1727200" y="4046221"/>
            <a:ext cx="408127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Verifies the expected calls happened</a:t>
            </a:r>
            <a:endParaRPr lang="en-US" sz="1400" dirty="0"/>
          </a:p>
        </p:txBody>
      </p:sp>
      <p:sp>
        <p:nvSpPr>
          <p:cNvPr id="17" name="Shape 15"/>
          <p:cNvSpPr/>
          <p:nvPr/>
        </p:nvSpPr>
        <p:spPr>
          <a:xfrm>
            <a:off x="812800" y="4412617"/>
            <a:ext cx="4876800" cy="0"/>
          </a:xfrm>
          <a:prstGeom prst="line">
            <a:avLst/>
          </a:prstGeom>
          <a:noFill/>
          <a:ln w="6350">
            <a:solidFill>
              <a:srgbClr val="DDD8CC"/>
            </a:solidFill>
            <a:prstDash val="solid"/>
          </a:ln>
        </p:spPr>
      </p:sp>
      <p:sp>
        <p:nvSpPr>
          <p:cNvPr id="18" name="Shape 16"/>
          <p:cNvSpPr/>
          <p:nvPr/>
        </p:nvSpPr>
        <p:spPr>
          <a:xfrm>
            <a:off x="812800" y="5142867"/>
            <a:ext cx="4876800" cy="0"/>
          </a:xfrm>
          <a:prstGeom prst="line">
            <a:avLst/>
          </a:prstGeom>
          <a:noFill/>
          <a:ln w="6350">
            <a:solidFill>
              <a:srgbClr val="DDD8CC"/>
            </a:solidFill>
            <a:prstDash val="solid"/>
          </a:ln>
        </p:spPr>
      </p:sp>
      <p:sp>
        <p:nvSpPr>
          <p:cNvPr id="19" name="Text 17"/>
          <p:cNvSpPr/>
          <p:nvPr/>
        </p:nvSpPr>
        <p:spPr>
          <a:xfrm>
            <a:off x="812800" y="4528821"/>
            <a:ext cx="812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Fake</a:t>
            </a:r>
            <a:endParaRPr lang="en-US" sz="1400" dirty="0"/>
          </a:p>
        </p:txBody>
      </p:sp>
      <p:sp>
        <p:nvSpPr>
          <p:cNvPr id="20" name="Text 18"/>
          <p:cNvSpPr/>
          <p:nvPr/>
        </p:nvSpPr>
        <p:spPr>
          <a:xfrm>
            <a:off x="1727200" y="4528821"/>
            <a:ext cx="408127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A light working version, e.g. an in-memory database</a:t>
            </a:r>
            <a:endParaRPr lang="en-US" sz="1400" dirty="0"/>
          </a:p>
        </p:txBody>
      </p:sp>
      <p:sp>
        <p:nvSpPr>
          <p:cNvPr id="21" name="Text 19"/>
          <p:cNvSpPr/>
          <p:nvPr/>
        </p:nvSpPr>
        <p:spPr>
          <a:xfrm>
            <a:off x="5994400" y="1828800"/>
            <a:ext cx="55463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Mock example · tests/test_checkout.py</a:t>
            </a:r>
            <a:endParaRPr lang="en-US" sz="1200" dirty="0"/>
          </a:p>
        </p:txBody>
      </p:sp>
      <p:sp>
        <p:nvSpPr>
          <p:cNvPr id="22" name="Shape 20"/>
          <p:cNvSpPr/>
          <p:nvPr/>
        </p:nvSpPr>
        <p:spPr>
          <a:xfrm>
            <a:off x="5994400" y="2118364"/>
            <a:ext cx="5384800" cy="2702560"/>
          </a:xfrm>
          <a:prstGeom prst="roundRect">
            <a:avLst>
              <a:gd name="adj" fmla="val 2820"/>
            </a:avLst>
          </a:prstGeom>
          <a:solidFill>
            <a:srgbClr val="13233A"/>
          </a:solidFill>
          <a:ln/>
        </p:spPr>
      </p:sp>
      <p:sp>
        <p:nvSpPr>
          <p:cNvPr id="23" name="Text 21"/>
          <p:cNvSpPr/>
          <p:nvPr/>
        </p:nvSpPr>
        <p:spPr>
          <a:xfrm>
            <a:off x="6172200" y="2296164"/>
            <a:ext cx="5180076" cy="23723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from</a:t>
            </a:r>
            <a:r>
              <a:rPr lang="en-US" sz="1200" dirty="0">
                <a:solidFill>
                  <a:srgbClr val="E6EAF0"/>
                </a:solidFill>
                <a:latin typeface="JetBrains Mono" pitchFamily="34" charset="0"/>
                <a:ea typeface="JetBrains Mono" pitchFamily="34" charset="-122"/>
                <a:cs typeface="JetBrains Mono" pitchFamily="34" charset="-120"/>
              </a:rPr>
              <a:t> unittest.mock </a:t>
            </a: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Mock</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from</a:t>
            </a:r>
            <a:r>
              <a:rPr lang="en-US" sz="1200" dirty="0">
                <a:solidFill>
                  <a:srgbClr val="E6EAF0"/>
                </a:solidFill>
                <a:latin typeface="JetBrains Mono" pitchFamily="34" charset="0"/>
                <a:ea typeface="JetBrains Mono" pitchFamily="34" charset="-122"/>
                <a:cs typeface="JetBrains Mono" pitchFamily="34" charset="-120"/>
              </a:rPr>
              <a:t> canteen.checkout </a:t>
            </a: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place_order</a:t>
            </a:r>
            <a:endParaRPr lang="en-US" sz="1200" dirty="0"/>
          </a:p>
          <a:p>
            <a:pPr algn="l" indent="0" marL="0">
              <a:lnSpc>
                <a:spcPts val="1680"/>
              </a:lnSpc>
              <a:buNone/>
            </a:pP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test_order_placed_when_payment_succeeds():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gateway = Mock()</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gateway.charge.return_value = {</a:t>
            </a:r>
            <a:r>
              <a:rPr lang="en-US" sz="1200" dirty="0">
                <a:solidFill>
                  <a:srgbClr val="9CC7F0"/>
                </a:solidFill>
                <a:latin typeface="JetBrains Mono" pitchFamily="34" charset="0"/>
                <a:ea typeface="JetBrains Mono" pitchFamily="34" charset="-122"/>
                <a:cs typeface="JetBrains Mono" pitchFamily="34" charset="-120"/>
              </a:rPr>
              <a:t>"status"</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"success"</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order = place_order(240, gateway)</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gateway.charge.assert_called_once_with(240)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order.status == </a:t>
            </a:r>
            <a:r>
              <a:rPr lang="en-US" sz="1200" dirty="0">
                <a:solidFill>
                  <a:srgbClr val="9CC7F0"/>
                </a:solidFill>
                <a:latin typeface="JetBrains Mono" pitchFamily="34" charset="0"/>
                <a:ea typeface="JetBrains Mono" pitchFamily="34" charset="-122"/>
                <a:cs typeface="JetBrains Mono" pitchFamily="34" charset="-120"/>
              </a:rPr>
              <a:t>"PLACED"</a:t>
            </a:r>
            <a:endParaRPr lang="en-US" sz="1200" dirty="0"/>
          </a:p>
        </p:txBody>
      </p:sp>
      <p:sp>
        <p:nvSpPr>
          <p:cNvPr id="24" name="Text 22"/>
          <p:cNvSpPr/>
          <p:nvPr/>
        </p:nvSpPr>
        <p:spPr>
          <a:xfrm>
            <a:off x="5994400" y="4897121"/>
            <a:ext cx="554634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No real payment happens: the mock returns “success” and then confirms place_order() charged exactly ₹240, once.</a:t>
            </a:r>
            <a:endParaRPr lang="en-US" sz="1200" dirty="0"/>
          </a:p>
        </p:txBody>
      </p:sp>
      <p:sp>
        <p:nvSpPr>
          <p:cNvPr id="25" name="Text 23"/>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6" name="Text 24"/>
          <p:cNvSpPr/>
          <p:nvPr/>
        </p:nvSpPr>
        <p:spPr>
          <a:xfrm>
            <a:off x="8167925" y="6238242"/>
            <a:ext cx="33076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Terms: G. Meszaros, xUnit Test Patterns (2007)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L9 · UNIT TESTING</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Statement vs branch coverage</a:t>
            </a:r>
            <a:endParaRPr lang="en-US" sz="3200" dirty="0"/>
          </a:p>
        </p:txBody>
      </p:sp>
      <p:sp>
        <p:nvSpPr>
          <p:cNvPr id="4" name="Text 2"/>
          <p:cNvSpPr/>
          <p:nvPr/>
        </p:nvSpPr>
        <p:spPr>
          <a:xfrm>
            <a:off x="812800" y="1828800"/>
            <a:ext cx="49707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canteen/delivery.py and its only test</a:t>
            </a:r>
            <a:endParaRPr lang="en-US" sz="1200" dirty="0"/>
          </a:p>
        </p:txBody>
      </p:sp>
      <p:sp>
        <p:nvSpPr>
          <p:cNvPr id="5" name="Shape 3"/>
          <p:cNvSpPr/>
          <p:nvPr/>
        </p:nvSpPr>
        <p:spPr>
          <a:xfrm>
            <a:off x="812800" y="2118364"/>
            <a:ext cx="4826000" cy="2062480"/>
          </a:xfrm>
          <a:prstGeom prst="roundRect">
            <a:avLst>
              <a:gd name="adj" fmla="val 3695"/>
            </a:avLst>
          </a:prstGeom>
          <a:solidFill>
            <a:srgbClr val="13233A"/>
          </a:solidFill>
          <a:ln/>
        </p:spPr>
      </p:sp>
      <p:sp>
        <p:nvSpPr>
          <p:cNvPr id="6" name="Text 4"/>
          <p:cNvSpPr/>
          <p:nvPr/>
        </p:nvSpPr>
        <p:spPr>
          <a:xfrm>
            <a:off x="990600" y="2296164"/>
            <a:ext cx="4604512" cy="173228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delivery_fee(total):</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fee = 20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if</a:t>
            </a:r>
            <a:r>
              <a:rPr lang="en-US" sz="1200" dirty="0">
                <a:solidFill>
                  <a:srgbClr val="E6EAF0"/>
                </a:solidFill>
                <a:latin typeface="JetBrains Mono" pitchFamily="34" charset="0"/>
                <a:ea typeface="JetBrains Mono" pitchFamily="34" charset="-122"/>
                <a:cs typeface="JetBrains Mono" pitchFamily="34" charset="-120"/>
              </a:rPr>
              <a:t> total &gt;= 200: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fee = 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return</a:t>
            </a:r>
            <a:r>
              <a:rPr lang="en-US" sz="1200" dirty="0">
                <a:solidFill>
                  <a:srgbClr val="E6EAF0"/>
                </a:solidFill>
                <a:latin typeface="JetBrains Mono" pitchFamily="34" charset="0"/>
                <a:ea typeface="JetBrains Mono" pitchFamily="34" charset="-122"/>
                <a:cs typeface="JetBrains Mono" pitchFamily="34" charset="-120"/>
              </a:rPr>
              <a:t> fee</a:t>
            </a:r>
            <a:endParaRPr lang="en-US" sz="1200" dirty="0"/>
          </a:p>
          <a:p>
            <a:pPr algn="l" indent="0" marL="0">
              <a:lnSpc>
                <a:spcPts val="1680"/>
              </a:lnSpc>
              <a:buNone/>
            </a:pP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test_free_delivery_over_200():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delivery_fee(250) == 0</a:t>
            </a:r>
            <a:endParaRPr lang="en-US" sz="1200" dirty="0"/>
          </a:p>
        </p:txBody>
      </p:sp>
      <p:sp>
        <p:nvSpPr>
          <p:cNvPr id="7" name="Shape 5"/>
          <p:cNvSpPr/>
          <p:nvPr/>
        </p:nvSpPr>
        <p:spPr>
          <a:xfrm>
            <a:off x="5946775" y="1831975"/>
            <a:ext cx="2635250" cy="1634490"/>
          </a:xfrm>
          <a:prstGeom prst="roundRect">
            <a:avLst>
              <a:gd name="adj" fmla="val 4468"/>
            </a:avLst>
          </a:prstGeom>
          <a:solidFill>
            <a:srgbClr val="FCFBF7"/>
          </a:solidFill>
          <a:ln w="6350">
            <a:solidFill>
              <a:srgbClr val="DDD8CC"/>
            </a:solidFill>
            <a:prstDash val="solid"/>
          </a:ln>
        </p:spPr>
      </p:sp>
      <p:sp>
        <p:nvSpPr>
          <p:cNvPr id="8" name="Text 6"/>
          <p:cNvSpPr/>
          <p:nvPr/>
        </p:nvSpPr>
        <p:spPr>
          <a:xfrm>
            <a:off x="6126480" y="2011679"/>
            <a:ext cx="2344115" cy="736600"/>
          </a:xfrm>
          <a:prstGeom prst="rect">
            <a:avLst/>
          </a:prstGeom>
          <a:noFill/>
          <a:ln/>
        </p:spPr>
        <p:txBody>
          <a:bodyPr wrap="square" lIns="0" tIns="0" rIns="0" bIns="0" rtlCol="0" anchor="t">
            <a:normAutofit/>
          </a:bodyPr>
          <a:lstStyle/>
          <a:p>
            <a:pPr algn="l" indent="0" marL="0">
              <a:lnSpc>
                <a:spcPts val="5600"/>
              </a:lnSpc>
              <a:buNone/>
            </a:pPr>
            <a:r>
              <a:rPr lang="en-US" sz="5600" b="1" spc="-150" kern="0" dirty="0">
                <a:solidFill>
                  <a:srgbClr val="245A9C"/>
                </a:solidFill>
                <a:latin typeface="Space Grotesk" pitchFamily="34" charset="0"/>
                <a:ea typeface="Space Grotesk" pitchFamily="34" charset="-122"/>
                <a:cs typeface="Space Grotesk" pitchFamily="34" charset="-120"/>
              </a:rPr>
              <a:t>100%</a:t>
            </a:r>
            <a:endParaRPr lang="en-US" sz="5600" dirty="0"/>
          </a:p>
        </p:txBody>
      </p:sp>
      <p:sp>
        <p:nvSpPr>
          <p:cNvPr id="9" name="Text 7"/>
          <p:cNvSpPr/>
          <p:nvPr/>
        </p:nvSpPr>
        <p:spPr>
          <a:xfrm>
            <a:off x="6126480" y="2773679"/>
            <a:ext cx="234411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statement coverage</a:t>
            </a:r>
            <a:endParaRPr lang="en-US" sz="1400" dirty="0"/>
          </a:p>
        </p:txBody>
      </p:sp>
      <p:sp>
        <p:nvSpPr>
          <p:cNvPr id="10" name="Text 8"/>
          <p:cNvSpPr/>
          <p:nvPr/>
        </p:nvSpPr>
        <p:spPr>
          <a:xfrm>
            <a:off x="6126480" y="3073400"/>
            <a:ext cx="23441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All 5 statements ran.</a:t>
            </a:r>
            <a:endParaRPr lang="en-US" sz="1200" dirty="0"/>
          </a:p>
        </p:txBody>
      </p:sp>
      <p:sp>
        <p:nvSpPr>
          <p:cNvPr id="11" name="Shape 9"/>
          <p:cNvSpPr/>
          <p:nvPr/>
        </p:nvSpPr>
        <p:spPr>
          <a:xfrm>
            <a:off x="8740775" y="1831975"/>
            <a:ext cx="2635250" cy="1634490"/>
          </a:xfrm>
          <a:prstGeom prst="roundRect">
            <a:avLst>
              <a:gd name="adj" fmla="val 4468"/>
            </a:avLst>
          </a:prstGeom>
          <a:solidFill>
            <a:srgbClr val="F7E3D5"/>
          </a:solidFill>
          <a:ln w="6350">
            <a:solidFill>
              <a:srgbClr val="E9C3A8"/>
            </a:solidFill>
            <a:prstDash val="solid"/>
          </a:ln>
        </p:spPr>
      </p:sp>
      <p:sp>
        <p:nvSpPr>
          <p:cNvPr id="12" name="Text 10"/>
          <p:cNvSpPr/>
          <p:nvPr/>
        </p:nvSpPr>
        <p:spPr>
          <a:xfrm>
            <a:off x="8920480" y="2011679"/>
            <a:ext cx="2344115" cy="736600"/>
          </a:xfrm>
          <a:prstGeom prst="rect">
            <a:avLst/>
          </a:prstGeom>
          <a:noFill/>
          <a:ln/>
        </p:spPr>
        <p:txBody>
          <a:bodyPr wrap="square" lIns="0" tIns="0" rIns="0" bIns="0" rtlCol="0" anchor="t">
            <a:normAutofit/>
          </a:bodyPr>
          <a:lstStyle/>
          <a:p>
            <a:pPr algn="l" indent="0" marL="0">
              <a:lnSpc>
                <a:spcPts val="5600"/>
              </a:lnSpc>
              <a:buNone/>
            </a:pPr>
            <a:r>
              <a:rPr lang="en-US" sz="5600" b="1" spc="-150" kern="0" dirty="0">
                <a:solidFill>
                  <a:srgbClr val="A9481A"/>
                </a:solidFill>
                <a:latin typeface="Space Grotesk" pitchFamily="34" charset="0"/>
                <a:ea typeface="Space Grotesk" pitchFamily="34" charset="-122"/>
                <a:cs typeface="Space Grotesk" pitchFamily="34" charset="-120"/>
              </a:rPr>
              <a:t>50%</a:t>
            </a:r>
            <a:endParaRPr lang="en-US" sz="5600" dirty="0"/>
          </a:p>
        </p:txBody>
      </p:sp>
      <p:sp>
        <p:nvSpPr>
          <p:cNvPr id="13" name="Text 11"/>
          <p:cNvSpPr/>
          <p:nvPr/>
        </p:nvSpPr>
        <p:spPr>
          <a:xfrm>
            <a:off x="8920480" y="2773679"/>
            <a:ext cx="234411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branch coverage</a:t>
            </a:r>
            <a:endParaRPr lang="en-US" sz="1400" dirty="0"/>
          </a:p>
        </p:txBody>
      </p:sp>
      <p:sp>
        <p:nvSpPr>
          <p:cNvPr id="14" name="Text 12"/>
          <p:cNvSpPr/>
          <p:nvPr/>
        </p:nvSpPr>
        <p:spPr>
          <a:xfrm>
            <a:off x="8920480" y="3073400"/>
            <a:ext cx="23441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False path of the if never ran.</a:t>
            </a:r>
            <a:endParaRPr lang="en-US" sz="1200" dirty="0"/>
          </a:p>
        </p:txBody>
      </p:sp>
      <p:sp>
        <p:nvSpPr>
          <p:cNvPr id="15" name="Text 13"/>
          <p:cNvSpPr/>
          <p:nvPr/>
        </p:nvSpPr>
        <p:spPr>
          <a:xfrm>
            <a:off x="5943600" y="3622042"/>
            <a:ext cx="559866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Coverage shows what ran, not what was checked.</a:t>
            </a:r>
            <a:endParaRPr lang="en-US" sz="1400" dirty="0"/>
          </a:p>
        </p:txBody>
      </p:sp>
      <p:sp>
        <p:nvSpPr>
          <p:cNvPr id="16" name="Shape 14"/>
          <p:cNvSpPr/>
          <p:nvPr/>
        </p:nvSpPr>
        <p:spPr>
          <a:xfrm>
            <a:off x="812800" y="4434842"/>
            <a:ext cx="10566400" cy="1209040"/>
          </a:xfrm>
          <a:prstGeom prst="roundRect">
            <a:avLst>
              <a:gd name="adj" fmla="val 6303"/>
            </a:avLst>
          </a:prstGeom>
          <a:solidFill>
            <a:srgbClr val="13233A"/>
          </a:solidFill>
          <a:ln/>
        </p:spPr>
      </p:sp>
      <p:sp>
        <p:nvSpPr>
          <p:cNvPr id="17" name="Text 15"/>
          <p:cNvSpPr/>
          <p:nvPr/>
        </p:nvSpPr>
        <p:spPr>
          <a:xfrm>
            <a:off x="990600" y="4612642"/>
            <a:ext cx="10517124" cy="8788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pytest --cov=canteen --cov-branch --cov-report=term-missing</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Name                  Stmts   Miss Branch BrPart  Cover   Missing</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canteen/delivery.py       5      0      2      1    86%   3-&gt;5</a:t>
            </a:r>
            <a:endParaRPr lang="en-US" sz="1200" dirty="0"/>
          </a:p>
          <a:p>
            <a:pPr algn="l" indent="0" marL="0">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 Cover blends statements and branches (6 of 7 = 86%). 3-&gt;5 is the untaken False path of line 3.</a:t>
            </a:r>
            <a:endParaRPr lang="en-US" sz="1200" dirty="0"/>
          </a:p>
        </p:txBody>
      </p:sp>
      <p:sp>
        <p:nvSpPr>
          <p:cNvPr id="18" name="Text 16"/>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9" name="Text 17"/>
          <p:cNvSpPr/>
          <p:nvPr/>
        </p:nvSpPr>
        <p:spPr>
          <a:xfrm>
            <a:off x="7984014" y="6238242"/>
            <a:ext cx="34970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Output from coverage.py via the pytest-cov plugin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L9 · CHECK YOUR UNDERSTANDING</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Knowledge check: Lecture 9</a:t>
            </a:r>
            <a:endParaRPr lang="en-US" sz="3200" dirty="0"/>
          </a:p>
        </p:txBody>
      </p:sp>
      <p:sp>
        <p:nvSpPr>
          <p:cNvPr id="4" name="Shape 2"/>
          <p:cNvSpPr/>
          <p:nvPr/>
        </p:nvSpPr>
        <p:spPr>
          <a:xfrm>
            <a:off x="815975" y="1831975"/>
            <a:ext cx="5175250" cy="1339850"/>
          </a:xfrm>
          <a:prstGeom prst="roundRect">
            <a:avLst>
              <a:gd name="adj" fmla="val 5450"/>
            </a:avLst>
          </a:prstGeom>
          <a:solidFill>
            <a:srgbClr val="FCFBF7"/>
          </a:solidFill>
          <a:ln w="6350">
            <a:solidFill>
              <a:srgbClr val="DDD8CC"/>
            </a:solidFill>
            <a:prstDash val="solid"/>
          </a:ln>
        </p:spPr>
      </p:sp>
      <p:sp>
        <p:nvSpPr>
          <p:cNvPr id="5" name="Text 3"/>
          <p:cNvSpPr/>
          <p:nvPr/>
        </p:nvSpPr>
        <p:spPr>
          <a:xfrm>
            <a:off x="1046480" y="2062479"/>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79"/>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new “combo meal” screen changes every day this sprint. Should its UI tests be automated now? Why?</a:t>
            </a:r>
            <a:endParaRPr lang="en-US" sz="1400" dirty="0"/>
          </a:p>
        </p:txBody>
      </p:sp>
      <p:sp>
        <p:nvSpPr>
          <p:cNvPr id="7" name="Shape 5"/>
          <p:cNvSpPr/>
          <p:nvPr/>
        </p:nvSpPr>
        <p:spPr>
          <a:xfrm>
            <a:off x="6200775" y="1831975"/>
            <a:ext cx="5175250" cy="1339850"/>
          </a:xfrm>
          <a:prstGeom prst="roundRect">
            <a:avLst>
              <a:gd name="adj" fmla="val 5450"/>
            </a:avLst>
          </a:prstGeom>
          <a:solidFill>
            <a:srgbClr val="FCFBF7"/>
          </a:solidFill>
          <a:ln w="6350">
            <a:solidFill>
              <a:srgbClr val="DDD8CC"/>
            </a:solidFill>
            <a:prstDash val="solid"/>
          </a:ln>
        </p:spPr>
      </p:sp>
      <p:sp>
        <p:nvSpPr>
          <p:cNvPr id="8" name="Text 6"/>
          <p:cNvSpPr/>
          <p:nvPr/>
        </p:nvSpPr>
        <p:spPr>
          <a:xfrm>
            <a:off x="6431280" y="2062479"/>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79"/>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Name the three layers of the test pyramid. Which layer should hold the most tests, and why?</a:t>
            </a:r>
            <a:endParaRPr lang="en-US" sz="1400" dirty="0"/>
          </a:p>
        </p:txBody>
      </p:sp>
      <p:sp>
        <p:nvSpPr>
          <p:cNvPr id="10" name="Shape 8"/>
          <p:cNvSpPr/>
          <p:nvPr/>
        </p:nvSpPr>
        <p:spPr>
          <a:xfrm>
            <a:off x="815975" y="3381375"/>
            <a:ext cx="5175250" cy="1339850"/>
          </a:xfrm>
          <a:prstGeom prst="roundRect">
            <a:avLst>
              <a:gd name="adj" fmla="val 5450"/>
            </a:avLst>
          </a:prstGeom>
          <a:solidFill>
            <a:srgbClr val="FCFBF7"/>
          </a:solidFill>
          <a:ln w="6350">
            <a:solidFill>
              <a:srgbClr val="DDD8CC"/>
            </a:solidFill>
            <a:prstDash val="solid"/>
          </a:ln>
        </p:spPr>
      </p:sp>
      <p:sp>
        <p:nvSpPr>
          <p:cNvPr id="11" name="Text 9"/>
          <p:cNvSpPr/>
          <p:nvPr/>
        </p:nvSpPr>
        <p:spPr>
          <a:xfrm>
            <a:off x="1046480" y="3611879"/>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3992879"/>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test passes alone but fails when the suite runs in a different order. Which F.I.R.S.T. property is broken?</a:t>
            </a:r>
            <a:endParaRPr lang="en-US" sz="1400" dirty="0"/>
          </a:p>
        </p:txBody>
      </p:sp>
      <p:sp>
        <p:nvSpPr>
          <p:cNvPr id="13" name="Shape 11"/>
          <p:cNvSpPr/>
          <p:nvPr/>
        </p:nvSpPr>
        <p:spPr>
          <a:xfrm>
            <a:off x="6200775" y="3381375"/>
            <a:ext cx="5175250" cy="1339850"/>
          </a:xfrm>
          <a:prstGeom prst="roundRect">
            <a:avLst>
              <a:gd name="adj" fmla="val 5450"/>
            </a:avLst>
          </a:prstGeom>
          <a:solidFill>
            <a:srgbClr val="FCFBF7"/>
          </a:solidFill>
          <a:ln w="6350">
            <a:solidFill>
              <a:srgbClr val="DDD8CC"/>
            </a:solidFill>
            <a:prstDash val="solid"/>
          </a:ln>
        </p:spPr>
      </p:sp>
      <p:sp>
        <p:nvSpPr>
          <p:cNvPr id="14" name="Text 12"/>
          <p:cNvSpPr/>
          <p:nvPr/>
        </p:nvSpPr>
        <p:spPr>
          <a:xfrm>
            <a:off x="6431280" y="3611879"/>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3992879"/>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Your tests reach 100% statement coverage. Can a branch still be untested? Give an example.</a:t>
            </a:r>
            <a:endParaRPr lang="en-US" sz="1400" dirty="0"/>
          </a:p>
        </p:txBody>
      </p:sp>
      <p:sp>
        <p:nvSpPr>
          <p:cNvPr id="16" name="Text 14"/>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7" name="Text 15"/>
          <p:cNvSpPr/>
          <p:nvPr/>
        </p:nvSpPr>
        <p:spPr>
          <a:xfrm>
            <a:off x="9372044" y="6238242"/>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10</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2 · LECTURE 10 · 40 MINUTES</a:t>
            </a:r>
            <a:endParaRPr lang="en-US" sz="1200" dirty="0"/>
          </a:p>
        </p:txBody>
      </p:sp>
      <p:sp>
        <p:nvSpPr>
          <p:cNvPr id="4" name="Text 2"/>
          <p:cNvSpPr/>
          <p:nvPr/>
        </p:nvSpPr>
        <p:spPr>
          <a:xfrm>
            <a:off x="812800" y="3464558"/>
            <a:ext cx="1046480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Integration, system</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and acceptance testing</a:t>
            </a:r>
            <a:endParaRPr lang="en-US" sz="5600" dirty="0"/>
          </a:p>
        </p:txBody>
      </p:sp>
      <p:sp>
        <p:nvSpPr>
          <p:cNvPr id="5" name="Shape 3"/>
          <p:cNvSpPr/>
          <p:nvPr/>
        </p:nvSpPr>
        <p:spPr>
          <a:xfrm>
            <a:off x="812800" y="5320035"/>
            <a:ext cx="2794000" cy="0"/>
          </a:xfrm>
          <a:prstGeom prst="line">
            <a:avLst/>
          </a:prstGeom>
          <a:noFill/>
          <a:ln w="12700">
            <a:solidFill>
              <a:srgbClr val="3A5476"/>
            </a:solidFill>
            <a:prstDash val="solid"/>
          </a:ln>
        </p:spPr>
      </p:sp>
      <p:sp>
        <p:nvSpPr>
          <p:cNvPr id="6" name="Text 4"/>
          <p:cNvSpPr/>
          <p:nvPr/>
        </p:nvSpPr>
        <p:spPr>
          <a:xfrm>
            <a:off x="812800" y="545084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15 min</a:t>
            </a:r>
            <a:endParaRPr lang="en-US" sz="1200" dirty="0"/>
          </a:p>
        </p:txBody>
      </p:sp>
      <p:sp>
        <p:nvSpPr>
          <p:cNvPr id="7" name="Text 5"/>
          <p:cNvSpPr/>
          <p:nvPr/>
        </p:nvSpPr>
        <p:spPr>
          <a:xfrm>
            <a:off x="8128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Integration testing</a:t>
            </a:r>
            <a:endParaRPr lang="en-US" sz="2000" dirty="0"/>
          </a:p>
        </p:txBody>
      </p:sp>
      <p:sp>
        <p:nvSpPr>
          <p:cNvPr id="8" name="Shape 6"/>
          <p:cNvSpPr/>
          <p:nvPr/>
        </p:nvSpPr>
        <p:spPr>
          <a:xfrm>
            <a:off x="3911600" y="5320035"/>
            <a:ext cx="2794000" cy="0"/>
          </a:xfrm>
          <a:prstGeom prst="line">
            <a:avLst/>
          </a:prstGeom>
          <a:noFill/>
          <a:ln w="12700">
            <a:solidFill>
              <a:srgbClr val="3A5476"/>
            </a:solidFill>
            <a:prstDash val="solid"/>
          </a:ln>
        </p:spPr>
      </p:sp>
      <p:sp>
        <p:nvSpPr>
          <p:cNvPr id="9" name="Text 7"/>
          <p:cNvSpPr/>
          <p:nvPr/>
        </p:nvSpPr>
        <p:spPr>
          <a:xfrm>
            <a:off x="3911600" y="545084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15 min</a:t>
            </a:r>
            <a:endParaRPr lang="en-US" sz="1200" dirty="0"/>
          </a:p>
        </p:txBody>
      </p:sp>
      <p:sp>
        <p:nvSpPr>
          <p:cNvPr id="10" name="Text 8"/>
          <p:cNvSpPr/>
          <p:nvPr/>
        </p:nvSpPr>
        <p:spPr>
          <a:xfrm>
            <a:off x="39116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System testing</a:t>
            </a:r>
            <a:endParaRPr lang="en-US" sz="2000" dirty="0"/>
          </a:p>
        </p:txBody>
      </p:sp>
      <p:sp>
        <p:nvSpPr>
          <p:cNvPr id="11" name="Shape 9"/>
          <p:cNvSpPr/>
          <p:nvPr/>
        </p:nvSpPr>
        <p:spPr>
          <a:xfrm>
            <a:off x="7010400" y="5320035"/>
            <a:ext cx="2794000" cy="0"/>
          </a:xfrm>
          <a:prstGeom prst="line">
            <a:avLst/>
          </a:prstGeom>
          <a:noFill/>
          <a:ln w="12700">
            <a:solidFill>
              <a:srgbClr val="3A5476"/>
            </a:solidFill>
            <a:prstDash val="solid"/>
          </a:ln>
        </p:spPr>
      </p:sp>
      <p:sp>
        <p:nvSpPr>
          <p:cNvPr id="12" name="Text 10"/>
          <p:cNvSpPr/>
          <p:nvPr/>
        </p:nvSpPr>
        <p:spPr>
          <a:xfrm>
            <a:off x="7010400" y="545084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10 min</a:t>
            </a:r>
            <a:endParaRPr lang="en-US" sz="1200" dirty="0"/>
          </a:p>
        </p:txBody>
      </p:sp>
      <p:sp>
        <p:nvSpPr>
          <p:cNvPr id="13" name="Text 11"/>
          <p:cNvSpPr/>
          <p:nvPr/>
        </p:nvSpPr>
        <p:spPr>
          <a:xfrm>
            <a:off x="70104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Acceptance testing</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L10 · TEST LEVELS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Test levels on the V-model</a:t>
            </a:r>
            <a:endParaRPr lang="en-US" sz="3200" dirty="0"/>
          </a:p>
        </p:txBody>
      </p:sp>
      <p:sp>
        <p:nvSpPr>
          <p:cNvPr id="4" name="Shape 2"/>
          <p:cNvSpPr/>
          <p:nvPr/>
        </p:nvSpPr>
        <p:spPr>
          <a:xfrm>
            <a:off x="815975" y="1831975"/>
            <a:ext cx="2279650" cy="501650"/>
          </a:xfrm>
          <a:prstGeom prst="roundRect">
            <a:avLst>
              <a:gd name="adj" fmla="val 12025"/>
            </a:avLst>
          </a:prstGeom>
          <a:solidFill>
            <a:srgbClr val="FCFBF7"/>
          </a:solidFill>
          <a:ln w="6350">
            <a:solidFill>
              <a:srgbClr val="C9C2B2"/>
            </a:solidFill>
            <a:prstDash val="solid"/>
          </a:ln>
        </p:spPr>
      </p:sp>
      <p:sp>
        <p:nvSpPr>
          <p:cNvPr id="5" name="Text 3"/>
          <p:cNvSpPr/>
          <p:nvPr/>
        </p:nvSpPr>
        <p:spPr>
          <a:xfrm>
            <a:off x="1127998" y="1976127"/>
            <a:ext cx="165552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Business requirements</a:t>
            </a:r>
            <a:endParaRPr lang="en-US" sz="1200" dirty="0"/>
          </a:p>
        </p:txBody>
      </p:sp>
      <p:sp>
        <p:nvSpPr>
          <p:cNvPr id="6" name="Shape 4"/>
          <p:cNvSpPr/>
          <p:nvPr/>
        </p:nvSpPr>
        <p:spPr>
          <a:xfrm>
            <a:off x="1577975" y="2720975"/>
            <a:ext cx="2279650" cy="501650"/>
          </a:xfrm>
          <a:prstGeom prst="roundRect">
            <a:avLst>
              <a:gd name="adj" fmla="val 12025"/>
            </a:avLst>
          </a:prstGeom>
          <a:solidFill>
            <a:srgbClr val="FCFBF7"/>
          </a:solidFill>
          <a:ln w="6350">
            <a:solidFill>
              <a:srgbClr val="C9C2B2"/>
            </a:solidFill>
            <a:prstDash val="solid"/>
          </a:ln>
        </p:spPr>
      </p:sp>
      <p:sp>
        <p:nvSpPr>
          <p:cNvPr id="7" name="Text 5"/>
          <p:cNvSpPr/>
          <p:nvPr/>
        </p:nvSpPr>
        <p:spPr>
          <a:xfrm>
            <a:off x="1945084" y="2865127"/>
            <a:ext cx="154535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System requirements</a:t>
            </a:r>
            <a:endParaRPr lang="en-US" sz="1200" dirty="0"/>
          </a:p>
        </p:txBody>
      </p:sp>
      <p:sp>
        <p:nvSpPr>
          <p:cNvPr id="8" name="Shape 6"/>
          <p:cNvSpPr/>
          <p:nvPr/>
        </p:nvSpPr>
        <p:spPr>
          <a:xfrm>
            <a:off x="2339975" y="3609975"/>
            <a:ext cx="2279650" cy="501650"/>
          </a:xfrm>
          <a:prstGeom prst="roundRect">
            <a:avLst>
              <a:gd name="adj" fmla="val 12025"/>
            </a:avLst>
          </a:prstGeom>
          <a:solidFill>
            <a:srgbClr val="FCFBF7"/>
          </a:solidFill>
          <a:ln w="6350">
            <a:solidFill>
              <a:srgbClr val="C9C2B2"/>
            </a:solidFill>
            <a:prstDash val="solid"/>
          </a:ln>
        </p:spPr>
      </p:sp>
      <p:sp>
        <p:nvSpPr>
          <p:cNvPr id="9" name="Text 7"/>
          <p:cNvSpPr/>
          <p:nvPr/>
        </p:nvSpPr>
        <p:spPr>
          <a:xfrm>
            <a:off x="2772013" y="3754127"/>
            <a:ext cx="141557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Architecture design</a:t>
            </a:r>
            <a:endParaRPr lang="en-US" sz="1200" dirty="0"/>
          </a:p>
        </p:txBody>
      </p:sp>
      <p:sp>
        <p:nvSpPr>
          <p:cNvPr id="10" name="Shape 8"/>
          <p:cNvSpPr/>
          <p:nvPr/>
        </p:nvSpPr>
        <p:spPr>
          <a:xfrm>
            <a:off x="3101975" y="4498975"/>
            <a:ext cx="2279650" cy="501650"/>
          </a:xfrm>
          <a:prstGeom prst="roundRect">
            <a:avLst>
              <a:gd name="adj" fmla="val 12025"/>
            </a:avLst>
          </a:prstGeom>
          <a:solidFill>
            <a:srgbClr val="FCFBF7"/>
          </a:solidFill>
          <a:ln w="6350">
            <a:solidFill>
              <a:srgbClr val="C9C2B2"/>
            </a:solidFill>
            <a:prstDash val="solid"/>
          </a:ln>
        </p:spPr>
      </p:sp>
      <p:sp>
        <p:nvSpPr>
          <p:cNvPr id="11" name="Text 9"/>
          <p:cNvSpPr/>
          <p:nvPr/>
        </p:nvSpPr>
        <p:spPr>
          <a:xfrm>
            <a:off x="3709670" y="4643127"/>
            <a:ext cx="106418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Module design</a:t>
            </a:r>
            <a:endParaRPr lang="en-US" sz="1200" dirty="0"/>
          </a:p>
        </p:txBody>
      </p:sp>
      <p:sp>
        <p:nvSpPr>
          <p:cNvPr id="12" name="Shape 10"/>
          <p:cNvSpPr/>
          <p:nvPr/>
        </p:nvSpPr>
        <p:spPr>
          <a:xfrm>
            <a:off x="5207000" y="5130800"/>
            <a:ext cx="1778000" cy="457200"/>
          </a:xfrm>
          <a:prstGeom prst="roundRect">
            <a:avLst>
              <a:gd name="adj" fmla="val 13889"/>
            </a:avLst>
          </a:prstGeom>
          <a:solidFill>
            <a:srgbClr val="E98B53"/>
          </a:solidFill>
          <a:ln/>
        </p:spPr>
      </p:sp>
      <p:sp>
        <p:nvSpPr>
          <p:cNvPr id="13" name="Text 11"/>
          <p:cNvSpPr/>
          <p:nvPr/>
        </p:nvSpPr>
        <p:spPr>
          <a:xfrm>
            <a:off x="5825728" y="5252727"/>
            <a:ext cx="540464"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Coding</a:t>
            </a:r>
            <a:endParaRPr lang="en-US" sz="1200" dirty="0"/>
          </a:p>
        </p:txBody>
      </p:sp>
      <p:sp>
        <p:nvSpPr>
          <p:cNvPr id="14" name="Shape 12"/>
          <p:cNvSpPr/>
          <p:nvPr/>
        </p:nvSpPr>
        <p:spPr>
          <a:xfrm>
            <a:off x="6807200" y="4495800"/>
            <a:ext cx="2286000" cy="508000"/>
          </a:xfrm>
          <a:prstGeom prst="roundRect">
            <a:avLst>
              <a:gd name="adj" fmla="val 12500"/>
            </a:avLst>
          </a:prstGeom>
          <a:solidFill>
            <a:srgbClr val="13233A"/>
          </a:solidFill>
          <a:ln/>
        </p:spPr>
      </p:sp>
      <p:sp>
        <p:nvSpPr>
          <p:cNvPr id="15" name="Text 13"/>
          <p:cNvSpPr/>
          <p:nvPr/>
        </p:nvSpPr>
        <p:spPr>
          <a:xfrm>
            <a:off x="7516099" y="4643127"/>
            <a:ext cx="868204"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Unit testing</a:t>
            </a:r>
            <a:endParaRPr lang="en-US" sz="1200" dirty="0"/>
          </a:p>
        </p:txBody>
      </p:sp>
      <p:sp>
        <p:nvSpPr>
          <p:cNvPr id="16" name="Shape 14"/>
          <p:cNvSpPr/>
          <p:nvPr/>
        </p:nvSpPr>
        <p:spPr>
          <a:xfrm>
            <a:off x="7569200" y="3606800"/>
            <a:ext cx="2286000" cy="508000"/>
          </a:xfrm>
          <a:prstGeom prst="roundRect">
            <a:avLst>
              <a:gd name="adj" fmla="val 12500"/>
            </a:avLst>
          </a:prstGeom>
          <a:solidFill>
            <a:srgbClr val="13233A"/>
          </a:solidFill>
          <a:ln/>
        </p:spPr>
      </p:sp>
      <p:sp>
        <p:nvSpPr>
          <p:cNvPr id="17" name="Text 15"/>
          <p:cNvSpPr/>
          <p:nvPr/>
        </p:nvSpPr>
        <p:spPr>
          <a:xfrm>
            <a:off x="8027035" y="3754127"/>
            <a:ext cx="137033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Integration testing</a:t>
            </a:r>
            <a:endParaRPr lang="en-US" sz="1200" dirty="0"/>
          </a:p>
        </p:txBody>
      </p:sp>
      <p:sp>
        <p:nvSpPr>
          <p:cNvPr id="18" name="Shape 16"/>
          <p:cNvSpPr/>
          <p:nvPr/>
        </p:nvSpPr>
        <p:spPr>
          <a:xfrm>
            <a:off x="8331200" y="2717800"/>
            <a:ext cx="2286000" cy="508000"/>
          </a:xfrm>
          <a:prstGeom prst="roundRect">
            <a:avLst>
              <a:gd name="adj" fmla="val 12500"/>
            </a:avLst>
          </a:prstGeom>
          <a:solidFill>
            <a:srgbClr val="13233A"/>
          </a:solidFill>
          <a:ln/>
        </p:spPr>
      </p:sp>
      <p:sp>
        <p:nvSpPr>
          <p:cNvPr id="19" name="Text 17"/>
          <p:cNvSpPr/>
          <p:nvPr/>
        </p:nvSpPr>
        <p:spPr>
          <a:xfrm>
            <a:off x="8925084" y="2865127"/>
            <a:ext cx="1098153"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System testing</a:t>
            </a:r>
            <a:endParaRPr lang="en-US" sz="1200" dirty="0"/>
          </a:p>
        </p:txBody>
      </p:sp>
      <p:sp>
        <p:nvSpPr>
          <p:cNvPr id="20" name="Shape 18"/>
          <p:cNvSpPr/>
          <p:nvPr/>
        </p:nvSpPr>
        <p:spPr>
          <a:xfrm>
            <a:off x="9093200" y="1828800"/>
            <a:ext cx="2286000" cy="508000"/>
          </a:xfrm>
          <a:prstGeom prst="roundRect">
            <a:avLst>
              <a:gd name="adj" fmla="val 12500"/>
            </a:avLst>
          </a:prstGeom>
          <a:solidFill>
            <a:srgbClr val="13233A"/>
          </a:solidFill>
          <a:ln/>
        </p:spPr>
      </p:sp>
      <p:sp>
        <p:nvSpPr>
          <p:cNvPr id="21" name="Text 19"/>
          <p:cNvSpPr/>
          <p:nvPr/>
        </p:nvSpPr>
        <p:spPr>
          <a:xfrm>
            <a:off x="9535399" y="1976127"/>
            <a:ext cx="1401604"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Acceptance testing</a:t>
            </a:r>
            <a:endParaRPr lang="en-US" sz="1200" dirty="0"/>
          </a:p>
        </p:txBody>
      </p:sp>
      <p:pic>
        <p:nvPicPr>
          <p:cNvPr id="22" name="Image 0" descr="connector">    </p:cNvPr>
          <p:cNvPicPr>
            <a:picLocks noChangeAspect="1"/>
          </p:cNvPicPr>
          <p:nvPr/>
        </p:nvPicPr>
        <p:blipFill>
          <a:blip r:embed="rId1"/>
          <a:srcRect l="0" r="0" t="0" b="0"/>
          <a:stretch/>
        </p:blipFill>
        <p:spPr>
          <a:xfrm>
            <a:off x="1143000" y="2286000"/>
            <a:ext cx="482600" cy="736600"/>
          </a:xfrm>
          <a:prstGeom prst="rect">
            <a:avLst/>
          </a:prstGeom>
        </p:spPr>
      </p:pic>
      <p:pic>
        <p:nvPicPr>
          <p:cNvPr id="23" name="Image 1" descr="connector">    </p:cNvPr>
          <p:cNvPicPr>
            <a:picLocks noChangeAspect="1"/>
          </p:cNvPicPr>
          <p:nvPr/>
        </p:nvPicPr>
        <p:blipFill>
          <a:blip r:embed="rId2"/>
          <a:srcRect l="0" r="0" t="0" b="0"/>
          <a:stretch/>
        </p:blipFill>
        <p:spPr>
          <a:xfrm>
            <a:off x="1905000" y="3175000"/>
            <a:ext cx="482600" cy="736600"/>
          </a:xfrm>
          <a:prstGeom prst="rect">
            <a:avLst/>
          </a:prstGeom>
        </p:spPr>
      </p:pic>
      <p:pic>
        <p:nvPicPr>
          <p:cNvPr id="24" name="Image 2" descr="connector">    </p:cNvPr>
          <p:cNvPicPr>
            <a:picLocks noChangeAspect="1"/>
          </p:cNvPicPr>
          <p:nvPr/>
        </p:nvPicPr>
        <p:blipFill>
          <a:blip r:embed="rId3"/>
          <a:srcRect l="0" r="0" t="0" b="0"/>
          <a:stretch/>
        </p:blipFill>
        <p:spPr>
          <a:xfrm>
            <a:off x="2667000" y="4064000"/>
            <a:ext cx="482600" cy="736600"/>
          </a:xfrm>
          <a:prstGeom prst="rect">
            <a:avLst/>
          </a:prstGeom>
        </p:spPr>
      </p:pic>
      <p:pic>
        <p:nvPicPr>
          <p:cNvPr id="25" name="Image 3" descr="connector">    </p:cNvPr>
          <p:cNvPicPr>
            <a:picLocks noChangeAspect="1"/>
          </p:cNvPicPr>
          <p:nvPr/>
        </p:nvPicPr>
        <p:blipFill>
          <a:blip r:embed="rId4"/>
          <a:srcRect l="0" r="0" t="0" b="0"/>
          <a:stretch/>
        </p:blipFill>
        <p:spPr>
          <a:xfrm>
            <a:off x="3429000" y="4953000"/>
            <a:ext cx="1828800" cy="457200"/>
          </a:xfrm>
          <a:prstGeom prst="rect">
            <a:avLst/>
          </a:prstGeom>
        </p:spPr>
      </p:pic>
      <p:pic>
        <p:nvPicPr>
          <p:cNvPr id="26" name="Image 4" descr="connector">    </p:cNvPr>
          <p:cNvPicPr>
            <a:picLocks noChangeAspect="1"/>
          </p:cNvPicPr>
          <p:nvPr/>
        </p:nvPicPr>
        <p:blipFill>
          <a:blip r:embed="rId5"/>
          <a:srcRect l="0" r="0" t="0" b="0"/>
          <a:stretch/>
        </p:blipFill>
        <p:spPr>
          <a:xfrm>
            <a:off x="6934200" y="4953000"/>
            <a:ext cx="1828800" cy="457200"/>
          </a:xfrm>
          <a:prstGeom prst="rect">
            <a:avLst/>
          </a:prstGeom>
        </p:spPr>
      </p:pic>
      <p:pic>
        <p:nvPicPr>
          <p:cNvPr id="27" name="Image 5" descr="connector">    </p:cNvPr>
          <p:cNvPicPr>
            <a:picLocks noChangeAspect="1"/>
          </p:cNvPicPr>
          <p:nvPr/>
        </p:nvPicPr>
        <p:blipFill>
          <a:blip r:embed="rId6"/>
          <a:srcRect l="0" r="0" t="0" b="0"/>
          <a:stretch/>
        </p:blipFill>
        <p:spPr>
          <a:xfrm>
            <a:off x="9042400" y="4064000"/>
            <a:ext cx="482600" cy="736600"/>
          </a:xfrm>
          <a:prstGeom prst="rect">
            <a:avLst/>
          </a:prstGeom>
        </p:spPr>
      </p:pic>
      <p:pic>
        <p:nvPicPr>
          <p:cNvPr id="28" name="Image 6" descr="connector">    </p:cNvPr>
          <p:cNvPicPr>
            <a:picLocks noChangeAspect="1"/>
          </p:cNvPicPr>
          <p:nvPr/>
        </p:nvPicPr>
        <p:blipFill>
          <a:blip r:embed="rId7"/>
          <a:srcRect l="0" r="0" t="0" b="0"/>
          <a:stretch/>
        </p:blipFill>
        <p:spPr>
          <a:xfrm>
            <a:off x="9804400" y="3175000"/>
            <a:ext cx="482600" cy="736600"/>
          </a:xfrm>
          <a:prstGeom prst="rect">
            <a:avLst/>
          </a:prstGeom>
        </p:spPr>
      </p:pic>
      <p:pic>
        <p:nvPicPr>
          <p:cNvPr id="29" name="Image 7" descr="connector">    </p:cNvPr>
          <p:cNvPicPr>
            <a:picLocks noChangeAspect="1"/>
          </p:cNvPicPr>
          <p:nvPr/>
        </p:nvPicPr>
        <p:blipFill>
          <a:blip r:embed="rId8"/>
          <a:srcRect l="0" r="0" t="0" b="0"/>
          <a:stretch/>
        </p:blipFill>
        <p:spPr>
          <a:xfrm>
            <a:off x="10566400" y="2286000"/>
            <a:ext cx="482600" cy="736600"/>
          </a:xfrm>
          <a:prstGeom prst="rect">
            <a:avLst/>
          </a:prstGeom>
        </p:spPr>
      </p:pic>
      <p:pic>
        <p:nvPicPr>
          <p:cNvPr id="30" name="Image 8" descr="connector">    </p:cNvPr>
          <p:cNvPicPr>
            <a:picLocks noChangeAspect="1"/>
          </p:cNvPicPr>
          <p:nvPr/>
        </p:nvPicPr>
        <p:blipFill>
          <a:blip r:embed="rId9"/>
          <a:srcRect l="0" r="0" t="0" b="0"/>
          <a:stretch/>
        </p:blipFill>
        <p:spPr>
          <a:xfrm>
            <a:off x="3060700" y="2044700"/>
            <a:ext cx="6070600" cy="76200"/>
          </a:xfrm>
          <a:prstGeom prst="rect">
            <a:avLst/>
          </a:prstGeom>
        </p:spPr>
      </p:pic>
      <p:pic>
        <p:nvPicPr>
          <p:cNvPr id="31" name="Image 9" descr="connector">    </p:cNvPr>
          <p:cNvPicPr>
            <a:picLocks noChangeAspect="1"/>
          </p:cNvPicPr>
          <p:nvPr/>
        </p:nvPicPr>
        <p:blipFill>
          <a:blip r:embed="rId10"/>
          <a:srcRect l="0" r="0" t="0" b="0"/>
          <a:stretch/>
        </p:blipFill>
        <p:spPr>
          <a:xfrm>
            <a:off x="3822700" y="2933700"/>
            <a:ext cx="4546600" cy="76200"/>
          </a:xfrm>
          <a:prstGeom prst="rect">
            <a:avLst/>
          </a:prstGeom>
        </p:spPr>
      </p:pic>
      <p:pic>
        <p:nvPicPr>
          <p:cNvPr id="32" name="Image 10" descr="connector">    </p:cNvPr>
          <p:cNvPicPr>
            <a:picLocks noChangeAspect="1"/>
          </p:cNvPicPr>
          <p:nvPr/>
        </p:nvPicPr>
        <p:blipFill>
          <a:blip r:embed="rId11"/>
          <a:srcRect l="0" r="0" t="0" b="0"/>
          <a:stretch/>
        </p:blipFill>
        <p:spPr>
          <a:xfrm>
            <a:off x="4584700" y="3822700"/>
            <a:ext cx="3022600" cy="76200"/>
          </a:xfrm>
          <a:prstGeom prst="rect">
            <a:avLst/>
          </a:prstGeom>
        </p:spPr>
      </p:pic>
      <p:pic>
        <p:nvPicPr>
          <p:cNvPr id="33" name="Image 11" descr="connector">    </p:cNvPr>
          <p:cNvPicPr>
            <a:picLocks noChangeAspect="1"/>
          </p:cNvPicPr>
          <p:nvPr/>
        </p:nvPicPr>
        <p:blipFill>
          <a:blip r:embed="rId12"/>
          <a:srcRect l="0" r="0" t="0" b="0"/>
          <a:stretch/>
        </p:blipFill>
        <p:spPr>
          <a:xfrm>
            <a:off x="5346700" y="4711700"/>
            <a:ext cx="1498600" cy="76200"/>
          </a:xfrm>
          <a:prstGeom prst="rect">
            <a:avLst/>
          </a:prstGeom>
        </p:spPr>
      </p:pic>
      <p:sp>
        <p:nvSpPr>
          <p:cNvPr id="34" name="Text 20"/>
          <p:cNvSpPr/>
          <p:nvPr/>
        </p:nvSpPr>
        <p:spPr>
          <a:xfrm>
            <a:off x="812800" y="5257800"/>
            <a:ext cx="248539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SPECIFY AND DESIGN</a:t>
            </a:r>
            <a:endParaRPr lang="en-US" sz="1200" dirty="0"/>
          </a:p>
        </p:txBody>
      </p:sp>
      <p:sp>
        <p:nvSpPr>
          <p:cNvPr id="35" name="Text 21"/>
          <p:cNvSpPr/>
          <p:nvPr/>
        </p:nvSpPr>
        <p:spPr>
          <a:xfrm>
            <a:off x="8893810" y="5257800"/>
            <a:ext cx="2485390" cy="23876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TEST AND VERIFY</a:t>
            </a:r>
            <a:endParaRPr lang="en-US" sz="1200" dirty="0"/>
          </a:p>
        </p:txBody>
      </p:sp>
      <p:sp>
        <p:nvSpPr>
          <p:cNvPr id="36" name="Text 22"/>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37" name="Text 23"/>
          <p:cNvSpPr/>
          <p:nvPr/>
        </p:nvSpPr>
        <p:spPr>
          <a:xfrm>
            <a:off x="6904275" y="6238242"/>
            <a:ext cx="46091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Dashed line: the design artefact each test level is checked against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L10 · INTEGRATION TESTING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Integration testing</a:t>
            </a:r>
            <a:endParaRPr lang="en-US" sz="3200" dirty="0"/>
          </a:p>
        </p:txBody>
      </p:sp>
      <p:sp>
        <p:nvSpPr>
          <p:cNvPr id="4" name="Text 2"/>
          <p:cNvSpPr/>
          <p:nvPr/>
        </p:nvSpPr>
        <p:spPr>
          <a:xfrm>
            <a:off x="812800" y="1828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ISTQB · INTEGRATION TESTING</a:t>
            </a:r>
            <a:endParaRPr lang="en-US" sz="1200" dirty="0"/>
          </a:p>
        </p:txBody>
      </p:sp>
      <p:sp>
        <p:nvSpPr>
          <p:cNvPr id="5" name="Text 3"/>
          <p:cNvSpPr/>
          <p:nvPr/>
        </p:nvSpPr>
        <p:spPr>
          <a:xfrm>
            <a:off x="812800" y="2143758"/>
            <a:ext cx="5886450"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13233A"/>
                </a:solidFill>
                <a:latin typeface="Space Grotesk" pitchFamily="34" charset="0"/>
                <a:ea typeface="Space Grotesk" pitchFamily="34" charset="-122"/>
                <a:cs typeface="Space Grotesk" pitchFamily="34" charset="-120"/>
              </a:rPr>
              <a:t>“A test level that focuses on interactions between components or systems.”</a:t>
            </a:r>
            <a:endParaRPr lang="en-US" sz="2000" dirty="0"/>
          </a:p>
        </p:txBody>
      </p:sp>
      <p:sp>
        <p:nvSpPr>
          <p:cNvPr id="6" name="Shape 4"/>
          <p:cNvSpPr/>
          <p:nvPr/>
        </p:nvSpPr>
        <p:spPr>
          <a:xfrm>
            <a:off x="815975" y="2985133"/>
            <a:ext cx="5708650" cy="1118870"/>
          </a:xfrm>
          <a:prstGeom prst="roundRect">
            <a:avLst>
              <a:gd name="adj" fmla="val 6527"/>
            </a:avLst>
          </a:prstGeom>
          <a:solidFill>
            <a:srgbClr val="FCFBF7"/>
          </a:solidFill>
          <a:ln w="6350">
            <a:solidFill>
              <a:srgbClr val="DDD8CC"/>
            </a:solidFill>
            <a:prstDash val="solid"/>
          </a:ln>
        </p:spPr>
      </p:sp>
      <p:sp>
        <p:nvSpPr>
          <p:cNvPr id="7" name="Text 5"/>
          <p:cNvSpPr/>
          <p:nvPr/>
        </p:nvSpPr>
        <p:spPr>
          <a:xfrm>
            <a:off x="995680" y="3164842"/>
            <a:ext cx="5509717"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Component integration testing</a:t>
            </a:r>
            <a:endParaRPr lang="en-US" sz="1400" dirty="0"/>
          </a:p>
        </p:txBody>
      </p:sp>
      <p:sp>
        <p:nvSpPr>
          <p:cNvPr id="8" name="Text 6"/>
          <p:cNvSpPr/>
          <p:nvPr/>
        </p:nvSpPr>
        <p:spPr>
          <a:xfrm>
            <a:off x="995680" y="3446785"/>
            <a:ext cx="550971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Interactions between the components of one system.</a:t>
            </a:r>
            <a:endParaRPr lang="en-US" sz="1200" dirty="0"/>
          </a:p>
        </p:txBody>
      </p:sp>
      <p:sp>
        <p:nvSpPr>
          <p:cNvPr id="9" name="Text 7"/>
          <p:cNvSpPr/>
          <p:nvPr/>
        </p:nvSpPr>
        <p:spPr>
          <a:xfrm>
            <a:off x="995680" y="3710942"/>
            <a:ext cx="550971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481A"/>
                </a:solidFill>
                <a:latin typeface="JetBrains Mono" pitchFamily="34" charset="0"/>
                <a:ea typeface="JetBrains Mono" pitchFamily="34" charset="-122"/>
                <a:cs typeface="JetBrains Mono" pitchFamily="34" charset="-120"/>
              </a:rPr>
              <a:t>Cart service ↔ database</a:t>
            </a:r>
            <a:endParaRPr lang="en-US" sz="1200" dirty="0"/>
          </a:p>
        </p:txBody>
      </p:sp>
      <p:sp>
        <p:nvSpPr>
          <p:cNvPr id="10" name="Shape 8"/>
          <p:cNvSpPr/>
          <p:nvPr/>
        </p:nvSpPr>
        <p:spPr>
          <a:xfrm>
            <a:off x="815975" y="4211960"/>
            <a:ext cx="5708650" cy="1118870"/>
          </a:xfrm>
          <a:prstGeom prst="roundRect">
            <a:avLst>
              <a:gd name="adj" fmla="val 6527"/>
            </a:avLst>
          </a:prstGeom>
          <a:solidFill>
            <a:srgbClr val="FCFBF7"/>
          </a:solidFill>
          <a:ln w="6350">
            <a:solidFill>
              <a:srgbClr val="DDD8CC"/>
            </a:solidFill>
            <a:prstDash val="solid"/>
          </a:ln>
        </p:spPr>
      </p:sp>
      <p:sp>
        <p:nvSpPr>
          <p:cNvPr id="11" name="Text 9"/>
          <p:cNvSpPr/>
          <p:nvPr/>
        </p:nvSpPr>
        <p:spPr>
          <a:xfrm>
            <a:off x="995680" y="4391658"/>
            <a:ext cx="5509717"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System integration testing</a:t>
            </a:r>
            <a:endParaRPr lang="en-US" sz="1400" dirty="0"/>
          </a:p>
        </p:txBody>
      </p:sp>
      <p:sp>
        <p:nvSpPr>
          <p:cNvPr id="12" name="Text 10"/>
          <p:cNvSpPr/>
          <p:nvPr/>
        </p:nvSpPr>
        <p:spPr>
          <a:xfrm>
            <a:off x="995680" y="4673600"/>
            <a:ext cx="550971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Interactions with other systems and external services.</a:t>
            </a:r>
            <a:endParaRPr lang="en-US" sz="1200" dirty="0"/>
          </a:p>
        </p:txBody>
      </p:sp>
      <p:sp>
        <p:nvSpPr>
          <p:cNvPr id="13" name="Text 11"/>
          <p:cNvSpPr/>
          <p:nvPr/>
        </p:nvSpPr>
        <p:spPr>
          <a:xfrm>
            <a:off x="995680" y="4937758"/>
            <a:ext cx="550971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481A"/>
                </a:solidFill>
                <a:latin typeface="JetBrains Mono" pitchFamily="34" charset="0"/>
                <a:ea typeface="JetBrains Mono" pitchFamily="34" charset="-122"/>
                <a:cs typeface="JetBrains Mono" pitchFamily="34" charset="-120"/>
              </a:rPr>
              <a:t>Order service ↔ UPI payment provider</a:t>
            </a:r>
            <a:endParaRPr lang="en-US" sz="1200" dirty="0"/>
          </a:p>
        </p:txBody>
      </p:sp>
      <p:sp>
        <p:nvSpPr>
          <p:cNvPr id="14" name="Text 12"/>
          <p:cNvSpPr/>
          <p:nvPr/>
        </p:nvSpPr>
        <p:spPr>
          <a:xfrm>
            <a:off x="6832600" y="1828800"/>
            <a:ext cx="468299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DEFECTS IT TYPICALLY FINDS</a:t>
            </a:r>
            <a:endParaRPr lang="en-US" sz="1200" dirty="0"/>
          </a:p>
        </p:txBody>
      </p:sp>
      <p:sp>
        <p:nvSpPr>
          <p:cNvPr id="15" name="Text 13"/>
          <p:cNvSpPr/>
          <p:nvPr/>
        </p:nvSpPr>
        <p:spPr>
          <a:xfrm>
            <a:off x="6832600" y="2143758"/>
            <a:ext cx="4682998" cy="1625600"/>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Interface mismatches: parameters, types, units</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Data format errors: field names, date formats</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Broken API contracts after a service changes</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Wrong assumptions about another component</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Timeouts, retries and transaction problems</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Configuration errors: URLs, keys, ports</a:t>
            </a:r>
            <a:endParaRPr lang="en-US" sz="1400" dirty="0"/>
          </a:p>
        </p:txBody>
      </p:sp>
      <p:sp>
        <p:nvSpPr>
          <p:cNvPr id="16" name="Text 14"/>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7" name="Text 15"/>
          <p:cNvSpPr/>
          <p:nvPr/>
        </p:nvSpPr>
        <p:spPr>
          <a:xfrm>
            <a:off x="9493806" y="6238242"/>
            <a:ext cx="19419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Definitions: ISTQB Glossary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L10 · INTEGRATION TESTING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Integration approaches</a:t>
            </a:r>
            <a:endParaRPr lang="en-US" sz="3200" dirty="0"/>
          </a:p>
        </p:txBody>
      </p:sp>
      <p:sp>
        <p:nvSpPr>
          <p:cNvPr id="4" name="Shape 2"/>
          <p:cNvSpPr/>
          <p:nvPr/>
        </p:nvSpPr>
        <p:spPr>
          <a:xfrm>
            <a:off x="11376025" y="1828800"/>
            <a:ext cx="0" cy="2519680"/>
          </a:xfrm>
          <a:prstGeom prst="line">
            <a:avLst/>
          </a:prstGeom>
          <a:noFill/>
          <a:ln w="6350">
            <a:solidFill>
              <a:srgbClr val="DDD8CC"/>
            </a:solidFill>
            <a:prstDash val="solid"/>
          </a:ln>
        </p:spPr>
      </p:sp>
      <p:sp>
        <p:nvSpPr>
          <p:cNvPr id="5" name="Shape 3"/>
          <p:cNvSpPr/>
          <p:nvPr/>
        </p:nvSpPr>
        <p:spPr>
          <a:xfrm>
            <a:off x="812800" y="434530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504440"/>
        </p:xfrm>
        <a:graphic>
          <a:graphicData uri="http://schemas.openxmlformats.org/drawingml/2006/table">
            <a:tbl>
              <a:tblPr/>
              <a:tblGrid>
                <a:gridCol w="1582674"/>
                <a:gridCol w="3059836"/>
                <a:gridCol w="1477162"/>
                <a:gridCol w="2110232"/>
                <a:gridCol w="2321255"/>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Approach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How it works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Scaffolding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Advantage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Drawback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54356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Big bang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Combine all modules, then test them together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Simple for small systems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Hard to isolate faults; testing starts late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4356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Top-down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Start at the top module; add lower ones step by step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Stubs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Main flow is visible early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Low-level logic is tested late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54356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Bottom-up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Start at the lowest modules; build upwards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Drivers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Core logic is tested early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No end-to-end flow until late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4356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Sandwich (hybrid)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Top-down and bottom-up meet at a middle layer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Stubs and drivers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Teams work in parallel on large systems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More planning and scaffolding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Shape 4"/>
          <p:cNvSpPr/>
          <p:nvPr/>
        </p:nvSpPr>
        <p:spPr>
          <a:xfrm>
            <a:off x="812800" y="4602485"/>
            <a:ext cx="10566400" cy="553720"/>
          </a:xfrm>
          <a:prstGeom prst="roundRect">
            <a:avLst>
              <a:gd name="adj" fmla="val 13761"/>
            </a:avLst>
          </a:prstGeom>
          <a:solidFill>
            <a:srgbClr val="DCE7F3"/>
          </a:solidFill>
          <a:ln/>
        </p:spPr>
      </p:sp>
      <p:sp>
        <p:nvSpPr>
          <p:cNvPr id="8" name="Text 5"/>
          <p:cNvSpPr/>
          <p:nvPr/>
        </p:nvSpPr>
        <p:spPr>
          <a:xfrm>
            <a:off x="1016000" y="4772658"/>
            <a:ext cx="883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IN CI/CD</a:t>
            </a:r>
            <a:endParaRPr lang="en-US" sz="1200" dirty="0"/>
          </a:p>
        </p:txBody>
      </p:sp>
      <p:sp>
        <p:nvSpPr>
          <p:cNvPr id="9" name="Text 6"/>
          <p:cNvSpPr/>
          <p:nvPr/>
        </p:nvSpPr>
        <p:spPr>
          <a:xfrm>
            <a:off x="2001520" y="4754885"/>
            <a:ext cx="944971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Integration is continuous: every merge adds a small increment, and integration tests run on each one.</a:t>
            </a:r>
            <a:endParaRPr lang="en-US" sz="1400" dirty="0"/>
          </a:p>
        </p:txBody>
      </p:sp>
      <p:sp>
        <p:nvSpPr>
          <p:cNvPr id="10" name="Text 7"/>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L10 · INTEGRATION TESTING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Stubs and drivers</a:t>
            </a:r>
            <a:endParaRPr lang="en-US" sz="3200" dirty="0"/>
          </a:p>
        </p:txBody>
      </p:sp>
      <p:sp>
        <p:nvSpPr>
          <p:cNvPr id="4" name="Shape 2"/>
          <p:cNvSpPr/>
          <p:nvPr/>
        </p:nvSpPr>
        <p:spPr>
          <a:xfrm>
            <a:off x="815975" y="1831975"/>
            <a:ext cx="5175250" cy="3488690"/>
          </a:xfrm>
          <a:prstGeom prst="roundRect">
            <a:avLst>
              <a:gd name="adj" fmla="val 2093"/>
            </a:avLst>
          </a:prstGeom>
          <a:solidFill>
            <a:srgbClr val="FCFBF7"/>
          </a:solidFill>
          <a:ln w="6350">
            <a:solidFill>
              <a:srgbClr val="DDD8CC"/>
            </a:solidFill>
            <a:prstDash val="solid"/>
          </a:ln>
        </p:spPr>
      </p:sp>
      <p:sp>
        <p:nvSpPr>
          <p:cNvPr id="5" name="Text 3"/>
          <p:cNvSpPr/>
          <p:nvPr/>
        </p:nvSpPr>
        <p:spPr>
          <a:xfrm>
            <a:off x="1071880" y="2087885"/>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TOP-DOWN USES STUBS</a:t>
            </a:r>
            <a:endParaRPr lang="en-US" sz="1200" dirty="0"/>
          </a:p>
        </p:txBody>
      </p:sp>
      <p:sp>
        <p:nvSpPr>
          <p:cNvPr id="6" name="Shape 4"/>
          <p:cNvSpPr/>
          <p:nvPr/>
        </p:nvSpPr>
        <p:spPr>
          <a:xfrm>
            <a:off x="1879600" y="2453642"/>
            <a:ext cx="3048000" cy="741680"/>
          </a:xfrm>
          <a:prstGeom prst="roundRect">
            <a:avLst>
              <a:gd name="adj" fmla="val 8562"/>
            </a:avLst>
          </a:prstGeom>
          <a:solidFill>
            <a:srgbClr val="13233A"/>
          </a:solidFill>
          <a:ln/>
        </p:spPr>
      </p:sp>
      <p:sp>
        <p:nvSpPr>
          <p:cNvPr id="7" name="Text 5"/>
          <p:cNvSpPr/>
          <p:nvPr/>
        </p:nvSpPr>
        <p:spPr>
          <a:xfrm>
            <a:off x="3015615" y="2580642"/>
            <a:ext cx="82677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Checkout</a:t>
            </a:r>
            <a:endParaRPr lang="en-US" sz="1400" dirty="0"/>
          </a:p>
        </p:txBody>
      </p:sp>
      <p:sp>
        <p:nvSpPr>
          <p:cNvPr id="8" name="Text 6"/>
          <p:cNvSpPr/>
          <p:nvPr/>
        </p:nvSpPr>
        <p:spPr>
          <a:xfrm>
            <a:off x="2627392" y="2854958"/>
            <a:ext cx="16032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real module under test</a:t>
            </a:r>
            <a:endParaRPr lang="en-US" sz="1200" dirty="0"/>
          </a:p>
        </p:txBody>
      </p:sp>
      <p:pic>
        <p:nvPicPr>
          <p:cNvPr id="9" name="Image 0" descr="connector">    </p:cNvPr>
          <p:cNvPicPr>
            <a:picLocks noChangeAspect="1"/>
          </p:cNvPicPr>
          <p:nvPr/>
        </p:nvPicPr>
        <p:blipFill>
          <a:blip r:embed="rId1"/>
          <a:srcRect l="0" r="0" t="0" b="0"/>
          <a:stretch/>
        </p:blipFill>
        <p:spPr>
          <a:xfrm>
            <a:off x="3352800" y="3271527"/>
            <a:ext cx="101600" cy="304800"/>
          </a:xfrm>
          <a:prstGeom prst="rect">
            <a:avLst/>
          </a:prstGeom>
        </p:spPr>
      </p:pic>
      <p:sp>
        <p:nvSpPr>
          <p:cNvPr id="10" name="Shape 7"/>
          <p:cNvSpPr/>
          <p:nvPr/>
        </p:nvSpPr>
        <p:spPr>
          <a:xfrm>
            <a:off x="1885950" y="3658877"/>
            <a:ext cx="3035300" cy="749300"/>
          </a:xfrm>
          <a:prstGeom prst="roundRect">
            <a:avLst>
              <a:gd name="adj" fmla="val 7627"/>
            </a:avLst>
          </a:prstGeom>
          <a:noFill/>
          <a:ln w="12700">
            <a:solidFill>
              <a:srgbClr val="A9481A"/>
            </a:solidFill>
            <a:prstDash val="dash"/>
          </a:ln>
        </p:spPr>
      </p:sp>
      <p:sp>
        <p:nvSpPr>
          <p:cNvPr id="11" name="Text 8"/>
          <p:cNvSpPr/>
          <p:nvPr/>
        </p:nvSpPr>
        <p:spPr>
          <a:xfrm>
            <a:off x="2834640" y="3789685"/>
            <a:ext cx="118872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Payment stub</a:t>
            </a:r>
            <a:endParaRPr lang="en-US" sz="1400" dirty="0"/>
          </a:p>
        </p:txBody>
      </p:sp>
      <p:sp>
        <p:nvSpPr>
          <p:cNvPr id="12" name="Text 9"/>
          <p:cNvSpPr/>
          <p:nvPr/>
        </p:nvSpPr>
        <p:spPr>
          <a:xfrm>
            <a:off x="2077720" y="4064000"/>
            <a:ext cx="27313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JetBrains Mono" pitchFamily="34" charset="0"/>
                <a:ea typeface="JetBrains Mono" pitchFamily="34" charset="-122"/>
                <a:cs typeface="JetBrains Mono" pitchFamily="34" charset="-120"/>
              </a:rPr>
              <a:t>returns {"status": "success"}</a:t>
            </a:r>
            <a:endParaRPr lang="en-US" sz="1200" dirty="0"/>
          </a:p>
        </p:txBody>
      </p:sp>
      <p:sp>
        <p:nvSpPr>
          <p:cNvPr id="13" name="Text 10"/>
          <p:cNvSpPr/>
          <p:nvPr/>
        </p:nvSpPr>
        <p:spPr>
          <a:xfrm>
            <a:off x="1071880" y="4566927"/>
            <a:ext cx="4803343"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Stub:</a:t>
            </a:r>
            <a:r>
              <a:rPr lang="en-US" sz="1400" dirty="0">
                <a:solidFill>
                  <a:srgbClr val="13233A"/>
                </a:solidFill>
                <a:latin typeface="IBM Plex Sans" pitchFamily="34" charset="0"/>
                <a:ea typeface="IBM Plex Sans" pitchFamily="34" charset="-122"/>
                <a:cs typeface="IBM Plex Sans" pitchFamily="34" charset="-120"/>
              </a:rPr>
              <a:t> stands in for a module that the code under test </a:t>
            </a:r>
            <a:r>
              <a:rPr lang="en-US" sz="1400" i="1" dirty="0">
                <a:solidFill>
                  <a:srgbClr val="13233A"/>
                </a:solidFill>
                <a:latin typeface="IBM Plex Sans" pitchFamily="34" charset="0"/>
                <a:ea typeface="IBM Plex Sans" pitchFamily="34" charset="-122"/>
                <a:cs typeface="IBM Plex Sans" pitchFamily="34" charset="-120"/>
              </a:rPr>
              <a:t>calls</a:t>
            </a:r>
            <a:r>
              <a:rPr lang="en-US" sz="1400" dirty="0">
                <a:solidFill>
                  <a:srgbClr val="13233A"/>
                </a:solidFill>
                <a:latin typeface="IBM Plex Sans" pitchFamily="34" charset="0"/>
                <a:ea typeface="IBM Plex Sans" pitchFamily="34" charset="-122"/>
                <a:cs typeface="IBM Plex Sans" pitchFamily="34" charset="-120"/>
              </a:rPr>
              <a:t>. It returns fixed responses.</a:t>
            </a:r>
            <a:endParaRPr lang="en-US" sz="1400" dirty="0"/>
          </a:p>
        </p:txBody>
      </p:sp>
      <p:sp>
        <p:nvSpPr>
          <p:cNvPr id="14" name="Shape 11"/>
          <p:cNvSpPr/>
          <p:nvPr/>
        </p:nvSpPr>
        <p:spPr>
          <a:xfrm>
            <a:off x="6200775" y="1831975"/>
            <a:ext cx="5175250" cy="3488690"/>
          </a:xfrm>
          <a:prstGeom prst="roundRect">
            <a:avLst>
              <a:gd name="adj" fmla="val 2093"/>
            </a:avLst>
          </a:prstGeom>
          <a:solidFill>
            <a:srgbClr val="FCFBF7"/>
          </a:solidFill>
          <a:ln w="6350">
            <a:solidFill>
              <a:srgbClr val="DDD8CC"/>
            </a:solidFill>
            <a:prstDash val="solid"/>
          </a:ln>
        </p:spPr>
      </p:sp>
      <p:sp>
        <p:nvSpPr>
          <p:cNvPr id="15" name="Text 12"/>
          <p:cNvSpPr/>
          <p:nvPr/>
        </p:nvSpPr>
        <p:spPr>
          <a:xfrm>
            <a:off x="6456680" y="2087885"/>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BOTTOM-UP USES DRIVERS</a:t>
            </a:r>
            <a:endParaRPr lang="en-US" sz="1200" dirty="0"/>
          </a:p>
        </p:txBody>
      </p:sp>
      <p:sp>
        <p:nvSpPr>
          <p:cNvPr id="16" name="Shape 13"/>
          <p:cNvSpPr/>
          <p:nvPr/>
        </p:nvSpPr>
        <p:spPr>
          <a:xfrm>
            <a:off x="7270750" y="2459992"/>
            <a:ext cx="3035300" cy="749300"/>
          </a:xfrm>
          <a:prstGeom prst="roundRect">
            <a:avLst>
              <a:gd name="adj" fmla="val 7627"/>
            </a:avLst>
          </a:prstGeom>
          <a:noFill/>
          <a:ln w="12700">
            <a:solidFill>
              <a:srgbClr val="245A9C"/>
            </a:solidFill>
            <a:prstDash val="dash"/>
          </a:ln>
        </p:spPr>
      </p:sp>
      <p:sp>
        <p:nvSpPr>
          <p:cNvPr id="17" name="Text 14"/>
          <p:cNvSpPr/>
          <p:nvPr/>
        </p:nvSpPr>
        <p:spPr>
          <a:xfrm>
            <a:off x="8351917" y="2590800"/>
            <a:ext cx="92368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Test driver</a:t>
            </a:r>
            <a:endParaRPr lang="en-US" sz="1400" dirty="0"/>
          </a:p>
        </p:txBody>
      </p:sp>
      <p:sp>
        <p:nvSpPr>
          <p:cNvPr id="18" name="Text 15"/>
          <p:cNvSpPr/>
          <p:nvPr/>
        </p:nvSpPr>
        <p:spPr>
          <a:xfrm>
            <a:off x="7696677" y="2865127"/>
            <a:ext cx="22489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calls the module, checks results</a:t>
            </a:r>
            <a:endParaRPr lang="en-US" sz="1200" dirty="0"/>
          </a:p>
        </p:txBody>
      </p:sp>
      <p:pic>
        <p:nvPicPr>
          <p:cNvPr id="19" name="Image 1" descr="connector">    </p:cNvPr>
          <p:cNvPicPr>
            <a:picLocks noChangeAspect="1"/>
          </p:cNvPicPr>
          <p:nvPr/>
        </p:nvPicPr>
        <p:blipFill>
          <a:blip r:embed="rId2"/>
          <a:srcRect l="0" r="0" t="0" b="0"/>
          <a:stretch/>
        </p:blipFill>
        <p:spPr>
          <a:xfrm>
            <a:off x="8737600" y="3291842"/>
            <a:ext cx="101600" cy="304800"/>
          </a:xfrm>
          <a:prstGeom prst="rect">
            <a:avLst/>
          </a:prstGeom>
        </p:spPr>
      </p:pic>
      <p:sp>
        <p:nvSpPr>
          <p:cNvPr id="20" name="Shape 16"/>
          <p:cNvSpPr/>
          <p:nvPr/>
        </p:nvSpPr>
        <p:spPr>
          <a:xfrm>
            <a:off x="7264400" y="3672842"/>
            <a:ext cx="3048000" cy="741680"/>
          </a:xfrm>
          <a:prstGeom prst="roundRect">
            <a:avLst>
              <a:gd name="adj" fmla="val 8562"/>
            </a:avLst>
          </a:prstGeom>
          <a:solidFill>
            <a:srgbClr val="13233A"/>
          </a:solidFill>
          <a:ln/>
        </p:spPr>
      </p:sp>
      <p:sp>
        <p:nvSpPr>
          <p:cNvPr id="21" name="Text 17"/>
          <p:cNvSpPr/>
          <p:nvPr/>
        </p:nvSpPr>
        <p:spPr>
          <a:xfrm>
            <a:off x="8094028" y="3799842"/>
            <a:ext cx="143954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Discount module</a:t>
            </a:r>
            <a:endParaRPr lang="en-US" sz="1400" dirty="0"/>
          </a:p>
        </p:txBody>
      </p:sp>
      <p:sp>
        <p:nvSpPr>
          <p:cNvPr id="22" name="Text 18"/>
          <p:cNvSpPr/>
          <p:nvPr/>
        </p:nvSpPr>
        <p:spPr>
          <a:xfrm>
            <a:off x="8012192" y="4074158"/>
            <a:ext cx="16032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real module under test</a:t>
            </a:r>
            <a:endParaRPr lang="en-US" sz="1200" dirty="0"/>
          </a:p>
        </p:txBody>
      </p:sp>
      <p:sp>
        <p:nvSpPr>
          <p:cNvPr id="23" name="Text 19"/>
          <p:cNvSpPr/>
          <p:nvPr/>
        </p:nvSpPr>
        <p:spPr>
          <a:xfrm>
            <a:off x="6456680" y="4566927"/>
            <a:ext cx="4803343"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Driver:</a:t>
            </a:r>
            <a:r>
              <a:rPr lang="en-US" sz="1400" dirty="0">
                <a:solidFill>
                  <a:srgbClr val="13233A"/>
                </a:solidFill>
                <a:latin typeface="IBM Plex Sans" pitchFamily="34" charset="0"/>
                <a:ea typeface="IBM Plex Sans" pitchFamily="34" charset="-122"/>
                <a:cs typeface="IBM Plex Sans" pitchFamily="34" charset="-120"/>
              </a:rPr>
              <a:t> stands in for a module that </a:t>
            </a:r>
            <a:r>
              <a:rPr lang="en-US" sz="1400" i="1" dirty="0">
                <a:solidFill>
                  <a:srgbClr val="13233A"/>
                </a:solidFill>
                <a:latin typeface="IBM Plex Sans" pitchFamily="34" charset="0"/>
                <a:ea typeface="IBM Plex Sans" pitchFamily="34" charset="-122"/>
                <a:cs typeface="IBM Plex Sans" pitchFamily="34" charset="-120"/>
              </a:rPr>
              <a:t>calls</a:t>
            </a:r>
            <a:r>
              <a:rPr lang="en-US" sz="1400" dirty="0">
                <a:solidFill>
                  <a:srgbClr val="13233A"/>
                </a:solidFill>
                <a:latin typeface="IBM Plex Sans" pitchFamily="34" charset="0"/>
                <a:ea typeface="IBM Plex Sans" pitchFamily="34" charset="-122"/>
                <a:cs typeface="IBM Plex Sans" pitchFamily="34" charset="-120"/>
              </a:rPr>
              <a:t> the code under test. It supplies inputs and collects outputs.</a:t>
            </a:r>
            <a:endParaRPr lang="en-US" sz="1400" dirty="0"/>
          </a:p>
        </p:txBody>
      </p:sp>
      <p:sp>
        <p:nvSpPr>
          <p:cNvPr id="24" name="Text 20"/>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5" name="Text 21"/>
          <p:cNvSpPr/>
          <p:nvPr/>
        </p:nvSpPr>
        <p:spPr>
          <a:xfrm>
            <a:off x="6817519" y="6238242"/>
            <a:ext cx="46985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Both are temporary: removed once the real modules are integrated</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L10 · INTEGRATION TESTING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An integration test with a real database</a:t>
            </a:r>
            <a:endParaRPr lang="en-US" sz="3200" dirty="0"/>
          </a:p>
        </p:txBody>
      </p:sp>
      <p:sp>
        <p:nvSpPr>
          <p:cNvPr id="4" name="Text 2"/>
          <p:cNvSpPr/>
          <p:nvPr/>
        </p:nvSpPr>
        <p:spPr>
          <a:xfrm>
            <a:off x="812800" y="1828800"/>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WHAT MAKES IT INTEGRATION</a:t>
            </a:r>
            <a:endParaRPr lang="en-US" sz="1200" dirty="0"/>
          </a:p>
        </p:txBody>
      </p:sp>
      <p:sp>
        <p:nvSpPr>
          <p:cNvPr id="5" name="Shape 3"/>
          <p:cNvSpPr/>
          <p:nvPr/>
        </p:nvSpPr>
        <p:spPr>
          <a:xfrm>
            <a:off x="812800" y="2146933"/>
            <a:ext cx="4826000" cy="0"/>
          </a:xfrm>
          <a:prstGeom prst="line">
            <a:avLst/>
          </a:prstGeom>
          <a:noFill/>
          <a:ln w="6350">
            <a:solidFill>
              <a:srgbClr val="DDD8CC"/>
            </a:solidFill>
            <a:prstDash val="solid"/>
          </a:ln>
        </p:spPr>
      </p:sp>
      <p:sp>
        <p:nvSpPr>
          <p:cNvPr id="6" name="Text 4"/>
          <p:cNvSpPr/>
          <p:nvPr/>
        </p:nvSpPr>
        <p:spPr>
          <a:xfrm>
            <a:off x="812800" y="2237738"/>
            <a:ext cx="497078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No test double: CartService talks to a real SQLite database through CartRepository.</a:t>
            </a:r>
            <a:endParaRPr lang="en-US" sz="1400" dirty="0"/>
          </a:p>
        </p:txBody>
      </p:sp>
      <p:sp>
        <p:nvSpPr>
          <p:cNvPr id="7" name="Shape 5"/>
          <p:cNvSpPr/>
          <p:nvPr/>
        </p:nvSpPr>
        <p:spPr>
          <a:xfrm>
            <a:off x="812800" y="2827660"/>
            <a:ext cx="4826000" cy="0"/>
          </a:xfrm>
          <a:prstGeom prst="line">
            <a:avLst/>
          </a:prstGeom>
          <a:noFill/>
          <a:ln w="6350">
            <a:solidFill>
              <a:srgbClr val="DDD8CC"/>
            </a:solidFill>
            <a:prstDash val="solid"/>
          </a:ln>
        </p:spPr>
      </p:sp>
      <p:sp>
        <p:nvSpPr>
          <p:cNvPr id="8" name="Text 6"/>
          <p:cNvSpPr/>
          <p:nvPr/>
        </p:nvSpPr>
        <p:spPr>
          <a:xfrm>
            <a:off x="812800" y="2918465"/>
            <a:ext cx="497078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db fixture builds a fresh database before each test and closes it afterwards.</a:t>
            </a:r>
            <a:endParaRPr lang="en-US" sz="1400" dirty="0"/>
          </a:p>
        </p:txBody>
      </p:sp>
      <p:sp>
        <p:nvSpPr>
          <p:cNvPr id="9" name="Shape 7"/>
          <p:cNvSpPr/>
          <p:nvPr/>
        </p:nvSpPr>
        <p:spPr>
          <a:xfrm>
            <a:off x="812800" y="3508375"/>
            <a:ext cx="4826000" cy="0"/>
          </a:xfrm>
          <a:prstGeom prst="line">
            <a:avLst/>
          </a:prstGeom>
          <a:noFill/>
          <a:ln w="6350">
            <a:solidFill>
              <a:srgbClr val="DDD8CC"/>
            </a:solidFill>
            <a:prstDash val="solid"/>
          </a:ln>
        </p:spPr>
      </p:sp>
      <p:sp>
        <p:nvSpPr>
          <p:cNvPr id="10" name="Text 8"/>
          <p:cNvSpPr/>
          <p:nvPr/>
        </p:nvSpPr>
        <p:spPr>
          <a:xfrm>
            <a:off x="812800" y="3599180"/>
            <a:ext cx="497078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It checks the interface itself: the SQL, the column order and the total, together.</a:t>
            </a:r>
            <a:endParaRPr lang="en-US" sz="1400" dirty="0"/>
          </a:p>
        </p:txBody>
      </p:sp>
      <p:sp>
        <p:nvSpPr>
          <p:cNvPr id="11" name="Shape 9"/>
          <p:cNvSpPr/>
          <p:nvPr/>
        </p:nvSpPr>
        <p:spPr>
          <a:xfrm>
            <a:off x="812800" y="4189102"/>
            <a:ext cx="4826000" cy="0"/>
          </a:xfrm>
          <a:prstGeom prst="line">
            <a:avLst/>
          </a:prstGeom>
          <a:noFill/>
          <a:ln w="6350">
            <a:solidFill>
              <a:srgbClr val="DDD8CC"/>
            </a:solidFill>
            <a:prstDash val="solid"/>
          </a:ln>
        </p:spPr>
      </p:sp>
      <p:sp>
        <p:nvSpPr>
          <p:cNvPr id="12" name="Shape 10"/>
          <p:cNvSpPr/>
          <p:nvPr/>
        </p:nvSpPr>
        <p:spPr>
          <a:xfrm>
            <a:off x="812800" y="4868552"/>
            <a:ext cx="4826000" cy="0"/>
          </a:xfrm>
          <a:prstGeom prst="line">
            <a:avLst/>
          </a:prstGeom>
          <a:noFill/>
          <a:ln w="6350">
            <a:solidFill>
              <a:srgbClr val="DDD8CC"/>
            </a:solidFill>
            <a:prstDash val="solid"/>
          </a:ln>
        </p:spPr>
      </p:sp>
      <p:sp>
        <p:nvSpPr>
          <p:cNvPr id="13" name="Text 11"/>
          <p:cNvSpPr/>
          <p:nvPr/>
        </p:nvSpPr>
        <p:spPr>
          <a:xfrm>
            <a:off x="812800" y="4279907"/>
            <a:ext cx="497078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In a pipeline, the same test can run against a PostgreSQL service container.</a:t>
            </a:r>
            <a:endParaRPr lang="en-US" sz="1400" dirty="0"/>
          </a:p>
        </p:txBody>
      </p:sp>
      <p:sp>
        <p:nvSpPr>
          <p:cNvPr id="14" name="Text 12"/>
          <p:cNvSpPr/>
          <p:nvPr/>
        </p:nvSpPr>
        <p:spPr>
          <a:xfrm>
            <a:off x="812800" y="5024127"/>
            <a:ext cx="49707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 pytest -q -k cart_total → 1 passed</a:t>
            </a:r>
            <a:endParaRPr lang="en-US" sz="1200" dirty="0"/>
          </a:p>
        </p:txBody>
      </p:sp>
      <p:sp>
        <p:nvSpPr>
          <p:cNvPr id="15" name="Text 13"/>
          <p:cNvSpPr/>
          <p:nvPr/>
        </p:nvSpPr>
        <p:spPr>
          <a:xfrm>
            <a:off x="5943600" y="1828800"/>
            <a:ext cx="55986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tests/test_cart_integration.py</a:t>
            </a:r>
            <a:endParaRPr lang="en-US" sz="1200" dirty="0"/>
          </a:p>
        </p:txBody>
      </p:sp>
      <p:sp>
        <p:nvSpPr>
          <p:cNvPr id="16" name="Shape 14"/>
          <p:cNvSpPr/>
          <p:nvPr/>
        </p:nvSpPr>
        <p:spPr>
          <a:xfrm>
            <a:off x="5943600" y="2118358"/>
            <a:ext cx="5435600" cy="3556000"/>
          </a:xfrm>
          <a:prstGeom prst="roundRect">
            <a:avLst>
              <a:gd name="adj" fmla="val 2143"/>
            </a:avLst>
          </a:prstGeom>
          <a:solidFill>
            <a:srgbClr val="13233A"/>
          </a:solidFill>
          <a:ln/>
        </p:spPr>
      </p:sp>
      <p:sp>
        <p:nvSpPr>
          <p:cNvPr id="17" name="Text 15"/>
          <p:cNvSpPr/>
          <p:nvPr/>
        </p:nvSpPr>
        <p:spPr>
          <a:xfrm>
            <a:off x="6121400" y="2296158"/>
            <a:ext cx="5232400" cy="322580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sqlite3</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pytest</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from</a:t>
            </a:r>
            <a:r>
              <a:rPr lang="en-US" sz="1200" dirty="0">
                <a:solidFill>
                  <a:srgbClr val="E6EAF0"/>
                </a:solidFill>
                <a:latin typeface="JetBrains Mono" pitchFamily="34" charset="0"/>
                <a:ea typeface="JetBrains Mono" pitchFamily="34" charset="-122"/>
                <a:cs typeface="JetBrains Mono" pitchFamily="34" charset="-120"/>
              </a:rPr>
              <a:t> canteen.cart </a:t>
            </a: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CartRepository, CartService</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@pytest.fixture</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db():</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conn = sqlite3.connect(</a:t>
            </a:r>
            <a:r>
              <a:rPr lang="en-US" sz="1200" dirty="0">
                <a:solidFill>
                  <a:srgbClr val="9CC7F0"/>
                </a:solidFill>
                <a:latin typeface="JetBrains Mono" pitchFamily="34" charset="0"/>
                <a:ea typeface="JetBrains Mono" pitchFamily="34" charset="-122"/>
                <a:cs typeface="JetBrains Mono" pitchFamily="34" charset="-120"/>
              </a:rPr>
              <a:t>":memory:"</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conn.execute(</a:t>
            </a:r>
            <a:r>
              <a:rPr lang="en-US" sz="1200" dirty="0">
                <a:solidFill>
                  <a:srgbClr val="9CC7F0"/>
                </a:solidFill>
                <a:latin typeface="JetBrains Mono" pitchFamily="34" charset="0"/>
                <a:ea typeface="JetBrains Mono" pitchFamily="34" charset="-122"/>
                <a:cs typeface="JetBrains Mono" pitchFamily="34" charset="-120"/>
              </a:rPr>
              <a:t>"CREATE TABLE cart(item, qty, price)"</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yield</a:t>
            </a:r>
            <a:r>
              <a:rPr lang="en-US" sz="1200" dirty="0">
                <a:solidFill>
                  <a:srgbClr val="E6EAF0"/>
                </a:solidFill>
                <a:latin typeface="JetBrains Mono" pitchFamily="34" charset="0"/>
                <a:ea typeface="JetBrains Mono" pitchFamily="34" charset="-122"/>
                <a:cs typeface="JetBrains Mono" pitchFamily="34" charset="-120"/>
              </a:rPr>
              <a:t> conn          </a:t>
            </a:r>
            <a:r>
              <a:rPr lang="en-US" sz="1200" dirty="0">
                <a:solidFill>
                  <a:srgbClr val="8C9AAD"/>
                </a:solidFill>
                <a:latin typeface="JetBrains Mono" pitchFamily="34" charset="0"/>
                <a:ea typeface="JetBrains Mono" pitchFamily="34" charset="-122"/>
                <a:cs typeface="JetBrains Mono" pitchFamily="34" charset="-120"/>
              </a:rPr>
              <a:t># the test runs here</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conn.close()        </a:t>
            </a:r>
            <a:r>
              <a:rPr lang="en-US" sz="1200" dirty="0">
                <a:solidFill>
                  <a:srgbClr val="8C9AAD"/>
                </a:solidFill>
                <a:latin typeface="JetBrains Mono" pitchFamily="34" charset="0"/>
                <a:ea typeface="JetBrains Mono" pitchFamily="34" charset="-122"/>
                <a:cs typeface="JetBrains Mono" pitchFamily="34" charset="-120"/>
              </a:rPr>
              <a:t># teardown</a:t>
            </a:r>
            <a:endParaRPr lang="en-US" sz="1200" dirty="0"/>
          </a:p>
          <a:p>
            <a:pPr algn="l" indent="0" marL="0">
              <a:lnSpc>
                <a:spcPts val="1680"/>
              </a:lnSpc>
              <a:buNone/>
            </a:pP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test_cart_total_uses_saved_items(db):</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cart = CartService(CartRepository(db))</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cart.add(</a:t>
            </a:r>
            <a:r>
              <a:rPr lang="en-US" sz="1200" dirty="0">
                <a:solidFill>
                  <a:srgbClr val="9CC7F0"/>
                </a:solidFill>
                <a:latin typeface="JetBrains Mono" pitchFamily="34" charset="0"/>
                <a:ea typeface="JetBrains Mono" pitchFamily="34" charset="-122"/>
                <a:cs typeface="JetBrains Mono" pitchFamily="34" charset="-120"/>
              </a:rPr>
              <a:t>"Masala Dosa"</a:t>
            </a:r>
            <a:r>
              <a:rPr lang="en-US" sz="1200" dirty="0">
                <a:solidFill>
                  <a:srgbClr val="E6EAF0"/>
                </a:solidFill>
                <a:latin typeface="JetBrains Mono" pitchFamily="34" charset="0"/>
                <a:ea typeface="JetBrains Mono" pitchFamily="34" charset="-122"/>
                <a:cs typeface="JetBrains Mono" pitchFamily="34" charset="-120"/>
              </a:rPr>
              <a:t>, qty=2, price=60)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cart.add(</a:t>
            </a:r>
            <a:r>
              <a:rPr lang="en-US" sz="1200" dirty="0">
                <a:solidFill>
                  <a:srgbClr val="9CC7F0"/>
                </a:solidFill>
                <a:latin typeface="JetBrains Mono" pitchFamily="34" charset="0"/>
                <a:ea typeface="JetBrains Mono" pitchFamily="34" charset="-122"/>
                <a:cs typeface="JetBrains Mono" pitchFamily="34" charset="-120"/>
              </a:rPr>
              <a:t>"Cold Coffee"</a:t>
            </a:r>
            <a:r>
              <a:rPr lang="en-US" sz="1200" dirty="0">
                <a:solidFill>
                  <a:srgbClr val="E6EAF0"/>
                </a:solidFill>
                <a:latin typeface="JetBrains Mono" pitchFamily="34" charset="0"/>
                <a:ea typeface="JetBrains Mono" pitchFamily="34" charset="-122"/>
                <a:cs typeface="JetBrains Mono" pitchFamily="34" charset="-120"/>
              </a:rPr>
              <a:t>, qty=1, price=45)</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cart.total() == 165</a:t>
            </a:r>
            <a:endParaRPr lang="en-US" sz="1200" dirty="0"/>
          </a:p>
        </p:txBody>
      </p:sp>
      <p:sp>
        <p:nvSpPr>
          <p:cNvPr id="18" name="Text 16"/>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9" name="Text 17"/>
          <p:cNvSpPr/>
          <p:nvPr/>
        </p:nvSpPr>
        <p:spPr>
          <a:xfrm>
            <a:off x="8949134" y="6238242"/>
            <a:ext cx="25029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Fixtures and setup/teardown: Lab 4</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L10 · SYSTEM TESTING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System testing</a:t>
            </a:r>
            <a:endParaRPr lang="en-US" sz="3200" dirty="0"/>
          </a:p>
        </p:txBody>
      </p:sp>
      <p:sp>
        <p:nvSpPr>
          <p:cNvPr id="4" name="Text 2"/>
          <p:cNvSpPr/>
          <p:nvPr/>
        </p:nvSpPr>
        <p:spPr>
          <a:xfrm>
            <a:off x="812800" y="1828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ISTQB · SYSTEM TESTING</a:t>
            </a:r>
            <a:endParaRPr lang="en-US" sz="1200" dirty="0"/>
          </a:p>
        </p:txBody>
      </p:sp>
      <p:sp>
        <p:nvSpPr>
          <p:cNvPr id="5" name="Text 3"/>
          <p:cNvSpPr/>
          <p:nvPr/>
        </p:nvSpPr>
        <p:spPr>
          <a:xfrm>
            <a:off x="812800" y="2143758"/>
            <a:ext cx="9810750"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13233A"/>
                </a:solidFill>
                <a:latin typeface="Space Grotesk" pitchFamily="34" charset="0"/>
                <a:ea typeface="Space Grotesk" pitchFamily="34" charset="-122"/>
                <a:cs typeface="Space Grotesk" pitchFamily="34" charset="-120"/>
              </a:rPr>
              <a:t>“A test level that focuses on verifying that a system as a whole meets specified requirements.”</a:t>
            </a:r>
            <a:endParaRPr lang="en-US" sz="2000" dirty="0"/>
          </a:p>
        </p:txBody>
      </p:sp>
      <p:sp>
        <p:nvSpPr>
          <p:cNvPr id="6" name="Shape 4"/>
          <p:cNvSpPr/>
          <p:nvPr/>
        </p:nvSpPr>
        <p:spPr>
          <a:xfrm>
            <a:off x="815975" y="3035933"/>
            <a:ext cx="2520950" cy="1070610"/>
          </a:xfrm>
          <a:prstGeom prst="roundRect">
            <a:avLst>
              <a:gd name="adj" fmla="val 6821"/>
            </a:avLst>
          </a:prstGeom>
          <a:solidFill>
            <a:srgbClr val="FCFBF7"/>
          </a:solidFill>
          <a:ln w="6350">
            <a:solidFill>
              <a:srgbClr val="DDD8CC"/>
            </a:solidFill>
            <a:prstDash val="solid"/>
          </a:ln>
        </p:spPr>
      </p:sp>
      <p:sp>
        <p:nvSpPr>
          <p:cNvPr id="7" name="Text 5"/>
          <p:cNvSpPr/>
          <p:nvPr/>
        </p:nvSpPr>
        <p:spPr>
          <a:xfrm>
            <a:off x="995680" y="3190242"/>
            <a:ext cx="22263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OBJECT</a:t>
            </a:r>
            <a:endParaRPr lang="en-US" sz="1200" dirty="0"/>
          </a:p>
        </p:txBody>
      </p:sp>
      <p:sp>
        <p:nvSpPr>
          <p:cNvPr id="8" name="Text 6"/>
          <p:cNvSpPr/>
          <p:nvPr/>
        </p:nvSpPr>
        <p:spPr>
          <a:xfrm>
            <a:off x="995680" y="3454400"/>
            <a:ext cx="222638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complete, integrated system</a:t>
            </a:r>
            <a:endParaRPr lang="en-US" sz="1400" dirty="0"/>
          </a:p>
        </p:txBody>
      </p:sp>
      <p:sp>
        <p:nvSpPr>
          <p:cNvPr id="9" name="Shape 7"/>
          <p:cNvSpPr/>
          <p:nvPr/>
        </p:nvSpPr>
        <p:spPr>
          <a:xfrm>
            <a:off x="3495675" y="3035933"/>
            <a:ext cx="2520950" cy="1070610"/>
          </a:xfrm>
          <a:prstGeom prst="roundRect">
            <a:avLst>
              <a:gd name="adj" fmla="val 6821"/>
            </a:avLst>
          </a:prstGeom>
          <a:solidFill>
            <a:srgbClr val="FCFBF7"/>
          </a:solidFill>
          <a:ln w="6350">
            <a:solidFill>
              <a:srgbClr val="DDD8CC"/>
            </a:solidFill>
            <a:prstDash val="solid"/>
          </a:ln>
        </p:spPr>
      </p:sp>
      <p:sp>
        <p:nvSpPr>
          <p:cNvPr id="10" name="Text 8"/>
          <p:cNvSpPr/>
          <p:nvPr/>
        </p:nvSpPr>
        <p:spPr>
          <a:xfrm>
            <a:off x="3675380" y="3190242"/>
            <a:ext cx="22263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BASIS</a:t>
            </a:r>
            <a:endParaRPr lang="en-US" sz="1200" dirty="0"/>
          </a:p>
        </p:txBody>
      </p:sp>
      <p:sp>
        <p:nvSpPr>
          <p:cNvPr id="11" name="Text 9"/>
          <p:cNvSpPr/>
          <p:nvPr/>
        </p:nvSpPr>
        <p:spPr>
          <a:xfrm>
            <a:off x="3675380" y="3454400"/>
            <a:ext cx="222638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SRS, use cases and user stories</a:t>
            </a:r>
            <a:endParaRPr lang="en-US" sz="1400" dirty="0"/>
          </a:p>
        </p:txBody>
      </p:sp>
      <p:sp>
        <p:nvSpPr>
          <p:cNvPr id="12" name="Shape 10"/>
          <p:cNvSpPr/>
          <p:nvPr/>
        </p:nvSpPr>
        <p:spPr>
          <a:xfrm>
            <a:off x="6175375" y="3035933"/>
            <a:ext cx="2520950" cy="1070610"/>
          </a:xfrm>
          <a:prstGeom prst="roundRect">
            <a:avLst>
              <a:gd name="adj" fmla="val 6821"/>
            </a:avLst>
          </a:prstGeom>
          <a:solidFill>
            <a:srgbClr val="FCFBF7"/>
          </a:solidFill>
          <a:ln w="6350">
            <a:solidFill>
              <a:srgbClr val="DDD8CC"/>
            </a:solidFill>
            <a:prstDash val="solid"/>
          </a:ln>
        </p:spPr>
      </p:sp>
      <p:sp>
        <p:nvSpPr>
          <p:cNvPr id="13" name="Text 11"/>
          <p:cNvSpPr/>
          <p:nvPr/>
        </p:nvSpPr>
        <p:spPr>
          <a:xfrm>
            <a:off x="6355080" y="3190242"/>
            <a:ext cx="22263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WHERE</a:t>
            </a:r>
            <a:endParaRPr lang="en-US" sz="1200" dirty="0"/>
          </a:p>
        </p:txBody>
      </p:sp>
      <p:sp>
        <p:nvSpPr>
          <p:cNvPr id="14" name="Text 12"/>
          <p:cNvSpPr/>
          <p:nvPr/>
        </p:nvSpPr>
        <p:spPr>
          <a:xfrm>
            <a:off x="6355080" y="3454400"/>
            <a:ext cx="222638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production-like staging setup</a:t>
            </a:r>
            <a:endParaRPr lang="en-US" sz="1400" dirty="0"/>
          </a:p>
        </p:txBody>
      </p:sp>
      <p:sp>
        <p:nvSpPr>
          <p:cNvPr id="15" name="Shape 13"/>
          <p:cNvSpPr/>
          <p:nvPr/>
        </p:nvSpPr>
        <p:spPr>
          <a:xfrm>
            <a:off x="8855075" y="3035933"/>
            <a:ext cx="2520950" cy="1070610"/>
          </a:xfrm>
          <a:prstGeom prst="roundRect">
            <a:avLst>
              <a:gd name="adj" fmla="val 6821"/>
            </a:avLst>
          </a:prstGeom>
          <a:solidFill>
            <a:srgbClr val="FCFBF7"/>
          </a:solidFill>
          <a:ln w="6350">
            <a:solidFill>
              <a:srgbClr val="DDD8CC"/>
            </a:solidFill>
            <a:prstDash val="solid"/>
          </a:ln>
        </p:spPr>
      </p:sp>
      <p:sp>
        <p:nvSpPr>
          <p:cNvPr id="16" name="Text 14"/>
          <p:cNvSpPr/>
          <p:nvPr/>
        </p:nvSpPr>
        <p:spPr>
          <a:xfrm>
            <a:off x="9034780" y="3190242"/>
            <a:ext cx="22263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WHO</a:t>
            </a:r>
            <a:endParaRPr lang="en-US" sz="1200" dirty="0"/>
          </a:p>
        </p:txBody>
      </p:sp>
      <p:sp>
        <p:nvSpPr>
          <p:cNvPr id="17" name="Text 15"/>
          <p:cNvSpPr/>
          <p:nvPr/>
        </p:nvSpPr>
        <p:spPr>
          <a:xfrm>
            <a:off x="9034780" y="3454400"/>
            <a:ext cx="222638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Independent testers; mostly black-box</a:t>
            </a:r>
            <a:endParaRPr lang="en-US" sz="1400" dirty="0"/>
          </a:p>
        </p:txBody>
      </p:sp>
      <p:sp>
        <p:nvSpPr>
          <p:cNvPr id="18" name="Text 16"/>
          <p:cNvSpPr/>
          <p:nvPr/>
        </p:nvSpPr>
        <p:spPr>
          <a:xfrm>
            <a:off x="812800" y="4363727"/>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COVERS FUNCTIONAL AND NON-FUNCTIONAL BEHAVIOUR</a:t>
            </a:r>
            <a:endParaRPr lang="en-US" sz="1200" dirty="0"/>
          </a:p>
        </p:txBody>
      </p:sp>
      <p:sp>
        <p:nvSpPr>
          <p:cNvPr id="19" name="Shape 17"/>
          <p:cNvSpPr/>
          <p:nvPr/>
        </p:nvSpPr>
        <p:spPr>
          <a:xfrm>
            <a:off x="812800" y="4678685"/>
            <a:ext cx="1469628" cy="340360"/>
          </a:xfrm>
          <a:prstGeom prst="roundRect">
            <a:avLst>
              <a:gd name="adj" fmla="val 50000"/>
            </a:avLst>
          </a:prstGeom>
          <a:solidFill>
            <a:srgbClr val="DCE7F3"/>
          </a:solidFill>
          <a:ln/>
        </p:spPr>
      </p:sp>
      <p:sp>
        <p:nvSpPr>
          <p:cNvPr id="20" name="Text 18"/>
          <p:cNvSpPr/>
          <p:nvPr/>
        </p:nvSpPr>
        <p:spPr>
          <a:xfrm>
            <a:off x="965200" y="4742185"/>
            <a:ext cx="121562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Functional flows</a:t>
            </a:r>
            <a:endParaRPr lang="en-US" sz="1200" dirty="0"/>
          </a:p>
        </p:txBody>
      </p:sp>
      <p:sp>
        <p:nvSpPr>
          <p:cNvPr id="21" name="Shape 19"/>
          <p:cNvSpPr/>
          <p:nvPr/>
        </p:nvSpPr>
        <p:spPr>
          <a:xfrm>
            <a:off x="2384028" y="4678685"/>
            <a:ext cx="1216501" cy="340360"/>
          </a:xfrm>
          <a:prstGeom prst="roundRect">
            <a:avLst>
              <a:gd name="adj" fmla="val 50000"/>
            </a:avLst>
          </a:prstGeom>
          <a:solidFill>
            <a:srgbClr val="F7E3D5"/>
          </a:solidFill>
          <a:ln/>
        </p:spPr>
      </p:sp>
      <p:sp>
        <p:nvSpPr>
          <p:cNvPr id="22" name="Text 20"/>
          <p:cNvSpPr/>
          <p:nvPr/>
        </p:nvSpPr>
        <p:spPr>
          <a:xfrm>
            <a:off x="2536428" y="4742185"/>
            <a:ext cx="96250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Performance</a:t>
            </a:r>
            <a:endParaRPr lang="en-US" sz="1200" dirty="0"/>
          </a:p>
        </p:txBody>
      </p:sp>
      <p:sp>
        <p:nvSpPr>
          <p:cNvPr id="23" name="Shape 21"/>
          <p:cNvSpPr/>
          <p:nvPr/>
        </p:nvSpPr>
        <p:spPr>
          <a:xfrm>
            <a:off x="3702129" y="4678685"/>
            <a:ext cx="889476" cy="340360"/>
          </a:xfrm>
          <a:prstGeom prst="roundRect">
            <a:avLst>
              <a:gd name="adj" fmla="val 50000"/>
            </a:avLst>
          </a:prstGeom>
          <a:solidFill>
            <a:srgbClr val="F7E3D5"/>
          </a:solidFill>
          <a:ln/>
        </p:spPr>
      </p:sp>
      <p:sp>
        <p:nvSpPr>
          <p:cNvPr id="24" name="Text 22"/>
          <p:cNvSpPr/>
          <p:nvPr/>
        </p:nvSpPr>
        <p:spPr>
          <a:xfrm>
            <a:off x="3854529" y="4742185"/>
            <a:ext cx="6354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Security</a:t>
            </a:r>
            <a:endParaRPr lang="en-US" sz="1200" dirty="0"/>
          </a:p>
        </p:txBody>
      </p:sp>
      <p:sp>
        <p:nvSpPr>
          <p:cNvPr id="25" name="Shape 23"/>
          <p:cNvSpPr/>
          <p:nvPr/>
        </p:nvSpPr>
        <p:spPr>
          <a:xfrm>
            <a:off x="4693206" y="4678685"/>
            <a:ext cx="927973" cy="340360"/>
          </a:xfrm>
          <a:prstGeom prst="roundRect">
            <a:avLst>
              <a:gd name="adj" fmla="val 50000"/>
            </a:avLst>
          </a:prstGeom>
          <a:solidFill>
            <a:srgbClr val="F7E3D5"/>
          </a:solidFill>
          <a:ln/>
        </p:spPr>
      </p:sp>
      <p:sp>
        <p:nvSpPr>
          <p:cNvPr id="26" name="Text 24"/>
          <p:cNvSpPr/>
          <p:nvPr/>
        </p:nvSpPr>
        <p:spPr>
          <a:xfrm>
            <a:off x="4845606" y="4742185"/>
            <a:ext cx="67397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Usability</a:t>
            </a:r>
            <a:endParaRPr lang="en-US" sz="1200" dirty="0"/>
          </a:p>
        </p:txBody>
      </p:sp>
      <p:sp>
        <p:nvSpPr>
          <p:cNvPr id="27" name="Shape 25"/>
          <p:cNvSpPr/>
          <p:nvPr/>
        </p:nvSpPr>
        <p:spPr>
          <a:xfrm>
            <a:off x="5722779" y="4678685"/>
            <a:ext cx="1255633" cy="340360"/>
          </a:xfrm>
          <a:prstGeom prst="roundRect">
            <a:avLst>
              <a:gd name="adj" fmla="val 50000"/>
            </a:avLst>
          </a:prstGeom>
          <a:solidFill>
            <a:srgbClr val="F7E3D5"/>
          </a:solidFill>
          <a:ln/>
        </p:spPr>
      </p:sp>
      <p:sp>
        <p:nvSpPr>
          <p:cNvPr id="28" name="Text 26"/>
          <p:cNvSpPr/>
          <p:nvPr/>
        </p:nvSpPr>
        <p:spPr>
          <a:xfrm>
            <a:off x="5875179" y="4742185"/>
            <a:ext cx="100163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Compatibility</a:t>
            </a:r>
            <a:endParaRPr lang="en-US" sz="1200" dirty="0"/>
          </a:p>
        </p:txBody>
      </p:sp>
      <p:sp>
        <p:nvSpPr>
          <p:cNvPr id="29" name="Shape 27"/>
          <p:cNvSpPr/>
          <p:nvPr/>
        </p:nvSpPr>
        <p:spPr>
          <a:xfrm>
            <a:off x="7080012" y="4678685"/>
            <a:ext cx="955357" cy="340360"/>
          </a:xfrm>
          <a:prstGeom prst="roundRect">
            <a:avLst>
              <a:gd name="adj" fmla="val 50000"/>
            </a:avLst>
          </a:prstGeom>
          <a:solidFill>
            <a:srgbClr val="F7E3D5"/>
          </a:solidFill>
          <a:ln/>
        </p:spPr>
      </p:sp>
      <p:sp>
        <p:nvSpPr>
          <p:cNvPr id="30" name="Text 28"/>
          <p:cNvSpPr/>
          <p:nvPr/>
        </p:nvSpPr>
        <p:spPr>
          <a:xfrm>
            <a:off x="7232412" y="4742185"/>
            <a:ext cx="70135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Recovery</a:t>
            </a:r>
            <a:endParaRPr lang="en-US" sz="1200" dirty="0"/>
          </a:p>
        </p:txBody>
      </p:sp>
      <p:sp>
        <p:nvSpPr>
          <p:cNvPr id="31" name="Text 29"/>
          <p:cNvSpPr/>
          <p:nvPr/>
        </p:nvSpPr>
        <p:spPr>
          <a:xfrm>
            <a:off x="812800" y="512064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Canteen App: on staging with test wallets, a student logs in, orders two items, pays by wallet and gets an order number.</a:t>
            </a:r>
            <a:endParaRPr lang="en-US" sz="1400" dirty="0"/>
          </a:p>
        </p:txBody>
      </p:sp>
      <p:sp>
        <p:nvSpPr>
          <p:cNvPr id="32" name="Text 30"/>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33" name="Text 31"/>
          <p:cNvSpPr/>
          <p:nvPr/>
        </p:nvSpPr>
        <p:spPr>
          <a:xfrm>
            <a:off x="6668056" y="6238242"/>
            <a:ext cx="48524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Definition: ISTQB Glossary · Blue: functional · Orange: non-functional</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L10 · ACCEPTANCE TESTING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Acceptance testing</a:t>
            </a:r>
            <a:endParaRPr lang="en-US" sz="3200" dirty="0"/>
          </a:p>
        </p:txBody>
      </p:sp>
      <p:sp>
        <p:nvSpPr>
          <p:cNvPr id="4" name="Text 2"/>
          <p:cNvSpPr/>
          <p:nvPr/>
        </p:nvSpPr>
        <p:spPr>
          <a:xfrm>
            <a:off x="812800" y="1828800"/>
            <a:ext cx="66451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ISTQB · ACCEPTANCE TESTING</a:t>
            </a:r>
            <a:endParaRPr lang="en-US" sz="1200" dirty="0"/>
          </a:p>
        </p:txBody>
      </p:sp>
      <p:sp>
        <p:nvSpPr>
          <p:cNvPr id="5" name="Text 3"/>
          <p:cNvSpPr/>
          <p:nvPr/>
        </p:nvSpPr>
        <p:spPr>
          <a:xfrm>
            <a:off x="812800" y="2118358"/>
            <a:ext cx="6645148"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13233A"/>
                </a:solidFill>
                <a:latin typeface="Space Grotesk" pitchFamily="34" charset="0"/>
                <a:ea typeface="Space Grotesk" pitchFamily="34" charset="-122"/>
                <a:cs typeface="Space Grotesk" pitchFamily="34" charset="-120"/>
              </a:rPr>
              <a:t>“A test level that focuses on determining whether to accept the system.”</a:t>
            </a:r>
            <a:endParaRPr lang="en-US" sz="2000" dirty="0"/>
          </a:p>
        </p:txBody>
      </p:sp>
      <p:sp>
        <p:nvSpPr>
          <p:cNvPr id="6" name="Text 4"/>
          <p:cNvSpPr/>
          <p:nvPr/>
        </p:nvSpPr>
        <p:spPr>
          <a:xfrm>
            <a:off x="812800" y="2829558"/>
            <a:ext cx="66451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In practice: does it meet business needs, and is it ready to release?</a:t>
            </a:r>
            <a:endParaRPr lang="en-US" sz="1400" dirty="0"/>
          </a:p>
        </p:txBody>
      </p:sp>
      <p:sp>
        <p:nvSpPr>
          <p:cNvPr id="7" name="Text 5"/>
          <p:cNvSpPr/>
          <p:nvPr/>
        </p:nvSpPr>
        <p:spPr>
          <a:xfrm>
            <a:off x="7569200" y="1828800"/>
            <a:ext cx="39243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WHO TAKES PART</a:t>
            </a:r>
            <a:endParaRPr lang="en-US" sz="1200" dirty="0"/>
          </a:p>
        </p:txBody>
      </p:sp>
      <p:sp>
        <p:nvSpPr>
          <p:cNvPr id="8" name="Text 6"/>
          <p:cNvSpPr/>
          <p:nvPr/>
        </p:nvSpPr>
        <p:spPr>
          <a:xfrm>
            <a:off x="7569200" y="2118358"/>
            <a:ext cx="3924300" cy="825500"/>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Customers and end users</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Product owner, business analysts</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Operations staff, for readiness checks</a:t>
            </a:r>
            <a:endParaRPr lang="en-US" sz="1400" dirty="0"/>
          </a:p>
        </p:txBody>
      </p:sp>
      <p:sp>
        <p:nvSpPr>
          <p:cNvPr id="9" name="Shape 7"/>
          <p:cNvSpPr/>
          <p:nvPr/>
        </p:nvSpPr>
        <p:spPr>
          <a:xfrm>
            <a:off x="815975" y="3284860"/>
            <a:ext cx="5175250" cy="1367790"/>
          </a:xfrm>
          <a:prstGeom prst="roundRect">
            <a:avLst>
              <a:gd name="adj" fmla="val 5339"/>
            </a:avLst>
          </a:prstGeom>
          <a:solidFill>
            <a:srgbClr val="FCFBF7"/>
          </a:solidFill>
          <a:ln w="6350">
            <a:solidFill>
              <a:srgbClr val="DDD8CC"/>
            </a:solidFill>
            <a:prstDash val="solid"/>
          </a:ln>
        </p:spPr>
      </p:sp>
      <p:sp>
        <p:nvSpPr>
          <p:cNvPr id="10" name="Text 8"/>
          <p:cNvSpPr/>
          <p:nvPr/>
        </p:nvSpPr>
        <p:spPr>
          <a:xfrm>
            <a:off x="1021080" y="3464558"/>
            <a:ext cx="4907991"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Verification</a:t>
            </a:r>
            <a:endParaRPr lang="en-US" sz="1400" dirty="0"/>
          </a:p>
        </p:txBody>
      </p:sp>
      <p:sp>
        <p:nvSpPr>
          <p:cNvPr id="11" name="Text 9"/>
          <p:cNvSpPr/>
          <p:nvPr/>
        </p:nvSpPr>
        <p:spPr>
          <a:xfrm>
            <a:off x="1021080" y="3746500"/>
            <a:ext cx="4907991" cy="27432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245A9C"/>
                </a:solidFill>
                <a:latin typeface="IBM Plex Sans" pitchFamily="34" charset="0"/>
                <a:ea typeface="IBM Plex Sans" pitchFamily="34" charset="-122"/>
                <a:cs typeface="IBM Plex Sans" pitchFamily="34" charset="-120"/>
              </a:rPr>
              <a:t>“Are we building the product right?”</a:t>
            </a:r>
            <a:endParaRPr lang="en-US" sz="1400" dirty="0"/>
          </a:p>
        </p:txBody>
      </p:sp>
      <p:sp>
        <p:nvSpPr>
          <p:cNvPr id="12" name="Text 10"/>
          <p:cNvSpPr/>
          <p:nvPr/>
        </p:nvSpPr>
        <p:spPr>
          <a:xfrm>
            <a:off x="1021080" y="4046227"/>
            <a:ext cx="490799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Checked against the specification: unit, integration and system testing.</a:t>
            </a:r>
            <a:endParaRPr lang="en-US" sz="1200" dirty="0"/>
          </a:p>
        </p:txBody>
      </p:sp>
      <p:sp>
        <p:nvSpPr>
          <p:cNvPr id="13" name="Shape 11"/>
          <p:cNvSpPr/>
          <p:nvPr/>
        </p:nvSpPr>
        <p:spPr>
          <a:xfrm>
            <a:off x="6200775" y="3284860"/>
            <a:ext cx="5175250" cy="1367790"/>
          </a:xfrm>
          <a:prstGeom prst="roundRect">
            <a:avLst>
              <a:gd name="adj" fmla="val 5339"/>
            </a:avLst>
          </a:prstGeom>
          <a:solidFill>
            <a:srgbClr val="F7E3D5"/>
          </a:solidFill>
          <a:ln w="6350">
            <a:solidFill>
              <a:srgbClr val="E9C3A8"/>
            </a:solidFill>
            <a:prstDash val="solid"/>
          </a:ln>
        </p:spPr>
      </p:sp>
      <p:sp>
        <p:nvSpPr>
          <p:cNvPr id="14" name="Text 12"/>
          <p:cNvSpPr/>
          <p:nvPr/>
        </p:nvSpPr>
        <p:spPr>
          <a:xfrm>
            <a:off x="6405880" y="3464558"/>
            <a:ext cx="4907991"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Validation</a:t>
            </a:r>
            <a:endParaRPr lang="en-US" sz="1400" dirty="0"/>
          </a:p>
        </p:txBody>
      </p:sp>
      <p:sp>
        <p:nvSpPr>
          <p:cNvPr id="15" name="Text 13"/>
          <p:cNvSpPr/>
          <p:nvPr/>
        </p:nvSpPr>
        <p:spPr>
          <a:xfrm>
            <a:off x="6405880" y="3746500"/>
            <a:ext cx="4907991" cy="27432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A9481A"/>
                </a:solidFill>
                <a:latin typeface="IBM Plex Sans" pitchFamily="34" charset="0"/>
                <a:ea typeface="IBM Plex Sans" pitchFamily="34" charset="-122"/>
                <a:cs typeface="IBM Plex Sans" pitchFamily="34" charset="-120"/>
              </a:rPr>
              <a:t>“Are we building the right product?”</a:t>
            </a:r>
            <a:endParaRPr lang="en-US" sz="1400" dirty="0"/>
          </a:p>
        </p:txBody>
      </p:sp>
      <p:sp>
        <p:nvSpPr>
          <p:cNvPr id="16" name="Text 14"/>
          <p:cNvSpPr/>
          <p:nvPr/>
        </p:nvSpPr>
        <p:spPr>
          <a:xfrm>
            <a:off x="6405880" y="4046227"/>
            <a:ext cx="49079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Checked against user and business needs: acceptance testing.</a:t>
            </a:r>
            <a:endParaRPr lang="en-US" sz="1200" dirty="0"/>
          </a:p>
        </p:txBody>
      </p:sp>
      <p:sp>
        <p:nvSpPr>
          <p:cNvPr id="17" name="Shape 15"/>
          <p:cNvSpPr/>
          <p:nvPr/>
        </p:nvSpPr>
        <p:spPr>
          <a:xfrm>
            <a:off x="815975" y="4961260"/>
            <a:ext cx="2294890" cy="405130"/>
          </a:xfrm>
          <a:prstGeom prst="roundRect">
            <a:avLst>
              <a:gd name="adj" fmla="val 14890"/>
            </a:avLst>
          </a:prstGeom>
          <a:solidFill>
            <a:srgbClr val="FCFBF7"/>
          </a:solidFill>
          <a:ln w="6350">
            <a:solidFill>
              <a:srgbClr val="DDD8CC"/>
            </a:solidFill>
            <a:prstDash val="solid"/>
          </a:ln>
        </p:spPr>
      </p:sp>
      <p:sp>
        <p:nvSpPr>
          <p:cNvPr id="18" name="Text 16"/>
          <p:cNvSpPr/>
          <p:nvPr/>
        </p:nvSpPr>
        <p:spPr>
          <a:xfrm>
            <a:off x="888162" y="5064765"/>
            <a:ext cx="2150516" cy="22352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3233A"/>
                </a:solidFill>
                <a:latin typeface="IBM Plex Sans" pitchFamily="34" charset="0"/>
                <a:ea typeface="IBM Plex Sans" pitchFamily="34" charset="-122"/>
                <a:cs typeface="IBM Plex Sans" pitchFamily="34" charset="-120"/>
              </a:rPr>
              <a:t>Entry criteria met</a:t>
            </a:r>
            <a:endParaRPr lang="en-US" sz="1200" dirty="0"/>
          </a:p>
        </p:txBody>
      </p:sp>
      <p:pic>
        <p:nvPicPr>
          <p:cNvPr id="19" name="Image 0" descr="connector">    </p:cNvPr>
          <p:cNvPicPr>
            <a:picLocks noChangeAspect="1"/>
          </p:cNvPicPr>
          <p:nvPr/>
        </p:nvPicPr>
        <p:blipFill>
          <a:blip r:embed="rId1"/>
          <a:srcRect l="0" r="0" t="0" b="0"/>
          <a:stretch/>
        </p:blipFill>
        <p:spPr>
          <a:xfrm>
            <a:off x="3215640" y="5113027"/>
            <a:ext cx="254000" cy="101600"/>
          </a:xfrm>
          <a:prstGeom prst="rect">
            <a:avLst/>
          </a:prstGeom>
        </p:spPr>
      </p:pic>
      <p:sp>
        <p:nvSpPr>
          <p:cNvPr id="20" name="Shape 17"/>
          <p:cNvSpPr/>
          <p:nvPr/>
        </p:nvSpPr>
        <p:spPr>
          <a:xfrm>
            <a:off x="3574415" y="4862202"/>
            <a:ext cx="2294890" cy="603250"/>
          </a:xfrm>
          <a:prstGeom prst="roundRect">
            <a:avLst>
              <a:gd name="adj" fmla="val 10000"/>
            </a:avLst>
          </a:prstGeom>
          <a:solidFill>
            <a:srgbClr val="FCFBF7"/>
          </a:solidFill>
          <a:ln w="6350">
            <a:solidFill>
              <a:srgbClr val="DDD8CC"/>
            </a:solidFill>
            <a:prstDash val="solid"/>
          </a:ln>
        </p:spPr>
      </p:sp>
      <p:sp>
        <p:nvSpPr>
          <p:cNvPr id="21" name="Text 18"/>
          <p:cNvSpPr/>
          <p:nvPr/>
        </p:nvSpPr>
        <p:spPr>
          <a:xfrm>
            <a:off x="3646602" y="4965707"/>
            <a:ext cx="2150516" cy="42164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3233A"/>
                </a:solidFill>
                <a:latin typeface="IBM Plex Sans" pitchFamily="34" charset="0"/>
                <a:ea typeface="IBM Plex Sans" pitchFamily="34" charset="-122"/>
                <a:cs typeface="IBM Plex Sans" pitchFamily="34" charset="-120"/>
              </a:rPr>
              <a:t>Users run the acceptance tests</a:t>
            </a:r>
            <a:endParaRPr lang="en-US" sz="1200" dirty="0"/>
          </a:p>
        </p:txBody>
      </p:sp>
      <p:pic>
        <p:nvPicPr>
          <p:cNvPr id="22" name="Image 1" descr="connector">    </p:cNvPr>
          <p:cNvPicPr>
            <a:picLocks noChangeAspect="1"/>
          </p:cNvPicPr>
          <p:nvPr/>
        </p:nvPicPr>
        <p:blipFill>
          <a:blip r:embed="rId2"/>
          <a:srcRect l="0" r="0" t="0" b="0"/>
          <a:stretch/>
        </p:blipFill>
        <p:spPr>
          <a:xfrm>
            <a:off x="5974080" y="5113027"/>
            <a:ext cx="254000" cy="101600"/>
          </a:xfrm>
          <a:prstGeom prst="rect">
            <a:avLst/>
          </a:prstGeom>
        </p:spPr>
      </p:pic>
      <p:sp>
        <p:nvSpPr>
          <p:cNvPr id="23" name="Shape 19"/>
          <p:cNvSpPr/>
          <p:nvPr/>
        </p:nvSpPr>
        <p:spPr>
          <a:xfrm>
            <a:off x="6332855" y="4961260"/>
            <a:ext cx="2294890" cy="405130"/>
          </a:xfrm>
          <a:prstGeom prst="roundRect">
            <a:avLst>
              <a:gd name="adj" fmla="val 14890"/>
            </a:avLst>
          </a:prstGeom>
          <a:solidFill>
            <a:srgbClr val="FCFBF7"/>
          </a:solidFill>
          <a:ln w="6350">
            <a:solidFill>
              <a:srgbClr val="DDD8CC"/>
            </a:solidFill>
            <a:prstDash val="solid"/>
          </a:ln>
        </p:spPr>
      </p:sp>
      <p:sp>
        <p:nvSpPr>
          <p:cNvPr id="24" name="Text 20"/>
          <p:cNvSpPr/>
          <p:nvPr/>
        </p:nvSpPr>
        <p:spPr>
          <a:xfrm>
            <a:off x="6405042" y="5064765"/>
            <a:ext cx="2150516" cy="22352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3233A"/>
                </a:solidFill>
                <a:latin typeface="IBM Plex Sans" pitchFamily="34" charset="0"/>
                <a:ea typeface="IBM Plex Sans" pitchFamily="34" charset="-122"/>
                <a:cs typeface="IBM Plex Sans" pitchFamily="34" charset="-120"/>
              </a:rPr>
              <a:t>Defects fixed and re-tested</a:t>
            </a:r>
            <a:endParaRPr lang="en-US" sz="1200" dirty="0"/>
          </a:p>
        </p:txBody>
      </p:sp>
      <p:pic>
        <p:nvPicPr>
          <p:cNvPr id="25" name="Image 2" descr="connector">    </p:cNvPr>
          <p:cNvPicPr>
            <a:picLocks noChangeAspect="1"/>
          </p:cNvPicPr>
          <p:nvPr/>
        </p:nvPicPr>
        <p:blipFill>
          <a:blip r:embed="rId3"/>
          <a:srcRect l="0" r="0" t="0" b="0"/>
          <a:stretch/>
        </p:blipFill>
        <p:spPr>
          <a:xfrm>
            <a:off x="8732520" y="5113027"/>
            <a:ext cx="254000" cy="101600"/>
          </a:xfrm>
          <a:prstGeom prst="rect">
            <a:avLst/>
          </a:prstGeom>
        </p:spPr>
      </p:pic>
      <p:sp>
        <p:nvSpPr>
          <p:cNvPr id="26" name="Shape 21"/>
          <p:cNvSpPr/>
          <p:nvPr/>
        </p:nvSpPr>
        <p:spPr>
          <a:xfrm>
            <a:off x="9088120" y="4963158"/>
            <a:ext cx="2291080" cy="401320"/>
          </a:xfrm>
          <a:prstGeom prst="roundRect">
            <a:avLst>
              <a:gd name="adj" fmla="val 15823"/>
            </a:avLst>
          </a:prstGeom>
          <a:solidFill>
            <a:srgbClr val="13233A"/>
          </a:solidFill>
          <a:ln/>
        </p:spPr>
      </p:sp>
      <p:sp>
        <p:nvSpPr>
          <p:cNvPr id="27" name="Text 22"/>
          <p:cNvSpPr/>
          <p:nvPr/>
        </p:nvSpPr>
        <p:spPr>
          <a:xfrm>
            <a:off x="9158402" y="5064758"/>
            <a:ext cx="2150517" cy="22352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F3F1EA"/>
                </a:solidFill>
                <a:latin typeface="IBM Plex Sans" pitchFamily="34" charset="0"/>
                <a:ea typeface="IBM Plex Sans" pitchFamily="34" charset="-122"/>
                <a:cs typeface="IBM Plex Sans" pitchFamily="34" charset="-120"/>
              </a:rPr>
              <a:t>Sign-off and release</a:t>
            </a:r>
            <a:endParaRPr lang="en-US" sz="1200" dirty="0"/>
          </a:p>
        </p:txBody>
      </p:sp>
      <p:sp>
        <p:nvSpPr>
          <p:cNvPr id="28" name="Text 23"/>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9" name="Text 24"/>
          <p:cNvSpPr/>
          <p:nvPr/>
        </p:nvSpPr>
        <p:spPr>
          <a:xfrm>
            <a:off x="9568021" y="6238242"/>
            <a:ext cx="18655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Definition: ISTQB Glossary</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L10 · ACCEPTANCE TESTING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Forms of acceptance testing</a:t>
            </a:r>
            <a:endParaRPr lang="en-US" sz="3200" dirty="0"/>
          </a:p>
        </p:txBody>
      </p:sp>
      <p:sp>
        <p:nvSpPr>
          <p:cNvPr id="4" name="Shape 2"/>
          <p:cNvSpPr/>
          <p:nvPr/>
        </p:nvSpPr>
        <p:spPr>
          <a:xfrm>
            <a:off x="11376025" y="1828800"/>
            <a:ext cx="0" cy="2326640"/>
          </a:xfrm>
          <a:prstGeom prst="line">
            <a:avLst/>
          </a:prstGeom>
          <a:noFill/>
          <a:ln w="6350">
            <a:solidFill>
              <a:srgbClr val="DDD8CC"/>
            </a:solidFill>
            <a:prstDash val="solid"/>
          </a:ln>
        </p:spPr>
      </p:sp>
      <p:sp>
        <p:nvSpPr>
          <p:cNvPr id="5" name="Shape 3"/>
          <p:cNvSpPr/>
          <p:nvPr/>
        </p:nvSpPr>
        <p:spPr>
          <a:xfrm>
            <a:off x="812800" y="41522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311400"/>
        </p:xfrm>
        <a:graphic>
          <a:graphicData uri="http://schemas.openxmlformats.org/drawingml/2006/table">
            <a:tbl>
              <a:tblPr/>
              <a:tblGrid>
                <a:gridCol w="1899209"/>
                <a:gridCol w="2954325"/>
                <a:gridCol w="2110232"/>
                <a:gridCol w="3587394"/>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Form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Question it answers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Done 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Canteen App example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User (UAT)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Can users do their tasks?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Users, product owner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Students order lunch in a trial week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Operational (OAT)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Can we run and support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Operations team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Backups restore; alerts fire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Contractual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Does it meet the contract?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Customer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Every feature in the contract works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Regulatory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Does it meet legal rules?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Compliance, auditors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Data handling meets privacy law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Alpha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Does it work in-house?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Internal users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Canteen staff trial it in-house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Beta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Does it work for real users?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Real users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One hostel uses it for two weeks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Shape 4"/>
          <p:cNvSpPr/>
          <p:nvPr/>
        </p:nvSpPr>
        <p:spPr>
          <a:xfrm>
            <a:off x="815975" y="4412617"/>
            <a:ext cx="5175250" cy="821690"/>
          </a:xfrm>
          <a:prstGeom prst="roundRect">
            <a:avLst>
              <a:gd name="adj" fmla="val 8887"/>
            </a:avLst>
          </a:prstGeom>
          <a:solidFill>
            <a:srgbClr val="FCFBF7"/>
          </a:solidFill>
          <a:ln w="6350">
            <a:solidFill>
              <a:srgbClr val="DDD8CC"/>
            </a:solidFill>
            <a:prstDash val="solid"/>
          </a:ln>
        </p:spPr>
      </p:sp>
      <p:sp>
        <p:nvSpPr>
          <p:cNvPr id="8" name="Text 5"/>
          <p:cNvSpPr/>
          <p:nvPr/>
        </p:nvSpPr>
        <p:spPr>
          <a:xfrm>
            <a:off x="1021080" y="4566927"/>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ALPHA</a:t>
            </a:r>
            <a:endParaRPr lang="en-US" sz="1200" dirty="0"/>
          </a:p>
        </p:txBody>
      </p:sp>
      <p:sp>
        <p:nvSpPr>
          <p:cNvPr id="9" name="Text 6"/>
          <p:cNvSpPr/>
          <p:nvPr/>
        </p:nvSpPr>
        <p:spPr>
          <a:xfrm>
            <a:off x="1021080" y="4831085"/>
            <a:ext cx="49079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At the developer's site, by staff or a small invited group</a:t>
            </a:r>
            <a:endParaRPr lang="en-US" sz="1400" dirty="0"/>
          </a:p>
        </p:txBody>
      </p:sp>
      <p:sp>
        <p:nvSpPr>
          <p:cNvPr id="10" name="Shape 7"/>
          <p:cNvSpPr/>
          <p:nvPr/>
        </p:nvSpPr>
        <p:spPr>
          <a:xfrm>
            <a:off x="6200775" y="4412617"/>
            <a:ext cx="5175250" cy="821690"/>
          </a:xfrm>
          <a:prstGeom prst="roundRect">
            <a:avLst>
              <a:gd name="adj" fmla="val 8887"/>
            </a:avLst>
          </a:prstGeom>
          <a:solidFill>
            <a:srgbClr val="FCFBF7"/>
          </a:solidFill>
          <a:ln w="6350">
            <a:solidFill>
              <a:srgbClr val="DDD8CC"/>
            </a:solidFill>
            <a:prstDash val="solid"/>
          </a:ln>
        </p:spPr>
      </p:sp>
      <p:sp>
        <p:nvSpPr>
          <p:cNvPr id="11" name="Text 8"/>
          <p:cNvSpPr/>
          <p:nvPr/>
        </p:nvSpPr>
        <p:spPr>
          <a:xfrm>
            <a:off x="6405880" y="4566927"/>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BETA</a:t>
            </a:r>
            <a:endParaRPr lang="en-US" sz="1200" dirty="0"/>
          </a:p>
        </p:txBody>
      </p:sp>
      <p:sp>
        <p:nvSpPr>
          <p:cNvPr id="12" name="Text 9"/>
          <p:cNvSpPr/>
          <p:nvPr/>
        </p:nvSpPr>
        <p:spPr>
          <a:xfrm>
            <a:off x="6405880" y="4831085"/>
            <a:ext cx="49079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At the users' own sites, by real users in real conditions</a:t>
            </a:r>
            <a:endParaRPr lang="en-US" sz="1400" dirty="0"/>
          </a:p>
        </p:txBody>
      </p:sp>
      <p:sp>
        <p:nvSpPr>
          <p:cNvPr id="13" name="Text 10"/>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4" name="Text 11"/>
          <p:cNvSpPr/>
          <p:nvPr/>
        </p:nvSpPr>
        <p:spPr>
          <a:xfrm>
            <a:off x="7651274" y="6238242"/>
            <a:ext cx="38397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Forms as listed in the ISTQB Foundation Level syllabus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L10 · ACCEPTANCE TESTING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Acceptance criteria in Given–When–Then</a:t>
            </a:r>
            <a:endParaRPr lang="en-US" sz="3200" dirty="0"/>
          </a:p>
        </p:txBody>
      </p:sp>
      <p:sp>
        <p:nvSpPr>
          <p:cNvPr id="4" name="Shape 2"/>
          <p:cNvSpPr/>
          <p:nvPr/>
        </p:nvSpPr>
        <p:spPr>
          <a:xfrm>
            <a:off x="815975" y="1831975"/>
            <a:ext cx="5365750" cy="1146810"/>
          </a:xfrm>
          <a:prstGeom prst="roundRect">
            <a:avLst>
              <a:gd name="adj" fmla="val 6368"/>
            </a:avLst>
          </a:prstGeom>
          <a:solidFill>
            <a:srgbClr val="FCFBF7"/>
          </a:solidFill>
          <a:ln w="6350">
            <a:solidFill>
              <a:srgbClr val="DDD8CC"/>
            </a:solidFill>
            <a:prstDash val="solid"/>
          </a:ln>
        </p:spPr>
      </p:sp>
      <p:sp>
        <p:nvSpPr>
          <p:cNvPr id="5" name="Text 3"/>
          <p:cNvSpPr/>
          <p:nvPr/>
        </p:nvSpPr>
        <p:spPr>
          <a:xfrm>
            <a:off x="1021080" y="2011685"/>
            <a:ext cx="510420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USER STORY</a:t>
            </a:r>
            <a:endParaRPr lang="en-US" sz="1200" dirty="0"/>
          </a:p>
        </p:txBody>
      </p:sp>
      <p:sp>
        <p:nvSpPr>
          <p:cNvPr id="6" name="Text 4"/>
          <p:cNvSpPr/>
          <p:nvPr/>
        </p:nvSpPr>
        <p:spPr>
          <a:xfrm>
            <a:off x="1021080" y="2301242"/>
            <a:ext cx="510420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As a student, I want to apply a coupon at checkout, so that I pay less for my lunch.</a:t>
            </a:r>
            <a:endParaRPr lang="en-US" sz="1400" dirty="0"/>
          </a:p>
        </p:txBody>
      </p:sp>
      <p:sp>
        <p:nvSpPr>
          <p:cNvPr id="7" name="Shape 5"/>
          <p:cNvSpPr/>
          <p:nvPr/>
        </p:nvSpPr>
        <p:spPr>
          <a:xfrm>
            <a:off x="812800" y="3137533"/>
            <a:ext cx="5372100" cy="0"/>
          </a:xfrm>
          <a:prstGeom prst="line">
            <a:avLst/>
          </a:prstGeom>
          <a:noFill/>
          <a:ln w="6350">
            <a:solidFill>
              <a:srgbClr val="DDD8CC"/>
            </a:solidFill>
            <a:prstDash val="solid"/>
          </a:ln>
        </p:spPr>
      </p:sp>
      <p:sp>
        <p:nvSpPr>
          <p:cNvPr id="8" name="Text 6"/>
          <p:cNvSpPr/>
          <p:nvPr/>
        </p:nvSpPr>
        <p:spPr>
          <a:xfrm>
            <a:off x="812800" y="3228338"/>
            <a:ext cx="553326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Acceptance criteria turn the story into checkable conditions, agreed before coding starts.</a:t>
            </a:r>
            <a:endParaRPr lang="en-US" sz="1400" dirty="0"/>
          </a:p>
        </p:txBody>
      </p:sp>
      <p:sp>
        <p:nvSpPr>
          <p:cNvPr id="9" name="Shape 7"/>
          <p:cNvSpPr/>
          <p:nvPr/>
        </p:nvSpPr>
        <p:spPr>
          <a:xfrm>
            <a:off x="812800" y="3818260"/>
            <a:ext cx="5372100" cy="0"/>
          </a:xfrm>
          <a:prstGeom prst="line">
            <a:avLst/>
          </a:prstGeom>
          <a:noFill/>
          <a:ln w="6350">
            <a:solidFill>
              <a:srgbClr val="DDD8CC"/>
            </a:solidFill>
            <a:prstDash val="solid"/>
          </a:ln>
        </p:spPr>
      </p:sp>
      <p:sp>
        <p:nvSpPr>
          <p:cNvPr id="10" name="Text 8"/>
          <p:cNvSpPr/>
          <p:nvPr/>
        </p:nvSpPr>
        <p:spPr>
          <a:xfrm>
            <a:off x="812800" y="3909065"/>
            <a:ext cx="553326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Given–When–Then writes each criterion as a concrete example that business people can read.</a:t>
            </a:r>
            <a:endParaRPr lang="en-US" sz="1400" dirty="0"/>
          </a:p>
        </p:txBody>
      </p:sp>
      <p:sp>
        <p:nvSpPr>
          <p:cNvPr id="11" name="Shape 9"/>
          <p:cNvSpPr/>
          <p:nvPr/>
        </p:nvSpPr>
        <p:spPr>
          <a:xfrm>
            <a:off x="812800" y="4498975"/>
            <a:ext cx="5372100" cy="0"/>
          </a:xfrm>
          <a:prstGeom prst="line">
            <a:avLst/>
          </a:prstGeom>
          <a:noFill/>
          <a:ln w="6350">
            <a:solidFill>
              <a:srgbClr val="DDD8CC"/>
            </a:solidFill>
            <a:prstDash val="solid"/>
          </a:ln>
        </p:spPr>
      </p:sp>
      <p:sp>
        <p:nvSpPr>
          <p:cNvPr id="12" name="Shape 10"/>
          <p:cNvSpPr/>
          <p:nvPr/>
        </p:nvSpPr>
        <p:spPr>
          <a:xfrm>
            <a:off x="812800" y="5178425"/>
            <a:ext cx="5372100" cy="0"/>
          </a:xfrm>
          <a:prstGeom prst="line">
            <a:avLst/>
          </a:prstGeom>
          <a:noFill/>
          <a:ln w="6350">
            <a:solidFill>
              <a:srgbClr val="DDD8CC"/>
            </a:solidFill>
            <a:prstDash val="solid"/>
          </a:ln>
        </p:spPr>
      </p:sp>
      <p:sp>
        <p:nvSpPr>
          <p:cNvPr id="13" name="Text 11"/>
          <p:cNvSpPr/>
          <p:nvPr/>
        </p:nvSpPr>
        <p:spPr>
          <a:xfrm>
            <a:off x="812800" y="4589780"/>
            <a:ext cx="553326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pytest-bdd binds each step to Python, so the criteria run as automated acceptance tests (Lab 12).</a:t>
            </a:r>
            <a:endParaRPr lang="en-US" sz="1400" dirty="0"/>
          </a:p>
        </p:txBody>
      </p:sp>
      <p:sp>
        <p:nvSpPr>
          <p:cNvPr id="14" name="Text 12"/>
          <p:cNvSpPr/>
          <p:nvPr/>
        </p:nvSpPr>
        <p:spPr>
          <a:xfrm>
            <a:off x="6489700" y="1828800"/>
            <a:ext cx="50361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tests/features/coupon.feature</a:t>
            </a:r>
            <a:endParaRPr lang="en-US" sz="1200" dirty="0"/>
          </a:p>
        </p:txBody>
      </p:sp>
      <p:sp>
        <p:nvSpPr>
          <p:cNvPr id="15" name="Shape 13"/>
          <p:cNvSpPr/>
          <p:nvPr/>
        </p:nvSpPr>
        <p:spPr>
          <a:xfrm>
            <a:off x="6489700" y="2118358"/>
            <a:ext cx="4889500" cy="2702560"/>
          </a:xfrm>
          <a:prstGeom prst="roundRect">
            <a:avLst>
              <a:gd name="adj" fmla="val 2820"/>
            </a:avLst>
          </a:prstGeom>
          <a:solidFill>
            <a:srgbClr val="13233A"/>
          </a:solidFill>
          <a:ln/>
        </p:spPr>
      </p:sp>
      <p:sp>
        <p:nvSpPr>
          <p:cNvPr id="16" name="Text 14"/>
          <p:cNvSpPr/>
          <p:nvPr/>
        </p:nvSpPr>
        <p:spPr>
          <a:xfrm>
            <a:off x="6667500" y="2296158"/>
            <a:ext cx="4669917" cy="23723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Feature:</a:t>
            </a:r>
            <a:r>
              <a:rPr lang="en-US" sz="1200" dirty="0">
                <a:solidFill>
                  <a:srgbClr val="E6EAF0"/>
                </a:solidFill>
                <a:latin typeface="JetBrains Mono" pitchFamily="34" charset="0"/>
                <a:ea typeface="JetBrains Mono" pitchFamily="34" charset="-122"/>
                <a:cs typeface="JetBrains Mono" pitchFamily="34" charset="-120"/>
              </a:rPr>
              <a:t> Apply a coupon at checkout</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Scenario:</a:t>
            </a:r>
            <a:r>
              <a:rPr lang="en-US" sz="1200" dirty="0">
                <a:solidFill>
                  <a:srgbClr val="E6EAF0"/>
                </a:solidFill>
                <a:latin typeface="JetBrains Mono" pitchFamily="34" charset="0"/>
                <a:ea typeface="JetBrains Mono" pitchFamily="34" charset="-122"/>
                <a:cs typeface="JetBrains Mono" pitchFamily="34" charset="-120"/>
              </a:rPr>
              <a:t> Valid coupon on an eligible order</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Given</a:t>
            </a:r>
            <a:r>
              <a:rPr lang="en-US" sz="1200" dirty="0">
                <a:solidFill>
                  <a:srgbClr val="E6EAF0"/>
                </a:solidFill>
                <a:latin typeface="JetBrains Mono" pitchFamily="34" charset="0"/>
                <a:ea typeface="JetBrains Mono" pitchFamily="34" charset="-122"/>
                <a:cs typeface="JetBrains Mono" pitchFamily="34" charset="-120"/>
              </a:rPr>
              <a:t> my cart total is 300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When</a:t>
            </a:r>
            <a:r>
              <a:rPr lang="en-US" sz="1200" dirty="0">
                <a:solidFill>
                  <a:srgbClr val="E6EAF0"/>
                </a:solidFill>
                <a:latin typeface="JetBrains Mono" pitchFamily="34" charset="0"/>
                <a:ea typeface="JetBrains Mono" pitchFamily="34" charset="-122"/>
                <a:cs typeface="JetBrains Mono" pitchFamily="34" charset="-120"/>
              </a:rPr>
              <a:t> I apply the coupon </a:t>
            </a:r>
            <a:r>
              <a:rPr lang="en-US" sz="1200" dirty="0">
                <a:solidFill>
                  <a:srgbClr val="9CC7F0"/>
                </a:solidFill>
                <a:latin typeface="JetBrains Mono" pitchFamily="34" charset="0"/>
                <a:ea typeface="JetBrains Mono" pitchFamily="34" charset="-122"/>
                <a:cs typeface="JetBrains Mono" pitchFamily="34" charset="-120"/>
              </a:rPr>
              <a:t>"SAVE20"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Then</a:t>
            </a:r>
            <a:r>
              <a:rPr lang="en-US" sz="1200" dirty="0">
                <a:solidFill>
                  <a:srgbClr val="E6EAF0"/>
                </a:solidFill>
                <a:latin typeface="JetBrains Mono" pitchFamily="34" charset="0"/>
                <a:ea typeface="JetBrains Mono" pitchFamily="34" charset="-122"/>
                <a:cs typeface="JetBrains Mono" pitchFamily="34" charset="-120"/>
              </a:rPr>
              <a:t> the amount payable is 240</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Scenario:</a:t>
            </a:r>
            <a:r>
              <a:rPr lang="en-US" sz="1200" dirty="0">
                <a:solidFill>
                  <a:srgbClr val="E6EAF0"/>
                </a:solidFill>
                <a:latin typeface="JetBrains Mono" pitchFamily="34" charset="0"/>
                <a:ea typeface="JetBrains Mono" pitchFamily="34" charset="-122"/>
                <a:cs typeface="JetBrains Mono" pitchFamily="34" charset="-120"/>
              </a:rPr>
              <a:t> Order below the minimum value</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Given</a:t>
            </a:r>
            <a:r>
              <a:rPr lang="en-US" sz="1200" dirty="0">
                <a:solidFill>
                  <a:srgbClr val="E6EAF0"/>
                </a:solidFill>
                <a:latin typeface="JetBrains Mono" pitchFamily="34" charset="0"/>
                <a:ea typeface="JetBrains Mono" pitchFamily="34" charset="-122"/>
                <a:cs typeface="JetBrains Mono" pitchFamily="34" charset="-120"/>
              </a:rPr>
              <a:t> my cart total is 150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When</a:t>
            </a:r>
            <a:r>
              <a:rPr lang="en-US" sz="1200" dirty="0">
                <a:solidFill>
                  <a:srgbClr val="E6EAF0"/>
                </a:solidFill>
                <a:latin typeface="JetBrains Mono" pitchFamily="34" charset="0"/>
                <a:ea typeface="JetBrains Mono" pitchFamily="34" charset="-122"/>
                <a:cs typeface="JetBrains Mono" pitchFamily="34" charset="-120"/>
              </a:rPr>
              <a:t> I apply the coupon </a:t>
            </a:r>
            <a:r>
              <a:rPr lang="en-US" sz="1200" dirty="0">
                <a:solidFill>
                  <a:srgbClr val="9CC7F0"/>
                </a:solidFill>
                <a:latin typeface="JetBrains Mono" pitchFamily="34" charset="0"/>
                <a:ea typeface="JetBrains Mono" pitchFamily="34" charset="-122"/>
                <a:cs typeface="JetBrains Mono" pitchFamily="34" charset="-120"/>
              </a:rPr>
              <a:t>"SAVE20"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Then</a:t>
            </a:r>
            <a:r>
              <a:rPr lang="en-US" sz="1200" dirty="0">
                <a:solidFill>
                  <a:srgbClr val="E6EAF0"/>
                </a:solidFill>
                <a:latin typeface="JetBrains Mono" pitchFamily="34" charset="0"/>
                <a:ea typeface="JetBrains Mono" pitchFamily="34" charset="-122"/>
                <a:cs typeface="JetBrains Mono" pitchFamily="34" charset="-120"/>
              </a:rPr>
              <a:t> I see the message </a:t>
            </a:r>
            <a:r>
              <a:rPr lang="en-US" sz="1200" dirty="0">
                <a:solidFill>
                  <a:srgbClr val="9CC7F0"/>
                </a:solidFill>
                <a:latin typeface="JetBrains Mono" pitchFamily="34" charset="0"/>
                <a:ea typeface="JetBrains Mono" pitchFamily="34" charset="-122"/>
                <a:cs typeface="JetBrains Mono" pitchFamily="34" charset="-120"/>
              </a:rPr>
              <a:t>"minimum order is 200"</a:t>
            </a:r>
            <a:endParaRPr lang="en-US" sz="1200" dirty="0"/>
          </a:p>
        </p:txBody>
      </p:sp>
      <p:sp>
        <p:nvSpPr>
          <p:cNvPr id="17" name="Text 15"/>
          <p:cNvSpPr/>
          <p:nvPr/>
        </p:nvSpPr>
        <p:spPr>
          <a:xfrm>
            <a:off x="6489700" y="4947927"/>
            <a:ext cx="50361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 pytest -q tests/test_coupon_bdd.py → 2 passed</a:t>
            </a:r>
            <a:endParaRPr lang="en-US" sz="1200" dirty="0"/>
          </a:p>
        </p:txBody>
      </p:sp>
      <p:sp>
        <p:nvSpPr>
          <p:cNvPr id="18" name="Text 16"/>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9" name="Text 17"/>
          <p:cNvSpPr/>
          <p:nvPr/>
        </p:nvSpPr>
        <p:spPr>
          <a:xfrm>
            <a:off x="8936514" y="6238242"/>
            <a:ext cx="25159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Gherkin syntax, run with pytest-bdd</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L10 · TEST LEVELS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The four test levels compared</a:t>
            </a:r>
            <a:endParaRPr lang="en-US" sz="3200" dirty="0"/>
          </a:p>
        </p:txBody>
      </p:sp>
      <p:sp>
        <p:nvSpPr>
          <p:cNvPr id="4" name="Shape 2"/>
          <p:cNvSpPr/>
          <p:nvPr/>
        </p:nvSpPr>
        <p:spPr>
          <a:xfrm>
            <a:off x="11376025" y="1828800"/>
            <a:ext cx="0" cy="2326640"/>
          </a:xfrm>
          <a:prstGeom prst="line">
            <a:avLst/>
          </a:prstGeom>
          <a:noFill/>
          <a:ln w="6350">
            <a:solidFill>
              <a:srgbClr val="DDD8CC"/>
            </a:solidFill>
            <a:prstDash val="solid"/>
          </a:ln>
        </p:spPr>
      </p:sp>
      <p:sp>
        <p:nvSpPr>
          <p:cNvPr id="5" name="Shape 3"/>
          <p:cNvSpPr/>
          <p:nvPr/>
        </p:nvSpPr>
        <p:spPr>
          <a:xfrm>
            <a:off x="812800" y="41522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311400"/>
        </p:xfrm>
        <a:graphic>
          <a:graphicData uri="http://schemas.openxmlformats.org/drawingml/2006/table">
            <a:tbl>
              <a:tblPr/>
              <a:tblGrid>
                <a:gridCol w="1688186"/>
                <a:gridCol w="2215744"/>
                <a:gridCol w="2215744"/>
                <a:gridCol w="2215744"/>
                <a:gridCol w="2215744"/>
              </a:tblGrid>
              <a:tr h="330200">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Unit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Integration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System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Acceptance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Scope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One function or class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Links between parts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Whole integrated system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System vs business needs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Test basis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Code, detailed design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Architecture, API specs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SRS, use cases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User needs, processes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Done 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Developers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Developers, testers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Independent testers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Users, product owner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Environment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Local machine, CI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CI, integration env</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Staging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UAT environment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Course tools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pytest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pytest, Postman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Selenium, Postman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pytest-bdd, manual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Canteen example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apply_coupon() maths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Cart + database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Order-to-pay flow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Trial lunch week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Text 4"/>
          <p:cNvSpPr/>
          <p:nvPr/>
        </p:nvSpPr>
        <p:spPr>
          <a:xfrm>
            <a:off x="812800" y="4427227"/>
            <a:ext cx="14046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LEFT TO RIGHT</a:t>
            </a:r>
            <a:endParaRPr lang="en-US" sz="1200" dirty="0"/>
          </a:p>
        </p:txBody>
      </p:sp>
      <p:pic>
        <p:nvPicPr>
          <p:cNvPr id="8" name="Image 0" descr="connector">    </p:cNvPr>
          <p:cNvPicPr>
            <a:picLocks noChangeAspect="1"/>
          </p:cNvPicPr>
          <p:nvPr/>
        </p:nvPicPr>
        <p:blipFill>
          <a:blip r:embed="rId1"/>
          <a:srcRect l="0" r="0" t="0" b="0"/>
          <a:stretch/>
        </p:blipFill>
        <p:spPr>
          <a:xfrm>
            <a:off x="2319020" y="4483100"/>
            <a:ext cx="762000" cy="101600"/>
          </a:xfrm>
          <a:prstGeom prst="rect">
            <a:avLst/>
          </a:prstGeom>
        </p:spPr>
      </p:pic>
      <p:sp>
        <p:nvSpPr>
          <p:cNvPr id="9" name="Text 5"/>
          <p:cNvSpPr/>
          <p:nvPr/>
        </p:nvSpPr>
        <p:spPr>
          <a:xfrm>
            <a:off x="3233420" y="4409442"/>
            <a:ext cx="83901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Bigger scope, later in the pipeline, slower and more realistic tests.</a:t>
            </a:r>
            <a:endParaRPr lang="en-US" sz="1400" dirty="0"/>
          </a:p>
        </p:txBody>
      </p:sp>
      <p:sp>
        <p:nvSpPr>
          <p:cNvPr id="10" name="Text 6"/>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L10 · CHECK YOUR UNDERSTANDING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Knowledge check: Lecture 10</a:t>
            </a:r>
            <a:endParaRPr lang="en-US" sz="3200" dirty="0"/>
          </a:p>
        </p:txBody>
      </p:sp>
      <p:sp>
        <p:nvSpPr>
          <p:cNvPr id="4" name="Shape 2"/>
          <p:cNvSpPr/>
          <p:nvPr/>
        </p:nvSpPr>
        <p:spPr>
          <a:xfrm>
            <a:off x="815975" y="1831975"/>
            <a:ext cx="5175250" cy="1588770"/>
          </a:xfrm>
          <a:prstGeom prst="roundRect">
            <a:avLst>
              <a:gd name="adj" fmla="val 4596"/>
            </a:avLst>
          </a:prstGeom>
          <a:solidFill>
            <a:srgbClr val="FCFBF7"/>
          </a:solidFill>
          <a:ln w="6350">
            <a:solidFill>
              <a:srgbClr val="DDD8CC"/>
            </a:solidFill>
            <a:prstDash val="solid"/>
          </a:ln>
        </p:spPr>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payment module is not ready, but Checkout must be tested today. Do you need a stub or a driver? Why?</a:t>
            </a:r>
            <a:endParaRPr lang="en-US" sz="1400" dirty="0"/>
          </a:p>
        </p:txBody>
      </p:sp>
      <p:sp>
        <p:nvSpPr>
          <p:cNvPr id="7" name="Shape 5"/>
          <p:cNvSpPr/>
          <p:nvPr/>
        </p:nvSpPr>
        <p:spPr>
          <a:xfrm>
            <a:off x="6200775" y="1831975"/>
            <a:ext cx="5175250" cy="1588770"/>
          </a:xfrm>
          <a:prstGeom prst="roundRect">
            <a:avLst>
              <a:gd name="adj" fmla="val 4596"/>
            </a:avLst>
          </a:prstGeom>
          <a:solidFill>
            <a:srgbClr val="FCFBF7"/>
          </a:solidFill>
          <a:ln w="6350">
            <a:solidFill>
              <a:srgbClr val="DDD8CC"/>
            </a:solidFill>
            <a:prstDash val="solid"/>
          </a:ln>
        </p:spPr>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Name the level: (a) apply_coupon() returns 240; (b) the cart service saves to the database; (c) the order-to-pay flow on staging; (d) one hostel uses the app for two weeks.</a:t>
            </a:r>
            <a:endParaRPr lang="en-US" sz="1400" dirty="0"/>
          </a:p>
        </p:txBody>
      </p:sp>
      <p:sp>
        <p:nvSpPr>
          <p:cNvPr id="10" name="Shape 8"/>
          <p:cNvSpPr/>
          <p:nvPr/>
        </p:nvSpPr>
        <p:spPr>
          <a:xfrm>
            <a:off x="815975" y="3630302"/>
            <a:ext cx="5175250" cy="1339850"/>
          </a:xfrm>
          <a:prstGeom prst="roundRect">
            <a:avLst>
              <a:gd name="adj" fmla="val 5450"/>
            </a:avLst>
          </a:prstGeom>
          <a:solidFill>
            <a:srgbClr val="FCFBF7"/>
          </a:solidFill>
          <a:ln w="6350">
            <a:solidFill>
              <a:srgbClr val="DDD8CC"/>
            </a:solidFill>
            <a:prstDash val="solid"/>
          </a:ln>
        </p:spPr>
      </p:sp>
      <p:sp>
        <p:nvSpPr>
          <p:cNvPr id="11" name="Text 9"/>
          <p:cNvSpPr/>
          <p:nvPr/>
        </p:nvSpPr>
        <p:spPr>
          <a:xfrm>
            <a:off x="1046480" y="3860800"/>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4241800"/>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Give one advantage and one drawback of big-bang integration.</a:t>
            </a:r>
            <a:endParaRPr lang="en-US" sz="1400" dirty="0"/>
          </a:p>
        </p:txBody>
      </p:sp>
      <p:sp>
        <p:nvSpPr>
          <p:cNvPr id="13" name="Shape 11"/>
          <p:cNvSpPr/>
          <p:nvPr/>
        </p:nvSpPr>
        <p:spPr>
          <a:xfrm>
            <a:off x="6200775" y="3630302"/>
            <a:ext cx="5175250" cy="1339850"/>
          </a:xfrm>
          <a:prstGeom prst="roundRect">
            <a:avLst>
              <a:gd name="adj" fmla="val 5450"/>
            </a:avLst>
          </a:prstGeom>
          <a:solidFill>
            <a:srgbClr val="FCFBF7"/>
          </a:solidFill>
          <a:ln w="6350">
            <a:solidFill>
              <a:srgbClr val="DDD8CC"/>
            </a:solidFill>
            <a:prstDash val="solid"/>
          </a:ln>
        </p:spPr>
      </p:sp>
      <p:sp>
        <p:nvSpPr>
          <p:cNvPr id="14" name="Text 12"/>
          <p:cNvSpPr/>
          <p:nvPr/>
        </p:nvSpPr>
        <p:spPr>
          <a:xfrm>
            <a:off x="6431280" y="3860800"/>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4241800"/>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“Are we building the right product?” Is that verification or validation, and which test level answers it?</a:t>
            </a:r>
            <a:endParaRPr lang="en-US" sz="1400" dirty="0"/>
          </a:p>
        </p:txBody>
      </p:sp>
      <p:sp>
        <p:nvSpPr>
          <p:cNvPr id="16" name="Text 14"/>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7" name="Text 15"/>
          <p:cNvSpPr/>
          <p:nvPr/>
        </p:nvSpPr>
        <p:spPr>
          <a:xfrm>
            <a:off x="9372044" y="6238242"/>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11</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2 · LECTURE 11 · 40 MINUTES</a:t>
            </a:r>
            <a:endParaRPr lang="en-US" sz="1200" dirty="0"/>
          </a:p>
        </p:txBody>
      </p:sp>
      <p:sp>
        <p:nvSpPr>
          <p:cNvPr id="4" name="Text 2"/>
          <p:cNvSpPr/>
          <p:nvPr/>
        </p:nvSpPr>
        <p:spPr>
          <a:xfrm>
            <a:off x="812800" y="3464558"/>
            <a:ext cx="1046480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Smoke, sanity</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and regression testing</a:t>
            </a:r>
            <a:endParaRPr lang="en-US" sz="5600" dirty="0"/>
          </a:p>
        </p:txBody>
      </p:sp>
      <p:sp>
        <p:nvSpPr>
          <p:cNvPr id="5" name="Shape 3"/>
          <p:cNvSpPr/>
          <p:nvPr/>
        </p:nvSpPr>
        <p:spPr>
          <a:xfrm>
            <a:off x="812800" y="5320035"/>
            <a:ext cx="2794000" cy="0"/>
          </a:xfrm>
          <a:prstGeom prst="line">
            <a:avLst/>
          </a:prstGeom>
          <a:noFill/>
          <a:ln w="12700">
            <a:solidFill>
              <a:srgbClr val="3A5476"/>
            </a:solidFill>
            <a:prstDash val="solid"/>
          </a:ln>
        </p:spPr>
      </p:sp>
      <p:sp>
        <p:nvSpPr>
          <p:cNvPr id="6" name="Text 4"/>
          <p:cNvSpPr/>
          <p:nvPr/>
        </p:nvSpPr>
        <p:spPr>
          <a:xfrm>
            <a:off x="812800" y="545084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7" name="Text 5"/>
          <p:cNvSpPr/>
          <p:nvPr/>
        </p:nvSpPr>
        <p:spPr>
          <a:xfrm>
            <a:off x="8128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Smoke–sanity testing</a:t>
            </a:r>
            <a:endParaRPr lang="en-US" sz="2000" dirty="0"/>
          </a:p>
        </p:txBody>
      </p:sp>
      <p:sp>
        <p:nvSpPr>
          <p:cNvPr id="8" name="Shape 6"/>
          <p:cNvSpPr/>
          <p:nvPr/>
        </p:nvSpPr>
        <p:spPr>
          <a:xfrm>
            <a:off x="3911600" y="5320035"/>
            <a:ext cx="2794000" cy="0"/>
          </a:xfrm>
          <a:prstGeom prst="line">
            <a:avLst/>
          </a:prstGeom>
          <a:noFill/>
          <a:ln w="12700">
            <a:solidFill>
              <a:srgbClr val="3A5476"/>
            </a:solidFill>
            <a:prstDash val="solid"/>
          </a:ln>
        </p:spPr>
      </p:sp>
      <p:sp>
        <p:nvSpPr>
          <p:cNvPr id="9" name="Text 7"/>
          <p:cNvSpPr/>
          <p:nvPr/>
        </p:nvSpPr>
        <p:spPr>
          <a:xfrm>
            <a:off x="3911600" y="545084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10" name="Text 8"/>
          <p:cNvSpPr/>
          <p:nvPr/>
        </p:nvSpPr>
        <p:spPr>
          <a:xfrm>
            <a:off x="39116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Regression testing</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L11 · SMOKE–SANITY TESTING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Smoke testing</a:t>
            </a:r>
            <a:endParaRPr lang="en-US" sz="3200" dirty="0"/>
          </a:p>
        </p:txBody>
      </p:sp>
      <p:sp>
        <p:nvSpPr>
          <p:cNvPr id="4" name="Text 2"/>
          <p:cNvSpPr/>
          <p:nvPr/>
        </p:nvSpPr>
        <p:spPr>
          <a:xfrm>
            <a:off x="812800" y="1828800"/>
            <a:ext cx="638352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ISTQB · SMOKE TEST</a:t>
            </a:r>
            <a:endParaRPr lang="en-US" sz="1200" dirty="0"/>
          </a:p>
        </p:txBody>
      </p:sp>
      <p:sp>
        <p:nvSpPr>
          <p:cNvPr id="5" name="Text 3"/>
          <p:cNvSpPr/>
          <p:nvPr/>
        </p:nvSpPr>
        <p:spPr>
          <a:xfrm>
            <a:off x="812800" y="2143758"/>
            <a:ext cx="6383528" cy="977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13233A"/>
                </a:solidFill>
                <a:latin typeface="Space Grotesk" pitchFamily="34" charset="0"/>
                <a:ea typeface="Space Grotesk" pitchFamily="34" charset="-122"/>
                <a:cs typeface="Space Grotesk" pitchFamily="34" charset="-120"/>
              </a:rPr>
              <a:t>“A test suite that covers the main functionality of a component or system to determine whether it works properly before planned testing begins.”</a:t>
            </a:r>
            <a:endParaRPr lang="en-US" sz="2000" dirty="0"/>
          </a:p>
        </p:txBody>
      </p:sp>
      <p:sp>
        <p:nvSpPr>
          <p:cNvPr id="6" name="Shape 4"/>
          <p:cNvSpPr/>
          <p:nvPr/>
        </p:nvSpPr>
        <p:spPr>
          <a:xfrm>
            <a:off x="815975" y="3251833"/>
            <a:ext cx="1991757" cy="745490"/>
          </a:xfrm>
          <a:prstGeom prst="roundRect">
            <a:avLst>
              <a:gd name="adj" fmla="val 9796"/>
            </a:avLst>
          </a:prstGeom>
          <a:solidFill>
            <a:srgbClr val="FCFBF7"/>
          </a:solidFill>
          <a:ln w="6350">
            <a:solidFill>
              <a:srgbClr val="DDD8CC"/>
            </a:solidFill>
            <a:prstDash val="solid"/>
          </a:ln>
        </p:spPr>
      </p:sp>
      <p:sp>
        <p:nvSpPr>
          <p:cNvPr id="7" name="Text 5"/>
          <p:cNvSpPr/>
          <p:nvPr/>
        </p:nvSpPr>
        <p:spPr>
          <a:xfrm>
            <a:off x="970280" y="3380742"/>
            <a:ext cx="17339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SCOPE</a:t>
            </a:r>
            <a:endParaRPr lang="en-US" sz="1200" dirty="0"/>
          </a:p>
        </p:txBody>
      </p:sp>
      <p:sp>
        <p:nvSpPr>
          <p:cNvPr id="8" name="Text 6"/>
          <p:cNvSpPr/>
          <p:nvPr/>
        </p:nvSpPr>
        <p:spPr>
          <a:xfrm>
            <a:off x="970280" y="3619500"/>
            <a:ext cx="173394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Broad</a:t>
            </a:r>
            <a:endParaRPr lang="en-US" sz="1400" dirty="0"/>
          </a:p>
        </p:txBody>
      </p:sp>
      <p:sp>
        <p:nvSpPr>
          <p:cNvPr id="9" name="Shape 7"/>
          <p:cNvSpPr/>
          <p:nvPr/>
        </p:nvSpPr>
        <p:spPr>
          <a:xfrm>
            <a:off x="2915682" y="3251833"/>
            <a:ext cx="1991836" cy="745490"/>
          </a:xfrm>
          <a:prstGeom prst="roundRect">
            <a:avLst>
              <a:gd name="adj" fmla="val 9796"/>
            </a:avLst>
          </a:prstGeom>
          <a:solidFill>
            <a:srgbClr val="FCFBF7"/>
          </a:solidFill>
          <a:ln w="6350">
            <a:solidFill>
              <a:srgbClr val="DDD8CC"/>
            </a:solidFill>
            <a:prstDash val="solid"/>
          </a:ln>
        </p:spPr>
      </p:sp>
      <p:sp>
        <p:nvSpPr>
          <p:cNvPr id="10" name="Text 8"/>
          <p:cNvSpPr/>
          <p:nvPr/>
        </p:nvSpPr>
        <p:spPr>
          <a:xfrm>
            <a:off x="3069987" y="3380742"/>
            <a:ext cx="173402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DEPTH</a:t>
            </a:r>
            <a:endParaRPr lang="en-US" sz="1200" dirty="0"/>
          </a:p>
        </p:txBody>
      </p:sp>
      <p:sp>
        <p:nvSpPr>
          <p:cNvPr id="11" name="Text 9"/>
          <p:cNvSpPr/>
          <p:nvPr/>
        </p:nvSpPr>
        <p:spPr>
          <a:xfrm>
            <a:off x="3069987" y="3619500"/>
            <a:ext cx="173402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Shallow</a:t>
            </a:r>
            <a:endParaRPr lang="en-US" sz="1400" dirty="0"/>
          </a:p>
        </p:txBody>
      </p:sp>
      <p:sp>
        <p:nvSpPr>
          <p:cNvPr id="12" name="Shape 10"/>
          <p:cNvSpPr/>
          <p:nvPr/>
        </p:nvSpPr>
        <p:spPr>
          <a:xfrm>
            <a:off x="5015468" y="3251833"/>
            <a:ext cx="1991757" cy="745490"/>
          </a:xfrm>
          <a:prstGeom prst="roundRect">
            <a:avLst>
              <a:gd name="adj" fmla="val 9796"/>
            </a:avLst>
          </a:prstGeom>
          <a:solidFill>
            <a:srgbClr val="FCFBF7"/>
          </a:solidFill>
          <a:ln w="6350">
            <a:solidFill>
              <a:srgbClr val="DDD8CC"/>
            </a:solidFill>
            <a:prstDash val="solid"/>
          </a:ln>
        </p:spPr>
      </p:sp>
      <p:sp>
        <p:nvSpPr>
          <p:cNvPr id="13" name="Text 11"/>
          <p:cNvSpPr/>
          <p:nvPr/>
        </p:nvSpPr>
        <p:spPr>
          <a:xfrm>
            <a:off x="5169773" y="3380742"/>
            <a:ext cx="17339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RUNS</a:t>
            </a:r>
            <a:endParaRPr lang="en-US" sz="1200" dirty="0"/>
          </a:p>
        </p:txBody>
      </p:sp>
      <p:sp>
        <p:nvSpPr>
          <p:cNvPr id="14" name="Text 12"/>
          <p:cNvSpPr/>
          <p:nvPr/>
        </p:nvSpPr>
        <p:spPr>
          <a:xfrm>
            <a:off x="5169773" y="3619500"/>
            <a:ext cx="173394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Every build</a:t>
            </a:r>
            <a:endParaRPr lang="en-US" sz="1400" dirty="0"/>
          </a:p>
        </p:txBody>
      </p:sp>
      <p:sp>
        <p:nvSpPr>
          <p:cNvPr id="15" name="Text 13"/>
          <p:cNvSpPr/>
          <p:nvPr/>
        </p:nvSpPr>
        <p:spPr>
          <a:xfrm>
            <a:off x="812800" y="4102100"/>
            <a:ext cx="638352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Also called a build verification test. The name comes from hardware: switch it on and check that nothing smokes.</a:t>
            </a:r>
            <a:endParaRPr lang="en-US" sz="1200" dirty="0"/>
          </a:p>
        </p:txBody>
      </p:sp>
      <p:sp>
        <p:nvSpPr>
          <p:cNvPr id="16" name="Shape 14"/>
          <p:cNvSpPr/>
          <p:nvPr/>
        </p:nvSpPr>
        <p:spPr>
          <a:xfrm>
            <a:off x="7315200" y="1828800"/>
            <a:ext cx="4064000" cy="2969260"/>
          </a:xfrm>
          <a:prstGeom prst="roundRect">
            <a:avLst>
              <a:gd name="adj" fmla="val 2566"/>
            </a:avLst>
          </a:prstGeom>
          <a:solidFill>
            <a:srgbClr val="13233A"/>
          </a:solidFill>
          <a:ln/>
        </p:spPr>
      </p:sp>
      <p:sp>
        <p:nvSpPr>
          <p:cNvPr id="17" name="Text 15"/>
          <p:cNvSpPr/>
          <p:nvPr/>
        </p:nvSpPr>
        <p:spPr>
          <a:xfrm>
            <a:off x="7543800" y="2057400"/>
            <a:ext cx="371500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CANTEEN APP SMOKE SUITE</a:t>
            </a:r>
            <a:endParaRPr lang="en-US" sz="1200" dirty="0"/>
          </a:p>
        </p:txBody>
      </p:sp>
      <p:sp>
        <p:nvSpPr>
          <p:cNvPr id="18" name="Text 16"/>
          <p:cNvSpPr/>
          <p:nvPr/>
        </p:nvSpPr>
        <p:spPr>
          <a:xfrm>
            <a:off x="7543800" y="2359658"/>
            <a:ext cx="37150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A36B"/>
                </a:solidFill>
                <a:latin typeface="IBM Plex Sans" pitchFamily="34" charset="0"/>
                <a:ea typeface="IBM Plex Sans" pitchFamily="34" charset="-122"/>
                <a:cs typeface="IBM Plex Sans" pitchFamily="34" charset="-120"/>
              </a:rPr>
              <a:t>1</a:t>
            </a:r>
            <a:r>
              <a:rPr lang="en-US" sz="1400" dirty="0">
                <a:solidFill>
                  <a:srgbClr val="F3F1EA"/>
                </a:solidFill>
                <a:latin typeface="IBM Plex Sans" pitchFamily="34" charset="0"/>
                <a:ea typeface="IBM Plex Sans" pitchFamily="34" charset="-122"/>
                <a:cs typeface="IBM Plex Sans" pitchFamily="34" charset="-120"/>
              </a:rPr>
              <a:t> · App opens on staging</a:t>
            </a:r>
            <a:endParaRPr lang="en-US" sz="1400" dirty="0"/>
          </a:p>
        </p:txBody>
      </p:sp>
      <p:sp>
        <p:nvSpPr>
          <p:cNvPr id="19" name="Text 17"/>
          <p:cNvSpPr/>
          <p:nvPr/>
        </p:nvSpPr>
        <p:spPr>
          <a:xfrm>
            <a:off x="7543800" y="2697485"/>
            <a:ext cx="37150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A36B"/>
                </a:solidFill>
                <a:latin typeface="IBM Plex Sans" pitchFamily="34" charset="0"/>
                <a:ea typeface="IBM Plex Sans" pitchFamily="34" charset="-122"/>
                <a:cs typeface="IBM Plex Sans" pitchFamily="34" charset="-120"/>
              </a:rPr>
              <a:t>2</a:t>
            </a:r>
            <a:r>
              <a:rPr lang="en-US" sz="1400" dirty="0">
                <a:solidFill>
                  <a:srgbClr val="F3F1EA"/>
                </a:solidFill>
                <a:latin typeface="IBM Plex Sans" pitchFamily="34" charset="0"/>
                <a:ea typeface="IBM Plex Sans" pitchFamily="34" charset="-122"/>
                <a:cs typeface="IBM Plex Sans" pitchFamily="34" charset="-120"/>
              </a:rPr>
              <a:t> · A test student can log in</a:t>
            </a:r>
            <a:endParaRPr lang="en-US" sz="1400" dirty="0"/>
          </a:p>
        </p:txBody>
      </p:sp>
      <p:sp>
        <p:nvSpPr>
          <p:cNvPr id="20" name="Text 18"/>
          <p:cNvSpPr/>
          <p:nvPr/>
        </p:nvSpPr>
        <p:spPr>
          <a:xfrm>
            <a:off x="7543800" y="3035300"/>
            <a:ext cx="37150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A36B"/>
                </a:solidFill>
                <a:latin typeface="IBM Plex Sans" pitchFamily="34" charset="0"/>
                <a:ea typeface="IBM Plex Sans" pitchFamily="34" charset="-122"/>
                <a:cs typeface="IBM Plex Sans" pitchFamily="34" charset="-120"/>
              </a:rPr>
              <a:t>3</a:t>
            </a:r>
            <a:r>
              <a:rPr lang="en-US" sz="1400" dirty="0">
                <a:solidFill>
                  <a:srgbClr val="F3F1EA"/>
                </a:solidFill>
                <a:latin typeface="IBM Plex Sans" pitchFamily="34" charset="0"/>
                <a:ea typeface="IBM Plex Sans" pitchFamily="34" charset="-122"/>
                <a:cs typeface="IBM Plex Sans" pitchFamily="34" charset="-120"/>
              </a:rPr>
              <a:t> · The menu lists items</a:t>
            </a:r>
            <a:endParaRPr lang="en-US" sz="1400" dirty="0"/>
          </a:p>
        </p:txBody>
      </p:sp>
      <p:sp>
        <p:nvSpPr>
          <p:cNvPr id="21" name="Text 19"/>
          <p:cNvSpPr/>
          <p:nvPr/>
        </p:nvSpPr>
        <p:spPr>
          <a:xfrm>
            <a:off x="7543800" y="3373127"/>
            <a:ext cx="37150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A36B"/>
                </a:solidFill>
                <a:latin typeface="IBM Plex Sans" pitchFamily="34" charset="0"/>
                <a:ea typeface="IBM Plex Sans" pitchFamily="34" charset="-122"/>
                <a:cs typeface="IBM Plex Sans" pitchFamily="34" charset="-120"/>
              </a:rPr>
              <a:t>4</a:t>
            </a:r>
            <a:r>
              <a:rPr lang="en-US" sz="1400" dirty="0">
                <a:solidFill>
                  <a:srgbClr val="F3F1EA"/>
                </a:solidFill>
                <a:latin typeface="IBM Plex Sans" pitchFamily="34" charset="0"/>
                <a:ea typeface="IBM Plex Sans" pitchFamily="34" charset="-122"/>
                <a:cs typeface="IBM Plex Sans" pitchFamily="34" charset="-120"/>
              </a:rPr>
              <a:t> · An item can be added to the cart</a:t>
            </a:r>
            <a:endParaRPr lang="en-US" sz="1400" dirty="0"/>
          </a:p>
        </p:txBody>
      </p:sp>
      <p:sp>
        <p:nvSpPr>
          <p:cNvPr id="22" name="Text 20"/>
          <p:cNvSpPr/>
          <p:nvPr/>
        </p:nvSpPr>
        <p:spPr>
          <a:xfrm>
            <a:off x="7543800" y="3710942"/>
            <a:ext cx="37150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A36B"/>
                </a:solidFill>
                <a:latin typeface="IBM Plex Sans" pitchFamily="34" charset="0"/>
                <a:ea typeface="IBM Plex Sans" pitchFamily="34" charset="-122"/>
                <a:cs typeface="IBM Plex Sans" pitchFamily="34" charset="-120"/>
              </a:rPr>
              <a:t>5</a:t>
            </a:r>
            <a:r>
              <a:rPr lang="en-US" sz="1400" dirty="0">
                <a:solidFill>
                  <a:srgbClr val="F3F1EA"/>
                </a:solidFill>
                <a:latin typeface="IBM Plex Sans" pitchFamily="34" charset="0"/>
                <a:ea typeface="IBM Plex Sans" pitchFamily="34" charset="-122"/>
                <a:cs typeface="IBM Plex Sans" pitchFamily="34" charset="-120"/>
              </a:rPr>
              <a:t> · The checkout page opens</a:t>
            </a:r>
            <a:endParaRPr lang="en-US" sz="1400" dirty="0"/>
          </a:p>
        </p:txBody>
      </p:sp>
      <p:sp>
        <p:nvSpPr>
          <p:cNvPr id="23" name="Shape 21"/>
          <p:cNvSpPr/>
          <p:nvPr/>
        </p:nvSpPr>
        <p:spPr>
          <a:xfrm>
            <a:off x="7543800" y="4051933"/>
            <a:ext cx="3606800" cy="0"/>
          </a:xfrm>
          <a:prstGeom prst="line">
            <a:avLst/>
          </a:prstGeom>
          <a:noFill/>
          <a:ln w="6350">
            <a:solidFill>
              <a:srgbClr val="3A5476"/>
            </a:solidFill>
            <a:prstDash val="solid"/>
          </a:ln>
        </p:spPr>
      </p:sp>
      <p:sp>
        <p:nvSpPr>
          <p:cNvPr id="24" name="Text 22"/>
          <p:cNvSpPr/>
          <p:nvPr/>
        </p:nvSpPr>
        <p:spPr>
          <a:xfrm>
            <a:off x="7543800" y="4142738"/>
            <a:ext cx="371500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Any failure: reject the build. No further testing until it is fixed.</a:t>
            </a:r>
            <a:endParaRPr lang="en-US" sz="1200" dirty="0"/>
          </a:p>
        </p:txBody>
      </p:sp>
      <p:sp>
        <p:nvSpPr>
          <p:cNvPr id="25" name="Text 23"/>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6" name="Text 24"/>
          <p:cNvSpPr/>
          <p:nvPr/>
        </p:nvSpPr>
        <p:spPr>
          <a:xfrm>
            <a:off x="9568021" y="6238242"/>
            <a:ext cx="18655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Definition: ISTQB Glossary</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L11 · SMOKE–SANITY TESTING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Sanity testing</a:t>
            </a:r>
            <a:endParaRPr lang="en-US" sz="3200" dirty="0"/>
          </a:p>
        </p:txBody>
      </p:sp>
      <p:sp>
        <p:nvSpPr>
          <p:cNvPr id="4" name="Text 2"/>
          <p:cNvSpPr/>
          <p:nvPr/>
        </p:nvSpPr>
        <p:spPr>
          <a:xfrm>
            <a:off x="812800" y="1828800"/>
            <a:ext cx="638352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IN COMMON INDUSTRY USE</a:t>
            </a:r>
            <a:endParaRPr lang="en-US" sz="1200" dirty="0"/>
          </a:p>
        </p:txBody>
      </p:sp>
      <p:sp>
        <p:nvSpPr>
          <p:cNvPr id="5" name="Text 3"/>
          <p:cNvSpPr/>
          <p:nvPr/>
        </p:nvSpPr>
        <p:spPr>
          <a:xfrm>
            <a:off x="812800" y="2143758"/>
            <a:ext cx="6383528" cy="977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13233A"/>
                </a:solidFill>
                <a:latin typeface="Space Grotesk" pitchFamily="34" charset="0"/>
                <a:ea typeface="Space Grotesk" pitchFamily="34" charset="-122"/>
                <a:cs typeface="Space Grotesk" pitchFamily="34" charset="-120"/>
              </a:rPr>
              <a:t>A quick, focused check of one area after a small change or bug fix, to decide whether deeper testing is worth running.</a:t>
            </a:r>
            <a:endParaRPr lang="en-US" sz="2000" dirty="0"/>
          </a:p>
        </p:txBody>
      </p:sp>
      <p:sp>
        <p:nvSpPr>
          <p:cNvPr id="6" name="Shape 4"/>
          <p:cNvSpPr/>
          <p:nvPr/>
        </p:nvSpPr>
        <p:spPr>
          <a:xfrm>
            <a:off x="815975" y="3251833"/>
            <a:ext cx="1991757" cy="745490"/>
          </a:xfrm>
          <a:prstGeom prst="roundRect">
            <a:avLst>
              <a:gd name="adj" fmla="val 9796"/>
            </a:avLst>
          </a:prstGeom>
          <a:solidFill>
            <a:srgbClr val="FCFBF7"/>
          </a:solidFill>
          <a:ln w="6350">
            <a:solidFill>
              <a:srgbClr val="DDD8CC"/>
            </a:solidFill>
            <a:prstDash val="solid"/>
          </a:ln>
        </p:spPr>
      </p:sp>
      <p:sp>
        <p:nvSpPr>
          <p:cNvPr id="7" name="Text 5"/>
          <p:cNvSpPr/>
          <p:nvPr/>
        </p:nvSpPr>
        <p:spPr>
          <a:xfrm>
            <a:off x="970280" y="3380742"/>
            <a:ext cx="17339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SCOPE</a:t>
            </a:r>
            <a:endParaRPr lang="en-US" sz="1200" dirty="0"/>
          </a:p>
        </p:txBody>
      </p:sp>
      <p:sp>
        <p:nvSpPr>
          <p:cNvPr id="8" name="Text 6"/>
          <p:cNvSpPr/>
          <p:nvPr/>
        </p:nvSpPr>
        <p:spPr>
          <a:xfrm>
            <a:off x="970280" y="3619500"/>
            <a:ext cx="173394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Narrow</a:t>
            </a:r>
            <a:endParaRPr lang="en-US" sz="1400" dirty="0"/>
          </a:p>
        </p:txBody>
      </p:sp>
      <p:sp>
        <p:nvSpPr>
          <p:cNvPr id="9" name="Shape 7"/>
          <p:cNvSpPr/>
          <p:nvPr/>
        </p:nvSpPr>
        <p:spPr>
          <a:xfrm>
            <a:off x="2915682" y="3251833"/>
            <a:ext cx="1991836" cy="745490"/>
          </a:xfrm>
          <a:prstGeom prst="roundRect">
            <a:avLst>
              <a:gd name="adj" fmla="val 9796"/>
            </a:avLst>
          </a:prstGeom>
          <a:solidFill>
            <a:srgbClr val="FCFBF7"/>
          </a:solidFill>
          <a:ln w="6350">
            <a:solidFill>
              <a:srgbClr val="DDD8CC"/>
            </a:solidFill>
            <a:prstDash val="solid"/>
          </a:ln>
        </p:spPr>
      </p:sp>
      <p:sp>
        <p:nvSpPr>
          <p:cNvPr id="10" name="Text 8"/>
          <p:cNvSpPr/>
          <p:nvPr/>
        </p:nvSpPr>
        <p:spPr>
          <a:xfrm>
            <a:off x="3069987" y="3380742"/>
            <a:ext cx="173402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DEPTH</a:t>
            </a:r>
            <a:endParaRPr lang="en-US" sz="1200" dirty="0"/>
          </a:p>
        </p:txBody>
      </p:sp>
      <p:sp>
        <p:nvSpPr>
          <p:cNvPr id="11" name="Text 9"/>
          <p:cNvSpPr/>
          <p:nvPr/>
        </p:nvSpPr>
        <p:spPr>
          <a:xfrm>
            <a:off x="3069987" y="3619500"/>
            <a:ext cx="173402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Deep</a:t>
            </a:r>
            <a:endParaRPr lang="en-US" sz="1400" dirty="0"/>
          </a:p>
        </p:txBody>
      </p:sp>
      <p:sp>
        <p:nvSpPr>
          <p:cNvPr id="12" name="Shape 10"/>
          <p:cNvSpPr/>
          <p:nvPr/>
        </p:nvSpPr>
        <p:spPr>
          <a:xfrm>
            <a:off x="5015468" y="3251833"/>
            <a:ext cx="1991757" cy="745490"/>
          </a:xfrm>
          <a:prstGeom prst="roundRect">
            <a:avLst>
              <a:gd name="adj" fmla="val 9796"/>
            </a:avLst>
          </a:prstGeom>
          <a:solidFill>
            <a:srgbClr val="FCFBF7"/>
          </a:solidFill>
          <a:ln w="6350">
            <a:solidFill>
              <a:srgbClr val="DDD8CC"/>
            </a:solidFill>
            <a:prstDash val="solid"/>
          </a:ln>
        </p:spPr>
      </p:sp>
      <p:sp>
        <p:nvSpPr>
          <p:cNvPr id="13" name="Text 11"/>
          <p:cNvSpPr/>
          <p:nvPr/>
        </p:nvSpPr>
        <p:spPr>
          <a:xfrm>
            <a:off x="5169773" y="3380742"/>
            <a:ext cx="17339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RUNS</a:t>
            </a:r>
            <a:endParaRPr lang="en-US" sz="1200" dirty="0"/>
          </a:p>
        </p:txBody>
      </p:sp>
      <p:sp>
        <p:nvSpPr>
          <p:cNvPr id="14" name="Text 12"/>
          <p:cNvSpPr/>
          <p:nvPr/>
        </p:nvSpPr>
        <p:spPr>
          <a:xfrm>
            <a:off x="5169773" y="3619500"/>
            <a:ext cx="173394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After a fix</a:t>
            </a:r>
            <a:endParaRPr lang="en-US" sz="1400" dirty="0"/>
          </a:p>
        </p:txBody>
      </p:sp>
      <p:sp>
        <p:nvSpPr>
          <p:cNvPr id="15" name="Text 13"/>
          <p:cNvSpPr/>
          <p:nvPr/>
        </p:nvSpPr>
        <p:spPr>
          <a:xfrm>
            <a:off x="812800" y="4102100"/>
            <a:ext cx="63835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Often unscripted and done by hand: a thin, deep slice of regression testing.</a:t>
            </a:r>
            <a:endParaRPr lang="en-US" sz="1200" dirty="0"/>
          </a:p>
        </p:txBody>
      </p:sp>
      <p:sp>
        <p:nvSpPr>
          <p:cNvPr id="16" name="Shape 14"/>
          <p:cNvSpPr/>
          <p:nvPr/>
        </p:nvSpPr>
        <p:spPr>
          <a:xfrm>
            <a:off x="7315200" y="1828800"/>
            <a:ext cx="4064000" cy="3147060"/>
          </a:xfrm>
          <a:prstGeom prst="roundRect">
            <a:avLst>
              <a:gd name="adj" fmla="val 2421"/>
            </a:avLst>
          </a:prstGeom>
          <a:solidFill>
            <a:srgbClr val="13233A"/>
          </a:solidFill>
          <a:ln/>
        </p:spPr>
      </p:sp>
      <p:sp>
        <p:nvSpPr>
          <p:cNvPr id="17" name="Text 15"/>
          <p:cNvSpPr/>
          <p:nvPr/>
        </p:nvSpPr>
        <p:spPr>
          <a:xfrm>
            <a:off x="7543800" y="2057400"/>
            <a:ext cx="371500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AFTER FIXING DEF-12</a:t>
            </a:r>
            <a:endParaRPr lang="en-US" sz="1200" dirty="0"/>
          </a:p>
        </p:txBody>
      </p:sp>
      <p:sp>
        <p:nvSpPr>
          <p:cNvPr id="18" name="Text 16"/>
          <p:cNvSpPr/>
          <p:nvPr/>
        </p:nvSpPr>
        <p:spPr>
          <a:xfrm>
            <a:off x="7543800" y="2359658"/>
            <a:ext cx="371500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Bug: SAVE20 took ₹160 off an ₹800 order; the ₹100 cap was missing.</a:t>
            </a:r>
            <a:endParaRPr lang="en-US" sz="1200" dirty="0"/>
          </a:p>
        </p:txBody>
      </p:sp>
      <p:sp>
        <p:nvSpPr>
          <p:cNvPr id="19" name="Text 17"/>
          <p:cNvSpPr/>
          <p:nvPr/>
        </p:nvSpPr>
        <p:spPr>
          <a:xfrm>
            <a:off x="7543800" y="2875285"/>
            <a:ext cx="37150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A36B"/>
                </a:solidFill>
                <a:latin typeface="IBM Plex Sans" pitchFamily="34" charset="0"/>
                <a:ea typeface="IBM Plex Sans" pitchFamily="34" charset="-122"/>
                <a:cs typeface="IBM Plex Sans" pitchFamily="34" charset="-120"/>
              </a:rPr>
              <a:t>1</a:t>
            </a:r>
            <a:r>
              <a:rPr lang="en-US" sz="1400" dirty="0">
                <a:solidFill>
                  <a:srgbClr val="F3F1EA"/>
                </a:solidFill>
                <a:latin typeface="IBM Plex Sans" pitchFamily="34" charset="0"/>
                <a:ea typeface="IBM Plex Sans" pitchFamily="34" charset="-122"/>
                <a:cs typeface="IBM Plex Sans" pitchFamily="34" charset="-120"/>
              </a:rPr>
              <a:t> · ₹800 order: ₹100 off, pay ₹700</a:t>
            </a:r>
            <a:endParaRPr lang="en-US" sz="1400" dirty="0"/>
          </a:p>
        </p:txBody>
      </p:sp>
      <p:sp>
        <p:nvSpPr>
          <p:cNvPr id="20" name="Text 18"/>
          <p:cNvSpPr/>
          <p:nvPr/>
        </p:nvSpPr>
        <p:spPr>
          <a:xfrm>
            <a:off x="7543800" y="3213100"/>
            <a:ext cx="37150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A36B"/>
                </a:solidFill>
                <a:latin typeface="IBM Plex Sans" pitchFamily="34" charset="0"/>
                <a:ea typeface="IBM Plex Sans" pitchFamily="34" charset="-122"/>
                <a:cs typeface="IBM Plex Sans" pitchFamily="34" charset="-120"/>
              </a:rPr>
              <a:t>2</a:t>
            </a:r>
            <a:r>
              <a:rPr lang="en-US" sz="1400" dirty="0">
                <a:solidFill>
                  <a:srgbClr val="F3F1EA"/>
                </a:solidFill>
                <a:latin typeface="IBM Plex Sans" pitchFamily="34" charset="0"/>
                <a:ea typeface="IBM Plex Sans" pitchFamily="34" charset="-122"/>
                <a:cs typeface="IBM Plex Sans" pitchFamily="34" charset="-120"/>
              </a:rPr>
              <a:t> · ₹300 order: ₹60 off, pay ₹240</a:t>
            </a:r>
            <a:endParaRPr lang="en-US" sz="1400" dirty="0"/>
          </a:p>
        </p:txBody>
      </p:sp>
      <p:sp>
        <p:nvSpPr>
          <p:cNvPr id="21" name="Text 19"/>
          <p:cNvSpPr/>
          <p:nvPr/>
        </p:nvSpPr>
        <p:spPr>
          <a:xfrm>
            <a:off x="7543800" y="3550927"/>
            <a:ext cx="37150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A36B"/>
                </a:solidFill>
                <a:latin typeface="IBM Plex Sans" pitchFamily="34" charset="0"/>
                <a:ea typeface="IBM Plex Sans" pitchFamily="34" charset="-122"/>
                <a:cs typeface="IBM Plex Sans" pitchFamily="34" charset="-120"/>
              </a:rPr>
              <a:t>3</a:t>
            </a:r>
            <a:r>
              <a:rPr lang="en-US" sz="1400" dirty="0">
                <a:solidFill>
                  <a:srgbClr val="F3F1EA"/>
                </a:solidFill>
                <a:latin typeface="IBM Plex Sans" pitchFamily="34" charset="0"/>
                <a:ea typeface="IBM Plex Sans" pitchFamily="34" charset="-122"/>
                <a:cs typeface="IBM Plex Sans" pitchFamily="34" charset="-120"/>
              </a:rPr>
              <a:t> · ₹150 order: coupon rejected</a:t>
            </a:r>
            <a:endParaRPr lang="en-US" sz="1400" dirty="0"/>
          </a:p>
        </p:txBody>
      </p:sp>
      <p:sp>
        <p:nvSpPr>
          <p:cNvPr id="22" name="Text 20"/>
          <p:cNvSpPr/>
          <p:nvPr/>
        </p:nvSpPr>
        <p:spPr>
          <a:xfrm>
            <a:off x="7543800" y="3888742"/>
            <a:ext cx="37150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A36B"/>
                </a:solidFill>
                <a:latin typeface="IBM Plex Sans" pitchFamily="34" charset="0"/>
                <a:ea typeface="IBM Plex Sans" pitchFamily="34" charset="-122"/>
                <a:cs typeface="IBM Plex Sans" pitchFamily="34" charset="-120"/>
              </a:rPr>
              <a:t>4</a:t>
            </a:r>
            <a:r>
              <a:rPr lang="en-US" sz="1400" dirty="0">
                <a:solidFill>
                  <a:srgbClr val="F3F1EA"/>
                </a:solidFill>
                <a:latin typeface="IBM Plex Sans" pitchFamily="34" charset="0"/>
                <a:ea typeface="IBM Plex Sans" pitchFamily="34" charset="-122"/>
                <a:cs typeface="IBM Plex Sans" pitchFamily="34" charset="-120"/>
              </a:rPr>
              <a:t> · Amount reaches the wallet screen</a:t>
            </a:r>
            <a:endParaRPr lang="en-US" sz="1400" dirty="0"/>
          </a:p>
        </p:txBody>
      </p:sp>
      <p:sp>
        <p:nvSpPr>
          <p:cNvPr id="23" name="Shape 21"/>
          <p:cNvSpPr/>
          <p:nvPr/>
        </p:nvSpPr>
        <p:spPr>
          <a:xfrm>
            <a:off x="7543800" y="4229733"/>
            <a:ext cx="3606800" cy="0"/>
          </a:xfrm>
          <a:prstGeom prst="line">
            <a:avLst/>
          </a:prstGeom>
          <a:noFill/>
          <a:ln w="6350">
            <a:solidFill>
              <a:srgbClr val="3A5476"/>
            </a:solidFill>
            <a:prstDash val="solid"/>
          </a:ln>
        </p:spPr>
      </p:sp>
      <p:sp>
        <p:nvSpPr>
          <p:cNvPr id="24" name="Text 22"/>
          <p:cNvSpPr/>
          <p:nvPr/>
        </p:nvSpPr>
        <p:spPr>
          <a:xfrm>
            <a:off x="7543800" y="4320538"/>
            <a:ext cx="371500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Pass: move on to regression testing. Fail: back to development.</a:t>
            </a:r>
            <a:endParaRPr lang="en-US" sz="1200" dirty="0"/>
          </a:p>
        </p:txBody>
      </p:sp>
      <p:sp>
        <p:nvSpPr>
          <p:cNvPr id="25" name="Text 23"/>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6" name="Text 24"/>
          <p:cNvSpPr/>
          <p:nvPr/>
        </p:nvSpPr>
        <p:spPr>
          <a:xfrm>
            <a:off x="6824821" y="6238242"/>
            <a:ext cx="46910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Not an ISTQB definition: see the terminology note on the next slide</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L11 · SMOKE–SANITY TESTING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Smoke vs sanity testing</a:t>
            </a:r>
            <a:endParaRPr lang="en-US" sz="3200" dirty="0"/>
          </a:p>
        </p:txBody>
      </p:sp>
      <p:sp>
        <p:nvSpPr>
          <p:cNvPr id="4" name="Shape 2"/>
          <p:cNvSpPr/>
          <p:nvPr/>
        </p:nvSpPr>
        <p:spPr>
          <a:xfrm>
            <a:off x="11376025" y="1778000"/>
            <a:ext cx="0" cy="3083560"/>
          </a:xfrm>
          <a:prstGeom prst="line">
            <a:avLst/>
          </a:prstGeom>
          <a:noFill/>
          <a:ln w="6350">
            <a:solidFill>
              <a:srgbClr val="DDD8CC"/>
            </a:solidFill>
            <a:prstDash val="solid"/>
          </a:ln>
        </p:spPr>
      </p:sp>
      <p:sp>
        <p:nvSpPr>
          <p:cNvPr id="5" name="Shape 3"/>
          <p:cNvSpPr/>
          <p:nvPr/>
        </p:nvSpPr>
        <p:spPr>
          <a:xfrm>
            <a:off x="812800" y="485838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788160"/>
          <a:ext cx="10551160" cy="3068320"/>
        </p:xfrm>
        <a:graphic>
          <a:graphicData uri="http://schemas.openxmlformats.org/drawingml/2006/table">
            <a:tbl>
              <a:tblPr/>
              <a:tblGrid>
                <a:gridCol w="2110232"/>
                <a:gridCol w="4220464"/>
                <a:gridCol w="4220464"/>
              </a:tblGrid>
              <a:tr h="383540">
                <a:tc>
                  <a:txBody>
                    <a:bodyPr/>
                    <a:lstStyle/>
                    <a:p>
                      <a:pP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Smoke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Sanity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Question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Is the build stable enough to test?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Does this fix or change work?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Scope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Broad: all critical features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Narrow: the changed area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Depth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Shallow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Deep, in one area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Every new build or deployment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After a bug fix or small change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Scripted?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Usually scripted and automated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Often unscripted; may be manual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Relation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Gate before any other testing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A subset of regression testing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If it fails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Reject the build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Send the fix back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Shape 4"/>
          <p:cNvSpPr/>
          <p:nvPr/>
        </p:nvSpPr>
        <p:spPr>
          <a:xfrm>
            <a:off x="812800" y="5064770"/>
            <a:ext cx="10566400" cy="706120"/>
          </a:xfrm>
          <a:prstGeom prst="roundRect">
            <a:avLst>
              <a:gd name="adj" fmla="val 10791"/>
            </a:avLst>
          </a:prstGeom>
          <a:solidFill>
            <a:srgbClr val="DCE7F3"/>
          </a:solidFill>
          <a:ln/>
        </p:spPr>
      </p:sp>
      <p:sp>
        <p:nvSpPr>
          <p:cNvPr id="8" name="Text 5"/>
          <p:cNvSpPr/>
          <p:nvPr/>
        </p:nvSpPr>
        <p:spPr>
          <a:xfrm>
            <a:off x="1016000" y="5311155"/>
            <a:ext cx="11963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TERMINOLOGY</a:t>
            </a:r>
            <a:endParaRPr lang="en-US" sz="1200" dirty="0"/>
          </a:p>
        </p:txBody>
      </p:sp>
      <p:sp>
        <p:nvSpPr>
          <p:cNvPr id="9" name="Text 6"/>
          <p:cNvSpPr/>
          <p:nvPr/>
        </p:nvSpPr>
        <p:spPr>
          <a:xfrm>
            <a:off x="2313940" y="5204470"/>
            <a:ext cx="912792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ISTQB Glossary lists sanity test as a synonym of smoke test. Many teams use the distinction above, so agree on one meaning within your team.</a:t>
            </a:r>
            <a:endParaRPr lang="en-US" sz="1200" dirty="0"/>
          </a:p>
        </p:txBody>
      </p:sp>
      <p:sp>
        <p:nvSpPr>
          <p:cNvPr id="10" name="Text 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L11 · SMOKE, SANITY AND REGRESSION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Where each check runs in the pipeline</a:t>
            </a:r>
            <a:endParaRPr lang="en-US" sz="3200" dirty="0"/>
          </a:p>
        </p:txBody>
      </p:sp>
      <p:sp>
        <p:nvSpPr>
          <p:cNvPr id="4" name="Shape 2"/>
          <p:cNvSpPr/>
          <p:nvPr/>
        </p:nvSpPr>
        <p:spPr>
          <a:xfrm>
            <a:off x="815975" y="2149475"/>
            <a:ext cx="1466850" cy="692150"/>
          </a:xfrm>
          <a:prstGeom prst="roundRect">
            <a:avLst>
              <a:gd name="adj" fmla="val 8716"/>
            </a:avLst>
          </a:prstGeom>
          <a:solidFill>
            <a:srgbClr val="FCFBF7"/>
          </a:solidFill>
          <a:ln w="6350">
            <a:solidFill>
              <a:srgbClr val="C9C2B2"/>
            </a:solidFill>
            <a:prstDash val="solid"/>
          </a:ln>
        </p:spPr>
      </p:sp>
      <p:sp>
        <p:nvSpPr>
          <p:cNvPr id="5" name="Text 3"/>
          <p:cNvSpPr/>
          <p:nvPr/>
        </p:nvSpPr>
        <p:spPr>
          <a:xfrm>
            <a:off x="1139111" y="2392685"/>
            <a:ext cx="820579" cy="231140"/>
          </a:xfrm>
          <a:prstGeom prst="rect">
            <a:avLst/>
          </a:prstGeom>
          <a:noFill/>
          <a:ln/>
        </p:spPr>
        <p:txBody>
          <a:bodyPr wrap="square" lIns="0" tIns="0" rIns="0" bIns="0" rtlCol="0" anchor="t">
            <a:normAutofit/>
          </a:bodyPr>
          <a:lstStyle/>
          <a:p>
            <a:pPr algn="ctr" indent="0" marL="0">
              <a:lnSpc>
                <a:spcPts val="1620"/>
              </a:lnSpc>
              <a:buNone/>
            </a:pPr>
            <a:r>
              <a:rPr lang="en-US" sz="1200" b="1" dirty="0">
                <a:solidFill>
                  <a:srgbClr val="13233A"/>
                </a:solidFill>
                <a:latin typeface="IBM Plex Sans" pitchFamily="34" charset="0"/>
                <a:ea typeface="IBM Plex Sans" pitchFamily="34" charset="-122"/>
                <a:cs typeface="IBM Plex Sans" pitchFamily="34" charset="-120"/>
              </a:rPr>
              <a:t>1 · Commit</a:t>
            </a:r>
            <a:endParaRPr lang="en-US" sz="1200" dirty="0"/>
          </a:p>
        </p:txBody>
      </p:sp>
      <p:sp>
        <p:nvSpPr>
          <p:cNvPr id="6" name="Shape 4"/>
          <p:cNvSpPr/>
          <p:nvPr/>
        </p:nvSpPr>
        <p:spPr>
          <a:xfrm>
            <a:off x="2628900" y="2146300"/>
            <a:ext cx="1473200" cy="698500"/>
          </a:xfrm>
          <a:prstGeom prst="roundRect">
            <a:avLst>
              <a:gd name="adj" fmla="val 9091"/>
            </a:avLst>
          </a:prstGeom>
          <a:solidFill>
            <a:srgbClr val="13233A"/>
          </a:solidFill>
          <a:ln/>
        </p:spPr>
      </p:sp>
      <p:sp>
        <p:nvSpPr>
          <p:cNvPr id="7" name="Text 5"/>
          <p:cNvSpPr/>
          <p:nvPr/>
        </p:nvSpPr>
        <p:spPr>
          <a:xfrm>
            <a:off x="2705100" y="2289820"/>
            <a:ext cx="1320800" cy="436880"/>
          </a:xfrm>
          <a:prstGeom prst="rect">
            <a:avLst/>
          </a:prstGeom>
          <a:noFill/>
          <a:ln/>
        </p:spPr>
        <p:txBody>
          <a:bodyPr wrap="square" lIns="0" tIns="0" rIns="0" bIns="0" rtlCol="0" anchor="t">
            <a:normAutofit/>
          </a:bodyPr>
          <a:lstStyle/>
          <a:p>
            <a:pPr algn="ctr" indent="0" marL="0">
              <a:lnSpc>
                <a:spcPts val="1620"/>
              </a:lnSpc>
              <a:buNone/>
            </a:pPr>
            <a:r>
              <a:rPr lang="en-US" sz="1200" b="1" dirty="0">
                <a:solidFill>
                  <a:srgbClr val="F3F1EA"/>
                </a:solidFill>
                <a:latin typeface="IBM Plex Sans" pitchFamily="34" charset="0"/>
                <a:ea typeface="IBM Plex Sans" pitchFamily="34" charset="-122"/>
                <a:cs typeface="IBM Plex Sans" pitchFamily="34" charset="-120"/>
              </a:rPr>
              <a:t>2 · Build and unit tests</a:t>
            </a:r>
            <a:endParaRPr lang="en-US" sz="1200" dirty="0"/>
          </a:p>
        </p:txBody>
      </p:sp>
      <p:sp>
        <p:nvSpPr>
          <p:cNvPr id="8" name="Shape 6"/>
          <p:cNvSpPr/>
          <p:nvPr/>
        </p:nvSpPr>
        <p:spPr>
          <a:xfrm>
            <a:off x="4448175" y="2149475"/>
            <a:ext cx="1466850" cy="692150"/>
          </a:xfrm>
          <a:prstGeom prst="roundRect">
            <a:avLst>
              <a:gd name="adj" fmla="val 8716"/>
            </a:avLst>
          </a:prstGeom>
          <a:solidFill>
            <a:srgbClr val="FCFBF7"/>
          </a:solidFill>
          <a:ln w="6350">
            <a:solidFill>
              <a:srgbClr val="C9C2B2"/>
            </a:solidFill>
            <a:prstDash val="solid"/>
          </a:ln>
        </p:spPr>
      </p:sp>
      <p:sp>
        <p:nvSpPr>
          <p:cNvPr id="9" name="Text 7"/>
          <p:cNvSpPr/>
          <p:nvPr/>
        </p:nvSpPr>
        <p:spPr>
          <a:xfrm>
            <a:off x="4558824" y="2392685"/>
            <a:ext cx="1245473" cy="231140"/>
          </a:xfrm>
          <a:prstGeom prst="rect">
            <a:avLst/>
          </a:prstGeom>
          <a:noFill/>
          <a:ln/>
        </p:spPr>
        <p:txBody>
          <a:bodyPr wrap="square" lIns="0" tIns="0" rIns="0" bIns="0" rtlCol="0" anchor="t">
            <a:normAutofit/>
          </a:bodyPr>
          <a:lstStyle/>
          <a:p>
            <a:pPr algn="ctr" indent="0" marL="0">
              <a:lnSpc>
                <a:spcPts val="1620"/>
              </a:lnSpc>
              <a:buNone/>
            </a:pPr>
            <a:r>
              <a:rPr lang="en-US" sz="1200" b="1" dirty="0">
                <a:solidFill>
                  <a:srgbClr val="13233A"/>
                </a:solidFill>
                <a:latin typeface="IBM Plex Sans" pitchFamily="34" charset="0"/>
                <a:ea typeface="IBM Plex Sans" pitchFamily="34" charset="-122"/>
                <a:cs typeface="IBM Plex Sans" pitchFamily="34" charset="-120"/>
              </a:rPr>
              <a:t>3 · Deploy to test</a:t>
            </a:r>
            <a:endParaRPr lang="en-US" sz="1200" dirty="0"/>
          </a:p>
        </p:txBody>
      </p:sp>
      <p:sp>
        <p:nvSpPr>
          <p:cNvPr id="10" name="Shape 8"/>
          <p:cNvSpPr/>
          <p:nvPr/>
        </p:nvSpPr>
        <p:spPr>
          <a:xfrm>
            <a:off x="6261100" y="2146300"/>
            <a:ext cx="1473200" cy="698500"/>
          </a:xfrm>
          <a:prstGeom prst="roundRect">
            <a:avLst>
              <a:gd name="adj" fmla="val 9091"/>
            </a:avLst>
          </a:prstGeom>
          <a:solidFill>
            <a:srgbClr val="13233A"/>
          </a:solidFill>
          <a:ln/>
        </p:spPr>
      </p:sp>
      <p:sp>
        <p:nvSpPr>
          <p:cNvPr id="11" name="Text 9"/>
          <p:cNvSpPr/>
          <p:nvPr/>
        </p:nvSpPr>
        <p:spPr>
          <a:xfrm>
            <a:off x="6430883" y="2392685"/>
            <a:ext cx="1133634" cy="231140"/>
          </a:xfrm>
          <a:prstGeom prst="rect">
            <a:avLst/>
          </a:prstGeom>
          <a:noFill/>
          <a:ln/>
        </p:spPr>
        <p:txBody>
          <a:bodyPr wrap="square" lIns="0" tIns="0" rIns="0" bIns="0" rtlCol="0" anchor="t">
            <a:normAutofit/>
          </a:bodyPr>
          <a:lstStyle/>
          <a:p>
            <a:pPr algn="ctr" indent="0" marL="0">
              <a:lnSpc>
                <a:spcPts val="1620"/>
              </a:lnSpc>
              <a:buNone/>
            </a:pPr>
            <a:r>
              <a:rPr lang="en-US" sz="1200" b="1" dirty="0">
                <a:solidFill>
                  <a:srgbClr val="F3F1EA"/>
                </a:solidFill>
                <a:latin typeface="IBM Plex Sans" pitchFamily="34" charset="0"/>
                <a:ea typeface="IBM Plex Sans" pitchFamily="34" charset="-122"/>
                <a:cs typeface="IBM Plex Sans" pitchFamily="34" charset="-120"/>
              </a:rPr>
              <a:t>4 · Smoke suite</a:t>
            </a:r>
            <a:endParaRPr lang="en-US" sz="1200" dirty="0"/>
          </a:p>
        </p:txBody>
      </p:sp>
      <p:sp>
        <p:nvSpPr>
          <p:cNvPr id="12" name="Shape 10"/>
          <p:cNvSpPr/>
          <p:nvPr/>
        </p:nvSpPr>
        <p:spPr>
          <a:xfrm>
            <a:off x="8077200" y="2146300"/>
            <a:ext cx="1473200" cy="698500"/>
          </a:xfrm>
          <a:prstGeom prst="roundRect">
            <a:avLst>
              <a:gd name="adj" fmla="val 9091"/>
            </a:avLst>
          </a:prstGeom>
          <a:solidFill>
            <a:srgbClr val="13233A"/>
          </a:solidFill>
          <a:ln/>
        </p:spPr>
      </p:sp>
      <p:sp>
        <p:nvSpPr>
          <p:cNvPr id="13" name="Text 11"/>
          <p:cNvSpPr/>
          <p:nvPr/>
        </p:nvSpPr>
        <p:spPr>
          <a:xfrm>
            <a:off x="8153400" y="2289820"/>
            <a:ext cx="1320800" cy="436880"/>
          </a:xfrm>
          <a:prstGeom prst="rect">
            <a:avLst/>
          </a:prstGeom>
          <a:noFill/>
          <a:ln/>
        </p:spPr>
        <p:txBody>
          <a:bodyPr wrap="square" lIns="0" tIns="0" rIns="0" bIns="0" rtlCol="0" anchor="t">
            <a:normAutofit/>
          </a:bodyPr>
          <a:lstStyle/>
          <a:p>
            <a:pPr algn="ctr" indent="0" marL="0">
              <a:lnSpc>
                <a:spcPts val="1620"/>
              </a:lnSpc>
              <a:buNone/>
            </a:pPr>
            <a:r>
              <a:rPr lang="en-US" sz="1200" b="1" dirty="0">
                <a:solidFill>
                  <a:srgbClr val="F3F1EA"/>
                </a:solidFill>
                <a:latin typeface="IBM Plex Sans" pitchFamily="34" charset="0"/>
                <a:ea typeface="IBM Plex Sans" pitchFamily="34" charset="-122"/>
                <a:cs typeface="IBM Plex Sans" pitchFamily="34" charset="-120"/>
              </a:rPr>
              <a:t>5 · Regression suite</a:t>
            </a:r>
            <a:endParaRPr lang="en-US" sz="1200" dirty="0"/>
          </a:p>
        </p:txBody>
      </p:sp>
      <p:sp>
        <p:nvSpPr>
          <p:cNvPr id="14" name="Shape 12"/>
          <p:cNvSpPr/>
          <p:nvPr/>
        </p:nvSpPr>
        <p:spPr>
          <a:xfrm>
            <a:off x="9893300" y="2146300"/>
            <a:ext cx="1473200" cy="698500"/>
          </a:xfrm>
          <a:prstGeom prst="roundRect">
            <a:avLst>
              <a:gd name="adj" fmla="val 9091"/>
            </a:avLst>
          </a:prstGeom>
          <a:solidFill>
            <a:srgbClr val="E98B53"/>
          </a:solidFill>
          <a:ln/>
        </p:spPr>
      </p:sp>
      <p:sp>
        <p:nvSpPr>
          <p:cNvPr id="15" name="Text 13"/>
          <p:cNvSpPr/>
          <p:nvPr/>
        </p:nvSpPr>
        <p:spPr>
          <a:xfrm>
            <a:off x="9969500" y="2289820"/>
            <a:ext cx="1320800" cy="436880"/>
          </a:xfrm>
          <a:prstGeom prst="rect">
            <a:avLst/>
          </a:prstGeom>
          <a:noFill/>
          <a:ln/>
        </p:spPr>
        <p:txBody>
          <a:bodyPr wrap="square" lIns="0" tIns="0" rIns="0" bIns="0" rtlCol="0" anchor="t">
            <a:normAutofit/>
          </a:bodyPr>
          <a:lstStyle/>
          <a:p>
            <a:pPr algn="ctr" indent="0" marL="0">
              <a:lnSpc>
                <a:spcPts val="1620"/>
              </a:lnSpc>
              <a:buNone/>
            </a:pPr>
            <a:r>
              <a:rPr lang="en-US" sz="1200" b="1" dirty="0">
                <a:solidFill>
                  <a:srgbClr val="13233A"/>
                </a:solidFill>
                <a:latin typeface="IBM Plex Sans" pitchFamily="34" charset="0"/>
                <a:ea typeface="IBM Plex Sans" pitchFamily="34" charset="-122"/>
                <a:cs typeface="IBM Plex Sans" pitchFamily="34" charset="-120"/>
              </a:rPr>
              <a:t>6 · Release candidate</a:t>
            </a:r>
            <a:endParaRPr lang="en-US" sz="1200" dirty="0"/>
          </a:p>
        </p:txBody>
      </p:sp>
      <p:sp>
        <p:nvSpPr>
          <p:cNvPr id="16" name="Shape 14"/>
          <p:cNvSpPr/>
          <p:nvPr/>
        </p:nvSpPr>
        <p:spPr>
          <a:xfrm>
            <a:off x="2632075" y="3863975"/>
            <a:ext cx="1466850" cy="819150"/>
          </a:xfrm>
          <a:prstGeom prst="roundRect">
            <a:avLst>
              <a:gd name="adj" fmla="val 7364"/>
            </a:avLst>
          </a:prstGeom>
          <a:solidFill>
            <a:srgbClr val="F7E3D5"/>
          </a:solidFill>
          <a:ln w="6350">
            <a:solidFill>
              <a:srgbClr val="E9C3A8"/>
            </a:solidFill>
            <a:prstDash val="solid"/>
          </a:ln>
        </p:spPr>
      </p:sp>
      <p:sp>
        <p:nvSpPr>
          <p:cNvPr id="17" name="Text 15"/>
          <p:cNvSpPr/>
          <p:nvPr/>
        </p:nvSpPr>
        <p:spPr>
          <a:xfrm>
            <a:off x="2710180" y="4067820"/>
            <a:ext cx="1310640" cy="436880"/>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13233A"/>
                </a:solidFill>
                <a:latin typeface="IBM Plex Sans" pitchFamily="34" charset="0"/>
                <a:ea typeface="IBM Plex Sans" pitchFamily="34" charset="-122"/>
                <a:cs typeface="IBM Plex Sans" pitchFamily="34" charset="-120"/>
              </a:rPr>
              <a:t>Fix before the merge</a:t>
            </a:r>
            <a:endParaRPr lang="en-US" sz="1200" dirty="0"/>
          </a:p>
        </p:txBody>
      </p:sp>
      <p:sp>
        <p:nvSpPr>
          <p:cNvPr id="18" name="Shape 16"/>
          <p:cNvSpPr/>
          <p:nvPr/>
        </p:nvSpPr>
        <p:spPr>
          <a:xfrm>
            <a:off x="6264275" y="3863975"/>
            <a:ext cx="1466850" cy="819150"/>
          </a:xfrm>
          <a:prstGeom prst="roundRect">
            <a:avLst>
              <a:gd name="adj" fmla="val 7364"/>
            </a:avLst>
          </a:prstGeom>
          <a:solidFill>
            <a:srgbClr val="F7E3D5"/>
          </a:solidFill>
          <a:ln w="6350">
            <a:solidFill>
              <a:srgbClr val="E9C3A8"/>
            </a:solidFill>
            <a:prstDash val="solid"/>
          </a:ln>
        </p:spPr>
      </p:sp>
      <p:sp>
        <p:nvSpPr>
          <p:cNvPr id="19" name="Text 17"/>
          <p:cNvSpPr/>
          <p:nvPr/>
        </p:nvSpPr>
        <p:spPr>
          <a:xfrm>
            <a:off x="6342380" y="4067820"/>
            <a:ext cx="1310640" cy="436880"/>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13233A"/>
                </a:solidFill>
                <a:latin typeface="IBM Plex Sans" pitchFamily="34" charset="0"/>
                <a:ea typeface="IBM Plex Sans" pitchFamily="34" charset="-122"/>
                <a:cs typeface="IBM Plex Sans" pitchFamily="34" charset="-120"/>
              </a:rPr>
              <a:t>Reject the build; alert the team</a:t>
            </a:r>
            <a:endParaRPr lang="en-US" sz="1200" dirty="0"/>
          </a:p>
        </p:txBody>
      </p:sp>
      <p:sp>
        <p:nvSpPr>
          <p:cNvPr id="20" name="Shape 18"/>
          <p:cNvSpPr/>
          <p:nvPr/>
        </p:nvSpPr>
        <p:spPr>
          <a:xfrm>
            <a:off x="8080375" y="3863975"/>
            <a:ext cx="1466850" cy="819150"/>
          </a:xfrm>
          <a:prstGeom prst="roundRect">
            <a:avLst>
              <a:gd name="adj" fmla="val 7364"/>
            </a:avLst>
          </a:prstGeom>
          <a:solidFill>
            <a:srgbClr val="F7E3D5"/>
          </a:solidFill>
          <a:ln w="6350">
            <a:solidFill>
              <a:srgbClr val="E9C3A8"/>
            </a:solidFill>
            <a:prstDash val="solid"/>
          </a:ln>
        </p:spPr>
      </p:sp>
      <p:sp>
        <p:nvSpPr>
          <p:cNvPr id="21" name="Text 19"/>
          <p:cNvSpPr/>
          <p:nvPr/>
        </p:nvSpPr>
        <p:spPr>
          <a:xfrm>
            <a:off x="8158480" y="4067820"/>
            <a:ext cx="1310640" cy="436880"/>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13233A"/>
                </a:solidFill>
                <a:latin typeface="IBM Plex Sans" pitchFamily="34" charset="0"/>
                <a:ea typeface="IBM Plex Sans" pitchFamily="34" charset="-122"/>
                <a:cs typeface="IBM Plex Sans" pitchFamily="34" charset="-120"/>
              </a:rPr>
              <a:t>Log defects, fix, sanity-check</a:t>
            </a:r>
            <a:endParaRPr lang="en-US" sz="1200" dirty="0"/>
          </a:p>
        </p:txBody>
      </p:sp>
      <p:pic>
        <p:nvPicPr>
          <p:cNvPr id="22" name="Image 0" descr="connector">    </p:cNvPr>
          <p:cNvPicPr>
            <a:picLocks noChangeAspect="1"/>
          </p:cNvPicPr>
          <p:nvPr/>
        </p:nvPicPr>
        <p:blipFill>
          <a:blip r:embed="rId1"/>
          <a:srcRect l="0" r="0" t="0" b="0"/>
          <a:stretch/>
        </p:blipFill>
        <p:spPr>
          <a:xfrm>
            <a:off x="2235200" y="2444750"/>
            <a:ext cx="444500" cy="101600"/>
          </a:xfrm>
          <a:prstGeom prst="rect">
            <a:avLst/>
          </a:prstGeom>
        </p:spPr>
      </p:pic>
      <p:pic>
        <p:nvPicPr>
          <p:cNvPr id="23" name="Image 1" descr="connector">    </p:cNvPr>
          <p:cNvPicPr>
            <a:picLocks noChangeAspect="1"/>
          </p:cNvPicPr>
          <p:nvPr/>
        </p:nvPicPr>
        <p:blipFill>
          <a:blip r:embed="rId2"/>
          <a:srcRect l="0" r="0" t="0" b="0"/>
          <a:stretch/>
        </p:blipFill>
        <p:spPr>
          <a:xfrm>
            <a:off x="4051300" y="2444750"/>
            <a:ext cx="444500" cy="101600"/>
          </a:xfrm>
          <a:prstGeom prst="rect">
            <a:avLst/>
          </a:prstGeom>
        </p:spPr>
      </p:pic>
      <p:pic>
        <p:nvPicPr>
          <p:cNvPr id="24" name="Image 2" descr="connector">    </p:cNvPr>
          <p:cNvPicPr>
            <a:picLocks noChangeAspect="1"/>
          </p:cNvPicPr>
          <p:nvPr/>
        </p:nvPicPr>
        <p:blipFill>
          <a:blip r:embed="rId3"/>
          <a:srcRect l="0" r="0" t="0" b="0"/>
          <a:stretch/>
        </p:blipFill>
        <p:spPr>
          <a:xfrm>
            <a:off x="5867400" y="2444750"/>
            <a:ext cx="444500" cy="101600"/>
          </a:xfrm>
          <a:prstGeom prst="rect">
            <a:avLst/>
          </a:prstGeom>
        </p:spPr>
      </p:pic>
      <p:pic>
        <p:nvPicPr>
          <p:cNvPr id="25" name="Image 3" descr="connector">    </p:cNvPr>
          <p:cNvPicPr>
            <a:picLocks noChangeAspect="1"/>
          </p:cNvPicPr>
          <p:nvPr/>
        </p:nvPicPr>
        <p:blipFill>
          <a:blip r:embed="rId4"/>
          <a:srcRect l="0" r="0" t="0" b="0"/>
          <a:stretch/>
        </p:blipFill>
        <p:spPr>
          <a:xfrm>
            <a:off x="7683500" y="2444750"/>
            <a:ext cx="444500" cy="101600"/>
          </a:xfrm>
          <a:prstGeom prst="rect">
            <a:avLst/>
          </a:prstGeom>
        </p:spPr>
      </p:pic>
      <p:pic>
        <p:nvPicPr>
          <p:cNvPr id="26" name="Image 4" descr="connector">    </p:cNvPr>
          <p:cNvPicPr>
            <a:picLocks noChangeAspect="1"/>
          </p:cNvPicPr>
          <p:nvPr/>
        </p:nvPicPr>
        <p:blipFill>
          <a:blip r:embed="rId5"/>
          <a:srcRect l="0" r="0" t="0" b="0"/>
          <a:stretch/>
        </p:blipFill>
        <p:spPr>
          <a:xfrm>
            <a:off x="9499600" y="2444750"/>
            <a:ext cx="444500" cy="101600"/>
          </a:xfrm>
          <a:prstGeom prst="rect">
            <a:avLst/>
          </a:prstGeom>
        </p:spPr>
      </p:pic>
      <p:pic>
        <p:nvPicPr>
          <p:cNvPr id="27" name="Image 5" descr="connector">    </p:cNvPr>
          <p:cNvPicPr>
            <a:picLocks noChangeAspect="1"/>
          </p:cNvPicPr>
          <p:nvPr/>
        </p:nvPicPr>
        <p:blipFill>
          <a:blip r:embed="rId6"/>
          <a:srcRect l="0" r="0" t="0" b="0"/>
          <a:stretch/>
        </p:blipFill>
        <p:spPr>
          <a:xfrm>
            <a:off x="3314700" y="2794000"/>
            <a:ext cx="101600" cy="1117600"/>
          </a:xfrm>
          <a:prstGeom prst="rect">
            <a:avLst/>
          </a:prstGeom>
        </p:spPr>
      </p:pic>
      <p:pic>
        <p:nvPicPr>
          <p:cNvPr id="28" name="Image 6" descr="connector">    </p:cNvPr>
          <p:cNvPicPr>
            <a:picLocks noChangeAspect="1"/>
          </p:cNvPicPr>
          <p:nvPr/>
        </p:nvPicPr>
        <p:blipFill>
          <a:blip r:embed="rId7"/>
          <a:srcRect l="0" r="0" t="0" b="0"/>
          <a:stretch/>
        </p:blipFill>
        <p:spPr>
          <a:xfrm>
            <a:off x="6946900" y="2794000"/>
            <a:ext cx="101600" cy="1117600"/>
          </a:xfrm>
          <a:prstGeom prst="rect">
            <a:avLst/>
          </a:prstGeom>
        </p:spPr>
      </p:pic>
      <p:pic>
        <p:nvPicPr>
          <p:cNvPr id="29" name="Image 7" descr="connector">    </p:cNvPr>
          <p:cNvPicPr>
            <a:picLocks noChangeAspect="1"/>
          </p:cNvPicPr>
          <p:nvPr/>
        </p:nvPicPr>
        <p:blipFill>
          <a:blip r:embed="rId8"/>
          <a:srcRect l="0" r="0" t="0" b="0"/>
          <a:stretch/>
        </p:blipFill>
        <p:spPr>
          <a:xfrm>
            <a:off x="8763000" y="2794000"/>
            <a:ext cx="101600" cy="1117600"/>
          </a:xfrm>
          <a:prstGeom prst="rect">
            <a:avLst/>
          </a:prstGeom>
        </p:spPr>
      </p:pic>
      <p:sp>
        <p:nvSpPr>
          <p:cNvPr id="30" name="Text 20"/>
          <p:cNvSpPr/>
          <p:nvPr/>
        </p:nvSpPr>
        <p:spPr>
          <a:xfrm>
            <a:off x="3467100" y="3238500"/>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481A"/>
                </a:solidFill>
                <a:latin typeface="IBM Plex Sans" pitchFamily="34" charset="0"/>
                <a:ea typeface="IBM Plex Sans" pitchFamily="34" charset="-122"/>
                <a:cs typeface="IBM Plex Sans" pitchFamily="34" charset="-120"/>
              </a:rPr>
              <a:t>fails</a:t>
            </a:r>
            <a:endParaRPr lang="en-US" sz="1200" dirty="0"/>
          </a:p>
        </p:txBody>
      </p:sp>
      <p:sp>
        <p:nvSpPr>
          <p:cNvPr id="31" name="Text 21"/>
          <p:cNvSpPr/>
          <p:nvPr/>
        </p:nvSpPr>
        <p:spPr>
          <a:xfrm>
            <a:off x="7099300" y="3238500"/>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481A"/>
                </a:solidFill>
                <a:latin typeface="IBM Plex Sans" pitchFamily="34" charset="0"/>
                <a:ea typeface="IBM Plex Sans" pitchFamily="34" charset="-122"/>
                <a:cs typeface="IBM Plex Sans" pitchFamily="34" charset="-120"/>
              </a:rPr>
              <a:t>fails</a:t>
            </a:r>
            <a:endParaRPr lang="en-US" sz="1200" dirty="0"/>
          </a:p>
        </p:txBody>
      </p:sp>
      <p:sp>
        <p:nvSpPr>
          <p:cNvPr id="32" name="Text 22"/>
          <p:cNvSpPr/>
          <p:nvPr/>
        </p:nvSpPr>
        <p:spPr>
          <a:xfrm>
            <a:off x="8915400" y="3238500"/>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481A"/>
                </a:solidFill>
                <a:latin typeface="IBM Plex Sans" pitchFamily="34" charset="0"/>
                <a:ea typeface="IBM Plex Sans" pitchFamily="34" charset="-122"/>
                <a:cs typeface="IBM Plex Sans" pitchFamily="34" charset="-120"/>
              </a:rPr>
              <a:t>fails</a:t>
            </a:r>
            <a:endParaRPr lang="en-US" sz="1200" dirty="0"/>
          </a:p>
        </p:txBody>
      </p:sp>
      <p:sp>
        <p:nvSpPr>
          <p:cNvPr id="33" name="Text 23"/>
          <p:cNvSpPr/>
          <p:nvPr/>
        </p:nvSpPr>
        <p:spPr>
          <a:xfrm>
            <a:off x="812800" y="1828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Each stage runs only if the one before it passes</a:t>
            </a:r>
            <a:endParaRPr lang="en-US" sz="1200" dirty="0"/>
          </a:p>
        </p:txBody>
      </p:sp>
      <p:sp>
        <p:nvSpPr>
          <p:cNvPr id="34" name="Text 24"/>
          <p:cNvSpPr/>
          <p:nvPr/>
        </p:nvSpPr>
        <p:spPr>
          <a:xfrm>
            <a:off x="812800" y="5003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After a hotfix: sanity-check the change first, then rerun the affected regression tests.</a:t>
            </a:r>
            <a:endParaRPr lang="en-US" sz="1400" dirty="0"/>
          </a:p>
        </p:txBody>
      </p:sp>
      <p:sp>
        <p:nvSpPr>
          <p:cNvPr id="35" name="Text 25"/>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36" name="Text 26"/>
          <p:cNvSpPr/>
          <p:nvPr/>
        </p:nvSpPr>
        <p:spPr>
          <a:xfrm>
            <a:off x="6998256" y="6238255"/>
            <a:ext cx="45123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Dark boxes: automated test stages · pipelines in Jenkins: Lab 13</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L11 · SMOKE, SANITY AND REGRESSION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Tagging suites with pytest markers</a:t>
            </a:r>
            <a:endParaRPr lang="en-US" sz="3200" dirty="0"/>
          </a:p>
        </p:txBody>
      </p:sp>
      <p:sp>
        <p:nvSpPr>
          <p:cNvPr id="4" name="Text 2"/>
          <p:cNvSpPr/>
          <p:nvPr/>
        </p:nvSpPr>
        <p:spPr>
          <a:xfrm>
            <a:off x="812800" y="1828800"/>
            <a:ext cx="533704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Markers label tests, so each pipeline stage can pick the suite it needs.</a:t>
            </a:r>
            <a:endParaRPr lang="en-US" sz="1400" dirty="0"/>
          </a:p>
        </p:txBody>
      </p:sp>
      <p:sp>
        <p:nvSpPr>
          <p:cNvPr id="5" name="Text 3"/>
          <p:cNvSpPr/>
          <p:nvPr/>
        </p:nvSpPr>
        <p:spPr>
          <a:xfrm>
            <a:off x="812800" y="2453655"/>
            <a:ext cx="53370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pytest.ini</a:t>
            </a:r>
            <a:endParaRPr lang="en-US" sz="1200" dirty="0"/>
          </a:p>
        </p:txBody>
      </p:sp>
      <p:sp>
        <p:nvSpPr>
          <p:cNvPr id="6" name="Shape 4"/>
          <p:cNvSpPr/>
          <p:nvPr/>
        </p:nvSpPr>
        <p:spPr>
          <a:xfrm>
            <a:off x="812800" y="2743200"/>
            <a:ext cx="5181600" cy="1209040"/>
          </a:xfrm>
          <a:prstGeom prst="roundRect">
            <a:avLst>
              <a:gd name="adj" fmla="val 6303"/>
            </a:avLst>
          </a:prstGeom>
          <a:solidFill>
            <a:srgbClr val="13233A"/>
          </a:solidFill>
          <a:ln/>
        </p:spPr>
      </p:sp>
      <p:sp>
        <p:nvSpPr>
          <p:cNvPr id="7" name="Text 5"/>
          <p:cNvSpPr/>
          <p:nvPr/>
        </p:nvSpPr>
        <p:spPr>
          <a:xfrm>
            <a:off x="990600" y="2921000"/>
            <a:ext cx="4970780" cy="8788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[pytest]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markers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smoke: fast build-verification checks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regression: full regression suite</a:t>
            </a:r>
            <a:endParaRPr lang="en-US" sz="1200" dirty="0"/>
          </a:p>
        </p:txBody>
      </p:sp>
      <p:sp>
        <p:nvSpPr>
          <p:cNvPr id="8" name="Text 6"/>
          <p:cNvSpPr/>
          <p:nvPr/>
        </p:nvSpPr>
        <p:spPr>
          <a:xfrm>
            <a:off x="812800" y="4079255"/>
            <a:ext cx="53370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Pipeline commands</a:t>
            </a:r>
            <a:endParaRPr lang="en-US" sz="1200" dirty="0"/>
          </a:p>
        </p:txBody>
      </p:sp>
      <p:sp>
        <p:nvSpPr>
          <p:cNvPr id="9" name="Shape 7"/>
          <p:cNvSpPr/>
          <p:nvPr/>
        </p:nvSpPr>
        <p:spPr>
          <a:xfrm>
            <a:off x="812800" y="4368800"/>
            <a:ext cx="5181600" cy="995680"/>
          </a:xfrm>
          <a:prstGeom prst="roundRect">
            <a:avLst>
              <a:gd name="adj" fmla="val 7653"/>
            </a:avLst>
          </a:prstGeom>
          <a:solidFill>
            <a:srgbClr val="13233A"/>
          </a:solidFill>
          <a:ln/>
        </p:spPr>
      </p:sp>
      <p:sp>
        <p:nvSpPr>
          <p:cNvPr id="10" name="Text 8"/>
          <p:cNvSpPr/>
          <p:nvPr/>
        </p:nvSpPr>
        <p:spPr>
          <a:xfrm>
            <a:off x="990600" y="4546600"/>
            <a:ext cx="4970780" cy="66548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pytest -m smoke        </a:t>
            </a:r>
            <a:r>
              <a:rPr lang="en-US" sz="1200" dirty="0">
                <a:solidFill>
                  <a:srgbClr val="8C9AAD"/>
                </a:solidFill>
                <a:latin typeface="JetBrains Mono" pitchFamily="34" charset="0"/>
                <a:ea typeface="JetBrains Mono" pitchFamily="34" charset="-122"/>
                <a:cs typeface="JetBrains Mono" pitchFamily="34" charset="-120"/>
              </a:rPr>
              <a:t># after every deploy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pytest -m regression   </a:t>
            </a:r>
            <a:r>
              <a:rPr lang="en-US" sz="1200" dirty="0">
                <a:solidFill>
                  <a:srgbClr val="8C9AAD"/>
                </a:solidFill>
                <a:latin typeface="JetBrains Mono" pitchFamily="34" charset="0"/>
                <a:ea typeface="JetBrains Mono" pitchFamily="34" charset="-122"/>
                <a:cs typeface="JetBrains Mono" pitchFamily="34" charset="-120"/>
              </a:rPr>
              <a:t># nightly, pre-release</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pytest -m "not smoke"  </a:t>
            </a:r>
            <a:r>
              <a:rPr lang="en-US" sz="1200" dirty="0">
                <a:solidFill>
                  <a:srgbClr val="8C9AAD"/>
                </a:solidFill>
                <a:latin typeface="JetBrains Mono" pitchFamily="34" charset="0"/>
                <a:ea typeface="JetBrains Mono" pitchFamily="34" charset="-122"/>
                <a:cs typeface="JetBrains Mono" pitchFamily="34" charset="-120"/>
              </a:rPr>
              <a:t># everything else</a:t>
            </a:r>
            <a:endParaRPr lang="en-US" sz="1200" dirty="0"/>
          </a:p>
        </p:txBody>
      </p:sp>
      <p:sp>
        <p:nvSpPr>
          <p:cNvPr id="11" name="Text 9"/>
          <p:cNvSpPr/>
          <p:nvPr/>
        </p:nvSpPr>
        <p:spPr>
          <a:xfrm>
            <a:off x="6299200" y="1828800"/>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tests/test_checkout.py</a:t>
            </a:r>
            <a:endParaRPr lang="en-US" sz="1200" dirty="0"/>
          </a:p>
        </p:txBody>
      </p:sp>
      <p:sp>
        <p:nvSpPr>
          <p:cNvPr id="12" name="Shape 10"/>
          <p:cNvSpPr/>
          <p:nvPr/>
        </p:nvSpPr>
        <p:spPr>
          <a:xfrm>
            <a:off x="6299200" y="2118370"/>
            <a:ext cx="5080000" cy="3342640"/>
          </a:xfrm>
          <a:prstGeom prst="roundRect">
            <a:avLst>
              <a:gd name="adj" fmla="val 2280"/>
            </a:avLst>
          </a:prstGeom>
          <a:solidFill>
            <a:srgbClr val="13233A"/>
          </a:solidFill>
          <a:ln/>
        </p:spPr>
      </p:sp>
      <p:sp>
        <p:nvSpPr>
          <p:cNvPr id="13" name="Text 11"/>
          <p:cNvSpPr/>
          <p:nvPr/>
        </p:nvSpPr>
        <p:spPr>
          <a:xfrm>
            <a:off x="6477000" y="2296170"/>
            <a:ext cx="4866132" cy="30124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pytest</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requests</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from</a:t>
            </a:r>
            <a:r>
              <a:rPr lang="en-US" sz="1200" dirty="0">
                <a:solidFill>
                  <a:srgbClr val="E6EAF0"/>
                </a:solidFill>
                <a:latin typeface="JetBrains Mono" pitchFamily="34" charset="0"/>
                <a:ea typeface="JetBrains Mono" pitchFamily="34" charset="-122"/>
                <a:cs typeface="JetBrains Mono" pitchFamily="34" charset="-120"/>
              </a:rPr>
              <a:t> canteen.pricing </a:t>
            </a: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apply_coupon</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BASE = </a:t>
            </a:r>
            <a:r>
              <a:rPr lang="en-US" sz="1200" dirty="0">
                <a:solidFill>
                  <a:srgbClr val="9CC7F0"/>
                </a:solidFill>
                <a:latin typeface="JetBrains Mono" pitchFamily="34" charset="0"/>
                <a:ea typeface="JetBrains Mono" pitchFamily="34" charset="-122"/>
                <a:cs typeface="JetBrains Mono" pitchFamily="34" charset="-120"/>
              </a:rPr>
              <a:t>"https://staging.canteen.example"</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@pytest.mark.smoke</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test_menu_api_is_up():</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r = requests.get(f</a:t>
            </a:r>
            <a:r>
              <a:rPr lang="en-US" sz="1200" dirty="0">
                <a:solidFill>
                  <a:srgbClr val="9CC7F0"/>
                </a:solidFill>
                <a:latin typeface="JetBrains Mono" pitchFamily="34" charset="0"/>
                <a:ea typeface="JetBrains Mono" pitchFamily="34" charset="-122"/>
                <a:cs typeface="JetBrains Mono" pitchFamily="34" charset="-120"/>
              </a:rPr>
              <a:t>"{BASE}/api/menu"</a:t>
            </a:r>
            <a:r>
              <a:rPr lang="en-US" sz="1200" dirty="0">
                <a:solidFill>
                  <a:srgbClr val="E6EAF0"/>
                </a:solidFill>
                <a:latin typeface="JetBrains Mono" pitchFamily="34" charset="0"/>
                <a:ea typeface="JetBrains Mono" pitchFamily="34" charset="-122"/>
                <a:cs typeface="JetBrains Mono" pitchFamily="34" charset="-120"/>
              </a:rPr>
              <a:t>, timeout=5)</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r.status_code == 200</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@pytest.mark.regression</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test_coupon_cap_on_large_orders():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apply_coupon(800, </a:t>
            </a:r>
            <a:r>
              <a:rPr lang="en-US" sz="1200" dirty="0">
                <a:solidFill>
                  <a:srgbClr val="9CC7F0"/>
                </a:solidFill>
                <a:latin typeface="JetBrains Mono" pitchFamily="34" charset="0"/>
                <a:ea typeface="JetBrains Mono" pitchFamily="34" charset="-122"/>
                <a:cs typeface="JetBrains Mono" pitchFamily="34" charset="-120"/>
              </a:rPr>
              <a:t>"SAVE20"</a:t>
            </a:r>
            <a:r>
              <a:rPr lang="en-US" sz="1200" dirty="0">
                <a:solidFill>
                  <a:srgbClr val="E6EAF0"/>
                </a:solidFill>
                <a:latin typeface="JetBrains Mono" pitchFamily="34" charset="0"/>
                <a:ea typeface="JetBrains Mono" pitchFamily="34" charset="-122"/>
                <a:cs typeface="JetBrains Mono" pitchFamily="34" charset="-120"/>
              </a:rPr>
              <a:t>) == 700</a:t>
            </a:r>
            <a:endParaRPr lang="en-US" sz="1200" dirty="0"/>
          </a:p>
        </p:txBody>
      </p:sp>
      <p:sp>
        <p:nvSpPr>
          <p:cNvPr id="14" name="Text 12"/>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5" name="Text 13"/>
          <p:cNvSpPr/>
          <p:nvPr/>
        </p:nvSpPr>
        <p:spPr>
          <a:xfrm>
            <a:off x="6066631" y="6238255"/>
            <a:ext cx="54719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Add --strict-markers so a mistyped marker name fails the run · markers: Lab 4</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L11 · REGRESSION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Regression testing</a:t>
            </a:r>
            <a:endParaRPr lang="en-US" sz="3200" dirty="0"/>
          </a:p>
        </p:txBody>
      </p:sp>
      <p:sp>
        <p:nvSpPr>
          <p:cNvPr id="4" name="Text 2"/>
          <p:cNvSpPr/>
          <p:nvPr/>
        </p:nvSpPr>
        <p:spPr>
          <a:xfrm>
            <a:off x="812800" y="1828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ISTQB · REGRESSION TESTING</a:t>
            </a:r>
            <a:endParaRPr lang="en-US" sz="1200" dirty="0"/>
          </a:p>
        </p:txBody>
      </p:sp>
      <p:sp>
        <p:nvSpPr>
          <p:cNvPr id="5" name="Text 3"/>
          <p:cNvSpPr/>
          <p:nvPr/>
        </p:nvSpPr>
        <p:spPr>
          <a:xfrm>
            <a:off x="812800" y="2118370"/>
            <a:ext cx="10883392"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13233A"/>
                </a:solidFill>
                <a:latin typeface="Space Grotesk" pitchFamily="34" charset="0"/>
                <a:ea typeface="Space Grotesk" pitchFamily="34" charset="-122"/>
                <a:cs typeface="Space Grotesk" pitchFamily="34" charset="-120"/>
              </a:rPr>
              <a:t>“A type of change-related testing to detect whether defects have been introduced or uncovered in unchanged areas of the software.”</a:t>
            </a:r>
            <a:endParaRPr lang="en-US" sz="2000" dirty="0"/>
          </a:p>
        </p:txBody>
      </p:sp>
      <p:sp>
        <p:nvSpPr>
          <p:cNvPr id="6" name="Text 4"/>
          <p:cNvSpPr/>
          <p:nvPr/>
        </p:nvSpPr>
        <p:spPr>
          <a:xfrm>
            <a:off x="812800" y="3007370"/>
            <a:ext cx="651433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WHY REGRESSIONS HAPPEN</a:t>
            </a:r>
            <a:endParaRPr lang="en-US" sz="1200" dirty="0"/>
          </a:p>
        </p:txBody>
      </p:sp>
      <p:sp>
        <p:nvSpPr>
          <p:cNvPr id="7" name="Shape 5"/>
          <p:cNvSpPr/>
          <p:nvPr/>
        </p:nvSpPr>
        <p:spPr>
          <a:xfrm>
            <a:off x="812800" y="3300090"/>
            <a:ext cx="6324600" cy="0"/>
          </a:xfrm>
          <a:prstGeom prst="line">
            <a:avLst/>
          </a:prstGeom>
          <a:noFill/>
          <a:ln w="6350">
            <a:solidFill>
              <a:srgbClr val="DDD8CC"/>
            </a:solidFill>
            <a:prstDash val="solid"/>
          </a:ln>
        </p:spPr>
      </p:sp>
      <p:sp>
        <p:nvSpPr>
          <p:cNvPr id="8" name="Text 6"/>
          <p:cNvSpPr/>
          <p:nvPr/>
        </p:nvSpPr>
        <p:spPr>
          <a:xfrm>
            <a:off x="812800" y="3365500"/>
            <a:ext cx="248539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Shared code changes</a:t>
            </a:r>
            <a:endParaRPr lang="en-US" sz="1400" dirty="0"/>
          </a:p>
        </p:txBody>
      </p:sp>
      <p:sp>
        <p:nvSpPr>
          <p:cNvPr id="9" name="Text 7"/>
          <p:cNvSpPr/>
          <p:nvPr/>
        </p:nvSpPr>
        <p:spPr>
          <a:xfrm>
            <a:off x="3378200" y="3390900"/>
            <a:ext cx="387197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Combo-meal pricing edits cart_total() and breaks coupons</a:t>
            </a:r>
            <a:endParaRPr lang="en-US" sz="1200" dirty="0"/>
          </a:p>
        </p:txBody>
      </p:sp>
      <p:sp>
        <p:nvSpPr>
          <p:cNvPr id="10" name="Shape 8"/>
          <p:cNvSpPr/>
          <p:nvPr/>
        </p:nvSpPr>
        <p:spPr>
          <a:xfrm>
            <a:off x="812800" y="3884290"/>
            <a:ext cx="6324600" cy="0"/>
          </a:xfrm>
          <a:prstGeom prst="line">
            <a:avLst/>
          </a:prstGeom>
          <a:noFill/>
          <a:ln w="6350">
            <a:solidFill>
              <a:srgbClr val="DDD8CC"/>
            </a:solidFill>
            <a:prstDash val="solid"/>
          </a:ln>
        </p:spPr>
      </p:sp>
      <p:sp>
        <p:nvSpPr>
          <p:cNvPr id="11" name="Text 9"/>
          <p:cNvSpPr/>
          <p:nvPr/>
        </p:nvSpPr>
        <p:spPr>
          <a:xfrm>
            <a:off x="812800" y="3949700"/>
            <a:ext cx="248539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Fixes with side effects</a:t>
            </a:r>
            <a:endParaRPr lang="en-US" sz="1400" dirty="0"/>
          </a:p>
        </p:txBody>
      </p:sp>
      <p:sp>
        <p:nvSpPr>
          <p:cNvPr id="12" name="Text 10"/>
          <p:cNvSpPr/>
          <p:nvPr/>
        </p:nvSpPr>
        <p:spPr>
          <a:xfrm>
            <a:off x="3378200" y="3975100"/>
            <a:ext cx="3871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DEF-12 fix caps discounts but breaks rounding</a:t>
            </a:r>
            <a:endParaRPr lang="en-US" sz="1200" dirty="0"/>
          </a:p>
        </p:txBody>
      </p:sp>
      <p:sp>
        <p:nvSpPr>
          <p:cNvPr id="13" name="Shape 11"/>
          <p:cNvSpPr/>
          <p:nvPr/>
        </p:nvSpPr>
        <p:spPr>
          <a:xfrm>
            <a:off x="812800" y="4265290"/>
            <a:ext cx="6324600" cy="0"/>
          </a:xfrm>
          <a:prstGeom prst="line">
            <a:avLst/>
          </a:prstGeom>
          <a:noFill/>
          <a:ln w="6350">
            <a:solidFill>
              <a:srgbClr val="DDD8CC"/>
            </a:solidFill>
            <a:prstDash val="solid"/>
          </a:ln>
        </p:spPr>
      </p:sp>
      <p:sp>
        <p:nvSpPr>
          <p:cNvPr id="14" name="Text 12"/>
          <p:cNvSpPr/>
          <p:nvPr/>
        </p:nvSpPr>
        <p:spPr>
          <a:xfrm>
            <a:off x="812800" y="4330700"/>
            <a:ext cx="248539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Dependency upgrades</a:t>
            </a:r>
            <a:endParaRPr lang="en-US" sz="1400" dirty="0"/>
          </a:p>
        </p:txBody>
      </p:sp>
      <p:sp>
        <p:nvSpPr>
          <p:cNvPr id="15" name="Text 13"/>
          <p:cNvSpPr/>
          <p:nvPr/>
        </p:nvSpPr>
        <p:spPr>
          <a:xfrm>
            <a:off x="3378200" y="4356100"/>
            <a:ext cx="3871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 new payment SDK changes its response format</a:t>
            </a:r>
            <a:endParaRPr lang="en-US" sz="1200" dirty="0"/>
          </a:p>
        </p:txBody>
      </p:sp>
      <p:sp>
        <p:nvSpPr>
          <p:cNvPr id="16" name="Shape 14"/>
          <p:cNvSpPr/>
          <p:nvPr/>
        </p:nvSpPr>
        <p:spPr>
          <a:xfrm>
            <a:off x="812800" y="4646290"/>
            <a:ext cx="6324600" cy="0"/>
          </a:xfrm>
          <a:prstGeom prst="line">
            <a:avLst/>
          </a:prstGeom>
          <a:noFill/>
          <a:ln w="6350">
            <a:solidFill>
              <a:srgbClr val="DDD8CC"/>
            </a:solidFill>
            <a:prstDash val="solid"/>
          </a:ln>
        </p:spPr>
      </p:sp>
      <p:sp>
        <p:nvSpPr>
          <p:cNvPr id="17" name="Shape 15"/>
          <p:cNvSpPr/>
          <p:nvPr/>
        </p:nvSpPr>
        <p:spPr>
          <a:xfrm>
            <a:off x="812800" y="5026020"/>
            <a:ext cx="6324600" cy="0"/>
          </a:xfrm>
          <a:prstGeom prst="line">
            <a:avLst/>
          </a:prstGeom>
          <a:noFill/>
          <a:ln w="6350">
            <a:solidFill>
              <a:srgbClr val="DDD8CC"/>
            </a:solidFill>
            <a:prstDash val="solid"/>
          </a:ln>
        </p:spPr>
      </p:sp>
      <p:sp>
        <p:nvSpPr>
          <p:cNvPr id="18" name="Text 16"/>
          <p:cNvSpPr/>
          <p:nvPr/>
        </p:nvSpPr>
        <p:spPr>
          <a:xfrm>
            <a:off x="812800" y="4711700"/>
            <a:ext cx="248539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Configuration changes</a:t>
            </a:r>
            <a:endParaRPr lang="en-US" sz="1400" dirty="0"/>
          </a:p>
        </p:txBody>
      </p:sp>
      <p:sp>
        <p:nvSpPr>
          <p:cNvPr id="19" name="Text 17"/>
          <p:cNvSpPr/>
          <p:nvPr/>
        </p:nvSpPr>
        <p:spPr>
          <a:xfrm>
            <a:off x="3378200" y="4737100"/>
            <a:ext cx="3871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 tax setting on staging alters every total</a:t>
            </a:r>
            <a:endParaRPr lang="en-US" sz="1200" dirty="0"/>
          </a:p>
        </p:txBody>
      </p:sp>
      <p:sp>
        <p:nvSpPr>
          <p:cNvPr id="20" name="Shape 18"/>
          <p:cNvSpPr/>
          <p:nvPr/>
        </p:nvSpPr>
        <p:spPr>
          <a:xfrm>
            <a:off x="7445375" y="3010545"/>
            <a:ext cx="3930650" cy="979170"/>
          </a:xfrm>
          <a:prstGeom prst="roundRect">
            <a:avLst>
              <a:gd name="adj" fmla="val 7458"/>
            </a:avLst>
          </a:prstGeom>
          <a:solidFill>
            <a:srgbClr val="FCFBF7"/>
          </a:solidFill>
          <a:ln w="6350">
            <a:solidFill>
              <a:srgbClr val="DDD8CC"/>
            </a:solidFill>
            <a:prstDash val="solid"/>
          </a:ln>
        </p:spPr>
      </p:sp>
      <p:sp>
        <p:nvSpPr>
          <p:cNvPr id="21" name="Text 19"/>
          <p:cNvSpPr/>
          <p:nvPr/>
        </p:nvSpPr>
        <p:spPr>
          <a:xfrm>
            <a:off x="7625080" y="3152155"/>
            <a:ext cx="3678377"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Re-testing (confirmation)</a:t>
            </a:r>
            <a:endParaRPr lang="en-US" sz="1400" dirty="0"/>
          </a:p>
        </p:txBody>
      </p:sp>
      <p:sp>
        <p:nvSpPr>
          <p:cNvPr id="22" name="Text 20"/>
          <p:cNvSpPr/>
          <p:nvPr/>
        </p:nvSpPr>
        <p:spPr>
          <a:xfrm>
            <a:off x="7625080" y="3421385"/>
            <a:ext cx="367837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Does the fixed defect stay fixed? Rerun the test that failed.</a:t>
            </a:r>
            <a:endParaRPr lang="en-US" sz="1200" dirty="0"/>
          </a:p>
        </p:txBody>
      </p:sp>
      <p:sp>
        <p:nvSpPr>
          <p:cNvPr id="23" name="Shape 21"/>
          <p:cNvSpPr/>
          <p:nvPr/>
        </p:nvSpPr>
        <p:spPr>
          <a:xfrm>
            <a:off x="7445375" y="4097660"/>
            <a:ext cx="3930650" cy="979170"/>
          </a:xfrm>
          <a:prstGeom prst="roundRect">
            <a:avLst>
              <a:gd name="adj" fmla="val 7458"/>
            </a:avLst>
          </a:prstGeom>
          <a:solidFill>
            <a:srgbClr val="F7E3D5"/>
          </a:solidFill>
          <a:ln w="6350">
            <a:solidFill>
              <a:srgbClr val="E9C3A8"/>
            </a:solidFill>
            <a:prstDash val="solid"/>
          </a:ln>
        </p:spPr>
      </p:sp>
      <p:sp>
        <p:nvSpPr>
          <p:cNvPr id="24" name="Text 22"/>
          <p:cNvSpPr/>
          <p:nvPr/>
        </p:nvSpPr>
        <p:spPr>
          <a:xfrm>
            <a:off x="7625080" y="4239270"/>
            <a:ext cx="3678377"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Regression testing</a:t>
            </a:r>
            <a:endParaRPr lang="en-US" sz="1400" dirty="0"/>
          </a:p>
        </p:txBody>
      </p:sp>
      <p:sp>
        <p:nvSpPr>
          <p:cNvPr id="25" name="Text 23"/>
          <p:cNvSpPr/>
          <p:nvPr/>
        </p:nvSpPr>
        <p:spPr>
          <a:xfrm>
            <a:off x="7625080" y="4508500"/>
            <a:ext cx="367837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Did the change break anything else? Rerun tests of the unchanged areas.</a:t>
            </a:r>
            <a:endParaRPr lang="en-US" sz="1200" dirty="0"/>
          </a:p>
        </p:txBody>
      </p:sp>
      <p:sp>
        <p:nvSpPr>
          <p:cNvPr id="26" name="Text 24"/>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7" name="Text 25"/>
          <p:cNvSpPr/>
          <p:nvPr/>
        </p:nvSpPr>
        <p:spPr>
          <a:xfrm>
            <a:off x="8205312" y="6238255"/>
            <a:ext cx="32691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Definition: ISTQB Glossary · after a fix, do both</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L11 · REGRESSION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Choosing which regression tests to run</a:t>
            </a:r>
            <a:endParaRPr lang="en-US" sz="3200" dirty="0"/>
          </a:p>
        </p:txBody>
      </p:sp>
      <p:sp>
        <p:nvSpPr>
          <p:cNvPr id="4" name="Shape 2"/>
          <p:cNvSpPr/>
          <p:nvPr/>
        </p:nvSpPr>
        <p:spPr>
          <a:xfrm>
            <a:off x="815975" y="1831975"/>
            <a:ext cx="2520950" cy="2465070"/>
          </a:xfrm>
          <a:prstGeom prst="roundRect">
            <a:avLst>
              <a:gd name="adj" fmla="val 2962"/>
            </a:avLst>
          </a:prstGeom>
          <a:solidFill>
            <a:srgbClr val="FCFBF7"/>
          </a:solidFill>
          <a:ln w="6350">
            <a:solidFill>
              <a:srgbClr val="DDD8CC"/>
            </a:solidFill>
            <a:prstDash val="solid"/>
          </a:ln>
        </p:spPr>
      </p:sp>
      <p:sp>
        <p:nvSpPr>
          <p:cNvPr id="5" name="Text 3"/>
          <p:cNvSpPr/>
          <p:nvPr/>
        </p:nvSpPr>
        <p:spPr>
          <a:xfrm>
            <a:off x="995680" y="2011685"/>
            <a:ext cx="222638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Retest all</a:t>
            </a:r>
            <a:endParaRPr lang="en-US" sz="1400" dirty="0"/>
          </a:p>
        </p:txBody>
      </p:sp>
      <p:sp>
        <p:nvSpPr>
          <p:cNvPr id="6" name="Text 4"/>
          <p:cNvSpPr/>
          <p:nvPr/>
        </p:nvSpPr>
        <p:spPr>
          <a:xfrm>
            <a:off x="995680" y="2293615"/>
            <a:ext cx="22263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Run the entire suite.</a:t>
            </a:r>
            <a:endParaRPr lang="en-US" sz="1200" dirty="0"/>
          </a:p>
        </p:txBody>
      </p:sp>
      <p:sp>
        <p:nvSpPr>
          <p:cNvPr id="7" name="Text 5"/>
          <p:cNvSpPr/>
          <p:nvPr/>
        </p:nvSpPr>
        <p:spPr>
          <a:xfrm>
            <a:off x="995680" y="2621285"/>
            <a:ext cx="22263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WHEN</a:t>
            </a:r>
            <a:endParaRPr lang="en-US" sz="1200" dirty="0"/>
          </a:p>
        </p:txBody>
      </p:sp>
      <p:sp>
        <p:nvSpPr>
          <p:cNvPr id="8" name="Text 6"/>
          <p:cNvSpPr/>
          <p:nvPr/>
        </p:nvSpPr>
        <p:spPr>
          <a:xfrm>
            <a:off x="995680" y="2885455"/>
            <a:ext cx="22263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 major release or a big refactor</a:t>
            </a:r>
            <a:endParaRPr lang="en-US" sz="1200" dirty="0"/>
          </a:p>
        </p:txBody>
      </p:sp>
      <p:sp>
        <p:nvSpPr>
          <p:cNvPr id="9" name="Text 7"/>
          <p:cNvSpPr/>
          <p:nvPr/>
        </p:nvSpPr>
        <p:spPr>
          <a:xfrm>
            <a:off x="995680" y="3426470"/>
            <a:ext cx="22263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TRADE-OFF</a:t>
            </a:r>
            <a:endParaRPr lang="en-US" sz="1200" dirty="0"/>
          </a:p>
        </p:txBody>
      </p:sp>
      <p:sp>
        <p:nvSpPr>
          <p:cNvPr id="10" name="Text 8"/>
          <p:cNvSpPr/>
          <p:nvPr/>
        </p:nvSpPr>
        <p:spPr>
          <a:xfrm>
            <a:off x="995680" y="3690615"/>
            <a:ext cx="22263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Safest, but slowest</a:t>
            </a:r>
            <a:endParaRPr lang="en-US" sz="1200" dirty="0"/>
          </a:p>
        </p:txBody>
      </p:sp>
      <p:sp>
        <p:nvSpPr>
          <p:cNvPr id="11" name="Shape 9"/>
          <p:cNvSpPr/>
          <p:nvPr/>
        </p:nvSpPr>
        <p:spPr>
          <a:xfrm>
            <a:off x="3495675" y="1831975"/>
            <a:ext cx="2520950" cy="2465070"/>
          </a:xfrm>
          <a:prstGeom prst="roundRect">
            <a:avLst>
              <a:gd name="adj" fmla="val 2962"/>
            </a:avLst>
          </a:prstGeom>
          <a:solidFill>
            <a:srgbClr val="FCFBF7"/>
          </a:solidFill>
          <a:ln w="6350">
            <a:solidFill>
              <a:srgbClr val="DDD8CC"/>
            </a:solidFill>
            <a:prstDash val="solid"/>
          </a:ln>
        </p:spPr>
      </p:sp>
      <p:sp>
        <p:nvSpPr>
          <p:cNvPr id="12" name="Text 10"/>
          <p:cNvSpPr/>
          <p:nvPr/>
        </p:nvSpPr>
        <p:spPr>
          <a:xfrm>
            <a:off x="3675380" y="2011685"/>
            <a:ext cx="222638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Test selection</a:t>
            </a:r>
            <a:endParaRPr lang="en-US" sz="1400" dirty="0"/>
          </a:p>
        </p:txBody>
      </p:sp>
      <p:sp>
        <p:nvSpPr>
          <p:cNvPr id="13" name="Text 11"/>
          <p:cNvSpPr/>
          <p:nvPr/>
        </p:nvSpPr>
        <p:spPr>
          <a:xfrm>
            <a:off x="3675380" y="2293615"/>
            <a:ext cx="222638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Run only tests linked to the changed code (impact analysis).</a:t>
            </a:r>
            <a:endParaRPr lang="en-US" sz="1200" dirty="0"/>
          </a:p>
        </p:txBody>
      </p:sp>
      <p:sp>
        <p:nvSpPr>
          <p:cNvPr id="14" name="Text 12"/>
          <p:cNvSpPr/>
          <p:nvPr/>
        </p:nvSpPr>
        <p:spPr>
          <a:xfrm>
            <a:off x="3675380" y="3048000"/>
            <a:ext cx="22263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WHEN</a:t>
            </a:r>
            <a:endParaRPr lang="en-US" sz="1200" dirty="0"/>
          </a:p>
        </p:txBody>
      </p:sp>
      <p:sp>
        <p:nvSpPr>
          <p:cNvPr id="15" name="Text 13"/>
          <p:cNvSpPr/>
          <p:nvPr/>
        </p:nvSpPr>
        <p:spPr>
          <a:xfrm>
            <a:off x="3675380" y="3312170"/>
            <a:ext cx="22263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Every commit and pull request</a:t>
            </a:r>
            <a:endParaRPr lang="en-US" sz="1200" dirty="0"/>
          </a:p>
        </p:txBody>
      </p:sp>
      <p:sp>
        <p:nvSpPr>
          <p:cNvPr id="16" name="Text 14"/>
          <p:cNvSpPr/>
          <p:nvPr/>
        </p:nvSpPr>
        <p:spPr>
          <a:xfrm>
            <a:off x="3675380" y="3639815"/>
            <a:ext cx="22263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TRADE-OFF</a:t>
            </a:r>
            <a:endParaRPr lang="en-US" sz="1200" dirty="0"/>
          </a:p>
        </p:txBody>
      </p:sp>
      <p:sp>
        <p:nvSpPr>
          <p:cNvPr id="17" name="Text 15"/>
          <p:cNvSpPr/>
          <p:nvPr/>
        </p:nvSpPr>
        <p:spPr>
          <a:xfrm>
            <a:off x="3675380" y="3903985"/>
            <a:ext cx="22263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Fast; needs good traceability</a:t>
            </a:r>
            <a:endParaRPr lang="en-US" sz="1200" dirty="0"/>
          </a:p>
        </p:txBody>
      </p:sp>
      <p:sp>
        <p:nvSpPr>
          <p:cNvPr id="18" name="Shape 16"/>
          <p:cNvSpPr/>
          <p:nvPr/>
        </p:nvSpPr>
        <p:spPr>
          <a:xfrm>
            <a:off x="6175375" y="1831975"/>
            <a:ext cx="2520950" cy="2465070"/>
          </a:xfrm>
          <a:prstGeom prst="roundRect">
            <a:avLst>
              <a:gd name="adj" fmla="val 2962"/>
            </a:avLst>
          </a:prstGeom>
          <a:solidFill>
            <a:srgbClr val="FCFBF7"/>
          </a:solidFill>
          <a:ln w="6350">
            <a:solidFill>
              <a:srgbClr val="DDD8CC"/>
            </a:solidFill>
            <a:prstDash val="solid"/>
          </a:ln>
        </p:spPr>
      </p:sp>
      <p:sp>
        <p:nvSpPr>
          <p:cNvPr id="19" name="Text 17"/>
          <p:cNvSpPr/>
          <p:nvPr/>
        </p:nvSpPr>
        <p:spPr>
          <a:xfrm>
            <a:off x="6355080" y="2011685"/>
            <a:ext cx="222638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Prioritisation</a:t>
            </a:r>
            <a:endParaRPr lang="en-US" sz="1400" dirty="0"/>
          </a:p>
        </p:txBody>
      </p:sp>
      <p:sp>
        <p:nvSpPr>
          <p:cNvPr id="20" name="Text 18"/>
          <p:cNvSpPr/>
          <p:nvPr/>
        </p:nvSpPr>
        <p:spPr>
          <a:xfrm>
            <a:off x="6355080" y="2293615"/>
            <a:ext cx="22263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Order tests by risk, business value and defect history.</a:t>
            </a:r>
            <a:endParaRPr lang="en-US" sz="1200" dirty="0"/>
          </a:p>
        </p:txBody>
      </p:sp>
      <p:sp>
        <p:nvSpPr>
          <p:cNvPr id="21" name="Text 19"/>
          <p:cNvSpPr/>
          <p:nvPr/>
        </p:nvSpPr>
        <p:spPr>
          <a:xfrm>
            <a:off x="6355080" y="2834655"/>
            <a:ext cx="22263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WHEN</a:t>
            </a:r>
            <a:endParaRPr lang="en-US" sz="1200" dirty="0"/>
          </a:p>
        </p:txBody>
      </p:sp>
      <p:sp>
        <p:nvSpPr>
          <p:cNvPr id="22" name="Text 20"/>
          <p:cNvSpPr/>
          <p:nvPr/>
        </p:nvSpPr>
        <p:spPr>
          <a:xfrm>
            <a:off x="6355080" y="3098800"/>
            <a:ext cx="22263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Little time before a release</a:t>
            </a:r>
            <a:endParaRPr lang="en-US" sz="1200" dirty="0"/>
          </a:p>
        </p:txBody>
      </p:sp>
      <p:sp>
        <p:nvSpPr>
          <p:cNvPr id="23" name="Text 21"/>
          <p:cNvSpPr/>
          <p:nvPr/>
        </p:nvSpPr>
        <p:spPr>
          <a:xfrm>
            <a:off x="6355080" y="3426470"/>
            <a:ext cx="22263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TRADE-OFF</a:t>
            </a:r>
            <a:endParaRPr lang="en-US" sz="1200" dirty="0"/>
          </a:p>
        </p:txBody>
      </p:sp>
      <p:sp>
        <p:nvSpPr>
          <p:cNvPr id="24" name="Text 22"/>
          <p:cNvSpPr/>
          <p:nvPr/>
        </p:nvSpPr>
        <p:spPr>
          <a:xfrm>
            <a:off x="6355080" y="3690615"/>
            <a:ext cx="22263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Critical issues surface first</a:t>
            </a:r>
            <a:endParaRPr lang="en-US" sz="1200" dirty="0"/>
          </a:p>
        </p:txBody>
      </p:sp>
      <p:sp>
        <p:nvSpPr>
          <p:cNvPr id="25" name="Shape 23"/>
          <p:cNvSpPr/>
          <p:nvPr/>
        </p:nvSpPr>
        <p:spPr>
          <a:xfrm>
            <a:off x="8851900" y="1828800"/>
            <a:ext cx="2527300" cy="2471420"/>
          </a:xfrm>
          <a:prstGeom prst="roundRect">
            <a:avLst>
              <a:gd name="adj" fmla="val 3083"/>
            </a:avLst>
          </a:prstGeom>
          <a:solidFill>
            <a:srgbClr val="13233A"/>
          </a:solidFill>
          <a:ln/>
        </p:spPr>
      </p:sp>
      <p:sp>
        <p:nvSpPr>
          <p:cNvPr id="26" name="Text 24"/>
          <p:cNvSpPr/>
          <p:nvPr/>
        </p:nvSpPr>
        <p:spPr>
          <a:xfrm>
            <a:off x="9029700" y="2006600"/>
            <a:ext cx="2236851"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Hybrid</a:t>
            </a:r>
            <a:endParaRPr lang="en-US" sz="1400" dirty="0"/>
          </a:p>
        </p:txBody>
      </p:sp>
      <p:sp>
        <p:nvSpPr>
          <p:cNvPr id="27" name="Text 25"/>
          <p:cNvSpPr/>
          <p:nvPr/>
        </p:nvSpPr>
        <p:spPr>
          <a:xfrm>
            <a:off x="9029700" y="2288555"/>
            <a:ext cx="22368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Select the impacted tests, then run them in priority order.</a:t>
            </a:r>
            <a:endParaRPr lang="en-US" sz="1200" dirty="0"/>
          </a:p>
        </p:txBody>
      </p:sp>
      <p:sp>
        <p:nvSpPr>
          <p:cNvPr id="28" name="Text 26"/>
          <p:cNvSpPr/>
          <p:nvPr/>
        </p:nvSpPr>
        <p:spPr>
          <a:xfrm>
            <a:off x="9029700" y="2829570"/>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9E6"/>
                </a:solidFill>
                <a:latin typeface="JetBrains Mono" pitchFamily="34" charset="0"/>
                <a:ea typeface="JetBrains Mono" pitchFamily="34" charset="-122"/>
                <a:cs typeface="JetBrains Mono" pitchFamily="34" charset="-120"/>
              </a:rPr>
              <a:t>WHEN</a:t>
            </a:r>
            <a:endParaRPr lang="en-US" sz="1200" dirty="0"/>
          </a:p>
        </p:txBody>
      </p:sp>
      <p:sp>
        <p:nvSpPr>
          <p:cNvPr id="29" name="Text 27"/>
          <p:cNvSpPr/>
          <p:nvPr/>
        </p:nvSpPr>
        <p:spPr>
          <a:xfrm>
            <a:off x="9029700" y="3093715"/>
            <a:ext cx="22368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Most CI pipelines</a:t>
            </a:r>
            <a:endParaRPr lang="en-US" sz="1200" dirty="0"/>
          </a:p>
        </p:txBody>
      </p:sp>
      <p:sp>
        <p:nvSpPr>
          <p:cNvPr id="30" name="Text 28"/>
          <p:cNvSpPr/>
          <p:nvPr/>
        </p:nvSpPr>
        <p:spPr>
          <a:xfrm>
            <a:off x="9029700" y="3421385"/>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36B"/>
                </a:solidFill>
                <a:latin typeface="JetBrains Mono" pitchFamily="34" charset="0"/>
                <a:ea typeface="JetBrains Mono" pitchFamily="34" charset="-122"/>
                <a:cs typeface="JetBrains Mono" pitchFamily="34" charset="-120"/>
              </a:rPr>
              <a:t>TRADE-OFF</a:t>
            </a:r>
            <a:endParaRPr lang="en-US" sz="1200" dirty="0"/>
          </a:p>
        </p:txBody>
      </p:sp>
      <p:sp>
        <p:nvSpPr>
          <p:cNvPr id="31" name="Text 29"/>
          <p:cNvSpPr/>
          <p:nvPr/>
        </p:nvSpPr>
        <p:spPr>
          <a:xfrm>
            <a:off x="9029700" y="3685555"/>
            <a:ext cx="22368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Balances speed and safety</a:t>
            </a:r>
            <a:endParaRPr lang="en-US" sz="1200" dirty="0"/>
          </a:p>
        </p:txBody>
      </p:sp>
      <p:sp>
        <p:nvSpPr>
          <p:cNvPr id="32" name="Text 30"/>
          <p:cNvSpPr/>
          <p:nvPr/>
        </p:nvSpPr>
        <p:spPr>
          <a:xfrm>
            <a:off x="812800" y="455421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Selection depends on traceability between requirements, tests and code (Lecture 13).</a:t>
            </a:r>
            <a:endParaRPr lang="en-US" sz="1400" dirty="0"/>
          </a:p>
        </p:txBody>
      </p:sp>
      <p:sp>
        <p:nvSpPr>
          <p:cNvPr id="33" name="Text 31"/>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L11 · REGRESSION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Regression testing in CI/CD</a:t>
            </a:r>
            <a:endParaRPr lang="en-US" sz="3200" dirty="0"/>
          </a:p>
        </p:txBody>
      </p:sp>
      <p:sp>
        <p:nvSpPr>
          <p:cNvPr id="4" name="Shape 2"/>
          <p:cNvSpPr/>
          <p:nvPr/>
        </p:nvSpPr>
        <p:spPr>
          <a:xfrm>
            <a:off x="815975" y="1831975"/>
            <a:ext cx="3417570" cy="1357630"/>
          </a:xfrm>
          <a:prstGeom prst="roundRect">
            <a:avLst>
              <a:gd name="adj" fmla="val 5379"/>
            </a:avLst>
          </a:prstGeom>
          <a:solidFill>
            <a:srgbClr val="FCFBF7"/>
          </a:solidFill>
          <a:ln w="6350">
            <a:solidFill>
              <a:srgbClr val="DDD8CC"/>
            </a:solidFill>
            <a:prstDash val="solid"/>
          </a:ln>
        </p:spPr>
      </p:sp>
      <p:sp>
        <p:nvSpPr>
          <p:cNvPr id="5" name="Text 3"/>
          <p:cNvSpPr/>
          <p:nvPr/>
        </p:nvSpPr>
        <p:spPr>
          <a:xfrm>
            <a:off x="1021080" y="2011685"/>
            <a:ext cx="309758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FASTEST</a:t>
            </a:r>
            <a:endParaRPr lang="en-US" sz="1200" dirty="0"/>
          </a:p>
        </p:txBody>
      </p:sp>
      <p:sp>
        <p:nvSpPr>
          <p:cNvPr id="6" name="Text 4"/>
          <p:cNvSpPr/>
          <p:nvPr/>
        </p:nvSpPr>
        <p:spPr>
          <a:xfrm>
            <a:off x="1021080" y="2288555"/>
            <a:ext cx="3097581"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On every commit</a:t>
            </a:r>
            <a:endParaRPr lang="en-US" sz="1400" dirty="0"/>
          </a:p>
        </p:txBody>
      </p:sp>
      <p:sp>
        <p:nvSpPr>
          <p:cNvPr id="7" name="Text 5"/>
          <p:cNvSpPr/>
          <p:nvPr/>
        </p:nvSpPr>
        <p:spPr>
          <a:xfrm>
            <a:off x="1021080" y="2583185"/>
            <a:ext cx="309758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Unit tests plus a selected set of fast regression tests. A failure blocks the merge.</a:t>
            </a:r>
            <a:endParaRPr lang="en-US" sz="1200" dirty="0"/>
          </a:p>
        </p:txBody>
      </p:sp>
      <p:sp>
        <p:nvSpPr>
          <p:cNvPr id="8" name="Shape 6"/>
          <p:cNvSpPr/>
          <p:nvPr/>
        </p:nvSpPr>
        <p:spPr>
          <a:xfrm>
            <a:off x="4392295" y="1831975"/>
            <a:ext cx="3417570" cy="1357630"/>
          </a:xfrm>
          <a:prstGeom prst="roundRect">
            <a:avLst>
              <a:gd name="adj" fmla="val 5379"/>
            </a:avLst>
          </a:prstGeom>
          <a:solidFill>
            <a:srgbClr val="FCFBF7"/>
          </a:solidFill>
          <a:ln w="6350">
            <a:solidFill>
              <a:srgbClr val="DDD8CC"/>
            </a:solidFill>
            <a:prstDash val="solid"/>
          </a:ln>
        </p:spPr>
      </p:sp>
      <p:sp>
        <p:nvSpPr>
          <p:cNvPr id="9" name="Text 7"/>
          <p:cNvSpPr/>
          <p:nvPr/>
        </p:nvSpPr>
        <p:spPr>
          <a:xfrm>
            <a:off x="4597400" y="2011685"/>
            <a:ext cx="309758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BROADER</a:t>
            </a:r>
            <a:endParaRPr lang="en-US" sz="1200" dirty="0"/>
          </a:p>
        </p:txBody>
      </p:sp>
      <p:sp>
        <p:nvSpPr>
          <p:cNvPr id="10" name="Text 8"/>
          <p:cNvSpPr/>
          <p:nvPr/>
        </p:nvSpPr>
        <p:spPr>
          <a:xfrm>
            <a:off x="4597400" y="2288555"/>
            <a:ext cx="3097581"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After each deploy to test</a:t>
            </a:r>
            <a:endParaRPr lang="en-US" sz="1400" dirty="0"/>
          </a:p>
        </p:txBody>
      </p:sp>
      <p:sp>
        <p:nvSpPr>
          <p:cNvPr id="11" name="Text 9"/>
          <p:cNvSpPr/>
          <p:nvPr/>
        </p:nvSpPr>
        <p:spPr>
          <a:xfrm>
            <a:off x="4597400" y="2583185"/>
            <a:ext cx="309758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smoke suite first, then API and integration regression tests.</a:t>
            </a:r>
            <a:endParaRPr lang="en-US" sz="1200" dirty="0"/>
          </a:p>
        </p:txBody>
      </p:sp>
      <p:sp>
        <p:nvSpPr>
          <p:cNvPr id="12" name="Shape 10"/>
          <p:cNvSpPr/>
          <p:nvPr/>
        </p:nvSpPr>
        <p:spPr>
          <a:xfrm>
            <a:off x="7965440" y="1828800"/>
            <a:ext cx="3413760" cy="1363980"/>
          </a:xfrm>
          <a:prstGeom prst="roundRect">
            <a:avLst>
              <a:gd name="adj" fmla="val 5587"/>
            </a:avLst>
          </a:prstGeom>
          <a:solidFill>
            <a:srgbClr val="13233A"/>
          </a:solidFill>
          <a:ln/>
        </p:spPr>
      </p:sp>
      <p:sp>
        <p:nvSpPr>
          <p:cNvPr id="13" name="Text 11"/>
          <p:cNvSpPr/>
          <p:nvPr/>
        </p:nvSpPr>
        <p:spPr>
          <a:xfrm>
            <a:off x="8168640" y="2006600"/>
            <a:ext cx="309758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BROADEST</a:t>
            </a:r>
            <a:endParaRPr lang="en-US" sz="1200" dirty="0"/>
          </a:p>
        </p:txBody>
      </p:sp>
      <p:sp>
        <p:nvSpPr>
          <p:cNvPr id="14" name="Text 12"/>
          <p:cNvSpPr/>
          <p:nvPr/>
        </p:nvSpPr>
        <p:spPr>
          <a:xfrm>
            <a:off x="8168640" y="2283470"/>
            <a:ext cx="3097581"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Nightly and before release</a:t>
            </a:r>
            <a:endParaRPr lang="en-US" sz="1400" dirty="0"/>
          </a:p>
        </p:txBody>
      </p:sp>
      <p:sp>
        <p:nvSpPr>
          <p:cNvPr id="15" name="Text 13"/>
          <p:cNvSpPr/>
          <p:nvPr/>
        </p:nvSpPr>
        <p:spPr>
          <a:xfrm>
            <a:off x="8168640" y="2578100"/>
            <a:ext cx="309758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The full suite, including UI end-to-end tests and cross-browser runs.</a:t>
            </a:r>
            <a:endParaRPr lang="en-US" sz="1200" dirty="0"/>
          </a:p>
        </p:txBody>
      </p:sp>
      <p:sp>
        <p:nvSpPr>
          <p:cNvPr id="16" name="Text 14"/>
          <p:cNvSpPr/>
          <p:nvPr/>
        </p:nvSpPr>
        <p:spPr>
          <a:xfrm>
            <a:off x="812800" y="344678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KEEPING THE SUITE HEALTHY</a:t>
            </a:r>
            <a:endParaRPr lang="en-US" sz="1200" dirty="0"/>
          </a:p>
        </p:txBody>
      </p:sp>
      <p:sp>
        <p:nvSpPr>
          <p:cNvPr id="17" name="Shape 15"/>
          <p:cNvSpPr/>
          <p:nvPr/>
        </p:nvSpPr>
        <p:spPr>
          <a:xfrm>
            <a:off x="812800" y="3739530"/>
            <a:ext cx="5130800" cy="0"/>
          </a:xfrm>
          <a:prstGeom prst="line">
            <a:avLst/>
          </a:prstGeom>
          <a:noFill/>
          <a:ln w="6350">
            <a:solidFill>
              <a:srgbClr val="DDD8CC"/>
            </a:solidFill>
            <a:prstDash val="solid"/>
          </a:ln>
        </p:spPr>
      </p:sp>
      <p:sp>
        <p:nvSpPr>
          <p:cNvPr id="18" name="Text 16"/>
          <p:cNvSpPr/>
          <p:nvPr/>
        </p:nvSpPr>
        <p:spPr>
          <a:xfrm>
            <a:off x="812800" y="3830335"/>
            <a:ext cx="528472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Fix or quarantine flaky tests quickly</a:t>
            </a:r>
            <a:endParaRPr lang="en-US" sz="1400" dirty="0"/>
          </a:p>
        </p:txBody>
      </p:sp>
      <p:sp>
        <p:nvSpPr>
          <p:cNvPr id="19" name="Shape 17"/>
          <p:cNvSpPr/>
          <p:nvPr/>
        </p:nvSpPr>
        <p:spPr>
          <a:xfrm>
            <a:off x="812800" y="4171330"/>
            <a:ext cx="5130800" cy="0"/>
          </a:xfrm>
          <a:prstGeom prst="line">
            <a:avLst/>
          </a:prstGeom>
          <a:noFill/>
          <a:ln w="6350">
            <a:solidFill>
              <a:srgbClr val="DDD8CC"/>
            </a:solidFill>
            <a:prstDash val="solid"/>
          </a:ln>
        </p:spPr>
      </p:sp>
      <p:sp>
        <p:nvSpPr>
          <p:cNvPr id="20" name="Shape 18"/>
          <p:cNvSpPr/>
          <p:nvPr/>
        </p:nvSpPr>
        <p:spPr>
          <a:xfrm>
            <a:off x="812800" y="4601860"/>
            <a:ext cx="5130800" cy="0"/>
          </a:xfrm>
          <a:prstGeom prst="line">
            <a:avLst/>
          </a:prstGeom>
          <a:noFill/>
          <a:ln w="6350">
            <a:solidFill>
              <a:srgbClr val="DDD8CC"/>
            </a:solidFill>
            <a:prstDash val="solid"/>
          </a:ln>
        </p:spPr>
      </p:sp>
      <p:sp>
        <p:nvSpPr>
          <p:cNvPr id="21" name="Text 19"/>
          <p:cNvSpPr/>
          <p:nvPr/>
        </p:nvSpPr>
        <p:spPr>
          <a:xfrm>
            <a:off x="812800" y="4262135"/>
            <a:ext cx="528472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Delete obsolete tests; keep run time in budget</a:t>
            </a:r>
            <a:endParaRPr lang="en-US" sz="1400" dirty="0"/>
          </a:p>
        </p:txBody>
      </p:sp>
      <p:sp>
        <p:nvSpPr>
          <p:cNvPr id="22" name="Shape 20"/>
          <p:cNvSpPr/>
          <p:nvPr/>
        </p:nvSpPr>
        <p:spPr>
          <a:xfrm>
            <a:off x="6248400" y="3739530"/>
            <a:ext cx="5130800" cy="0"/>
          </a:xfrm>
          <a:prstGeom prst="line">
            <a:avLst/>
          </a:prstGeom>
          <a:noFill/>
          <a:ln w="6350">
            <a:solidFill>
              <a:srgbClr val="DDD8CC"/>
            </a:solidFill>
            <a:prstDash val="solid"/>
          </a:ln>
        </p:spPr>
      </p:sp>
      <p:sp>
        <p:nvSpPr>
          <p:cNvPr id="23" name="Text 21"/>
          <p:cNvSpPr/>
          <p:nvPr/>
        </p:nvSpPr>
        <p:spPr>
          <a:xfrm>
            <a:off x="6248400" y="3830335"/>
            <a:ext cx="528472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Add a regression test for every escaped defect</a:t>
            </a:r>
            <a:endParaRPr lang="en-US" sz="1400" dirty="0"/>
          </a:p>
        </p:txBody>
      </p:sp>
      <p:sp>
        <p:nvSpPr>
          <p:cNvPr id="24" name="Shape 22"/>
          <p:cNvSpPr/>
          <p:nvPr/>
        </p:nvSpPr>
        <p:spPr>
          <a:xfrm>
            <a:off x="6248400" y="4171330"/>
            <a:ext cx="5130800" cy="0"/>
          </a:xfrm>
          <a:prstGeom prst="line">
            <a:avLst/>
          </a:prstGeom>
          <a:noFill/>
          <a:ln w="6350">
            <a:solidFill>
              <a:srgbClr val="DDD8CC"/>
            </a:solidFill>
            <a:prstDash val="solid"/>
          </a:ln>
        </p:spPr>
      </p:sp>
      <p:sp>
        <p:nvSpPr>
          <p:cNvPr id="25" name="Shape 23"/>
          <p:cNvSpPr/>
          <p:nvPr/>
        </p:nvSpPr>
        <p:spPr>
          <a:xfrm>
            <a:off x="6248400" y="4601860"/>
            <a:ext cx="5130800" cy="0"/>
          </a:xfrm>
          <a:prstGeom prst="line">
            <a:avLst/>
          </a:prstGeom>
          <a:noFill/>
          <a:ln w="6350">
            <a:solidFill>
              <a:srgbClr val="DDD8CC"/>
            </a:solidFill>
            <a:prstDash val="solid"/>
          </a:ln>
        </p:spPr>
      </p:sp>
      <p:sp>
        <p:nvSpPr>
          <p:cNvPr id="26" name="Text 24"/>
          <p:cNvSpPr/>
          <p:nvPr/>
        </p:nvSpPr>
        <p:spPr>
          <a:xfrm>
            <a:off x="6248400" y="4262135"/>
            <a:ext cx="528472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Track run time and failure trends on a dashboard</a:t>
            </a:r>
            <a:endParaRPr lang="en-US" sz="1400" dirty="0"/>
          </a:p>
        </p:txBody>
      </p:sp>
      <p:sp>
        <p:nvSpPr>
          <p:cNvPr id="27" name="Text 25"/>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8" name="Text 26"/>
          <p:cNvSpPr/>
          <p:nvPr/>
        </p:nvSpPr>
        <p:spPr>
          <a:xfrm>
            <a:off x="7232809" y="6238255"/>
            <a:ext cx="427078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Flaky test: passes and fails on the same code with no change</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L11 · CHECK YOUR UNDERSTANDING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Knowledge check: Lecture 11</a:t>
            </a:r>
            <a:endParaRPr lang="en-US" sz="3200" dirty="0"/>
          </a:p>
        </p:txBody>
      </p:sp>
      <p:sp>
        <p:nvSpPr>
          <p:cNvPr id="4" name="Shape 2"/>
          <p:cNvSpPr/>
          <p:nvPr/>
        </p:nvSpPr>
        <p:spPr>
          <a:xfrm>
            <a:off x="815975" y="1831975"/>
            <a:ext cx="5175250" cy="1339850"/>
          </a:xfrm>
          <a:prstGeom prst="roundRect">
            <a:avLst>
              <a:gd name="adj" fmla="val 5450"/>
            </a:avLst>
          </a:prstGeom>
          <a:solidFill>
            <a:srgbClr val="FCFBF7"/>
          </a:solidFill>
          <a:ln w="6350">
            <a:solidFill>
              <a:srgbClr val="DDD8CC"/>
            </a:solidFill>
            <a:prstDash val="solid"/>
          </a:ln>
        </p:spPr>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new build cannot open the login page on staging. Which test type should catch this, and what happens to the build?</a:t>
            </a:r>
            <a:endParaRPr lang="en-US" sz="1400" dirty="0"/>
          </a:p>
        </p:txBody>
      </p:sp>
      <p:sp>
        <p:nvSpPr>
          <p:cNvPr id="7" name="Shape 5"/>
          <p:cNvSpPr/>
          <p:nvPr/>
        </p:nvSpPr>
        <p:spPr>
          <a:xfrm>
            <a:off x="6200775" y="1831975"/>
            <a:ext cx="5175250" cy="1339850"/>
          </a:xfrm>
          <a:prstGeom prst="roundRect">
            <a:avLst>
              <a:gd name="adj" fmla="val 5450"/>
            </a:avLst>
          </a:prstGeom>
          <a:solidFill>
            <a:srgbClr val="FCFBF7"/>
          </a:solidFill>
          <a:ln w="6350">
            <a:solidFill>
              <a:srgbClr val="DDD8CC"/>
            </a:solidFill>
            <a:prstDash val="solid"/>
          </a:ln>
        </p:spPr>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developer fixes the coupon-cap bug. Which two kinds of testing follow, and in what order?</a:t>
            </a:r>
            <a:endParaRPr lang="en-US" sz="1400" dirty="0"/>
          </a:p>
        </p:txBody>
      </p:sp>
      <p:sp>
        <p:nvSpPr>
          <p:cNvPr id="10" name="Shape 8"/>
          <p:cNvSpPr/>
          <p:nvPr/>
        </p:nvSpPr>
        <p:spPr>
          <a:xfrm>
            <a:off x="815975" y="3381375"/>
            <a:ext cx="5175250" cy="1339850"/>
          </a:xfrm>
          <a:prstGeom prst="roundRect">
            <a:avLst>
              <a:gd name="adj" fmla="val 5450"/>
            </a:avLst>
          </a:prstGeom>
          <a:solidFill>
            <a:srgbClr val="FCFBF7"/>
          </a:solidFill>
          <a:ln w="6350">
            <a:solidFill>
              <a:srgbClr val="DDD8CC"/>
            </a:solidFill>
            <a:prstDash val="solid"/>
          </a:ln>
        </p:spPr>
      </p:sp>
      <p:sp>
        <p:nvSpPr>
          <p:cNvPr id="11" name="Text 9"/>
          <p:cNvSpPr/>
          <p:nvPr/>
        </p:nvSpPr>
        <p:spPr>
          <a:xfrm>
            <a:off x="10464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full regression suite takes six hours. Name two ways to still get useful feedback on every pull request.</a:t>
            </a:r>
            <a:endParaRPr lang="en-US" sz="1400" dirty="0"/>
          </a:p>
        </p:txBody>
      </p:sp>
      <p:sp>
        <p:nvSpPr>
          <p:cNvPr id="13" name="Shape 11"/>
          <p:cNvSpPr/>
          <p:nvPr/>
        </p:nvSpPr>
        <p:spPr>
          <a:xfrm>
            <a:off x="6200775" y="3381375"/>
            <a:ext cx="5175250" cy="1339850"/>
          </a:xfrm>
          <a:prstGeom prst="roundRect">
            <a:avLst>
              <a:gd name="adj" fmla="val 5450"/>
            </a:avLst>
          </a:prstGeom>
          <a:solidFill>
            <a:srgbClr val="FCFBF7"/>
          </a:solidFill>
          <a:ln w="6350">
            <a:solidFill>
              <a:srgbClr val="DDD8CC"/>
            </a:solidFill>
            <a:prstDash val="solid"/>
          </a:ln>
        </p:spPr>
      </p:sp>
      <p:sp>
        <p:nvSpPr>
          <p:cNvPr id="14" name="Text 12"/>
          <p:cNvSpPr/>
          <p:nvPr/>
        </p:nvSpPr>
        <p:spPr>
          <a:xfrm>
            <a:off x="64312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What is the difference between re-testing and regression testing?</a:t>
            </a:r>
            <a:endParaRPr lang="en-US" sz="1400" dirty="0"/>
          </a:p>
        </p:txBody>
      </p:sp>
      <p:sp>
        <p:nvSpPr>
          <p:cNvPr id="16" name="Text 14"/>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7" name="Text 15"/>
          <p:cNvSpPr/>
          <p:nvPr/>
        </p:nvSpPr>
        <p:spPr>
          <a:xfrm>
            <a:off x="9372044" y="6238255"/>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12</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2 · LECTURE 12 · 40 MINUTES</a:t>
            </a:r>
            <a:endParaRPr lang="en-US" sz="1200" dirty="0"/>
          </a:p>
        </p:txBody>
      </p:sp>
      <p:sp>
        <p:nvSpPr>
          <p:cNvPr id="4" name="Text 2"/>
          <p:cNvSpPr/>
          <p:nvPr/>
        </p:nvSpPr>
        <p:spPr>
          <a:xfrm>
            <a:off x="812800" y="3464570"/>
            <a:ext cx="1046480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From test scenarios</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to test case design</a:t>
            </a:r>
            <a:endParaRPr lang="en-US" sz="5600" dirty="0"/>
          </a:p>
        </p:txBody>
      </p:sp>
      <p:sp>
        <p:nvSpPr>
          <p:cNvPr id="5" name="Shape 3"/>
          <p:cNvSpPr/>
          <p:nvPr/>
        </p:nvSpPr>
        <p:spPr>
          <a:xfrm>
            <a:off x="812800" y="5320035"/>
            <a:ext cx="2794000" cy="0"/>
          </a:xfrm>
          <a:prstGeom prst="line">
            <a:avLst/>
          </a:prstGeom>
          <a:noFill/>
          <a:ln w="12700">
            <a:solidFill>
              <a:srgbClr val="3A5476"/>
            </a:solidFill>
            <a:prstDash val="solid"/>
          </a:ln>
        </p:spPr>
      </p:sp>
      <p:sp>
        <p:nvSpPr>
          <p:cNvPr id="6" name="Text 4"/>
          <p:cNvSpPr/>
          <p:nvPr/>
        </p:nvSpPr>
        <p:spPr>
          <a:xfrm>
            <a:off x="812800" y="54508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7" name="Text 5"/>
          <p:cNvSpPr/>
          <p:nvPr/>
        </p:nvSpPr>
        <p:spPr>
          <a:xfrm>
            <a:off x="8128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Test scenario</a:t>
            </a:r>
            <a:endParaRPr lang="en-US" sz="2000" dirty="0"/>
          </a:p>
        </p:txBody>
      </p:sp>
      <p:sp>
        <p:nvSpPr>
          <p:cNvPr id="8" name="Shape 6"/>
          <p:cNvSpPr/>
          <p:nvPr/>
        </p:nvSpPr>
        <p:spPr>
          <a:xfrm>
            <a:off x="3911600" y="5320035"/>
            <a:ext cx="2794000" cy="0"/>
          </a:xfrm>
          <a:prstGeom prst="line">
            <a:avLst/>
          </a:prstGeom>
          <a:noFill/>
          <a:ln w="12700">
            <a:solidFill>
              <a:srgbClr val="3A5476"/>
            </a:solidFill>
            <a:prstDash val="solid"/>
          </a:ln>
        </p:spPr>
      </p:sp>
      <p:sp>
        <p:nvSpPr>
          <p:cNvPr id="9" name="Text 7"/>
          <p:cNvSpPr/>
          <p:nvPr/>
        </p:nvSpPr>
        <p:spPr>
          <a:xfrm>
            <a:off x="3911600" y="54508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10" name="Text 8"/>
          <p:cNvSpPr/>
          <p:nvPr/>
        </p:nvSpPr>
        <p:spPr>
          <a:xfrm>
            <a:off x="39116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Test case design</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L12 · TEST SCENARIO</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From requirement to test steps</a:t>
            </a:r>
            <a:endParaRPr lang="en-US" sz="3200" dirty="0"/>
          </a:p>
        </p:txBody>
      </p:sp>
      <p:sp>
        <p:nvSpPr>
          <p:cNvPr id="4" name="Shape 2"/>
          <p:cNvSpPr/>
          <p:nvPr/>
        </p:nvSpPr>
        <p:spPr>
          <a:xfrm>
            <a:off x="812800" y="1828800"/>
            <a:ext cx="2286000" cy="716280"/>
          </a:xfrm>
          <a:prstGeom prst="roundRect">
            <a:avLst>
              <a:gd name="adj" fmla="val 10638"/>
            </a:avLst>
          </a:prstGeom>
          <a:solidFill>
            <a:srgbClr val="13233A"/>
          </a:solidFill>
          <a:ln/>
        </p:spPr>
      </p:sp>
      <p:sp>
        <p:nvSpPr>
          <p:cNvPr id="5" name="Text 3"/>
          <p:cNvSpPr/>
          <p:nvPr/>
        </p:nvSpPr>
        <p:spPr>
          <a:xfrm>
            <a:off x="965200" y="1943100"/>
            <a:ext cx="20406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REQ-03</a:t>
            </a:r>
            <a:endParaRPr lang="en-US" sz="1200" dirty="0"/>
          </a:p>
        </p:txBody>
      </p:sp>
      <p:sp>
        <p:nvSpPr>
          <p:cNvPr id="6" name="Text 4"/>
          <p:cNvSpPr/>
          <p:nvPr/>
        </p:nvSpPr>
        <p:spPr>
          <a:xfrm>
            <a:off x="965200" y="2181870"/>
            <a:ext cx="204063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Requirement</a:t>
            </a:r>
            <a:endParaRPr lang="en-US" sz="1400" dirty="0"/>
          </a:p>
        </p:txBody>
      </p:sp>
      <p:sp>
        <p:nvSpPr>
          <p:cNvPr id="7" name="Text 5"/>
          <p:cNvSpPr/>
          <p:nvPr/>
        </p:nvSpPr>
        <p:spPr>
          <a:xfrm>
            <a:off x="3302000" y="2062485"/>
            <a:ext cx="2616200" cy="27432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245A9C"/>
                </a:solidFill>
                <a:latin typeface="IBM Plex Sans" pitchFamily="34" charset="0"/>
                <a:ea typeface="IBM Plex Sans" pitchFamily="34" charset="-122"/>
                <a:cs typeface="IBM Plex Sans" pitchFamily="34" charset="-120"/>
              </a:rPr>
              <a:t>What must the system do?</a:t>
            </a:r>
            <a:endParaRPr lang="en-US" sz="1400" dirty="0"/>
          </a:p>
        </p:txBody>
      </p:sp>
      <p:sp>
        <p:nvSpPr>
          <p:cNvPr id="8" name="Text 6"/>
          <p:cNvSpPr/>
          <p:nvPr/>
        </p:nvSpPr>
        <p:spPr>
          <a:xfrm>
            <a:off x="6045200" y="2062485"/>
            <a:ext cx="54940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SAVE20 takes 20% off orders of ₹200 or more, capped at ₹100.</a:t>
            </a:r>
            <a:endParaRPr lang="en-US" sz="1400" dirty="0"/>
          </a:p>
        </p:txBody>
      </p:sp>
      <p:pic>
        <p:nvPicPr>
          <p:cNvPr id="9" name="Image 0" descr="connector">    </p:cNvPr>
          <p:cNvPicPr>
            <a:picLocks noChangeAspect="1"/>
          </p:cNvPicPr>
          <p:nvPr/>
        </p:nvPicPr>
        <p:blipFill>
          <a:blip r:embed="rId1"/>
          <a:srcRect l="0" r="0" t="0" b="0"/>
          <a:stretch/>
        </p:blipFill>
        <p:spPr>
          <a:xfrm>
            <a:off x="1955800" y="2595885"/>
            <a:ext cx="101600" cy="177800"/>
          </a:xfrm>
          <a:prstGeom prst="rect">
            <a:avLst/>
          </a:prstGeom>
        </p:spPr>
      </p:pic>
      <p:sp>
        <p:nvSpPr>
          <p:cNvPr id="10" name="Shape 7"/>
          <p:cNvSpPr/>
          <p:nvPr/>
        </p:nvSpPr>
        <p:spPr>
          <a:xfrm>
            <a:off x="812800" y="2824485"/>
            <a:ext cx="2286000" cy="716280"/>
          </a:xfrm>
          <a:prstGeom prst="roundRect">
            <a:avLst>
              <a:gd name="adj" fmla="val 10638"/>
            </a:avLst>
          </a:prstGeom>
          <a:solidFill>
            <a:srgbClr val="245A9C"/>
          </a:solidFill>
          <a:ln/>
        </p:spPr>
      </p:sp>
      <p:sp>
        <p:nvSpPr>
          <p:cNvPr id="11" name="Text 8"/>
          <p:cNvSpPr/>
          <p:nvPr/>
        </p:nvSpPr>
        <p:spPr>
          <a:xfrm>
            <a:off x="965200" y="2938785"/>
            <a:ext cx="20406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7F3"/>
                </a:solidFill>
                <a:latin typeface="JetBrains Mono" pitchFamily="34" charset="0"/>
                <a:ea typeface="JetBrains Mono" pitchFamily="34" charset="-122"/>
                <a:cs typeface="JetBrains Mono" pitchFamily="34" charset="-120"/>
              </a:rPr>
              <a:t>TS-03</a:t>
            </a:r>
            <a:endParaRPr lang="en-US" sz="1200" dirty="0"/>
          </a:p>
        </p:txBody>
      </p:sp>
      <p:sp>
        <p:nvSpPr>
          <p:cNvPr id="12" name="Text 9"/>
          <p:cNvSpPr/>
          <p:nvPr/>
        </p:nvSpPr>
        <p:spPr>
          <a:xfrm>
            <a:off x="965200" y="3177555"/>
            <a:ext cx="204063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Test scenario</a:t>
            </a:r>
            <a:endParaRPr lang="en-US" sz="1400" dirty="0"/>
          </a:p>
        </p:txBody>
      </p:sp>
      <p:sp>
        <p:nvSpPr>
          <p:cNvPr id="13" name="Text 10"/>
          <p:cNvSpPr/>
          <p:nvPr/>
        </p:nvSpPr>
        <p:spPr>
          <a:xfrm>
            <a:off x="3302000" y="3058170"/>
            <a:ext cx="2616200" cy="27432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245A9C"/>
                </a:solidFill>
                <a:latin typeface="IBM Plex Sans" pitchFamily="34" charset="0"/>
                <a:ea typeface="IBM Plex Sans" pitchFamily="34" charset="-122"/>
                <a:cs typeface="IBM Plex Sans" pitchFamily="34" charset="-120"/>
              </a:rPr>
              <a:t>What should we test?</a:t>
            </a:r>
            <a:endParaRPr lang="en-US" sz="1400" dirty="0"/>
          </a:p>
        </p:txBody>
      </p:sp>
      <p:sp>
        <p:nvSpPr>
          <p:cNvPr id="14" name="Text 11"/>
          <p:cNvSpPr/>
          <p:nvPr/>
        </p:nvSpPr>
        <p:spPr>
          <a:xfrm>
            <a:off x="6045200" y="3058170"/>
            <a:ext cx="54940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Apply a coupon at checkout.</a:t>
            </a:r>
            <a:endParaRPr lang="en-US" sz="1400" dirty="0"/>
          </a:p>
        </p:txBody>
      </p:sp>
      <p:pic>
        <p:nvPicPr>
          <p:cNvPr id="15" name="Image 1" descr="connector">    </p:cNvPr>
          <p:cNvPicPr>
            <a:picLocks noChangeAspect="1"/>
          </p:cNvPicPr>
          <p:nvPr/>
        </p:nvPicPr>
        <p:blipFill>
          <a:blip r:embed="rId2"/>
          <a:srcRect l="0" r="0" t="0" b="0"/>
          <a:stretch/>
        </p:blipFill>
        <p:spPr>
          <a:xfrm>
            <a:off x="1955800" y="3591570"/>
            <a:ext cx="101600" cy="177800"/>
          </a:xfrm>
          <a:prstGeom prst="rect">
            <a:avLst/>
          </a:prstGeom>
        </p:spPr>
      </p:pic>
      <p:sp>
        <p:nvSpPr>
          <p:cNvPr id="16" name="Shape 12"/>
          <p:cNvSpPr/>
          <p:nvPr/>
        </p:nvSpPr>
        <p:spPr>
          <a:xfrm>
            <a:off x="812800" y="3820170"/>
            <a:ext cx="2286000" cy="716280"/>
          </a:xfrm>
          <a:prstGeom prst="roundRect">
            <a:avLst>
              <a:gd name="adj" fmla="val 10638"/>
            </a:avLst>
          </a:prstGeom>
          <a:solidFill>
            <a:srgbClr val="E98B53"/>
          </a:solidFill>
          <a:ln/>
        </p:spPr>
      </p:sp>
      <p:sp>
        <p:nvSpPr>
          <p:cNvPr id="17" name="Text 13"/>
          <p:cNvSpPr/>
          <p:nvPr/>
        </p:nvSpPr>
        <p:spPr>
          <a:xfrm>
            <a:off x="965200" y="3934470"/>
            <a:ext cx="20406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TC-07 to TC-10</a:t>
            </a:r>
            <a:endParaRPr lang="en-US" sz="1200" dirty="0"/>
          </a:p>
        </p:txBody>
      </p:sp>
      <p:sp>
        <p:nvSpPr>
          <p:cNvPr id="18" name="Text 14"/>
          <p:cNvSpPr/>
          <p:nvPr/>
        </p:nvSpPr>
        <p:spPr>
          <a:xfrm>
            <a:off x="965200" y="4173215"/>
            <a:ext cx="204063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Test cases</a:t>
            </a:r>
            <a:endParaRPr lang="en-US" sz="1400" dirty="0"/>
          </a:p>
        </p:txBody>
      </p:sp>
      <p:sp>
        <p:nvSpPr>
          <p:cNvPr id="19" name="Text 15"/>
          <p:cNvSpPr/>
          <p:nvPr/>
        </p:nvSpPr>
        <p:spPr>
          <a:xfrm>
            <a:off x="3302000" y="4053855"/>
            <a:ext cx="2616200" cy="27432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245A9C"/>
                </a:solidFill>
                <a:latin typeface="IBM Plex Sans" pitchFamily="34" charset="0"/>
                <a:ea typeface="IBM Plex Sans" pitchFamily="34" charset="-122"/>
                <a:cs typeface="IBM Plex Sans" pitchFamily="34" charset="-120"/>
              </a:rPr>
              <a:t>How, with what data and result?</a:t>
            </a:r>
            <a:endParaRPr lang="en-US" sz="1400" dirty="0"/>
          </a:p>
        </p:txBody>
      </p:sp>
      <p:sp>
        <p:nvSpPr>
          <p:cNvPr id="20" name="Text 16"/>
          <p:cNvSpPr/>
          <p:nvPr/>
        </p:nvSpPr>
        <p:spPr>
          <a:xfrm>
            <a:off x="6045200" y="3929385"/>
            <a:ext cx="549402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₹300 pays ₹240 · ₹800 pays ₹700 · ₹150 rejected · SAVE2O invalid</a:t>
            </a:r>
            <a:endParaRPr lang="en-US" sz="1400" dirty="0"/>
          </a:p>
        </p:txBody>
      </p:sp>
      <p:pic>
        <p:nvPicPr>
          <p:cNvPr id="21" name="Image 2" descr="connector">    </p:cNvPr>
          <p:cNvPicPr>
            <a:picLocks noChangeAspect="1"/>
          </p:cNvPicPr>
          <p:nvPr/>
        </p:nvPicPr>
        <p:blipFill>
          <a:blip r:embed="rId3"/>
          <a:srcRect l="0" r="0" t="0" b="0"/>
          <a:stretch/>
        </p:blipFill>
        <p:spPr>
          <a:xfrm>
            <a:off x="1955800" y="4587255"/>
            <a:ext cx="101600" cy="177800"/>
          </a:xfrm>
          <a:prstGeom prst="rect">
            <a:avLst/>
          </a:prstGeom>
        </p:spPr>
      </p:pic>
      <p:sp>
        <p:nvSpPr>
          <p:cNvPr id="22" name="Shape 17"/>
          <p:cNvSpPr/>
          <p:nvPr/>
        </p:nvSpPr>
        <p:spPr>
          <a:xfrm>
            <a:off x="815975" y="4819030"/>
            <a:ext cx="2279650" cy="720090"/>
          </a:xfrm>
          <a:prstGeom prst="roundRect">
            <a:avLst>
              <a:gd name="adj" fmla="val 10141"/>
            </a:avLst>
          </a:prstGeom>
          <a:solidFill>
            <a:srgbClr val="FCFBF7"/>
          </a:solidFill>
          <a:ln w="6350">
            <a:solidFill>
              <a:srgbClr val="DDD8CC"/>
            </a:solidFill>
            <a:prstDash val="solid"/>
          </a:ln>
        </p:spPr>
      </p:sp>
      <p:sp>
        <p:nvSpPr>
          <p:cNvPr id="23" name="Text 18"/>
          <p:cNvSpPr/>
          <p:nvPr/>
        </p:nvSpPr>
        <p:spPr>
          <a:xfrm>
            <a:off x="970280" y="4935215"/>
            <a:ext cx="20301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481A"/>
                </a:solidFill>
                <a:latin typeface="JetBrains Mono" pitchFamily="34" charset="0"/>
                <a:ea typeface="JetBrains Mono" pitchFamily="34" charset="-122"/>
                <a:cs typeface="JetBrains Mono" pitchFamily="34" charset="-120"/>
              </a:rPr>
              <a:t>TC-07 · steps</a:t>
            </a:r>
            <a:endParaRPr lang="en-US" sz="1200" dirty="0"/>
          </a:p>
        </p:txBody>
      </p:sp>
      <p:sp>
        <p:nvSpPr>
          <p:cNvPr id="24" name="Text 19"/>
          <p:cNvSpPr/>
          <p:nvPr/>
        </p:nvSpPr>
        <p:spPr>
          <a:xfrm>
            <a:off x="970280" y="5173985"/>
            <a:ext cx="203017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Steps and data</a:t>
            </a:r>
            <a:endParaRPr lang="en-US" sz="1400" dirty="0"/>
          </a:p>
        </p:txBody>
      </p:sp>
      <p:sp>
        <p:nvSpPr>
          <p:cNvPr id="25" name="Text 20"/>
          <p:cNvSpPr/>
          <p:nvPr/>
        </p:nvSpPr>
        <p:spPr>
          <a:xfrm>
            <a:off x="3302000" y="5054600"/>
            <a:ext cx="2616200" cy="27432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245A9C"/>
                </a:solidFill>
                <a:latin typeface="IBM Plex Sans" pitchFamily="34" charset="0"/>
                <a:ea typeface="IBM Plex Sans" pitchFamily="34" charset="-122"/>
                <a:cs typeface="IBM Plex Sans" pitchFamily="34" charset="-120"/>
              </a:rPr>
              <a:t>Exactly what do we do?</a:t>
            </a:r>
            <a:endParaRPr lang="en-US" sz="1400" dirty="0"/>
          </a:p>
        </p:txBody>
      </p:sp>
      <p:sp>
        <p:nvSpPr>
          <p:cNvPr id="26" name="Text 21"/>
          <p:cNvSpPr/>
          <p:nvPr/>
        </p:nvSpPr>
        <p:spPr>
          <a:xfrm>
            <a:off x="6045200" y="5054600"/>
            <a:ext cx="54940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Log in as S101 · add items worth ₹300 · enter SAVE20 · tap Apply</a:t>
            </a:r>
            <a:endParaRPr lang="en-US" sz="1400" dirty="0"/>
          </a:p>
        </p:txBody>
      </p:sp>
      <p:sp>
        <p:nvSpPr>
          <p:cNvPr id="27" name="Text 22"/>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8" name="Text 23"/>
          <p:cNvSpPr/>
          <p:nvPr/>
        </p:nvSpPr>
        <p:spPr>
          <a:xfrm>
            <a:off x="7330678" y="6238255"/>
            <a:ext cx="41699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One requirement, one scenario, four test cases, many steps</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L12 · TEST SCENARIO</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Test scenarios</a:t>
            </a:r>
            <a:endParaRPr lang="en-US" sz="3200" dirty="0"/>
          </a:p>
        </p:txBody>
      </p:sp>
      <p:sp>
        <p:nvSpPr>
          <p:cNvPr id="4" name="Text 2"/>
          <p:cNvSpPr/>
          <p:nvPr/>
        </p:nvSpPr>
        <p:spPr>
          <a:xfrm>
            <a:off x="812800" y="1828800"/>
            <a:ext cx="599109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test scenario is a one-line statement of a situation to test: what to test, not how.</a:t>
            </a:r>
            <a:endParaRPr lang="en-US" sz="1400" dirty="0"/>
          </a:p>
        </p:txBody>
      </p:sp>
      <p:sp>
        <p:nvSpPr>
          <p:cNvPr id="5" name="Text 3"/>
          <p:cNvSpPr/>
          <p:nvPr/>
        </p:nvSpPr>
        <p:spPr>
          <a:xfrm>
            <a:off x="812800" y="2402855"/>
            <a:ext cx="599109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ISTQB's closest term is test condition: “A testable aspect of a component or system identified as a basis for testing.”</a:t>
            </a:r>
            <a:endParaRPr lang="en-US" sz="1200" dirty="0"/>
          </a:p>
        </p:txBody>
      </p:sp>
      <p:sp>
        <p:nvSpPr>
          <p:cNvPr id="6" name="Text 4"/>
          <p:cNvSpPr/>
          <p:nvPr/>
        </p:nvSpPr>
        <p:spPr>
          <a:xfrm>
            <a:off x="812800" y="2981970"/>
            <a:ext cx="599109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HOW TO DERIVE THEM</a:t>
            </a:r>
            <a:endParaRPr lang="en-US" sz="1200" dirty="0"/>
          </a:p>
        </p:txBody>
      </p:sp>
      <p:sp>
        <p:nvSpPr>
          <p:cNvPr id="7" name="Shape 5"/>
          <p:cNvSpPr/>
          <p:nvPr/>
        </p:nvSpPr>
        <p:spPr>
          <a:xfrm>
            <a:off x="812800" y="3274690"/>
            <a:ext cx="5816600" cy="0"/>
          </a:xfrm>
          <a:prstGeom prst="line">
            <a:avLst/>
          </a:prstGeom>
          <a:noFill/>
          <a:ln w="6350">
            <a:solidFill>
              <a:srgbClr val="DDD8CC"/>
            </a:solidFill>
            <a:prstDash val="solid"/>
          </a:ln>
        </p:spPr>
      </p:sp>
      <p:sp>
        <p:nvSpPr>
          <p:cNvPr id="8" name="Text 6"/>
          <p:cNvSpPr/>
          <p:nvPr/>
        </p:nvSpPr>
        <p:spPr>
          <a:xfrm>
            <a:off x="812800" y="3340100"/>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1</a:t>
            </a:r>
            <a:endParaRPr lang="en-US" sz="1200" dirty="0"/>
          </a:p>
        </p:txBody>
      </p:sp>
      <p:sp>
        <p:nvSpPr>
          <p:cNvPr id="9" name="Text 7"/>
          <p:cNvSpPr/>
          <p:nvPr/>
        </p:nvSpPr>
        <p:spPr>
          <a:xfrm>
            <a:off x="1168400" y="3340100"/>
            <a:ext cx="56248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Read the test basis: requirements, stories, use cases</a:t>
            </a:r>
            <a:endParaRPr lang="en-US" sz="1200" dirty="0"/>
          </a:p>
        </p:txBody>
      </p:sp>
      <p:sp>
        <p:nvSpPr>
          <p:cNvPr id="10" name="Shape 8"/>
          <p:cNvSpPr/>
          <p:nvPr/>
        </p:nvSpPr>
        <p:spPr>
          <a:xfrm>
            <a:off x="812800" y="3620145"/>
            <a:ext cx="5816600" cy="0"/>
          </a:xfrm>
          <a:prstGeom prst="line">
            <a:avLst/>
          </a:prstGeom>
          <a:noFill/>
          <a:ln w="6350">
            <a:solidFill>
              <a:srgbClr val="DDD8CC"/>
            </a:solidFill>
            <a:prstDash val="solid"/>
          </a:ln>
        </p:spPr>
      </p:sp>
      <p:sp>
        <p:nvSpPr>
          <p:cNvPr id="11" name="Text 9"/>
          <p:cNvSpPr/>
          <p:nvPr/>
        </p:nvSpPr>
        <p:spPr>
          <a:xfrm>
            <a:off x="812800" y="3685555"/>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2</a:t>
            </a:r>
            <a:endParaRPr lang="en-US" sz="1200" dirty="0"/>
          </a:p>
        </p:txBody>
      </p:sp>
      <p:sp>
        <p:nvSpPr>
          <p:cNvPr id="12" name="Text 10"/>
          <p:cNvSpPr/>
          <p:nvPr/>
        </p:nvSpPr>
        <p:spPr>
          <a:xfrm>
            <a:off x="1168400" y="3685555"/>
            <a:ext cx="56248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List each user goal and its main flow</a:t>
            </a:r>
            <a:endParaRPr lang="en-US" sz="1200" dirty="0"/>
          </a:p>
        </p:txBody>
      </p:sp>
      <p:sp>
        <p:nvSpPr>
          <p:cNvPr id="13" name="Shape 11"/>
          <p:cNvSpPr/>
          <p:nvPr/>
        </p:nvSpPr>
        <p:spPr>
          <a:xfrm>
            <a:off x="812800" y="3965575"/>
            <a:ext cx="5816600" cy="0"/>
          </a:xfrm>
          <a:prstGeom prst="line">
            <a:avLst/>
          </a:prstGeom>
          <a:noFill/>
          <a:ln w="6350">
            <a:solidFill>
              <a:srgbClr val="DDD8CC"/>
            </a:solidFill>
            <a:prstDash val="solid"/>
          </a:ln>
        </p:spPr>
      </p:sp>
      <p:sp>
        <p:nvSpPr>
          <p:cNvPr id="14" name="Text 12"/>
          <p:cNvSpPr/>
          <p:nvPr/>
        </p:nvSpPr>
        <p:spPr>
          <a:xfrm>
            <a:off x="812800" y="4030985"/>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3</a:t>
            </a:r>
            <a:endParaRPr lang="en-US" sz="1200" dirty="0"/>
          </a:p>
        </p:txBody>
      </p:sp>
      <p:sp>
        <p:nvSpPr>
          <p:cNvPr id="15" name="Text 13"/>
          <p:cNvSpPr/>
          <p:nvPr/>
        </p:nvSpPr>
        <p:spPr>
          <a:xfrm>
            <a:off x="1168400" y="4030985"/>
            <a:ext cx="56248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Add alternative and error flows</a:t>
            </a:r>
            <a:endParaRPr lang="en-US" sz="1200" dirty="0"/>
          </a:p>
        </p:txBody>
      </p:sp>
      <p:sp>
        <p:nvSpPr>
          <p:cNvPr id="16" name="Shape 14"/>
          <p:cNvSpPr/>
          <p:nvPr/>
        </p:nvSpPr>
        <p:spPr>
          <a:xfrm>
            <a:off x="812800" y="4311030"/>
            <a:ext cx="5816600" cy="0"/>
          </a:xfrm>
          <a:prstGeom prst="line">
            <a:avLst/>
          </a:prstGeom>
          <a:noFill/>
          <a:ln w="6350">
            <a:solidFill>
              <a:srgbClr val="DDD8CC"/>
            </a:solidFill>
            <a:prstDash val="solid"/>
          </a:ln>
        </p:spPr>
      </p:sp>
      <p:sp>
        <p:nvSpPr>
          <p:cNvPr id="17" name="Text 15"/>
          <p:cNvSpPr/>
          <p:nvPr/>
        </p:nvSpPr>
        <p:spPr>
          <a:xfrm>
            <a:off x="812800" y="4376415"/>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4</a:t>
            </a:r>
            <a:endParaRPr lang="en-US" sz="1200" dirty="0"/>
          </a:p>
        </p:txBody>
      </p:sp>
      <p:sp>
        <p:nvSpPr>
          <p:cNvPr id="18" name="Text 16"/>
          <p:cNvSpPr/>
          <p:nvPr/>
        </p:nvSpPr>
        <p:spPr>
          <a:xfrm>
            <a:off x="1168400" y="4376415"/>
            <a:ext cx="56248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Add non-functional situations where they matter</a:t>
            </a:r>
            <a:endParaRPr lang="en-US" sz="1200" dirty="0"/>
          </a:p>
        </p:txBody>
      </p:sp>
      <p:sp>
        <p:nvSpPr>
          <p:cNvPr id="19" name="Shape 17"/>
          <p:cNvSpPr/>
          <p:nvPr/>
        </p:nvSpPr>
        <p:spPr>
          <a:xfrm>
            <a:off x="812800" y="4656460"/>
            <a:ext cx="5816600" cy="0"/>
          </a:xfrm>
          <a:prstGeom prst="line">
            <a:avLst/>
          </a:prstGeom>
          <a:noFill/>
          <a:ln w="6350">
            <a:solidFill>
              <a:srgbClr val="DDD8CC"/>
            </a:solidFill>
            <a:prstDash val="solid"/>
          </a:ln>
        </p:spPr>
      </p:sp>
      <p:sp>
        <p:nvSpPr>
          <p:cNvPr id="20" name="Shape 18"/>
          <p:cNvSpPr/>
          <p:nvPr/>
        </p:nvSpPr>
        <p:spPr>
          <a:xfrm>
            <a:off x="812800" y="5000630"/>
            <a:ext cx="5816600" cy="0"/>
          </a:xfrm>
          <a:prstGeom prst="line">
            <a:avLst/>
          </a:prstGeom>
          <a:noFill/>
          <a:ln w="6350">
            <a:solidFill>
              <a:srgbClr val="DDD8CC"/>
            </a:solidFill>
            <a:prstDash val="solid"/>
          </a:ln>
        </p:spPr>
      </p:sp>
      <p:sp>
        <p:nvSpPr>
          <p:cNvPr id="21" name="Text 19"/>
          <p:cNvSpPr/>
          <p:nvPr/>
        </p:nvSpPr>
        <p:spPr>
          <a:xfrm>
            <a:off x="812800" y="4721870"/>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5</a:t>
            </a:r>
            <a:endParaRPr lang="en-US" sz="1200" dirty="0"/>
          </a:p>
        </p:txBody>
      </p:sp>
      <p:sp>
        <p:nvSpPr>
          <p:cNvPr id="22" name="Text 20"/>
          <p:cNvSpPr/>
          <p:nvPr/>
        </p:nvSpPr>
        <p:spPr>
          <a:xfrm>
            <a:off x="1168400" y="4721870"/>
            <a:ext cx="56248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Review with the product owner to find gaps</a:t>
            </a:r>
            <a:endParaRPr lang="en-US" sz="1200" dirty="0"/>
          </a:p>
        </p:txBody>
      </p:sp>
      <p:sp>
        <p:nvSpPr>
          <p:cNvPr id="23" name="Shape 21"/>
          <p:cNvSpPr/>
          <p:nvPr/>
        </p:nvSpPr>
        <p:spPr>
          <a:xfrm>
            <a:off x="6934200" y="1828800"/>
            <a:ext cx="4445000" cy="3276600"/>
          </a:xfrm>
          <a:prstGeom prst="roundRect">
            <a:avLst>
              <a:gd name="adj" fmla="val 2326"/>
            </a:avLst>
          </a:prstGeom>
          <a:solidFill>
            <a:srgbClr val="13233A"/>
          </a:solidFill>
          <a:ln/>
        </p:spPr>
      </p:sp>
      <p:sp>
        <p:nvSpPr>
          <p:cNvPr id="24" name="Text 22"/>
          <p:cNvSpPr/>
          <p:nvPr/>
        </p:nvSpPr>
        <p:spPr>
          <a:xfrm>
            <a:off x="7162800" y="2057400"/>
            <a:ext cx="410743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CANTEEN APP SCENARIOS</a:t>
            </a:r>
            <a:endParaRPr lang="en-US" sz="1200" dirty="0"/>
          </a:p>
        </p:txBody>
      </p:sp>
      <p:sp>
        <p:nvSpPr>
          <p:cNvPr id="25" name="Shape 23"/>
          <p:cNvSpPr/>
          <p:nvPr/>
        </p:nvSpPr>
        <p:spPr>
          <a:xfrm>
            <a:off x="7162800" y="2362845"/>
            <a:ext cx="3987800" cy="0"/>
          </a:xfrm>
          <a:prstGeom prst="line">
            <a:avLst/>
          </a:prstGeom>
          <a:noFill/>
          <a:ln w="6350">
            <a:solidFill>
              <a:srgbClr val="3A5476"/>
            </a:solidFill>
            <a:prstDash val="solid"/>
          </a:ln>
        </p:spPr>
      </p:sp>
      <p:sp>
        <p:nvSpPr>
          <p:cNvPr id="26" name="Text 24"/>
          <p:cNvSpPr/>
          <p:nvPr/>
        </p:nvSpPr>
        <p:spPr>
          <a:xfrm>
            <a:off x="7162800" y="2428255"/>
            <a:ext cx="749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TS-01</a:t>
            </a:r>
            <a:endParaRPr lang="en-US" sz="1200" dirty="0"/>
          </a:p>
        </p:txBody>
      </p:sp>
      <p:sp>
        <p:nvSpPr>
          <p:cNvPr id="27" name="Text 25"/>
          <p:cNvSpPr/>
          <p:nvPr/>
        </p:nvSpPr>
        <p:spPr>
          <a:xfrm>
            <a:off x="7962900" y="2428255"/>
            <a:ext cx="32833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Login with valid and invalid details</a:t>
            </a:r>
            <a:endParaRPr lang="en-US" sz="1200" dirty="0"/>
          </a:p>
        </p:txBody>
      </p:sp>
      <p:sp>
        <p:nvSpPr>
          <p:cNvPr id="28" name="Shape 26"/>
          <p:cNvSpPr/>
          <p:nvPr/>
        </p:nvSpPr>
        <p:spPr>
          <a:xfrm>
            <a:off x="7162800" y="2797175"/>
            <a:ext cx="3987800" cy="0"/>
          </a:xfrm>
          <a:prstGeom prst="line">
            <a:avLst/>
          </a:prstGeom>
          <a:noFill/>
          <a:ln w="6350">
            <a:solidFill>
              <a:srgbClr val="3A5476"/>
            </a:solidFill>
            <a:prstDash val="solid"/>
          </a:ln>
        </p:spPr>
      </p:sp>
      <p:sp>
        <p:nvSpPr>
          <p:cNvPr id="29" name="Text 27"/>
          <p:cNvSpPr/>
          <p:nvPr/>
        </p:nvSpPr>
        <p:spPr>
          <a:xfrm>
            <a:off x="7162800" y="2862585"/>
            <a:ext cx="749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TS-02</a:t>
            </a:r>
            <a:endParaRPr lang="en-US" sz="1200" dirty="0"/>
          </a:p>
        </p:txBody>
      </p:sp>
      <p:sp>
        <p:nvSpPr>
          <p:cNvPr id="30" name="Text 28"/>
          <p:cNvSpPr/>
          <p:nvPr/>
        </p:nvSpPr>
        <p:spPr>
          <a:xfrm>
            <a:off x="7962900" y="2862585"/>
            <a:ext cx="32833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Add and remove cart items</a:t>
            </a:r>
            <a:endParaRPr lang="en-US" sz="1200" dirty="0"/>
          </a:p>
        </p:txBody>
      </p:sp>
      <p:sp>
        <p:nvSpPr>
          <p:cNvPr id="31" name="Shape 29"/>
          <p:cNvSpPr/>
          <p:nvPr/>
        </p:nvSpPr>
        <p:spPr>
          <a:xfrm>
            <a:off x="7162800" y="3231530"/>
            <a:ext cx="3987800" cy="0"/>
          </a:xfrm>
          <a:prstGeom prst="line">
            <a:avLst/>
          </a:prstGeom>
          <a:noFill/>
          <a:ln w="6350">
            <a:solidFill>
              <a:srgbClr val="3A5476"/>
            </a:solidFill>
            <a:prstDash val="solid"/>
          </a:ln>
        </p:spPr>
      </p:sp>
      <p:sp>
        <p:nvSpPr>
          <p:cNvPr id="32" name="Text 30"/>
          <p:cNvSpPr/>
          <p:nvPr/>
        </p:nvSpPr>
        <p:spPr>
          <a:xfrm>
            <a:off x="7162800" y="3296915"/>
            <a:ext cx="749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TS-03</a:t>
            </a:r>
            <a:endParaRPr lang="en-US" sz="1200" dirty="0"/>
          </a:p>
        </p:txBody>
      </p:sp>
      <p:sp>
        <p:nvSpPr>
          <p:cNvPr id="33" name="Text 31"/>
          <p:cNvSpPr/>
          <p:nvPr/>
        </p:nvSpPr>
        <p:spPr>
          <a:xfrm>
            <a:off x="7962900" y="3296915"/>
            <a:ext cx="32833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Apply a coupon at checkout</a:t>
            </a:r>
            <a:endParaRPr lang="en-US" sz="1200" dirty="0"/>
          </a:p>
        </p:txBody>
      </p:sp>
      <p:sp>
        <p:nvSpPr>
          <p:cNvPr id="34" name="Shape 32"/>
          <p:cNvSpPr/>
          <p:nvPr/>
        </p:nvSpPr>
        <p:spPr>
          <a:xfrm>
            <a:off x="7162800" y="3665860"/>
            <a:ext cx="3987800" cy="0"/>
          </a:xfrm>
          <a:prstGeom prst="line">
            <a:avLst/>
          </a:prstGeom>
          <a:noFill/>
          <a:ln w="6350">
            <a:solidFill>
              <a:srgbClr val="3A5476"/>
            </a:solidFill>
            <a:prstDash val="solid"/>
          </a:ln>
        </p:spPr>
      </p:sp>
      <p:sp>
        <p:nvSpPr>
          <p:cNvPr id="35" name="Text 33"/>
          <p:cNvSpPr/>
          <p:nvPr/>
        </p:nvSpPr>
        <p:spPr>
          <a:xfrm>
            <a:off x="7162800" y="3731270"/>
            <a:ext cx="749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TS-04</a:t>
            </a:r>
            <a:endParaRPr lang="en-US" sz="1200" dirty="0"/>
          </a:p>
        </p:txBody>
      </p:sp>
      <p:sp>
        <p:nvSpPr>
          <p:cNvPr id="36" name="Text 34"/>
          <p:cNvSpPr/>
          <p:nvPr/>
        </p:nvSpPr>
        <p:spPr>
          <a:xfrm>
            <a:off x="7962900" y="3731270"/>
            <a:ext cx="32833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Wallet payment, enough and low balance</a:t>
            </a:r>
            <a:endParaRPr lang="en-US" sz="1200" dirty="0"/>
          </a:p>
        </p:txBody>
      </p:sp>
      <p:sp>
        <p:nvSpPr>
          <p:cNvPr id="37" name="Shape 35"/>
          <p:cNvSpPr/>
          <p:nvPr/>
        </p:nvSpPr>
        <p:spPr>
          <a:xfrm>
            <a:off x="7162800" y="4100190"/>
            <a:ext cx="3987800" cy="0"/>
          </a:xfrm>
          <a:prstGeom prst="line">
            <a:avLst/>
          </a:prstGeom>
          <a:noFill/>
          <a:ln w="6350">
            <a:solidFill>
              <a:srgbClr val="3A5476"/>
            </a:solidFill>
            <a:prstDash val="solid"/>
          </a:ln>
        </p:spPr>
      </p:sp>
      <p:sp>
        <p:nvSpPr>
          <p:cNvPr id="38" name="Text 36"/>
          <p:cNvSpPr/>
          <p:nvPr/>
        </p:nvSpPr>
        <p:spPr>
          <a:xfrm>
            <a:off x="7162800" y="4165600"/>
            <a:ext cx="749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TS-05</a:t>
            </a:r>
            <a:endParaRPr lang="en-US" sz="1200" dirty="0"/>
          </a:p>
        </p:txBody>
      </p:sp>
      <p:sp>
        <p:nvSpPr>
          <p:cNvPr id="39" name="Text 37"/>
          <p:cNvSpPr/>
          <p:nvPr/>
        </p:nvSpPr>
        <p:spPr>
          <a:xfrm>
            <a:off x="7962900" y="4165600"/>
            <a:ext cx="32833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Order status from Placed to Collected</a:t>
            </a:r>
            <a:endParaRPr lang="en-US" sz="1200" dirty="0"/>
          </a:p>
        </p:txBody>
      </p:sp>
      <p:sp>
        <p:nvSpPr>
          <p:cNvPr id="40" name="Shape 38"/>
          <p:cNvSpPr/>
          <p:nvPr/>
        </p:nvSpPr>
        <p:spPr>
          <a:xfrm>
            <a:off x="7162800" y="4534545"/>
            <a:ext cx="3987800" cy="0"/>
          </a:xfrm>
          <a:prstGeom prst="line">
            <a:avLst/>
          </a:prstGeom>
          <a:noFill/>
          <a:ln w="6350">
            <a:solidFill>
              <a:srgbClr val="3A5476"/>
            </a:solidFill>
            <a:prstDash val="solid"/>
          </a:ln>
        </p:spPr>
      </p:sp>
      <p:sp>
        <p:nvSpPr>
          <p:cNvPr id="41" name="Text 39"/>
          <p:cNvSpPr/>
          <p:nvPr/>
        </p:nvSpPr>
        <p:spPr>
          <a:xfrm>
            <a:off x="7162800" y="4599955"/>
            <a:ext cx="749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TS-06</a:t>
            </a:r>
            <a:endParaRPr lang="en-US" sz="1200" dirty="0"/>
          </a:p>
        </p:txBody>
      </p:sp>
      <p:sp>
        <p:nvSpPr>
          <p:cNvPr id="42" name="Text 40"/>
          <p:cNvSpPr/>
          <p:nvPr/>
        </p:nvSpPr>
        <p:spPr>
          <a:xfrm>
            <a:off x="7962900" y="4599955"/>
            <a:ext cx="32833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Cancellation rule for orders</a:t>
            </a:r>
            <a:endParaRPr lang="en-US" sz="1200" dirty="0"/>
          </a:p>
        </p:txBody>
      </p:sp>
      <p:sp>
        <p:nvSpPr>
          <p:cNvPr id="43" name="Text 41"/>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44" name="Text 42"/>
          <p:cNvSpPr/>
          <p:nvPr/>
        </p:nvSpPr>
        <p:spPr>
          <a:xfrm>
            <a:off x="9267349" y="6238255"/>
            <a:ext cx="21752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Test condition: ISTQB Glossary</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L12 · TEST CASE DESIGN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Anatomy of a test case</a:t>
            </a:r>
            <a:endParaRPr lang="en-US" sz="3200" dirty="0"/>
          </a:p>
        </p:txBody>
      </p:sp>
      <p:sp>
        <p:nvSpPr>
          <p:cNvPr id="4" name="Shape 2"/>
          <p:cNvSpPr/>
          <p:nvPr/>
        </p:nvSpPr>
        <p:spPr>
          <a:xfrm>
            <a:off x="7794625" y="1828800"/>
            <a:ext cx="0" cy="3317240"/>
          </a:xfrm>
          <a:prstGeom prst="line">
            <a:avLst/>
          </a:prstGeom>
          <a:noFill/>
          <a:ln w="6350">
            <a:solidFill>
              <a:srgbClr val="DDD8CC"/>
            </a:solidFill>
            <a:prstDash val="solid"/>
          </a:ln>
        </p:spPr>
      </p:sp>
      <p:sp>
        <p:nvSpPr>
          <p:cNvPr id="5" name="Shape 3"/>
          <p:cNvSpPr/>
          <p:nvPr/>
        </p:nvSpPr>
        <p:spPr>
          <a:xfrm>
            <a:off x="812800" y="5142865"/>
            <a:ext cx="69850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6969760" cy="3302000"/>
        </p:xfrm>
        <a:graphic>
          <a:graphicData uri="http://schemas.openxmlformats.org/drawingml/2006/table">
            <a:tbl>
              <a:tblPr/>
              <a:tblGrid>
                <a:gridCol w="1672742"/>
                <a:gridCol w="5297018"/>
              </a:tblGrid>
              <a:tr h="330200">
                <a:tc>
                  <a:txBody>
                    <a:bodyPr/>
                    <a:lstStyle/>
                    <a:p>
                      <a:pP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Test case 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TC-07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Title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Apply SAVE20 to an eligible order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Requirement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REQ-03 · scenario TS-03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Preconditions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Student S101 logged in; cart empty; SAVE20 active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Test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5 × Masala Dosa at ₹60 = ₹300; code SAVE20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Steps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 Add 5 Masala Dosa · 2 Open checkout · 3 Enter SAVE20 · 4 Tap Apply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Expected result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0B9C2"/>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0B9C2"/>
                      </a:solidFill>
                      <a:prstDash val="solid"/>
                      <a:round/>
                      <a:headEnd type="none" w="med" len="med"/>
                      <a:tailEnd type="none" w="med" len="med"/>
                    </a:lnB>
                    <a:solidFill>
                      <a:srgbClr val="DCE7F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Discount ₹60 shown; amount payable ₹240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B9C2"/>
                      </a:solidFill>
                      <a:prstDash val="solid"/>
                      <a:round/>
                      <a:headEnd type="none" w="med" len="med"/>
                      <a:tailEnd type="none" w="med" len="med"/>
                    </a:lnL>
                    <a:lnR w="12700" cap="flat" cmpd="sng" algn="ctr">
                      <a:solidFill>
                        <a:srgbClr val="B0B9C2"/>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0B9C2"/>
                      </a:solidFill>
                      <a:prstDash val="solid"/>
                      <a:round/>
                      <a:headEnd type="none" w="med" len="med"/>
                      <a:tailEnd type="none" w="med" len="med"/>
                    </a:lnB>
                    <a:solidFill>
                      <a:srgbClr val="DCE7F3"/>
                    </a:solidFill>
                  </a:tcPr>
                </a:tc>
              </a:tr>
              <a:tr h="330200">
                <a:tc>
                  <a:txBody>
                    <a:bodyPr/>
                    <a:lstStyle/>
                    <a:p>
                      <a:pP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Actual result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0B9C2"/>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Filled in during execution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0B9C2"/>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Status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Pass, Fail, Blocked or Not run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Priority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High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Text 4"/>
          <p:cNvSpPr/>
          <p:nvPr/>
        </p:nvSpPr>
        <p:spPr>
          <a:xfrm>
            <a:off x="8102600" y="1828800"/>
            <a:ext cx="337489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ALSO RECORDED</a:t>
            </a:r>
            <a:endParaRPr lang="en-US" sz="1200" dirty="0"/>
          </a:p>
        </p:txBody>
      </p:sp>
      <p:sp>
        <p:nvSpPr>
          <p:cNvPr id="8" name="Text 5"/>
          <p:cNvSpPr/>
          <p:nvPr/>
        </p:nvSpPr>
        <p:spPr>
          <a:xfrm>
            <a:off x="8102600" y="2118370"/>
            <a:ext cx="3374898" cy="1092200"/>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Build and environment</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Tester and date</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Defect ID if it fails</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Postconditions</a:t>
            </a:r>
            <a:endParaRPr lang="en-US" sz="1400" dirty="0"/>
          </a:p>
        </p:txBody>
      </p:sp>
      <p:sp>
        <p:nvSpPr>
          <p:cNvPr id="9" name="Shape 6"/>
          <p:cNvSpPr/>
          <p:nvPr/>
        </p:nvSpPr>
        <p:spPr>
          <a:xfrm>
            <a:off x="8102600" y="3261370"/>
            <a:ext cx="3276600" cy="1066800"/>
          </a:xfrm>
          <a:prstGeom prst="roundRect">
            <a:avLst>
              <a:gd name="adj" fmla="val 7143"/>
            </a:avLst>
          </a:prstGeom>
          <a:solidFill>
            <a:srgbClr val="13233A"/>
          </a:solidFill>
          <a:ln/>
        </p:spPr>
      </p:sp>
      <p:sp>
        <p:nvSpPr>
          <p:cNvPr id="10" name="Text 7"/>
          <p:cNvSpPr/>
          <p:nvPr/>
        </p:nvSpPr>
        <p:spPr>
          <a:xfrm>
            <a:off x="8280400" y="3413770"/>
            <a:ext cx="30086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TIP</a:t>
            </a:r>
            <a:endParaRPr lang="en-US" sz="1200" dirty="0"/>
          </a:p>
        </p:txBody>
      </p:sp>
      <p:sp>
        <p:nvSpPr>
          <p:cNvPr id="11" name="Text 8"/>
          <p:cNvSpPr/>
          <p:nvPr/>
        </p:nvSpPr>
        <p:spPr>
          <a:xfrm>
            <a:off x="8280400" y="3677915"/>
            <a:ext cx="30086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Write the expected result before you run the test.</a:t>
            </a:r>
            <a:endParaRPr lang="en-US" sz="1400" dirty="0"/>
          </a:p>
        </p:txBody>
      </p:sp>
      <p:sp>
        <p:nvSpPr>
          <p:cNvPr id="12" name="Text 9"/>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3" name="Text 10"/>
          <p:cNvSpPr/>
          <p:nvPr/>
        </p:nvSpPr>
        <p:spPr>
          <a:xfrm>
            <a:off x="6290866" y="6238255"/>
            <a:ext cx="52409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ISTQB: preconditions, inputs, actions, expected results and postconditions</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L12 · TEST CASE DESIGN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Writing good test cases</a:t>
            </a:r>
            <a:endParaRPr lang="en-US" sz="3200" dirty="0"/>
          </a:p>
        </p:txBody>
      </p:sp>
      <p:sp>
        <p:nvSpPr>
          <p:cNvPr id="4" name="Shape 2"/>
          <p:cNvSpPr/>
          <p:nvPr/>
        </p:nvSpPr>
        <p:spPr>
          <a:xfrm>
            <a:off x="812800" y="1828800"/>
            <a:ext cx="5181600" cy="1295400"/>
          </a:xfrm>
          <a:prstGeom prst="roundRect">
            <a:avLst>
              <a:gd name="adj" fmla="val 5882"/>
            </a:avLst>
          </a:prstGeom>
          <a:solidFill>
            <a:srgbClr val="F7E3D5"/>
          </a:solidFill>
          <a:ln/>
        </p:spPr>
      </p:sp>
      <p:sp>
        <p:nvSpPr>
          <p:cNvPr id="5" name="Text 3"/>
          <p:cNvSpPr/>
          <p:nvPr/>
        </p:nvSpPr>
        <p:spPr>
          <a:xfrm>
            <a:off x="1016000" y="1981200"/>
            <a:ext cx="49184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WEAK</a:t>
            </a:r>
            <a:endParaRPr lang="en-US" sz="1200" dirty="0"/>
          </a:p>
        </p:txBody>
      </p:sp>
      <p:sp>
        <p:nvSpPr>
          <p:cNvPr id="6" name="Text 4"/>
          <p:cNvSpPr/>
          <p:nvPr/>
        </p:nvSpPr>
        <p:spPr>
          <a:xfrm>
            <a:off x="1016000" y="2245370"/>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“Check that the coupon works.”</a:t>
            </a:r>
            <a:endParaRPr lang="en-US" sz="1400" dirty="0"/>
          </a:p>
        </p:txBody>
      </p:sp>
      <p:sp>
        <p:nvSpPr>
          <p:cNvPr id="7" name="Text 5"/>
          <p:cNvSpPr/>
          <p:nvPr/>
        </p:nvSpPr>
        <p:spPr>
          <a:xfrm>
            <a:off x="1016000" y="2545085"/>
            <a:ext cx="491845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No data, no steps, no expected result: two testers would run two different tests.</a:t>
            </a:r>
            <a:endParaRPr lang="en-US" sz="1200" dirty="0"/>
          </a:p>
        </p:txBody>
      </p:sp>
      <p:sp>
        <p:nvSpPr>
          <p:cNvPr id="8" name="Shape 6"/>
          <p:cNvSpPr/>
          <p:nvPr/>
        </p:nvSpPr>
        <p:spPr>
          <a:xfrm>
            <a:off x="6197600" y="1828800"/>
            <a:ext cx="5181600" cy="1295400"/>
          </a:xfrm>
          <a:prstGeom prst="roundRect">
            <a:avLst>
              <a:gd name="adj" fmla="val 5882"/>
            </a:avLst>
          </a:prstGeom>
          <a:solidFill>
            <a:srgbClr val="DCE7F3"/>
          </a:solidFill>
          <a:ln/>
        </p:spPr>
      </p:sp>
      <p:sp>
        <p:nvSpPr>
          <p:cNvPr id="9" name="Text 7"/>
          <p:cNvSpPr/>
          <p:nvPr/>
        </p:nvSpPr>
        <p:spPr>
          <a:xfrm>
            <a:off x="6400800" y="1981200"/>
            <a:ext cx="49184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STRONG</a:t>
            </a:r>
            <a:endParaRPr lang="en-US" sz="1200" dirty="0"/>
          </a:p>
        </p:txBody>
      </p:sp>
      <p:sp>
        <p:nvSpPr>
          <p:cNvPr id="10" name="Text 8"/>
          <p:cNvSpPr/>
          <p:nvPr/>
        </p:nvSpPr>
        <p:spPr>
          <a:xfrm>
            <a:off x="6400800" y="2245370"/>
            <a:ext cx="491845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TC-09 · Apply SAVE20 to a ₹150 order: coupon rejected with “Minimum order is ₹200”; payable stays ₹150.</a:t>
            </a:r>
            <a:endParaRPr lang="en-US" sz="1400" dirty="0"/>
          </a:p>
        </p:txBody>
      </p:sp>
      <p:sp>
        <p:nvSpPr>
          <p:cNvPr id="11" name="Shape 9"/>
          <p:cNvSpPr/>
          <p:nvPr/>
        </p:nvSpPr>
        <p:spPr>
          <a:xfrm>
            <a:off x="815975" y="3381375"/>
            <a:ext cx="3414157" cy="1004570"/>
          </a:xfrm>
          <a:prstGeom prst="roundRect">
            <a:avLst>
              <a:gd name="adj" fmla="val 7269"/>
            </a:avLst>
          </a:prstGeom>
          <a:solidFill>
            <a:srgbClr val="FCFBF7"/>
          </a:solidFill>
          <a:ln w="6350">
            <a:solidFill>
              <a:srgbClr val="DDD8CC"/>
            </a:solidFill>
            <a:prstDash val="solid"/>
          </a:ln>
        </p:spPr>
      </p:sp>
      <p:sp>
        <p:nvSpPr>
          <p:cNvPr id="12" name="Text 10"/>
          <p:cNvSpPr/>
          <p:nvPr/>
        </p:nvSpPr>
        <p:spPr>
          <a:xfrm>
            <a:off x="995680" y="3535685"/>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One purpose</a:t>
            </a:r>
            <a:endParaRPr lang="en-US" sz="1400" dirty="0"/>
          </a:p>
        </p:txBody>
      </p:sp>
      <p:sp>
        <p:nvSpPr>
          <p:cNvPr id="13" name="Text 11"/>
          <p:cNvSpPr/>
          <p:nvPr/>
        </p:nvSpPr>
        <p:spPr>
          <a:xfrm>
            <a:off x="995680" y="3804915"/>
            <a:ext cx="31463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Each case checks one condition</a:t>
            </a:r>
            <a:endParaRPr lang="en-US" sz="1200" dirty="0"/>
          </a:p>
        </p:txBody>
      </p:sp>
      <p:sp>
        <p:nvSpPr>
          <p:cNvPr id="14" name="Shape 12"/>
          <p:cNvSpPr/>
          <p:nvPr/>
        </p:nvSpPr>
        <p:spPr>
          <a:xfrm>
            <a:off x="4388882" y="3381375"/>
            <a:ext cx="3414157" cy="1004570"/>
          </a:xfrm>
          <a:prstGeom prst="roundRect">
            <a:avLst>
              <a:gd name="adj" fmla="val 7269"/>
            </a:avLst>
          </a:prstGeom>
          <a:solidFill>
            <a:srgbClr val="FCFBF7"/>
          </a:solidFill>
          <a:ln w="6350">
            <a:solidFill>
              <a:srgbClr val="DDD8CC"/>
            </a:solidFill>
            <a:prstDash val="solid"/>
          </a:ln>
        </p:spPr>
      </p:sp>
      <p:sp>
        <p:nvSpPr>
          <p:cNvPr id="15" name="Text 13"/>
          <p:cNvSpPr/>
          <p:nvPr/>
        </p:nvSpPr>
        <p:spPr>
          <a:xfrm>
            <a:off x="4568587" y="3535685"/>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Specific</a:t>
            </a:r>
            <a:endParaRPr lang="en-US" sz="1400" dirty="0"/>
          </a:p>
        </p:txBody>
      </p:sp>
      <p:sp>
        <p:nvSpPr>
          <p:cNvPr id="16" name="Text 14"/>
          <p:cNvSpPr/>
          <p:nvPr/>
        </p:nvSpPr>
        <p:spPr>
          <a:xfrm>
            <a:off x="4568587" y="380491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Exact data and a measurable expected result</a:t>
            </a:r>
            <a:endParaRPr lang="en-US" sz="1200" dirty="0"/>
          </a:p>
        </p:txBody>
      </p:sp>
      <p:sp>
        <p:nvSpPr>
          <p:cNvPr id="17" name="Shape 15"/>
          <p:cNvSpPr/>
          <p:nvPr/>
        </p:nvSpPr>
        <p:spPr>
          <a:xfrm>
            <a:off x="7961789" y="3381375"/>
            <a:ext cx="3414157" cy="1004570"/>
          </a:xfrm>
          <a:prstGeom prst="roundRect">
            <a:avLst>
              <a:gd name="adj" fmla="val 7269"/>
            </a:avLst>
          </a:prstGeom>
          <a:solidFill>
            <a:srgbClr val="FCFBF7"/>
          </a:solidFill>
          <a:ln w="6350">
            <a:solidFill>
              <a:srgbClr val="DDD8CC"/>
            </a:solidFill>
            <a:prstDash val="solid"/>
          </a:ln>
        </p:spPr>
      </p:sp>
      <p:sp>
        <p:nvSpPr>
          <p:cNvPr id="18" name="Text 16"/>
          <p:cNvSpPr/>
          <p:nvPr/>
        </p:nvSpPr>
        <p:spPr>
          <a:xfrm>
            <a:off x="8141494" y="3535685"/>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Independent</a:t>
            </a:r>
            <a:endParaRPr lang="en-US" sz="1400" dirty="0"/>
          </a:p>
        </p:txBody>
      </p:sp>
      <p:sp>
        <p:nvSpPr>
          <p:cNvPr id="19" name="Text 17"/>
          <p:cNvSpPr/>
          <p:nvPr/>
        </p:nvSpPr>
        <p:spPr>
          <a:xfrm>
            <a:off x="8141494" y="380491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Sets up its own preconditions; runs in any order</a:t>
            </a:r>
            <a:endParaRPr lang="en-US" sz="1200" dirty="0"/>
          </a:p>
        </p:txBody>
      </p:sp>
      <p:sp>
        <p:nvSpPr>
          <p:cNvPr id="20" name="Shape 18"/>
          <p:cNvSpPr/>
          <p:nvPr/>
        </p:nvSpPr>
        <p:spPr>
          <a:xfrm>
            <a:off x="815975" y="4544690"/>
            <a:ext cx="3414157" cy="1004570"/>
          </a:xfrm>
          <a:prstGeom prst="roundRect">
            <a:avLst>
              <a:gd name="adj" fmla="val 7269"/>
            </a:avLst>
          </a:prstGeom>
          <a:solidFill>
            <a:srgbClr val="FCFBF7"/>
          </a:solidFill>
          <a:ln w="6350">
            <a:solidFill>
              <a:srgbClr val="DDD8CC"/>
            </a:solidFill>
            <a:prstDash val="solid"/>
          </a:ln>
        </p:spPr>
      </p:sp>
      <p:sp>
        <p:nvSpPr>
          <p:cNvPr id="21" name="Text 19"/>
          <p:cNvSpPr/>
          <p:nvPr/>
        </p:nvSpPr>
        <p:spPr>
          <a:xfrm>
            <a:off x="995680" y="4699000"/>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Traceable</a:t>
            </a:r>
            <a:endParaRPr lang="en-US" sz="1400" dirty="0"/>
          </a:p>
        </p:txBody>
      </p:sp>
      <p:sp>
        <p:nvSpPr>
          <p:cNvPr id="22" name="Text 20"/>
          <p:cNvSpPr/>
          <p:nvPr/>
        </p:nvSpPr>
        <p:spPr>
          <a:xfrm>
            <a:off x="995680" y="4968255"/>
            <a:ext cx="31463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Linked to a requirement ID</a:t>
            </a:r>
            <a:endParaRPr lang="en-US" sz="1200" dirty="0"/>
          </a:p>
        </p:txBody>
      </p:sp>
      <p:sp>
        <p:nvSpPr>
          <p:cNvPr id="23" name="Shape 21"/>
          <p:cNvSpPr/>
          <p:nvPr/>
        </p:nvSpPr>
        <p:spPr>
          <a:xfrm>
            <a:off x="4388882" y="4544690"/>
            <a:ext cx="3414157" cy="1004570"/>
          </a:xfrm>
          <a:prstGeom prst="roundRect">
            <a:avLst>
              <a:gd name="adj" fmla="val 7269"/>
            </a:avLst>
          </a:prstGeom>
          <a:solidFill>
            <a:srgbClr val="FCFBF7"/>
          </a:solidFill>
          <a:ln w="6350">
            <a:solidFill>
              <a:srgbClr val="DDD8CC"/>
            </a:solidFill>
            <a:prstDash val="solid"/>
          </a:ln>
        </p:spPr>
      </p:sp>
      <p:sp>
        <p:nvSpPr>
          <p:cNvPr id="24" name="Text 22"/>
          <p:cNvSpPr/>
          <p:nvPr/>
        </p:nvSpPr>
        <p:spPr>
          <a:xfrm>
            <a:off x="4568587" y="4699000"/>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Positive and negative</a:t>
            </a:r>
            <a:endParaRPr lang="en-US" sz="1400" dirty="0"/>
          </a:p>
        </p:txBody>
      </p:sp>
      <p:sp>
        <p:nvSpPr>
          <p:cNvPr id="25" name="Text 23"/>
          <p:cNvSpPr/>
          <p:nvPr/>
        </p:nvSpPr>
        <p:spPr>
          <a:xfrm>
            <a:off x="4568587" y="4968255"/>
            <a:ext cx="31463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Valid, invalid and boundary inputs</a:t>
            </a:r>
            <a:endParaRPr lang="en-US" sz="1200" dirty="0"/>
          </a:p>
        </p:txBody>
      </p:sp>
      <p:sp>
        <p:nvSpPr>
          <p:cNvPr id="26" name="Shape 24"/>
          <p:cNvSpPr/>
          <p:nvPr/>
        </p:nvSpPr>
        <p:spPr>
          <a:xfrm>
            <a:off x="7961789" y="4544690"/>
            <a:ext cx="3414157" cy="1004570"/>
          </a:xfrm>
          <a:prstGeom prst="roundRect">
            <a:avLst>
              <a:gd name="adj" fmla="val 7269"/>
            </a:avLst>
          </a:prstGeom>
          <a:solidFill>
            <a:srgbClr val="FCFBF7"/>
          </a:solidFill>
          <a:ln w="6350">
            <a:solidFill>
              <a:srgbClr val="DDD8CC"/>
            </a:solidFill>
            <a:prstDash val="solid"/>
          </a:ln>
        </p:spPr>
      </p:sp>
      <p:sp>
        <p:nvSpPr>
          <p:cNvPr id="27" name="Text 25"/>
          <p:cNvSpPr/>
          <p:nvPr/>
        </p:nvSpPr>
        <p:spPr>
          <a:xfrm>
            <a:off x="8141494" y="4699000"/>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Maintainable</a:t>
            </a:r>
            <a:endParaRPr lang="en-US" sz="1400" dirty="0"/>
          </a:p>
        </p:txBody>
      </p:sp>
      <p:sp>
        <p:nvSpPr>
          <p:cNvPr id="28" name="Text 26"/>
          <p:cNvSpPr/>
          <p:nvPr/>
        </p:nvSpPr>
        <p:spPr>
          <a:xfrm>
            <a:off x="8141494" y="496825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Plain words, easy to update and to automate later</a:t>
            </a:r>
            <a:endParaRPr lang="en-US" sz="1200" dirty="0"/>
          </a:p>
        </p:txBody>
      </p:sp>
      <p:sp>
        <p:nvSpPr>
          <p:cNvPr id="29" name="Text 2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30" name="Text 28"/>
          <p:cNvSpPr/>
          <p:nvPr/>
        </p:nvSpPr>
        <p:spPr>
          <a:xfrm>
            <a:off x="6177915" y="6238255"/>
            <a:ext cx="53573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The same qualities the Test Automation Manifesto asks of scripts (Module 1)</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L12 · TEST CASE DESIGN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Test design techniques at a glance</a:t>
            </a:r>
            <a:endParaRPr lang="en-US" sz="3200" dirty="0"/>
          </a:p>
        </p:txBody>
      </p:sp>
      <p:sp>
        <p:nvSpPr>
          <p:cNvPr id="4" name="Shape 2"/>
          <p:cNvSpPr/>
          <p:nvPr/>
        </p:nvSpPr>
        <p:spPr>
          <a:xfrm>
            <a:off x="815975" y="1831975"/>
            <a:ext cx="3414157" cy="2571750"/>
          </a:xfrm>
          <a:prstGeom prst="roundRect">
            <a:avLst>
              <a:gd name="adj" fmla="val 2840"/>
            </a:avLst>
          </a:prstGeom>
          <a:solidFill>
            <a:srgbClr val="FCFBF7"/>
          </a:solidFill>
          <a:ln w="6350">
            <a:solidFill>
              <a:srgbClr val="DDD8CC"/>
            </a:solidFill>
            <a:prstDash val="solid"/>
          </a:ln>
        </p:spPr>
      </p:sp>
      <p:sp>
        <p:nvSpPr>
          <p:cNvPr id="5" name="Text 3"/>
          <p:cNvSpPr/>
          <p:nvPr/>
        </p:nvSpPr>
        <p:spPr>
          <a:xfrm>
            <a:off x="1021080" y="2037085"/>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BLACK-BOX</a:t>
            </a:r>
            <a:endParaRPr lang="en-US" sz="1200" dirty="0"/>
          </a:p>
        </p:txBody>
      </p:sp>
      <p:sp>
        <p:nvSpPr>
          <p:cNvPr id="6" name="Text 4"/>
          <p:cNvSpPr/>
          <p:nvPr/>
        </p:nvSpPr>
        <p:spPr>
          <a:xfrm>
            <a:off x="1021080" y="2313955"/>
            <a:ext cx="3094065"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4505F"/>
                </a:solidFill>
                <a:latin typeface="IBM Plex Sans" pitchFamily="34" charset="0"/>
                <a:ea typeface="IBM Plex Sans" pitchFamily="34" charset="-122"/>
                <a:cs typeface="IBM Plex Sans" pitchFamily="34" charset="-120"/>
              </a:rPr>
              <a:t>“A test technique based on an analysis of the specification of a component or system.”</a:t>
            </a:r>
            <a:endParaRPr lang="en-US" sz="1200" dirty="0"/>
          </a:p>
        </p:txBody>
      </p:sp>
      <p:sp>
        <p:nvSpPr>
          <p:cNvPr id="7" name="Text 5"/>
          <p:cNvSpPr/>
          <p:nvPr/>
        </p:nvSpPr>
        <p:spPr>
          <a:xfrm>
            <a:off x="1021080" y="2854970"/>
            <a:ext cx="3094065" cy="1092200"/>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Equivalence partitioning</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Boundary value analysis</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Decision table testing</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State transition testing</a:t>
            </a:r>
            <a:endParaRPr lang="en-US" sz="1400" dirty="0"/>
          </a:p>
        </p:txBody>
      </p:sp>
      <p:sp>
        <p:nvSpPr>
          <p:cNvPr id="8" name="Text 6"/>
          <p:cNvSpPr/>
          <p:nvPr/>
        </p:nvSpPr>
        <p:spPr>
          <a:xfrm>
            <a:off x="1021080" y="3985270"/>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Used at every test level</a:t>
            </a:r>
            <a:endParaRPr lang="en-US" sz="1200" dirty="0"/>
          </a:p>
        </p:txBody>
      </p:sp>
      <p:sp>
        <p:nvSpPr>
          <p:cNvPr id="9" name="Shape 7"/>
          <p:cNvSpPr/>
          <p:nvPr/>
        </p:nvSpPr>
        <p:spPr>
          <a:xfrm>
            <a:off x="4388882" y="1831975"/>
            <a:ext cx="3414236" cy="2571750"/>
          </a:xfrm>
          <a:prstGeom prst="roundRect">
            <a:avLst>
              <a:gd name="adj" fmla="val 2840"/>
            </a:avLst>
          </a:prstGeom>
          <a:solidFill>
            <a:srgbClr val="FCFBF7"/>
          </a:solidFill>
          <a:ln w="6350">
            <a:solidFill>
              <a:srgbClr val="DDD8CC"/>
            </a:solidFill>
            <a:prstDash val="solid"/>
          </a:ln>
        </p:spPr>
      </p:sp>
      <p:sp>
        <p:nvSpPr>
          <p:cNvPr id="10" name="Text 8"/>
          <p:cNvSpPr/>
          <p:nvPr/>
        </p:nvSpPr>
        <p:spPr>
          <a:xfrm>
            <a:off x="4593987" y="2037085"/>
            <a:ext cx="30941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WHITE-BOX</a:t>
            </a:r>
            <a:endParaRPr lang="en-US" sz="1200" dirty="0"/>
          </a:p>
        </p:txBody>
      </p:sp>
      <p:sp>
        <p:nvSpPr>
          <p:cNvPr id="11" name="Text 9"/>
          <p:cNvSpPr/>
          <p:nvPr/>
        </p:nvSpPr>
        <p:spPr>
          <a:xfrm>
            <a:off x="4593987" y="2313955"/>
            <a:ext cx="3094147"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4505F"/>
                </a:solidFill>
                <a:latin typeface="IBM Plex Sans" pitchFamily="34" charset="0"/>
                <a:ea typeface="IBM Plex Sans" pitchFamily="34" charset="-122"/>
                <a:cs typeface="IBM Plex Sans" pitchFamily="34" charset="-120"/>
              </a:rPr>
              <a:t>“A test technique only based on the internal structure of a component or system.”</a:t>
            </a:r>
            <a:endParaRPr lang="en-US" sz="1200" dirty="0"/>
          </a:p>
        </p:txBody>
      </p:sp>
      <p:sp>
        <p:nvSpPr>
          <p:cNvPr id="12" name="Text 10"/>
          <p:cNvSpPr/>
          <p:nvPr/>
        </p:nvSpPr>
        <p:spPr>
          <a:xfrm>
            <a:off x="4593987" y="2854970"/>
            <a:ext cx="3094147" cy="558800"/>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Statement testing and coverage</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Branch testing and coverage</a:t>
            </a:r>
            <a:endParaRPr lang="en-US" sz="1400" dirty="0"/>
          </a:p>
        </p:txBody>
      </p:sp>
      <p:sp>
        <p:nvSpPr>
          <p:cNvPr id="13" name="Text 11"/>
          <p:cNvSpPr/>
          <p:nvPr/>
        </p:nvSpPr>
        <p:spPr>
          <a:xfrm>
            <a:off x="4593987" y="3451870"/>
            <a:ext cx="30941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Mostly unit and integration</a:t>
            </a:r>
            <a:endParaRPr lang="en-US" sz="1200" dirty="0"/>
          </a:p>
        </p:txBody>
      </p:sp>
      <p:sp>
        <p:nvSpPr>
          <p:cNvPr id="14" name="Shape 12"/>
          <p:cNvSpPr/>
          <p:nvPr/>
        </p:nvSpPr>
        <p:spPr>
          <a:xfrm>
            <a:off x="7961868" y="1831975"/>
            <a:ext cx="3414157" cy="2571750"/>
          </a:xfrm>
          <a:prstGeom prst="roundRect">
            <a:avLst>
              <a:gd name="adj" fmla="val 2840"/>
            </a:avLst>
          </a:prstGeom>
          <a:solidFill>
            <a:srgbClr val="FCFBF7"/>
          </a:solidFill>
          <a:ln w="6350">
            <a:solidFill>
              <a:srgbClr val="DDD8CC"/>
            </a:solidFill>
            <a:prstDash val="solid"/>
          </a:ln>
        </p:spPr>
      </p:sp>
      <p:sp>
        <p:nvSpPr>
          <p:cNvPr id="15" name="Text 13"/>
          <p:cNvSpPr/>
          <p:nvPr/>
        </p:nvSpPr>
        <p:spPr>
          <a:xfrm>
            <a:off x="8166974" y="2037085"/>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EXPERIENCE-BASED</a:t>
            </a:r>
            <a:endParaRPr lang="en-US" sz="1200" dirty="0"/>
          </a:p>
        </p:txBody>
      </p:sp>
      <p:sp>
        <p:nvSpPr>
          <p:cNvPr id="16" name="Text 14"/>
          <p:cNvSpPr/>
          <p:nvPr/>
        </p:nvSpPr>
        <p:spPr>
          <a:xfrm>
            <a:off x="8166974" y="2313955"/>
            <a:ext cx="3094065"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4505F"/>
                </a:solidFill>
                <a:latin typeface="IBM Plex Sans" pitchFamily="34" charset="0"/>
                <a:ea typeface="IBM Plex Sans" pitchFamily="34" charset="-122"/>
                <a:cs typeface="IBM Plex Sans" pitchFamily="34" charset="-120"/>
              </a:rPr>
              <a:t>Tests drawn from the tester's knowledge of past failures and of how software breaks.</a:t>
            </a:r>
            <a:endParaRPr lang="en-US" sz="1200" dirty="0"/>
          </a:p>
        </p:txBody>
      </p:sp>
      <p:sp>
        <p:nvSpPr>
          <p:cNvPr id="17" name="Text 15"/>
          <p:cNvSpPr/>
          <p:nvPr/>
        </p:nvSpPr>
        <p:spPr>
          <a:xfrm>
            <a:off x="8166974" y="2854970"/>
            <a:ext cx="3094065" cy="825500"/>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Error guessing</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Exploratory testing</a:t>
            </a:r>
            <a:endParaRPr lang="en-US" sz="1400" dirty="0"/>
          </a:p>
          <a:p>
            <a:pPr algn="l" marL="213360" indent="-175768">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Checklist-based testing</a:t>
            </a:r>
            <a:endParaRPr lang="en-US" sz="1400" dirty="0"/>
          </a:p>
        </p:txBody>
      </p:sp>
      <p:sp>
        <p:nvSpPr>
          <p:cNvPr id="18" name="Text 16"/>
          <p:cNvSpPr/>
          <p:nvPr/>
        </p:nvSpPr>
        <p:spPr>
          <a:xfrm>
            <a:off x="8166974" y="3718570"/>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Complements the other two</a:t>
            </a:r>
            <a:endParaRPr lang="en-US" sz="1200" dirty="0"/>
          </a:p>
        </p:txBody>
      </p:sp>
      <p:sp>
        <p:nvSpPr>
          <p:cNvPr id="19" name="Text 17"/>
          <p:cNvSpPr/>
          <p:nvPr/>
        </p:nvSpPr>
        <p:spPr>
          <a:xfrm>
            <a:off x="812800" y="46609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Next: four black-box techniques, each applied to the Canteen App.</a:t>
            </a:r>
            <a:endParaRPr lang="en-US" sz="1400" dirty="0"/>
          </a:p>
        </p:txBody>
      </p:sp>
      <p:sp>
        <p:nvSpPr>
          <p:cNvPr id="20" name="Text 18"/>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1" name="Text 19"/>
          <p:cNvSpPr/>
          <p:nvPr/>
        </p:nvSpPr>
        <p:spPr>
          <a:xfrm>
            <a:off x="6008608" y="6238255"/>
            <a:ext cx="55317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Definitions: ISTQB Glossary · categories: ISTQB Foundation Level syllabus v4.0</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L12 · TEST CASE DESIGN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Equivalence partitions and boundary values</a:t>
            </a:r>
            <a:endParaRPr lang="en-US" sz="3200" dirty="0"/>
          </a:p>
        </p:txBody>
      </p:sp>
      <p:sp>
        <p:nvSpPr>
          <p:cNvPr id="4" name="Text 2"/>
          <p:cNvSpPr/>
          <p:nvPr/>
        </p:nvSpPr>
        <p:spPr>
          <a:xfrm>
            <a:off x="812800" y="17780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Rule: quantity per item must be a whole number from 1 to 10.</a:t>
            </a:r>
            <a:endParaRPr lang="en-US" sz="1400" dirty="0"/>
          </a:p>
        </p:txBody>
      </p:sp>
      <p:sp>
        <p:nvSpPr>
          <p:cNvPr id="5" name="Shape 3"/>
          <p:cNvSpPr/>
          <p:nvPr/>
        </p:nvSpPr>
        <p:spPr>
          <a:xfrm>
            <a:off x="815975" y="2233290"/>
            <a:ext cx="2406650" cy="707390"/>
          </a:xfrm>
          <a:custGeom>
            <a:avLst/>
            <a:gdLst/>
            <a:ahLst/>
            <a:cxnLst/>
            <a:rect l="l" t="t" r="r" b="b"/>
            <a:pathLst>
              <a:path w="2406650" h="707390">
                <a:moveTo>
                  <a:pt x="73025" y="0"/>
                </a:moveTo>
                <a:lnTo>
                  <a:pt x="2406650" y="0"/>
                </a:lnTo>
                <a:lnTo>
                  <a:pt x="2406650" y="707390"/>
                </a:lnTo>
                <a:lnTo>
                  <a:pt x="73025" y="707390"/>
                </a:lnTo>
                <a:arcTo hR="73025" wR="73025" stAng="5400000" swAng="5400000"/>
                <a:lnTo>
                  <a:pt x="0" y="73025"/>
                </a:lnTo>
                <a:arcTo hR="73025" wR="73025" stAng="10800000" swAng="5400000"/>
                <a:close/>
              </a:path>
            </a:pathLst>
          </a:custGeom>
          <a:solidFill>
            <a:srgbClr val="F7E3D5"/>
          </a:solidFill>
          <a:ln w="6350">
            <a:solidFill>
              <a:srgbClr val="E9C3A8"/>
            </a:solidFill>
            <a:prstDash val="solid"/>
          </a:ln>
        </p:spPr>
      </p:sp>
      <p:sp>
        <p:nvSpPr>
          <p:cNvPr id="6" name="Text 4"/>
          <p:cNvSpPr/>
          <p:nvPr/>
        </p:nvSpPr>
        <p:spPr>
          <a:xfrm>
            <a:off x="1730693" y="2349500"/>
            <a:ext cx="62801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Invalid</a:t>
            </a:r>
            <a:endParaRPr lang="en-US" sz="1400" dirty="0"/>
          </a:p>
        </p:txBody>
      </p:sp>
      <p:sp>
        <p:nvSpPr>
          <p:cNvPr id="7" name="Text 5"/>
          <p:cNvSpPr/>
          <p:nvPr/>
        </p:nvSpPr>
        <p:spPr>
          <a:xfrm>
            <a:off x="1730613" y="2611115"/>
            <a:ext cx="6280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0 or less</a:t>
            </a:r>
            <a:endParaRPr lang="en-US" sz="1200" dirty="0"/>
          </a:p>
        </p:txBody>
      </p:sp>
      <p:sp>
        <p:nvSpPr>
          <p:cNvPr id="8" name="Shape 6"/>
          <p:cNvSpPr/>
          <p:nvPr/>
        </p:nvSpPr>
        <p:spPr>
          <a:xfrm>
            <a:off x="3225800" y="2230115"/>
            <a:ext cx="5740400" cy="713740"/>
          </a:xfrm>
          <a:prstGeom prst="rect">
            <a:avLst/>
          </a:prstGeom>
          <a:solidFill>
            <a:srgbClr val="DCE7F3"/>
          </a:solidFill>
          <a:ln/>
        </p:spPr>
      </p:sp>
      <p:sp>
        <p:nvSpPr>
          <p:cNvPr id="9" name="Shape 7"/>
          <p:cNvSpPr/>
          <p:nvPr/>
        </p:nvSpPr>
        <p:spPr>
          <a:xfrm>
            <a:off x="3225800" y="2233290"/>
            <a:ext cx="5740400" cy="0"/>
          </a:xfrm>
          <a:prstGeom prst="line">
            <a:avLst/>
          </a:prstGeom>
          <a:noFill/>
          <a:ln w="6350">
            <a:solidFill>
              <a:srgbClr val="B9CDE6"/>
            </a:solidFill>
            <a:prstDash val="solid"/>
          </a:ln>
        </p:spPr>
      </p:sp>
      <p:sp>
        <p:nvSpPr>
          <p:cNvPr id="10" name="Shape 8"/>
          <p:cNvSpPr/>
          <p:nvPr/>
        </p:nvSpPr>
        <p:spPr>
          <a:xfrm>
            <a:off x="3225800" y="2940680"/>
            <a:ext cx="5740400" cy="0"/>
          </a:xfrm>
          <a:prstGeom prst="line">
            <a:avLst/>
          </a:prstGeom>
          <a:noFill/>
          <a:ln w="6350">
            <a:solidFill>
              <a:srgbClr val="B9CDE6"/>
            </a:solidFill>
            <a:prstDash val="solid"/>
          </a:ln>
        </p:spPr>
      </p:sp>
      <p:sp>
        <p:nvSpPr>
          <p:cNvPr id="11" name="Text 9"/>
          <p:cNvSpPr/>
          <p:nvPr/>
        </p:nvSpPr>
        <p:spPr>
          <a:xfrm>
            <a:off x="5888911" y="2349500"/>
            <a:ext cx="46489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Valid</a:t>
            </a:r>
            <a:endParaRPr lang="en-US" sz="1400" dirty="0"/>
          </a:p>
        </p:txBody>
      </p:sp>
      <p:sp>
        <p:nvSpPr>
          <p:cNvPr id="12" name="Text 10"/>
          <p:cNvSpPr/>
          <p:nvPr/>
        </p:nvSpPr>
        <p:spPr>
          <a:xfrm>
            <a:off x="5853748" y="2611115"/>
            <a:ext cx="5353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 to 10</a:t>
            </a:r>
            <a:endParaRPr lang="en-US" sz="1200" dirty="0"/>
          </a:p>
        </p:txBody>
      </p:sp>
      <p:sp>
        <p:nvSpPr>
          <p:cNvPr id="13" name="Shape 11"/>
          <p:cNvSpPr/>
          <p:nvPr/>
        </p:nvSpPr>
        <p:spPr>
          <a:xfrm>
            <a:off x="8969375" y="2233290"/>
            <a:ext cx="2406650" cy="707390"/>
          </a:xfrm>
          <a:custGeom>
            <a:avLst/>
            <a:gdLst/>
            <a:ahLst/>
            <a:cxnLst/>
            <a:rect l="l" t="t" r="r" b="b"/>
            <a:pathLst>
              <a:path w="2406650" h="707390">
                <a:moveTo>
                  <a:pt x="0" y="0"/>
                </a:moveTo>
                <a:lnTo>
                  <a:pt x="2333625" y="0"/>
                </a:lnTo>
                <a:arcTo hR="73025" wR="73025" stAng="16200000" swAng="5400000"/>
                <a:lnTo>
                  <a:pt x="2406650" y="634365"/>
                </a:lnTo>
                <a:arcTo hR="73025" wR="73025" stAng="0" swAng="5400000"/>
                <a:lnTo>
                  <a:pt x="0" y="707390"/>
                </a:lnTo>
                <a:lnTo>
                  <a:pt x="0" y="0"/>
                </a:lnTo>
                <a:close/>
              </a:path>
            </a:pathLst>
          </a:custGeom>
          <a:solidFill>
            <a:srgbClr val="F7E3D5"/>
          </a:solidFill>
          <a:ln w="6350">
            <a:solidFill>
              <a:srgbClr val="E9C3A8"/>
            </a:solidFill>
            <a:prstDash val="solid"/>
          </a:ln>
        </p:spPr>
      </p:sp>
      <p:sp>
        <p:nvSpPr>
          <p:cNvPr id="14" name="Text 12"/>
          <p:cNvSpPr/>
          <p:nvPr/>
        </p:nvSpPr>
        <p:spPr>
          <a:xfrm>
            <a:off x="9884093" y="2349500"/>
            <a:ext cx="62801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Invalid</a:t>
            </a:r>
            <a:endParaRPr lang="en-US" sz="1400" dirty="0"/>
          </a:p>
        </p:txBody>
      </p:sp>
      <p:sp>
        <p:nvSpPr>
          <p:cNvPr id="15" name="Text 13"/>
          <p:cNvSpPr/>
          <p:nvPr/>
        </p:nvSpPr>
        <p:spPr>
          <a:xfrm>
            <a:off x="9795987" y="2611115"/>
            <a:ext cx="8041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11 or more</a:t>
            </a:r>
            <a:endParaRPr lang="en-US" sz="1200" dirty="0"/>
          </a:p>
        </p:txBody>
      </p:sp>
      <p:sp>
        <p:nvSpPr>
          <p:cNvPr id="16" name="Shape 14"/>
          <p:cNvSpPr/>
          <p:nvPr/>
        </p:nvSpPr>
        <p:spPr>
          <a:xfrm>
            <a:off x="2443480" y="3032770"/>
            <a:ext cx="360680" cy="289560"/>
          </a:xfrm>
          <a:prstGeom prst="roundRect">
            <a:avLst>
              <a:gd name="adj" fmla="val 17544"/>
            </a:avLst>
          </a:prstGeom>
          <a:solidFill>
            <a:srgbClr val="DCE7F3"/>
          </a:solidFill>
          <a:ln/>
        </p:spPr>
      </p:sp>
      <p:sp>
        <p:nvSpPr>
          <p:cNvPr id="17" name="Text 15"/>
          <p:cNvSpPr/>
          <p:nvPr/>
        </p:nvSpPr>
        <p:spPr>
          <a:xfrm>
            <a:off x="2532380" y="307087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−3</a:t>
            </a:r>
            <a:endParaRPr lang="en-US" sz="1200" dirty="0"/>
          </a:p>
        </p:txBody>
      </p:sp>
      <p:sp>
        <p:nvSpPr>
          <p:cNvPr id="18" name="Shape 16"/>
          <p:cNvSpPr/>
          <p:nvPr/>
        </p:nvSpPr>
        <p:spPr>
          <a:xfrm>
            <a:off x="2880360" y="3032770"/>
            <a:ext cx="269240" cy="289560"/>
          </a:xfrm>
          <a:prstGeom prst="roundRect">
            <a:avLst>
              <a:gd name="adj" fmla="val 18868"/>
            </a:avLst>
          </a:prstGeom>
          <a:solidFill>
            <a:srgbClr val="F7E3D5"/>
          </a:solidFill>
          <a:ln/>
        </p:spPr>
      </p:sp>
      <p:sp>
        <p:nvSpPr>
          <p:cNvPr id="19" name="Text 17"/>
          <p:cNvSpPr/>
          <p:nvPr/>
        </p:nvSpPr>
        <p:spPr>
          <a:xfrm>
            <a:off x="2969260" y="307087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a:t>
            </a:r>
            <a:endParaRPr lang="en-US" sz="1200" dirty="0"/>
          </a:p>
        </p:txBody>
      </p:sp>
      <p:sp>
        <p:nvSpPr>
          <p:cNvPr id="20" name="Shape 18"/>
          <p:cNvSpPr/>
          <p:nvPr/>
        </p:nvSpPr>
        <p:spPr>
          <a:xfrm>
            <a:off x="3302000" y="3032770"/>
            <a:ext cx="269240" cy="289560"/>
          </a:xfrm>
          <a:prstGeom prst="roundRect">
            <a:avLst>
              <a:gd name="adj" fmla="val 18868"/>
            </a:avLst>
          </a:prstGeom>
          <a:solidFill>
            <a:srgbClr val="F7E3D5"/>
          </a:solidFill>
          <a:ln/>
        </p:spPr>
      </p:sp>
      <p:sp>
        <p:nvSpPr>
          <p:cNvPr id="21" name="Text 19"/>
          <p:cNvSpPr/>
          <p:nvPr/>
        </p:nvSpPr>
        <p:spPr>
          <a:xfrm>
            <a:off x="3390900" y="307087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1</a:t>
            </a:r>
            <a:endParaRPr lang="en-US" sz="1200" dirty="0"/>
          </a:p>
        </p:txBody>
      </p:sp>
      <p:sp>
        <p:nvSpPr>
          <p:cNvPr id="22" name="Shape 20"/>
          <p:cNvSpPr/>
          <p:nvPr/>
        </p:nvSpPr>
        <p:spPr>
          <a:xfrm>
            <a:off x="3647440" y="3032770"/>
            <a:ext cx="269240" cy="289560"/>
          </a:xfrm>
          <a:prstGeom prst="roundRect">
            <a:avLst>
              <a:gd name="adj" fmla="val 18868"/>
            </a:avLst>
          </a:prstGeom>
          <a:solidFill>
            <a:srgbClr val="F7E3D5"/>
          </a:solidFill>
          <a:ln/>
        </p:spPr>
      </p:sp>
      <p:sp>
        <p:nvSpPr>
          <p:cNvPr id="23" name="Text 21"/>
          <p:cNvSpPr/>
          <p:nvPr/>
        </p:nvSpPr>
        <p:spPr>
          <a:xfrm>
            <a:off x="3736340" y="307087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2</a:t>
            </a:r>
            <a:endParaRPr lang="en-US" sz="1200" dirty="0"/>
          </a:p>
        </p:txBody>
      </p:sp>
      <p:sp>
        <p:nvSpPr>
          <p:cNvPr id="24" name="Shape 22"/>
          <p:cNvSpPr/>
          <p:nvPr/>
        </p:nvSpPr>
        <p:spPr>
          <a:xfrm>
            <a:off x="5915660" y="3032770"/>
            <a:ext cx="269240" cy="289560"/>
          </a:xfrm>
          <a:prstGeom prst="roundRect">
            <a:avLst>
              <a:gd name="adj" fmla="val 18868"/>
            </a:avLst>
          </a:prstGeom>
          <a:solidFill>
            <a:srgbClr val="DCE7F3"/>
          </a:solidFill>
          <a:ln/>
        </p:spPr>
      </p:sp>
      <p:sp>
        <p:nvSpPr>
          <p:cNvPr id="25" name="Text 23"/>
          <p:cNvSpPr/>
          <p:nvPr/>
        </p:nvSpPr>
        <p:spPr>
          <a:xfrm>
            <a:off x="6004560" y="307087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5</a:t>
            </a:r>
            <a:endParaRPr lang="en-US" sz="1200" dirty="0"/>
          </a:p>
        </p:txBody>
      </p:sp>
      <p:sp>
        <p:nvSpPr>
          <p:cNvPr id="26" name="Shape 24"/>
          <p:cNvSpPr/>
          <p:nvPr/>
        </p:nvSpPr>
        <p:spPr>
          <a:xfrm>
            <a:off x="8183880" y="3032770"/>
            <a:ext cx="269240" cy="289560"/>
          </a:xfrm>
          <a:prstGeom prst="roundRect">
            <a:avLst>
              <a:gd name="adj" fmla="val 18868"/>
            </a:avLst>
          </a:prstGeom>
          <a:solidFill>
            <a:srgbClr val="F7E3D5"/>
          </a:solidFill>
          <a:ln/>
        </p:spPr>
      </p:sp>
      <p:sp>
        <p:nvSpPr>
          <p:cNvPr id="27" name="Text 25"/>
          <p:cNvSpPr/>
          <p:nvPr/>
        </p:nvSpPr>
        <p:spPr>
          <a:xfrm>
            <a:off x="8272780" y="307087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9</a:t>
            </a:r>
            <a:endParaRPr lang="en-US" sz="1200" dirty="0"/>
          </a:p>
        </p:txBody>
      </p:sp>
      <p:sp>
        <p:nvSpPr>
          <p:cNvPr id="28" name="Shape 26"/>
          <p:cNvSpPr/>
          <p:nvPr/>
        </p:nvSpPr>
        <p:spPr>
          <a:xfrm>
            <a:off x="8529320" y="3032770"/>
            <a:ext cx="360680" cy="289560"/>
          </a:xfrm>
          <a:prstGeom prst="roundRect">
            <a:avLst>
              <a:gd name="adj" fmla="val 17544"/>
            </a:avLst>
          </a:prstGeom>
          <a:solidFill>
            <a:srgbClr val="F7E3D5"/>
          </a:solidFill>
          <a:ln/>
        </p:spPr>
      </p:sp>
      <p:sp>
        <p:nvSpPr>
          <p:cNvPr id="29" name="Text 27"/>
          <p:cNvSpPr/>
          <p:nvPr/>
        </p:nvSpPr>
        <p:spPr>
          <a:xfrm>
            <a:off x="8618220" y="307087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10</a:t>
            </a:r>
            <a:endParaRPr lang="en-US" sz="1200" dirty="0"/>
          </a:p>
        </p:txBody>
      </p:sp>
      <p:sp>
        <p:nvSpPr>
          <p:cNvPr id="30" name="Shape 28"/>
          <p:cNvSpPr/>
          <p:nvPr/>
        </p:nvSpPr>
        <p:spPr>
          <a:xfrm>
            <a:off x="9042400" y="3032770"/>
            <a:ext cx="360680" cy="289560"/>
          </a:xfrm>
          <a:prstGeom prst="roundRect">
            <a:avLst>
              <a:gd name="adj" fmla="val 17544"/>
            </a:avLst>
          </a:prstGeom>
          <a:solidFill>
            <a:srgbClr val="F7E3D5"/>
          </a:solidFill>
          <a:ln/>
        </p:spPr>
      </p:sp>
      <p:sp>
        <p:nvSpPr>
          <p:cNvPr id="31" name="Text 29"/>
          <p:cNvSpPr/>
          <p:nvPr/>
        </p:nvSpPr>
        <p:spPr>
          <a:xfrm>
            <a:off x="9131300" y="307087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11</a:t>
            </a:r>
            <a:endParaRPr lang="en-US" sz="1200" dirty="0"/>
          </a:p>
        </p:txBody>
      </p:sp>
      <p:sp>
        <p:nvSpPr>
          <p:cNvPr id="32" name="Shape 30"/>
          <p:cNvSpPr/>
          <p:nvPr/>
        </p:nvSpPr>
        <p:spPr>
          <a:xfrm>
            <a:off x="11018520" y="3032770"/>
            <a:ext cx="360680" cy="289560"/>
          </a:xfrm>
          <a:prstGeom prst="roundRect">
            <a:avLst>
              <a:gd name="adj" fmla="val 17544"/>
            </a:avLst>
          </a:prstGeom>
          <a:solidFill>
            <a:srgbClr val="DCE7F3"/>
          </a:solidFill>
          <a:ln/>
        </p:spPr>
      </p:sp>
      <p:sp>
        <p:nvSpPr>
          <p:cNvPr id="33" name="Text 31"/>
          <p:cNvSpPr/>
          <p:nvPr/>
        </p:nvSpPr>
        <p:spPr>
          <a:xfrm>
            <a:off x="11107420" y="307087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15</a:t>
            </a:r>
            <a:endParaRPr lang="en-US" sz="1200" dirty="0"/>
          </a:p>
        </p:txBody>
      </p:sp>
      <p:sp>
        <p:nvSpPr>
          <p:cNvPr id="34" name="Shape 32"/>
          <p:cNvSpPr/>
          <p:nvPr/>
        </p:nvSpPr>
        <p:spPr>
          <a:xfrm>
            <a:off x="815975" y="3528690"/>
            <a:ext cx="5175250" cy="999490"/>
          </a:xfrm>
          <a:prstGeom prst="roundRect">
            <a:avLst>
              <a:gd name="adj" fmla="val 7306"/>
            </a:avLst>
          </a:prstGeom>
          <a:solidFill>
            <a:srgbClr val="FCFBF7"/>
          </a:solidFill>
          <a:ln w="6350">
            <a:solidFill>
              <a:srgbClr val="DDD8CC"/>
            </a:solidFill>
            <a:prstDash val="solid"/>
          </a:ln>
        </p:spPr>
      </p:sp>
      <p:sp>
        <p:nvSpPr>
          <p:cNvPr id="35" name="Text 33"/>
          <p:cNvSpPr/>
          <p:nvPr/>
        </p:nvSpPr>
        <p:spPr>
          <a:xfrm>
            <a:off x="1021080" y="36830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EQUIVALENCE PARTITIONING · BLUE</a:t>
            </a:r>
            <a:endParaRPr lang="en-US" sz="1200" dirty="0"/>
          </a:p>
        </p:txBody>
      </p:sp>
      <p:sp>
        <p:nvSpPr>
          <p:cNvPr id="36" name="Text 34"/>
          <p:cNvSpPr/>
          <p:nvPr/>
        </p:nvSpPr>
        <p:spPr>
          <a:xfrm>
            <a:off x="1021080" y="3947170"/>
            <a:ext cx="490799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Group inputs the system should treat alike; test one value from each group. Three partitions, three tests: −3, 5, 15.</a:t>
            </a:r>
            <a:endParaRPr lang="en-US" sz="1200" dirty="0"/>
          </a:p>
        </p:txBody>
      </p:sp>
      <p:sp>
        <p:nvSpPr>
          <p:cNvPr id="37" name="Shape 35"/>
          <p:cNvSpPr/>
          <p:nvPr/>
        </p:nvSpPr>
        <p:spPr>
          <a:xfrm>
            <a:off x="6200775" y="3528690"/>
            <a:ext cx="5175250" cy="999490"/>
          </a:xfrm>
          <a:prstGeom prst="roundRect">
            <a:avLst>
              <a:gd name="adj" fmla="val 7306"/>
            </a:avLst>
          </a:prstGeom>
          <a:solidFill>
            <a:srgbClr val="FCFBF7"/>
          </a:solidFill>
          <a:ln w="6350">
            <a:solidFill>
              <a:srgbClr val="DDD8CC"/>
            </a:solidFill>
            <a:prstDash val="solid"/>
          </a:ln>
        </p:spPr>
      </p:sp>
      <p:sp>
        <p:nvSpPr>
          <p:cNvPr id="38" name="Text 36"/>
          <p:cNvSpPr/>
          <p:nvPr/>
        </p:nvSpPr>
        <p:spPr>
          <a:xfrm>
            <a:off x="6405880" y="36830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BOUNDARY VALUES · ORANGE</a:t>
            </a:r>
            <a:endParaRPr lang="en-US" sz="1200" dirty="0"/>
          </a:p>
        </p:txBody>
      </p:sp>
      <p:sp>
        <p:nvSpPr>
          <p:cNvPr id="39" name="Text 37"/>
          <p:cNvSpPr/>
          <p:nvPr/>
        </p:nvSpPr>
        <p:spPr>
          <a:xfrm>
            <a:off x="6405880" y="3947170"/>
            <a:ext cx="490799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Defects cluster at edges, e.g. &lt; written for &lt;=. 2-value: 0, 1, 10, 11. 3-value adds 2 and 9.</a:t>
            </a:r>
            <a:endParaRPr lang="en-US" sz="1200" dirty="0"/>
          </a:p>
        </p:txBody>
      </p:sp>
      <p:sp>
        <p:nvSpPr>
          <p:cNvPr id="40" name="Text 38"/>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41" name="Text 39"/>
          <p:cNvSpPr/>
          <p:nvPr/>
        </p:nvSpPr>
        <p:spPr>
          <a:xfrm>
            <a:off x="6758225" y="6238255"/>
            <a:ext cx="47596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Also test a non-number such as “abc”: an invalid partition of its own</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L12 · TEST CASE DESIGN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Decision table testing</a:t>
            </a:r>
            <a:endParaRPr lang="en-US" sz="3200" dirty="0"/>
          </a:p>
        </p:txBody>
      </p:sp>
      <p:sp>
        <p:nvSpPr>
          <p:cNvPr id="4" name="Shape 2"/>
          <p:cNvSpPr/>
          <p:nvPr/>
        </p:nvSpPr>
        <p:spPr>
          <a:xfrm>
            <a:off x="7794625" y="1828800"/>
            <a:ext cx="0" cy="3083560"/>
          </a:xfrm>
          <a:prstGeom prst="line">
            <a:avLst/>
          </a:prstGeom>
          <a:noFill/>
          <a:ln w="6350">
            <a:solidFill>
              <a:srgbClr val="DDD8CC"/>
            </a:solidFill>
            <a:prstDash val="solid"/>
          </a:ln>
        </p:spPr>
      </p:sp>
      <p:sp>
        <p:nvSpPr>
          <p:cNvPr id="5" name="Shape 3"/>
          <p:cNvSpPr/>
          <p:nvPr/>
        </p:nvSpPr>
        <p:spPr>
          <a:xfrm>
            <a:off x="812800" y="4909185"/>
            <a:ext cx="69850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6969760" cy="3068320"/>
        </p:xfrm>
        <a:graphic>
          <a:graphicData uri="http://schemas.openxmlformats.org/drawingml/2006/table">
            <a:tbl>
              <a:tblPr/>
              <a:tblGrid>
                <a:gridCol w="3066694"/>
                <a:gridCol w="975766"/>
                <a:gridCol w="975766"/>
                <a:gridCol w="975766"/>
                <a:gridCol w="975766"/>
              </a:tblGrid>
              <a:tr h="383540">
                <a:tc>
                  <a:txBody>
                    <a:bodyPr/>
                    <a:lstStyle/>
                    <a:p>
                      <a:pPr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SAVE20 rules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algn="ctr"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R1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algn="ctr"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R2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algn="ctr"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R3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algn="ctr"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R4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C1 · Code valid?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algn="ct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algn="ct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algn="ct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algn="ct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C2 · Order ≥ ₹200?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algn="ct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algn="ct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algn="ct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algn="ct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C3 · Order &gt; ₹500?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algn="ct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algn="ct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algn="ct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algn="ct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A1 · Reject: invalid 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A2 · Reject: minimum order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A3 · Take 20% off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A4 · Take ₹100 off (cap)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bl>
          </a:graphicData>
        </a:graphic>
      </p:graphicFrame>
      <p:sp>
        <p:nvSpPr>
          <p:cNvPr id="7" name="Text 4"/>
          <p:cNvSpPr/>
          <p:nvPr/>
        </p:nvSpPr>
        <p:spPr>
          <a:xfrm>
            <a:off x="8102600" y="1828800"/>
            <a:ext cx="337489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HOW TO BUILD IT</a:t>
            </a:r>
            <a:endParaRPr lang="en-US" sz="1200" dirty="0"/>
          </a:p>
        </p:txBody>
      </p:sp>
      <p:sp>
        <p:nvSpPr>
          <p:cNvPr id="8" name="Shape 5"/>
          <p:cNvSpPr/>
          <p:nvPr/>
        </p:nvSpPr>
        <p:spPr>
          <a:xfrm>
            <a:off x="8102600" y="2121545"/>
            <a:ext cx="3276600" cy="0"/>
          </a:xfrm>
          <a:prstGeom prst="line">
            <a:avLst/>
          </a:prstGeom>
          <a:noFill/>
          <a:ln w="6350">
            <a:solidFill>
              <a:srgbClr val="DDD8CC"/>
            </a:solidFill>
            <a:prstDash val="solid"/>
          </a:ln>
        </p:spPr>
      </p:sp>
      <p:sp>
        <p:nvSpPr>
          <p:cNvPr id="9" name="Text 6"/>
          <p:cNvSpPr/>
          <p:nvPr/>
        </p:nvSpPr>
        <p:spPr>
          <a:xfrm>
            <a:off x="8102600" y="2186950"/>
            <a:ext cx="33748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 · List conditions and actions</a:t>
            </a:r>
            <a:endParaRPr lang="en-US" sz="1200" dirty="0"/>
          </a:p>
        </p:txBody>
      </p:sp>
      <p:sp>
        <p:nvSpPr>
          <p:cNvPr id="10" name="Shape 7"/>
          <p:cNvSpPr/>
          <p:nvPr/>
        </p:nvSpPr>
        <p:spPr>
          <a:xfrm>
            <a:off x="8102600" y="2466975"/>
            <a:ext cx="3276600" cy="0"/>
          </a:xfrm>
          <a:prstGeom prst="line">
            <a:avLst/>
          </a:prstGeom>
          <a:noFill/>
          <a:ln w="6350">
            <a:solidFill>
              <a:srgbClr val="DDD8CC"/>
            </a:solidFill>
            <a:prstDash val="solid"/>
          </a:ln>
        </p:spPr>
      </p:sp>
      <p:sp>
        <p:nvSpPr>
          <p:cNvPr id="11" name="Text 8"/>
          <p:cNvSpPr/>
          <p:nvPr/>
        </p:nvSpPr>
        <p:spPr>
          <a:xfrm>
            <a:off x="8102600" y="2532380"/>
            <a:ext cx="33748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2 · Combine: 2³ = 8 rules</a:t>
            </a:r>
            <a:endParaRPr lang="en-US" sz="1200" dirty="0"/>
          </a:p>
        </p:txBody>
      </p:sp>
      <p:sp>
        <p:nvSpPr>
          <p:cNvPr id="12" name="Shape 9"/>
          <p:cNvSpPr/>
          <p:nvPr/>
        </p:nvSpPr>
        <p:spPr>
          <a:xfrm>
            <a:off x="8102600" y="2812430"/>
            <a:ext cx="3276600" cy="0"/>
          </a:xfrm>
          <a:prstGeom prst="line">
            <a:avLst/>
          </a:prstGeom>
          <a:noFill/>
          <a:ln w="6350">
            <a:solidFill>
              <a:srgbClr val="DDD8CC"/>
            </a:solidFill>
            <a:prstDash val="solid"/>
          </a:ln>
        </p:spPr>
      </p:sp>
      <p:sp>
        <p:nvSpPr>
          <p:cNvPr id="13" name="Text 10"/>
          <p:cNvSpPr/>
          <p:nvPr/>
        </p:nvSpPr>
        <p:spPr>
          <a:xfrm>
            <a:off x="8102600" y="2877835"/>
            <a:ext cx="33748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3 · Merge don't-cares, drop the impossible</a:t>
            </a:r>
            <a:endParaRPr lang="en-US" sz="1200" dirty="0"/>
          </a:p>
        </p:txBody>
      </p:sp>
      <p:sp>
        <p:nvSpPr>
          <p:cNvPr id="14" name="Shape 11"/>
          <p:cNvSpPr/>
          <p:nvPr/>
        </p:nvSpPr>
        <p:spPr>
          <a:xfrm>
            <a:off x="8102600" y="3157860"/>
            <a:ext cx="3276600" cy="0"/>
          </a:xfrm>
          <a:prstGeom prst="line">
            <a:avLst/>
          </a:prstGeom>
          <a:noFill/>
          <a:ln w="6350">
            <a:solidFill>
              <a:srgbClr val="DDD8CC"/>
            </a:solidFill>
            <a:prstDash val="solid"/>
          </a:ln>
        </p:spPr>
      </p:sp>
      <p:sp>
        <p:nvSpPr>
          <p:cNvPr id="15" name="Shape 12"/>
          <p:cNvSpPr/>
          <p:nvPr/>
        </p:nvSpPr>
        <p:spPr>
          <a:xfrm>
            <a:off x="8102600" y="3502030"/>
            <a:ext cx="3276600" cy="0"/>
          </a:xfrm>
          <a:prstGeom prst="line">
            <a:avLst/>
          </a:prstGeom>
          <a:noFill/>
          <a:ln w="6350">
            <a:solidFill>
              <a:srgbClr val="DDD8CC"/>
            </a:solidFill>
            <a:prstDash val="solid"/>
          </a:ln>
        </p:spPr>
      </p:sp>
      <p:sp>
        <p:nvSpPr>
          <p:cNvPr id="16" name="Text 13"/>
          <p:cNvSpPr/>
          <p:nvPr/>
        </p:nvSpPr>
        <p:spPr>
          <a:xfrm>
            <a:off x="8102600" y="3223265"/>
            <a:ext cx="33748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4 · One test case per rule</a:t>
            </a:r>
            <a:endParaRPr lang="en-US" sz="1200" dirty="0"/>
          </a:p>
        </p:txBody>
      </p:sp>
      <p:sp>
        <p:nvSpPr>
          <p:cNvPr id="17" name="Shape 14"/>
          <p:cNvSpPr/>
          <p:nvPr/>
        </p:nvSpPr>
        <p:spPr>
          <a:xfrm>
            <a:off x="8102600" y="3581400"/>
            <a:ext cx="3276600" cy="1498600"/>
          </a:xfrm>
          <a:prstGeom prst="roundRect">
            <a:avLst>
              <a:gd name="adj" fmla="val 5085"/>
            </a:avLst>
          </a:prstGeom>
          <a:solidFill>
            <a:srgbClr val="13233A"/>
          </a:solidFill>
          <a:ln/>
        </p:spPr>
      </p:sp>
      <p:sp>
        <p:nvSpPr>
          <p:cNvPr id="18" name="Text 15"/>
          <p:cNvSpPr/>
          <p:nvPr/>
        </p:nvSpPr>
        <p:spPr>
          <a:xfrm>
            <a:off x="8280400" y="3721100"/>
            <a:ext cx="30086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TEST DATA</a:t>
            </a:r>
            <a:endParaRPr lang="en-US" sz="1200" dirty="0"/>
          </a:p>
        </p:txBody>
      </p:sp>
      <p:sp>
        <p:nvSpPr>
          <p:cNvPr id="19" name="Text 16"/>
          <p:cNvSpPr/>
          <p:nvPr/>
        </p:nvSpPr>
        <p:spPr>
          <a:xfrm>
            <a:off x="8280400" y="3972570"/>
            <a:ext cx="30086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R1 · ₹300, code SAVE2O</a:t>
            </a:r>
            <a:endParaRPr lang="en-US" sz="1200" dirty="0"/>
          </a:p>
        </p:txBody>
      </p:sp>
      <p:sp>
        <p:nvSpPr>
          <p:cNvPr id="20" name="Text 17"/>
          <p:cNvSpPr/>
          <p:nvPr/>
        </p:nvSpPr>
        <p:spPr>
          <a:xfrm>
            <a:off x="8280400" y="4224015"/>
            <a:ext cx="30086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R2 · ₹150, SAVE20</a:t>
            </a:r>
            <a:endParaRPr lang="en-US" sz="1200" dirty="0"/>
          </a:p>
        </p:txBody>
      </p:sp>
      <p:sp>
        <p:nvSpPr>
          <p:cNvPr id="21" name="Text 18"/>
          <p:cNvSpPr/>
          <p:nvPr/>
        </p:nvSpPr>
        <p:spPr>
          <a:xfrm>
            <a:off x="8280400" y="4475485"/>
            <a:ext cx="30086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R3 · ₹300: pay ₹240</a:t>
            </a:r>
            <a:endParaRPr lang="en-US" sz="1200" dirty="0"/>
          </a:p>
        </p:txBody>
      </p:sp>
      <p:sp>
        <p:nvSpPr>
          <p:cNvPr id="22" name="Text 19"/>
          <p:cNvSpPr/>
          <p:nvPr/>
        </p:nvSpPr>
        <p:spPr>
          <a:xfrm>
            <a:off x="8280400" y="4726955"/>
            <a:ext cx="30086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R4 · ₹800: pay ₹700</a:t>
            </a:r>
            <a:endParaRPr lang="en-US" sz="1200" dirty="0"/>
          </a:p>
        </p:txBody>
      </p:sp>
      <p:sp>
        <p:nvSpPr>
          <p:cNvPr id="23" name="Text 20"/>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4" name="Text 21"/>
          <p:cNvSpPr/>
          <p:nvPr/>
        </p:nvSpPr>
        <p:spPr>
          <a:xfrm>
            <a:off x="6291421" y="6238255"/>
            <a:ext cx="52404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Y yes · N no · – either value · X action taken · conditions white, actions grey</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L12 · TEST CASE DESIGN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State transition testing</a:t>
            </a:r>
            <a:endParaRPr lang="en-US" sz="3200" dirty="0"/>
          </a:p>
        </p:txBody>
      </p:sp>
      <p:sp>
        <p:nvSpPr>
          <p:cNvPr id="4" name="Shape 2"/>
          <p:cNvSpPr/>
          <p:nvPr/>
        </p:nvSpPr>
        <p:spPr>
          <a:xfrm>
            <a:off x="812800" y="2146300"/>
            <a:ext cx="1778000" cy="609600"/>
          </a:xfrm>
          <a:prstGeom prst="roundRect">
            <a:avLst>
              <a:gd name="adj" fmla="val 50000"/>
            </a:avLst>
          </a:prstGeom>
          <a:solidFill>
            <a:srgbClr val="13233A"/>
          </a:solidFill>
          <a:ln/>
        </p:spPr>
      </p:sp>
      <p:sp>
        <p:nvSpPr>
          <p:cNvPr id="5" name="Text 3"/>
          <p:cNvSpPr/>
          <p:nvPr/>
        </p:nvSpPr>
        <p:spPr>
          <a:xfrm>
            <a:off x="1420892" y="2326655"/>
            <a:ext cx="61261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Placed</a:t>
            </a:r>
            <a:endParaRPr lang="en-US" sz="1400" dirty="0"/>
          </a:p>
        </p:txBody>
      </p:sp>
      <p:sp>
        <p:nvSpPr>
          <p:cNvPr id="6" name="Shape 4"/>
          <p:cNvSpPr/>
          <p:nvPr/>
        </p:nvSpPr>
        <p:spPr>
          <a:xfrm>
            <a:off x="3740150" y="2152650"/>
            <a:ext cx="1765300" cy="596900"/>
          </a:xfrm>
          <a:prstGeom prst="roundRect">
            <a:avLst>
              <a:gd name="adj" fmla="val 50000"/>
            </a:avLst>
          </a:prstGeom>
          <a:solidFill>
            <a:srgbClr val="FCFBF7"/>
          </a:solidFill>
          <a:ln w="12700">
            <a:solidFill>
              <a:srgbClr val="13233A"/>
            </a:solidFill>
            <a:prstDash val="solid"/>
          </a:ln>
        </p:spPr>
      </p:sp>
      <p:sp>
        <p:nvSpPr>
          <p:cNvPr id="7" name="Text 5"/>
          <p:cNvSpPr/>
          <p:nvPr/>
        </p:nvSpPr>
        <p:spPr>
          <a:xfrm>
            <a:off x="4219416" y="2326655"/>
            <a:ext cx="85748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Preparing</a:t>
            </a:r>
            <a:endParaRPr lang="en-US" sz="1400" dirty="0"/>
          </a:p>
        </p:txBody>
      </p:sp>
      <p:sp>
        <p:nvSpPr>
          <p:cNvPr id="8" name="Shape 6"/>
          <p:cNvSpPr/>
          <p:nvPr/>
        </p:nvSpPr>
        <p:spPr>
          <a:xfrm>
            <a:off x="6661150" y="2152650"/>
            <a:ext cx="1765300" cy="596900"/>
          </a:xfrm>
          <a:prstGeom prst="roundRect">
            <a:avLst>
              <a:gd name="adj" fmla="val 50000"/>
            </a:avLst>
          </a:prstGeom>
          <a:solidFill>
            <a:srgbClr val="FCFBF7"/>
          </a:solidFill>
          <a:ln w="12700">
            <a:solidFill>
              <a:srgbClr val="13233A"/>
            </a:solidFill>
            <a:prstDash val="solid"/>
          </a:ln>
        </p:spPr>
      </p:sp>
      <p:sp>
        <p:nvSpPr>
          <p:cNvPr id="9" name="Text 7"/>
          <p:cNvSpPr/>
          <p:nvPr/>
        </p:nvSpPr>
        <p:spPr>
          <a:xfrm>
            <a:off x="7286863" y="2326655"/>
            <a:ext cx="56467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Ready</a:t>
            </a:r>
            <a:endParaRPr lang="en-US" sz="1400" dirty="0"/>
          </a:p>
        </p:txBody>
      </p:sp>
      <p:sp>
        <p:nvSpPr>
          <p:cNvPr id="10" name="Shape 8"/>
          <p:cNvSpPr/>
          <p:nvPr/>
        </p:nvSpPr>
        <p:spPr>
          <a:xfrm>
            <a:off x="9582150" y="2152650"/>
            <a:ext cx="1765300" cy="596900"/>
          </a:xfrm>
          <a:prstGeom prst="roundRect">
            <a:avLst>
              <a:gd name="adj" fmla="val 50000"/>
            </a:avLst>
          </a:prstGeom>
          <a:solidFill>
            <a:srgbClr val="FCFBF7"/>
          </a:solidFill>
          <a:ln w="12700">
            <a:solidFill>
              <a:srgbClr val="13233A"/>
            </a:solidFill>
            <a:prstDash val="solid"/>
          </a:ln>
        </p:spPr>
      </p:sp>
      <p:sp>
        <p:nvSpPr>
          <p:cNvPr id="11" name="Text 9"/>
          <p:cNvSpPr/>
          <p:nvPr/>
        </p:nvSpPr>
        <p:spPr>
          <a:xfrm>
            <a:off x="10074910" y="2326655"/>
            <a:ext cx="8305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Collected</a:t>
            </a:r>
            <a:endParaRPr lang="en-US" sz="1400" dirty="0"/>
          </a:p>
        </p:txBody>
      </p:sp>
      <p:sp>
        <p:nvSpPr>
          <p:cNvPr id="12" name="Shape 10"/>
          <p:cNvSpPr/>
          <p:nvPr/>
        </p:nvSpPr>
        <p:spPr>
          <a:xfrm>
            <a:off x="819150" y="3321050"/>
            <a:ext cx="1765300" cy="596900"/>
          </a:xfrm>
          <a:prstGeom prst="roundRect">
            <a:avLst>
              <a:gd name="adj" fmla="val 50000"/>
            </a:avLst>
          </a:prstGeom>
          <a:solidFill>
            <a:srgbClr val="F7E3D5"/>
          </a:solidFill>
          <a:ln w="12700">
            <a:solidFill>
              <a:srgbClr val="A9481A"/>
            </a:solidFill>
            <a:prstDash val="solid"/>
          </a:ln>
        </p:spPr>
      </p:sp>
      <p:sp>
        <p:nvSpPr>
          <p:cNvPr id="13" name="Text 11"/>
          <p:cNvSpPr/>
          <p:nvPr/>
        </p:nvSpPr>
        <p:spPr>
          <a:xfrm>
            <a:off x="1293416" y="3495055"/>
            <a:ext cx="86756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Cancelled</a:t>
            </a:r>
            <a:endParaRPr lang="en-US" sz="1400" dirty="0"/>
          </a:p>
        </p:txBody>
      </p:sp>
      <p:pic>
        <p:nvPicPr>
          <p:cNvPr id="14" name="Image 0" descr="connector">    </p:cNvPr>
          <p:cNvPicPr>
            <a:picLocks noChangeAspect="1"/>
          </p:cNvPicPr>
          <p:nvPr/>
        </p:nvPicPr>
        <p:blipFill>
          <a:blip r:embed="rId1"/>
          <a:srcRect l="0" r="0" t="0" b="0"/>
          <a:stretch/>
        </p:blipFill>
        <p:spPr>
          <a:xfrm>
            <a:off x="2540000" y="2400300"/>
            <a:ext cx="1244600" cy="101600"/>
          </a:xfrm>
          <a:prstGeom prst="rect">
            <a:avLst/>
          </a:prstGeom>
        </p:spPr>
      </p:pic>
      <p:pic>
        <p:nvPicPr>
          <p:cNvPr id="15" name="Image 1" descr="connector">    </p:cNvPr>
          <p:cNvPicPr>
            <a:picLocks noChangeAspect="1"/>
          </p:cNvPicPr>
          <p:nvPr/>
        </p:nvPicPr>
        <p:blipFill>
          <a:blip r:embed="rId2"/>
          <a:srcRect l="0" r="0" t="0" b="0"/>
          <a:stretch/>
        </p:blipFill>
        <p:spPr>
          <a:xfrm>
            <a:off x="5461000" y="2400300"/>
            <a:ext cx="1244600" cy="101600"/>
          </a:xfrm>
          <a:prstGeom prst="rect">
            <a:avLst/>
          </a:prstGeom>
        </p:spPr>
      </p:pic>
      <p:pic>
        <p:nvPicPr>
          <p:cNvPr id="16" name="Image 2" descr="connector">    </p:cNvPr>
          <p:cNvPicPr>
            <a:picLocks noChangeAspect="1"/>
          </p:cNvPicPr>
          <p:nvPr/>
        </p:nvPicPr>
        <p:blipFill>
          <a:blip r:embed="rId3"/>
          <a:srcRect l="0" r="0" t="0" b="0"/>
          <a:stretch/>
        </p:blipFill>
        <p:spPr>
          <a:xfrm>
            <a:off x="8382000" y="2400300"/>
            <a:ext cx="1244600" cy="101600"/>
          </a:xfrm>
          <a:prstGeom prst="rect">
            <a:avLst/>
          </a:prstGeom>
        </p:spPr>
      </p:pic>
      <p:pic>
        <p:nvPicPr>
          <p:cNvPr id="17" name="Image 3" descr="connector">    </p:cNvPr>
          <p:cNvPicPr>
            <a:picLocks noChangeAspect="1"/>
          </p:cNvPicPr>
          <p:nvPr/>
        </p:nvPicPr>
        <p:blipFill>
          <a:blip r:embed="rId4"/>
          <a:srcRect l="0" r="0" t="0" b="0"/>
          <a:stretch/>
        </p:blipFill>
        <p:spPr>
          <a:xfrm>
            <a:off x="1651000" y="2705100"/>
            <a:ext cx="101600" cy="660400"/>
          </a:xfrm>
          <a:prstGeom prst="rect">
            <a:avLst/>
          </a:prstGeom>
        </p:spPr>
      </p:pic>
      <p:sp>
        <p:nvSpPr>
          <p:cNvPr id="18" name="Text 12"/>
          <p:cNvSpPr/>
          <p:nvPr/>
        </p:nvSpPr>
        <p:spPr>
          <a:xfrm>
            <a:off x="2654300" y="1854200"/>
            <a:ext cx="1016000" cy="42164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5E6977"/>
                </a:solidFill>
                <a:latin typeface="IBM Plex Sans" pitchFamily="34" charset="0"/>
                <a:ea typeface="IBM Plex Sans" pitchFamily="34" charset="-122"/>
                <a:cs typeface="IBM Plex Sans" pitchFamily="34" charset="-120"/>
              </a:rPr>
              <a:t>kitchen accepts</a:t>
            </a:r>
            <a:endParaRPr lang="en-US" sz="1200" dirty="0"/>
          </a:p>
        </p:txBody>
      </p:sp>
      <p:sp>
        <p:nvSpPr>
          <p:cNvPr id="19" name="Text 13"/>
          <p:cNvSpPr/>
          <p:nvPr/>
        </p:nvSpPr>
        <p:spPr>
          <a:xfrm>
            <a:off x="5575300" y="2070100"/>
            <a:ext cx="1016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food ready</a:t>
            </a:r>
            <a:endParaRPr lang="en-US" sz="1200" dirty="0"/>
          </a:p>
        </p:txBody>
      </p:sp>
      <p:sp>
        <p:nvSpPr>
          <p:cNvPr id="20" name="Text 14"/>
          <p:cNvSpPr/>
          <p:nvPr/>
        </p:nvSpPr>
        <p:spPr>
          <a:xfrm>
            <a:off x="8496300" y="2070100"/>
            <a:ext cx="1016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picked up</a:t>
            </a:r>
            <a:endParaRPr lang="en-US" sz="1200" dirty="0"/>
          </a:p>
        </p:txBody>
      </p:sp>
      <p:sp>
        <p:nvSpPr>
          <p:cNvPr id="21" name="Text 15"/>
          <p:cNvSpPr/>
          <p:nvPr/>
        </p:nvSpPr>
        <p:spPr>
          <a:xfrm>
            <a:off x="1803400" y="2927350"/>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481A"/>
                </a:solidFill>
                <a:latin typeface="IBM Plex Sans" pitchFamily="34" charset="0"/>
                <a:ea typeface="IBM Plex Sans" pitchFamily="34" charset="-122"/>
                <a:cs typeface="IBM Plex Sans" pitchFamily="34" charset="-120"/>
              </a:rPr>
              <a:t>student cancels</a:t>
            </a:r>
            <a:endParaRPr lang="en-US" sz="1200" dirty="0"/>
          </a:p>
        </p:txBody>
      </p:sp>
      <p:sp>
        <p:nvSpPr>
          <p:cNvPr id="22" name="Text 16"/>
          <p:cNvSpPr/>
          <p:nvPr/>
        </p:nvSpPr>
        <p:spPr>
          <a:xfrm>
            <a:off x="812800" y="417830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COVERAGE LEVELS</a:t>
            </a:r>
            <a:endParaRPr lang="en-US" sz="1200" dirty="0"/>
          </a:p>
        </p:txBody>
      </p:sp>
      <p:sp>
        <p:nvSpPr>
          <p:cNvPr id="23" name="Shape 17"/>
          <p:cNvSpPr/>
          <p:nvPr/>
        </p:nvSpPr>
        <p:spPr>
          <a:xfrm>
            <a:off x="812800" y="4445645"/>
            <a:ext cx="5130800" cy="0"/>
          </a:xfrm>
          <a:prstGeom prst="line">
            <a:avLst/>
          </a:prstGeom>
          <a:noFill/>
          <a:ln w="6350">
            <a:solidFill>
              <a:srgbClr val="DDD8CC"/>
            </a:solidFill>
            <a:prstDash val="solid"/>
          </a:ln>
        </p:spPr>
      </p:sp>
      <p:sp>
        <p:nvSpPr>
          <p:cNvPr id="24" name="Text 18"/>
          <p:cNvSpPr/>
          <p:nvPr/>
        </p:nvSpPr>
        <p:spPr>
          <a:xfrm>
            <a:off x="812800" y="448565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All states:</a:t>
            </a:r>
            <a:r>
              <a:rPr lang="en-US" sz="1200" dirty="0">
                <a:solidFill>
                  <a:srgbClr val="13233A"/>
                </a:solidFill>
                <a:latin typeface="IBM Plex Sans" pitchFamily="34" charset="0"/>
                <a:ea typeface="IBM Plex Sans" pitchFamily="34" charset="-122"/>
                <a:cs typeface="IBM Plex Sans" pitchFamily="34" charset="-120"/>
              </a:rPr>
              <a:t> visit all five states</a:t>
            </a:r>
            <a:endParaRPr lang="en-US" sz="1200" dirty="0"/>
          </a:p>
        </p:txBody>
      </p:sp>
      <p:sp>
        <p:nvSpPr>
          <p:cNvPr id="25" name="Shape 19"/>
          <p:cNvSpPr/>
          <p:nvPr/>
        </p:nvSpPr>
        <p:spPr>
          <a:xfrm>
            <a:off x="812800" y="4791075"/>
            <a:ext cx="5130800" cy="0"/>
          </a:xfrm>
          <a:prstGeom prst="line">
            <a:avLst/>
          </a:prstGeom>
          <a:noFill/>
          <a:ln w="6350">
            <a:solidFill>
              <a:srgbClr val="DDD8CC"/>
            </a:solidFill>
            <a:prstDash val="solid"/>
          </a:ln>
        </p:spPr>
      </p:sp>
      <p:sp>
        <p:nvSpPr>
          <p:cNvPr id="26" name="Text 20"/>
          <p:cNvSpPr/>
          <p:nvPr/>
        </p:nvSpPr>
        <p:spPr>
          <a:xfrm>
            <a:off x="812800" y="483108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Valid transitions (0-switch):</a:t>
            </a:r>
            <a:r>
              <a:rPr lang="en-US" sz="1200" dirty="0">
                <a:solidFill>
                  <a:srgbClr val="13233A"/>
                </a:solidFill>
                <a:latin typeface="IBM Plex Sans" pitchFamily="34" charset="0"/>
                <a:ea typeface="IBM Plex Sans" pitchFamily="34" charset="-122"/>
                <a:cs typeface="IBM Plex Sans" pitchFamily="34" charset="-120"/>
              </a:rPr>
              <a:t> every arrow at least once</a:t>
            </a:r>
            <a:endParaRPr lang="en-US" sz="1200" dirty="0"/>
          </a:p>
        </p:txBody>
      </p:sp>
      <p:sp>
        <p:nvSpPr>
          <p:cNvPr id="27" name="Shape 21"/>
          <p:cNvSpPr/>
          <p:nvPr/>
        </p:nvSpPr>
        <p:spPr>
          <a:xfrm>
            <a:off x="812800" y="5136530"/>
            <a:ext cx="5130800" cy="0"/>
          </a:xfrm>
          <a:prstGeom prst="line">
            <a:avLst/>
          </a:prstGeom>
          <a:noFill/>
          <a:ln w="6350">
            <a:solidFill>
              <a:srgbClr val="DDD8CC"/>
            </a:solidFill>
            <a:prstDash val="solid"/>
          </a:ln>
        </p:spPr>
      </p:sp>
      <p:sp>
        <p:nvSpPr>
          <p:cNvPr id="28" name="Shape 22"/>
          <p:cNvSpPr/>
          <p:nvPr/>
        </p:nvSpPr>
        <p:spPr>
          <a:xfrm>
            <a:off x="812800" y="5429900"/>
            <a:ext cx="5130800" cy="0"/>
          </a:xfrm>
          <a:prstGeom prst="line">
            <a:avLst/>
          </a:prstGeom>
          <a:noFill/>
          <a:ln w="6350">
            <a:solidFill>
              <a:srgbClr val="DDD8CC"/>
            </a:solidFill>
            <a:prstDash val="solid"/>
          </a:ln>
        </p:spPr>
      </p:sp>
      <p:sp>
        <p:nvSpPr>
          <p:cNvPr id="29" name="Text 23"/>
          <p:cNvSpPr/>
          <p:nvPr/>
        </p:nvSpPr>
        <p:spPr>
          <a:xfrm>
            <a:off x="812800" y="5176535"/>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All transitions:</a:t>
            </a:r>
            <a:r>
              <a:rPr lang="en-US" sz="1200" dirty="0">
                <a:solidFill>
                  <a:srgbClr val="13233A"/>
                </a:solidFill>
                <a:latin typeface="IBM Plex Sans" pitchFamily="34" charset="0"/>
                <a:ea typeface="IBM Plex Sans" pitchFamily="34" charset="-122"/>
                <a:cs typeface="IBM Plex Sans" pitchFamily="34" charset="-120"/>
              </a:rPr>
              <a:t> also try the moves the model forbids</a:t>
            </a:r>
            <a:endParaRPr lang="en-US" sz="1200" dirty="0"/>
          </a:p>
        </p:txBody>
      </p:sp>
      <p:sp>
        <p:nvSpPr>
          <p:cNvPr id="30" name="Text 24"/>
          <p:cNvSpPr/>
          <p:nvPr/>
        </p:nvSpPr>
        <p:spPr>
          <a:xfrm>
            <a:off x="6248400" y="417830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TEST CASES DERIVED</a:t>
            </a:r>
            <a:endParaRPr lang="en-US" sz="1200" dirty="0"/>
          </a:p>
        </p:txBody>
      </p:sp>
      <p:sp>
        <p:nvSpPr>
          <p:cNvPr id="31" name="Shape 25"/>
          <p:cNvSpPr/>
          <p:nvPr/>
        </p:nvSpPr>
        <p:spPr>
          <a:xfrm>
            <a:off x="6248400" y="4445645"/>
            <a:ext cx="5130800" cy="0"/>
          </a:xfrm>
          <a:prstGeom prst="line">
            <a:avLst/>
          </a:prstGeom>
          <a:noFill/>
          <a:ln w="6350">
            <a:solidFill>
              <a:srgbClr val="DDD8CC"/>
            </a:solidFill>
            <a:prstDash val="solid"/>
          </a:ln>
        </p:spPr>
      </p:sp>
      <p:sp>
        <p:nvSpPr>
          <p:cNvPr id="32" name="Text 26"/>
          <p:cNvSpPr/>
          <p:nvPr/>
        </p:nvSpPr>
        <p:spPr>
          <a:xfrm>
            <a:off x="6248400" y="448565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TC-13</a:t>
            </a:r>
            <a:r>
              <a:rPr lang="en-US" sz="1200" dirty="0">
                <a:solidFill>
                  <a:srgbClr val="13233A"/>
                </a:solidFill>
                <a:latin typeface="IBM Plex Sans" pitchFamily="34" charset="0"/>
                <a:ea typeface="IBM Plex Sans" pitchFamily="34" charset="-122"/>
                <a:cs typeface="IBM Plex Sans" pitchFamily="34" charset="-120"/>
              </a:rPr>
              <a:t> Placed, Preparing, Ready, Collected</a:t>
            </a:r>
            <a:endParaRPr lang="en-US" sz="1200" dirty="0"/>
          </a:p>
        </p:txBody>
      </p:sp>
      <p:sp>
        <p:nvSpPr>
          <p:cNvPr id="33" name="Shape 27"/>
          <p:cNvSpPr/>
          <p:nvPr/>
        </p:nvSpPr>
        <p:spPr>
          <a:xfrm>
            <a:off x="6248400" y="4791075"/>
            <a:ext cx="5130800" cy="0"/>
          </a:xfrm>
          <a:prstGeom prst="line">
            <a:avLst/>
          </a:prstGeom>
          <a:noFill/>
          <a:ln w="6350">
            <a:solidFill>
              <a:srgbClr val="DDD8CC"/>
            </a:solidFill>
            <a:prstDash val="solid"/>
          </a:ln>
        </p:spPr>
      </p:sp>
      <p:sp>
        <p:nvSpPr>
          <p:cNvPr id="34" name="Text 28"/>
          <p:cNvSpPr/>
          <p:nvPr/>
        </p:nvSpPr>
        <p:spPr>
          <a:xfrm>
            <a:off x="6248400" y="483108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TC-14</a:t>
            </a:r>
            <a:r>
              <a:rPr lang="en-US" sz="1200" dirty="0">
                <a:solidFill>
                  <a:srgbClr val="13233A"/>
                </a:solidFill>
                <a:latin typeface="IBM Plex Sans" pitchFamily="34" charset="0"/>
                <a:ea typeface="IBM Plex Sans" pitchFamily="34" charset="-122"/>
                <a:cs typeface="IBM Plex Sans" pitchFamily="34" charset="-120"/>
              </a:rPr>
              <a:t> Cancel while Placed: Cancelled</a:t>
            </a:r>
            <a:endParaRPr lang="en-US" sz="1200" dirty="0"/>
          </a:p>
        </p:txBody>
      </p:sp>
      <p:sp>
        <p:nvSpPr>
          <p:cNvPr id="35" name="Shape 29"/>
          <p:cNvSpPr/>
          <p:nvPr/>
        </p:nvSpPr>
        <p:spPr>
          <a:xfrm>
            <a:off x="6248400" y="5136530"/>
            <a:ext cx="5130800" cy="0"/>
          </a:xfrm>
          <a:prstGeom prst="line">
            <a:avLst/>
          </a:prstGeom>
          <a:noFill/>
          <a:ln w="6350">
            <a:solidFill>
              <a:srgbClr val="DDD8CC"/>
            </a:solidFill>
            <a:prstDash val="solid"/>
          </a:ln>
        </p:spPr>
      </p:sp>
      <p:sp>
        <p:nvSpPr>
          <p:cNvPr id="36" name="Text 30"/>
          <p:cNvSpPr/>
          <p:nvPr/>
        </p:nvSpPr>
        <p:spPr>
          <a:xfrm>
            <a:off x="6248400" y="5176535"/>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TC-15</a:t>
            </a:r>
            <a:r>
              <a:rPr lang="en-US" sz="1200" dirty="0">
                <a:solidFill>
                  <a:srgbClr val="13233A"/>
                </a:solidFill>
                <a:latin typeface="IBM Plex Sans" pitchFamily="34" charset="0"/>
                <a:ea typeface="IBM Plex Sans" pitchFamily="34" charset="-122"/>
                <a:cs typeface="IBM Plex Sans" pitchFamily="34" charset="-120"/>
              </a:rPr>
              <a:t> Cancel while Preparing: refused</a:t>
            </a:r>
            <a:endParaRPr lang="en-US" sz="1200" dirty="0"/>
          </a:p>
        </p:txBody>
      </p:sp>
      <p:sp>
        <p:nvSpPr>
          <p:cNvPr id="37" name="Shape 31"/>
          <p:cNvSpPr/>
          <p:nvPr/>
        </p:nvSpPr>
        <p:spPr>
          <a:xfrm>
            <a:off x="6248400" y="5481960"/>
            <a:ext cx="5130800" cy="0"/>
          </a:xfrm>
          <a:prstGeom prst="line">
            <a:avLst/>
          </a:prstGeom>
          <a:noFill/>
          <a:ln w="6350">
            <a:solidFill>
              <a:srgbClr val="DDD8CC"/>
            </a:solidFill>
            <a:prstDash val="solid"/>
          </a:ln>
        </p:spPr>
      </p:sp>
      <p:sp>
        <p:nvSpPr>
          <p:cNvPr id="38" name="Shape 32"/>
          <p:cNvSpPr/>
          <p:nvPr/>
        </p:nvSpPr>
        <p:spPr>
          <a:xfrm>
            <a:off x="6248400" y="5775330"/>
            <a:ext cx="5130800" cy="0"/>
          </a:xfrm>
          <a:prstGeom prst="line">
            <a:avLst/>
          </a:prstGeom>
          <a:noFill/>
          <a:ln w="6350">
            <a:solidFill>
              <a:srgbClr val="DDD8CC"/>
            </a:solidFill>
            <a:prstDash val="solid"/>
          </a:ln>
        </p:spPr>
      </p:sp>
      <p:sp>
        <p:nvSpPr>
          <p:cNvPr id="39" name="Text 33"/>
          <p:cNvSpPr/>
          <p:nvPr/>
        </p:nvSpPr>
        <p:spPr>
          <a:xfrm>
            <a:off x="6248400" y="5521965"/>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TC-16</a:t>
            </a:r>
            <a:r>
              <a:rPr lang="en-US" sz="1200" dirty="0">
                <a:solidFill>
                  <a:srgbClr val="13233A"/>
                </a:solidFill>
                <a:latin typeface="IBM Plex Sans" pitchFamily="34" charset="0"/>
                <a:ea typeface="IBM Plex Sans" pitchFamily="34" charset="-122"/>
                <a:cs typeface="IBM Plex Sans" pitchFamily="34" charset="-120"/>
              </a:rPr>
              <a:t> Cancel after Collected: refused</a:t>
            </a:r>
            <a:endParaRPr lang="en-US" sz="1200" dirty="0"/>
          </a:p>
        </p:txBody>
      </p:sp>
      <p:sp>
        <p:nvSpPr>
          <p:cNvPr id="40" name="Text 34"/>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41" name="Text 35"/>
          <p:cNvSpPr/>
          <p:nvPr/>
        </p:nvSpPr>
        <p:spPr>
          <a:xfrm>
            <a:off x="6934121" y="6238255"/>
            <a:ext cx="45784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Coverage names: ISTQB Foundation Level syllabus v4.0 · REQ-05</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L12 · TEST CASE DESIGN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From test design to automated tests</a:t>
            </a:r>
            <a:endParaRPr lang="en-US" sz="3200" dirty="0"/>
          </a:p>
        </p:txBody>
      </p:sp>
      <p:sp>
        <p:nvSpPr>
          <p:cNvPr id="4" name="Shape 2"/>
          <p:cNvSpPr/>
          <p:nvPr/>
        </p:nvSpPr>
        <p:spPr>
          <a:xfrm>
            <a:off x="812800" y="1831975"/>
            <a:ext cx="5689600" cy="0"/>
          </a:xfrm>
          <a:prstGeom prst="line">
            <a:avLst/>
          </a:prstGeom>
          <a:noFill/>
          <a:ln w="6350">
            <a:solidFill>
              <a:srgbClr val="DDD8CC"/>
            </a:solidFill>
            <a:prstDash val="solid"/>
          </a:ln>
        </p:spPr>
      </p:sp>
      <p:sp>
        <p:nvSpPr>
          <p:cNvPr id="5" name="Text 3"/>
          <p:cNvSpPr/>
          <p:nvPr/>
        </p:nvSpPr>
        <p:spPr>
          <a:xfrm>
            <a:off x="812800" y="1910080"/>
            <a:ext cx="586028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Each partition or boundary value becomes one row of data.</a:t>
            </a:r>
            <a:endParaRPr lang="en-US" sz="1400" dirty="0"/>
          </a:p>
        </p:txBody>
      </p:sp>
      <p:sp>
        <p:nvSpPr>
          <p:cNvPr id="6" name="Shape 4"/>
          <p:cNvSpPr/>
          <p:nvPr/>
        </p:nvSpPr>
        <p:spPr>
          <a:xfrm>
            <a:off x="812800" y="2238375"/>
            <a:ext cx="5689600" cy="0"/>
          </a:xfrm>
          <a:prstGeom prst="line">
            <a:avLst/>
          </a:prstGeom>
          <a:noFill/>
          <a:ln w="6350">
            <a:solidFill>
              <a:srgbClr val="DDD8CC"/>
            </a:solidFill>
            <a:prstDash val="solid"/>
          </a:ln>
        </p:spPr>
      </p:sp>
      <p:sp>
        <p:nvSpPr>
          <p:cNvPr id="7" name="Text 5"/>
          <p:cNvSpPr/>
          <p:nvPr/>
        </p:nvSpPr>
        <p:spPr>
          <a:xfrm>
            <a:off x="812800" y="2316480"/>
            <a:ext cx="586028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pytest runs the test once per row and reports each result on its own (data-driven testing, Lab 7).</a:t>
            </a:r>
            <a:endParaRPr lang="en-US" sz="1400" dirty="0"/>
          </a:p>
        </p:txBody>
      </p:sp>
      <p:sp>
        <p:nvSpPr>
          <p:cNvPr id="8" name="Text 6"/>
          <p:cNvSpPr/>
          <p:nvPr/>
        </p:nvSpPr>
        <p:spPr>
          <a:xfrm>
            <a:off x="812800" y="2966715"/>
            <a:ext cx="58602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 pytest -v tests/test_quantity.py</a:t>
            </a:r>
            <a:endParaRPr lang="en-US" sz="1200" dirty="0"/>
          </a:p>
        </p:txBody>
      </p:sp>
      <p:sp>
        <p:nvSpPr>
          <p:cNvPr id="9" name="Shape 7"/>
          <p:cNvSpPr/>
          <p:nvPr/>
        </p:nvSpPr>
        <p:spPr>
          <a:xfrm>
            <a:off x="812800" y="3256285"/>
            <a:ext cx="5689600" cy="1849120"/>
          </a:xfrm>
          <a:prstGeom prst="roundRect">
            <a:avLst>
              <a:gd name="adj" fmla="val 4121"/>
            </a:avLst>
          </a:prstGeom>
          <a:solidFill>
            <a:srgbClr val="13233A"/>
          </a:solidFill>
          <a:ln/>
        </p:spPr>
      </p:sp>
      <p:sp>
        <p:nvSpPr>
          <p:cNvPr id="10" name="Text 8"/>
          <p:cNvSpPr/>
          <p:nvPr/>
        </p:nvSpPr>
        <p:spPr>
          <a:xfrm>
            <a:off x="990600" y="3434085"/>
            <a:ext cx="5494020" cy="15189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test_quantity_limits[0-False] </a:t>
            </a:r>
            <a:r>
              <a:rPr lang="en-US" sz="1200" dirty="0">
                <a:solidFill>
                  <a:srgbClr val="9CC7F0"/>
                </a:solidFill>
                <a:latin typeface="JetBrains Mono" pitchFamily="34" charset="0"/>
                <a:ea typeface="JetBrains Mono" pitchFamily="34" charset="-122"/>
                <a:cs typeface="JetBrains Mono" pitchFamily="34" charset="-120"/>
              </a:rPr>
              <a:t>PASSED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test_quantity_limits[1-True] </a:t>
            </a:r>
            <a:r>
              <a:rPr lang="en-US" sz="1200" dirty="0">
                <a:solidFill>
                  <a:srgbClr val="9CC7F0"/>
                </a:solidFill>
                <a:latin typeface="JetBrains Mono" pitchFamily="34" charset="0"/>
                <a:ea typeface="JetBrains Mono" pitchFamily="34" charset="-122"/>
                <a:cs typeface="JetBrains Mono" pitchFamily="34" charset="-120"/>
              </a:rPr>
              <a:t>PASSED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test_quantity_limits[10-True] </a:t>
            </a:r>
            <a:r>
              <a:rPr lang="en-US" sz="1200" dirty="0">
                <a:solidFill>
                  <a:srgbClr val="9CC7F0"/>
                </a:solidFill>
                <a:latin typeface="JetBrains Mono" pitchFamily="34" charset="0"/>
                <a:ea typeface="JetBrains Mono" pitchFamily="34" charset="-122"/>
                <a:cs typeface="JetBrains Mono" pitchFamily="34" charset="-120"/>
              </a:rPr>
              <a:t>PASSED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test_quantity_limits[11-False] </a:t>
            </a:r>
            <a:r>
              <a:rPr lang="en-US" sz="1200" dirty="0">
                <a:solidFill>
                  <a:srgbClr val="9CC7F0"/>
                </a:solidFill>
                <a:latin typeface="JetBrains Mono" pitchFamily="34" charset="0"/>
                <a:ea typeface="JetBrains Mono" pitchFamily="34" charset="-122"/>
                <a:cs typeface="JetBrains Mono" pitchFamily="34" charset="-120"/>
              </a:rPr>
              <a:t>PASSED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test_quantity_limits[5-True] </a:t>
            </a:r>
            <a:r>
              <a:rPr lang="en-US" sz="1200" dirty="0">
                <a:solidFill>
                  <a:srgbClr val="9CC7F0"/>
                </a:solidFill>
                <a:latin typeface="JetBrains Mono" pitchFamily="34" charset="0"/>
                <a:ea typeface="JetBrains Mono" pitchFamily="34" charset="-122"/>
                <a:cs typeface="JetBrains Mono" pitchFamily="34" charset="-120"/>
              </a:rPr>
              <a:t>PASSED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test_quantity_limits[-3-False] </a:t>
            </a:r>
            <a:r>
              <a:rPr lang="en-US" sz="1200" dirty="0">
                <a:solidFill>
                  <a:srgbClr val="9CC7F0"/>
                </a:solidFill>
                <a:latin typeface="JetBrains Mono" pitchFamily="34" charset="0"/>
                <a:ea typeface="JetBrains Mono" pitchFamily="34" charset="-122"/>
                <a:cs typeface="JetBrains Mono" pitchFamily="34" charset="-120"/>
              </a:rPr>
              <a:t>PASSED</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6 passed</a:t>
            </a:r>
            <a:endParaRPr lang="en-US" sz="1200" dirty="0"/>
          </a:p>
        </p:txBody>
      </p:sp>
      <p:sp>
        <p:nvSpPr>
          <p:cNvPr id="11" name="Text 9"/>
          <p:cNvSpPr/>
          <p:nvPr/>
        </p:nvSpPr>
        <p:spPr>
          <a:xfrm>
            <a:off x="6807200" y="1828800"/>
            <a:ext cx="47091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tests/test_quantity.py</a:t>
            </a:r>
            <a:endParaRPr lang="en-US" sz="1200" dirty="0"/>
          </a:p>
        </p:txBody>
      </p:sp>
      <p:sp>
        <p:nvSpPr>
          <p:cNvPr id="12" name="Shape 10"/>
          <p:cNvSpPr/>
          <p:nvPr/>
        </p:nvSpPr>
        <p:spPr>
          <a:xfrm>
            <a:off x="6807200" y="2118370"/>
            <a:ext cx="4572000" cy="3129280"/>
          </a:xfrm>
          <a:prstGeom prst="roundRect">
            <a:avLst>
              <a:gd name="adj" fmla="val 2435"/>
            </a:avLst>
          </a:prstGeom>
          <a:solidFill>
            <a:srgbClr val="13233A"/>
          </a:solidFill>
          <a:ln/>
        </p:spPr>
      </p:sp>
      <p:sp>
        <p:nvSpPr>
          <p:cNvPr id="13" name="Text 11"/>
          <p:cNvSpPr/>
          <p:nvPr/>
        </p:nvSpPr>
        <p:spPr>
          <a:xfrm>
            <a:off x="6985000" y="2296170"/>
            <a:ext cx="4342892" cy="279908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pytest</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from</a:t>
            </a:r>
            <a:r>
              <a:rPr lang="en-US" sz="1200" dirty="0">
                <a:solidFill>
                  <a:srgbClr val="E6EAF0"/>
                </a:solidFill>
                <a:latin typeface="JetBrains Mono" pitchFamily="34" charset="0"/>
                <a:ea typeface="JetBrains Mono" pitchFamily="34" charset="-122"/>
                <a:cs typeface="JetBrains Mono" pitchFamily="34" charset="-120"/>
              </a:rPr>
              <a:t> canteen.cart </a:t>
            </a: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is_valid_quantity</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@pytest.mark.parametrize(</a:t>
            </a:r>
            <a:r>
              <a:rPr lang="en-US" sz="1200" dirty="0">
                <a:solidFill>
                  <a:srgbClr val="9CC7F0"/>
                </a:solidFill>
                <a:latin typeface="JetBrains Mono" pitchFamily="34" charset="0"/>
                <a:ea typeface="JetBrains Mono" pitchFamily="34" charset="-122"/>
                <a:cs typeface="JetBrains Mono" pitchFamily="34" charset="-120"/>
              </a:rPr>
              <a:t>"qty, expected"</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(0, False),    </a:t>
            </a:r>
            <a:r>
              <a:rPr lang="en-US" sz="1200" dirty="0">
                <a:solidFill>
                  <a:srgbClr val="8C9AAD"/>
                </a:solidFill>
                <a:latin typeface="JetBrains Mono" pitchFamily="34" charset="0"/>
                <a:ea typeface="JetBrains Mono" pitchFamily="34" charset="-122"/>
                <a:cs typeface="JetBrains Mono" pitchFamily="34" charset="-120"/>
              </a:rPr>
              <a:t># just below lower boundary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(1, True),     </a:t>
            </a:r>
            <a:r>
              <a:rPr lang="en-US" sz="1200" dirty="0">
                <a:solidFill>
                  <a:srgbClr val="8C9AAD"/>
                </a:solidFill>
                <a:latin typeface="JetBrains Mono" pitchFamily="34" charset="0"/>
                <a:ea typeface="JetBrains Mono" pitchFamily="34" charset="-122"/>
                <a:cs typeface="JetBrains Mono" pitchFamily="34" charset="-120"/>
              </a:rPr>
              <a:t># lower boundary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(10, True),    </a:t>
            </a:r>
            <a:r>
              <a:rPr lang="en-US" sz="1200" dirty="0">
                <a:solidFill>
                  <a:srgbClr val="8C9AAD"/>
                </a:solidFill>
                <a:latin typeface="JetBrains Mono" pitchFamily="34" charset="0"/>
                <a:ea typeface="JetBrains Mono" pitchFamily="34" charset="-122"/>
                <a:cs typeface="JetBrains Mono" pitchFamily="34" charset="-120"/>
              </a:rPr>
              <a:t># upper boundary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(11, False),   </a:t>
            </a:r>
            <a:r>
              <a:rPr lang="en-US" sz="1200" dirty="0">
                <a:solidFill>
                  <a:srgbClr val="8C9AAD"/>
                </a:solidFill>
                <a:latin typeface="JetBrains Mono" pitchFamily="34" charset="0"/>
                <a:ea typeface="JetBrains Mono" pitchFamily="34" charset="-122"/>
                <a:cs typeface="JetBrains Mono" pitchFamily="34" charset="-120"/>
              </a:rPr>
              <a:t># just above upper boundary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(5, True),     </a:t>
            </a:r>
            <a:r>
              <a:rPr lang="en-US" sz="1200" dirty="0">
                <a:solidFill>
                  <a:srgbClr val="8C9AAD"/>
                </a:solidFill>
                <a:latin typeface="JetBrains Mono" pitchFamily="34" charset="0"/>
                <a:ea typeface="JetBrains Mono" pitchFamily="34" charset="-122"/>
                <a:cs typeface="JetBrains Mono" pitchFamily="34" charset="-120"/>
              </a:rPr>
              <a:t># valid partition</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(-3, False),   </a:t>
            </a:r>
            <a:r>
              <a:rPr lang="en-US" sz="1200" dirty="0">
                <a:solidFill>
                  <a:srgbClr val="8C9AAD"/>
                </a:solidFill>
                <a:latin typeface="JetBrains Mono" pitchFamily="34" charset="0"/>
                <a:ea typeface="JetBrains Mono" pitchFamily="34" charset="-122"/>
                <a:cs typeface="JetBrains Mono" pitchFamily="34" charset="-120"/>
              </a:rPr>
              <a:t># invalid partition</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test_quantity_limits(qty, expected):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is_valid_quantity(qty) </a:t>
            </a:r>
            <a:r>
              <a:rPr lang="en-US" sz="1200" dirty="0">
                <a:solidFill>
                  <a:srgbClr val="F2A36B"/>
                </a:solidFill>
                <a:latin typeface="JetBrains Mono" pitchFamily="34" charset="0"/>
                <a:ea typeface="JetBrains Mono" pitchFamily="34" charset="-122"/>
                <a:cs typeface="JetBrains Mono" pitchFamily="34" charset="-120"/>
              </a:rPr>
              <a:t>is</a:t>
            </a:r>
            <a:r>
              <a:rPr lang="en-US" sz="1200" dirty="0">
                <a:solidFill>
                  <a:srgbClr val="E6EAF0"/>
                </a:solidFill>
                <a:latin typeface="JetBrains Mono" pitchFamily="34" charset="0"/>
                <a:ea typeface="JetBrains Mono" pitchFamily="34" charset="-122"/>
                <a:cs typeface="JetBrains Mono" pitchFamily="34" charset="-120"/>
              </a:rPr>
              <a:t> expected</a:t>
            </a:r>
            <a:endParaRPr lang="en-US" sz="1200" dirty="0"/>
          </a:p>
        </p:txBody>
      </p:sp>
      <p:sp>
        <p:nvSpPr>
          <p:cNvPr id="14" name="Text 12"/>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5" name="Text 13"/>
          <p:cNvSpPr/>
          <p:nvPr/>
        </p:nvSpPr>
        <p:spPr>
          <a:xfrm>
            <a:off x="7245747" y="6238255"/>
            <a:ext cx="42574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Output trimmed: pytest also prints the file path and progress</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L12 · PRACTICE</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Practice: design the tests</a:t>
            </a:r>
            <a:endParaRPr lang="en-US" sz="3200" dirty="0"/>
          </a:p>
        </p:txBody>
      </p:sp>
      <p:sp>
        <p:nvSpPr>
          <p:cNvPr id="4" name="Shape 2"/>
          <p:cNvSpPr/>
          <p:nvPr/>
        </p:nvSpPr>
        <p:spPr>
          <a:xfrm>
            <a:off x="812800" y="1828800"/>
            <a:ext cx="3937000" cy="2377440"/>
          </a:xfrm>
          <a:prstGeom prst="roundRect">
            <a:avLst>
              <a:gd name="adj" fmla="val 3205"/>
            </a:avLst>
          </a:prstGeom>
          <a:solidFill>
            <a:srgbClr val="13233A"/>
          </a:solidFill>
          <a:ln/>
        </p:spPr>
      </p:sp>
      <p:sp>
        <p:nvSpPr>
          <p:cNvPr id="5" name="Text 3"/>
          <p:cNvSpPr/>
          <p:nvPr/>
        </p:nvSpPr>
        <p:spPr>
          <a:xfrm>
            <a:off x="1117600" y="2383805"/>
            <a:ext cx="342722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REQUIREMENT</a:t>
            </a:r>
            <a:endParaRPr lang="en-US" sz="1200" dirty="0"/>
          </a:p>
        </p:txBody>
      </p:sp>
      <p:sp>
        <p:nvSpPr>
          <p:cNvPr id="6" name="Text 4"/>
          <p:cNvSpPr/>
          <p:nvPr/>
        </p:nvSpPr>
        <p:spPr>
          <a:xfrm>
            <a:off x="1117600" y="2698750"/>
            <a:ext cx="3427222" cy="977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3F1EA"/>
                </a:solidFill>
                <a:latin typeface="Space Grotesk" pitchFamily="34" charset="0"/>
                <a:ea typeface="Space Grotesk" pitchFamily="34" charset="-122"/>
                <a:cs typeface="Space Grotesk" pitchFamily="34" charset="-120"/>
              </a:rPr>
              <a:t>A password must be 8 to 16 characters long and contain at least one digit.</a:t>
            </a:r>
            <a:endParaRPr lang="en-US" sz="2000" dirty="0"/>
          </a:p>
        </p:txBody>
      </p:sp>
      <p:sp>
        <p:nvSpPr>
          <p:cNvPr id="7" name="Shape 5"/>
          <p:cNvSpPr/>
          <p:nvPr/>
        </p:nvSpPr>
        <p:spPr>
          <a:xfrm>
            <a:off x="5054600" y="1831975"/>
            <a:ext cx="6324600" cy="0"/>
          </a:xfrm>
          <a:prstGeom prst="line">
            <a:avLst/>
          </a:prstGeom>
          <a:noFill/>
          <a:ln w="6350">
            <a:solidFill>
              <a:srgbClr val="DDD8CC"/>
            </a:solidFill>
            <a:prstDash val="solid"/>
          </a:ln>
        </p:spPr>
      </p:sp>
      <p:sp>
        <p:nvSpPr>
          <p:cNvPr id="8" name="Text 6"/>
          <p:cNvSpPr/>
          <p:nvPr/>
        </p:nvSpPr>
        <p:spPr>
          <a:xfrm>
            <a:off x="5054600" y="1960885"/>
            <a:ext cx="3556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1</a:t>
            </a:r>
            <a:endParaRPr lang="en-US" sz="2000" dirty="0"/>
          </a:p>
        </p:txBody>
      </p:sp>
      <p:sp>
        <p:nvSpPr>
          <p:cNvPr id="9" name="Text 7"/>
          <p:cNvSpPr/>
          <p:nvPr/>
        </p:nvSpPr>
        <p:spPr>
          <a:xfrm>
            <a:off x="5511800" y="1960885"/>
            <a:ext cx="6043422" cy="3048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List the equivalence partitions for the length and for the digit rule.</a:t>
            </a:r>
            <a:endParaRPr lang="en-US" sz="1400" dirty="0"/>
          </a:p>
        </p:txBody>
      </p:sp>
      <p:sp>
        <p:nvSpPr>
          <p:cNvPr id="10" name="Shape 8"/>
          <p:cNvSpPr/>
          <p:nvPr/>
        </p:nvSpPr>
        <p:spPr>
          <a:xfrm>
            <a:off x="5054600" y="2370460"/>
            <a:ext cx="6324600" cy="0"/>
          </a:xfrm>
          <a:prstGeom prst="line">
            <a:avLst/>
          </a:prstGeom>
          <a:noFill/>
          <a:ln w="6350">
            <a:solidFill>
              <a:srgbClr val="DDD8CC"/>
            </a:solidFill>
            <a:prstDash val="solid"/>
          </a:ln>
        </p:spPr>
      </p:sp>
      <p:sp>
        <p:nvSpPr>
          <p:cNvPr id="11" name="Text 9"/>
          <p:cNvSpPr/>
          <p:nvPr/>
        </p:nvSpPr>
        <p:spPr>
          <a:xfrm>
            <a:off x="5054600" y="2499370"/>
            <a:ext cx="3556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2</a:t>
            </a:r>
            <a:endParaRPr lang="en-US" sz="2000" dirty="0"/>
          </a:p>
        </p:txBody>
      </p:sp>
      <p:sp>
        <p:nvSpPr>
          <p:cNvPr id="12" name="Text 10"/>
          <p:cNvSpPr/>
          <p:nvPr/>
        </p:nvSpPr>
        <p:spPr>
          <a:xfrm>
            <a:off x="5511800" y="2499370"/>
            <a:ext cx="6043422" cy="3048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Write the 2-value boundary values for the length.</a:t>
            </a:r>
            <a:endParaRPr lang="en-US" sz="1400" dirty="0"/>
          </a:p>
        </p:txBody>
      </p:sp>
      <p:sp>
        <p:nvSpPr>
          <p:cNvPr id="13" name="Shape 11"/>
          <p:cNvSpPr/>
          <p:nvPr/>
        </p:nvSpPr>
        <p:spPr>
          <a:xfrm>
            <a:off x="5054600" y="2908945"/>
            <a:ext cx="6324600" cy="0"/>
          </a:xfrm>
          <a:prstGeom prst="line">
            <a:avLst/>
          </a:prstGeom>
          <a:noFill/>
          <a:ln w="6350">
            <a:solidFill>
              <a:srgbClr val="DDD8CC"/>
            </a:solidFill>
            <a:prstDash val="solid"/>
          </a:ln>
        </p:spPr>
      </p:sp>
      <p:sp>
        <p:nvSpPr>
          <p:cNvPr id="14" name="Text 12"/>
          <p:cNvSpPr/>
          <p:nvPr/>
        </p:nvSpPr>
        <p:spPr>
          <a:xfrm>
            <a:off x="5054600" y="3037855"/>
            <a:ext cx="3556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3</a:t>
            </a:r>
            <a:endParaRPr lang="en-US" sz="2000" dirty="0"/>
          </a:p>
        </p:txBody>
      </p:sp>
      <p:sp>
        <p:nvSpPr>
          <p:cNvPr id="15" name="Text 13"/>
          <p:cNvSpPr/>
          <p:nvPr/>
        </p:nvSpPr>
        <p:spPr>
          <a:xfrm>
            <a:off x="5511800" y="3037855"/>
            <a:ext cx="6043422" cy="3048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Build a decision table: length valid? contains a digit? accept or reject?</a:t>
            </a:r>
            <a:endParaRPr lang="en-US" sz="1400" dirty="0"/>
          </a:p>
        </p:txBody>
      </p:sp>
      <p:sp>
        <p:nvSpPr>
          <p:cNvPr id="16" name="Shape 14"/>
          <p:cNvSpPr/>
          <p:nvPr/>
        </p:nvSpPr>
        <p:spPr>
          <a:xfrm>
            <a:off x="5054600" y="3447430"/>
            <a:ext cx="6324600" cy="0"/>
          </a:xfrm>
          <a:prstGeom prst="line">
            <a:avLst/>
          </a:prstGeom>
          <a:noFill/>
          <a:ln w="6350">
            <a:solidFill>
              <a:srgbClr val="DDD8CC"/>
            </a:solidFill>
            <a:prstDash val="solid"/>
          </a:ln>
        </p:spPr>
      </p:sp>
      <p:sp>
        <p:nvSpPr>
          <p:cNvPr id="17" name="Shape 15"/>
          <p:cNvSpPr/>
          <p:nvPr/>
        </p:nvSpPr>
        <p:spPr>
          <a:xfrm>
            <a:off x="5054600" y="4203080"/>
            <a:ext cx="6324600" cy="0"/>
          </a:xfrm>
          <a:prstGeom prst="line">
            <a:avLst/>
          </a:prstGeom>
          <a:noFill/>
          <a:ln w="6350">
            <a:solidFill>
              <a:srgbClr val="DDD8CC"/>
            </a:solidFill>
            <a:prstDash val="solid"/>
          </a:ln>
        </p:spPr>
      </p:sp>
      <p:sp>
        <p:nvSpPr>
          <p:cNvPr id="18" name="Text 16"/>
          <p:cNvSpPr/>
          <p:nvPr/>
        </p:nvSpPr>
        <p:spPr>
          <a:xfrm>
            <a:off x="5054600" y="3576315"/>
            <a:ext cx="355600" cy="52324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4</a:t>
            </a:r>
            <a:endParaRPr lang="en-US" sz="2000" dirty="0"/>
          </a:p>
        </p:txBody>
      </p:sp>
      <p:sp>
        <p:nvSpPr>
          <p:cNvPr id="19" name="Text 17"/>
          <p:cNvSpPr/>
          <p:nvPr/>
        </p:nvSpPr>
        <p:spPr>
          <a:xfrm>
            <a:off x="5511800" y="3576315"/>
            <a:ext cx="604342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Write one complete test case: ID, preconditions, data, steps and expected result.</a:t>
            </a:r>
            <a:endParaRPr lang="en-US" sz="1400" dirty="0"/>
          </a:p>
        </p:txBody>
      </p:sp>
      <p:sp>
        <p:nvSpPr>
          <p:cNvPr id="20" name="Text 18"/>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1" name="Text 19"/>
          <p:cNvSpPr/>
          <p:nvPr/>
        </p:nvSpPr>
        <p:spPr>
          <a:xfrm>
            <a:off x="9372044" y="6238255"/>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13</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2 · LECTURE 13 · 40 MINUTES</a:t>
            </a:r>
            <a:endParaRPr lang="en-US" sz="1200" dirty="0"/>
          </a:p>
        </p:txBody>
      </p:sp>
      <p:sp>
        <p:nvSpPr>
          <p:cNvPr id="4" name="Text 2"/>
          <p:cNvSpPr/>
          <p:nvPr/>
        </p:nvSpPr>
        <p:spPr>
          <a:xfrm>
            <a:off x="812800" y="3464570"/>
            <a:ext cx="1046480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Test basis and the</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traceability matrix</a:t>
            </a:r>
            <a:endParaRPr lang="en-US" sz="5600" dirty="0"/>
          </a:p>
        </p:txBody>
      </p:sp>
      <p:sp>
        <p:nvSpPr>
          <p:cNvPr id="5" name="Shape 3"/>
          <p:cNvSpPr/>
          <p:nvPr/>
        </p:nvSpPr>
        <p:spPr>
          <a:xfrm>
            <a:off x="812800" y="5320035"/>
            <a:ext cx="2794000" cy="0"/>
          </a:xfrm>
          <a:prstGeom prst="line">
            <a:avLst/>
          </a:prstGeom>
          <a:noFill/>
          <a:ln w="12700">
            <a:solidFill>
              <a:srgbClr val="3A5476"/>
            </a:solidFill>
            <a:prstDash val="solid"/>
          </a:ln>
        </p:spPr>
      </p:sp>
      <p:sp>
        <p:nvSpPr>
          <p:cNvPr id="6" name="Text 4"/>
          <p:cNvSpPr/>
          <p:nvPr/>
        </p:nvSpPr>
        <p:spPr>
          <a:xfrm>
            <a:off x="812800" y="54508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7" name="Text 5"/>
          <p:cNvSpPr/>
          <p:nvPr/>
        </p:nvSpPr>
        <p:spPr>
          <a:xfrm>
            <a:off x="8128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Test basis</a:t>
            </a:r>
            <a:endParaRPr lang="en-US" sz="2000" dirty="0"/>
          </a:p>
        </p:txBody>
      </p:sp>
      <p:sp>
        <p:nvSpPr>
          <p:cNvPr id="8" name="Shape 6"/>
          <p:cNvSpPr/>
          <p:nvPr/>
        </p:nvSpPr>
        <p:spPr>
          <a:xfrm>
            <a:off x="3911600" y="5320035"/>
            <a:ext cx="2794000" cy="0"/>
          </a:xfrm>
          <a:prstGeom prst="line">
            <a:avLst/>
          </a:prstGeom>
          <a:noFill/>
          <a:ln w="12700">
            <a:solidFill>
              <a:srgbClr val="3A5476"/>
            </a:solidFill>
            <a:prstDash val="solid"/>
          </a:ln>
        </p:spPr>
      </p:sp>
      <p:sp>
        <p:nvSpPr>
          <p:cNvPr id="9" name="Text 7"/>
          <p:cNvSpPr/>
          <p:nvPr/>
        </p:nvSpPr>
        <p:spPr>
          <a:xfrm>
            <a:off x="3911600" y="54508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10" name="Text 8"/>
          <p:cNvSpPr/>
          <p:nvPr/>
        </p:nvSpPr>
        <p:spPr>
          <a:xfrm>
            <a:off x="39116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Traceability matrix</a:t>
            </a:r>
            <a:endParaRPr 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L13 · TEST BASIS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Test basis</a:t>
            </a:r>
            <a:endParaRPr lang="en-US" sz="3200" dirty="0"/>
          </a:p>
        </p:txBody>
      </p:sp>
      <p:sp>
        <p:nvSpPr>
          <p:cNvPr id="4" name="Text 2"/>
          <p:cNvSpPr/>
          <p:nvPr/>
        </p:nvSpPr>
        <p:spPr>
          <a:xfrm>
            <a:off x="812800" y="1828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ISTQB · TEST BASIS</a:t>
            </a:r>
            <a:endParaRPr lang="en-US" sz="1200" dirty="0"/>
          </a:p>
        </p:txBody>
      </p:sp>
      <p:sp>
        <p:nvSpPr>
          <p:cNvPr id="5" name="Text 3"/>
          <p:cNvSpPr/>
          <p:nvPr/>
        </p:nvSpPr>
        <p:spPr>
          <a:xfrm>
            <a:off x="812800" y="211837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13233A"/>
                </a:solidFill>
                <a:latin typeface="Space Grotesk" pitchFamily="34" charset="0"/>
                <a:ea typeface="Space Grotesk" pitchFamily="34" charset="-122"/>
                <a:cs typeface="Space Grotesk" pitchFamily="34" charset="-120"/>
              </a:rPr>
              <a:t>“The body of knowledge used as the basis for test analysis and design.”</a:t>
            </a:r>
            <a:endParaRPr lang="en-US" sz="2000" dirty="0"/>
          </a:p>
        </p:txBody>
      </p:sp>
      <p:sp>
        <p:nvSpPr>
          <p:cNvPr id="6" name="Shape 4"/>
          <p:cNvSpPr/>
          <p:nvPr/>
        </p:nvSpPr>
        <p:spPr>
          <a:xfrm>
            <a:off x="11376025" y="2689870"/>
            <a:ext cx="0" cy="1932940"/>
          </a:xfrm>
          <a:prstGeom prst="line">
            <a:avLst/>
          </a:prstGeom>
          <a:noFill/>
          <a:ln w="6350">
            <a:solidFill>
              <a:srgbClr val="DDD8CC"/>
            </a:solidFill>
            <a:prstDash val="solid"/>
          </a:ln>
        </p:spPr>
      </p:sp>
      <p:sp>
        <p:nvSpPr>
          <p:cNvPr id="7" name="Shape 5"/>
          <p:cNvSpPr/>
          <p:nvPr/>
        </p:nvSpPr>
        <p:spPr>
          <a:xfrm>
            <a:off x="812800" y="4619635"/>
            <a:ext cx="10566400" cy="0"/>
          </a:xfrm>
          <a:prstGeom prst="line">
            <a:avLst/>
          </a:prstGeom>
          <a:noFill/>
          <a:ln w="6350">
            <a:solidFill>
              <a:srgbClr val="DDD8CC"/>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2700030"/>
          <a:ext cx="10551160" cy="1917700"/>
        </p:xfrm>
        <a:graphic>
          <a:graphicData uri="http://schemas.openxmlformats.org/drawingml/2006/table">
            <a:tbl>
              <a:tblPr/>
              <a:tblGrid>
                <a:gridCol w="1793697"/>
                <a:gridCol w="4536999"/>
                <a:gridCol w="4220464"/>
              </a:tblGrid>
              <a:tr h="383540">
                <a:tc>
                  <a:txBody>
                    <a:bodyPr/>
                    <a:lstStyle/>
                    <a:p>
                      <a:pPr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Test level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Typical test basis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Canteen App example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Unit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Code, detailed design, function specs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The docstring of apply_coupon()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Integration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Architecture, interface and API specs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The OpenAPI spec for /api/cart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System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Requirements, use cases, user stories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Requirements REQ-01 to REQ-06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3540">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Acceptance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Business needs, contracts, regulations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Canteen manager's lunch-rush goals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9" name="Text 6"/>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0" name="Text 7"/>
          <p:cNvSpPr/>
          <p:nvPr/>
        </p:nvSpPr>
        <p:spPr>
          <a:xfrm>
            <a:off x="6244828" y="6238255"/>
            <a:ext cx="528840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Definition: ISTQB Glossary · test basis, then test conditions, then test cases</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L13 · TEST BASIS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Reviewing the test basis for testability</a:t>
            </a:r>
            <a:endParaRPr lang="en-US" sz="3200" dirty="0"/>
          </a:p>
        </p:txBody>
      </p:sp>
      <p:sp>
        <p:nvSpPr>
          <p:cNvPr id="4" name="Shape 2"/>
          <p:cNvSpPr/>
          <p:nvPr/>
        </p:nvSpPr>
        <p:spPr>
          <a:xfrm>
            <a:off x="11376025" y="1828800"/>
            <a:ext cx="0" cy="2306320"/>
          </a:xfrm>
          <a:prstGeom prst="line">
            <a:avLst/>
          </a:prstGeom>
          <a:noFill/>
          <a:ln w="6350">
            <a:solidFill>
              <a:srgbClr val="DDD8CC"/>
            </a:solidFill>
            <a:prstDash val="solid"/>
          </a:ln>
        </p:spPr>
      </p:sp>
      <p:sp>
        <p:nvSpPr>
          <p:cNvPr id="5" name="Shape 3"/>
          <p:cNvSpPr/>
          <p:nvPr/>
        </p:nvSpPr>
        <p:spPr>
          <a:xfrm>
            <a:off x="812800" y="413194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291080"/>
        </p:xfrm>
        <a:graphic>
          <a:graphicData uri="http://schemas.openxmlformats.org/drawingml/2006/table">
            <a:tbl>
              <a:tblPr/>
              <a:tblGrid>
                <a:gridCol w="2954325"/>
                <a:gridCol w="2954325"/>
                <a:gridCol w="4642510"/>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Weak requirement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Problem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Testable rewrite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543560">
                <a:tc>
                  <a:txBody>
                    <a:bodyPr/>
                    <a:lstStyle/>
                    <a:p>
                      <a:pPr indent="0" marL="0">
                        <a:lnSpc>
                          <a:spcPts val="1680"/>
                        </a:lnSpc>
                        <a:buNone/>
                      </a:pPr>
                      <a:r>
                        <a:rPr lang="en-US" sz="1200" dirty="0">
                          <a:solidFill>
                            <a:srgbClr val="A9481A"/>
                          </a:solidFill>
                          <a:latin typeface="IBM Plex Sans" pitchFamily="34" charset="0"/>
                          <a:ea typeface="IBM Plex Sans" pitchFamily="34" charset="-122"/>
                          <a:cs typeface="IBM Plex Sans" pitchFamily="34" charset="-120"/>
                        </a:rPr>
                        <a:t>“The menu should load fast.”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Vague: how fast, and under what load?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menu page loads within 2 s for 95% of requests with 300 users online.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43560">
                <a:tc>
                  <a:txBody>
                    <a:bodyPr/>
                    <a:lstStyle/>
                    <a:p>
                      <a:pPr indent="0" marL="0">
                        <a:lnSpc>
                          <a:spcPts val="1680"/>
                        </a:lnSpc>
                        <a:buNone/>
                      </a:pPr>
                      <a:r>
                        <a:rPr lang="en-US" sz="1200" dirty="0">
                          <a:solidFill>
                            <a:srgbClr val="A9481A"/>
                          </a:solidFill>
                          <a:latin typeface="IBM Plex Sans" pitchFamily="34" charset="0"/>
                          <a:ea typeface="IBM Plex Sans" pitchFamily="34" charset="-122"/>
                          <a:cs typeface="IBM Plex Sans" pitchFamily="34" charset="-120"/>
                        </a:rPr>
                        <a:t>“Paying should be easy.”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Subjective: “easy” cannot be measured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 student completes wallet payment in 3 taps or fewer after checkout.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543560">
                <a:tc>
                  <a:txBody>
                    <a:bodyPr/>
                    <a:lstStyle/>
                    <a:p>
                      <a:pPr indent="0" marL="0">
                        <a:lnSpc>
                          <a:spcPts val="1680"/>
                        </a:lnSpc>
                        <a:buNone/>
                      </a:pPr>
                      <a:r>
                        <a:rPr lang="en-US" sz="1200" dirty="0">
                          <a:solidFill>
                            <a:srgbClr val="A9481A"/>
                          </a:solidFill>
                          <a:latin typeface="IBM Plex Sans" pitchFamily="34" charset="0"/>
                          <a:ea typeface="IBM Plex Sans" pitchFamily="34" charset="-122"/>
                          <a:cs typeface="IBM Plex Sans" pitchFamily="34" charset="-120"/>
                        </a:rPr>
                        <a:t>“Invalid coupons show an error.”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Incomplete: which cases, which message?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Unknown or expired codes show “Invalid coupon” and the total stays the same.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A9481A"/>
                          </a:solidFill>
                          <a:latin typeface="IBM Plex Sans" pitchFamily="34" charset="0"/>
                          <a:ea typeface="IBM Plex Sans" pitchFamily="34" charset="-122"/>
                          <a:cs typeface="IBM Plex Sans" pitchFamily="34" charset="-120"/>
                        </a:rPr>
                        <a:t>“Quantity can be up to 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Missing lower limit and type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Quantity per item is a whole number from 1 to 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Text 4"/>
          <p:cNvSpPr/>
          <p:nvPr/>
        </p:nvSpPr>
        <p:spPr>
          <a:xfrm>
            <a:off x="812800" y="4452615"/>
            <a:ext cx="22525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GOOD REQUIREMENTS ARE</a:t>
            </a:r>
            <a:endParaRPr lang="en-US" sz="1200" dirty="0"/>
          </a:p>
        </p:txBody>
      </p:sp>
      <p:sp>
        <p:nvSpPr>
          <p:cNvPr id="8" name="Shape 5"/>
          <p:cNvSpPr/>
          <p:nvPr/>
        </p:nvSpPr>
        <p:spPr>
          <a:xfrm>
            <a:off x="3101340" y="4389115"/>
            <a:ext cx="1251426" cy="340360"/>
          </a:xfrm>
          <a:prstGeom prst="roundRect">
            <a:avLst>
              <a:gd name="adj" fmla="val 50000"/>
            </a:avLst>
          </a:prstGeom>
          <a:solidFill>
            <a:srgbClr val="DCE7F3"/>
          </a:solidFill>
          <a:ln/>
        </p:spPr>
      </p:sp>
      <p:sp>
        <p:nvSpPr>
          <p:cNvPr id="9" name="Text 6"/>
          <p:cNvSpPr/>
          <p:nvPr/>
        </p:nvSpPr>
        <p:spPr>
          <a:xfrm>
            <a:off x="3241040" y="4452615"/>
            <a:ext cx="102282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Unambiguous</a:t>
            </a:r>
            <a:endParaRPr lang="en-US" sz="1200" dirty="0"/>
          </a:p>
        </p:txBody>
      </p:sp>
      <p:sp>
        <p:nvSpPr>
          <p:cNvPr id="10" name="Shape 7"/>
          <p:cNvSpPr/>
          <p:nvPr/>
        </p:nvSpPr>
        <p:spPr>
          <a:xfrm>
            <a:off x="4454366" y="4389115"/>
            <a:ext cx="1104503" cy="340360"/>
          </a:xfrm>
          <a:prstGeom prst="roundRect">
            <a:avLst>
              <a:gd name="adj" fmla="val 50000"/>
            </a:avLst>
          </a:prstGeom>
          <a:solidFill>
            <a:srgbClr val="DCE7F3"/>
          </a:solidFill>
          <a:ln/>
        </p:spPr>
      </p:sp>
      <p:sp>
        <p:nvSpPr>
          <p:cNvPr id="11" name="Text 8"/>
          <p:cNvSpPr/>
          <p:nvPr/>
        </p:nvSpPr>
        <p:spPr>
          <a:xfrm>
            <a:off x="4594066" y="4452615"/>
            <a:ext cx="87590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Measurable</a:t>
            </a:r>
            <a:endParaRPr lang="en-US" sz="1200" dirty="0"/>
          </a:p>
        </p:txBody>
      </p:sp>
      <p:sp>
        <p:nvSpPr>
          <p:cNvPr id="12" name="Shape 9"/>
          <p:cNvSpPr/>
          <p:nvPr/>
        </p:nvSpPr>
        <p:spPr>
          <a:xfrm>
            <a:off x="5660470" y="4389115"/>
            <a:ext cx="961152" cy="340360"/>
          </a:xfrm>
          <a:prstGeom prst="roundRect">
            <a:avLst>
              <a:gd name="adj" fmla="val 50000"/>
            </a:avLst>
          </a:prstGeom>
          <a:solidFill>
            <a:srgbClr val="DCE7F3"/>
          </a:solidFill>
          <a:ln/>
        </p:spPr>
      </p:sp>
      <p:sp>
        <p:nvSpPr>
          <p:cNvPr id="13" name="Text 10"/>
          <p:cNvSpPr/>
          <p:nvPr/>
        </p:nvSpPr>
        <p:spPr>
          <a:xfrm>
            <a:off x="5800170" y="4452615"/>
            <a:ext cx="73255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Complete</a:t>
            </a:r>
            <a:endParaRPr lang="en-US" sz="1200" dirty="0"/>
          </a:p>
        </p:txBody>
      </p:sp>
      <p:sp>
        <p:nvSpPr>
          <p:cNvPr id="14" name="Shape 11"/>
          <p:cNvSpPr/>
          <p:nvPr/>
        </p:nvSpPr>
        <p:spPr>
          <a:xfrm>
            <a:off x="6723221" y="4389115"/>
            <a:ext cx="1033542" cy="340360"/>
          </a:xfrm>
          <a:prstGeom prst="roundRect">
            <a:avLst>
              <a:gd name="adj" fmla="val 50000"/>
            </a:avLst>
          </a:prstGeom>
          <a:solidFill>
            <a:srgbClr val="DCE7F3"/>
          </a:solidFill>
          <a:ln/>
        </p:spPr>
      </p:sp>
      <p:sp>
        <p:nvSpPr>
          <p:cNvPr id="15" name="Text 12"/>
          <p:cNvSpPr/>
          <p:nvPr/>
        </p:nvSpPr>
        <p:spPr>
          <a:xfrm>
            <a:off x="6862921" y="4452615"/>
            <a:ext cx="80494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Consistent</a:t>
            </a:r>
            <a:endParaRPr lang="en-US" sz="1200" dirty="0"/>
          </a:p>
        </p:txBody>
      </p:sp>
      <p:sp>
        <p:nvSpPr>
          <p:cNvPr id="16" name="Shape 13"/>
          <p:cNvSpPr/>
          <p:nvPr/>
        </p:nvSpPr>
        <p:spPr>
          <a:xfrm>
            <a:off x="7858363" y="4389115"/>
            <a:ext cx="973296" cy="340360"/>
          </a:xfrm>
          <a:prstGeom prst="roundRect">
            <a:avLst>
              <a:gd name="adj" fmla="val 50000"/>
            </a:avLst>
          </a:prstGeom>
          <a:solidFill>
            <a:srgbClr val="DCE7F3"/>
          </a:solidFill>
          <a:ln/>
        </p:spPr>
      </p:sp>
      <p:sp>
        <p:nvSpPr>
          <p:cNvPr id="17" name="Text 14"/>
          <p:cNvSpPr/>
          <p:nvPr/>
        </p:nvSpPr>
        <p:spPr>
          <a:xfrm>
            <a:off x="7998063" y="4452615"/>
            <a:ext cx="74469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Traceable</a:t>
            </a:r>
            <a:endParaRPr lang="en-US" sz="1200" dirty="0"/>
          </a:p>
        </p:txBody>
      </p:sp>
      <p:sp>
        <p:nvSpPr>
          <p:cNvPr id="18" name="Text 15"/>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9" name="Text 16"/>
          <p:cNvSpPr/>
          <p:nvPr/>
        </p:nvSpPr>
        <p:spPr>
          <a:xfrm>
            <a:off x="6042739" y="6238255"/>
            <a:ext cx="54965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Early testing saves time and money (principle 3): fix the words before the code</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L13 · TRACEABILITY MATRIX</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Requirements traceability matrix (RTM)</a:t>
            </a:r>
            <a:endParaRPr lang="en-US" sz="3200" dirty="0"/>
          </a:p>
        </p:txBody>
      </p:sp>
      <p:sp>
        <p:nvSpPr>
          <p:cNvPr id="4" name="Text 2"/>
          <p:cNvSpPr/>
          <p:nvPr/>
        </p:nvSpPr>
        <p:spPr>
          <a:xfrm>
            <a:off x="812800" y="1828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ISTQB · TRACEABILITY MATRIX</a:t>
            </a:r>
            <a:endParaRPr lang="en-US" sz="1200" dirty="0"/>
          </a:p>
        </p:txBody>
      </p:sp>
      <p:sp>
        <p:nvSpPr>
          <p:cNvPr id="5" name="Text 3"/>
          <p:cNvSpPr/>
          <p:nvPr/>
        </p:nvSpPr>
        <p:spPr>
          <a:xfrm>
            <a:off x="812800" y="2118370"/>
            <a:ext cx="10883392" cy="77216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3233A"/>
                </a:solidFill>
                <a:latin typeface="IBM Plex Sans" pitchFamily="34" charset="0"/>
                <a:ea typeface="IBM Plex Sans" pitchFamily="34" charset="-122"/>
                <a:cs typeface="IBM Plex Sans" pitchFamily="34" charset="-120"/>
              </a:rPr>
              <a:t>“A two-dimensional table, which correlates two entities (e.g., requirements and test cases). The table allows tracing back and forth the links of one entity to the other, thus enabling the determination of coverage achieved and the assessment of impact of proposed changes.”</a:t>
            </a:r>
            <a:endParaRPr lang="en-US" sz="1400" dirty="0"/>
          </a:p>
        </p:txBody>
      </p:sp>
      <p:sp>
        <p:nvSpPr>
          <p:cNvPr id="6" name="Shape 4"/>
          <p:cNvSpPr/>
          <p:nvPr/>
        </p:nvSpPr>
        <p:spPr>
          <a:xfrm>
            <a:off x="815975" y="3122290"/>
            <a:ext cx="2520950" cy="1230630"/>
          </a:xfrm>
          <a:prstGeom prst="roundRect">
            <a:avLst>
              <a:gd name="adj" fmla="val 5934"/>
            </a:avLst>
          </a:prstGeom>
          <a:solidFill>
            <a:srgbClr val="FCFBF7"/>
          </a:solidFill>
          <a:ln w="6350">
            <a:solidFill>
              <a:srgbClr val="DDD8CC"/>
            </a:solidFill>
            <a:prstDash val="solid"/>
          </a:ln>
        </p:spPr>
      </p:sp>
      <p:sp>
        <p:nvSpPr>
          <p:cNvPr id="7" name="Text 5"/>
          <p:cNvSpPr/>
          <p:nvPr/>
        </p:nvSpPr>
        <p:spPr>
          <a:xfrm>
            <a:off x="995680" y="3276600"/>
            <a:ext cx="222638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Coverage</a:t>
            </a:r>
            <a:endParaRPr lang="en-US" sz="1400" dirty="0"/>
          </a:p>
        </p:txBody>
      </p:sp>
      <p:sp>
        <p:nvSpPr>
          <p:cNvPr id="8" name="Text 6"/>
          <p:cNvSpPr/>
          <p:nvPr/>
        </p:nvSpPr>
        <p:spPr>
          <a:xfrm>
            <a:off x="995680" y="3558555"/>
            <a:ext cx="22263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Every requirement has at least one test</a:t>
            </a:r>
            <a:endParaRPr lang="en-US" sz="1200" dirty="0"/>
          </a:p>
        </p:txBody>
      </p:sp>
      <p:sp>
        <p:nvSpPr>
          <p:cNvPr id="9" name="Shape 7"/>
          <p:cNvSpPr/>
          <p:nvPr/>
        </p:nvSpPr>
        <p:spPr>
          <a:xfrm>
            <a:off x="3495675" y="3122290"/>
            <a:ext cx="2520950" cy="1230630"/>
          </a:xfrm>
          <a:prstGeom prst="roundRect">
            <a:avLst>
              <a:gd name="adj" fmla="val 5934"/>
            </a:avLst>
          </a:prstGeom>
          <a:solidFill>
            <a:srgbClr val="FCFBF7"/>
          </a:solidFill>
          <a:ln w="6350">
            <a:solidFill>
              <a:srgbClr val="DDD8CC"/>
            </a:solidFill>
            <a:prstDash val="solid"/>
          </a:ln>
        </p:spPr>
      </p:sp>
      <p:sp>
        <p:nvSpPr>
          <p:cNvPr id="10" name="Text 8"/>
          <p:cNvSpPr/>
          <p:nvPr/>
        </p:nvSpPr>
        <p:spPr>
          <a:xfrm>
            <a:off x="3675380" y="3276600"/>
            <a:ext cx="222638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Impact analysis</a:t>
            </a:r>
            <a:endParaRPr lang="en-US" sz="1400" dirty="0"/>
          </a:p>
        </p:txBody>
      </p:sp>
      <p:sp>
        <p:nvSpPr>
          <p:cNvPr id="11" name="Text 9"/>
          <p:cNvSpPr/>
          <p:nvPr/>
        </p:nvSpPr>
        <p:spPr>
          <a:xfrm>
            <a:off x="3675380" y="3558555"/>
            <a:ext cx="222638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When REQ-03 changes, you know which tests to update and rerun</a:t>
            </a:r>
            <a:endParaRPr lang="en-US" sz="1200" dirty="0"/>
          </a:p>
        </p:txBody>
      </p:sp>
      <p:sp>
        <p:nvSpPr>
          <p:cNvPr id="12" name="Shape 10"/>
          <p:cNvSpPr/>
          <p:nvPr/>
        </p:nvSpPr>
        <p:spPr>
          <a:xfrm>
            <a:off x="6175375" y="3122290"/>
            <a:ext cx="2520950" cy="1230630"/>
          </a:xfrm>
          <a:prstGeom prst="roundRect">
            <a:avLst>
              <a:gd name="adj" fmla="val 5934"/>
            </a:avLst>
          </a:prstGeom>
          <a:solidFill>
            <a:srgbClr val="FCFBF7"/>
          </a:solidFill>
          <a:ln w="6350">
            <a:solidFill>
              <a:srgbClr val="DDD8CC"/>
            </a:solidFill>
            <a:prstDash val="solid"/>
          </a:ln>
        </p:spPr>
      </p:sp>
      <p:sp>
        <p:nvSpPr>
          <p:cNvPr id="13" name="Text 11"/>
          <p:cNvSpPr/>
          <p:nvPr/>
        </p:nvSpPr>
        <p:spPr>
          <a:xfrm>
            <a:off x="6355080" y="3276600"/>
            <a:ext cx="222638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Status reporting</a:t>
            </a:r>
            <a:endParaRPr lang="en-US" sz="1400" dirty="0"/>
          </a:p>
        </p:txBody>
      </p:sp>
      <p:sp>
        <p:nvSpPr>
          <p:cNvPr id="14" name="Text 12"/>
          <p:cNvSpPr/>
          <p:nvPr/>
        </p:nvSpPr>
        <p:spPr>
          <a:xfrm>
            <a:off x="6355080" y="3558555"/>
            <a:ext cx="222638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Which requirements pass, fail or are untested before a release</a:t>
            </a:r>
            <a:endParaRPr lang="en-US" sz="1200" dirty="0"/>
          </a:p>
        </p:txBody>
      </p:sp>
      <p:sp>
        <p:nvSpPr>
          <p:cNvPr id="15" name="Shape 13"/>
          <p:cNvSpPr/>
          <p:nvPr/>
        </p:nvSpPr>
        <p:spPr>
          <a:xfrm>
            <a:off x="8855075" y="3122290"/>
            <a:ext cx="2520950" cy="1230630"/>
          </a:xfrm>
          <a:prstGeom prst="roundRect">
            <a:avLst>
              <a:gd name="adj" fmla="val 5934"/>
            </a:avLst>
          </a:prstGeom>
          <a:solidFill>
            <a:srgbClr val="FCFBF7"/>
          </a:solidFill>
          <a:ln w="6350">
            <a:solidFill>
              <a:srgbClr val="DDD8CC"/>
            </a:solidFill>
            <a:prstDash val="solid"/>
          </a:ln>
        </p:spPr>
      </p:sp>
      <p:sp>
        <p:nvSpPr>
          <p:cNvPr id="16" name="Text 14"/>
          <p:cNvSpPr/>
          <p:nvPr/>
        </p:nvSpPr>
        <p:spPr>
          <a:xfrm>
            <a:off x="9034780" y="3276600"/>
            <a:ext cx="222638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Audit and compliance</a:t>
            </a:r>
            <a:endParaRPr lang="en-US" sz="1400" dirty="0"/>
          </a:p>
        </p:txBody>
      </p:sp>
      <p:sp>
        <p:nvSpPr>
          <p:cNvPr id="17" name="Text 15"/>
          <p:cNvSpPr/>
          <p:nvPr/>
        </p:nvSpPr>
        <p:spPr>
          <a:xfrm>
            <a:off x="9034780" y="3558555"/>
            <a:ext cx="222638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Evidence for regulated domains such as banking and health care</a:t>
            </a:r>
            <a:endParaRPr lang="en-US" sz="1200" dirty="0"/>
          </a:p>
        </p:txBody>
      </p:sp>
      <p:sp>
        <p:nvSpPr>
          <p:cNvPr id="18" name="Text 16"/>
          <p:cNvSpPr/>
          <p:nvPr/>
        </p:nvSpPr>
        <p:spPr>
          <a:xfrm>
            <a:off x="812800" y="4665985"/>
            <a:ext cx="16129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TYPICAL COLUMNS</a:t>
            </a:r>
            <a:endParaRPr lang="en-US" sz="1200" dirty="0"/>
          </a:p>
        </p:txBody>
      </p:sp>
      <p:sp>
        <p:nvSpPr>
          <p:cNvPr id="19" name="Shape 17"/>
          <p:cNvSpPr/>
          <p:nvPr/>
        </p:nvSpPr>
        <p:spPr>
          <a:xfrm>
            <a:off x="2479675" y="4613275"/>
            <a:ext cx="781050" cy="318770"/>
          </a:xfrm>
          <a:prstGeom prst="roundRect">
            <a:avLst>
              <a:gd name="adj" fmla="val 14940"/>
            </a:avLst>
          </a:prstGeom>
          <a:solidFill>
            <a:srgbClr val="FCFBF7"/>
          </a:solidFill>
          <a:ln w="6350">
            <a:solidFill>
              <a:srgbClr val="DDD8CC"/>
            </a:solidFill>
            <a:prstDash val="solid"/>
          </a:ln>
        </p:spPr>
      </p:sp>
      <p:sp>
        <p:nvSpPr>
          <p:cNvPr id="20" name="Text 18"/>
          <p:cNvSpPr/>
          <p:nvPr/>
        </p:nvSpPr>
        <p:spPr>
          <a:xfrm>
            <a:off x="2595880" y="46659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Req ID</a:t>
            </a:r>
            <a:endParaRPr lang="en-US" sz="1200" dirty="0"/>
          </a:p>
        </p:txBody>
      </p:sp>
      <p:sp>
        <p:nvSpPr>
          <p:cNvPr id="21" name="Shape 19"/>
          <p:cNvSpPr/>
          <p:nvPr/>
        </p:nvSpPr>
        <p:spPr>
          <a:xfrm>
            <a:off x="3368675" y="4613275"/>
            <a:ext cx="1238250" cy="318770"/>
          </a:xfrm>
          <a:prstGeom prst="roundRect">
            <a:avLst>
              <a:gd name="adj" fmla="val 14940"/>
            </a:avLst>
          </a:prstGeom>
          <a:solidFill>
            <a:srgbClr val="FCFBF7"/>
          </a:solidFill>
          <a:ln w="6350">
            <a:solidFill>
              <a:srgbClr val="DDD8CC"/>
            </a:solidFill>
            <a:prstDash val="solid"/>
          </a:ln>
        </p:spPr>
      </p:sp>
      <p:sp>
        <p:nvSpPr>
          <p:cNvPr id="22" name="Text 20"/>
          <p:cNvSpPr/>
          <p:nvPr/>
        </p:nvSpPr>
        <p:spPr>
          <a:xfrm>
            <a:off x="3484880" y="4665980"/>
            <a:ext cx="1056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Requirement</a:t>
            </a:r>
            <a:endParaRPr lang="en-US" sz="1200" dirty="0"/>
          </a:p>
        </p:txBody>
      </p:sp>
      <p:sp>
        <p:nvSpPr>
          <p:cNvPr id="23" name="Shape 21"/>
          <p:cNvSpPr/>
          <p:nvPr/>
        </p:nvSpPr>
        <p:spPr>
          <a:xfrm>
            <a:off x="4714875" y="4613275"/>
            <a:ext cx="963930" cy="318770"/>
          </a:xfrm>
          <a:prstGeom prst="roundRect">
            <a:avLst>
              <a:gd name="adj" fmla="val 14940"/>
            </a:avLst>
          </a:prstGeom>
          <a:solidFill>
            <a:srgbClr val="FCFBF7"/>
          </a:solidFill>
          <a:ln w="6350">
            <a:solidFill>
              <a:srgbClr val="DDD8CC"/>
            </a:solidFill>
            <a:prstDash val="solid"/>
          </a:ln>
        </p:spPr>
      </p:sp>
      <p:sp>
        <p:nvSpPr>
          <p:cNvPr id="24" name="Text 22"/>
          <p:cNvSpPr/>
          <p:nvPr/>
        </p:nvSpPr>
        <p:spPr>
          <a:xfrm>
            <a:off x="4831080" y="4665980"/>
            <a:ext cx="7823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Scenario</a:t>
            </a:r>
            <a:endParaRPr lang="en-US" sz="1200" dirty="0"/>
          </a:p>
        </p:txBody>
      </p:sp>
      <p:sp>
        <p:nvSpPr>
          <p:cNvPr id="25" name="Shape 23"/>
          <p:cNvSpPr/>
          <p:nvPr/>
        </p:nvSpPr>
        <p:spPr>
          <a:xfrm>
            <a:off x="5786755" y="4613275"/>
            <a:ext cx="1421130" cy="318770"/>
          </a:xfrm>
          <a:prstGeom prst="roundRect">
            <a:avLst>
              <a:gd name="adj" fmla="val 14940"/>
            </a:avLst>
          </a:prstGeom>
          <a:solidFill>
            <a:srgbClr val="FCFBF7"/>
          </a:solidFill>
          <a:ln w="6350">
            <a:solidFill>
              <a:srgbClr val="DDD8CC"/>
            </a:solidFill>
            <a:prstDash val="solid"/>
          </a:ln>
        </p:spPr>
      </p:sp>
      <p:sp>
        <p:nvSpPr>
          <p:cNvPr id="26" name="Text 24"/>
          <p:cNvSpPr/>
          <p:nvPr/>
        </p:nvSpPr>
        <p:spPr>
          <a:xfrm>
            <a:off x="5902960" y="4665980"/>
            <a:ext cx="12395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Test case IDs</a:t>
            </a:r>
            <a:endParaRPr lang="en-US" sz="1200" dirty="0"/>
          </a:p>
        </p:txBody>
      </p:sp>
      <p:sp>
        <p:nvSpPr>
          <p:cNvPr id="27" name="Shape 25"/>
          <p:cNvSpPr/>
          <p:nvPr/>
        </p:nvSpPr>
        <p:spPr>
          <a:xfrm>
            <a:off x="7315835" y="4613275"/>
            <a:ext cx="781050" cy="318770"/>
          </a:xfrm>
          <a:prstGeom prst="roundRect">
            <a:avLst>
              <a:gd name="adj" fmla="val 14940"/>
            </a:avLst>
          </a:prstGeom>
          <a:solidFill>
            <a:srgbClr val="FCFBF7"/>
          </a:solidFill>
          <a:ln w="6350">
            <a:solidFill>
              <a:srgbClr val="DDD8CC"/>
            </a:solidFill>
            <a:prstDash val="solid"/>
          </a:ln>
        </p:spPr>
      </p:sp>
      <p:sp>
        <p:nvSpPr>
          <p:cNvPr id="28" name="Text 26"/>
          <p:cNvSpPr/>
          <p:nvPr/>
        </p:nvSpPr>
        <p:spPr>
          <a:xfrm>
            <a:off x="7432040" y="46659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Status</a:t>
            </a:r>
            <a:endParaRPr lang="en-US" sz="1200" dirty="0"/>
          </a:p>
        </p:txBody>
      </p:sp>
      <p:sp>
        <p:nvSpPr>
          <p:cNvPr id="29" name="Shape 27"/>
          <p:cNvSpPr/>
          <p:nvPr/>
        </p:nvSpPr>
        <p:spPr>
          <a:xfrm>
            <a:off x="8204835" y="4613275"/>
            <a:ext cx="1146810" cy="318770"/>
          </a:xfrm>
          <a:prstGeom prst="roundRect">
            <a:avLst>
              <a:gd name="adj" fmla="val 14940"/>
            </a:avLst>
          </a:prstGeom>
          <a:solidFill>
            <a:srgbClr val="FCFBF7"/>
          </a:solidFill>
          <a:ln w="6350">
            <a:solidFill>
              <a:srgbClr val="DDD8CC"/>
            </a:solidFill>
            <a:prstDash val="solid"/>
          </a:ln>
        </p:spPr>
      </p:sp>
      <p:sp>
        <p:nvSpPr>
          <p:cNvPr id="30" name="Text 28"/>
          <p:cNvSpPr/>
          <p:nvPr/>
        </p:nvSpPr>
        <p:spPr>
          <a:xfrm>
            <a:off x="8321040" y="4665980"/>
            <a:ext cx="965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Defect IDs</a:t>
            </a:r>
            <a:endParaRPr lang="en-US" sz="1200" dirty="0"/>
          </a:p>
        </p:txBody>
      </p:sp>
      <p:sp>
        <p:nvSpPr>
          <p:cNvPr id="31" name="Text 29"/>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32" name="Text 30"/>
          <p:cNvSpPr/>
          <p:nvPr/>
        </p:nvSpPr>
        <p:spPr>
          <a:xfrm>
            <a:off x="9568021" y="6238255"/>
            <a:ext cx="18655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Definition: ISTQB Glossary</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L13 · TRACEABILITY MATRIX</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Forward, backward and bidirectional tracing</a:t>
            </a:r>
            <a:endParaRPr lang="en-US" sz="3200" dirty="0"/>
          </a:p>
        </p:txBody>
      </p:sp>
      <p:sp>
        <p:nvSpPr>
          <p:cNvPr id="4" name="Shape 2"/>
          <p:cNvSpPr/>
          <p:nvPr/>
        </p:nvSpPr>
        <p:spPr>
          <a:xfrm>
            <a:off x="812800" y="1831975"/>
            <a:ext cx="10566400" cy="0"/>
          </a:xfrm>
          <a:prstGeom prst="line">
            <a:avLst/>
          </a:prstGeom>
          <a:noFill/>
          <a:ln w="6350">
            <a:solidFill>
              <a:srgbClr val="DDD8CC"/>
            </a:solidFill>
            <a:prstDash val="solid"/>
          </a:ln>
        </p:spPr>
      </p:sp>
      <p:sp>
        <p:nvSpPr>
          <p:cNvPr id="5" name="Shape 3"/>
          <p:cNvSpPr/>
          <p:nvPr/>
        </p:nvSpPr>
        <p:spPr>
          <a:xfrm>
            <a:off x="812800" y="2159000"/>
            <a:ext cx="802640" cy="391160"/>
          </a:xfrm>
          <a:prstGeom prst="roundRect">
            <a:avLst>
              <a:gd name="adj" fmla="val 16234"/>
            </a:avLst>
          </a:prstGeom>
          <a:solidFill>
            <a:srgbClr val="13233A"/>
          </a:solidFill>
          <a:ln/>
        </p:spPr>
      </p:sp>
      <p:sp>
        <p:nvSpPr>
          <p:cNvPr id="6" name="Text 4"/>
          <p:cNvSpPr/>
          <p:nvPr/>
        </p:nvSpPr>
        <p:spPr>
          <a:xfrm>
            <a:off x="939800" y="2247900"/>
            <a:ext cx="5994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3F1EA"/>
                </a:solidFill>
                <a:latin typeface="JetBrains Mono" pitchFamily="34" charset="0"/>
                <a:ea typeface="JetBrains Mono" pitchFamily="34" charset="-122"/>
                <a:cs typeface="JetBrains Mono" pitchFamily="34" charset="-120"/>
              </a:rPr>
              <a:t>REQ-03</a:t>
            </a:r>
            <a:endParaRPr lang="en-US" sz="1200" dirty="0"/>
          </a:p>
        </p:txBody>
      </p:sp>
      <p:pic>
        <p:nvPicPr>
          <p:cNvPr id="7" name="Image 0" descr="connector">    </p:cNvPr>
          <p:cNvPicPr>
            <a:picLocks noChangeAspect="1"/>
          </p:cNvPicPr>
          <p:nvPr/>
        </p:nvPicPr>
        <p:blipFill>
          <a:blip r:embed="rId1"/>
          <a:srcRect l="0" r="0" t="0" b="0"/>
          <a:stretch/>
        </p:blipFill>
        <p:spPr>
          <a:xfrm>
            <a:off x="1717040" y="2303785"/>
            <a:ext cx="609600" cy="101600"/>
          </a:xfrm>
          <a:prstGeom prst="rect">
            <a:avLst/>
          </a:prstGeom>
        </p:spPr>
      </p:pic>
      <p:sp>
        <p:nvSpPr>
          <p:cNvPr id="8" name="Shape 5"/>
          <p:cNvSpPr/>
          <p:nvPr/>
        </p:nvSpPr>
        <p:spPr>
          <a:xfrm>
            <a:off x="2431415" y="2157090"/>
            <a:ext cx="1537970" cy="394970"/>
          </a:xfrm>
          <a:prstGeom prst="roundRect">
            <a:avLst>
              <a:gd name="adj" fmla="val 15273"/>
            </a:avLst>
          </a:prstGeom>
          <a:solidFill>
            <a:srgbClr val="FCFBF7"/>
          </a:solidFill>
          <a:ln w="6350">
            <a:solidFill>
              <a:srgbClr val="C9C2B2"/>
            </a:solidFill>
            <a:prstDash val="solid"/>
          </a:ln>
        </p:spPr>
      </p:sp>
      <p:sp>
        <p:nvSpPr>
          <p:cNvPr id="9" name="Text 6"/>
          <p:cNvSpPr/>
          <p:nvPr/>
        </p:nvSpPr>
        <p:spPr>
          <a:xfrm>
            <a:off x="2560320" y="2247895"/>
            <a:ext cx="13309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JetBrains Mono" pitchFamily="34" charset="0"/>
                <a:ea typeface="JetBrains Mono" pitchFamily="34" charset="-122"/>
                <a:cs typeface="JetBrains Mono" pitchFamily="34" charset="-120"/>
              </a:rPr>
              <a:t>TC-07 to TC-10</a:t>
            </a:r>
            <a:endParaRPr lang="en-US" sz="1200" dirty="0"/>
          </a:p>
        </p:txBody>
      </p:sp>
      <p:sp>
        <p:nvSpPr>
          <p:cNvPr id="10" name="Text 7"/>
          <p:cNvSpPr/>
          <p:nvPr/>
        </p:nvSpPr>
        <p:spPr>
          <a:xfrm>
            <a:off x="6223000" y="1986285"/>
            <a:ext cx="53108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FORWARD</a:t>
            </a:r>
            <a:endParaRPr lang="en-US" sz="1200" dirty="0"/>
          </a:p>
        </p:txBody>
      </p:sp>
      <p:sp>
        <p:nvSpPr>
          <p:cNvPr id="11" name="Text 8"/>
          <p:cNvSpPr/>
          <p:nvPr/>
        </p:nvSpPr>
        <p:spPr>
          <a:xfrm>
            <a:off x="6223000" y="2225055"/>
            <a:ext cx="531088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From requirements to tests: is every requirement covered? Finds untested requirements.</a:t>
            </a:r>
            <a:endParaRPr lang="en-US" sz="1400" dirty="0"/>
          </a:p>
        </p:txBody>
      </p:sp>
      <p:sp>
        <p:nvSpPr>
          <p:cNvPr id="12" name="Shape 9"/>
          <p:cNvSpPr/>
          <p:nvPr/>
        </p:nvSpPr>
        <p:spPr>
          <a:xfrm>
            <a:off x="812800" y="2878460"/>
            <a:ext cx="10566400" cy="0"/>
          </a:xfrm>
          <a:prstGeom prst="line">
            <a:avLst/>
          </a:prstGeom>
          <a:noFill/>
          <a:ln w="6350">
            <a:solidFill>
              <a:srgbClr val="DDD8CC"/>
            </a:solidFill>
            <a:prstDash val="solid"/>
          </a:ln>
        </p:spPr>
      </p:sp>
      <p:sp>
        <p:nvSpPr>
          <p:cNvPr id="13" name="Shape 10"/>
          <p:cNvSpPr/>
          <p:nvPr/>
        </p:nvSpPr>
        <p:spPr>
          <a:xfrm>
            <a:off x="812800" y="3205485"/>
            <a:ext cx="802640" cy="391160"/>
          </a:xfrm>
          <a:prstGeom prst="roundRect">
            <a:avLst>
              <a:gd name="adj" fmla="val 16234"/>
            </a:avLst>
          </a:prstGeom>
          <a:solidFill>
            <a:srgbClr val="13233A"/>
          </a:solidFill>
          <a:ln/>
        </p:spPr>
      </p:sp>
      <p:sp>
        <p:nvSpPr>
          <p:cNvPr id="14" name="Text 11"/>
          <p:cNvSpPr/>
          <p:nvPr/>
        </p:nvSpPr>
        <p:spPr>
          <a:xfrm>
            <a:off x="939800" y="3294385"/>
            <a:ext cx="5994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3F1EA"/>
                </a:solidFill>
                <a:latin typeface="JetBrains Mono" pitchFamily="34" charset="0"/>
                <a:ea typeface="JetBrains Mono" pitchFamily="34" charset="-122"/>
                <a:cs typeface="JetBrains Mono" pitchFamily="34" charset="-120"/>
              </a:rPr>
              <a:t>REQ-03</a:t>
            </a:r>
            <a:endParaRPr lang="en-US" sz="1200" dirty="0"/>
          </a:p>
        </p:txBody>
      </p:sp>
      <p:pic>
        <p:nvPicPr>
          <p:cNvPr id="15" name="Image 1" descr="connector">    </p:cNvPr>
          <p:cNvPicPr>
            <a:picLocks noChangeAspect="1"/>
          </p:cNvPicPr>
          <p:nvPr/>
        </p:nvPicPr>
        <p:blipFill>
          <a:blip r:embed="rId2"/>
          <a:srcRect l="0" r="0" t="0" b="0"/>
          <a:stretch/>
        </p:blipFill>
        <p:spPr>
          <a:xfrm>
            <a:off x="1717040" y="3350270"/>
            <a:ext cx="609600" cy="101600"/>
          </a:xfrm>
          <a:prstGeom prst="rect">
            <a:avLst/>
          </a:prstGeom>
        </p:spPr>
      </p:pic>
      <p:sp>
        <p:nvSpPr>
          <p:cNvPr id="16" name="Shape 12"/>
          <p:cNvSpPr/>
          <p:nvPr/>
        </p:nvSpPr>
        <p:spPr>
          <a:xfrm>
            <a:off x="2431415" y="3203575"/>
            <a:ext cx="715010" cy="394970"/>
          </a:xfrm>
          <a:prstGeom prst="roundRect">
            <a:avLst>
              <a:gd name="adj" fmla="val 15273"/>
            </a:avLst>
          </a:prstGeom>
          <a:solidFill>
            <a:srgbClr val="FCFBF7"/>
          </a:solidFill>
          <a:ln w="6350">
            <a:solidFill>
              <a:srgbClr val="C9C2B2"/>
            </a:solidFill>
            <a:prstDash val="solid"/>
          </a:ln>
        </p:spPr>
      </p:sp>
      <p:sp>
        <p:nvSpPr>
          <p:cNvPr id="17" name="Text 13"/>
          <p:cNvSpPr/>
          <p:nvPr/>
        </p:nvSpPr>
        <p:spPr>
          <a:xfrm>
            <a:off x="2560320" y="3294380"/>
            <a:ext cx="5080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JetBrains Mono" pitchFamily="34" charset="0"/>
                <a:ea typeface="JetBrains Mono" pitchFamily="34" charset="-122"/>
                <a:cs typeface="JetBrains Mono" pitchFamily="34" charset="-120"/>
              </a:rPr>
              <a:t>TC-08</a:t>
            </a:r>
            <a:endParaRPr lang="en-US" sz="1200" dirty="0"/>
          </a:p>
        </p:txBody>
      </p:sp>
      <p:sp>
        <p:nvSpPr>
          <p:cNvPr id="18" name="Text 14"/>
          <p:cNvSpPr/>
          <p:nvPr/>
        </p:nvSpPr>
        <p:spPr>
          <a:xfrm>
            <a:off x="6223000" y="3032770"/>
            <a:ext cx="53108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BACKWARD</a:t>
            </a:r>
            <a:endParaRPr lang="en-US" sz="1200" dirty="0"/>
          </a:p>
        </p:txBody>
      </p:sp>
      <p:sp>
        <p:nvSpPr>
          <p:cNvPr id="19" name="Text 15"/>
          <p:cNvSpPr/>
          <p:nvPr/>
        </p:nvSpPr>
        <p:spPr>
          <a:xfrm>
            <a:off x="6223000" y="3271515"/>
            <a:ext cx="531088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From tests to requirements: does every test serve a requirement? Finds orphan tests.</a:t>
            </a:r>
            <a:endParaRPr lang="en-US" sz="1400" dirty="0"/>
          </a:p>
        </p:txBody>
      </p:sp>
      <p:sp>
        <p:nvSpPr>
          <p:cNvPr id="20" name="Shape 16"/>
          <p:cNvSpPr/>
          <p:nvPr/>
        </p:nvSpPr>
        <p:spPr>
          <a:xfrm>
            <a:off x="812800" y="3924945"/>
            <a:ext cx="10566400" cy="0"/>
          </a:xfrm>
          <a:prstGeom prst="line">
            <a:avLst/>
          </a:prstGeom>
          <a:noFill/>
          <a:ln w="6350">
            <a:solidFill>
              <a:srgbClr val="DDD8CC"/>
            </a:solidFill>
            <a:prstDash val="solid"/>
          </a:ln>
        </p:spPr>
      </p:sp>
      <p:sp>
        <p:nvSpPr>
          <p:cNvPr id="21" name="Shape 17"/>
          <p:cNvSpPr/>
          <p:nvPr/>
        </p:nvSpPr>
        <p:spPr>
          <a:xfrm>
            <a:off x="812800" y="4970155"/>
            <a:ext cx="10566400" cy="0"/>
          </a:xfrm>
          <a:prstGeom prst="line">
            <a:avLst/>
          </a:prstGeom>
          <a:noFill/>
          <a:ln w="6350">
            <a:solidFill>
              <a:srgbClr val="DDD8CC"/>
            </a:solidFill>
            <a:prstDash val="solid"/>
          </a:ln>
        </p:spPr>
      </p:sp>
      <p:sp>
        <p:nvSpPr>
          <p:cNvPr id="22" name="Shape 18"/>
          <p:cNvSpPr/>
          <p:nvPr/>
        </p:nvSpPr>
        <p:spPr>
          <a:xfrm>
            <a:off x="812800" y="4251970"/>
            <a:ext cx="802640" cy="391160"/>
          </a:xfrm>
          <a:prstGeom prst="roundRect">
            <a:avLst>
              <a:gd name="adj" fmla="val 16234"/>
            </a:avLst>
          </a:prstGeom>
          <a:solidFill>
            <a:srgbClr val="13233A"/>
          </a:solidFill>
          <a:ln/>
        </p:spPr>
      </p:sp>
      <p:sp>
        <p:nvSpPr>
          <p:cNvPr id="23" name="Text 19"/>
          <p:cNvSpPr/>
          <p:nvPr/>
        </p:nvSpPr>
        <p:spPr>
          <a:xfrm>
            <a:off x="939800" y="4340870"/>
            <a:ext cx="5994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3F1EA"/>
                </a:solidFill>
                <a:latin typeface="JetBrains Mono" pitchFamily="34" charset="0"/>
                <a:ea typeface="JetBrains Mono" pitchFamily="34" charset="-122"/>
                <a:cs typeface="JetBrains Mono" pitchFamily="34" charset="-120"/>
              </a:rPr>
              <a:t>REQ-03</a:t>
            </a:r>
            <a:endParaRPr lang="en-US" sz="1200" dirty="0"/>
          </a:p>
        </p:txBody>
      </p:sp>
      <p:pic>
        <p:nvPicPr>
          <p:cNvPr id="24" name="Image 2" descr="connector">    </p:cNvPr>
          <p:cNvPicPr>
            <a:picLocks noChangeAspect="1"/>
          </p:cNvPicPr>
          <p:nvPr/>
        </p:nvPicPr>
        <p:blipFill>
          <a:blip r:embed="rId3"/>
          <a:srcRect l="0" r="0" t="0" b="0"/>
          <a:stretch/>
        </p:blipFill>
        <p:spPr>
          <a:xfrm>
            <a:off x="1717040" y="4396755"/>
            <a:ext cx="609600" cy="101600"/>
          </a:xfrm>
          <a:prstGeom prst="rect">
            <a:avLst/>
          </a:prstGeom>
        </p:spPr>
      </p:pic>
      <p:sp>
        <p:nvSpPr>
          <p:cNvPr id="25" name="Shape 20"/>
          <p:cNvSpPr/>
          <p:nvPr/>
        </p:nvSpPr>
        <p:spPr>
          <a:xfrm>
            <a:off x="2431415" y="4250060"/>
            <a:ext cx="715010" cy="394970"/>
          </a:xfrm>
          <a:prstGeom prst="roundRect">
            <a:avLst>
              <a:gd name="adj" fmla="val 15273"/>
            </a:avLst>
          </a:prstGeom>
          <a:solidFill>
            <a:srgbClr val="FCFBF7"/>
          </a:solidFill>
          <a:ln w="6350">
            <a:solidFill>
              <a:srgbClr val="C9C2B2"/>
            </a:solidFill>
            <a:prstDash val="solid"/>
          </a:ln>
        </p:spPr>
      </p:sp>
      <p:sp>
        <p:nvSpPr>
          <p:cNvPr id="26" name="Text 21"/>
          <p:cNvSpPr/>
          <p:nvPr/>
        </p:nvSpPr>
        <p:spPr>
          <a:xfrm>
            <a:off x="2560320" y="4340865"/>
            <a:ext cx="5080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JetBrains Mono" pitchFamily="34" charset="0"/>
                <a:ea typeface="JetBrains Mono" pitchFamily="34" charset="-122"/>
                <a:cs typeface="JetBrains Mono" pitchFamily="34" charset="-120"/>
              </a:rPr>
              <a:t>TC-08</a:t>
            </a:r>
            <a:endParaRPr lang="en-US" sz="1200" dirty="0"/>
          </a:p>
        </p:txBody>
      </p:sp>
      <p:pic>
        <p:nvPicPr>
          <p:cNvPr id="27" name="Image 3" descr="connector">    </p:cNvPr>
          <p:cNvPicPr>
            <a:picLocks noChangeAspect="1"/>
          </p:cNvPicPr>
          <p:nvPr/>
        </p:nvPicPr>
        <p:blipFill>
          <a:blip r:embed="rId4"/>
          <a:srcRect l="0" r="0" t="0" b="0"/>
          <a:stretch/>
        </p:blipFill>
        <p:spPr>
          <a:xfrm>
            <a:off x="3251200" y="4396755"/>
            <a:ext cx="609600" cy="101600"/>
          </a:xfrm>
          <a:prstGeom prst="rect">
            <a:avLst/>
          </a:prstGeom>
        </p:spPr>
      </p:pic>
      <p:sp>
        <p:nvSpPr>
          <p:cNvPr id="28" name="Shape 22"/>
          <p:cNvSpPr/>
          <p:nvPr/>
        </p:nvSpPr>
        <p:spPr>
          <a:xfrm>
            <a:off x="3965575" y="4250060"/>
            <a:ext cx="806450" cy="394970"/>
          </a:xfrm>
          <a:prstGeom prst="roundRect">
            <a:avLst>
              <a:gd name="adj" fmla="val 15273"/>
            </a:avLst>
          </a:prstGeom>
          <a:solidFill>
            <a:srgbClr val="F7E3D5"/>
          </a:solidFill>
          <a:ln w="6350">
            <a:solidFill>
              <a:srgbClr val="E9C3A8"/>
            </a:solidFill>
            <a:prstDash val="solid"/>
          </a:ln>
        </p:spPr>
      </p:sp>
      <p:sp>
        <p:nvSpPr>
          <p:cNvPr id="29" name="Text 23"/>
          <p:cNvSpPr/>
          <p:nvPr/>
        </p:nvSpPr>
        <p:spPr>
          <a:xfrm>
            <a:off x="4094480" y="4340865"/>
            <a:ext cx="5994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JetBrains Mono" pitchFamily="34" charset="0"/>
                <a:ea typeface="JetBrains Mono" pitchFamily="34" charset="-122"/>
                <a:cs typeface="JetBrains Mono" pitchFamily="34" charset="-120"/>
              </a:rPr>
              <a:t>DEF-12</a:t>
            </a:r>
            <a:endParaRPr lang="en-US" sz="1200" dirty="0"/>
          </a:p>
        </p:txBody>
      </p:sp>
      <p:sp>
        <p:nvSpPr>
          <p:cNvPr id="30" name="Text 24"/>
          <p:cNvSpPr/>
          <p:nvPr/>
        </p:nvSpPr>
        <p:spPr>
          <a:xfrm>
            <a:off x="6223000" y="4079255"/>
            <a:ext cx="53108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33A"/>
                </a:solidFill>
                <a:latin typeface="JetBrains Mono" pitchFamily="34" charset="0"/>
                <a:ea typeface="JetBrains Mono" pitchFamily="34" charset="-122"/>
                <a:cs typeface="JetBrains Mono" pitchFamily="34" charset="-120"/>
              </a:rPr>
              <a:t>BIDIRECTIONAL</a:t>
            </a:r>
            <a:endParaRPr lang="en-US" sz="1200" dirty="0"/>
          </a:p>
        </p:txBody>
      </p:sp>
      <p:sp>
        <p:nvSpPr>
          <p:cNvPr id="31" name="Text 25"/>
          <p:cNvSpPr/>
          <p:nvPr/>
        </p:nvSpPr>
        <p:spPr>
          <a:xfrm>
            <a:off x="6223000" y="4318000"/>
            <a:ext cx="531088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Both ways, with defects: what does this change or this defect affect? Supports impact analysis.</a:t>
            </a:r>
            <a:endParaRPr lang="en-US" sz="1400" dirty="0"/>
          </a:p>
        </p:txBody>
      </p:sp>
      <p:sp>
        <p:nvSpPr>
          <p:cNvPr id="32" name="Text 26"/>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33" name="Text 27"/>
          <p:cNvSpPr/>
          <p:nvPr/>
        </p:nvSpPr>
        <p:spPr>
          <a:xfrm>
            <a:off x="8765937" y="6238255"/>
            <a:ext cx="26916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Arrows show the direction you trace in</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L13 · TRACEABILITY MATRIX</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RTM for the Canteen App</a:t>
            </a:r>
            <a:endParaRPr lang="en-US" sz="3200" dirty="0"/>
          </a:p>
        </p:txBody>
      </p:sp>
      <p:sp>
        <p:nvSpPr>
          <p:cNvPr id="4" name="Shape 2"/>
          <p:cNvSpPr/>
          <p:nvPr/>
        </p:nvSpPr>
        <p:spPr>
          <a:xfrm>
            <a:off x="11376025" y="1828800"/>
            <a:ext cx="0" cy="2326640"/>
          </a:xfrm>
          <a:prstGeom prst="line">
            <a:avLst/>
          </a:prstGeom>
          <a:noFill/>
          <a:ln w="6350">
            <a:solidFill>
              <a:srgbClr val="DDD8CC"/>
            </a:solidFill>
            <a:prstDash val="solid"/>
          </a:ln>
        </p:spPr>
      </p:sp>
      <p:sp>
        <p:nvSpPr>
          <p:cNvPr id="5" name="Shape 3"/>
          <p:cNvSpPr/>
          <p:nvPr/>
        </p:nvSpPr>
        <p:spPr>
          <a:xfrm>
            <a:off x="812800" y="41522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311400"/>
        </p:xfrm>
        <a:graphic>
          <a:graphicData uri="http://schemas.openxmlformats.org/drawingml/2006/table">
            <a:tbl>
              <a:tblPr/>
              <a:tblGrid>
                <a:gridCol w="1055116"/>
                <a:gridCol w="3481883"/>
                <a:gridCol w="1371651"/>
                <a:gridCol w="2110232"/>
                <a:gridCol w="1371651"/>
                <a:gridCol w="1160628"/>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Req 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Requirement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Scenario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Test cases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Status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Defects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Login; lock after 3 failed tries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TS-01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TC-01, TC-02, TC-03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REQ-02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Cart quantity 1 to 10 per item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TS-02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TC-04, TC-05, TC-06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REQ-03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SAVE20: 20% off from ₹200, max ₹100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TS-03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TC-07 to TC-10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A9481A"/>
                          </a:solidFill>
                          <a:latin typeface="IBM Plex Sans" pitchFamily="34" charset="0"/>
                          <a:ea typeface="IBM Plex Sans" pitchFamily="34" charset="-122"/>
                          <a:cs typeface="IBM Plex Sans" pitchFamily="34" charset="-120"/>
                        </a:rPr>
                        <a:t>Fail (TC-08)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DEF-12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Pay with the campus wallet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TS-04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TC-11, TC-12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Not run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Order status flow and cancel rule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TS-05, TS-06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TC-13 to TC-16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REQ-06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5B5AA"/>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5B5AA"/>
                      </a:solidFill>
                      <a:prstDash val="solid"/>
                      <a:round/>
                      <a:headEnd type="none" w="med" len="med"/>
                      <a:tailEnd type="none" w="med" len="med"/>
                    </a:lnB>
                    <a:solidFill>
                      <a:srgbClr val="F7E3D5"/>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Menu loads within 2 s at peak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B5AA"/>
                      </a:solidFill>
                      <a:prstDash val="solid"/>
                      <a:round/>
                      <a:headEnd type="none" w="med" len="med"/>
                      <a:tailEnd type="none" w="med" len="med"/>
                    </a:lnL>
                    <a:lnR w="12700" cap="flat" cmpd="sng" algn="ctr">
                      <a:solidFill>
                        <a:srgbClr val="C5B5AA"/>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5B5AA"/>
                      </a:solidFill>
                      <a:prstDash val="solid"/>
                      <a:round/>
                      <a:headEnd type="none" w="med" len="med"/>
                      <a:tailEnd type="none" w="med" len="med"/>
                    </a:lnB>
                    <a:solidFill>
                      <a:srgbClr val="F7E3D5"/>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B5AA"/>
                      </a:solidFill>
                      <a:prstDash val="solid"/>
                      <a:round/>
                      <a:headEnd type="none" w="med" len="med"/>
                      <a:tailEnd type="none" w="med" len="med"/>
                    </a:lnL>
                    <a:lnR w="12700" cap="flat" cmpd="sng" algn="ctr">
                      <a:solidFill>
                        <a:srgbClr val="C5B5AA"/>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5B5AA"/>
                      </a:solidFill>
                      <a:prstDash val="solid"/>
                      <a:round/>
                      <a:headEnd type="none" w="med" len="med"/>
                      <a:tailEnd type="none" w="med" len="med"/>
                    </a:lnB>
                    <a:solidFill>
                      <a:srgbClr val="F7E3D5"/>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B5AA"/>
                      </a:solidFill>
                      <a:prstDash val="solid"/>
                      <a:round/>
                      <a:headEnd type="none" w="med" len="med"/>
                      <a:tailEnd type="none" w="med" len="med"/>
                    </a:lnL>
                    <a:lnR w="12700" cap="flat" cmpd="sng" algn="ctr">
                      <a:solidFill>
                        <a:srgbClr val="C5B5AA"/>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5B5AA"/>
                      </a:solidFill>
                      <a:prstDash val="solid"/>
                      <a:round/>
                      <a:headEnd type="none" w="med" len="med"/>
                      <a:tailEnd type="none" w="med" len="med"/>
                    </a:lnB>
                    <a:solidFill>
                      <a:srgbClr val="F7E3D5"/>
                    </a:solidFill>
                  </a:tcPr>
                </a:tc>
                <a:tc>
                  <a:txBody>
                    <a:bodyPr/>
                    <a:lstStyle/>
                    <a:p>
                      <a:pPr indent="0" marL="0">
                        <a:lnSpc>
                          <a:spcPts val="1680"/>
                        </a:lnSpc>
                        <a:buNone/>
                      </a:pPr>
                      <a:r>
                        <a:rPr lang="en-US" sz="1200" dirty="0">
                          <a:solidFill>
                            <a:srgbClr val="A9481A"/>
                          </a:solidFill>
                          <a:latin typeface="IBM Plex Sans" pitchFamily="34" charset="0"/>
                          <a:ea typeface="IBM Plex Sans" pitchFamily="34" charset="-122"/>
                          <a:cs typeface="IBM Plex Sans" pitchFamily="34" charset="-120"/>
                        </a:rPr>
                        <a:t>Not covered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B5AA"/>
                      </a:solidFill>
                      <a:prstDash val="solid"/>
                      <a:round/>
                      <a:headEnd type="none" w="med" len="med"/>
                      <a:tailEnd type="none" w="med" len="med"/>
                    </a:lnL>
                    <a:lnR w="12700" cap="flat" cmpd="sng" algn="ctr">
                      <a:solidFill>
                        <a:srgbClr val="C5B5AA"/>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5B5AA"/>
                      </a:solidFill>
                      <a:prstDash val="solid"/>
                      <a:round/>
                      <a:headEnd type="none" w="med" len="med"/>
                      <a:tailEnd type="none" w="med" len="med"/>
                    </a:lnB>
                    <a:solidFill>
                      <a:srgbClr val="F7E3D5"/>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B5AA"/>
                      </a:solidFill>
                      <a:prstDash val="solid"/>
                      <a:round/>
                      <a:headEnd type="none" w="med" len="med"/>
                      <a:tailEnd type="none" w="med" len="med"/>
                    </a:lnL>
                    <a:lnR w="12700" cap="flat" cmpd="sng" algn="ctr">
                      <a:solidFill>
                        <a:srgbClr val="C5B5AA"/>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5B5AA"/>
                      </a:solidFill>
                      <a:prstDash val="solid"/>
                      <a:round/>
                      <a:headEnd type="none" w="med" len="med"/>
                      <a:tailEnd type="none" w="med" len="med"/>
                    </a:lnB>
                    <a:solidFill>
                      <a:srgbClr val="F7E3D5"/>
                    </a:solidFill>
                  </a:tcPr>
                </a:tc>
              </a:tr>
            </a:tbl>
          </a:graphicData>
        </a:graphic>
      </p:graphicFrame>
      <p:sp>
        <p:nvSpPr>
          <p:cNvPr id="7" name="Shape 4"/>
          <p:cNvSpPr/>
          <p:nvPr/>
        </p:nvSpPr>
        <p:spPr>
          <a:xfrm>
            <a:off x="815975" y="4412630"/>
            <a:ext cx="3414157" cy="1220470"/>
          </a:xfrm>
          <a:prstGeom prst="roundRect">
            <a:avLst>
              <a:gd name="adj" fmla="val 5983"/>
            </a:avLst>
          </a:prstGeom>
          <a:solidFill>
            <a:srgbClr val="FCFBF7"/>
          </a:solidFill>
          <a:ln w="6350">
            <a:solidFill>
              <a:srgbClr val="DDD8CC"/>
            </a:solidFill>
            <a:prstDash val="solid"/>
          </a:ln>
        </p:spPr>
      </p:sp>
      <p:sp>
        <p:nvSpPr>
          <p:cNvPr id="8" name="Text 5"/>
          <p:cNvSpPr/>
          <p:nvPr/>
        </p:nvSpPr>
        <p:spPr>
          <a:xfrm>
            <a:off x="995680" y="4566915"/>
            <a:ext cx="3146389"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45A9C"/>
                </a:solidFill>
                <a:latin typeface="Space Grotesk" pitchFamily="34" charset="0"/>
                <a:ea typeface="Space Grotesk" pitchFamily="34" charset="-122"/>
                <a:cs typeface="Space Grotesk" pitchFamily="34" charset="-120"/>
              </a:rPr>
              <a:t>83%</a:t>
            </a:r>
            <a:endParaRPr lang="en-US" sz="3200" dirty="0"/>
          </a:p>
        </p:txBody>
      </p:sp>
      <p:sp>
        <p:nvSpPr>
          <p:cNvPr id="9" name="Text 6"/>
          <p:cNvSpPr/>
          <p:nvPr/>
        </p:nvSpPr>
        <p:spPr>
          <a:xfrm>
            <a:off x="995680" y="5052070"/>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requirement coverage: 5 of 6 requirements have tests</a:t>
            </a:r>
            <a:endParaRPr lang="en-US" sz="1200" dirty="0"/>
          </a:p>
        </p:txBody>
      </p:sp>
      <p:sp>
        <p:nvSpPr>
          <p:cNvPr id="10" name="Shape 7"/>
          <p:cNvSpPr/>
          <p:nvPr/>
        </p:nvSpPr>
        <p:spPr>
          <a:xfrm>
            <a:off x="4388882" y="4412630"/>
            <a:ext cx="3414157" cy="1220470"/>
          </a:xfrm>
          <a:prstGeom prst="roundRect">
            <a:avLst>
              <a:gd name="adj" fmla="val 5983"/>
            </a:avLst>
          </a:prstGeom>
          <a:solidFill>
            <a:srgbClr val="FCFBF7"/>
          </a:solidFill>
          <a:ln w="6350">
            <a:solidFill>
              <a:srgbClr val="DDD8CC"/>
            </a:solidFill>
            <a:prstDash val="solid"/>
          </a:ln>
        </p:spPr>
      </p:sp>
      <p:sp>
        <p:nvSpPr>
          <p:cNvPr id="11" name="Text 8"/>
          <p:cNvSpPr/>
          <p:nvPr/>
        </p:nvSpPr>
        <p:spPr>
          <a:xfrm>
            <a:off x="4568587" y="4566915"/>
            <a:ext cx="3146389"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pace Grotesk" pitchFamily="34" charset="0"/>
                <a:ea typeface="Space Grotesk" pitchFamily="34" charset="-122"/>
                <a:cs typeface="Space Grotesk" pitchFamily="34" charset="-120"/>
              </a:rPr>
              <a:t>3 of 6</a:t>
            </a:r>
            <a:endParaRPr lang="en-US" sz="3200" dirty="0"/>
          </a:p>
        </p:txBody>
      </p:sp>
      <p:sp>
        <p:nvSpPr>
          <p:cNvPr id="12" name="Text 9"/>
          <p:cNvSpPr/>
          <p:nvPr/>
        </p:nvSpPr>
        <p:spPr>
          <a:xfrm>
            <a:off x="4568587" y="5052070"/>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requirements fully passing; REQ-03 fails, REQ-04 not run</a:t>
            </a:r>
            <a:endParaRPr lang="en-US" sz="1200" dirty="0"/>
          </a:p>
        </p:txBody>
      </p:sp>
      <p:sp>
        <p:nvSpPr>
          <p:cNvPr id="13" name="Shape 10"/>
          <p:cNvSpPr/>
          <p:nvPr/>
        </p:nvSpPr>
        <p:spPr>
          <a:xfrm>
            <a:off x="7961789" y="4412630"/>
            <a:ext cx="3414157" cy="1220470"/>
          </a:xfrm>
          <a:prstGeom prst="roundRect">
            <a:avLst>
              <a:gd name="adj" fmla="val 5983"/>
            </a:avLst>
          </a:prstGeom>
          <a:solidFill>
            <a:srgbClr val="F7E3D5"/>
          </a:solidFill>
          <a:ln w="6350">
            <a:solidFill>
              <a:srgbClr val="E9C3A8"/>
            </a:solidFill>
            <a:prstDash val="solid"/>
          </a:ln>
        </p:spPr>
      </p:sp>
      <p:sp>
        <p:nvSpPr>
          <p:cNvPr id="14" name="Text 11"/>
          <p:cNvSpPr/>
          <p:nvPr/>
        </p:nvSpPr>
        <p:spPr>
          <a:xfrm>
            <a:off x="8141494" y="4566915"/>
            <a:ext cx="3146389"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A9481A"/>
                </a:solidFill>
                <a:latin typeface="Space Grotesk" pitchFamily="34" charset="0"/>
                <a:ea typeface="Space Grotesk" pitchFamily="34" charset="-122"/>
                <a:cs typeface="Space Grotesk" pitchFamily="34" charset="-120"/>
              </a:rPr>
              <a:t>1 gap</a:t>
            </a:r>
            <a:endParaRPr lang="en-US" sz="3200" dirty="0"/>
          </a:p>
        </p:txBody>
      </p:sp>
      <p:sp>
        <p:nvSpPr>
          <p:cNvPr id="15" name="Text 12"/>
          <p:cNvSpPr/>
          <p:nvPr/>
        </p:nvSpPr>
        <p:spPr>
          <a:xfrm>
            <a:off x="8141494" y="5052070"/>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REQ-06 has no test: add a performance test before release</a:t>
            </a:r>
            <a:endParaRPr lang="en-US" sz="1200" dirty="0"/>
          </a:p>
        </p:txBody>
      </p:sp>
      <p:sp>
        <p:nvSpPr>
          <p:cNvPr id="16" name="Text 13"/>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7" name="Text 14"/>
          <p:cNvSpPr/>
          <p:nvPr/>
        </p:nvSpPr>
        <p:spPr>
          <a:xfrm>
            <a:off x="6933168" y="6238255"/>
            <a:ext cx="45794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Illustrative RTM; DEF-12 is the coupon-cap defect from Module 1</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L13 · TRACEABILITY MATRIX</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Building and maintaining an RTM</a:t>
            </a:r>
            <a:endParaRPr lang="en-US" sz="3200" dirty="0"/>
          </a:p>
        </p:txBody>
      </p:sp>
      <p:sp>
        <p:nvSpPr>
          <p:cNvPr id="4" name="Shape 2"/>
          <p:cNvSpPr/>
          <p:nvPr/>
        </p:nvSpPr>
        <p:spPr>
          <a:xfrm>
            <a:off x="815975" y="1831975"/>
            <a:ext cx="3414157" cy="1322070"/>
          </a:xfrm>
          <a:prstGeom prst="roundRect">
            <a:avLst>
              <a:gd name="adj" fmla="val 5524"/>
            </a:avLst>
          </a:prstGeom>
          <a:solidFill>
            <a:srgbClr val="FCFBF7"/>
          </a:solidFill>
          <a:ln w="6350">
            <a:solidFill>
              <a:srgbClr val="DDD8CC"/>
            </a:solidFill>
            <a:prstDash val="solid"/>
          </a:ln>
        </p:spPr>
      </p:sp>
      <p:sp>
        <p:nvSpPr>
          <p:cNvPr id="5" name="Text 3"/>
          <p:cNvSpPr/>
          <p:nvPr/>
        </p:nvSpPr>
        <p:spPr>
          <a:xfrm>
            <a:off x="995680" y="1986285"/>
            <a:ext cx="3146389"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1</a:t>
            </a:r>
            <a:endParaRPr lang="en-US" sz="2000" dirty="0"/>
          </a:p>
        </p:txBody>
      </p:sp>
      <p:sp>
        <p:nvSpPr>
          <p:cNvPr id="6" name="Text 4"/>
          <p:cNvSpPr/>
          <p:nvPr/>
        </p:nvSpPr>
        <p:spPr>
          <a:xfrm>
            <a:off x="995680" y="2303785"/>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Collect requirements</a:t>
            </a:r>
            <a:endParaRPr lang="en-US" sz="1400" dirty="0"/>
          </a:p>
        </p:txBody>
      </p:sp>
      <p:sp>
        <p:nvSpPr>
          <p:cNvPr id="7" name="Text 5"/>
          <p:cNvSpPr/>
          <p:nvPr/>
        </p:nvSpPr>
        <p:spPr>
          <a:xfrm>
            <a:off x="995680" y="257301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Give each one a unique ID from the test basis</a:t>
            </a:r>
            <a:endParaRPr lang="en-US" sz="1200" dirty="0"/>
          </a:p>
        </p:txBody>
      </p:sp>
      <p:sp>
        <p:nvSpPr>
          <p:cNvPr id="8" name="Shape 6"/>
          <p:cNvSpPr/>
          <p:nvPr/>
        </p:nvSpPr>
        <p:spPr>
          <a:xfrm>
            <a:off x="4388882" y="1831975"/>
            <a:ext cx="3414157" cy="1322070"/>
          </a:xfrm>
          <a:prstGeom prst="roundRect">
            <a:avLst>
              <a:gd name="adj" fmla="val 5524"/>
            </a:avLst>
          </a:prstGeom>
          <a:solidFill>
            <a:srgbClr val="FCFBF7"/>
          </a:solidFill>
          <a:ln w="6350">
            <a:solidFill>
              <a:srgbClr val="DDD8CC"/>
            </a:solidFill>
            <a:prstDash val="solid"/>
          </a:ln>
        </p:spPr>
      </p:sp>
      <p:sp>
        <p:nvSpPr>
          <p:cNvPr id="9" name="Text 7"/>
          <p:cNvSpPr/>
          <p:nvPr/>
        </p:nvSpPr>
        <p:spPr>
          <a:xfrm>
            <a:off x="4568587" y="1986285"/>
            <a:ext cx="3146389"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2</a:t>
            </a:r>
            <a:endParaRPr lang="en-US" sz="2000" dirty="0"/>
          </a:p>
        </p:txBody>
      </p:sp>
      <p:sp>
        <p:nvSpPr>
          <p:cNvPr id="10" name="Text 8"/>
          <p:cNvSpPr/>
          <p:nvPr/>
        </p:nvSpPr>
        <p:spPr>
          <a:xfrm>
            <a:off x="4568587" y="2303785"/>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Derive scenarios</a:t>
            </a:r>
            <a:endParaRPr lang="en-US" sz="1400" dirty="0"/>
          </a:p>
        </p:txBody>
      </p:sp>
      <p:sp>
        <p:nvSpPr>
          <p:cNvPr id="11" name="Text 9"/>
          <p:cNvSpPr/>
          <p:nvPr/>
        </p:nvSpPr>
        <p:spPr>
          <a:xfrm>
            <a:off x="4568587" y="2573015"/>
            <a:ext cx="31463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At least one scenario for every requirement</a:t>
            </a:r>
            <a:endParaRPr lang="en-US" sz="1200" dirty="0"/>
          </a:p>
        </p:txBody>
      </p:sp>
      <p:sp>
        <p:nvSpPr>
          <p:cNvPr id="12" name="Shape 10"/>
          <p:cNvSpPr/>
          <p:nvPr/>
        </p:nvSpPr>
        <p:spPr>
          <a:xfrm>
            <a:off x="7961789" y="1831975"/>
            <a:ext cx="3414157" cy="1322070"/>
          </a:xfrm>
          <a:prstGeom prst="roundRect">
            <a:avLst>
              <a:gd name="adj" fmla="val 5524"/>
            </a:avLst>
          </a:prstGeom>
          <a:solidFill>
            <a:srgbClr val="FCFBF7"/>
          </a:solidFill>
          <a:ln w="6350">
            <a:solidFill>
              <a:srgbClr val="DDD8CC"/>
            </a:solidFill>
            <a:prstDash val="solid"/>
          </a:ln>
        </p:spPr>
      </p:sp>
      <p:sp>
        <p:nvSpPr>
          <p:cNvPr id="13" name="Text 11"/>
          <p:cNvSpPr/>
          <p:nvPr/>
        </p:nvSpPr>
        <p:spPr>
          <a:xfrm>
            <a:off x="8141494" y="1986285"/>
            <a:ext cx="3146389"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3</a:t>
            </a:r>
            <a:endParaRPr lang="en-US" sz="2000" dirty="0"/>
          </a:p>
        </p:txBody>
      </p:sp>
      <p:sp>
        <p:nvSpPr>
          <p:cNvPr id="14" name="Text 12"/>
          <p:cNvSpPr/>
          <p:nvPr/>
        </p:nvSpPr>
        <p:spPr>
          <a:xfrm>
            <a:off x="8141494" y="2303785"/>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Write test cases</a:t>
            </a:r>
            <a:endParaRPr lang="en-US" sz="1400" dirty="0"/>
          </a:p>
        </p:txBody>
      </p:sp>
      <p:sp>
        <p:nvSpPr>
          <p:cNvPr id="15" name="Text 13"/>
          <p:cNvSpPr/>
          <p:nvPr/>
        </p:nvSpPr>
        <p:spPr>
          <a:xfrm>
            <a:off x="8141494" y="2573015"/>
            <a:ext cx="31463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Tag each one with its requirement ID</a:t>
            </a:r>
            <a:endParaRPr lang="en-US" sz="1200" dirty="0"/>
          </a:p>
        </p:txBody>
      </p:sp>
      <p:sp>
        <p:nvSpPr>
          <p:cNvPr id="16" name="Shape 14"/>
          <p:cNvSpPr/>
          <p:nvPr/>
        </p:nvSpPr>
        <p:spPr>
          <a:xfrm>
            <a:off x="815975" y="3312790"/>
            <a:ext cx="3414157" cy="1322070"/>
          </a:xfrm>
          <a:prstGeom prst="roundRect">
            <a:avLst>
              <a:gd name="adj" fmla="val 5524"/>
            </a:avLst>
          </a:prstGeom>
          <a:solidFill>
            <a:srgbClr val="FCFBF7"/>
          </a:solidFill>
          <a:ln w="6350">
            <a:solidFill>
              <a:srgbClr val="DDD8CC"/>
            </a:solidFill>
            <a:prstDash val="solid"/>
          </a:ln>
        </p:spPr>
      </p:sp>
      <p:sp>
        <p:nvSpPr>
          <p:cNvPr id="17" name="Text 15"/>
          <p:cNvSpPr/>
          <p:nvPr/>
        </p:nvSpPr>
        <p:spPr>
          <a:xfrm>
            <a:off x="995680" y="3467100"/>
            <a:ext cx="3146389"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4</a:t>
            </a:r>
            <a:endParaRPr lang="en-US" sz="2000" dirty="0"/>
          </a:p>
        </p:txBody>
      </p:sp>
      <p:sp>
        <p:nvSpPr>
          <p:cNvPr id="18" name="Text 16"/>
          <p:cNvSpPr/>
          <p:nvPr/>
        </p:nvSpPr>
        <p:spPr>
          <a:xfrm>
            <a:off x="995680" y="3784600"/>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Map them</a:t>
            </a:r>
            <a:endParaRPr lang="en-US" sz="1400" dirty="0"/>
          </a:p>
        </p:txBody>
      </p:sp>
      <p:sp>
        <p:nvSpPr>
          <p:cNvPr id="19" name="Text 17"/>
          <p:cNvSpPr/>
          <p:nvPr/>
        </p:nvSpPr>
        <p:spPr>
          <a:xfrm>
            <a:off x="995680" y="405385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Requirement to scenario to cases, in both directions</a:t>
            </a:r>
            <a:endParaRPr lang="en-US" sz="1200" dirty="0"/>
          </a:p>
        </p:txBody>
      </p:sp>
      <p:sp>
        <p:nvSpPr>
          <p:cNvPr id="20" name="Shape 18"/>
          <p:cNvSpPr/>
          <p:nvPr/>
        </p:nvSpPr>
        <p:spPr>
          <a:xfrm>
            <a:off x="4388882" y="3312790"/>
            <a:ext cx="3414157" cy="1322070"/>
          </a:xfrm>
          <a:prstGeom prst="roundRect">
            <a:avLst>
              <a:gd name="adj" fmla="val 5524"/>
            </a:avLst>
          </a:prstGeom>
          <a:solidFill>
            <a:srgbClr val="FCFBF7"/>
          </a:solidFill>
          <a:ln w="6350">
            <a:solidFill>
              <a:srgbClr val="DDD8CC"/>
            </a:solidFill>
            <a:prstDash val="solid"/>
          </a:ln>
        </p:spPr>
      </p:sp>
      <p:sp>
        <p:nvSpPr>
          <p:cNvPr id="21" name="Text 19"/>
          <p:cNvSpPr/>
          <p:nvPr/>
        </p:nvSpPr>
        <p:spPr>
          <a:xfrm>
            <a:off x="4568587" y="3467100"/>
            <a:ext cx="3146389"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5</a:t>
            </a:r>
            <a:endParaRPr lang="en-US" sz="2000" dirty="0"/>
          </a:p>
        </p:txBody>
      </p:sp>
      <p:sp>
        <p:nvSpPr>
          <p:cNvPr id="22" name="Text 20"/>
          <p:cNvSpPr/>
          <p:nvPr/>
        </p:nvSpPr>
        <p:spPr>
          <a:xfrm>
            <a:off x="4568587" y="3784600"/>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Execute and record</a:t>
            </a:r>
            <a:endParaRPr lang="en-US" sz="1400" dirty="0"/>
          </a:p>
        </p:txBody>
      </p:sp>
      <p:sp>
        <p:nvSpPr>
          <p:cNvPr id="23" name="Text 21"/>
          <p:cNvSpPr/>
          <p:nvPr/>
        </p:nvSpPr>
        <p:spPr>
          <a:xfrm>
            <a:off x="4568587" y="4053855"/>
            <a:ext cx="31463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Status and defect IDs after every run</a:t>
            </a:r>
            <a:endParaRPr lang="en-US" sz="1200" dirty="0"/>
          </a:p>
        </p:txBody>
      </p:sp>
      <p:sp>
        <p:nvSpPr>
          <p:cNvPr id="24" name="Shape 22"/>
          <p:cNvSpPr/>
          <p:nvPr/>
        </p:nvSpPr>
        <p:spPr>
          <a:xfrm>
            <a:off x="7961789" y="3312790"/>
            <a:ext cx="3414157" cy="1322070"/>
          </a:xfrm>
          <a:prstGeom prst="roundRect">
            <a:avLst>
              <a:gd name="adj" fmla="val 5524"/>
            </a:avLst>
          </a:prstGeom>
          <a:solidFill>
            <a:srgbClr val="FCFBF7"/>
          </a:solidFill>
          <a:ln w="6350">
            <a:solidFill>
              <a:srgbClr val="DDD8CC"/>
            </a:solidFill>
            <a:prstDash val="solid"/>
          </a:ln>
        </p:spPr>
      </p:sp>
      <p:sp>
        <p:nvSpPr>
          <p:cNvPr id="25" name="Text 23"/>
          <p:cNvSpPr/>
          <p:nvPr/>
        </p:nvSpPr>
        <p:spPr>
          <a:xfrm>
            <a:off x="8141494" y="3467100"/>
            <a:ext cx="3146389"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6</a:t>
            </a:r>
            <a:endParaRPr lang="en-US" sz="2000" dirty="0"/>
          </a:p>
        </p:txBody>
      </p:sp>
      <p:sp>
        <p:nvSpPr>
          <p:cNvPr id="26" name="Text 24"/>
          <p:cNvSpPr/>
          <p:nvPr/>
        </p:nvSpPr>
        <p:spPr>
          <a:xfrm>
            <a:off x="8141494" y="3784600"/>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Analyse and maintain</a:t>
            </a:r>
            <a:endParaRPr lang="en-US" sz="1400" dirty="0"/>
          </a:p>
        </p:txBody>
      </p:sp>
      <p:sp>
        <p:nvSpPr>
          <p:cNvPr id="27" name="Text 25"/>
          <p:cNvSpPr/>
          <p:nvPr/>
        </p:nvSpPr>
        <p:spPr>
          <a:xfrm>
            <a:off x="8141494" y="405385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Find gaps and orphans; update when requirements change</a:t>
            </a:r>
            <a:endParaRPr lang="en-US" sz="1200" dirty="0"/>
          </a:p>
        </p:txBody>
      </p:sp>
      <p:sp>
        <p:nvSpPr>
          <p:cNvPr id="28" name="Shape 26"/>
          <p:cNvSpPr/>
          <p:nvPr/>
        </p:nvSpPr>
        <p:spPr>
          <a:xfrm>
            <a:off x="812800" y="4892055"/>
            <a:ext cx="10566400" cy="553720"/>
          </a:xfrm>
          <a:prstGeom prst="roundRect">
            <a:avLst>
              <a:gd name="adj" fmla="val 13761"/>
            </a:avLst>
          </a:prstGeom>
          <a:solidFill>
            <a:srgbClr val="13233A"/>
          </a:solidFill>
          <a:ln/>
        </p:spPr>
      </p:sp>
      <p:sp>
        <p:nvSpPr>
          <p:cNvPr id="29" name="Text 27"/>
          <p:cNvSpPr/>
          <p:nvPr/>
        </p:nvSpPr>
        <p:spPr>
          <a:xfrm>
            <a:off x="1016000" y="5062215"/>
            <a:ext cx="883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COVERAGE</a:t>
            </a:r>
            <a:endParaRPr lang="en-US" sz="1200" dirty="0"/>
          </a:p>
        </p:txBody>
      </p:sp>
      <p:sp>
        <p:nvSpPr>
          <p:cNvPr id="30" name="Text 28"/>
          <p:cNvSpPr/>
          <p:nvPr/>
        </p:nvSpPr>
        <p:spPr>
          <a:xfrm>
            <a:off x="2001520" y="5044455"/>
            <a:ext cx="944971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Requirements with at least one test ÷ all requirements × 100. Canteen App: 5 ÷ 6 ≈ 83%.</a:t>
            </a:r>
            <a:endParaRPr lang="en-US" sz="1400" dirty="0"/>
          </a:p>
        </p:txBody>
      </p:sp>
      <p:sp>
        <p:nvSpPr>
          <p:cNvPr id="31" name="Text 29"/>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L13 · TRACEABILITY MATRIX</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Traceability in a DevOps toolchain</a:t>
            </a:r>
            <a:endParaRPr lang="en-US" sz="3200" dirty="0"/>
          </a:p>
        </p:txBody>
      </p:sp>
      <p:sp>
        <p:nvSpPr>
          <p:cNvPr id="4" name="Shape 2"/>
          <p:cNvSpPr/>
          <p:nvPr/>
        </p:nvSpPr>
        <p:spPr>
          <a:xfrm>
            <a:off x="812800" y="1828800"/>
            <a:ext cx="4826000" cy="690880"/>
          </a:xfrm>
          <a:prstGeom prst="roundRect">
            <a:avLst>
              <a:gd name="adj" fmla="val 11029"/>
            </a:avLst>
          </a:prstGeom>
          <a:solidFill>
            <a:srgbClr val="13233A"/>
          </a:solidFill>
          <a:ln/>
        </p:spPr>
      </p:sp>
      <p:sp>
        <p:nvSpPr>
          <p:cNvPr id="5" name="Text 3"/>
          <p:cNvSpPr/>
          <p:nvPr/>
        </p:nvSpPr>
        <p:spPr>
          <a:xfrm>
            <a:off x="965200" y="1930400"/>
            <a:ext cx="465683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User story CAN-42</a:t>
            </a:r>
            <a:endParaRPr lang="en-US" sz="1400" dirty="0"/>
          </a:p>
        </p:txBody>
      </p:sp>
      <p:sp>
        <p:nvSpPr>
          <p:cNvPr id="6" name="Text 4"/>
          <p:cNvSpPr/>
          <p:nvPr/>
        </p:nvSpPr>
        <p:spPr>
          <a:xfrm>
            <a:off x="965200" y="2204715"/>
            <a:ext cx="46568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the requirement and its acceptance criteria</a:t>
            </a:r>
            <a:endParaRPr lang="en-US" sz="1200" dirty="0"/>
          </a:p>
        </p:txBody>
      </p:sp>
      <p:pic>
        <p:nvPicPr>
          <p:cNvPr id="7" name="Image 0" descr="connector">    </p:cNvPr>
          <p:cNvPicPr>
            <a:picLocks noChangeAspect="1"/>
          </p:cNvPicPr>
          <p:nvPr/>
        </p:nvPicPr>
        <p:blipFill>
          <a:blip r:embed="rId1"/>
          <a:srcRect l="0" r="0" t="0" b="0"/>
          <a:stretch/>
        </p:blipFill>
        <p:spPr>
          <a:xfrm>
            <a:off x="1066800" y="2570485"/>
            <a:ext cx="101600" cy="177800"/>
          </a:xfrm>
          <a:prstGeom prst="rect">
            <a:avLst/>
          </a:prstGeom>
        </p:spPr>
      </p:pic>
      <p:sp>
        <p:nvSpPr>
          <p:cNvPr id="8" name="Shape 5"/>
          <p:cNvSpPr/>
          <p:nvPr/>
        </p:nvSpPr>
        <p:spPr>
          <a:xfrm>
            <a:off x="815975" y="2802260"/>
            <a:ext cx="4819650" cy="694690"/>
          </a:xfrm>
          <a:prstGeom prst="roundRect">
            <a:avLst>
              <a:gd name="adj" fmla="val 10512"/>
            </a:avLst>
          </a:prstGeom>
          <a:solidFill>
            <a:srgbClr val="FCFBF7"/>
          </a:solidFill>
          <a:ln w="6350">
            <a:solidFill>
              <a:srgbClr val="C9C2B2"/>
            </a:solidFill>
            <a:prstDash val="solid"/>
          </a:ln>
        </p:spPr>
      </p:sp>
      <p:sp>
        <p:nvSpPr>
          <p:cNvPr id="9" name="Text 6"/>
          <p:cNvSpPr/>
          <p:nvPr/>
        </p:nvSpPr>
        <p:spPr>
          <a:xfrm>
            <a:off x="970280" y="2905770"/>
            <a:ext cx="464637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Commit and pull request</a:t>
            </a:r>
            <a:endParaRPr lang="en-US" sz="1400" dirty="0"/>
          </a:p>
        </p:txBody>
      </p:sp>
      <p:sp>
        <p:nvSpPr>
          <p:cNvPr id="10" name="Text 7"/>
          <p:cNvSpPr/>
          <p:nvPr/>
        </p:nvSpPr>
        <p:spPr>
          <a:xfrm>
            <a:off x="970280" y="3180085"/>
            <a:ext cx="46463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message names CAN-42</a:t>
            </a:r>
            <a:endParaRPr lang="en-US" sz="1200" dirty="0"/>
          </a:p>
        </p:txBody>
      </p:sp>
      <p:pic>
        <p:nvPicPr>
          <p:cNvPr id="11" name="Image 1" descr="connector">    </p:cNvPr>
          <p:cNvPicPr>
            <a:picLocks noChangeAspect="1"/>
          </p:cNvPicPr>
          <p:nvPr/>
        </p:nvPicPr>
        <p:blipFill>
          <a:blip r:embed="rId2"/>
          <a:srcRect l="0" r="0" t="0" b="0"/>
          <a:stretch/>
        </p:blipFill>
        <p:spPr>
          <a:xfrm>
            <a:off x="1066800" y="3550915"/>
            <a:ext cx="101600" cy="177800"/>
          </a:xfrm>
          <a:prstGeom prst="rect">
            <a:avLst/>
          </a:prstGeom>
        </p:spPr>
      </p:pic>
      <p:sp>
        <p:nvSpPr>
          <p:cNvPr id="12" name="Shape 8"/>
          <p:cNvSpPr/>
          <p:nvPr/>
        </p:nvSpPr>
        <p:spPr>
          <a:xfrm>
            <a:off x="815975" y="3782690"/>
            <a:ext cx="4819650" cy="694690"/>
          </a:xfrm>
          <a:prstGeom prst="roundRect">
            <a:avLst>
              <a:gd name="adj" fmla="val 10512"/>
            </a:avLst>
          </a:prstGeom>
          <a:solidFill>
            <a:srgbClr val="FCFBF7"/>
          </a:solidFill>
          <a:ln w="6350">
            <a:solidFill>
              <a:srgbClr val="C9C2B2"/>
            </a:solidFill>
            <a:prstDash val="solid"/>
          </a:ln>
        </p:spPr>
      </p:sp>
      <p:sp>
        <p:nvSpPr>
          <p:cNvPr id="13" name="Text 9"/>
          <p:cNvSpPr/>
          <p:nvPr/>
        </p:nvSpPr>
        <p:spPr>
          <a:xfrm>
            <a:off x="970280" y="3886200"/>
            <a:ext cx="464637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Automated tests</a:t>
            </a:r>
            <a:endParaRPr lang="en-US" sz="1400" dirty="0"/>
          </a:p>
        </p:txBody>
      </p:sp>
      <p:sp>
        <p:nvSpPr>
          <p:cNvPr id="14" name="Text 10"/>
          <p:cNvSpPr/>
          <p:nvPr/>
        </p:nvSpPr>
        <p:spPr>
          <a:xfrm>
            <a:off x="970280" y="4160515"/>
            <a:ext cx="46463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tagged with the requirement ID</a:t>
            </a:r>
            <a:endParaRPr lang="en-US" sz="1200" dirty="0"/>
          </a:p>
        </p:txBody>
      </p:sp>
      <p:pic>
        <p:nvPicPr>
          <p:cNvPr id="15" name="Image 2" descr="connector">    </p:cNvPr>
          <p:cNvPicPr>
            <a:picLocks noChangeAspect="1"/>
          </p:cNvPicPr>
          <p:nvPr/>
        </p:nvPicPr>
        <p:blipFill>
          <a:blip r:embed="rId3"/>
          <a:srcRect l="0" r="0" t="0" b="0"/>
          <a:stretch/>
        </p:blipFill>
        <p:spPr>
          <a:xfrm>
            <a:off x="1066800" y="4531370"/>
            <a:ext cx="101600" cy="177800"/>
          </a:xfrm>
          <a:prstGeom prst="rect">
            <a:avLst/>
          </a:prstGeom>
        </p:spPr>
      </p:pic>
      <p:sp>
        <p:nvSpPr>
          <p:cNvPr id="16" name="Shape 11"/>
          <p:cNvSpPr/>
          <p:nvPr/>
        </p:nvSpPr>
        <p:spPr>
          <a:xfrm>
            <a:off x="815975" y="4763145"/>
            <a:ext cx="4819650" cy="694690"/>
          </a:xfrm>
          <a:prstGeom prst="roundRect">
            <a:avLst>
              <a:gd name="adj" fmla="val 10512"/>
            </a:avLst>
          </a:prstGeom>
          <a:solidFill>
            <a:srgbClr val="FCFBF7"/>
          </a:solidFill>
          <a:ln w="6350">
            <a:solidFill>
              <a:srgbClr val="C9C2B2"/>
            </a:solidFill>
            <a:prstDash val="solid"/>
          </a:ln>
        </p:spPr>
      </p:sp>
      <p:sp>
        <p:nvSpPr>
          <p:cNvPr id="17" name="Text 12"/>
          <p:cNvSpPr/>
          <p:nvPr/>
        </p:nvSpPr>
        <p:spPr>
          <a:xfrm>
            <a:off x="970280" y="4866655"/>
            <a:ext cx="464637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CI run and report</a:t>
            </a:r>
            <a:endParaRPr lang="en-US" sz="1400" dirty="0"/>
          </a:p>
        </p:txBody>
      </p:sp>
      <p:sp>
        <p:nvSpPr>
          <p:cNvPr id="18" name="Text 13"/>
          <p:cNvSpPr/>
          <p:nvPr/>
        </p:nvSpPr>
        <p:spPr>
          <a:xfrm>
            <a:off x="970280" y="5140970"/>
            <a:ext cx="46463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JUnit results linked back to the story</a:t>
            </a:r>
            <a:endParaRPr lang="en-US" sz="1200" dirty="0"/>
          </a:p>
        </p:txBody>
      </p:sp>
      <p:sp>
        <p:nvSpPr>
          <p:cNvPr id="19" name="Shape 14"/>
          <p:cNvSpPr/>
          <p:nvPr/>
        </p:nvSpPr>
        <p:spPr>
          <a:xfrm>
            <a:off x="5943600" y="1828800"/>
            <a:ext cx="5435600" cy="2275840"/>
          </a:xfrm>
          <a:prstGeom prst="roundRect">
            <a:avLst>
              <a:gd name="adj" fmla="val 3348"/>
            </a:avLst>
          </a:prstGeom>
          <a:solidFill>
            <a:srgbClr val="13233A"/>
          </a:solidFill>
          <a:ln/>
        </p:spPr>
      </p:sp>
      <p:sp>
        <p:nvSpPr>
          <p:cNvPr id="20" name="Text 15"/>
          <p:cNvSpPr/>
          <p:nvPr/>
        </p:nvSpPr>
        <p:spPr>
          <a:xfrm>
            <a:off x="6121400" y="2006600"/>
            <a:ext cx="5232400" cy="19456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 pytest.ini</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[pytest]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markers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req(id): links a test to a requirement</a:t>
            </a:r>
            <a:endParaRPr lang="en-US" sz="1200" dirty="0"/>
          </a:p>
          <a:p>
            <a:pPr algn="l" indent="0" marL="0">
              <a:lnSpc>
                <a:spcPts val="1680"/>
              </a:lnSpc>
              <a:buNone/>
            </a:pPr>
            <a:endParaRPr lang="en-US" sz="1200" dirty="0"/>
          </a:p>
          <a:p>
            <a:pPr algn="l" indent="0" marL="0">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 tests/test_pricing.py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@pytest.mark.req(</a:t>
            </a:r>
            <a:r>
              <a:rPr lang="en-US" sz="1200" dirty="0">
                <a:solidFill>
                  <a:srgbClr val="9CC7F0"/>
                </a:solidFill>
                <a:latin typeface="JetBrains Mono" pitchFamily="34" charset="0"/>
                <a:ea typeface="JetBrains Mono" pitchFamily="34" charset="-122"/>
                <a:cs typeface="JetBrains Mono" pitchFamily="34" charset="-120"/>
              </a:rPr>
              <a:t>"REQ-03"</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test_discount_is_capped_at_100():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apply_coupon(800, </a:t>
            </a:r>
            <a:r>
              <a:rPr lang="en-US" sz="1200" dirty="0">
                <a:solidFill>
                  <a:srgbClr val="9CC7F0"/>
                </a:solidFill>
                <a:latin typeface="JetBrains Mono" pitchFamily="34" charset="0"/>
                <a:ea typeface="JetBrains Mono" pitchFamily="34" charset="-122"/>
                <a:cs typeface="JetBrains Mono" pitchFamily="34" charset="-120"/>
              </a:rPr>
              <a:t>"SAVE20"</a:t>
            </a:r>
            <a:r>
              <a:rPr lang="en-US" sz="1200" dirty="0">
                <a:solidFill>
                  <a:srgbClr val="E6EAF0"/>
                </a:solidFill>
                <a:latin typeface="JetBrains Mono" pitchFamily="34" charset="0"/>
                <a:ea typeface="JetBrains Mono" pitchFamily="34" charset="-122"/>
                <a:cs typeface="JetBrains Mono" pitchFamily="34" charset="-120"/>
              </a:rPr>
              <a:t>) == 700</a:t>
            </a:r>
            <a:endParaRPr lang="en-US" sz="1200" dirty="0"/>
          </a:p>
        </p:txBody>
      </p:sp>
      <p:sp>
        <p:nvSpPr>
          <p:cNvPr id="21" name="Text 16"/>
          <p:cNvSpPr/>
          <p:nvPr/>
        </p:nvSpPr>
        <p:spPr>
          <a:xfrm>
            <a:off x="5943600" y="4206255"/>
            <a:ext cx="55986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 pytest --junitxml=report.xml</a:t>
            </a:r>
            <a:endParaRPr lang="en-US" sz="1200" dirty="0"/>
          </a:p>
        </p:txBody>
      </p:sp>
      <p:sp>
        <p:nvSpPr>
          <p:cNvPr id="22" name="Shape 17"/>
          <p:cNvSpPr/>
          <p:nvPr/>
        </p:nvSpPr>
        <p:spPr>
          <a:xfrm>
            <a:off x="5943600" y="4498975"/>
            <a:ext cx="5435600" cy="0"/>
          </a:xfrm>
          <a:prstGeom prst="line">
            <a:avLst/>
          </a:prstGeom>
          <a:noFill/>
          <a:ln w="6350">
            <a:solidFill>
              <a:srgbClr val="DDD8CC"/>
            </a:solidFill>
            <a:prstDash val="solid"/>
          </a:ln>
        </p:spPr>
      </p:sp>
      <p:sp>
        <p:nvSpPr>
          <p:cNvPr id="23" name="Text 18"/>
          <p:cNvSpPr/>
          <p:nvPr/>
        </p:nvSpPr>
        <p:spPr>
          <a:xfrm>
            <a:off x="5943600" y="4589780"/>
            <a:ext cx="559866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Test management tools such as Xray and Zephyr (for Jira), TestRail and Azure Test Plans keep the matrix current from CI results.</a:t>
            </a:r>
            <a:endParaRPr lang="en-US" sz="1200" dirty="0"/>
          </a:p>
        </p:txBody>
      </p:sp>
      <p:sp>
        <p:nvSpPr>
          <p:cNvPr id="24" name="Text 19"/>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5" name="Text 20"/>
          <p:cNvSpPr/>
          <p:nvPr/>
        </p:nvSpPr>
        <p:spPr>
          <a:xfrm>
            <a:off x="6830140" y="6238255"/>
            <a:ext cx="46855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CAN-42 is an example issue key · reports and quality gates: Lab 14</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L13 · CHECK YOUR UNDERSTANDING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Knowledge check: Lecture 13</a:t>
            </a:r>
            <a:endParaRPr lang="en-US" sz="3200" dirty="0"/>
          </a:p>
        </p:txBody>
      </p:sp>
      <p:sp>
        <p:nvSpPr>
          <p:cNvPr id="4" name="Shape 2"/>
          <p:cNvSpPr/>
          <p:nvPr/>
        </p:nvSpPr>
        <p:spPr>
          <a:xfrm>
            <a:off x="815975" y="1831975"/>
            <a:ext cx="5175250" cy="1588770"/>
          </a:xfrm>
          <a:prstGeom prst="roundRect">
            <a:avLst>
              <a:gd name="adj" fmla="val 4596"/>
            </a:avLst>
          </a:prstGeom>
          <a:solidFill>
            <a:srgbClr val="FCFBF7"/>
          </a:solidFill>
          <a:ln w="6350">
            <a:solidFill>
              <a:srgbClr val="DDD8CC"/>
            </a:solidFill>
            <a:prstDash val="solid"/>
          </a:ln>
        </p:spPr>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Which test basis would you use for (a) unit tests of apply_coupon() and (b) acceptance tests of the ordering flow?</a:t>
            </a:r>
            <a:endParaRPr lang="en-US" sz="1400" dirty="0"/>
          </a:p>
        </p:txBody>
      </p:sp>
      <p:sp>
        <p:nvSpPr>
          <p:cNvPr id="7" name="Shape 5"/>
          <p:cNvSpPr/>
          <p:nvPr/>
        </p:nvSpPr>
        <p:spPr>
          <a:xfrm>
            <a:off x="6200775" y="1831975"/>
            <a:ext cx="5175250" cy="1588770"/>
          </a:xfrm>
          <a:prstGeom prst="roundRect">
            <a:avLst>
              <a:gd name="adj" fmla="val 4596"/>
            </a:avLst>
          </a:prstGeom>
          <a:solidFill>
            <a:srgbClr val="FCFBF7"/>
          </a:solidFill>
          <a:ln w="6350">
            <a:solidFill>
              <a:srgbClr val="DDD8CC"/>
            </a:solidFill>
            <a:prstDash val="solid"/>
          </a:ln>
        </p:spPr>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Rewrite “The app should handle many users” as a testable requirement.</a:t>
            </a:r>
            <a:endParaRPr lang="en-US" sz="1400" dirty="0"/>
          </a:p>
        </p:txBody>
      </p:sp>
      <p:sp>
        <p:nvSpPr>
          <p:cNvPr id="10" name="Shape 8"/>
          <p:cNvSpPr/>
          <p:nvPr/>
        </p:nvSpPr>
        <p:spPr>
          <a:xfrm>
            <a:off x="815975" y="3630290"/>
            <a:ext cx="5175250" cy="1339850"/>
          </a:xfrm>
          <a:prstGeom prst="roundRect">
            <a:avLst>
              <a:gd name="adj" fmla="val 5450"/>
            </a:avLst>
          </a:prstGeom>
          <a:solidFill>
            <a:srgbClr val="FCFBF7"/>
          </a:solidFill>
          <a:ln w="6350">
            <a:solidFill>
              <a:srgbClr val="DDD8CC"/>
            </a:solidFill>
            <a:prstDash val="solid"/>
          </a:ln>
        </p:spPr>
      </p:sp>
      <p:sp>
        <p:nvSpPr>
          <p:cNvPr id="11" name="Text 9"/>
          <p:cNvSpPr/>
          <p:nvPr/>
        </p:nvSpPr>
        <p:spPr>
          <a:xfrm>
            <a:off x="1046480" y="3860800"/>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4241800"/>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REQ-06 has no test cases. What kind of gap is this, and is it found by forward or backward tracing?</a:t>
            </a:r>
            <a:endParaRPr lang="en-US" sz="1400" dirty="0"/>
          </a:p>
        </p:txBody>
      </p:sp>
      <p:sp>
        <p:nvSpPr>
          <p:cNvPr id="13" name="Shape 11"/>
          <p:cNvSpPr/>
          <p:nvPr/>
        </p:nvSpPr>
        <p:spPr>
          <a:xfrm>
            <a:off x="6200775" y="3630290"/>
            <a:ext cx="5175250" cy="1339850"/>
          </a:xfrm>
          <a:prstGeom prst="roundRect">
            <a:avLst>
              <a:gd name="adj" fmla="val 5450"/>
            </a:avLst>
          </a:prstGeom>
          <a:solidFill>
            <a:srgbClr val="FCFBF7"/>
          </a:solidFill>
          <a:ln w="6350">
            <a:solidFill>
              <a:srgbClr val="DDD8CC"/>
            </a:solidFill>
            <a:prstDash val="solid"/>
          </a:ln>
        </p:spPr>
      </p:sp>
      <p:sp>
        <p:nvSpPr>
          <p:cNvPr id="14" name="Text 12"/>
          <p:cNvSpPr/>
          <p:nvPr/>
        </p:nvSpPr>
        <p:spPr>
          <a:xfrm>
            <a:off x="6431280" y="3860800"/>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4241800"/>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 case TC-99 maps to no requirement. What might that mean, and what should the team do?</a:t>
            </a:r>
            <a:endParaRPr lang="en-US" sz="1400" dirty="0"/>
          </a:p>
        </p:txBody>
      </p:sp>
      <p:sp>
        <p:nvSpPr>
          <p:cNvPr id="16" name="Text 14"/>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7" name="Text 15"/>
          <p:cNvSpPr/>
          <p:nvPr/>
        </p:nvSpPr>
        <p:spPr>
          <a:xfrm>
            <a:off x="9372044" y="6238255"/>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2 · SUMMARY</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Module 2 in one page</a:t>
            </a:r>
            <a:endParaRPr lang="en-US" sz="3200" dirty="0"/>
          </a:p>
        </p:txBody>
      </p:sp>
      <p:sp>
        <p:nvSpPr>
          <p:cNvPr id="4" name="Shape 2"/>
          <p:cNvSpPr/>
          <p:nvPr/>
        </p:nvSpPr>
        <p:spPr>
          <a:xfrm>
            <a:off x="815975" y="1831975"/>
            <a:ext cx="2559050" cy="935990"/>
          </a:xfrm>
          <a:prstGeom prst="roundRect">
            <a:avLst>
              <a:gd name="adj" fmla="val 7802"/>
            </a:avLst>
          </a:prstGeom>
          <a:solidFill>
            <a:srgbClr val="FCFBF7"/>
          </a:solidFill>
          <a:ln w="6350">
            <a:solidFill>
              <a:srgbClr val="DDD8CC"/>
            </a:solidFill>
            <a:prstDash val="solid"/>
          </a:ln>
        </p:spPr>
      </p:sp>
      <p:sp>
        <p:nvSpPr>
          <p:cNvPr id="5" name="Text 3"/>
          <p:cNvSpPr/>
          <p:nvPr/>
        </p:nvSpPr>
        <p:spPr>
          <a:xfrm>
            <a:off x="970280" y="1960885"/>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Manual testing</a:t>
            </a:r>
            <a:endParaRPr lang="en-US" sz="1200" dirty="0"/>
          </a:p>
        </p:txBody>
      </p:sp>
      <p:sp>
        <p:nvSpPr>
          <p:cNvPr id="6" name="Text 4"/>
          <p:cNvSpPr/>
          <p:nvPr/>
        </p:nvSpPr>
        <p:spPr>
          <a:xfrm>
            <a:off x="970280" y="2212355"/>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People explore, judge usability and handle one-off checks</a:t>
            </a:r>
            <a:endParaRPr lang="en-US" sz="1200" dirty="0"/>
          </a:p>
        </p:txBody>
      </p:sp>
      <p:sp>
        <p:nvSpPr>
          <p:cNvPr id="7" name="Shape 5"/>
          <p:cNvSpPr/>
          <p:nvPr/>
        </p:nvSpPr>
        <p:spPr>
          <a:xfrm>
            <a:off x="3482975" y="1831975"/>
            <a:ext cx="2559050" cy="935990"/>
          </a:xfrm>
          <a:prstGeom prst="roundRect">
            <a:avLst>
              <a:gd name="adj" fmla="val 7802"/>
            </a:avLst>
          </a:prstGeom>
          <a:solidFill>
            <a:srgbClr val="FCFBF7"/>
          </a:solidFill>
          <a:ln w="6350">
            <a:solidFill>
              <a:srgbClr val="DDD8CC"/>
            </a:solidFill>
            <a:prstDash val="solid"/>
          </a:ln>
        </p:spPr>
      </p:sp>
      <p:sp>
        <p:nvSpPr>
          <p:cNvPr id="8" name="Text 6"/>
          <p:cNvSpPr/>
          <p:nvPr/>
        </p:nvSpPr>
        <p:spPr>
          <a:xfrm>
            <a:off x="3637280" y="1960885"/>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Automated testing</a:t>
            </a:r>
            <a:endParaRPr lang="en-US" sz="1200" dirty="0"/>
          </a:p>
        </p:txBody>
      </p:sp>
      <p:sp>
        <p:nvSpPr>
          <p:cNvPr id="9" name="Text 7"/>
          <p:cNvSpPr/>
          <p:nvPr/>
        </p:nvSpPr>
        <p:spPr>
          <a:xfrm>
            <a:off x="3637280" y="2212355"/>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Scripts rerun repeated checks fast; choose by value and risk</a:t>
            </a:r>
            <a:endParaRPr lang="en-US" sz="1200" dirty="0"/>
          </a:p>
        </p:txBody>
      </p:sp>
      <p:sp>
        <p:nvSpPr>
          <p:cNvPr id="10" name="Shape 8"/>
          <p:cNvSpPr/>
          <p:nvPr/>
        </p:nvSpPr>
        <p:spPr>
          <a:xfrm>
            <a:off x="6149975" y="1831975"/>
            <a:ext cx="2559050" cy="935990"/>
          </a:xfrm>
          <a:prstGeom prst="roundRect">
            <a:avLst>
              <a:gd name="adj" fmla="val 7802"/>
            </a:avLst>
          </a:prstGeom>
          <a:solidFill>
            <a:srgbClr val="FCFBF7"/>
          </a:solidFill>
          <a:ln w="6350">
            <a:solidFill>
              <a:srgbClr val="DDD8CC"/>
            </a:solidFill>
            <a:prstDash val="solid"/>
          </a:ln>
        </p:spPr>
      </p:sp>
      <p:sp>
        <p:nvSpPr>
          <p:cNvPr id="11" name="Text 9"/>
          <p:cNvSpPr/>
          <p:nvPr/>
        </p:nvSpPr>
        <p:spPr>
          <a:xfrm>
            <a:off x="6304280" y="1960885"/>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Unit testing</a:t>
            </a:r>
            <a:endParaRPr lang="en-US" sz="1200" dirty="0"/>
          </a:p>
        </p:txBody>
      </p:sp>
      <p:sp>
        <p:nvSpPr>
          <p:cNvPr id="12" name="Text 10"/>
          <p:cNvSpPr/>
          <p:nvPr/>
        </p:nvSpPr>
        <p:spPr>
          <a:xfrm>
            <a:off x="6304280" y="2212355"/>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One unit in isolation; fast F.I.R.S.T. tests with test doubles</a:t>
            </a:r>
            <a:endParaRPr lang="en-US" sz="1200" dirty="0"/>
          </a:p>
        </p:txBody>
      </p:sp>
      <p:sp>
        <p:nvSpPr>
          <p:cNvPr id="13" name="Shape 11"/>
          <p:cNvSpPr/>
          <p:nvPr/>
        </p:nvSpPr>
        <p:spPr>
          <a:xfrm>
            <a:off x="8816975" y="1831975"/>
            <a:ext cx="2559050" cy="935990"/>
          </a:xfrm>
          <a:prstGeom prst="roundRect">
            <a:avLst>
              <a:gd name="adj" fmla="val 7802"/>
            </a:avLst>
          </a:prstGeom>
          <a:solidFill>
            <a:srgbClr val="FCFBF7"/>
          </a:solidFill>
          <a:ln w="6350">
            <a:solidFill>
              <a:srgbClr val="DDD8CC"/>
            </a:solidFill>
            <a:prstDash val="solid"/>
          </a:ln>
        </p:spPr>
      </p:sp>
      <p:sp>
        <p:nvSpPr>
          <p:cNvPr id="14" name="Text 12"/>
          <p:cNvSpPr/>
          <p:nvPr/>
        </p:nvSpPr>
        <p:spPr>
          <a:xfrm>
            <a:off x="8971280" y="1960885"/>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Integration</a:t>
            </a:r>
            <a:endParaRPr lang="en-US" sz="1200" dirty="0"/>
          </a:p>
        </p:txBody>
      </p:sp>
      <p:sp>
        <p:nvSpPr>
          <p:cNvPr id="15" name="Text 13"/>
          <p:cNvSpPr/>
          <p:nvPr/>
        </p:nvSpPr>
        <p:spPr>
          <a:xfrm>
            <a:off x="8971280" y="2212355"/>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Checks the links between parts; big bang or incremental</a:t>
            </a:r>
            <a:endParaRPr lang="en-US" sz="1200" dirty="0"/>
          </a:p>
        </p:txBody>
      </p:sp>
      <p:sp>
        <p:nvSpPr>
          <p:cNvPr id="16" name="Shape 14"/>
          <p:cNvSpPr/>
          <p:nvPr/>
        </p:nvSpPr>
        <p:spPr>
          <a:xfrm>
            <a:off x="815975" y="2875930"/>
            <a:ext cx="2559050" cy="1149350"/>
          </a:xfrm>
          <a:prstGeom prst="roundRect">
            <a:avLst>
              <a:gd name="adj" fmla="val 6354"/>
            </a:avLst>
          </a:prstGeom>
          <a:solidFill>
            <a:srgbClr val="FCFBF7"/>
          </a:solidFill>
          <a:ln w="6350">
            <a:solidFill>
              <a:srgbClr val="DDD8CC"/>
            </a:solidFill>
            <a:prstDash val="solid"/>
          </a:ln>
        </p:spPr>
      </p:sp>
      <p:sp>
        <p:nvSpPr>
          <p:cNvPr id="17" name="Text 15"/>
          <p:cNvSpPr/>
          <p:nvPr/>
        </p:nvSpPr>
        <p:spPr>
          <a:xfrm>
            <a:off x="970280" y="3004815"/>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System testing</a:t>
            </a:r>
            <a:endParaRPr lang="en-US" sz="1200" dirty="0"/>
          </a:p>
        </p:txBody>
      </p:sp>
      <p:sp>
        <p:nvSpPr>
          <p:cNvPr id="18" name="Text 16"/>
          <p:cNvSpPr/>
          <p:nvPr/>
        </p:nvSpPr>
        <p:spPr>
          <a:xfrm>
            <a:off x="970280" y="3256285"/>
            <a:ext cx="23179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Whole system against requirements, functional and non-functional</a:t>
            </a:r>
            <a:endParaRPr lang="en-US" sz="1200" dirty="0"/>
          </a:p>
        </p:txBody>
      </p:sp>
      <p:sp>
        <p:nvSpPr>
          <p:cNvPr id="19" name="Shape 17"/>
          <p:cNvSpPr/>
          <p:nvPr/>
        </p:nvSpPr>
        <p:spPr>
          <a:xfrm>
            <a:off x="3482975" y="2875930"/>
            <a:ext cx="2559050" cy="1149350"/>
          </a:xfrm>
          <a:prstGeom prst="roundRect">
            <a:avLst>
              <a:gd name="adj" fmla="val 6354"/>
            </a:avLst>
          </a:prstGeom>
          <a:solidFill>
            <a:srgbClr val="FCFBF7"/>
          </a:solidFill>
          <a:ln w="6350">
            <a:solidFill>
              <a:srgbClr val="DDD8CC"/>
            </a:solidFill>
            <a:prstDash val="solid"/>
          </a:ln>
        </p:spPr>
      </p:sp>
      <p:sp>
        <p:nvSpPr>
          <p:cNvPr id="20" name="Text 18"/>
          <p:cNvSpPr/>
          <p:nvPr/>
        </p:nvSpPr>
        <p:spPr>
          <a:xfrm>
            <a:off x="3637280" y="3004815"/>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Acceptance</a:t>
            </a:r>
            <a:endParaRPr lang="en-US" sz="1200" dirty="0"/>
          </a:p>
        </p:txBody>
      </p:sp>
      <p:sp>
        <p:nvSpPr>
          <p:cNvPr id="21" name="Text 19"/>
          <p:cNvSpPr/>
          <p:nvPr/>
        </p:nvSpPr>
        <p:spPr>
          <a:xfrm>
            <a:off x="3637280" y="3256285"/>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Users and the business confirm fit: UAT, OAT, alpha, beta</a:t>
            </a:r>
            <a:endParaRPr lang="en-US" sz="1200" dirty="0"/>
          </a:p>
        </p:txBody>
      </p:sp>
      <p:sp>
        <p:nvSpPr>
          <p:cNvPr id="22" name="Shape 20"/>
          <p:cNvSpPr/>
          <p:nvPr/>
        </p:nvSpPr>
        <p:spPr>
          <a:xfrm>
            <a:off x="6149975" y="2875930"/>
            <a:ext cx="2559050" cy="1149350"/>
          </a:xfrm>
          <a:prstGeom prst="roundRect">
            <a:avLst>
              <a:gd name="adj" fmla="val 6354"/>
            </a:avLst>
          </a:prstGeom>
          <a:solidFill>
            <a:srgbClr val="FCFBF7"/>
          </a:solidFill>
          <a:ln w="6350">
            <a:solidFill>
              <a:srgbClr val="DDD8CC"/>
            </a:solidFill>
            <a:prstDash val="solid"/>
          </a:ln>
        </p:spPr>
      </p:sp>
      <p:sp>
        <p:nvSpPr>
          <p:cNvPr id="23" name="Text 21"/>
          <p:cNvSpPr/>
          <p:nvPr/>
        </p:nvSpPr>
        <p:spPr>
          <a:xfrm>
            <a:off x="6304280" y="3004815"/>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Smoke and sanity</a:t>
            </a:r>
            <a:endParaRPr lang="en-US" sz="1200" dirty="0"/>
          </a:p>
        </p:txBody>
      </p:sp>
      <p:sp>
        <p:nvSpPr>
          <p:cNvPr id="24" name="Text 22"/>
          <p:cNvSpPr/>
          <p:nvPr/>
        </p:nvSpPr>
        <p:spPr>
          <a:xfrm>
            <a:off x="6304280" y="3256285"/>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Smoke gates every build; sanity checks one change in depth</a:t>
            </a:r>
            <a:endParaRPr lang="en-US" sz="1200" dirty="0"/>
          </a:p>
        </p:txBody>
      </p:sp>
      <p:sp>
        <p:nvSpPr>
          <p:cNvPr id="25" name="Shape 23"/>
          <p:cNvSpPr/>
          <p:nvPr/>
        </p:nvSpPr>
        <p:spPr>
          <a:xfrm>
            <a:off x="8816975" y="2875930"/>
            <a:ext cx="2559050" cy="1149350"/>
          </a:xfrm>
          <a:prstGeom prst="roundRect">
            <a:avLst>
              <a:gd name="adj" fmla="val 6354"/>
            </a:avLst>
          </a:prstGeom>
          <a:solidFill>
            <a:srgbClr val="FCFBF7"/>
          </a:solidFill>
          <a:ln w="6350">
            <a:solidFill>
              <a:srgbClr val="DDD8CC"/>
            </a:solidFill>
            <a:prstDash val="solid"/>
          </a:ln>
        </p:spPr>
      </p:sp>
      <p:sp>
        <p:nvSpPr>
          <p:cNvPr id="26" name="Text 24"/>
          <p:cNvSpPr/>
          <p:nvPr/>
        </p:nvSpPr>
        <p:spPr>
          <a:xfrm>
            <a:off x="8971280" y="3004815"/>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Regression</a:t>
            </a:r>
            <a:endParaRPr lang="en-US" sz="1200" dirty="0"/>
          </a:p>
        </p:txBody>
      </p:sp>
      <p:sp>
        <p:nvSpPr>
          <p:cNvPr id="27" name="Text 25"/>
          <p:cNvSpPr/>
          <p:nvPr/>
        </p:nvSpPr>
        <p:spPr>
          <a:xfrm>
            <a:off x="8971280" y="3256285"/>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Rerun tests after every change; select by risk; run in CI</a:t>
            </a:r>
            <a:endParaRPr lang="en-US" sz="1200" dirty="0"/>
          </a:p>
        </p:txBody>
      </p:sp>
      <p:sp>
        <p:nvSpPr>
          <p:cNvPr id="28" name="Shape 26"/>
          <p:cNvSpPr/>
          <p:nvPr/>
        </p:nvSpPr>
        <p:spPr>
          <a:xfrm>
            <a:off x="815975" y="4133230"/>
            <a:ext cx="2559050" cy="1149350"/>
          </a:xfrm>
          <a:prstGeom prst="roundRect">
            <a:avLst>
              <a:gd name="adj" fmla="val 6354"/>
            </a:avLst>
          </a:prstGeom>
          <a:solidFill>
            <a:srgbClr val="FCFBF7"/>
          </a:solidFill>
          <a:ln w="6350">
            <a:solidFill>
              <a:srgbClr val="DDD8CC"/>
            </a:solidFill>
            <a:prstDash val="solid"/>
          </a:ln>
        </p:spPr>
      </p:sp>
      <p:sp>
        <p:nvSpPr>
          <p:cNvPr id="29" name="Text 27"/>
          <p:cNvSpPr/>
          <p:nvPr/>
        </p:nvSpPr>
        <p:spPr>
          <a:xfrm>
            <a:off x="970280" y="4262115"/>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Test scenario</a:t>
            </a:r>
            <a:endParaRPr lang="en-US" sz="1200" dirty="0"/>
          </a:p>
        </p:txBody>
      </p:sp>
      <p:sp>
        <p:nvSpPr>
          <p:cNvPr id="30" name="Text 28"/>
          <p:cNvSpPr/>
          <p:nvPr/>
        </p:nvSpPr>
        <p:spPr>
          <a:xfrm>
            <a:off x="970280" y="4513585"/>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What to test: one situation, traced to a requirement</a:t>
            </a:r>
            <a:endParaRPr lang="en-US" sz="1200" dirty="0"/>
          </a:p>
        </p:txBody>
      </p:sp>
      <p:sp>
        <p:nvSpPr>
          <p:cNvPr id="31" name="Shape 29"/>
          <p:cNvSpPr/>
          <p:nvPr/>
        </p:nvSpPr>
        <p:spPr>
          <a:xfrm>
            <a:off x="3482975" y="4133230"/>
            <a:ext cx="2559050" cy="1149350"/>
          </a:xfrm>
          <a:prstGeom prst="roundRect">
            <a:avLst>
              <a:gd name="adj" fmla="val 6354"/>
            </a:avLst>
          </a:prstGeom>
          <a:solidFill>
            <a:srgbClr val="FCFBF7"/>
          </a:solidFill>
          <a:ln w="6350">
            <a:solidFill>
              <a:srgbClr val="DDD8CC"/>
            </a:solidFill>
            <a:prstDash val="solid"/>
          </a:ln>
        </p:spPr>
      </p:sp>
      <p:sp>
        <p:nvSpPr>
          <p:cNvPr id="32" name="Text 30"/>
          <p:cNvSpPr/>
          <p:nvPr/>
        </p:nvSpPr>
        <p:spPr>
          <a:xfrm>
            <a:off x="3637280" y="4262115"/>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Test case design</a:t>
            </a:r>
            <a:endParaRPr lang="en-US" sz="1200" dirty="0"/>
          </a:p>
        </p:txBody>
      </p:sp>
      <p:sp>
        <p:nvSpPr>
          <p:cNvPr id="33" name="Text 31"/>
          <p:cNvSpPr/>
          <p:nvPr/>
        </p:nvSpPr>
        <p:spPr>
          <a:xfrm>
            <a:off x="3637280" y="4513585"/>
            <a:ext cx="23179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How to test: partitions, boundaries, decision tables, states</a:t>
            </a:r>
            <a:endParaRPr lang="en-US" sz="1200" dirty="0"/>
          </a:p>
        </p:txBody>
      </p:sp>
      <p:sp>
        <p:nvSpPr>
          <p:cNvPr id="34" name="Shape 32"/>
          <p:cNvSpPr/>
          <p:nvPr/>
        </p:nvSpPr>
        <p:spPr>
          <a:xfrm>
            <a:off x="6149975" y="4133230"/>
            <a:ext cx="2559050" cy="1149350"/>
          </a:xfrm>
          <a:prstGeom prst="roundRect">
            <a:avLst>
              <a:gd name="adj" fmla="val 6354"/>
            </a:avLst>
          </a:prstGeom>
          <a:solidFill>
            <a:srgbClr val="FCFBF7"/>
          </a:solidFill>
          <a:ln w="6350">
            <a:solidFill>
              <a:srgbClr val="DDD8CC"/>
            </a:solidFill>
            <a:prstDash val="solid"/>
          </a:ln>
        </p:spPr>
      </p:sp>
      <p:sp>
        <p:nvSpPr>
          <p:cNvPr id="35" name="Text 33"/>
          <p:cNvSpPr/>
          <p:nvPr/>
        </p:nvSpPr>
        <p:spPr>
          <a:xfrm>
            <a:off x="6304280" y="4262115"/>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Test basis</a:t>
            </a:r>
            <a:endParaRPr lang="en-US" sz="1200" dirty="0"/>
          </a:p>
        </p:txBody>
      </p:sp>
      <p:sp>
        <p:nvSpPr>
          <p:cNvPr id="36" name="Text 34"/>
          <p:cNvSpPr/>
          <p:nvPr/>
        </p:nvSpPr>
        <p:spPr>
          <a:xfrm>
            <a:off x="6304280" y="4513585"/>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What tests are derived from; review it for testability first</a:t>
            </a:r>
            <a:endParaRPr lang="en-US" sz="1200" dirty="0"/>
          </a:p>
        </p:txBody>
      </p:sp>
      <p:sp>
        <p:nvSpPr>
          <p:cNvPr id="37" name="Shape 35"/>
          <p:cNvSpPr/>
          <p:nvPr/>
        </p:nvSpPr>
        <p:spPr>
          <a:xfrm>
            <a:off x="8816975" y="4133230"/>
            <a:ext cx="2559050" cy="1149350"/>
          </a:xfrm>
          <a:prstGeom prst="roundRect">
            <a:avLst>
              <a:gd name="adj" fmla="val 6354"/>
            </a:avLst>
          </a:prstGeom>
          <a:solidFill>
            <a:srgbClr val="FCFBF7"/>
          </a:solidFill>
          <a:ln w="6350">
            <a:solidFill>
              <a:srgbClr val="DDD8CC"/>
            </a:solidFill>
            <a:prstDash val="solid"/>
          </a:ln>
        </p:spPr>
      </p:sp>
      <p:sp>
        <p:nvSpPr>
          <p:cNvPr id="38" name="Text 36"/>
          <p:cNvSpPr/>
          <p:nvPr/>
        </p:nvSpPr>
        <p:spPr>
          <a:xfrm>
            <a:off x="8971280" y="4262115"/>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Traceability</a:t>
            </a:r>
            <a:endParaRPr lang="en-US" sz="1200" dirty="0"/>
          </a:p>
        </p:txBody>
      </p:sp>
      <p:sp>
        <p:nvSpPr>
          <p:cNvPr id="39" name="Text 37"/>
          <p:cNvSpPr/>
          <p:nvPr/>
        </p:nvSpPr>
        <p:spPr>
          <a:xfrm>
            <a:off x="8971280" y="4513585"/>
            <a:ext cx="23179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Links requirements, tests and defects; shows coverage and impact</a:t>
            </a:r>
            <a:endParaRPr lang="en-US" sz="1200" dirty="0"/>
          </a:p>
        </p:txBody>
      </p:sp>
      <p:sp>
        <p:nvSpPr>
          <p:cNvPr id="40" name="Text 38"/>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41" name="Text 39"/>
          <p:cNvSpPr/>
          <p:nvPr/>
        </p:nvSpPr>
        <p:spPr>
          <a:xfrm>
            <a:off x="8648621" y="6238255"/>
            <a:ext cx="281249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Cards follow the lecture order, L9 to L13</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2 · LABS AND NEXT STEPS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Practise it in the lab</a:t>
            </a:r>
            <a:endParaRPr lang="en-US" sz="3200" dirty="0"/>
          </a:p>
        </p:txBody>
      </p:sp>
      <p:sp>
        <p:nvSpPr>
          <p:cNvPr id="4" name="Shape 2"/>
          <p:cNvSpPr/>
          <p:nvPr/>
        </p:nvSpPr>
        <p:spPr>
          <a:xfrm>
            <a:off x="11376025" y="1828800"/>
            <a:ext cx="0" cy="2326640"/>
          </a:xfrm>
          <a:prstGeom prst="line">
            <a:avLst/>
          </a:prstGeom>
          <a:noFill/>
          <a:ln w="6350">
            <a:solidFill>
              <a:srgbClr val="DDD8CC"/>
            </a:solidFill>
            <a:prstDash val="solid"/>
          </a:ln>
        </p:spPr>
      </p:sp>
      <p:sp>
        <p:nvSpPr>
          <p:cNvPr id="5" name="Shape 3"/>
          <p:cNvSpPr/>
          <p:nvPr/>
        </p:nvSpPr>
        <p:spPr>
          <a:xfrm>
            <a:off x="812800" y="41522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311400"/>
        </p:xfrm>
        <a:graphic>
          <a:graphicData uri="http://schemas.openxmlformats.org/drawingml/2006/table">
            <a:tbl>
              <a:tblPr/>
              <a:tblGrid>
                <a:gridCol w="844093"/>
                <a:gridCol w="5486603"/>
                <a:gridCol w="4220464"/>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Lab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Session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Builds 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pytest test cases: fixtures, assertions, markers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Unit tests (L9); smoke markers (L11)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Data-driven testing and test suite organisation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Test case design and parametrize (L12)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API test assertions; running collections with Newman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Integration testing (L10)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Behaviour Driven Development with pytest-bdd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Acceptance tests in Gherkin (L10)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Automated test suites in a Jenkins pipeline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Smoke and regression in CI (L11)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Test reporting, quality gates and pipeline results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Traceability and reports (L13)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Shape 4"/>
          <p:cNvSpPr/>
          <p:nvPr/>
        </p:nvSpPr>
        <p:spPr>
          <a:xfrm>
            <a:off x="812800" y="4409455"/>
            <a:ext cx="10566400" cy="901700"/>
          </a:xfrm>
          <a:prstGeom prst="roundRect">
            <a:avLst>
              <a:gd name="adj" fmla="val 8451"/>
            </a:avLst>
          </a:prstGeom>
          <a:solidFill>
            <a:srgbClr val="13233A"/>
          </a:solidFill>
          <a:ln/>
        </p:spPr>
      </p:sp>
      <p:sp>
        <p:nvSpPr>
          <p:cNvPr id="8" name="Text 5"/>
          <p:cNvSpPr/>
          <p:nvPr/>
        </p:nvSpPr>
        <p:spPr>
          <a:xfrm>
            <a:off x="1041400" y="4612655"/>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NEXT: MODULE 3</a:t>
            </a:r>
            <a:endParaRPr lang="en-US" sz="1200" dirty="0"/>
          </a:p>
        </p:txBody>
      </p:sp>
      <p:sp>
        <p:nvSpPr>
          <p:cNvPr id="9" name="Text 6"/>
          <p:cNvSpPr/>
          <p:nvPr/>
        </p:nvSpPr>
        <p:spPr>
          <a:xfrm>
            <a:off x="1041400" y="4876800"/>
            <a:ext cx="366268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Test automation types and tools</a:t>
            </a:r>
            <a:endParaRPr lang="en-US" sz="1400" dirty="0"/>
          </a:p>
        </p:txBody>
      </p:sp>
      <p:sp>
        <p:nvSpPr>
          <p:cNvPr id="10" name="Text 7"/>
          <p:cNvSpPr/>
          <p:nvPr/>
        </p:nvSpPr>
        <p:spPr>
          <a:xfrm>
            <a:off x="4902200" y="4646935"/>
            <a:ext cx="643585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Business, technical and non-functional test automation; Selenium WebDriver, pytest and Postman; test script design and the Page Object Model.</a:t>
            </a:r>
            <a:endParaRPr lang="en-US" sz="1200" dirty="0"/>
          </a:p>
        </p:txBody>
      </p:sp>
      <p:sp>
        <p:nvSpPr>
          <p:cNvPr id="11" name="Text 8"/>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12" name="Text 9"/>
          <p:cNvSpPr/>
          <p:nvPr/>
        </p:nvSpPr>
        <p:spPr>
          <a:xfrm>
            <a:off x="8933259" y="6238255"/>
            <a:ext cx="25193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Lab sessions from the lab-wise plan</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2 · PRACTICE</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Take-home practice</a:t>
            </a:r>
            <a:endParaRPr lang="en-US" sz="3200" dirty="0"/>
          </a:p>
        </p:txBody>
      </p:sp>
      <p:sp>
        <p:nvSpPr>
          <p:cNvPr id="4" name="Shape 2"/>
          <p:cNvSpPr/>
          <p:nvPr/>
        </p:nvSpPr>
        <p:spPr>
          <a:xfrm>
            <a:off x="815975" y="1831975"/>
            <a:ext cx="5200650" cy="1118870"/>
          </a:xfrm>
          <a:prstGeom prst="roundRect">
            <a:avLst>
              <a:gd name="adj" fmla="val 6527"/>
            </a:avLst>
          </a:prstGeom>
          <a:solidFill>
            <a:srgbClr val="FCFBF7"/>
          </a:solidFill>
          <a:ln w="6350">
            <a:solidFill>
              <a:srgbClr val="DDD8CC"/>
            </a:solidFill>
            <a:prstDash val="solid"/>
          </a:ln>
        </p:spPr>
      </p:sp>
      <p:sp>
        <p:nvSpPr>
          <p:cNvPr id="5" name="Text 3"/>
          <p:cNvSpPr/>
          <p:nvPr/>
        </p:nvSpPr>
        <p:spPr>
          <a:xfrm>
            <a:off x="1021080" y="2037085"/>
            <a:ext cx="163592" cy="73406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1</a:t>
            </a:r>
            <a:endParaRPr lang="en-US" sz="2000" dirty="0"/>
          </a:p>
        </p:txBody>
      </p:sp>
      <p:sp>
        <p:nvSpPr>
          <p:cNvPr id="6" name="Text 4"/>
          <p:cNvSpPr/>
          <p:nvPr/>
        </p:nvSpPr>
        <p:spPr>
          <a:xfrm>
            <a:off x="1286272" y="2037085"/>
            <a:ext cx="466100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Test levels</a:t>
            </a:r>
            <a:endParaRPr lang="en-US" sz="1400" dirty="0"/>
          </a:p>
        </p:txBody>
      </p:sp>
      <p:sp>
        <p:nvSpPr>
          <p:cNvPr id="7" name="Text 5"/>
          <p:cNvSpPr/>
          <p:nvPr/>
        </p:nvSpPr>
        <p:spPr>
          <a:xfrm>
            <a:off x="1286272" y="2319015"/>
            <a:ext cx="466100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For wallet payment, write one test idea at each level: unit, integration, system and acceptance.</a:t>
            </a:r>
            <a:endParaRPr lang="en-US" sz="1200" dirty="0"/>
          </a:p>
        </p:txBody>
      </p:sp>
      <p:sp>
        <p:nvSpPr>
          <p:cNvPr id="8" name="Shape 6"/>
          <p:cNvSpPr/>
          <p:nvPr/>
        </p:nvSpPr>
        <p:spPr>
          <a:xfrm>
            <a:off x="6175375" y="1831975"/>
            <a:ext cx="5200650" cy="1118870"/>
          </a:xfrm>
          <a:prstGeom prst="roundRect">
            <a:avLst>
              <a:gd name="adj" fmla="val 6527"/>
            </a:avLst>
          </a:prstGeom>
          <a:solidFill>
            <a:srgbClr val="FCFBF7"/>
          </a:solidFill>
          <a:ln w="6350">
            <a:solidFill>
              <a:srgbClr val="DDD8CC"/>
            </a:solidFill>
            <a:prstDash val="solid"/>
          </a:ln>
        </p:spPr>
      </p:sp>
      <p:sp>
        <p:nvSpPr>
          <p:cNvPr id="9" name="Text 7"/>
          <p:cNvSpPr/>
          <p:nvPr/>
        </p:nvSpPr>
        <p:spPr>
          <a:xfrm>
            <a:off x="6380480" y="2037085"/>
            <a:ext cx="202248" cy="73406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2</a:t>
            </a:r>
            <a:endParaRPr lang="en-US" sz="2000" dirty="0"/>
          </a:p>
        </p:txBody>
      </p:sp>
      <p:sp>
        <p:nvSpPr>
          <p:cNvPr id="10" name="Text 8"/>
          <p:cNvSpPr/>
          <p:nvPr/>
        </p:nvSpPr>
        <p:spPr>
          <a:xfrm>
            <a:off x="6684328" y="2037085"/>
            <a:ext cx="462119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Smoke suite</a:t>
            </a:r>
            <a:endParaRPr lang="en-US" sz="1400" dirty="0"/>
          </a:p>
        </p:txBody>
      </p:sp>
      <p:sp>
        <p:nvSpPr>
          <p:cNvPr id="11" name="Text 9"/>
          <p:cNvSpPr/>
          <p:nvPr/>
        </p:nvSpPr>
        <p:spPr>
          <a:xfrm>
            <a:off x="6684328" y="2319015"/>
            <a:ext cx="462119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Pick the six checks that should gate every Canteen App build and tag them with a pytest smoke marker.</a:t>
            </a:r>
            <a:endParaRPr lang="en-US" sz="1200" dirty="0"/>
          </a:p>
        </p:txBody>
      </p:sp>
      <p:sp>
        <p:nvSpPr>
          <p:cNvPr id="12" name="Shape 10"/>
          <p:cNvSpPr/>
          <p:nvPr/>
        </p:nvSpPr>
        <p:spPr>
          <a:xfrm>
            <a:off x="815975" y="3109590"/>
            <a:ext cx="5200650" cy="1118870"/>
          </a:xfrm>
          <a:prstGeom prst="roundRect">
            <a:avLst>
              <a:gd name="adj" fmla="val 6527"/>
            </a:avLst>
          </a:prstGeom>
          <a:solidFill>
            <a:srgbClr val="FCFBF7"/>
          </a:solidFill>
          <a:ln w="6350">
            <a:solidFill>
              <a:srgbClr val="DDD8CC"/>
            </a:solidFill>
            <a:prstDash val="solid"/>
          </a:ln>
        </p:spPr>
      </p:sp>
      <p:sp>
        <p:nvSpPr>
          <p:cNvPr id="13" name="Text 11"/>
          <p:cNvSpPr/>
          <p:nvPr/>
        </p:nvSpPr>
        <p:spPr>
          <a:xfrm>
            <a:off x="1021080" y="3314700"/>
            <a:ext cx="205026" cy="73406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3</a:t>
            </a:r>
            <a:endParaRPr lang="en-US" sz="2000" dirty="0"/>
          </a:p>
        </p:txBody>
      </p:sp>
      <p:sp>
        <p:nvSpPr>
          <p:cNvPr id="14" name="Text 12"/>
          <p:cNvSpPr/>
          <p:nvPr/>
        </p:nvSpPr>
        <p:spPr>
          <a:xfrm>
            <a:off x="1327706" y="3314700"/>
            <a:ext cx="461832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Test case design</a:t>
            </a:r>
            <a:endParaRPr lang="en-US" sz="1400" dirty="0"/>
          </a:p>
        </p:txBody>
      </p:sp>
      <p:sp>
        <p:nvSpPr>
          <p:cNvPr id="15" name="Text 13"/>
          <p:cNvSpPr/>
          <p:nvPr/>
        </p:nvSpPr>
        <p:spPr>
          <a:xfrm>
            <a:off x="1327706" y="3596655"/>
            <a:ext cx="461832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Use partitions and boundaries for the ₹20 delivery fee (free from ₹200), and a state model for the login lock.</a:t>
            </a:r>
            <a:endParaRPr lang="en-US" sz="1200" dirty="0"/>
          </a:p>
        </p:txBody>
      </p:sp>
      <p:sp>
        <p:nvSpPr>
          <p:cNvPr id="16" name="Shape 14"/>
          <p:cNvSpPr/>
          <p:nvPr/>
        </p:nvSpPr>
        <p:spPr>
          <a:xfrm>
            <a:off x="6175375" y="3109590"/>
            <a:ext cx="5200650" cy="1118870"/>
          </a:xfrm>
          <a:prstGeom prst="roundRect">
            <a:avLst>
              <a:gd name="adj" fmla="val 6527"/>
            </a:avLst>
          </a:prstGeom>
          <a:solidFill>
            <a:srgbClr val="FCFBF7"/>
          </a:solidFill>
          <a:ln w="6350">
            <a:solidFill>
              <a:srgbClr val="DDD8CC"/>
            </a:solidFill>
            <a:prstDash val="solid"/>
          </a:ln>
        </p:spPr>
      </p:sp>
      <p:sp>
        <p:nvSpPr>
          <p:cNvPr id="17" name="Text 15"/>
          <p:cNvSpPr/>
          <p:nvPr/>
        </p:nvSpPr>
        <p:spPr>
          <a:xfrm>
            <a:off x="6380480" y="3314700"/>
            <a:ext cx="211614" cy="73406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4</a:t>
            </a:r>
            <a:endParaRPr lang="en-US" sz="2000" dirty="0"/>
          </a:p>
        </p:txBody>
      </p:sp>
      <p:sp>
        <p:nvSpPr>
          <p:cNvPr id="18" name="Text 16"/>
          <p:cNvSpPr/>
          <p:nvPr/>
        </p:nvSpPr>
        <p:spPr>
          <a:xfrm>
            <a:off x="6693694" y="3314700"/>
            <a:ext cx="4611543"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Traceability</a:t>
            </a:r>
            <a:endParaRPr lang="en-US" sz="1400" dirty="0"/>
          </a:p>
        </p:txBody>
      </p:sp>
      <p:sp>
        <p:nvSpPr>
          <p:cNvPr id="19" name="Text 17"/>
          <p:cNvSpPr/>
          <p:nvPr/>
        </p:nvSpPr>
        <p:spPr>
          <a:xfrm>
            <a:off x="6693694" y="3596655"/>
            <a:ext cx="46115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Add the delivery-fee rule to the RTM as REQ-07 with its scenario and test cases, then recompute coverage.</a:t>
            </a:r>
            <a:endParaRPr lang="en-US" sz="1200" dirty="0"/>
          </a:p>
        </p:txBody>
      </p:sp>
      <p:sp>
        <p:nvSpPr>
          <p:cNvPr id="20" name="Text 18"/>
          <p:cNvSpPr/>
          <p:nvPr/>
        </p:nvSpPr>
        <p:spPr>
          <a:xfrm>
            <a:off x="812800" y="448565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Write each test case in the Lecture 12 template and tag it with its requirement ID.</a:t>
            </a:r>
            <a:endParaRPr lang="en-US" sz="1400" dirty="0"/>
          </a:p>
        </p:txBody>
      </p:sp>
      <p:sp>
        <p:nvSpPr>
          <p:cNvPr id="21" name="Text 19"/>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2</a:t>
            </a:r>
            <a:endParaRPr lang="en-US" sz="1200" dirty="0"/>
          </a:p>
        </p:txBody>
      </p:sp>
      <p:sp>
        <p:nvSpPr>
          <p:cNvPr id="22" name="Text 20"/>
          <p:cNvSpPr/>
          <p:nvPr/>
        </p:nvSpPr>
        <p:spPr>
          <a:xfrm>
            <a:off x="8473678" y="6238255"/>
            <a:ext cx="29926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Deadline and marks: [set by the instructor]</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2 · READINGS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3F1EA"/>
                </a:solidFill>
                <a:latin typeface="Space Grotesk" pitchFamily="34" charset="0"/>
                <a:ea typeface="Space Grotesk" pitchFamily="34" charset="-122"/>
                <a:cs typeface="Space Grotesk" pitchFamily="34" charset="-120"/>
              </a:rPr>
              <a:t>Readings and references</a:t>
            </a:r>
            <a:endParaRPr lang="en-US" sz="3200" dirty="0"/>
          </a:p>
        </p:txBody>
      </p:sp>
      <p:sp>
        <p:nvSpPr>
          <p:cNvPr id="4" name="Text 2"/>
          <p:cNvSpPr/>
          <p:nvPr/>
        </p:nvSpPr>
        <p:spPr>
          <a:xfrm>
            <a:off x="812800" y="1879600"/>
            <a:ext cx="40551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9E6"/>
                </a:solidFill>
                <a:latin typeface="JetBrains Mono" pitchFamily="34" charset="0"/>
                <a:ea typeface="JetBrains Mono" pitchFamily="34" charset="-122"/>
                <a:cs typeface="JetBrains Mono" pitchFamily="34" charset="-120"/>
              </a:rPr>
              <a:t>COURSE BOOKS</a:t>
            </a:r>
            <a:endParaRPr lang="en-US" sz="1200" dirty="0"/>
          </a:p>
        </p:txBody>
      </p:sp>
      <p:sp>
        <p:nvSpPr>
          <p:cNvPr id="5" name="Shape 3"/>
          <p:cNvSpPr/>
          <p:nvPr/>
        </p:nvSpPr>
        <p:spPr>
          <a:xfrm>
            <a:off x="812800" y="2223145"/>
            <a:ext cx="3937000" cy="0"/>
          </a:xfrm>
          <a:prstGeom prst="line">
            <a:avLst/>
          </a:prstGeom>
          <a:noFill/>
          <a:ln w="6350">
            <a:solidFill>
              <a:srgbClr val="3A5476"/>
            </a:solidFill>
            <a:prstDash val="solid"/>
          </a:ln>
        </p:spPr>
      </p:sp>
      <p:sp>
        <p:nvSpPr>
          <p:cNvPr id="6" name="Text 4"/>
          <p:cNvSpPr/>
          <p:nvPr/>
        </p:nvSpPr>
        <p:spPr>
          <a:xfrm>
            <a:off x="812800" y="2326655"/>
            <a:ext cx="4055110"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3F1EA"/>
                </a:solidFill>
                <a:latin typeface="IBM Plex Sans" pitchFamily="34" charset="0"/>
                <a:ea typeface="IBM Plex Sans" pitchFamily="34" charset="-122"/>
                <a:cs typeface="IBM Plex Sans" pitchFamily="34" charset="-120"/>
              </a:rPr>
              <a:t>Enterprise Continuous Testing</a:t>
            </a:r>
            <a:endParaRPr lang="en-US" sz="1400" dirty="0"/>
          </a:p>
        </p:txBody>
      </p:sp>
      <p:sp>
        <p:nvSpPr>
          <p:cNvPr id="7" name="Text 5"/>
          <p:cNvSpPr/>
          <p:nvPr/>
        </p:nvSpPr>
        <p:spPr>
          <a:xfrm>
            <a:off x="812800" y="2604765"/>
            <a:ext cx="40551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W. Platz and C. Dunlop, 2019 · textbook</a:t>
            </a:r>
            <a:endParaRPr lang="en-US" sz="1200" dirty="0"/>
          </a:p>
        </p:txBody>
      </p:sp>
      <p:sp>
        <p:nvSpPr>
          <p:cNvPr id="8" name="Shape 6"/>
          <p:cNvSpPr/>
          <p:nvPr/>
        </p:nvSpPr>
        <p:spPr>
          <a:xfrm>
            <a:off x="812800" y="2948310"/>
            <a:ext cx="3937000" cy="0"/>
          </a:xfrm>
          <a:prstGeom prst="line">
            <a:avLst/>
          </a:prstGeom>
          <a:noFill/>
          <a:ln w="6350">
            <a:solidFill>
              <a:srgbClr val="3A5476"/>
            </a:solidFill>
            <a:prstDash val="solid"/>
          </a:ln>
        </p:spPr>
      </p:sp>
      <p:sp>
        <p:nvSpPr>
          <p:cNvPr id="9" name="Text 7"/>
          <p:cNvSpPr/>
          <p:nvPr/>
        </p:nvSpPr>
        <p:spPr>
          <a:xfrm>
            <a:off x="812800" y="3051820"/>
            <a:ext cx="4055110"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3F1EA"/>
                </a:solidFill>
                <a:latin typeface="IBM Plex Sans" pitchFamily="34" charset="0"/>
                <a:ea typeface="IBM Plex Sans" pitchFamily="34" charset="-122"/>
                <a:cs typeface="IBM Plex Sans" pitchFamily="34" charset="-120"/>
              </a:rPr>
              <a:t>Complete Guide to Test Automation</a:t>
            </a:r>
            <a:endParaRPr lang="en-US" sz="1400" dirty="0"/>
          </a:p>
        </p:txBody>
      </p:sp>
      <p:sp>
        <p:nvSpPr>
          <p:cNvPr id="10" name="Text 8"/>
          <p:cNvSpPr/>
          <p:nvPr/>
        </p:nvSpPr>
        <p:spPr>
          <a:xfrm>
            <a:off x="812800" y="3329955"/>
            <a:ext cx="40551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A. Axelrod, Apress, 2019 · reference</a:t>
            </a:r>
            <a:endParaRPr lang="en-US" sz="1200" dirty="0"/>
          </a:p>
        </p:txBody>
      </p:sp>
      <p:sp>
        <p:nvSpPr>
          <p:cNvPr id="11" name="Text 9"/>
          <p:cNvSpPr/>
          <p:nvPr/>
        </p:nvSpPr>
        <p:spPr>
          <a:xfrm>
            <a:off x="5054600" y="1879600"/>
            <a:ext cx="651433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9E6"/>
                </a:solidFill>
                <a:latin typeface="JetBrains Mono" pitchFamily="34" charset="0"/>
                <a:ea typeface="JetBrains Mono" pitchFamily="34" charset="-122"/>
                <a:cs typeface="JetBrains Mono" pitchFamily="34" charset="-120"/>
              </a:rPr>
              <a:t>SOURCES USED IN THIS MODULE</a:t>
            </a:r>
            <a:endParaRPr lang="en-US" sz="1200" dirty="0"/>
          </a:p>
        </p:txBody>
      </p:sp>
      <p:sp>
        <p:nvSpPr>
          <p:cNvPr id="12" name="Text 10"/>
          <p:cNvSpPr/>
          <p:nvPr/>
        </p:nvSpPr>
        <p:spPr>
          <a:xfrm>
            <a:off x="5054600" y="2219970"/>
            <a:ext cx="6514338" cy="1397000"/>
          </a:xfrm>
          <a:prstGeom prst="rect">
            <a:avLst/>
          </a:prstGeom>
          <a:noFill/>
          <a:ln/>
        </p:spPr>
        <p:txBody>
          <a:bodyPr wrap="square" lIns="0" tIns="0" rIns="0" bIns="0" rtlCol="0" anchor="t">
            <a:normAutofit/>
          </a:bodyPr>
          <a:lstStyle/>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ISTQB Certified Tester Foundation Level syllabus v4.0 (2023) and ISTQB Glossary</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M. Cohn, Succeeding with Agile, Addison-Wesley, 2009 (test pyramid)</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M. Wacker, “Just Say No to More End-to-End Tests”, Google Testing Blog, 2015</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R. C. Martin, Clean Code, Prentice Hall, 2008 (F.I.R.S.T.)</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G. Meszaros, xUnit Test Patterns, Addison-Wesley, 2007 (test doubles)</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pytest, pytest-cov, coverage.py and pytest-bdd documentation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CSET454 Module 2: Testing Approaches and Test Case Design</dc:title>
  <dc:subject>PptxGenJS Presentation</dc:subject>
  <dc:creator>PptxGenJS</dc:creator>
  <cp:lastModifiedBy>PptxGenJS</cp:lastModifiedBy>
  <cp:revision>1</cp:revision>
  <dcterms:created xsi:type="dcterms:W3CDTF">2026-09-26T12:03:31Z</dcterms:created>
  <dcterms:modified xsi:type="dcterms:W3CDTF">2026-09-26T12:03:31Z</dcterms:modified>
</cp:coreProperties>
</file>