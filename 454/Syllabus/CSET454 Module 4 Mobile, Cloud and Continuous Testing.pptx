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Lst>
  <p:notesMasterIdLst>
    <p:notesMasterId r:id="rId6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notesMaster" Target="notesMasters/notesMaster1.xml"/><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class which kind each app on their phone is. Native apps use the platform SDK directly, so the platform’s own UI test frameworks (Espresso for Android, XCUITest for iOS) can test them from inside the project, and Appium can test them from outside. Cross-platform frameworks such as Flutter and React Native draw their own widgets or map them to native ones; Appium works with both, and each framework also ships its own testing tools. A hybrid app wraps web pages in a WebView, so an Appium test has two contexts, the native one and the web one, and switches between them to use native or web locators. Mobile web is just the website in a mobile browser: Appium can drive Chrome on Android and Safari on iOS, and cloud grids offer real mobile browsers. The Canteen App has native Android and iOS apps and the responsive website from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Canteen order flow through a few of these. Fragmentation: the same screen on a small budget phone and a large tablet. OS versions: a permission dialog that looks and behaves differently on older Android releases. Networks: a student places an order in the lift and the signal drops; the app must not lose the order or send it twice. Interruptions: a call arrives on the payment screen. Lifecycle: Android can kill an app in the background to free memory, so the cart must survive a restore. App stores: a web fix goes live in minutes, but a mobile fix needs a new build, store review, and then each user has to update, so bugs that reach users stay there longer. That last point is why mobile teams test more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StatCounter measures the operating system behind page views on the websites that use its tracker, so it shows what people browse with, not how many phones were sold. Still, the pattern matters for testing: worldwide about two thirds Android and one third iOS, but in India Android is above 90 percent. A campus canteen app in India should therefore cover a wide range of Android devices and versions, while still testing iOS for the students who use iPhones. The best source is always the app’s own analytics once it is live: which models, OS versions and screen sizes real users have. That list decides the device matrix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types are the same as for the web app in earlier modules; network, interruption, and install and update are specific to mobile. Functional, compatibility and many UI checks are good automation candidates because they repeat on every build and every device. Performance on mobile means start-up time, memory, battery and data use, measured on real devices. Security includes where the app stores data: tokens belong in the Android Keystore or iOS Keychain, never in plain files. Accessibility connects to Lecture 16: TalkBack on Android and VoiceOver on iOS read the labels developers give to buttons, and later in this lecture the same labels become the locators for Appium.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distinction: an emulator imitates the device hardware and runs the real Android system image, while a simulator runs the app on the Mac’s own hardware and imitates the iOS environment. Apple’s guide notes that the simulator has access to the Mac’s CPU, memory and network connection, which is why timings on it mean little. The vendors do not use the two words strictly: Google’s own page says the emulator “simulates Android devices on your computer”. A sensible mix for the Canteen App: emulators and simulators on every commit for speed, a few real phones or a device cloud for nightly and release runs, and always real devices for performance, camera, biometrics and battery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are an illustrative plan, not data: 6 × 3 × 2 × 3 is 108 combinations, and 40 tests on each is 4,320 runs. At two minutes a run that is 144 hours of manual work for every release, which few teams could repeat every week. Real teams do not run every test on every combination either: they pick a device list from analytics, run a smoke test on every build, and spread the full regression across devices overnight, often in parallel on a device cloud. This is the requirement named in the syllabus: releases are frequent, the matrix is large, and store releases are slow to fix, so repeatable checks must be automated. People stay on the work machines are bad at, such as judging whether a new screen is easy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Espresso and XCUITest live inside the app project, are written in the platform language, and know when the app is idle, so they are fast and rarely flaky; Google describes Espresso as a way “to write concise, beautiful, and reliable Android UI tests”. Their limits: one platform each, and the tests are written by people with access to the app’s source. Appium sits outside the app and speaks the same W3C WebDriver protocol as Selenium, so a tester who knows Selenium from Module 3 can reuse the same skills and write one suite for both apps. Many teams use both: developers write Espresso and XCUITest checks, and the test team keeps an Appium suite for end-to-end journeys across devices. Note that Apple’s documentation does not use the name XCUITest; it calls this UI testing with XCTest. The name XCUITest is common in the industry and in Appium’s driver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the Selenium picture from Lecture 17: the test sends W3C WebDriver commands over HTTP, exactly as with Selenium, but to the Appium server instead of a browser driver. Appium’s documentation names four parts: the core server, drivers that connect to each platform, clients that give each language its API, and plugins that add features. Since Appium 2 the drivers are installed separately; the UiAutomator2 driver controls Android through Google’s UiAutomator2 framework, and the XCUITest driver controls iOS through Apple’s XCTest. Appium 3 came out in August 2025 and needs a recent Node.js. Run the driver doctor before the first test: it reports what is missing on the machine. Appium Inspector connects to a running server, shows the app’s screen and element tree, and lets you try locators before putting them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test follows the structure of the Selenium tests in Module 3. UiAutomator2Options fills in the platform name Android and the automation name UiAutomator2, so the test only sets the Android version, the device and the path to the app, which Appium installs before the test starts. webdriver.Remote opens a session on the Appium server at port 4723. The locators are accessibility IDs, which on Android are the content-desc values the developers gave each view; the next slide explains why they are the best choice. WebDriverWait and expected conditions come from Selenium, because the Appium Python client is built on the Selenium client; version 6 of the client needs Selenium 4.37 or later. This test was not run: the Canteen mobile apps are illustrative, and a run needs the Appium server, an Android emulator and an APK. pytest does collect it, which confirms the imports and the syntax against Appium-Python-Client 6.0.7.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ranking as for web locators in Lecture 17: prefer an attribute the developers add for testing, avoid anything tied to layout. An accessibility ID works on both platforms, so one locator serves the Android and iOS tests. On Android it is the content-desc attribute, which TalkBack reads aloud, so it should be readable text such as Log in rather than a code like btn_01; that also helps the accessibility testing from Lecture 16. On iOS it is the accessibility identifier, which VoiceOver does not read, so it can be any stable name. XPath works but is slow on mobile, because Appium has to fetch and search the whole page source for each lookup. The UIAutomator and predicate strategies are powerful but tie a test to one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An emulator is a virtual device: its speed depends on the host computer, and the camera, sensors, battery and network radios are imitated, so it says little about how the app behaves on real phones, and it is one device out of many. Before release, run the key journeys on real devices chosen from the user analytics, either in a device lab or on a device cloud. Q2: When the Android developers will write and maintain the tests inside the app project, and speed and stability matter most, for example checks on every commit. Espresso waits for the app to be idle and runs fast; its cost is that it covers Android only. Appium is the better choice for one end-to-end suite across Android and iOS. Q3: An accessibility ID with readable text, such as Place order: content-desc on Android and an accessibility identifier on iOS. It works on both platforms, survives layout changes, and on Android also gives TalkBack users a spoken label. Q4: Any three of: the network drops after tapping Place order (the order must not be lost or placed twice); a slow connection (a loading state, no double submit); a switch from Wi-Fi to mobile data during the request; an incoming call or notification; the app sent to the background and restored; airplane mode on the order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the DevOps ideas from earlier modules need adapting for phones. A web team can deploy many times a day and roll back in minutes, because the code runs on its own servers. A mobile app runs on the user’s phone: a new version needs a signed build and a store review, and then each user has to install it, so several versions are in use at once and the API must support all of them. A bad version cannot be taken back from phones; the team can only release a fix or switch the broken feature off remotely. Mobile DevOps responds in three ways, which the rest of this lecture covers: automate the build and tests so problems are caught early, release in stages to small groups first, and monitor crashes so problems are seen within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for the Canteen App. A commit or pull request starts the CI server. Stage 2 builds both apps and runs the unit tests, which are fast and catch most logic bugs, such as the SAVE20 discount rules. Stage 3 runs UI tests on emulators and simulators, the Espresso, XCUITest or Appium tests from Lecture 20. Stage 4 signs the builds: Google Play needs an Android App Bundle for new apps, and Apple needs a signed IPA. Stage 5 sends the build to testers, and stage 6 releases it to a growing share of users while crash reports are watched. fastlane scripts the build, signing and upload steps so a person never does them by hand. A nightly job can also run the Appium suite on real phones in a device cloud, which is Lecture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lane is a named list of steps, here for the Android app. fastlane beta runs the unit tests, builds a release Android App Bundle, and uploads it to the internal testing track on Google Play. Google Play has required new apps to publish as App Bundles since August 2021, which is why the lane builds a bundle rather than an APK. The upload needs a Google service account key, which the team gives fastlane through its configuration or as a CI secret, never in the repository. An iOS lane looks the same with build_app and upload_to_testflight, and match keeps the signing certificates in one shared, encrypted place so any machine, including the CI server, can sign builds. We checked this Fastfile by running fastlane lanes, which loads the file and lists its lanes; running the lane itself needs the Android project and a Play Console account. The CI server calls the same command, so a release is the same whether a person or Jenkins starts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Beta testing is the mobile version of a staging environment: real people on real phones use a build before the public does. For the Canteen App, the fastlane beta lane from the last slide puts every merged build on the Play internal track, and an iOS lane does the same for a TestFlight internal group of canteen staff and the project team. Once a week a build goes to a closed track and an external TestFlight group of student volunteers. Apple reviews the first build that goes to external testers, so plan a little time for that. TestFlight builds expire after 90 days, which keeps testers on recent versions. Firebase App Distribution works for both platforms and is useful for sending builds to testers who are outside the store testing programs.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Staged rollout is the mobile form of the canary release from Lecture 14. On the App Store, a phased release sends an update to 1, 2, 5, 10, 20, 50 and then 100 percent of users with automatic updates over seven days, and it can be paused. On Google Play the team picks the percentage, raises it step by step, and can halt the rollout. The point is to limit the damage from a bad build: if the new Canteen build crashes on some phones, only a small share of students sees it. Agree the signals before the rollout starts, for example the crash-free user rate from the monitoring on the next slide, and halt when it drops. Remember the limit from the start of this lecture: users who already installed the bad version keep it until a fix is released.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is where testing continues after release, the shift-right idea from Module 3. Crashlytics collects crash reports from users’ phones with the stack trace and the device details, so the team can see which build and which phones are affected, and the crash-free user rate is the signal for halting a staged rollout. Remote Config lets the app read settings from the cloud, so a new feature can ship switched off, be turned on for a small group, and be switched off again if it misbehaves, all without a store release. The loop at the bottom is the DevOps habit: reproduce the crash, write a test that fails because of it, fix the code until the test passes, and keep that test in the suite so the same bug cannot return unnoticed.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summarise the lecture as the syllabus asks: the role of DevOps in mobile automation. Automation tools such as Appium and Espresso write the tests; DevOps decides when they run, on what, and what happens with the result. Point by point: builds come from the CI server, never from a developer’s laptop, so every build is reproducible and signed the same way. Tests run on every change, fast ones on emulators and slower ones on real devices overnight. Release steps are scripted, so nobody uploads a build by hand. Exposure is limited through beta groups, staged rollouts and flags. Production monitoring closes the loop by turning crashes into new tests. And the whole team owns quality through one shared pipeline, which is the cultural side of DevOps.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The app runs on users’ phones, and a version that is installed stays installed; the stores do not take it back. The team can halt the staged rollout so no more users get it, switch the broken feature off with a remote flag, and release a fixed version quickly through the same pipeline. Q2: Unit tests, emulator UI tests, signing, internal testing track, staged rollout. Cheap and fast checks come first; the build is signed once it has passed them, then goes to testers, and only then to a growing share of users. Q3: It runs the unit tests with gradle, builds a release Android App Bundle, and uploads it to the internal testing track on Google Play. Google Play has required new apps to publish as App Bundles since August 2021. Q4: Any two of: halt the Google Play staged rollout or pause the App Store phased release; turn the new payment screen off with Remote Config if it sits behind a flag; use the Crashlytics reports to find the affected devices and OS versions, reproduce the crash on one of them, write a failing test, fix it and release through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testing covers more than one thing, so start with the three uses. The main one for this course is the first: instead of keeping browsers and phones on your own machines, the tests drive browsers and devices in someone else’s data centre, either a grid the team runs on cloud servers or a service such as BrowserStack. The second is performance testing: Locust from Lecture 16 can run many worker processes on cloud machines to create more load than one laptop can. The third is test environments built on demand from code, the environments-as-code practice from Lecture 14. The benefits at the bottom are the reasons teams move to the cloud; the next slides show the options and then what can go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options run from most control to least effort. An own grid is free apart from the servers and runs inside the company network, so it can reach private test environments, but the team maintains it. The same Docker images can run on a Kubernetes cluster in the cloud, where the docker-selenium project provides a Helm chart, so the grid grows for a big run and shrinks afterwards. Commercial test clouds such as BrowserStack, Sauce Labs and TestMu AI, which was called LambdaTest until January 2026, offer many real browsers and phones and record videos and logs, for a subscription. Device farms such as AWS Device Farm and Firebase Test Lab focus on real mobile devices; they usually take the app and a test package, such as Espresso or Appium tests, and run them for you. Because Selenium Grid and the test clouds all accept W3C WebDriver sessions, moving between them changes the driver set-up, not the tests. Other providers exist; the names here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teams mix the options, and the Canteen plan shows a common split. The Docker grid is close to the CI server, cheap and fast, so it runs Chrome and Firefox on every merge to main. The test cloud adds what the team cannot run itself, such as Safari on macOS and real Android and iOS phones, but it costs money per minute or per parallel session, so it runs nightly and before releases. Latency matters: every Selenium command is an HTTP round trip, so a test that sends hundreds of commands runs noticeably slower against a distant data centre. The security point matters too: API keys belong in CI secrets, and test data sent to a third party should be synthetic, never real student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grid we ran for this lecture, based on the example compose file in the docker-selenium project. The hub is the entry point on port 4444, the same port as a single Selenium server, so tests do not care whether one machine or twenty sit behind it. Nodes register with the hub over an event bus on ports 4442 and 4443; SE_EVENT_BUS_HOST tells a node where the hub is, and the node image already defaults to those two ports. The docker-selenium README asks for a larger shared memory size because Docker gives containers only 64 MB of /dev/shm by default, and Chrome uses shared memory heavily. The project also recommends pinning full image tags, as here, so a new browser release does not change test results overnight. The remaining eight lines define a Firefox node in the same way. Open http://localhost:4444 in a browser to see the Grid UI with its nodes and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run is real: two Chrome nodes behind one hub, and the four order tests from Lecture 18 split across them. The only code change from the local run is the driver fixture, which uses webdriver.Remote with the grid address instead of starting Chrome on the same machine. pytest-xdist’s -n 2 option starts two worker processes, so two browser sessions run at the same time; with more nodes and more workers the suite time drops further, as long as the tests do not share data. One practical trap: the browsers now run inside containers, and inside a container localhost means the container itself, so the tests pass the app’s address on the Docker network through BASE_URL. The same fixture reads GRID_URL, so CI can point it at any grid without a code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driver fixture changes again. The bstack:options block holds BrowserStack’s own settings: the operating system, browser version, and the build and session names that group results in its dashboard; buildName takes Jenkins’s BUILD_TAG so each CI run is one build. Other clouds work the same way with their own block, such as sauce:options for Sauce Labs and LT:Options for TestMu AI. The username and access key come from environment variables that the CI server fills from its secret store. We pass them through Selenium’s ClientConfig, which sends them as an HTTP basic authentication header; putting them in the URL also works and is what BrowserStack’s older examples show, but Selenium 4.49 warns that this “could be insecure”, and the URL is copied into the session’s capabilities. The slide leaves out the import of ClientConfig and the last two lines, yield driver and driver.quit(), which are the same as in the grid fixture. We ran this fixture against a small local stand-in for the hub to check exactly what it sends; a real run needs a BrowserStack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Device farms take the app and, optionally, a test package, run them on the real devices you choose, and return the results. Firebase Test Lab’s Robo test needs no test code: it explores the app’s screens by itself and reports crashes, which makes it a cheap first check for every Android build. For the Canteen App, the Espresso tests from the app project run as an instrumentation test with --type instrumentation and --test pointing at the test APK. Pick current model IDs and Android versions from the models list command, guided by the user analytics from Lecture 20. AWS Device Farm runs Appium, Espresso and XCUITest packages on Android and iOS devices and also offers remote access, where a tester controls a real phone through the browser. The Test Lab command was not run for this course because it needs a Google Cloud project; its syntax follows the Firebase documentation.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setup topic from the syllabus as a checklist the students can follow in the lab. Steps 1 to 3 were on the previous slides. Step 4 matters for most real projects: the Canteen staging server sits inside the university network, so a browser in BrowserStack’s data centre cannot reach it directly. A tunnel program runs inside the network and carries the cloud browser’s traffic to the private site; BrowserStack calls it Local Testing, and Sauce Labs calls it Sauce Connect, now version 5. Step 5 makes the vendor dashboard useful, because every CI run shows up as one build with its sessions. Step 6: the plan decides how many sessions may run at once, and extra ones queue. Step 7: keep the video and logs of failed sessions with the CI build. Step 8: review the bill and the queue time each month, and remove flaky tests, which waste paid minutes on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For the cloud: many more models and OS versions than three phones, including iPhones; parallel runs that finish sooner; no charging, updating or replacing devices; videos and logs for every session. For keeping the phones: quick manual checks during development, tests that need the local network or special hardware, and no per-minute cost. Q2: Docker gives each container only 64 MB of shared memory at /dev/shm by default, and Chrome uses shared memory heavily, so it can crash on large pages; the docker-selenium README asks for 2 GB. Q3: The browser runs in BrowserStack’s data centre, so localhost there is BrowserStack’s own machine, not yours. Fixes: start BrowserStack Local, which tunnels the cloud browser’s traffic to your machine or private network, or deploy the app to a staging address the cloud can reach. Q4: Only the driver fixture in conftest.py changed each time: webdriver.Chrome, then webdriver.Remote with the grid URL, then webdriver.Remote with the BrowserStack hub, vendor options and credentials. The tests and page objects stayed the same, which is the payoff of the Page Object Model and of a fixture that owns the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order in the Jenkinsfile on the next slides, and it follows one rule: run the cheapest check that can catch a problem first. Unit tests need no server and finish in seconds, and the same command enforces the coverage gate. Static analysis and its quality gate come next. Only then is the build deployed to the test server, because every later stage needs a running app. The smoke stage checks the key journeys, such as log in and place an order, so a broken deployment stops the pipeline before the long regression runs. Regression runs the Newman API tests and the Selenium UI tests at the same time. Whatever happens, the post section publishes the JUnit reports, so a failed run still shows what failed. Link this to the test pyramid: many fast tests at the start, fewer slow ones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Jenkinsfile lives in the repository next to the code, so the pipeline is versioned and reviewed like any other change, which is pipeline as code. Declarative syntax gives a fixed structure: pipeline, agent, environment, stages, and inside each stage its steps. The environment block binds a secret stored in Jenkins to the variable CANTEEN_PASSWORD; Jenkins masks its value if it ever appears in the console log. The first stage runs the unit tests with three outputs: a JUnit XML report, a coverage report for SonarQube, and the coverage gate, which makes pytest exit with code 1 below 80 percent. Every sh step works the same way: exit code 0 lets the pipeline continue, anything else fails the stage and skips the stages after it. We checked the full file with the declarative linter of a Jenkins server; the stages after this one follow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parallel block runs its nested stages at the same time, so the regression takes as long as the slower suite instead of both added together. Jenkins’s documentation describes it this way: “Stages in Declarative Pipeline may have a parallel section containing a list of nested stages to be run in parallel.” failFast true means that when one branch fails, Jenkins stops the others, so the team hears about the failure sooner and the agents are freed. The API branch is the Newman command from Lecture 19, run on the whole collection; the password comes from the credential bound at the top of the file, and because the Groovy string uses single quotes, the shell, not Groovy, fills in $CANTEEN_PASSWORD, which is the way Jenkins recommends for secrets. We ran this step on a Jenkins server with a stand-in secret and an echo in place of newman: the console printed --env-var password=****, so the value reached the shell but not the log. The UI branch also runs in parallel inside itself: pytest-xdist’s -n 4 starts four workers. Both branches write JUnit XML into reports, which the post section publishes.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reports come from the same tests with different options, and we generated each one for the Canteen UI tests; one run can also write all three if the options are combined. JUnit XML is the common language of CI: pytest, Newman, Robot Framework and most other tools can write it, and Jenkins’s junit step reads every file that matches reports/*.xml, shows the failures, and draws a trend across builds. It sits in post always so the results are published even when a test stage fails; a step placed after the tests would be skipped. pytest-html gives a single page that can be attached to an email or a ticket. Allure needs two steps: the allure-pytest plugin writes raw results during the run, and the Allure command-line tool turns them into a web report with steps, attachments, categories of failure and history across runs. Allure 2’s command-line tool needs Java; Allure 3 installs with npm and has slightly different commands.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six questions to judge any report, whether it comes from Jenkins, Allure or a test cloud. A report that only says 12 passed, 1 failed forces someone to rerun the test to learn anything. The first three questions are about fixing: the assertion message and stack trace, the build and environment, and evidence such as a screenshot or the API response. The last three are about managing quality: whether a failure is new or a known flaky test, which requirement is affected, which links back to the traceability matrix from Module 2, and how suite time changes, since slow feedback is a cost. Our UI run’s JUnit XML lists each test with its class, name and duration, for example test_save20_takes_20_percent_off at 7.528 seconds; a failing test adds a failure element with the assertion message. Allure adds history and flaky-test marking across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quality gate turns a quality goal into a rule that a machine checks on every change, so nobody has to remember to look. Each gate needs a measurable rule and a way to stop the pipeline, which in practice is almost always a non-zero exit code or a step that aborts the build. The first five rows are in the Jenkinsfile we just read. The last two reuse Lecture 16: the Locust quitting hook sets exit code 1 when the 95th percentile is above 2 seconds or more than 1 percent of requests fail, and the ZAP baseline scan exits with 1 when any rule is at FAIL level; a WARN-only result gives exit code 2, as in our real run, so a team decides how to treat that code. Keep gates strict but fair: a gate that fails at random, like a flaky test, teaches people to ignore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runs are real. In the first, every test passes, but pytest-cov reports 69.77 percent line coverage, below the 80 percent threshold, so pytest exits with 1 and Jenkins fails the Unit tests stage. Nine of the 13 missing lines were real gaps: nobody tested the rule that SAVE20 needs an order of at least 200 rupees, the cart’s rejection of a quantity above 10, or the cart total read from saved items. The other four are an unused copy of delivery_fee in pricing.py, which practice task 2 deals with. Three tests for those rules raised coverage to 90.70 percent and the gate passed. Two warnings for students. First, coverage shows which lines ran and says nothing about how good the assertions are; a test with no assertion still adds coverage. Second, the easy way out, lowering the threshold, defeats the gate; better to test the missing rules and delete code that is never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work together. The analysis stage runs sonar-scanner inside withSonarQubeEnv, which passes the server address and token configured in Jenkins; the scanner sends its analysis, including the coverage.xml from the unit tests when the project settings point to it. SonarQube then computes the result in the background. The Quality gate stage waits for it: waitForQualityGate pauses until SonarQube reports back through the webhook, and abortPipeline true stops the pipeline if the gate is not green. The timeout keeps a lost webhook from blocking the agent forever. The built-in Sonar way gate looks only at new code, which lets a team with an old codebase improve step by step; the coverage and duplication conditions are skipped when fewer than 20 lines are new. Note the product names since October 2024: SonarQube Server, SonarQube Cloud, SonarQube for IDE, and the free SonarQube Community Build. SonarQube Cloud’s Sonar way uses ratings instead of the no-new-issues condition.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Cheap, fast checks come first so most problems stop the pipeline within seconds, before any time is spent deploying. Unit tests need no server, so they can run before deployment. Smoke tests check that the deployed build works at all; if log in is broken there is no point running the long regression suite, and its many failures would hide the real cause. Q2: When a test stage fails, Jenkins skips the steps and stages after it, so a junit step placed after the tests would not run and the results would be lost exactly when they are needed. The post always section runs whatever the result. Q3: Good: write tests for the untested rules, as we did for the minimum order and the cart; and remove dead code, such as the unused copy of delivery_fee in pricing.py, so the gate measures code that matters (on its own that would reach only 76 percent here). Bad: lower the threshold, or write tests without assertions that only run lines. Q4: SonarQube could not deliver its result to Jenkins, usually because the webhook is missing or points to the wrong address, for example without the trailing slash after sonarqube-webhook. waitForQualityGate waits for that webhook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slowly and unpack the five highlighted phrases. Automated tests: people still test, but the repeatable checks run without them. Part of the delivery pipeline: the tests are stages in the same pipeline that builds and deploys, as in the Jenkinsfile from Lecture 23, not a separate phase handed to another team. Immediate feedback: the developer learns about a problem while the change is still fresh. Business risks: can students still log in, order and pay with this build? The results should answer that directly, beyond a count of passed tests. Release candidate: in continuous delivery every build that passes could be released, so every build is tested as if it will be. DORA’s wording makes the same point from another angle: testing runs through the whole life cycle instead of waiting until development is finished.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treat the two terms as the same thing, so contrast them directly. A team that runs 2,000 automated UI tests once a week before release has test automation but not continuous testing: the feedback arrives days after the change, and nobody can release a build on a Tuesday afternoon with confidence. Continuous testing adds the pipeline around the tests: every change triggers the right tests at the right stage, the results feed quality gates, and the outcome is a decision about release risk. It also widens the scope beyond functional checks to performance, security and monitoring in production, which we automated in Lecture 16 and saw for mobile in Lecture 21. Finally, it is a team practice: developers write and fix tests, testers design the strategy, and operations shares the production signals.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syllabus topic on the requirement for continuous testing, and it doubles as a review of Modules 3 and 4, because each row is something the course has already built. A pipeline that runs on every change is the backbone. Tests must exist at every level of the pyramid, from unit tests to mobile journeys. Feedback must be fast, which is why the unit stage comes first and regression runs in parallel. Tests must be reliable, because a flaky gate is ignored; our own flaky lock test was fixed with a proper wait, not hidden with retries. Environments and test data must be available on demand, which containers, seeded users and stubs provide. Gates and reports turn results into decisions, and production feedback closes the loop. The last line is cultural: DORA’s continuous integration guidance says that when the build breaks, the team fixes it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each advantage to something the class has seen. Early defects: the coverage gate in Lecture 23 found untested rules before any deployment. Lower release risk: a Canteen build that reaches students has passed unit tests, analysis, smoke, regression and a staged rollout. Smaller releases: without a two-week test phase, a fix can go out the same day, and a small change is easier to test and to roll back. Visible quality: Jenkins trends and Allure history show whether quality is improving. Safe change: when Selenium or Chrome is upgraded, the suite shows at once whether anything broke, as the driver mismatch in Lecture 17 did. Less repetition: machines repeat the regression checks, and people explore the new features. The DORA quote is about test automation as a capability of high-performing teams; the benefit comes when the tests run continuously in the pipeline, not when they sit unused.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testing is simple to describe and hard to keep working, so spend time on this slide. Flaky tests are a major threat because they destroy trust in the pipeline: Google reported in 2016 that 84 percent of the transitions from pass to fail in its CI involved a flaky test. Slow suites lead teams to run tests less often, which defeats the purpose. Test data and environments must be reproducible, or failures cannot be repeated. Dependencies that are not ready, such as a payment provider, are replaced with stubs and checked with contract tests. Old code without tests is handled step by step, which is the idea behind the Sonar way gate that only judges new code. The last row is about people: continuous testing fails if a red pipeline is left red while everyone carries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A release candidate is a build that could go to students. Its business risks are what could go wrong for the canteen if it did: students cannot log in at lunchtime, SAVE20 gives the wrong discount and the canteen loses money, orders are placed twice, the menu is too slow at peak time, or payment data leaks. Continuous testing gives immediate feedback on these risks for every build, so the release decision rests on evidence. Q2: No. It is test automation, but the feedback comes days after each change and only once a week, so problems pile up and the release depends on one large test run. To make it continuous: run fast unit and API tests on every commit, a smoke suite after each deployment, the UI regression in parallel nightly or on each merge, and gate the pipeline on the results. Q3: Any four with examples: a pipeline on every change (Jenkinsfile); tests at every level (unit, API, UI stages); fast feedback (unit stage first, parallel regression); reliable tests (flaky lock test fixed); environments on demand (Docker grid, deploy script); test data (seeded users); gates and reports (coverage, Sonar way, JUnit); production feedback (crash reports, staged rollout). Q4: In continuous testing the pipeline decides automatically, many times a day. A flaky failure blocks good changes or, worse, teaches people to rerun and ignore red builds, and then real failures are ignored too. In a manual release test a person would notice and judge a strange result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continuous testing strategy is the plan that decides which tests exist, where they run and what their results do. Start from risk, not from tools: list what would hurt the canteen and the students most, such as orders lost or placed twice, a wrong discount, or students unable to log in at lunchtime, and rank them. Then choose the level for each check, following the test pyramid from Module 2 and Lecture 14: rules such as SAVE20 belong in unit tests, service behaviour in API tests, and only a few journeys in UI tests. Map each suite to a pipeline stage with a time budget, define the gates, and make sure environments and data exist for every stage. The sixth question keeps the strategy alive: review reports, flaky tests and production incidents, and adjust. The next slide fills in this strategy for the Canteen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strategy from the previous slide filled in for the Canteen App, and every row uses tools from this course. Each push gets the fast checks within DORA’s ten-minute feedback guidance. After the build is deployed, a two-minute smoke test protects the long regression run. Merges to main run the API and UI regression in parallel. Our Jenkinsfile from Lecture 23 still runs every stage on each push, which is fine while the suites are small; as they grow, a when { branch 'main' } condition on the Regression stage moves it to merges. Nightly runs add what is slow or costly: the test cloud for other browsers and real phones, the Locust load test and the ZAP scan, each with its own gate. Releases go out in stages while crash reports are watched. Underneath, the three boxes answer the remaining questions: the top risks that decide what is tested most, the data policy, and a regular review of flaky tests, slow stages and defects that escaped to production. Ask students to adapt the table to their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delivery was set out in the 2010 book Continuous Delivery by Jez Humble and David Farley. Both definitions are about ability: DORA’s “ability to release”, and Fowler’s software that “can be released to production at any time”. Continuous delivery means every change could be released, on demand, without drama; releasing it is a separate decision. Fowler’s checklist makes this concrete. Read the third item aloud, because it is continuous testing in one sentence: anybody gets fast, automated feedback on production readiness whenever something changes. The second item is the cultural one: when the build is broken, keeping the software deployable comes before new features, which matches the stop-and-fix rule. The website continuousdelivery.com adds that the changes can be of all types, including new features, configuration changes, bug fixes and experiments. DORA adds that teams who do this well can release “in a low-risk way at any time”, including during normal business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deployment pipeline is the central pattern of continuous delivery. continuousdelivery.com describes it this way: “every change in version control triggers a process (usually in a CI server) which creates deployable packages and runs automated unit tests and other validations”. Each stage raises confidence in the release candidate and costs more time, so the fast stages come first, which is the same ordering rule as in Lecture 23. Three principles make it work. Build once: the Canteen package is built in the commit stage and the same package is deployed to test and then to production, so what was tested is what ships. Stop on red: a candidate that fails a stage never moves on. Release is a choice: the dashed arrow is the business decision to release, and everything before it is automated. Exploratory and acceptance testing by people still happens, on candidates that have already passed the automated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terms build on each other, and exam answers often mix them up. Continuous integration is about the code: everyone merges often, and every merge is built and tested automatically, which is the commit stage of the pipeline. Continuous delivery extends the pipeline all the way to a releasable package: every change that passes could go to production, but a person decides when. Continuous deployment removes that last decision: every change that passes the pipeline goes to production automatically. For the Canteen web app, continuous deployment is realistic because a bad change can be rolled back in minutes. For the mobile apps it is not, because every release passes through store review and users update at their own pace, so the mobile team practises continuous delivery with staged rollouts, as in Lecture 21. Either way, all three depend on continuous testing to decide whether a change is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syllabus asks for continuous testing versus continuous delivery, and the key point is that they are not rivals: one is a part of the other. Continuous delivery is the goal, the ability to release any change on demand, quickly, safely and sustainably. Continuous testing is the part of the pipeline that supplies the evidence for “safely”. Without continuous testing, continuous delivery would release untested changes quickly, which nobody wants; without continuous delivery, continuous testing still gives fast feedback but the tested builds wait for a slow, manual release. DORA’s list of capabilities behind continuous delivery includes continuous testing, alongside test automation, deployment automation, trunk-based development and others. For an exam answer, compare them on purpose, scope, output and measures, as in the table, and end with the relationship.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DORA measures software delivery with five metrics in two groups. Throughput: change lead time, “the amount of time it takes for a change to go from committed to version control to deployed in production”; deployment frequency; and failed deployment recovery time. Instability: change fail rate, “the ratio of deployments that require immediate intervention following a deployment”, and deployment rework rate, “the ratio of deployments that are unplanned but happen as a result of an incident in production”. Continuous testing affects all five. It shortens lead time by replacing a long manual phase with automated stages, it allows frequent deployment because every green build has already been tested, it speeds recovery because a fix goes through the same fast pipeline, and its gates lower the change fail rate and the rework rate by stopping defects before they reach users. Tracking these metrics over time is how a team checks that its testing strategy is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On merges to main or nightly, in parallel on the grid, with a smoke subset after each deployment. Forty minutes on every push breaks DORA’s ten-minute feedback guidance, so developers would wait, batch their changes, or skip the tests. Keep fast unit and API checks on every push and push more checks down the pyramid so the UI suite can shrink. Q2: Continuous delivery. Every release passes through Apple and Google review, users install updates at their own pace, and a released version cannot be taken back, so each release is a deliberate decision, made with staged rollouts. The web app could use continuous deployment. Q3: Continuous delivery means any change can be released safely; the evidence for safely comes from continuous testing. Without it the team can release quickly but blindly, and its change fail rate would show it. Q4: Change fail rate, supported by deployment rework rate: both rise when deployments need immediate fixes or unplanned follow-up deployments. Add a gate that would have caught the escaped defects, for example a smoke test of the failing journey after deployment, a stricter regression suite, or a coverage or Sonar condition on new code, and check whether the rate falls.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page for a two-minute recap or as a revision sheet before the end-term examination. The cards follow the lectures: the first three cover Lecture 20, the next two Lecture 21, then two each for Lectures 22 and 23, and the last three Lectures 25 and 26. Ask students to pick any card and explain it with the Canteen App example; that is a good test of whether they can apply the idea, which is what the course outcomes CO2 and CO3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answers for marking. 1: BROWSERS = {"chrome": webdriver.ChromeOptions, "firefox": webdriver.FirefoxOptions}; @pytest.fixture(params=BROWSERS) def driver(request) creates webdriver.Remote(command_executor=grid, options=BROWSERS[request.param]()), yields it and quits. Start the hub with both nodes (docker compose up -d) and run BASE_URL=http://172.18.0.1:5000 pytest -n 4 tests/grid. Our run: 8 passed in 91.52 s, with test IDs ending in [chrome] and [firefox]. With one node per browser the sessions queue; more nodes cut the time. 2: term-missing points at pricing.py lines 11 to 14, a second copy of delivery_fee that nothing uses; the tests call the one in canteen.delivery. Delete it: coverage becomes 100 percent of 38 statements, “Required test coverage of 95% reached”, 15 passed, exit code 0; we ran this. A test for the dead copy would also pass the gate but keeps dead code, and lowering the threshold is not an answer. 3: stage('Security scan') with steps { sh 'docker run --rm -v "$WORKSPACE/reports:/zap/wrk" -t ghcr.io/zaproxy/zaproxy:stable ' + 'zap-baseline.py -t "$TEST_URL" -I -r zap.html' }, plus TEST_URL = 'http://canteen-test:5000' (the test server’s address) in the environment block and archiveArtifacts artifacts: 'reports/**', allowEmptyArchive: true in post always. The -I flag stops WARN-only results (exit code 2) from failing the stage, while any FAIL alert still exits with 1. This version of the Jenkinsfile passed the declarative linter. The ZAP container also needs write access to the mounted reports folder. 4: Look for one row per stage with a reason: every commit, unit tests, lint and a few Espresso checks on one emulator within 10 minutes; every merge, the full Espresso suite on two or three emulators plus the API tests; nightly, the Appium suite on real devices chosen from analytics in a device cloud; release, internal and closed tracks, then a staged rollout gated on the crash-free rate; in production, Crashlytics and Remote Config flags. The device list should cover the oldest supported Android version, a small screen and a low-end phone. Mark on risk-based choices, realistic budgets, measurable gates and justified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1.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image" Target="../media/image-57-3.png"/><Relationship Id="rId4" Type="http://schemas.openxmlformats.org/officeDocument/2006/relationships/image" Target="../media/image-57-4.png"/><Relationship Id="rId5" Type="http://schemas.openxmlformats.org/officeDocument/2006/relationships/slideLayout" Target="../slideLayouts/slideLayout1.xml"/><Relationship Id="rId6"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04</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CSET454 · TEST AUTOMATION IN DEVOPS</a:t>
            </a:r>
            <a:endParaRPr lang="en-US" sz="1200" dirty="0"/>
          </a:p>
        </p:txBody>
      </p:sp>
      <p:sp>
        <p:nvSpPr>
          <p:cNvPr id="4" name="Text 2"/>
          <p:cNvSpPr/>
          <p:nvPr/>
        </p:nvSpPr>
        <p:spPr>
          <a:xfrm>
            <a:off x="812800" y="3489960"/>
            <a:ext cx="981075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Mobile, Cloud and</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Continuous Testing</a:t>
            </a:r>
            <a:endParaRPr lang="en-US" sz="5600" dirty="0"/>
          </a:p>
        </p:txBody>
      </p:sp>
      <p:sp>
        <p:nvSpPr>
          <p:cNvPr id="5" name="Text 3"/>
          <p:cNvSpPr/>
          <p:nvPr/>
        </p:nvSpPr>
        <p:spPr>
          <a:xfrm>
            <a:off x="812800" y="5186680"/>
            <a:ext cx="10883392"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C5CFDB"/>
                </a:solidFill>
                <a:latin typeface="IBM Plex Sans" pitchFamily="34" charset="0"/>
                <a:ea typeface="IBM Plex Sans" pitchFamily="34" charset="-122"/>
                <a:cs typeface="IBM Plex Sans" pitchFamily="34" charset="-120"/>
              </a:rPr>
              <a:t>Module 4 · Lectures 20–23 and 25–26 · 6 contact hours</a:t>
            </a:r>
            <a:endParaRPr lang="en-US" sz="2000" dirty="0"/>
          </a:p>
        </p:txBody>
      </p:sp>
      <p:sp>
        <p:nvSpPr>
          <p:cNvPr id="6" name="Shape 4"/>
          <p:cNvSpPr/>
          <p:nvPr/>
        </p:nvSpPr>
        <p:spPr>
          <a:xfrm>
            <a:off x="815975" y="5723255"/>
            <a:ext cx="1172210" cy="318770"/>
          </a:xfrm>
          <a:prstGeom prst="roundRect">
            <a:avLst>
              <a:gd name="adj" fmla="val 50000"/>
            </a:avLst>
          </a:prstGeom>
          <a:noFill/>
          <a:ln w="6350">
            <a:solidFill>
              <a:srgbClr val="3A5476"/>
            </a:solidFill>
            <a:prstDash val="solid"/>
          </a:ln>
        </p:spPr>
      </p:sp>
      <p:sp>
        <p:nvSpPr>
          <p:cNvPr id="7" name="Text 5"/>
          <p:cNvSpPr/>
          <p:nvPr/>
        </p:nvSpPr>
        <p:spPr>
          <a:xfrm>
            <a:off x="944880" y="5775960"/>
            <a:ext cx="9652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Semester V</a:t>
            </a:r>
            <a:endParaRPr lang="en-US" sz="1200" dirty="0"/>
          </a:p>
        </p:txBody>
      </p:sp>
      <p:sp>
        <p:nvSpPr>
          <p:cNvPr id="8" name="Shape 6"/>
          <p:cNvSpPr/>
          <p:nvPr/>
        </p:nvSpPr>
        <p:spPr>
          <a:xfrm>
            <a:off x="2096135" y="5723255"/>
            <a:ext cx="2360930" cy="318770"/>
          </a:xfrm>
          <a:prstGeom prst="roundRect">
            <a:avLst>
              <a:gd name="adj" fmla="val 50000"/>
            </a:avLst>
          </a:prstGeom>
          <a:noFill/>
          <a:ln w="6350">
            <a:solidFill>
              <a:srgbClr val="3A5476"/>
            </a:solidFill>
            <a:prstDash val="solid"/>
          </a:ln>
        </p:spPr>
      </p:sp>
      <p:sp>
        <p:nvSpPr>
          <p:cNvPr id="9" name="Text 7"/>
          <p:cNvSpPr/>
          <p:nvPr/>
        </p:nvSpPr>
        <p:spPr>
          <a:xfrm>
            <a:off x="2225040" y="5775960"/>
            <a:ext cx="216621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Specialisation elective</a:t>
            </a:r>
            <a:endParaRPr lang="en-US" sz="1200" dirty="0"/>
          </a:p>
        </p:txBody>
      </p:sp>
      <p:sp>
        <p:nvSpPr>
          <p:cNvPr id="10" name="Shape 8"/>
          <p:cNvSpPr/>
          <p:nvPr/>
        </p:nvSpPr>
        <p:spPr>
          <a:xfrm>
            <a:off x="4565015" y="5723255"/>
            <a:ext cx="1263650" cy="318770"/>
          </a:xfrm>
          <a:prstGeom prst="roundRect">
            <a:avLst>
              <a:gd name="adj" fmla="val 50000"/>
            </a:avLst>
          </a:prstGeom>
          <a:noFill/>
          <a:ln w="6350">
            <a:solidFill>
              <a:srgbClr val="3A5476"/>
            </a:solidFill>
            <a:prstDash val="solid"/>
          </a:ln>
        </p:spPr>
      </p:sp>
      <p:sp>
        <p:nvSpPr>
          <p:cNvPr id="11" name="Text 9"/>
          <p:cNvSpPr/>
          <p:nvPr/>
        </p:nvSpPr>
        <p:spPr>
          <a:xfrm>
            <a:off x="4693920" y="5775960"/>
            <a:ext cx="1056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L-T-P 2-0-2</a:t>
            </a:r>
            <a:endParaRPr lang="en-US" sz="1200" dirty="0"/>
          </a:p>
        </p:txBody>
      </p:sp>
      <p:sp>
        <p:nvSpPr>
          <p:cNvPr id="12" name="Shape 10"/>
          <p:cNvSpPr/>
          <p:nvPr/>
        </p:nvSpPr>
        <p:spPr>
          <a:xfrm>
            <a:off x="5936615" y="5723255"/>
            <a:ext cx="1080770" cy="318770"/>
          </a:xfrm>
          <a:prstGeom prst="roundRect">
            <a:avLst>
              <a:gd name="adj" fmla="val 50000"/>
            </a:avLst>
          </a:prstGeom>
          <a:noFill/>
          <a:ln w="6350">
            <a:solidFill>
              <a:srgbClr val="3A5476"/>
            </a:solidFill>
            <a:prstDash val="solid"/>
          </a:ln>
        </p:spPr>
      </p:sp>
      <p:sp>
        <p:nvSpPr>
          <p:cNvPr id="13" name="Text 11"/>
          <p:cNvSpPr/>
          <p:nvPr/>
        </p:nvSpPr>
        <p:spPr>
          <a:xfrm>
            <a:off x="6065520" y="5775960"/>
            <a:ext cx="87376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3 credits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ROADMAP</a:t>
            </a:r>
            <a:endParaRPr lang="en-US" sz="1200" dirty="0"/>
          </a:p>
        </p:txBody>
      </p:sp>
      <p:sp>
        <p:nvSpPr>
          <p:cNvPr id="3" name="Text 1"/>
          <p:cNvSpPr/>
          <p:nvPr/>
        </p:nvSpPr>
        <p:spPr>
          <a:xfrm>
            <a:off x="812800" y="11277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4 at a glance</a:t>
            </a:r>
            <a:endParaRPr lang="en-US" sz="3200" dirty="0"/>
          </a:p>
        </p:txBody>
      </p:sp>
      <p:sp>
        <p:nvSpPr>
          <p:cNvPr id="4" name="Shape 2"/>
          <p:cNvSpPr/>
          <p:nvPr/>
        </p:nvSpPr>
        <p:spPr>
          <a:xfrm>
            <a:off x="812800" y="1831975"/>
            <a:ext cx="1016000" cy="0"/>
          </a:xfrm>
          <a:prstGeom prst="line">
            <a:avLst/>
          </a:prstGeom>
          <a:noFill/>
          <a:ln w="6350">
            <a:solidFill>
              <a:srgbClr val="DDD8CC"/>
            </a:solidFill>
            <a:prstDash val="solid"/>
          </a:ln>
        </p:spPr>
      </p:sp>
      <p:sp>
        <p:nvSpPr>
          <p:cNvPr id="5" name="Text 3"/>
          <p:cNvSpPr/>
          <p:nvPr/>
        </p:nvSpPr>
        <p:spPr>
          <a:xfrm>
            <a:off x="812800" y="1859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L20</a:t>
            </a:r>
            <a:endParaRPr lang="en-US" sz="2000" dirty="0"/>
          </a:p>
        </p:txBody>
      </p:sp>
      <p:sp>
        <p:nvSpPr>
          <p:cNvPr id="6" name="Shape 4"/>
          <p:cNvSpPr/>
          <p:nvPr/>
        </p:nvSpPr>
        <p:spPr>
          <a:xfrm>
            <a:off x="1828800" y="1831975"/>
            <a:ext cx="9550400" cy="0"/>
          </a:xfrm>
          <a:prstGeom prst="line">
            <a:avLst/>
          </a:prstGeom>
          <a:noFill/>
          <a:ln w="6350">
            <a:solidFill>
              <a:srgbClr val="DDD8CC"/>
            </a:solidFill>
            <a:prstDash val="solid"/>
          </a:ln>
        </p:spPr>
      </p:sp>
      <p:sp>
        <p:nvSpPr>
          <p:cNvPr id="7" name="Text 5"/>
          <p:cNvSpPr/>
          <p:nvPr/>
        </p:nvSpPr>
        <p:spPr>
          <a:xfrm>
            <a:off x="1828800" y="1897380"/>
            <a:ext cx="411798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Testing in mobile automation and its requirement</a:t>
            </a:r>
            <a:endParaRPr lang="en-US" sz="1400" dirty="0"/>
          </a:p>
        </p:txBody>
      </p:sp>
      <p:sp>
        <p:nvSpPr>
          <p:cNvPr id="8" name="Text 6"/>
          <p:cNvSpPr/>
          <p:nvPr/>
        </p:nvSpPr>
        <p:spPr>
          <a:xfrm>
            <a:off x="5903039" y="1922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40 min</a:t>
            </a:r>
            <a:endParaRPr lang="en-US" sz="1200" dirty="0"/>
          </a:p>
        </p:txBody>
      </p:sp>
      <p:sp>
        <p:nvSpPr>
          <p:cNvPr id="9" name="Shape 7"/>
          <p:cNvSpPr/>
          <p:nvPr/>
        </p:nvSpPr>
        <p:spPr>
          <a:xfrm>
            <a:off x="812800" y="2212975"/>
            <a:ext cx="1016000" cy="0"/>
          </a:xfrm>
          <a:prstGeom prst="line">
            <a:avLst/>
          </a:prstGeom>
          <a:noFill/>
          <a:ln w="6350">
            <a:solidFill>
              <a:srgbClr val="DDD8CC"/>
            </a:solidFill>
            <a:prstDash val="solid"/>
          </a:ln>
        </p:spPr>
      </p:sp>
      <p:sp>
        <p:nvSpPr>
          <p:cNvPr id="10" name="Text 8"/>
          <p:cNvSpPr/>
          <p:nvPr/>
        </p:nvSpPr>
        <p:spPr>
          <a:xfrm>
            <a:off x="812800" y="2240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L21</a:t>
            </a:r>
            <a:endParaRPr lang="en-US" sz="2000" dirty="0"/>
          </a:p>
        </p:txBody>
      </p:sp>
      <p:sp>
        <p:nvSpPr>
          <p:cNvPr id="11" name="Shape 9"/>
          <p:cNvSpPr/>
          <p:nvPr/>
        </p:nvSpPr>
        <p:spPr>
          <a:xfrm>
            <a:off x="1828800" y="2212975"/>
            <a:ext cx="4775200" cy="0"/>
          </a:xfrm>
          <a:prstGeom prst="line">
            <a:avLst/>
          </a:prstGeom>
          <a:noFill/>
          <a:ln w="6350">
            <a:solidFill>
              <a:srgbClr val="DDD8CC"/>
            </a:solidFill>
            <a:prstDash val="solid"/>
          </a:ln>
        </p:spPr>
      </p:sp>
      <p:sp>
        <p:nvSpPr>
          <p:cNvPr id="12" name="Text 10"/>
          <p:cNvSpPr/>
          <p:nvPr/>
        </p:nvSpPr>
        <p:spPr>
          <a:xfrm>
            <a:off x="1828800" y="2278380"/>
            <a:ext cx="276148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Applications of DevOps in mobile</a:t>
            </a:r>
            <a:endParaRPr lang="en-US" sz="1400" dirty="0"/>
          </a:p>
        </p:txBody>
      </p:sp>
      <p:sp>
        <p:nvSpPr>
          <p:cNvPr id="13" name="Text 11"/>
          <p:cNvSpPr/>
          <p:nvPr/>
        </p:nvSpPr>
        <p:spPr>
          <a:xfrm>
            <a:off x="4586050" y="2303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4" name="Shape 12"/>
          <p:cNvSpPr/>
          <p:nvPr/>
        </p:nvSpPr>
        <p:spPr>
          <a:xfrm>
            <a:off x="6604000" y="2212975"/>
            <a:ext cx="4775200" cy="0"/>
          </a:xfrm>
          <a:prstGeom prst="line">
            <a:avLst/>
          </a:prstGeom>
          <a:noFill/>
          <a:ln w="6350">
            <a:solidFill>
              <a:srgbClr val="DDD8CC"/>
            </a:solidFill>
            <a:prstDash val="solid"/>
          </a:ln>
        </p:spPr>
      </p:sp>
      <p:sp>
        <p:nvSpPr>
          <p:cNvPr id="15" name="Text 13"/>
          <p:cNvSpPr/>
          <p:nvPr/>
        </p:nvSpPr>
        <p:spPr>
          <a:xfrm>
            <a:off x="6604000" y="2278380"/>
            <a:ext cx="309382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Role of DevOps in mobile automation</a:t>
            </a:r>
            <a:endParaRPr lang="en-US" sz="1400" dirty="0"/>
          </a:p>
        </p:txBody>
      </p:sp>
      <p:sp>
        <p:nvSpPr>
          <p:cNvPr id="16" name="Text 14"/>
          <p:cNvSpPr/>
          <p:nvPr/>
        </p:nvSpPr>
        <p:spPr>
          <a:xfrm>
            <a:off x="9683909" y="2303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17" name="Shape 15"/>
          <p:cNvSpPr/>
          <p:nvPr/>
        </p:nvSpPr>
        <p:spPr>
          <a:xfrm>
            <a:off x="812800" y="2593975"/>
            <a:ext cx="1016000" cy="0"/>
          </a:xfrm>
          <a:prstGeom prst="line">
            <a:avLst/>
          </a:prstGeom>
          <a:noFill/>
          <a:ln w="6350">
            <a:solidFill>
              <a:srgbClr val="DDD8CC"/>
            </a:solidFill>
            <a:prstDash val="solid"/>
          </a:ln>
        </p:spPr>
      </p:sp>
      <p:sp>
        <p:nvSpPr>
          <p:cNvPr id="18" name="Text 16"/>
          <p:cNvSpPr/>
          <p:nvPr/>
        </p:nvSpPr>
        <p:spPr>
          <a:xfrm>
            <a:off x="812800" y="2621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L22</a:t>
            </a:r>
            <a:endParaRPr lang="en-US" sz="2000" dirty="0"/>
          </a:p>
        </p:txBody>
      </p:sp>
      <p:sp>
        <p:nvSpPr>
          <p:cNvPr id="19" name="Shape 17"/>
          <p:cNvSpPr/>
          <p:nvPr/>
        </p:nvSpPr>
        <p:spPr>
          <a:xfrm>
            <a:off x="1828800" y="2593975"/>
            <a:ext cx="4775200" cy="0"/>
          </a:xfrm>
          <a:prstGeom prst="line">
            <a:avLst/>
          </a:prstGeom>
          <a:noFill/>
          <a:ln w="6350">
            <a:solidFill>
              <a:srgbClr val="DDD8CC"/>
            </a:solidFill>
            <a:prstDash val="solid"/>
          </a:ln>
        </p:spPr>
      </p:sp>
      <p:sp>
        <p:nvSpPr>
          <p:cNvPr id="20" name="Text 18"/>
          <p:cNvSpPr/>
          <p:nvPr/>
        </p:nvSpPr>
        <p:spPr>
          <a:xfrm>
            <a:off x="1828800" y="2659380"/>
            <a:ext cx="112466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Cloud testing</a:t>
            </a:r>
            <a:endParaRPr lang="en-US" sz="1400" dirty="0"/>
          </a:p>
        </p:txBody>
      </p:sp>
      <p:sp>
        <p:nvSpPr>
          <p:cNvPr id="21" name="Text 19"/>
          <p:cNvSpPr/>
          <p:nvPr/>
        </p:nvSpPr>
        <p:spPr>
          <a:xfrm>
            <a:off x="2978864" y="2684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2" name="Shape 20"/>
          <p:cNvSpPr/>
          <p:nvPr/>
        </p:nvSpPr>
        <p:spPr>
          <a:xfrm>
            <a:off x="6604000" y="2593975"/>
            <a:ext cx="4775200" cy="0"/>
          </a:xfrm>
          <a:prstGeom prst="line">
            <a:avLst/>
          </a:prstGeom>
          <a:noFill/>
          <a:ln w="6350">
            <a:solidFill>
              <a:srgbClr val="DDD8CC"/>
            </a:solidFill>
            <a:prstDash val="solid"/>
          </a:ln>
        </p:spPr>
      </p:sp>
      <p:sp>
        <p:nvSpPr>
          <p:cNvPr id="23" name="Text 21"/>
          <p:cNvSpPr/>
          <p:nvPr/>
        </p:nvSpPr>
        <p:spPr>
          <a:xfrm>
            <a:off x="6604000" y="2659380"/>
            <a:ext cx="162639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Cloud testing setup</a:t>
            </a:r>
            <a:endParaRPr lang="en-US" sz="1400" dirty="0"/>
          </a:p>
        </p:txBody>
      </p:sp>
      <p:sp>
        <p:nvSpPr>
          <p:cNvPr id="24" name="Text 22"/>
          <p:cNvSpPr/>
          <p:nvPr/>
        </p:nvSpPr>
        <p:spPr>
          <a:xfrm>
            <a:off x="8255794" y="2684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25" name="Shape 23"/>
          <p:cNvSpPr/>
          <p:nvPr/>
        </p:nvSpPr>
        <p:spPr>
          <a:xfrm>
            <a:off x="812800" y="2974975"/>
            <a:ext cx="1016000" cy="0"/>
          </a:xfrm>
          <a:prstGeom prst="line">
            <a:avLst/>
          </a:prstGeom>
          <a:noFill/>
          <a:ln w="6350">
            <a:solidFill>
              <a:srgbClr val="DDD8CC"/>
            </a:solidFill>
            <a:prstDash val="solid"/>
          </a:ln>
        </p:spPr>
      </p:sp>
      <p:sp>
        <p:nvSpPr>
          <p:cNvPr id="26" name="Text 24"/>
          <p:cNvSpPr/>
          <p:nvPr/>
        </p:nvSpPr>
        <p:spPr>
          <a:xfrm>
            <a:off x="812800" y="3002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L23</a:t>
            </a:r>
            <a:endParaRPr lang="en-US" sz="2000" dirty="0"/>
          </a:p>
        </p:txBody>
      </p:sp>
      <p:sp>
        <p:nvSpPr>
          <p:cNvPr id="27" name="Shape 25"/>
          <p:cNvSpPr/>
          <p:nvPr/>
        </p:nvSpPr>
        <p:spPr>
          <a:xfrm>
            <a:off x="1828800" y="2974975"/>
            <a:ext cx="4775200" cy="0"/>
          </a:xfrm>
          <a:prstGeom prst="line">
            <a:avLst/>
          </a:prstGeom>
          <a:noFill/>
          <a:ln w="6350">
            <a:solidFill>
              <a:srgbClr val="DDD8CC"/>
            </a:solidFill>
            <a:prstDash val="solid"/>
          </a:ln>
        </p:spPr>
      </p:sp>
      <p:sp>
        <p:nvSpPr>
          <p:cNvPr id="28" name="Text 26"/>
          <p:cNvSpPr/>
          <p:nvPr/>
        </p:nvSpPr>
        <p:spPr>
          <a:xfrm>
            <a:off x="1828800" y="3040380"/>
            <a:ext cx="245628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execution in CI pipelines</a:t>
            </a:r>
            <a:endParaRPr lang="en-US" sz="1400" dirty="0"/>
          </a:p>
        </p:txBody>
      </p:sp>
      <p:sp>
        <p:nvSpPr>
          <p:cNvPr id="29" name="Text 27"/>
          <p:cNvSpPr/>
          <p:nvPr/>
        </p:nvSpPr>
        <p:spPr>
          <a:xfrm>
            <a:off x="4289742" y="3065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30" name="Shape 28"/>
          <p:cNvSpPr/>
          <p:nvPr/>
        </p:nvSpPr>
        <p:spPr>
          <a:xfrm>
            <a:off x="6604000" y="2974975"/>
            <a:ext cx="4775200" cy="0"/>
          </a:xfrm>
          <a:prstGeom prst="line">
            <a:avLst/>
          </a:prstGeom>
          <a:noFill/>
          <a:ln w="6350">
            <a:solidFill>
              <a:srgbClr val="DDD8CC"/>
            </a:solidFill>
            <a:prstDash val="solid"/>
          </a:ln>
        </p:spPr>
      </p:sp>
      <p:sp>
        <p:nvSpPr>
          <p:cNvPr id="31" name="Text 29"/>
          <p:cNvSpPr/>
          <p:nvPr/>
        </p:nvSpPr>
        <p:spPr>
          <a:xfrm>
            <a:off x="6604000" y="3040380"/>
            <a:ext cx="264587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reporting and quality gates</a:t>
            </a:r>
            <a:endParaRPr lang="en-US" sz="1400" dirty="0"/>
          </a:p>
        </p:txBody>
      </p:sp>
      <p:sp>
        <p:nvSpPr>
          <p:cNvPr id="32" name="Text 30"/>
          <p:cNvSpPr/>
          <p:nvPr/>
        </p:nvSpPr>
        <p:spPr>
          <a:xfrm>
            <a:off x="9249013" y="3065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20 min</a:t>
            </a:r>
            <a:endParaRPr lang="en-US" sz="1200" dirty="0"/>
          </a:p>
        </p:txBody>
      </p:sp>
      <p:sp>
        <p:nvSpPr>
          <p:cNvPr id="33" name="Shape 31"/>
          <p:cNvSpPr/>
          <p:nvPr/>
        </p:nvSpPr>
        <p:spPr>
          <a:xfrm>
            <a:off x="812800" y="3355975"/>
            <a:ext cx="1016000" cy="0"/>
          </a:xfrm>
          <a:prstGeom prst="line">
            <a:avLst/>
          </a:prstGeom>
          <a:noFill/>
          <a:ln w="6350">
            <a:solidFill>
              <a:srgbClr val="DDD8CC"/>
            </a:solidFill>
            <a:prstDash val="solid"/>
          </a:ln>
        </p:spPr>
      </p:sp>
      <p:sp>
        <p:nvSpPr>
          <p:cNvPr id="34" name="Text 32"/>
          <p:cNvSpPr/>
          <p:nvPr/>
        </p:nvSpPr>
        <p:spPr>
          <a:xfrm>
            <a:off x="812800" y="3383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8C9AAD"/>
                </a:solidFill>
                <a:latin typeface="Space Grotesk" pitchFamily="34" charset="0"/>
                <a:ea typeface="Space Grotesk" pitchFamily="34" charset="-122"/>
                <a:cs typeface="Space Grotesk" pitchFamily="34" charset="-120"/>
              </a:rPr>
              <a:t>L24</a:t>
            </a:r>
            <a:endParaRPr lang="en-US" sz="2000" dirty="0"/>
          </a:p>
        </p:txBody>
      </p:sp>
      <p:sp>
        <p:nvSpPr>
          <p:cNvPr id="35" name="Shape 33"/>
          <p:cNvSpPr/>
          <p:nvPr/>
        </p:nvSpPr>
        <p:spPr>
          <a:xfrm>
            <a:off x="1828800" y="3355975"/>
            <a:ext cx="9550400" cy="0"/>
          </a:xfrm>
          <a:prstGeom prst="line">
            <a:avLst/>
          </a:prstGeom>
          <a:noFill/>
          <a:ln w="6350">
            <a:solidFill>
              <a:srgbClr val="DDD8CC"/>
            </a:solidFill>
            <a:prstDash val="solid"/>
          </a:ln>
        </p:spPr>
      </p:sp>
      <p:sp>
        <p:nvSpPr>
          <p:cNvPr id="36" name="Text 34"/>
          <p:cNvSpPr/>
          <p:nvPr/>
        </p:nvSpPr>
        <p:spPr>
          <a:xfrm>
            <a:off x="1828800" y="3421380"/>
            <a:ext cx="192233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977"/>
                </a:solidFill>
                <a:latin typeface="IBM Plex Sans" pitchFamily="34" charset="0"/>
                <a:ea typeface="IBM Plex Sans" pitchFamily="34" charset="-122"/>
                <a:cs typeface="IBM Plex Sans" pitchFamily="34" charset="-120"/>
              </a:rPr>
              <a:t>Buffer and assessment</a:t>
            </a:r>
            <a:endParaRPr lang="en-US" sz="1400" dirty="0"/>
          </a:p>
        </p:txBody>
      </p:sp>
      <p:sp>
        <p:nvSpPr>
          <p:cNvPr id="37" name="Shape 35"/>
          <p:cNvSpPr/>
          <p:nvPr/>
        </p:nvSpPr>
        <p:spPr>
          <a:xfrm>
            <a:off x="812800" y="3736975"/>
            <a:ext cx="1016000" cy="0"/>
          </a:xfrm>
          <a:prstGeom prst="line">
            <a:avLst/>
          </a:prstGeom>
          <a:noFill/>
          <a:ln w="6350">
            <a:solidFill>
              <a:srgbClr val="DDD8CC"/>
            </a:solidFill>
            <a:prstDash val="solid"/>
          </a:ln>
        </p:spPr>
      </p:sp>
      <p:sp>
        <p:nvSpPr>
          <p:cNvPr id="38" name="Text 36"/>
          <p:cNvSpPr/>
          <p:nvPr/>
        </p:nvSpPr>
        <p:spPr>
          <a:xfrm>
            <a:off x="812800" y="3764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L25</a:t>
            </a:r>
            <a:endParaRPr lang="en-US" sz="2000" dirty="0"/>
          </a:p>
        </p:txBody>
      </p:sp>
      <p:sp>
        <p:nvSpPr>
          <p:cNvPr id="39" name="Shape 37"/>
          <p:cNvSpPr/>
          <p:nvPr/>
        </p:nvSpPr>
        <p:spPr>
          <a:xfrm>
            <a:off x="1828800" y="3736975"/>
            <a:ext cx="4775200" cy="0"/>
          </a:xfrm>
          <a:prstGeom prst="line">
            <a:avLst/>
          </a:prstGeom>
          <a:noFill/>
          <a:ln w="6350">
            <a:solidFill>
              <a:srgbClr val="DDD8CC"/>
            </a:solidFill>
            <a:prstDash val="solid"/>
          </a:ln>
        </p:spPr>
      </p:sp>
      <p:sp>
        <p:nvSpPr>
          <p:cNvPr id="40" name="Text 38"/>
          <p:cNvSpPr/>
          <p:nvPr/>
        </p:nvSpPr>
        <p:spPr>
          <a:xfrm>
            <a:off x="1828800" y="3802380"/>
            <a:ext cx="157789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Continuous testing</a:t>
            </a:r>
            <a:endParaRPr lang="en-US" sz="1400" dirty="0"/>
          </a:p>
        </p:txBody>
      </p:sp>
      <p:sp>
        <p:nvSpPr>
          <p:cNvPr id="41" name="Text 39"/>
          <p:cNvSpPr/>
          <p:nvPr/>
        </p:nvSpPr>
        <p:spPr>
          <a:xfrm>
            <a:off x="3432096" y="3827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15 min</a:t>
            </a:r>
            <a:endParaRPr lang="en-US" sz="1200" dirty="0"/>
          </a:p>
        </p:txBody>
      </p:sp>
      <p:sp>
        <p:nvSpPr>
          <p:cNvPr id="42" name="Shape 40"/>
          <p:cNvSpPr/>
          <p:nvPr/>
        </p:nvSpPr>
        <p:spPr>
          <a:xfrm>
            <a:off x="6604000" y="3736975"/>
            <a:ext cx="4775200" cy="0"/>
          </a:xfrm>
          <a:prstGeom prst="line">
            <a:avLst/>
          </a:prstGeom>
          <a:noFill/>
          <a:ln w="6350">
            <a:solidFill>
              <a:srgbClr val="DDD8CC"/>
            </a:solidFill>
            <a:prstDash val="solid"/>
          </a:ln>
        </p:spPr>
      </p:sp>
      <p:sp>
        <p:nvSpPr>
          <p:cNvPr id="43" name="Text 41"/>
          <p:cNvSpPr/>
          <p:nvPr/>
        </p:nvSpPr>
        <p:spPr>
          <a:xfrm>
            <a:off x="6604000" y="3802380"/>
            <a:ext cx="245546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Requirement and advantages</a:t>
            </a:r>
            <a:endParaRPr lang="en-US" sz="1400" dirty="0"/>
          </a:p>
        </p:txBody>
      </p:sp>
      <p:sp>
        <p:nvSpPr>
          <p:cNvPr id="44" name="Text 42"/>
          <p:cNvSpPr/>
          <p:nvPr/>
        </p:nvSpPr>
        <p:spPr>
          <a:xfrm>
            <a:off x="9064149" y="3827780"/>
            <a:ext cx="5994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25 min</a:t>
            </a:r>
            <a:endParaRPr lang="en-US" sz="1200" dirty="0"/>
          </a:p>
        </p:txBody>
      </p:sp>
      <p:sp>
        <p:nvSpPr>
          <p:cNvPr id="45" name="Shape 43"/>
          <p:cNvSpPr/>
          <p:nvPr/>
        </p:nvSpPr>
        <p:spPr>
          <a:xfrm>
            <a:off x="812800" y="4117975"/>
            <a:ext cx="1016000" cy="0"/>
          </a:xfrm>
          <a:prstGeom prst="line">
            <a:avLst/>
          </a:prstGeom>
          <a:noFill/>
          <a:ln w="6350">
            <a:solidFill>
              <a:srgbClr val="DDD8CC"/>
            </a:solidFill>
            <a:prstDash val="solid"/>
          </a:ln>
        </p:spPr>
      </p:sp>
      <p:sp>
        <p:nvSpPr>
          <p:cNvPr id="46" name="Text 44"/>
          <p:cNvSpPr/>
          <p:nvPr/>
        </p:nvSpPr>
        <p:spPr>
          <a:xfrm>
            <a:off x="812800" y="4145280"/>
            <a:ext cx="10668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L26</a:t>
            </a:r>
            <a:endParaRPr lang="en-US" sz="2000" dirty="0"/>
          </a:p>
        </p:txBody>
      </p:sp>
      <p:sp>
        <p:nvSpPr>
          <p:cNvPr id="47" name="Shape 45"/>
          <p:cNvSpPr/>
          <p:nvPr/>
        </p:nvSpPr>
        <p:spPr>
          <a:xfrm>
            <a:off x="1828800" y="4117975"/>
            <a:ext cx="9550400" cy="0"/>
          </a:xfrm>
          <a:prstGeom prst="line">
            <a:avLst/>
          </a:prstGeom>
          <a:noFill/>
          <a:ln w="6350">
            <a:solidFill>
              <a:srgbClr val="DDD8CC"/>
            </a:solidFill>
            <a:prstDash val="solid"/>
          </a:ln>
        </p:spPr>
      </p:sp>
      <p:sp>
        <p:nvSpPr>
          <p:cNvPr id="48" name="Text 46"/>
          <p:cNvSpPr/>
          <p:nvPr/>
        </p:nvSpPr>
        <p:spPr>
          <a:xfrm>
            <a:off x="1828800" y="4183380"/>
            <a:ext cx="485125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Continuous testing strategy, continuous delivery, CT vs CD</a:t>
            </a:r>
            <a:endParaRPr lang="en-US" sz="1400" dirty="0"/>
          </a:p>
        </p:txBody>
      </p:sp>
      <p:sp>
        <p:nvSpPr>
          <p:cNvPr id="49" name="Text 47"/>
          <p:cNvSpPr/>
          <p:nvPr/>
        </p:nvSpPr>
        <p:spPr>
          <a:xfrm>
            <a:off x="6614954" y="4208780"/>
            <a:ext cx="15138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JetBrains Mono" pitchFamily="34" charset="0"/>
                <a:ea typeface="JetBrains Mono" pitchFamily="34" charset="-122"/>
                <a:cs typeface="JetBrains Mono" pitchFamily="34" charset="-120"/>
              </a:rPr>
              <a:t>15 + 15 + 10 min</a:t>
            </a:r>
            <a:endParaRPr lang="en-US" sz="1200" dirty="0"/>
          </a:p>
        </p:txBody>
      </p:sp>
      <p:sp>
        <p:nvSpPr>
          <p:cNvPr id="50" name="Shape 48"/>
          <p:cNvSpPr/>
          <p:nvPr/>
        </p:nvSpPr>
        <p:spPr>
          <a:xfrm>
            <a:off x="812800" y="4498975"/>
            <a:ext cx="10566400" cy="0"/>
          </a:xfrm>
          <a:prstGeom prst="line">
            <a:avLst/>
          </a:prstGeom>
          <a:noFill/>
          <a:ln w="6350">
            <a:solidFill>
              <a:srgbClr val="DDD8CC"/>
            </a:solidFill>
            <a:prstDash val="solid"/>
          </a:ln>
        </p:spPr>
      </p:sp>
      <p:sp>
        <p:nvSpPr>
          <p:cNvPr id="51" name="Shape 49"/>
          <p:cNvSpPr/>
          <p:nvPr/>
        </p:nvSpPr>
        <p:spPr>
          <a:xfrm>
            <a:off x="815975" y="4758055"/>
            <a:ext cx="5175250" cy="872490"/>
          </a:xfrm>
          <a:prstGeom prst="roundRect">
            <a:avLst>
              <a:gd name="adj" fmla="val 8370"/>
            </a:avLst>
          </a:prstGeom>
          <a:solidFill>
            <a:srgbClr val="FCFBF7"/>
          </a:solidFill>
          <a:ln w="6350">
            <a:solidFill>
              <a:srgbClr val="DDD8CC"/>
            </a:solidFill>
            <a:prstDash val="solid"/>
          </a:ln>
        </p:spPr>
      </p:sp>
      <p:sp>
        <p:nvSpPr>
          <p:cNvPr id="52" name="Text 50"/>
          <p:cNvSpPr/>
          <p:nvPr/>
        </p:nvSpPr>
        <p:spPr>
          <a:xfrm>
            <a:off x="1021080" y="49377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BUILDS ON MODULE 3</a:t>
            </a:r>
            <a:endParaRPr lang="en-US" sz="1200" dirty="0"/>
          </a:p>
        </p:txBody>
      </p:sp>
      <p:sp>
        <p:nvSpPr>
          <p:cNvPr id="53" name="Text 51"/>
          <p:cNvSpPr/>
          <p:nvPr/>
        </p:nvSpPr>
        <p:spPr>
          <a:xfrm>
            <a:off x="1021080" y="5201920"/>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Selenium, page objects, Postman and Newman</a:t>
            </a:r>
            <a:endParaRPr lang="en-US" sz="1400" dirty="0"/>
          </a:p>
        </p:txBody>
      </p:sp>
      <p:sp>
        <p:nvSpPr>
          <p:cNvPr id="54" name="Shape 52"/>
          <p:cNvSpPr/>
          <p:nvPr/>
        </p:nvSpPr>
        <p:spPr>
          <a:xfrm>
            <a:off x="6200775" y="4758055"/>
            <a:ext cx="5175250" cy="872490"/>
          </a:xfrm>
          <a:prstGeom prst="roundRect">
            <a:avLst>
              <a:gd name="adj" fmla="val 8370"/>
            </a:avLst>
          </a:prstGeom>
          <a:solidFill>
            <a:srgbClr val="FCFBF7"/>
          </a:solidFill>
          <a:ln w="6350">
            <a:solidFill>
              <a:srgbClr val="DDD8CC"/>
            </a:solidFill>
            <a:prstDash val="solid"/>
          </a:ln>
        </p:spPr>
      </p:sp>
      <p:sp>
        <p:nvSpPr>
          <p:cNvPr id="55" name="Text 53"/>
          <p:cNvSpPr/>
          <p:nvPr/>
        </p:nvSpPr>
        <p:spPr>
          <a:xfrm>
            <a:off x="6405880" y="493776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THEN</a:t>
            </a:r>
            <a:endParaRPr lang="en-US" sz="1200" dirty="0"/>
          </a:p>
        </p:txBody>
      </p:sp>
      <p:sp>
        <p:nvSpPr>
          <p:cNvPr id="56" name="Text 54"/>
          <p:cNvSpPr/>
          <p:nvPr/>
        </p:nvSpPr>
        <p:spPr>
          <a:xfrm>
            <a:off x="6405880" y="5201920"/>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end-term examination, Lecture 27</a:t>
            </a:r>
            <a:endParaRPr lang="en-US" sz="1400" dirty="0"/>
          </a:p>
        </p:txBody>
      </p:sp>
      <p:sp>
        <p:nvSpPr>
          <p:cNvPr id="57" name="Text 55"/>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58" name="Text 56"/>
          <p:cNvSpPr/>
          <p:nvPr/>
        </p:nvSpPr>
        <p:spPr>
          <a:xfrm>
            <a:off x="5613083" y="6238241"/>
            <a:ext cx="59391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Minutes from the lecture-wise plan · CT: continuous testing · CD: continuous delivery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LEARNING OUTCOMES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Learning outcomes</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Text 3"/>
          <p:cNvSpPr/>
          <p:nvPr/>
        </p:nvSpPr>
        <p:spPr>
          <a:xfrm>
            <a:off x="812800" y="192278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473200" y="195072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Explain why mobile apps need automation across devices, and write an Appium test.</a:t>
            </a:r>
            <a:endParaRPr lang="en-US" sz="1400" dirty="0"/>
          </a:p>
        </p:txBody>
      </p:sp>
      <p:sp>
        <p:nvSpPr>
          <p:cNvPr id="7" name="Shape 5"/>
          <p:cNvSpPr/>
          <p:nvPr/>
        </p:nvSpPr>
        <p:spPr>
          <a:xfrm>
            <a:off x="10876280" y="1930400"/>
            <a:ext cx="502920" cy="289560"/>
          </a:xfrm>
          <a:prstGeom prst="roundRect">
            <a:avLst>
              <a:gd name="adj" fmla="val 50000"/>
            </a:avLst>
          </a:prstGeom>
          <a:solidFill>
            <a:srgbClr val="DCE7F3"/>
          </a:solidFill>
          <a:ln/>
        </p:spPr>
      </p:sp>
      <p:sp>
        <p:nvSpPr>
          <p:cNvPr id="8" name="Text 6"/>
          <p:cNvSpPr/>
          <p:nvPr/>
        </p:nvSpPr>
        <p:spPr>
          <a:xfrm>
            <a:off x="10990580" y="196850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9" name="Shape 7"/>
          <p:cNvSpPr/>
          <p:nvPr/>
        </p:nvSpPr>
        <p:spPr>
          <a:xfrm>
            <a:off x="812800" y="2319655"/>
            <a:ext cx="10566400" cy="0"/>
          </a:xfrm>
          <a:prstGeom prst="line">
            <a:avLst/>
          </a:prstGeom>
          <a:noFill/>
          <a:ln w="6350">
            <a:solidFill>
              <a:srgbClr val="DDD8CC"/>
            </a:solidFill>
            <a:prstDash val="solid"/>
          </a:ln>
        </p:spPr>
      </p:sp>
      <p:sp>
        <p:nvSpPr>
          <p:cNvPr id="10" name="Text 8"/>
          <p:cNvSpPr/>
          <p:nvPr/>
        </p:nvSpPr>
        <p:spPr>
          <a:xfrm>
            <a:off x="812800" y="241046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02</a:t>
            </a:r>
            <a:endParaRPr lang="en-US" sz="2000" dirty="0"/>
          </a:p>
        </p:txBody>
      </p:sp>
      <p:sp>
        <p:nvSpPr>
          <p:cNvPr id="11" name="Text 9"/>
          <p:cNvSpPr/>
          <p:nvPr/>
        </p:nvSpPr>
        <p:spPr>
          <a:xfrm>
            <a:off x="1473200" y="243840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Describe how DevOps practices build, test, release and monitor mobile apps.</a:t>
            </a:r>
            <a:endParaRPr lang="en-US" sz="1400" dirty="0"/>
          </a:p>
        </p:txBody>
      </p:sp>
      <p:sp>
        <p:nvSpPr>
          <p:cNvPr id="12" name="Shape 10"/>
          <p:cNvSpPr/>
          <p:nvPr/>
        </p:nvSpPr>
        <p:spPr>
          <a:xfrm>
            <a:off x="10876280" y="2418080"/>
            <a:ext cx="502920" cy="289560"/>
          </a:xfrm>
          <a:prstGeom prst="roundRect">
            <a:avLst>
              <a:gd name="adj" fmla="val 50000"/>
            </a:avLst>
          </a:prstGeom>
          <a:solidFill>
            <a:srgbClr val="DCE7F3"/>
          </a:solidFill>
          <a:ln/>
        </p:spPr>
      </p:sp>
      <p:sp>
        <p:nvSpPr>
          <p:cNvPr id="13" name="Text 11"/>
          <p:cNvSpPr/>
          <p:nvPr/>
        </p:nvSpPr>
        <p:spPr>
          <a:xfrm>
            <a:off x="10990580" y="245618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CO1</a:t>
            </a:r>
            <a:endParaRPr lang="en-US" sz="1200" dirty="0"/>
          </a:p>
        </p:txBody>
      </p:sp>
      <p:sp>
        <p:nvSpPr>
          <p:cNvPr id="14" name="Shape 12"/>
          <p:cNvSpPr/>
          <p:nvPr/>
        </p:nvSpPr>
        <p:spPr>
          <a:xfrm>
            <a:off x="812800" y="2807336"/>
            <a:ext cx="10566400" cy="0"/>
          </a:xfrm>
          <a:prstGeom prst="line">
            <a:avLst/>
          </a:prstGeom>
          <a:noFill/>
          <a:ln w="6350">
            <a:solidFill>
              <a:srgbClr val="DDD8CC"/>
            </a:solidFill>
            <a:prstDash val="solid"/>
          </a:ln>
        </p:spPr>
      </p:sp>
      <p:sp>
        <p:nvSpPr>
          <p:cNvPr id="15" name="Text 13"/>
          <p:cNvSpPr/>
          <p:nvPr/>
        </p:nvSpPr>
        <p:spPr>
          <a:xfrm>
            <a:off x="812800" y="2898141"/>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03</a:t>
            </a:r>
            <a:endParaRPr lang="en-US" sz="2000" dirty="0"/>
          </a:p>
        </p:txBody>
      </p:sp>
      <p:sp>
        <p:nvSpPr>
          <p:cNvPr id="16" name="Text 14"/>
          <p:cNvSpPr/>
          <p:nvPr/>
        </p:nvSpPr>
        <p:spPr>
          <a:xfrm>
            <a:off x="1473200" y="2926080"/>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Run browser tests on a Selenium Grid or a cloud testing service.</a:t>
            </a:r>
            <a:endParaRPr lang="en-US" sz="1400" dirty="0"/>
          </a:p>
        </p:txBody>
      </p:sp>
      <p:sp>
        <p:nvSpPr>
          <p:cNvPr id="17" name="Shape 15"/>
          <p:cNvSpPr/>
          <p:nvPr/>
        </p:nvSpPr>
        <p:spPr>
          <a:xfrm>
            <a:off x="10876280" y="2905761"/>
            <a:ext cx="502920" cy="289560"/>
          </a:xfrm>
          <a:prstGeom prst="roundRect">
            <a:avLst>
              <a:gd name="adj" fmla="val 50000"/>
            </a:avLst>
          </a:prstGeom>
          <a:solidFill>
            <a:srgbClr val="DCE7F3"/>
          </a:solidFill>
          <a:ln/>
        </p:spPr>
      </p:sp>
      <p:sp>
        <p:nvSpPr>
          <p:cNvPr id="18" name="Text 16"/>
          <p:cNvSpPr/>
          <p:nvPr/>
        </p:nvSpPr>
        <p:spPr>
          <a:xfrm>
            <a:off x="10990580" y="294386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CO2</a:t>
            </a:r>
            <a:endParaRPr lang="en-US" sz="1200" dirty="0"/>
          </a:p>
        </p:txBody>
      </p:sp>
      <p:sp>
        <p:nvSpPr>
          <p:cNvPr id="19" name="Shape 17"/>
          <p:cNvSpPr/>
          <p:nvPr/>
        </p:nvSpPr>
        <p:spPr>
          <a:xfrm>
            <a:off x="812800" y="3295016"/>
            <a:ext cx="10566400" cy="0"/>
          </a:xfrm>
          <a:prstGeom prst="line">
            <a:avLst/>
          </a:prstGeom>
          <a:noFill/>
          <a:ln w="6350">
            <a:solidFill>
              <a:srgbClr val="DDD8CC"/>
            </a:solidFill>
            <a:prstDash val="solid"/>
          </a:ln>
        </p:spPr>
      </p:sp>
      <p:sp>
        <p:nvSpPr>
          <p:cNvPr id="20" name="Text 18"/>
          <p:cNvSpPr/>
          <p:nvPr/>
        </p:nvSpPr>
        <p:spPr>
          <a:xfrm>
            <a:off x="812800" y="338582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04</a:t>
            </a:r>
            <a:endParaRPr lang="en-US" sz="2000" dirty="0"/>
          </a:p>
        </p:txBody>
      </p:sp>
      <p:sp>
        <p:nvSpPr>
          <p:cNvPr id="21" name="Text 19"/>
          <p:cNvSpPr/>
          <p:nvPr/>
        </p:nvSpPr>
        <p:spPr>
          <a:xfrm>
            <a:off x="1473200" y="3413761"/>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Run tests in a CI pipeline, publish reports and enforce quality gates.</a:t>
            </a:r>
            <a:endParaRPr lang="en-US" sz="1400" dirty="0"/>
          </a:p>
        </p:txBody>
      </p:sp>
      <p:sp>
        <p:nvSpPr>
          <p:cNvPr id="22" name="Shape 20"/>
          <p:cNvSpPr/>
          <p:nvPr/>
        </p:nvSpPr>
        <p:spPr>
          <a:xfrm>
            <a:off x="10876280" y="3393441"/>
            <a:ext cx="502920" cy="289560"/>
          </a:xfrm>
          <a:prstGeom prst="roundRect">
            <a:avLst>
              <a:gd name="adj" fmla="val 50000"/>
            </a:avLst>
          </a:prstGeom>
          <a:solidFill>
            <a:srgbClr val="DCE7F3"/>
          </a:solidFill>
          <a:ln/>
        </p:spPr>
      </p:sp>
      <p:sp>
        <p:nvSpPr>
          <p:cNvPr id="23" name="Text 21"/>
          <p:cNvSpPr/>
          <p:nvPr/>
        </p:nvSpPr>
        <p:spPr>
          <a:xfrm>
            <a:off x="10990580" y="3431541"/>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24" name="Shape 22"/>
          <p:cNvSpPr/>
          <p:nvPr/>
        </p:nvSpPr>
        <p:spPr>
          <a:xfrm>
            <a:off x="812800" y="3782695"/>
            <a:ext cx="10566400" cy="0"/>
          </a:xfrm>
          <a:prstGeom prst="line">
            <a:avLst/>
          </a:prstGeom>
          <a:noFill/>
          <a:ln w="6350">
            <a:solidFill>
              <a:srgbClr val="DDD8CC"/>
            </a:solidFill>
            <a:prstDash val="solid"/>
          </a:ln>
        </p:spPr>
      </p:sp>
      <p:sp>
        <p:nvSpPr>
          <p:cNvPr id="25" name="Shape 23"/>
          <p:cNvSpPr/>
          <p:nvPr/>
        </p:nvSpPr>
        <p:spPr>
          <a:xfrm>
            <a:off x="812800" y="4269105"/>
            <a:ext cx="10566400" cy="0"/>
          </a:xfrm>
          <a:prstGeom prst="line">
            <a:avLst/>
          </a:prstGeom>
          <a:noFill/>
          <a:ln w="6350">
            <a:solidFill>
              <a:srgbClr val="DDD8CC"/>
            </a:solidFill>
            <a:prstDash val="solid"/>
          </a:ln>
        </p:spPr>
      </p:sp>
      <p:sp>
        <p:nvSpPr>
          <p:cNvPr id="26" name="Text 24"/>
          <p:cNvSpPr/>
          <p:nvPr/>
        </p:nvSpPr>
        <p:spPr>
          <a:xfrm>
            <a:off x="812800" y="387350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05</a:t>
            </a:r>
            <a:endParaRPr lang="en-US" sz="2000" dirty="0"/>
          </a:p>
        </p:txBody>
      </p:sp>
      <p:sp>
        <p:nvSpPr>
          <p:cNvPr id="27" name="Text 25"/>
          <p:cNvSpPr/>
          <p:nvPr/>
        </p:nvSpPr>
        <p:spPr>
          <a:xfrm>
            <a:off x="1473200" y="3901441"/>
            <a:ext cx="947587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Explain continuous testing, plan its strategy, and relate it to continuous delivery.</a:t>
            </a:r>
            <a:endParaRPr lang="en-US" sz="1400" dirty="0"/>
          </a:p>
        </p:txBody>
      </p:sp>
      <p:sp>
        <p:nvSpPr>
          <p:cNvPr id="28" name="Shape 26"/>
          <p:cNvSpPr/>
          <p:nvPr/>
        </p:nvSpPr>
        <p:spPr>
          <a:xfrm>
            <a:off x="10876280" y="3881120"/>
            <a:ext cx="502920" cy="289560"/>
          </a:xfrm>
          <a:prstGeom prst="roundRect">
            <a:avLst>
              <a:gd name="adj" fmla="val 50000"/>
            </a:avLst>
          </a:prstGeom>
          <a:solidFill>
            <a:srgbClr val="DCE7F3"/>
          </a:solidFill>
          <a:ln/>
        </p:spPr>
      </p:sp>
      <p:sp>
        <p:nvSpPr>
          <p:cNvPr id="29" name="Text 27"/>
          <p:cNvSpPr/>
          <p:nvPr/>
        </p:nvSpPr>
        <p:spPr>
          <a:xfrm>
            <a:off x="10990580" y="3919220"/>
            <a:ext cx="32512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CO3</a:t>
            </a:r>
            <a:endParaRPr lang="en-US" sz="1200" dirty="0"/>
          </a:p>
        </p:txBody>
      </p:sp>
      <p:sp>
        <p:nvSpPr>
          <p:cNvPr id="30" name="Text 28"/>
          <p:cNvSpPr/>
          <p:nvPr/>
        </p:nvSpPr>
        <p:spPr>
          <a:xfrm>
            <a:off x="812800" y="4526280"/>
            <a:ext cx="981075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Course outcomes: CO1 understand the various testing approaches · CO2 apply automation testing technologies through tools · CO3 test and evaluate automation test cases in DevOps environments</a:t>
            </a:r>
            <a:endParaRPr lang="en-US" sz="1200" dirty="0"/>
          </a:p>
        </p:txBody>
      </p:sp>
      <p:sp>
        <p:nvSpPr>
          <p:cNvPr id="31" name="Text 29"/>
          <p:cNvSpPr/>
          <p:nvPr/>
        </p:nvSpPr>
        <p:spPr>
          <a:xfrm>
            <a:off x="812800" y="6238241"/>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RUNNING EXAMPLE</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Canteen App on phones and in CI</a:t>
            </a:r>
            <a:endParaRPr lang="en-US" sz="3200" dirty="0"/>
          </a:p>
        </p:txBody>
      </p:sp>
      <p:sp>
        <p:nvSpPr>
          <p:cNvPr id="4" name="Text 2"/>
          <p:cNvSpPr/>
          <p:nvPr/>
        </p:nvSpPr>
        <p:spPr>
          <a:xfrm>
            <a:off x="812800" y="1828800"/>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Same rules, same API, now also Android and iOS apps. This module tests them on devices, runs every suite in a pipeline and releases with care.</a:t>
            </a:r>
            <a:endParaRPr lang="en-US" sz="1400" dirty="0"/>
          </a:p>
        </p:txBody>
      </p:sp>
      <p:sp>
        <p:nvSpPr>
          <p:cNvPr id="5" name="Shape 3"/>
          <p:cNvSpPr/>
          <p:nvPr/>
        </p:nvSpPr>
        <p:spPr>
          <a:xfrm>
            <a:off x="815975" y="2583816"/>
            <a:ext cx="3380264" cy="1446530"/>
          </a:xfrm>
          <a:prstGeom prst="roundRect">
            <a:avLst>
              <a:gd name="adj" fmla="val 5048"/>
            </a:avLst>
          </a:prstGeom>
          <a:solidFill>
            <a:srgbClr val="FCFBF7"/>
          </a:solidFill>
          <a:ln w="6350">
            <a:solidFill>
              <a:srgbClr val="DDD8CC"/>
            </a:solidFill>
            <a:prstDash val="solid"/>
          </a:ln>
        </p:spPr>
      </p:sp>
      <p:sp>
        <p:nvSpPr>
          <p:cNvPr id="6" name="Text 4"/>
          <p:cNvSpPr/>
          <p:nvPr/>
        </p:nvSpPr>
        <p:spPr>
          <a:xfrm>
            <a:off x="1021080" y="2788920"/>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ANDROID APP</a:t>
            </a:r>
            <a:endParaRPr lang="en-US" sz="1200" dirty="0"/>
          </a:p>
        </p:txBody>
      </p:sp>
      <p:sp>
        <p:nvSpPr>
          <p:cNvPr id="7" name="Text 5"/>
          <p:cNvSpPr/>
          <p:nvPr/>
        </p:nvSpPr>
        <p:spPr>
          <a:xfrm>
            <a:off x="1021080" y="3078480"/>
            <a:ext cx="3059155"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Tested with Appium and Espresso; shipped through Google Play testing tracks</a:t>
            </a:r>
            <a:endParaRPr lang="en-US" sz="1400" dirty="0"/>
          </a:p>
        </p:txBody>
      </p:sp>
      <p:sp>
        <p:nvSpPr>
          <p:cNvPr id="8" name="Shape 6"/>
          <p:cNvSpPr/>
          <p:nvPr/>
        </p:nvSpPr>
        <p:spPr>
          <a:xfrm>
            <a:off x="4405789" y="2583816"/>
            <a:ext cx="3380343" cy="1446530"/>
          </a:xfrm>
          <a:prstGeom prst="roundRect">
            <a:avLst>
              <a:gd name="adj" fmla="val 5048"/>
            </a:avLst>
          </a:prstGeom>
          <a:solidFill>
            <a:srgbClr val="FCFBF7"/>
          </a:solidFill>
          <a:ln w="6350">
            <a:solidFill>
              <a:srgbClr val="DDD8CC"/>
            </a:solidFill>
            <a:prstDash val="solid"/>
          </a:ln>
        </p:spPr>
      </p:sp>
      <p:sp>
        <p:nvSpPr>
          <p:cNvPr id="9" name="Text 7"/>
          <p:cNvSpPr/>
          <p:nvPr/>
        </p:nvSpPr>
        <p:spPr>
          <a:xfrm>
            <a:off x="4610894" y="278892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IOS APP</a:t>
            </a:r>
            <a:endParaRPr lang="en-US" sz="1200" dirty="0"/>
          </a:p>
        </p:txBody>
      </p:sp>
      <p:sp>
        <p:nvSpPr>
          <p:cNvPr id="10" name="Text 8"/>
          <p:cNvSpPr/>
          <p:nvPr/>
        </p:nvSpPr>
        <p:spPr>
          <a:xfrm>
            <a:off x="4610894" y="3078480"/>
            <a:ext cx="305923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Tested with Appium and XCUITest; shipped through TestFlight and the App Store</a:t>
            </a:r>
            <a:endParaRPr lang="en-US" sz="1400" dirty="0"/>
          </a:p>
        </p:txBody>
      </p:sp>
      <p:sp>
        <p:nvSpPr>
          <p:cNvPr id="11" name="Shape 9"/>
          <p:cNvSpPr/>
          <p:nvPr/>
        </p:nvSpPr>
        <p:spPr>
          <a:xfrm>
            <a:off x="7995682" y="2583816"/>
            <a:ext cx="3380343" cy="1446530"/>
          </a:xfrm>
          <a:prstGeom prst="roundRect">
            <a:avLst>
              <a:gd name="adj" fmla="val 5048"/>
            </a:avLst>
          </a:prstGeom>
          <a:solidFill>
            <a:srgbClr val="FCFBF7"/>
          </a:solidFill>
          <a:ln w="6350">
            <a:solidFill>
              <a:srgbClr val="DDD8CC"/>
            </a:solidFill>
            <a:prstDash val="solid"/>
          </a:ln>
        </p:spPr>
      </p:sp>
      <p:sp>
        <p:nvSpPr>
          <p:cNvPr id="12" name="Text 10"/>
          <p:cNvSpPr/>
          <p:nvPr/>
        </p:nvSpPr>
        <p:spPr>
          <a:xfrm>
            <a:off x="8200787" y="278892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WEB APP AND API</a:t>
            </a:r>
            <a:endParaRPr lang="en-US" sz="1200" dirty="0"/>
          </a:p>
        </p:txBody>
      </p:sp>
      <p:sp>
        <p:nvSpPr>
          <p:cNvPr id="13" name="Text 11"/>
          <p:cNvSpPr/>
          <p:nvPr/>
        </p:nvSpPr>
        <p:spPr>
          <a:xfrm>
            <a:off x="8200787" y="3078480"/>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Selenium, Postman and Locust suites from Module 3, now run in CI</a:t>
            </a:r>
            <a:endParaRPr lang="en-US" sz="1400" dirty="0"/>
          </a:p>
        </p:txBody>
      </p:sp>
      <p:sp>
        <p:nvSpPr>
          <p:cNvPr id="14" name="Shape 12"/>
          <p:cNvSpPr/>
          <p:nvPr/>
        </p:nvSpPr>
        <p:spPr>
          <a:xfrm>
            <a:off x="812800" y="4287520"/>
            <a:ext cx="10566400" cy="802640"/>
          </a:xfrm>
          <a:prstGeom prst="roundRect">
            <a:avLst>
              <a:gd name="adj" fmla="val 9494"/>
            </a:avLst>
          </a:prstGeom>
          <a:solidFill>
            <a:srgbClr val="13233A"/>
          </a:solidFill>
          <a:ln/>
        </p:spPr>
      </p:sp>
      <p:sp>
        <p:nvSpPr>
          <p:cNvPr id="15" name="Text 13"/>
          <p:cNvSpPr/>
          <p:nvPr/>
        </p:nvSpPr>
        <p:spPr>
          <a:xfrm>
            <a:off x="1016000" y="4582161"/>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PIPELINE</a:t>
            </a:r>
            <a:endParaRPr lang="en-US" sz="1200" dirty="0"/>
          </a:p>
        </p:txBody>
      </p:sp>
      <p:sp>
        <p:nvSpPr>
          <p:cNvPr id="16" name="Text 14"/>
          <p:cNvSpPr/>
          <p:nvPr/>
        </p:nvSpPr>
        <p:spPr>
          <a:xfrm>
            <a:off x="2001520" y="4439920"/>
            <a:ext cx="944971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Jenkins builds, tests, reports and gates every change; a Selenium Grid and device clouds supply the browsers and phones.</a:t>
            </a:r>
            <a:endParaRPr lang="en-US" sz="1400" dirty="0"/>
          </a:p>
        </p:txBody>
      </p:sp>
      <p:sp>
        <p:nvSpPr>
          <p:cNvPr id="17" name="Text 15"/>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8" name="Text 16"/>
          <p:cNvSpPr/>
          <p:nvPr/>
        </p:nvSpPr>
        <p:spPr>
          <a:xfrm>
            <a:off x="5475764" y="6238239"/>
            <a:ext cx="608053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Fictional app · mobile apps illustrative; web app and Grid ran for real; Jenkinsfile linted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20</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20 · 40 MINUTES</a:t>
            </a:r>
            <a:endParaRPr lang="en-US" sz="1200" dirty="0"/>
          </a:p>
        </p:txBody>
      </p:sp>
      <p:sp>
        <p:nvSpPr>
          <p:cNvPr id="4" name="Text 2"/>
          <p:cNvSpPr/>
          <p:nvPr/>
        </p:nvSpPr>
        <p:spPr>
          <a:xfrm>
            <a:off x="812800" y="3134361"/>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Testing in mobile</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automation</a:t>
            </a:r>
            <a:endParaRPr lang="en-US" sz="5600" dirty="0"/>
          </a:p>
        </p:txBody>
      </p:sp>
      <p:sp>
        <p:nvSpPr>
          <p:cNvPr id="5" name="Shape 3"/>
          <p:cNvSpPr/>
          <p:nvPr/>
        </p:nvSpPr>
        <p:spPr>
          <a:xfrm>
            <a:off x="812800" y="4989832"/>
            <a:ext cx="5892800" cy="0"/>
          </a:xfrm>
          <a:prstGeom prst="line">
            <a:avLst/>
          </a:prstGeom>
          <a:noFill/>
          <a:ln w="12700">
            <a:solidFill>
              <a:srgbClr val="3A5476"/>
            </a:solidFill>
            <a:prstDash val="solid"/>
          </a:ln>
        </p:spPr>
      </p:sp>
      <p:sp>
        <p:nvSpPr>
          <p:cNvPr id="6" name="Text 4"/>
          <p:cNvSpPr/>
          <p:nvPr/>
        </p:nvSpPr>
        <p:spPr>
          <a:xfrm>
            <a:off x="812800" y="5120639"/>
            <a:ext cx="606958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40 min</a:t>
            </a:r>
            <a:endParaRPr lang="en-US" sz="1200" dirty="0"/>
          </a:p>
        </p:txBody>
      </p:sp>
      <p:sp>
        <p:nvSpPr>
          <p:cNvPr id="7" name="Text 5"/>
          <p:cNvSpPr/>
          <p:nvPr/>
        </p:nvSpPr>
        <p:spPr>
          <a:xfrm>
            <a:off x="812800" y="5384800"/>
            <a:ext cx="6069584"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Why mobile apps need automated testing, where tests run, and Appium</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MOBILE APPS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Four kinds of mobile app</a:t>
            </a:r>
            <a:endParaRPr lang="en-US" sz="3200" dirty="0"/>
          </a:p>
        </p:txBody>
      </p:sp>
      <p:sp>
        <p:nvSpPr>
          <p:cNvPr id="4" name="Shape 2"/>
          <p:cNvSpPr/>
          <p:nvPr/>
        </p:nvSpPr>
        <p:spPr>
          <a:xfrm>
            <a:off x="815975" y="1831975"/>
            <a:ext cx="5175250" cy="1487170"/>
          </a:xfrm>
          <a:prstGeom prst="roundRect">
            <a:avLst>
              <a:gd name="adj" fmla="val 4910"/>
            </a:avLst>
          </a:prstGeom>
          <a:solidFill>
            <a:srgbClr val="FCFBF7"/>
          </a:solidFill>
          <a:ln w="6350">
            <a:solidFill>
              <a:srgbClr val="DDD8CC"/>
            </a:solidFill>
            <a:prstDash val="solid"/>
          </a:ln>
        </p:spPr>
      </p:sp>
      <p:sp>
        <p:nvSpPr>
          <p:cNvPr id="5" name="Text 3"/>
          <p:cNvSpPr/>
          <p:nvPr/>
        </p:nvSpPr>
        <p:spPr>
          <a:xfrm>
            <a:off x="1021080" y="20370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NATIVE</a:t>
            </a:r>
            <a:endParaRPr lang="en-US" sz="1200" dirty="0"/>
          </a:p>
        </p:txBody>
      </p:sp>
      <p:sp>
        <p:nvSpPr>
          <p:cNvPr id="6" name="Text 4"/>
          <p:cNvSpPr/>
          <p:nvPr/>
        </p:nvSpPr>
        <p:spPr>
          <a:xfrm>
            <a:off x="1021080" y="2326639"/>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Built with each platform’s own tools: Kotlin or Java on Android, Swift on iOS. The Canteen apps are native.</a:t>
            </a:r>
            <a:endParaRPr lang="en-US" sz="1400" dirty="0"/>
          </a:p>
        </p:txBody>
      </p:sp>
      <p:sp>
        <p:nvSpPr>
          <p:cNvPr id="7" name="Text 5"/>
          <p:cNvSpPr/>
          <p:nvPr/>
        </p:nvSpPr>
        <p:spPr>
          <a:xfrm>
            <a:off x="1021080" y="29006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Test with Espresso, XCUITest or Appium</a:t>
            </a:r>
            <a:endParaRPr lang="en-US" sz="1200" dirty="0"/>
          </a:p>
        </p:txBody>
      </p:sp>
      <p:sp>
        <p:nvSpPr>
          <p:cNvPr id="8" name="Shape 6"/>
          <p:cNvSpPr/>
          <p:nvPr/>
        </p:nvSpPr>
        <p:spPr>
          <a:xfrm>
            <a:off x="6200775" y="1831975"/>
            <a:ext cx="5175250" cy="1487170"/>
          </a:xfrm>
          <a:prstGeom prst="roundRect">
            <a:avLst>
              <a:gd name="adj" fmla="val 4910"/>
            </a:avLst>
          </a:prstGeom>
          <a:solidFill>
            <a:srgbClr val="FCFBF7"/>
          </a:solidFill>
          <a:ln w="6350">
            <a:solidFill>
              <a:srgbClr val="DDD8CC"/>
            </a:solidFill>
            <a:prstDash val="solid"/>
          </a:ln>
        </p:spPr>
      </p:sp>
      <p:sp>
        <p:nvSpPr>
          <p:cNvPr id="9" name="Text 7"/>
          <p:cNvSpPr/>
          <p:nvPr/>
        </p:nvSpPr>
        <p:spPr>
          <a:xfrm>
            <a:off x="6405880" y="20370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CROSS-PLATFORM</a:t>
            </a:r>
            <a:endParaRPr lang="en-US" sz="1200" dirty="0"/>
          </a:p>
        </p:txBody>
      </p:sp>
      <p:sp>
        <p:nvSpPr>
          <p:cNvPr id="10" name="Text 8"/>
          <p:cNvSpPr/>
          <p:nvPr/>
        </p:nvSpPr>
        <p:spPr>
          <a:xfrm>
            <a:off x="6405880" y="2326639"/>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One codebase that runs on both platforms: Flutter, React Native, .NET MAUI.</a:t>
            </a:r>
            <a:endParaRPr lang="en-US" sz="1400" dirty="0"/>
          </a:p>
        </p:txBody>
      </p:sp>
      <p:sp>
        <p:nvSpPr>
          <p:cNvPr id="11" name="Text 9"/>
          <p:cNvSpPr/>
          <p:nvPr/>
        </p:nvSpPr>
        <p:spPr>
          <a:xfrm>
            <a:off x="6405880" y="29006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Test with Appium or the framework’s own tools</a:t>
            </a:r>
            <a:endParaRPr lang="en-US" sz="1200" dirty="0"/>
          </a:p>
        </p:txBody>
      </p:sp>
      <p:sp>
        <p:nvSpPr>
          <p:cNvPr id="12" name="Shape 10"/>
          <p:cNvSpPr/>
          <p:nvPr/>
        </p:nvSpPr>
        <p:spPr>
          <a:xfrm>
            <a:off x="815975" y="3528696"/>
            <a:ext cx="5175250" cy="1487170"/>
          </a:xfrm>
          <a:prstGeom prst="roundRect">
            <a:avLst>
              <a:gd name="adj" fmla="val 4910"/>
            </a:avLst>
          </a:prstGeom>
          <a:solidFill>
            <a:srgbClr val="FCFBF7"/>
          </a:solidFill>
          <a:ln w="6350">
            <a:solidFill>
              <a:srgbClr val="DDD8CC"/>
            </a:solidFill>
            <a:prstDash val="solid"/>
          </a:ln>
        </p:spPr>
      </p:sp>
      <p:sp>
        <p:nvSpPr>
          <p:cNvPr id="13" name="Text 11"/>
          <p:cNvSpPr/>
          <p:nvPr/>
        </p:nvSpPr>
        <p:spPr>
          <a:xfrm>
            <a:off x="1021080" y="37338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HYBRID</a:t>
            </a:r>
            <a:endParaRPr lang="en-US" sz="1200" dirty="0"/>
          </a:p>
        </p:txBody>
      </p:sp>
      <p:sp>
        <p:nvSpPr>
          <p:cNvPr id="14" name="Text 12"/>
          <p:cNvSpPr/>
          <p:nvPr/>
        </p:nvSpPr>
        <p:spPr>
          <a:xfrm>
            <a:off x="1021080" y="4023361"/>
            <a:ext cx="490799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native shell that shows web pages inside a WebView.</a:t>
            </a:r>
            <a:endParaRPr lang="en-US" sz="1400" dirty="0"/>
          </a:p>
        </p:txBody>
      </p:sp>
      <p:sp>
        <p:nvSpPr>
          <p:cNvPr id="15" name="Text 13"/>
          <p:cNvSpPr/>
          <p:nvPr/>
        </p:nvSpPr>
        <p:spPr>
          <a:xfrm>
            <a:off x="1021080" y="4348482"/>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Test with Appium, switching native and web contexts</a:t>
            </a:r>
            <a:endParaRPr lang="en-US" sz="1200" dirty="0"/>
          </a:p>
        </p:txBody>
      </p:sp>
      <p:sp>
        <p:nvSpPr>
          <p:cNvPr id="16" name="Shape 14"/>
          <p:cNvSpPr/>
          <p:nvPr/>
        </p:nvSpPr>
        <p:spPr>
          <a:xfrm>
            <a:off x="6200775" y="3528696"/>
            <a:ext cx="5175250" cy="1487170"/>
          </a:xfrm>
          <a:prstGeom prst="roundRect">
            <a:avLst>
              <a:gd name="adj" fmla="val 4910"/>
            </a:avLst>
          </a:prstGeom>
          <a:solidFill>
            <a:srgbClr val="FCFBF7"/>
          </a:solidFill>
          <a:ln w="6350">
            <a:solidFill>
              <a:srgbClr val="DDD8CC"/>
            </a:solidFill>
            <a:prstDash val="solid"/>
          </a:ln>
        </p:spPr>
      </p:sp>
      <p:sp>
        <p:nvSpPr>
          <p:cNvPr id="17" name="Text 15"/>
          <p:cNvSpPr/>
          <p:nvPr/>
        </p:nvSpPr>
        <p:spPr>
          <a:xfrm>
            <a:off x="6405880" y="37338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MOBILE WEB</a:t>
            </a:r>
            <a:endParaRPr lang="en-US" sz="1200" dirty="0"/>
          </a:p>
        </p:txBody>
      </p:sp>
      <p:sp>
        <p:nvSpPr>
          <p:cNvPr id="18" name="Text 16"/>
          <p:cNvSpPr/>
          <p:nvPr/>
        </p:nvSpPr>
        <p:spPr>
          <a:xfrm>
            <a:off x="6405880" y="4023361"/>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website opened in the phone’s browser, such as Chrome on Android or Safari on iOS.</a:t>
            </a:r>
            <a:endParaRPr lang="en-US" sz="1400" dirty="0"/>
          </a:p>
        </p:txBody>
      </p:sp>
      <p:sp>
        <p:nvSpPr>
          <p:cNvPr id="19" name="Text 17"/>
          <p:cNvSpPr/>
          <p:nvPr/>
        </p:nvSpPr>
        <p:spPr>
          <a:xfrm>
            <a:off x="6405880" y="45974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Test with Appium or a cloud Selenium grid</a:t>
            </a:r>
            <a:endParaRPr lang="en-US" sz="1200" dirty="0"/>
          </a:p>
        </p:txBody>
      </p:sp>
      <p:sp>
        <p:nvSpPr>
          <p:cNvPr id="20" name="Text 18"/>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1" name="Text 19"/>
          <p:cNvSpPr/>
          <p:nvPr/>
        </p:nvSpPr>
        <p:spPr>
          <a:xfrm>
            <a:off x="7471490" y="6238239"/>
            <a:ext cx="402494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kind of app decides which tools can reach its screens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CHALLENGES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Why mobile testing is harder</a:t>
            </a:r>
            <a:endParaRPr lang="en-US" sz="3200" dirty="0"/>
          </a:p>
        </p:txBody>
      </p:sp>
      <p:sp>
        <p:nvSpPr>
          <p:cNvPr id="4" name="Shape 2"/>
          <p:cNvSpPr/>
          <p:nvPr/>
        </p:nvSpPr>
        <p:spPr>
          <a:xfrm>
            <a:off x="815975" y="1831975"/>
            <a:ext cx="3448050" cy="676910"/>
          </a:xfrm>
          <a:prstGeom prst="roundRect">
            <a:avLst>
              <a:gd name="adj" fmla="val 10788"/>
            </a:avLst>
          </a:prstGeom>
          <a:solidFill>
            <a:srgbClr val="FCFBF7"/>
          </a:solidFill>
          <a:ln w="6350">
            <a:solidFill>
              <a:srgbClr val="DDD8CC"/>
            </a:solidFill>
            <a:prstDash val="solid"/>
          </a:ln>
        </p:spPr>
      </p:sp>
      <p:sp>
        <p:nvSpPr>
          <p:cNvPr id="5" name="Text 3"/>
          <p:cNvSpPr/>
          <p:nvPr/>
        </p:nvSpPr>
        <p:spPr>
          <a:xfrm>
            <a:off x="970280" y="1935482"/>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Device fragmentation</a:t>
            </a:r>
            <a:endParaRPr lang="en-US" sz="1400" dirty="0"/>
          </a:p>
        </p:txBody>
      </p:sp>
      <p:sp>
        <p:nvSpPr>
          <p:cNvPr id="6" name="Text 4"/>
          <p:cNvSpPr/>
          <p:nvPr/>
        </p:nvSpPr>
        <p:spPr>
          <a:xfrm>
            <a:off x="970280" y="2192021"/>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Many makers, screen sizes and chipsets</a:t>
            </a:r>
            <a:endParaRPr lang="en-US" sz="1200" dirty="0"/>
          </a:p>
        </p:txBody>
      </p:sp>
      <p:sp>
        <p:nvSpPr>
          <p:cNvPr id="7" name="Shape 5"/>
          <p:cNvSpPr/>
          <p:nvPr/>
        </p:nvSpPr>
        <p:spPr>
          <a:xfrm>
            <a:off x="4371975" y="1831975"/>
            <a:ext cx="3448050" cy="676910"/>
          </a:xfrm>
          <a:prstGeom prst="roundRect">
            <a:avLst>
              <a:gd name="adj" fmla="val 10788"/>
            </a:avLst>
          </a:prstGeom>
          <a:solidFill>
            <a:srgbClr val="FCFBF7"/>
          </a:solidFill>
          <a:ln w="6350">
            <a:solidFill>
              <a:srgbClr val="DDD8CC"/>
            </a:solidFill>
            <a:prstDash val="solid"/>
          </a:ln>
        </p:spPr>
      </p:sp>
      <p:sp>
        <p:nvSpPr>
          <p:cNvPr id="8" name="Text 6"/>
          <p:cNvSpPr/>
          <p:nvPr/>
        </p:nvSpPr>
        <p:spPr>
          <a:xfrm>
            <a:off x="4526280" y="1935482"/>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OS versions</a:t>
            </a:r>
            <a:endParaRPr lang="en-US" sz="1400" dirty="0"/>
          </a:p>
        </p:txBody>
      </p:sp>
      <p:sp>
        <p:nvSpPr>
          <p:cNvPr id="9" name="Text 7"/>
          <p:cNvSpPr/>
          <p:nvPr/>
        </p:nvSpPr>
        <p:spPr>
          <a:xfrm>
            <a:off x="4526280" y="2192021"/>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Users stay on older Android and iOS releases</a:t>
            </a:r>
            <a:endParaRPr lang="en-US" sz="1200" dirty="0"/>
          </a:p>
        </p:txBody>
      </p:sp>
      <p:sp>
        <p:nvSpPr>
          <p:cNvPr id="10" name="Shape 8"/>
          <p:cNvSpPr/>
          <p:nvPr/>
        </p:nvSpPr>
        <p:spPr>
          <a:xfrm>
            <a:off x="7927975" y="1831975"/>
            <a:ext cx="3448050" cy="676910"/>
          </a:xfrm>
          <a:prstGeom prst="roundRect">
            <a:avLst>
              <a:gd name="adj" fmla="val 10788"/>
            </a:avLst>
          </a:prstGeom>
          <a:solidFill>
            <a:srgbClr val="FCFBF7"/>
          </a:solidFill>
          <a:ln w="6350">
            <a:solidFill>
              <a:srgbClr val="DDD8CC"/>
            </a:solidFill>
            <a:prstDash val="solid"/>
          </a:ln>
        </p:spPr>
      </p:sp>
      <p:sp>
        <p:nvSpPr>
          <p:cNvPr id="11" name="Text 9"/>
          <p:cNvSpPr/>
          <p:nvPr/>
        </p:nvSpPr>
        <p:spPr>
          <a:xfrm>
            <a:off x="8082280" y="1935482"/>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Networks</a:t>
            </a:r>
            <a:endParaRPr lang="en-US" sz="1400" dirty="0"/>
          </a:p>
        </p:txBody>
      </p:sp>
      <p:sp>
        <p:nvSpPr>
          <p:cNvPr id="12" name="Text 10"/>
          <p:cNvSpPr/>
          <p:nvPr/>
        </p:nvSpPr>
        <p:spPr>
          <a:xfrm>
            <a:off x="8082280" y="2192021"/>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Wi-Fi, 4G, weak signal, offline, handovers</a:t>
            </a:r>
            <a:endParaRPr lang="en-US" sz="1200" dirty="0"/>
          </a:p>
        </p:txBody>
      </p:sp>
      <p:sp>
        <p:nvSpPr>
          <p:cNvPr id="13" name="Shape 11"/>
          <p:cNvSpPr/>
          <p:nvPr/>
        </p:nvSpPr>
        <p:spPr>
          <a:xfrm>
            <a:off x="815975" y="2616836"/>
            <a:ext cx="3448050" cy="676910"/>
          </a:xfrm>
          <a:prstGeom prst="roundRect">
            <a:avLst>
              <a:gd name="adj" fmla="val 10788"/>
            </a:avLst>
          </a:prstGeom>
          <a:solidFill>
            <a:srgbClr val="FCFBF7"/>
          </a:solidFill>
          <a:ln w="6350">
            <a:solidFill>
              <a:srgbClr val="DDD8CC"/>
            </a:solidFill>
            <a:prstDash val="solid"/>
          </a:ln>
        </p:spPr>
      </p:sp>
      <p:sp>
        <p:nvSpPr>
          <p:cNvPr id="14" name="Text 12"/>
          <p:cNvSpPr/>
          <p:nvPr/>
        </p:nvSpPr>
        <p:spPr>
          <a:xfrm>
            <a:off x="970280" y="2720339"/>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Interruptions</a:t>
            </a:r>
            <a:endParaRPr lang="en-US" sz="1400" dirty="0"/>
          </a:p>
        </p:txBody>
      </p:sp>
      <p:sp>
        <p:nvSpPr>
          <p:cNvPr id="15" name="Text 13"/>
          <p:cNvSpPr/>
          <p:nvPr/>
        </p:nvSpPr>
        <p:spPr>
          <a:xfrm>
            <a:off x="970280" y="2976882"/>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Calls, notifications, alarms, low battery</a:t>
            </a:r>
            <a:endParaRPr lang="en-US" sz="1200" dirty="0"/>
          </a:p>
        </p:txBody>
      </p:sp>
      <p:sp>
        <p:nvSpPr>
          <p:cNvPr id="16" name="Shape 14"/>
          <p:cNvSpPr/>
          <p:nvPr/>
        </p:nvSpPr>
        <p:spPr>
          <a:xfrm>
            <a:off x="4371975" y="2616836"/>
            <a:ext cx="3448050" cy="676910"/>
          </a:xfrm>
          <a:prstGeom prst="roundRect">
            <a:avLst>
              <a:gd name="adj" fmla="val 10788"/>
            </a:avLst>
          </a:prstGeom>
          <a:solidFill>
            <a:srgbClr val="FCFBF7"/>
          </a:solidFill>
          <a:ln w="6350">
            <a:solidFill>
              <a:srgbClr val="DDD8CC"/>
            </a:solidFill>
            <a:prstDash val="solid"/>
          </a:ln>
        </p:spPr>
      </p:sp>
      <p:sp>
        <p:nvSpPr>
          <p:cNvPr id="17" name="Text 15"/>
          <p:cNvSpPr/>
          <p:nvPr/>
        </p:nvSpPr>
        <p:spPr>
          <a:xfrm>
            <a:off x="4526280" y="2720339"/>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Hardware</a:t>
            </a:r>
            <a:endParaRPr lang="en-US" sz="1400" dirty="0"/>
          </a:p>
        </p:txBody>
      </p:sp>
      <p:sp>
        <p:nvSpPr>
          <p:cNvPr id="18" name="Text 16"/>
          <p:cNvSpPr/>
          <p:nvPr/>
        </p:nvSpPr>
        <p:spPr>
          <a:xfrm>
            <a:off x="4526280" y="2976882"/>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Camera, GPS, fingerprint, sensors</a:t>
            </a:r>
            <a:endParaRPr lang="en-US" sz="1200" dirty="0"/>
          </a:p>
        </p:txBody>
      </p:sp>
      <p:sp>
        <p:nvSpPr>
          <p:cNvPr id="19" name="Shape 17"/>
          <p:cNvSpPr/>
          <p:nvPr/>
        </p:nvSpPr>
        <p:spPr>
          <a:xfrm>
            <a:off x="7927975" y="2616836"/>
            <a:ext cx="3448050" cy="676910"/>
          </a:xfrm>
          <a:prstGeom prst="roundRect">
            <a:avLst>
              <a:gd name="adj" fmla="val 10788"/>
            </a:avLst>
          </a:prstGeom>
          <a:solidFill>
            <a:srgbClr val="FCFBF7"/>
          </a:solidFill>
          <a:ln w="6350">
            <a:solidFill>
              <a:srgbClr val="DDD8CC"/>
            </a:solidFill>
            <a:prstDash val="solid"/>
          </a:ln>
        </p:spPr>
      </p:sp>
      <p:sp>
        <p:nvSpPr>
          <p:cNvPr id="20" name="Text 18"/>
          <p:cNvSpPr/>
          <p:nvPr/>
        </p:nvSpPr>
        <p:spPr>
          <a:xfrm>
            <a:off x="8082280" y="2720339"/>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Permissions</a:t>
            </a:r>
            <a:endParaRPr lang="en-US" sz="1400" dirty="0"/>
          </a:p>
        </p:txBody>
      </p:sp>
      <p:sp>
        <p:nvSpPr>
          <p:cNvPr id="21" name="Text 19"/>
          <p:cNvSpPr/>
          <p:nvPr/>
        </p:nvSpPr>
        <p:spPr>
          <a:xfrm>
            <a:off x="8082280" y="2976882"/>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Allowed, denied, or revoked later</a:t>
            </a:r>
            <a:endParaRPr lang="en-US" sz="1200" dirty="0"/>
          </a:p>
        </p:txBody>
      </p:sp>
      <p:sp>
        <p:nvSpPr>
          <p:cNvPr id="22" name="Shape 20"/>
          <p:cNvSpPr/>
          <p:nvPr/>
        </p:nvSpPr>
        <p:spPr>
          <a:xfrm>
            <a:off x="815975" y="3401696"/>
            <a:ext cx="3448050" cy="890270"/>
          </a:xfrm>
          <a:prstGeom prst="roundRect">
            <a:avLst>
              <a:gd name="adj" fmla="val 8203"/>
            </a:avLst>
          </a:prstGeom>
          <a:solidFill>
            <a:srgbClr val="FCFBF7"/>
          </a:solidFill>
          <a:ln w="6350">
            <a:solidFill>
              <a:srgbClr val="DDD8CC"/>
            </a:solidFill>
            <a:prstDash val="solid"/>
          </a:ln>
        </p:spPr>
      </p:sp>
      <p:sp>
        <p:nvSpPr>
          <p:cNvPr id="23" name="Text 21"/>
          <p:cNvSpPr/>
          <p:nvPr/>
        </p:nvSpPr>
        <p:spPr>
          <a:xfrm>
            <a:off x="970280" y="3505200"/>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Gestures and input</a:t>
            </a:r>
            <a:endParaRPr lang="en-US" sz="1400" dirty="0"/>
          </a:p>
        </p:txBody>
      </p:sp>
      <p:sp>
        <p:nvSpPr>
          <p:cNvPr id="24" name="Text 22"/>
          <p:cNvSpPr/>
          <p:nvPr/>
        </p:nvSpPr>
        <p:spPr>
          <a:xfrm>
            <a:off x="970280" y="3761739"/>
            <a:ext cx="32336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Swipe, pinch, long press; keyboards hide fields</a:t>
            </a:r>
            <a:endParaRPr lang="en-US" sz="1200" dirty="0"/>
          </a:p>
        </p:txBody>
      </p:sp>
      <p:sp>
        <p:nvSpPr>
          <p:cNvPr id="25" name="Shape 23"/>
          <p:cNvSpPr/>
          <p:nvPr/>
        </p:nvSpPr>
        <p:spPr>
          <a:xfrm>
            <a:off x="4371975" y="3401696"/>
            <a:ext cx="3448050" cy="890270"/>
          </a:xfrm>
          <a:prstGeom prst="roundRect">
            <a:avLst>
              <a:gd name="adj" fmla="val 8203"/>
            </a:avLst>
          </a:prstGeom>
          <a:solidFill>
            <a:srgbClr val="FCFBF7"/>
          </a:solidFill>
          <a:ln w="6350">
            <a:solidFill>
              <a:srgbClr val="DDD8CC"/>
            </a:solidFill>
            <a:prstDash val="solid"/>
          </a:ln>
        </p:spPr>
      </p:sp>
      <p:sp>
        <p:nvSpPr>
          <p:cNvPr id="26" name="Text 24"/>
          <p:cNvSpPr/>
          <p:nvPr/>
        </p:nvSpPr>
        <p:spPr>
          <a:xfrm>
            <a:off x="4526280" y="3505200"/>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App lifecycle</a:t>
            </a:r>
            <a:endParaRPr lang="en-US" sz="1400" dirty="0"/>
          </a:p>
        </p:txBody>
      </p:sp>
      <p:sp>
        <p:nvSpPr>
          <p:cNvPr id="27" name="Text 25"/>
          <p:cNvSpPr/>
          <p:nvPr/>
        </p:nvSpPr>
        <p:spPr>
          <a:xfrm>
            <a:off x="4526280" y="3761739"/>
            <a:ext cx="32336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Background, killed, restored, rotated</a:t>
            </a:r>
            <a:endParaRPr lang="en-US" sz="1200" dirty="0"/>
          </a:p>
        </p:txBody>
      </p:sp>
      <p:sp>
        <p:nvSpPr>
          <p:cNvPr id="28" name="Shape 26"/>
          <p:cNvSpPr/>
          <p:nvPr/>
        </p:nvSpPr>
        <p:spPr>
          <a:xfrm>
            <a:off x="7927975" y="3401696"/>
            <a:ext cx="3448050" cy="890270"/>
          </a:xfrm>
          <a:prstGeom prst="roundRect">
            <a:avLst>
              <a:gd name="adj" fmla="val 8203"/>
            </a:avLst>
          </a:prstGeom>
          <a:solidFill>
            <a:srgbClr val="FCFBF7"/>
          </a:solidFill>
          <a:ln w="6350">
            <a:solidFill>
              <a:srgbClr val="DDD8CC"/>
            </a:solidFill>
            <a:prstDash val="solid"/>
          </a:ln>
        </p:spPr>
      </p:sp>
      <p:sp>
        <p:nvSpPr>
          <p:cNvPr id="29" name="Text 27"/>
          <p:cNvSpPr/>
          <p:nvPr/>
        </p:nvSpPr>
        <p:spPr>
          <a:xfrm>
            <a:off x="8082280" y="3505200"/>
            <a:ext cx="323362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App stores</a:t>
            </a:r>
            <a:endParaRPr lang="en-US" sz="1400" dirty="0"/>
          </a:p>
        </p:txBody>
      </p:sp>
      <p:sp>
        <p:nvSpPr>
          <p:cNvPr id="30" name="Text 28"/>
          <p:cNvSpPr/>
          <p:nvPr/>
        </p:nvSpPr>
        <p:spPr>
          <a:xfrm>
            <a:off x="8082280" y="3761739"/>
            <a:ext cx="323362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Review and signing; users update when they choose</a:t>
            </a:r>
            <a:endParaRPr lang="en-US" sz="1200" dirty="0"/>
          </a:p>
        </p:txBody>
      </p:sp>
      <p:sp>
        <p:nvSpPr>
          <p:cNvPr id="31" name="Shape 29"/>
          <p:cNvSpPr/>
          <p:nvPr/>
        </p:nvSpPr>
        <p:spPr>
          <a:xfrm>
            <a:off x="812800" y="4549139"/>
            <a:ext cx="10566400" cy="553720"/>
          </a:xfrm>
          <a:prstGeom prst="roundRect">
            <a:avLst>
              <a:gd name="adj" fmla="val 13761"/>
            </a:avLst>
          </a:prstGeom>
          <a:solidFill>
            <a:srgbClr val="13233A"/>
          </a:solidFill>
          <a:ln/>
        </p:spPr>
      </p:sp>
      <p:sp>
        <p:nvSpPr>
          <p:cNvPr id="32" name="Text 30"/>
          <p:cNvSpPr/>
          <p:nvPr/>
        </p:nvSpPr>
        <p:spPr>
          <a:xfrm>
            <a:off x="1016000" y="4719321"/>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RESULT</a:t>
            </a:r>
            <a:endParaRPr lang="en-US" sz="1200" dirty="0"/>
          </a:p>
        </p:txBody>
      </p:sp>
      <p:sp>
        <p:nvSpPr>
          <p:cNvPr id="33" name="Text 31"/>
          <p:cNvSpPr/>
          <p:nvPr/>
        </p:nvSpPr>
        <p:spPr>
          <a:xfrm>
            <a:off x="1793240" y="4701539"/>
            <a:ext cx="96642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Every mix of device, OS, network and app state is one more place to fail.</a:t>
            </a:r>
            <a:endParaRPr lang="en-US" sz="1400" dirty="0"/>
          </a:p>
        </p:txBody>
      </p:sp>
      <p:sp>
        <p:nvSpPr>
          <p:cNvPr id="34" name="Text 32"/>
          <p:cNvSpPr/>
          <p:nvPr/>
        </p:nvSpPr>
        <p:spPr>
          <a:xfrm>
            <a:off x="812800" y="6238239"/>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PLATFORMS</a:t>
            </a:r>
            <a:endParaRPr lang="en-US" sz="1200" dirty="0"/>
          </a:p>
        </p:txBody>
      </p:sp>
      <p:sp>
        <p:nvSpPr>
          <p:cNvPr id="3" name="Text 1"/>
          <p:cNvSpPr/>
          <p:nvPr/>
        </p:nvSpPr>
        <p:spPr>
          <a:xfrm>
            <a:off x="812800" y="11277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Which platform do your users have?</a:t>
            </a:r>
            <a:endParaRPr lang="en-US" sz="3200" dirty="0"/>
          </a:p>
        </p:txBody>
      </p:sp>
      <p:sp>
        <p:nvSpPr>
          <p:cNvPr id="4" name="Text 2"/>
          <p:cNvSpPr/>
          <p:nvPr/>
        </p:nvSpPr>
        <p:spPr>
          <a:xfrm>
            <a:off x="812800" y="1828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WORLDWIDE</a:t>
            </a:r>
            <a:endParaRPr lang="en-US" sz="1200" dirty="0"/>
          </a:p>
        </p:txBody>
      </p:sp>
      <p:sp>
        <p:nvSpPr>
          <p:cNvPr id="5" name="Text 3"/>
          <p:cNvSpPr/>
          <p:nvPr/>
        </p:nvSpPr>
        <p:spPr>
          <a:xfrm>
            <a:off x="812800" y="2146300"/>
            <a:ext cx="939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Android</a:t>
            </a:r>
            <a:endParaRPr lang="en-US" sz="1400" dirty="0"/>
          </a:p>
        </p:txBody>
      </p:sp>
      <p:sp>
        <p:nvSpPr>
          <p:cNvPr id="6" name="Shape 4"/>
          <p:cNvSpPr/>
          <p:nvPr/>
        </p:nvSpPr>
        <p:spPr>
          <a:xfrm>
            <a:off x="1854200" y="2118361"/>
            <a:ext cx="5149850" cy="304800"/>
          </a:xfrm>
          <a:prstGeom prst="roundRect">
            <a:avLst>
              <a:gd name="adj" fmla="val 12500"/>
            </a:avLst>
          </a:prstGeom>
          <a:solidFill>
            <a:srgbClr val="245A9C"/>
          </a:solidFill>
          <a:ln/>
        </p:spPr>
      </p:sp>
      <p:sp>
        <p:nvSpPr>
          <p:cNvPr id="7" name="Text 5"/>
          <p:cNvSpPr/>
          <p:nvPr/>
        </p:nvSpPr>
        <p:spPr>
          <a:xfrm>
            <a:off x="7156450" y="2146300"/>
            <a:ext cx="6908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JetBrains Mono" pitchFamily="34" charset="0"/>
                <a:ea typeface="JetBrains Mono" pitchFamily="34" charset="-122"/>
                <a:cs typeface="JetBrains Mono" pitchFamily="34" charset="-120"/>
              </a:rPr>
              <a:t>67.61%</a:t>
            </a:r>
            <a:endParaRPr lang="en-US" sz="1400" dirty="0"/>
          </a:p>
        </p:txBody>
      </p:sp>
      <p:sp>
        <p:nvSpPr>
          <p:cNvPr id="8" name="Text 6"/>
          <p:cNvSpPr/>
          <p:nvPr/>
        </p:nvSpPr>
        <p:spPr>
          <a:xfrm>
            <a:off x="812800" y="2527300"/>
            <a:ext cx="939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iOS</a:t>
            </a:r>
            <a:endParaRPr lang="en-US" sz="1400" dirty="0"/>
          </a:p>
        </p:txBody>
      </p:sp>
      <p:sp>
        <p:nvSpPr>
          <p:cNvPr id="9" name="Shape 7"/>
          <p:cNvSpPr/>
          <p:nvPr/>
        </p:nvSpPr>
        <p:spPr>
          <a:xfrm>
            <a:off x="1854200" y="2499361"/>
            <a:ext cx="2463800" cy="304800"/>
          </a:xfrm>
          <a:prstGeom prst="roundRect">
            <a:avLst>
              <a:gd name="adj" fmla="val 12500"/>
            </a:avLst>
          </a:prstGeom>
          <a:solidFill>
            <a:srgbClr val="E98B53"/>
          </a:solidFill>
          <a:ln/>
        </p:spPr>
      </p:sp>
      <p:sp>
        <p:nvSpPr>
          <p:cNvPr id="10" name="Text 8"/>
          <p:cNvSpPr/>
          <p:nvPr/>
        </p:nvSpPr>
        <p:spPr>
          <a:xfrm>
            <a:off x="4470400" y="2527300"/>
            <a:ext cx="6908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JetBrains Mono" pitchFamily="34" charset="0"/>
                <a:ea typeface="JetBrains Mono" pitchFamily="34" charset="-122"/>
                <a:cs typeface="JetBrains Mono" pitchFamily="34" charset="-120"/>
              </a:rPr>
              <a:t>32.36%</a:t>
            </a:r>
            <a:endParaRPr lang="en-US" sz="1400" dirty="0"/>
          </a:p>
        </p:txBody>
      </p:sp>
      <p:sp>
        <p:nvSpPr>
          <p:cNvPr id="11" name="Text 9"/>
          <p:cNvSpPr/>
          <p:nvPr/>
        </p:nvSpPr>
        <p:spPr>
          <a:xfrm>
            <a:off x="812800" y="3058161"/>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INDIA</a:t>
            </a:r>
            <a:endParaRPr lang="en-US" sz="1200" dirty="0"/>
          </a:p>
        </p:txBody>
      </p:sp>
      <p:sp>
        <p:nvSpPr>
          <p:cNvPr id="12" name="Text 10"/>
          <p:cNvSpPr/>
          <p:nvPr/>
        </p:nvSpPr>
        <p:spPr>
          <a:xfrm>
            <a:off x="812800" y="3375661"/>
            <a:ext cx="939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Android</a:t>
            </a:r>
            <a:endParaRPr lang="en-US" sz="1400" dirty="0"/>
          </a:p>
        </p:txBody>
      </p:sp>
      <p:sp>
        <p:nvSpPr>
          <p:cNvPr id="13" name="Shape 11"/>
          <p:cNvSpPr/>
          <p:nvPr/>
        </p:nvSpPr>
        <p:spPr>
          <a:xfrm>
            <a:off x="1854200" y="3347721"/>
            <a:ext cx="7067550" cy="304800"/>
          </a:xfrm>
          <a:prstGeom prst="roundRect">
            <a:avLst>
              <a:gd name="adj" fmla="val 12500"/>
            </a:avLst>
          </a:prstGeom>
          <a:solidFill>
            <a:srgbClr val="245A9C"/>
          </a:solidFill>
          <a:ln/>
        </p:spPr>
      </p:sp>
      <p:sp>
        <p:nvSpPr>
          <p:cNvPr id="14" name="Text 12"/>
          <p:cNvSpPr/>
          <p:nvPr/>
        </p:nvSpPr>
        <p:spPr>
          <a:xfrm>
            <a:off x="9074150" y="3375661"/>
            <a:ext cx="69088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JetBrains Mono" pitchFamily="34" charset="0"/>
                <a:ea typeface="JetBrains Mono" pitchFamily="34" charset="-122"/>
                <a:cs typeface="JetBrains Mono" pitchFamily="34" charset="-120"/>
              </a:rPr>
              <a:t>92.79%</a:t>
            </a:r>
            <a:endParaRPr lang="en-US" sz="1400" dirty="0"/>
          </a:p>
        </p:txBody>
      </p:sp>
      <p:sp>
        <p:nvSpPr>
          <p:cNvPr id="15" name="Text 13"/>
          <p:cNvSpPr/>
          <p:nvPr/>
        </p:nvSpPr>
        <p:spPr>
          <a:xfrm>
            <a:off x="812800" y="3756661"/>
            <a:ext cx="9398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iOS</a:t>
            </a:r>
            <a:endParaRPr lang="en-US" sz="1400" dirty="0"/>
          </a:p>
        </p:txBody>
      </p:sp>
      <p:sp>
        <p:nvSpPr>
          <p:cNvPr id="16" name="Shape 14"/>
          <p:cNvSpPr/>
          <p:nvPr/>
        </p:nvSpPr>
        <p:spPr>
          <a:xfrm>
            <a:off x="1854200" y="3728721"/>
            <a:ext cx="546100" cy="304800"/>
          </a:xfrm>
          <a:prstGeom prst="roundRect">
            <a:avLst>
              <a:gd name="adj" fmla="val 12500"/>
            </a:avLst>
          </a:prstGeom>
          <a:solidFill>
            <a:srgbClr val="E98B53"/>
          </a:solidFill>
          <a:ln/>
        </p:spPr>
      </p:sp>
      <p:sp>
        <p:nvSpPr>
          <p:cNvPr id="17" name="Text 15"/>
          <p:cNvSpPr/>
          <p:nvPr/>
        </p:nvSpPr>
        <p:spPr>
          <a:xfrm>
            <a:off x="2552700" y="3756661"/>
            <a:ext cx="584200" cy="27432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33A"/>
                </a:solidFill>
                <a:latin typeface="JetBrains Mono" pitchFamily="34" charset="0"/>
                <a:ea typeface="JetBrains Mono" pitchFamily="34" charset="-122"/>
                <a:cs typeface="JetBrains Mono" pitchFamily="34" charset="-120"/>
              </a:rPr>
              <a:t>7.15%</a:t>
            </a:r>
            <a:endParaRPr lang="en-US" sz="1400" dirty="0"/>
          </a:p>
        </p:txBody>
      </p:sp>
      <p:sp>
        <p:nvSpPr>
          <p:cNvPr id="18" name="Text 16"/>
          <p:cNvSpPr/>
          <p:nvPr/>
        </p:nvSpPr>
        <p:spPr>
          <a:xfrm>
            <a:off x="812800" y="4287521"/>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both platforms, but weight the device list by your own users. For a campus app in India, most students will be on Android phones from many makers.</a:t>
            </a:r>
            <a:endParaRPr lang="en-US" sz="1400" dirty="0"/>
          </a:p>
        </p:txBody>
      </p:sp>
      <p:sp>
        <p:nvSpPr>
          <p:cNvPr id="19" name="Text 1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0" name="Text 18"/>
          <p:cNvSpPr/>
          <p:nvPr/>
        </p:nvSpPr>
        <p:spPr>
          <a:xfrm>
            <a:off x="4400788" y="6238242"/>
            <a:ext cx="71877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StatCounter Global Stats, mobile OS share, August 2026 · measured from page views, not devices sold</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WHAT TO TEST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Nine kinds of mobile testing</a:t>
            </a:r>
            <a:endParaRPr lang="en-US" sz="3200" dirty="0"/>
          </a:p>
        </p:txBody>
      </p:sp>
      <p:sp>
        <p:nvSpPr>
          <p:cNvPr id="4" name="Shape 2"/>
          <p:cNvSpPr/>
          <p:nvPr/>
        </p:nvSpPr>
        <p:spPr>
          <a:xfrm>
            <a:off x="11376025" y="1828800"/>
            <a:ext cx="0" cy="3317240"/>
          </a:xfrm>
          <a:prstGeom prst="line">
            <a:avLst/>
          </a:prstGeom>
          <a:noFill/>
          <a:ln w="6350">
            <a:solidFill>
              <a:srgbClr val="DDD8CC"/>
            </a:solidFill>
            <a:prstDash val="solid"/>
          </a:ln>
        </p:spPr>
      </p:sp>
      <p:sp>
        <p:nvSpPr>
          <p:cNvPr id="5" name="Shape 3"/>
          <p:cNvSpPr/>
          <p:nvPr/>
        </p:nvSpPr>
        <p:spPr>
          <a:xfrm>
            <a:off x="812800" y="51428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3302000"/>
        </p:xfrm>
        <a:graphic>
          <a:graphicData uri="http://schemas.openxmlformats.org/drawingml/2006/table">
            <a:tbl>
              <a:tblPr/>
              <a:tblGrid>
                <a:gridCol w="2110232"/>
                <a:gridCol w="3798418"/>
                <a:gridCol w="464251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Canteen App example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Functional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Features work as specified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Log in, add a dosa, apply SAVE20,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UI and layout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screen size and orientation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Cart total visible on a small phone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Accessibility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Screen readers, contrast, text 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TalkBack reads every button label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Compatibility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Supported devices and OS versions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Oldest and newest supported 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Performance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Start-up time, memory, battery,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Menu opens fast on a low-end phone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Network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Slow, lost and switching connections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Order on weak 4G is not sent twice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Interruption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Calls, notifications, backgrounding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call arrives; the cart survives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Storage, transport, permissions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Login token kept in Keystore or Keychain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Install and update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Install, upgrade, uninstall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Upgrade keeps the student logged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Text 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8" name="Text 5"/>
          <p:cNvSpPr/>
          <p:nvPr/>
        </p:nvSpPr>
        <p:spPr>
          <a:xfrm>
            <a:off x="6744970" y="6238242"/>
            <a:ext cx="477325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Functional and UI checks automate well; usability still needs people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WHERE TESTS RUN</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Emulators, simulators and real devices</a:t>
            </a:r>
            <a:endParaRPr lang="en-US" sz="3200" dirty="0"/>
          </a:p>
        </p:txBody>
      </p:sp>
      <p:sp>
        <p:nvSpPr>
          <p:cNvPr id="4" name="Shape 2"/>
          <p:cNvSpPr/>
          <p:nvPr/>
        </p:nvSpPr>
        <p:spPr>
          <a:xfrm>
            <a:off x="815975" y="1831975"/>
            <a:ext cx="5175250" cy="1436370"/>
          </a:xfrm>
          <a:prstGeom prst="roundRect">
            <a:avLst>
              <a:gd name="adj" fmla="val 5084"/>
            </a:avLst>
          </a:prstGeom>
          <a:solidFill>
            <a:srgbClr val="FCFBF7"/>
          </a:solidFill>
          <a:ln w="6350">
            <a:solidFill>
              <a:srgbClr val="DDD8CC"/>
            </a:solidFill>
            <a:prstDash val="solid"/>
          </a:ln>
        </p:spPr>
      </p:sp>
      <p:sp>
        <p:nvSpPr>
          <p:cNvPr id="5" name="Text 3"/>
          <p:cNvSpPr/>
          <p:nvPr/>
        </p:nvSpPr>
        <p:spPr>
          <a:xfrm>
            <a:off x="1021080" y="2011679"/>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ANDROID EMULATOR</a:t>
            </a:r>
            <a:endParaRPr lang="en-US" sz="1200" dirty="0"/>
          </a:p>
        </p:txBody>
      </p:sp>
      <p:sp>
        <p:nvSpPr>
          <p:cNvPr id="6" name="Text 4"/>
          <p:cNvSpPr/>
          <p:nvPr/>
        </p:nvSpPr>
        <p:spPr>
          <a:xfrm>
            <a:off x="1021080" y="2301242"/>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virtual device (AVD) that “contains a hardware profile, system image, storage area, skin”.</a:t>
            </a:r>
            <a:endParaRPr lang="en-US" sz="1400" dirty="0"/>
          </a:p>
        </p:txBody>
      </p:sp>
      <p:sp>
        <p:nvSpPr>
          <p:cNvPr id="7" name="Text 5"/>
          <p:cNvSpPr/>
          <p:nvPr/>
        </p:nvSpPr>
        <p:spPr>
          <a:xfrm>
            <a:off x="1021080" y="2875279"/>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Fast, free runs in development and CI</a:t>
            </a:r>
            <a:endParaRPr lang="en-US" sz="1200" dirty="0"/>
          </a:p>
        </p:txBody>
      </p:sp>
      <p:sp>
        <p:nvSpPr>
          <p:cNvPr id="8" name="Shape 6"/>
          <p:cNvSpPr/>
          <p:nvPr/>
        </p:nvSpPr>
        <p:spPr>
          <a:xfrm>
            <a:off x="6200775" y="1831975"/>
            <a:ext cx="5175250" cy="1436370"/>
          </a:xfrm>
          <a:prstGeom prst="roundRect">
            <a:avLst>
              <a:gd name="adj" fmla="val 5084"/>
            </a:avLst>
          </a:prstGeom>
          <a:solidFill>
            <a:srgbClr val="FCFBF7"/>
          </a:solidFill>
          <a:ln w="6350">
            <a:solidFill>
              <a:srgbClr val="DDD8CC"/>
            </a:solidFill>
            <a:prstDash val="solid"/>
          </a:ln>
        </p:spPr>
      </p:sp>
      <p:sp>
        <p:nvSpPr>
          <p:cNvPr id="9" name="Text 7"/>
          <p:cNvSpPr/>
          <p:nvPr/>
        </p:nvSpPr>
        <p:spPr>
          <a:xfrm>
            <a:off x="6405880" y="2011679"/>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IOS SIMULATOR</a:t>
            </a:r>
            <a:endParaRPr lang="en-US" sz="1200" dirty="0"/>
          </a:p>
        </p:txBody>
      </p:sp>
      <p:sp>
        <p:nvSpPr>
          <p:cNvPr id="10" name="Text 8"/>
          <p:cNvSpPr/>
          <p:nvPr/>
        </p:nvSpPr>
        <p:spPr>
          <a:xfrm>
            <a:off x="6405880" y="2301242"/>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Runs on a Mac with Xcode. Apple: simulators “don’t replicate the performance or features of a physical device”.</a:t>
            </a:r>
            <a:endParaRPr lang="en-US" sz="1400" dirty="0"/>
          </a:p>
        </p:txBody>
      </p:sp>
      <p:sp>
        <p:nvSpPr>
          <p:cNvPr id="11" name="Text 9"/>
          <p:cNvSpPr/>
          <p:nvPr/>
        </p:nvSpPr>
        <p:spPr>
          <a:xfrm>
            <a:off x="6405880" y="2875279"/>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Quick UI checks while developing</a:t>
            </a:r>
            <a:endParaRPr lang="en-US" sz="1200" dirty="0"/>
          </a:p>
        </p:txBody>
      </p:sp>
      <p:sp>
        <p:nvSpPr>
          <p:cNvPr id="12" name="Shape 10"/>
          <p:cNvSpPr/>
          <p:nvPr/>
        </p:nvSpPr>
        <p:spPr>
          <a:xfrm>
            <a:off x="815975" y="3477896"/>
            <a:ext cx="5175250" cy="1436370"/>
          </a:xfrm>
          <a:prstGeom prst="roundRect">
            <a:avLst>
              <a:gd name="adj" fmla="val 5084"/>
            </a:avLst>
          </a:prstGeom>
          <a:solidFill>
            <a:srgbClr val="FCFBF7"/>
          </a:solidFill>
          <a:ln w="6350">
            <a:solidFill>
              <a:srgbClr val="DDD8CC"/>
            </a:solidFill>
            <a:prstDash val="solid"/>
          </a:ln>
        </p:spPr>
      </p:sp>
      <p:sp>
        <p:nvSpPr>
          <p:cNvPr id="13" name="Text 11"/>
          <p:cNvSpPr/>
          <p:nvPr/>
        </p:nvSpPr>
        <p:spPr>
          <a:xfrm>
            <a:off x="1021080" y="3657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REAL DEVICES</a:t>
            </a:r>
            <a:endParaRPr lang="en-US" sz="1200" dirty="0"/>
          </a:p>
        </p:txBody>
      </p:sp>
      <p:sp>
        <p:nvSpPr>
          <p:cNvPr id="14" name="Text 12"/>
          <p:cNvSpPr/>
          <p:nvPr/>
        </p:nvSpPr>
        <p:spPr>
          <a:xfrm>
            <a:off x="1021080" y="3947164"/>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true camera, sensors, battery, radio and speed. Costly to buy, charge and keep updated.</a:t>
            </a:r>
            <a:endParaRPr lang="en-US" sz="1400" dirty="0"/>
          </a:p>
        </p:txBody>
      </p:sp>
      <p:sp>
        <p:nvSpPr>
          <p:cNvPr id="15" name="Text 13"/>
          <p:cNvSpPr/>
          <p:nvPr/>
        </p:nvSpPr>
        <p:spPr>
          <a:xfrm>
            <a:off x="1021080" y="45212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Performance and release checks</a:t>
            </a:r>
            <a:endParaRPr lang="en-US" sz="1200" dirty="0"/>
          </a:p>
        </p:txBody>
      </p:sp>
      <p:sp>
        <p:nvSpPr>
          <p:cNvPr id="16" name="Shape 14"/>
          <p:cNvSpPr/>
          <p:nvPr/>
        </p:nvSpPr>
        <p:spPr>
          <a:xfrm>
            <a:off x="6200775" y="3477896"/>
            <a:ext cx="5175250" cy="1436370"/>
          </a:xfrm>
          <a:prstGeom prst="roundRect">
            <a:avLst>
              <a:gd name="adj" fmla="val 5084"/>
            </a:avLst>
          </a:prstGeom>
          <a:solidFill>
            <a:srgbClr val="FCFBF7"/>
          </a:solidFill>
          <a:ln w="6350">
            <a:solidFill>
              <a:srgbClr val="DDD8CC"/>
            </a:solidFill>
            <a:prstDash val="solid"/>
          </a:ln>
        </p:spPr>
      </p:sp>
      <p:sp>
        <p:nvSpPr>
          <p:cNvPr id="17" name="Text 15"/>
          <p:cNvSpPr/>
          <p:nvPr/>
        </p:nvSpPr>
        <p:spPr>
          <a:xfrm>
            <a:off x="6405880" y="36576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DEVICE CLOUDS</a:t>
            </a:r>
            <a:endParaRPr lang="en-US" sz="1200" dirty="0"/>
          </a:p>
        </p:txBody>
      </p:sp>
      <p:sp>
        <p:nvSpPr>
          <p:cNvPr id="18" name="Text 16"/>
          <p:cNvSpPr/>
          <p:nvPr/>
        </p:nvSpPr>
        <p:spPr>
          <a:xfrm>
            <a:off x="6405880" y="3947164"/>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Real phones in a data centre, used over the internet and paid for by use. Lecture 22.</a:t>
            </a:r>
            <a:endParaRPr lang="en-US" sz="1400" dirty="0"/>
          </a:p>
        </p:txBody>
      </p:sp>
      <p:sp>
        <p:nvSpPr>
          <p:cNvPr id="19" name="Text 17"/>
          <p:cNvSpPr/>
          <p:nvPr/>
        </p:nvSpPr>
        <p:spPr>
          <a:xfrm>
            <a:off x="6405880" y="4521200"/>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Wide coverage without a device lab</a:t>
            </a:r>
            <a:endParaRPr lang="en-US" sz="1200" dirty="0"/>
          </a:p>
        </p:txBody>
      </p:sp>
      <p:sp>
        <p:nvSpPr>
          <p:cNvPr id="20" name="Text 18"/>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1" name="Text 19"/>
          <p:cNvSpPr/>
          <p:nvPr/>
        </p:nvSpPr>
        <p:spPr>
          <a:xfrm>
            <a:off x="6181884" y="6238242"/>
            <a:ext cx="53532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Quotes: developer.android.com (AVDs) and developer.apple.com (Simulator)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THE REQUIREMENT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Why mobile testing needs automation</a:t>
            </a:r>
            <a:endParaRPr lang="en-US" sz="3200" dirty="0"/>
          </a:p>
        </p:txBody>
      </p:sp>
      <p:sp>
        <p:nvSpPr>
          <p:cNvPr id="4" name="Shape 2"/>
          <p:cNvSpPr/>
          <p:nvPr/>
        </p:nvSpPr>
        <p:spPr>
          <a:xfrm>
            <a:off x="815975" y="1831975"/>
            <a:ext cx="2520950" cy="1446530"/>
          </a:xfrm>
          <a:prstGeom prst="roundRect">
            <a:avLst>
              <a:gd name="adj" fmla="val 5048"/>
            </a:avLst>
          </a:prstGeom>
          <a:solidFill>
            <a:srgbClr val="FCFBF7"/>
          </a:solidFill>
          <a:ln w="6350">
            <a:solidFill>
              <a:srgbClr val="DDD8CC"/>
            </a:solidFill>
            <a:prstDash val="solid"/>
          </a:ln>
        </p:spPr>
      </p:sp>
      <p:sp>
        <p:nvSpPr>
          <p:cNvPr id="5" name="Text 3"/>
          <p:cNvSpPr/>
          <p:nvPr/>
        </p:nvSpPr>
        <p:spPr>
          <a:xfrm>
            <a:off x="995680" y="1986279"/>
            <a:ext cx="222638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A9C"/>
                </a:solidFill>
                <a:latin typeface="Space Grotesk" pitchFamily="34" charset="0"/>
                <a:ea typeface="Space Grotesk" pitchFamily="34" charset="-122"/>
                <a:cs typeface="Space Grotesk" pitchFamily="34" charset="-120"/>
              </a:rPr>
              <a:t>108</a:t>
            </a:r>
            <a:endParaRPr lang="en-US" sz="3200" dirty="0"/>
          </a:p>
        </p:txBody>
      </p:sp>
      <p:sp>
        <p:nvSpPr>
          <p:cNvPr id="6" name="Text 4"/>
          <p:cNvSpPr/>
          <p:nvPr/>
        </p:nvSpPr>
        <p:spPr>
          <a:xfrm>
            <a:off x="995680" y="2484121"/>
            <a:ext cx="222638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combinations: 6 phones × 3 OS versions × 2 orientations × 3 networks</a:t>
            </a:r>
            <a:endParaRPr lang="en-US" sz="1200" dirty="0"/>
          </a:p>
        </p:txBody>
      </p:sp>
      <p:sp>
        <p:nvSpPr>
          <p:cNvPr id="7" name="Shape 5"/>
          <p:cNvSpPr/>
          <p:nvPr/>
        </p:nvSpPr>
        <p:spPr>
          <a:xfrm>
            <a:off x="3495675" y="1831975"/>
            <a:ext cx="2520950" cy="1446530"/>
          </a:xfrm>
          <a:prstGeom prst="roundRect">
            <a:avLst>
              <a:gd name="adj" fmla="val 5048"/>
            </a:avLst>
          </a:prstGeom>
          <a:solidFill>
            <a:srgbClr val="FCFBF7"/>
          </a:solidFill>
          <a:ln w="6350">
            <a:solidFill>
              <a:srgbClr val="DDD8CC"/>
            </a:solidFill>
            <a:prstDash val="solid"/>
          </a:ln>
        </p:spPr>
      </p:sp>
      <p:sp>
        <p:nvSpPr>
          <p:cNvPr id="8" name="Text 6"/>
          <p:cNvSpPr/>
          <p:nvPr/>
        </p:nvSpPr>
        <p:spPr>
          <a:xfrm>
            <a:off x="3675380" y="1986279"/>
            <a:ext cx="222638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A9C"/>
                </a:solidFill>
                <a:latin typeface="Space Grotesk" pitchFamily="34" charset="0"/>
                <a:ea typeface="Space Grotesk" pitchFamily="34" charset="-122"/>
                <a:cs typeface="Space Grotesk" pitchFamily="34" charset="-120"/>
              </a:rPr>
              <a:t>40</a:t>
            </a:r>
            <a:endParaRPr lang="en-US" sz="3200" dirty="0"/>
          </a:p>
        </p:txBody>
      </p:sp>
      <p:sp>
        <p:nvSpPr>
          <p:cNvPr id="9" name="Text 7"/>
          <p:cNvSpPr/>
          <p:nvPr/>
        </p:nvSpPr>
        <p:spPr>
          <a:xfrm>
            <a:off x="3675380" y="2484121"/>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regression tests for the Canteen App</a:t>
            </a:r>
            <a:endParaRPr lang="en-US" sz="1200" dirty="0"/>
          </a:p>
        </p:txBody>
      </p:sp>
      <p:sp>
        <p:nvSpPr>
          <p:cNvPr id="10" name="Shape 8"/>
          <p:cNvSpPr/>
          <p:nvPr/>
        </p:nvSpPr>
        <p:spPr>
          <a:xfrm>
            <a:off x="6175375" y="1831975"/>
            <a:ext cx="2520950" cy="1446530"/>
          </a:xfrm>
          <a:prstGeom prst="roundRect">
            <a:avLst>
              <a:gd name="adj" fmla="val 5048"/>
            </a:avLst>
          </a:prstGeom>
          <a:solidFill>
            <a:srgbClr val="FCFBF7"/>
          </a:solidFill>
          <a:ln w="6350">
            <a:solidFill>
              <a:srgbClr val="DDD8CC"/>
            </a:solidFill>
            <a:prstDash val="solid"/>
          </a:ln>
        </p:spPr>
      </p:sp>
      <p:sp>
        <p:nvSpPr>
          <p:cNvPr id="11" name="Text 9"/>
          <p:cNvSpPr/>
          <p:nvPr/>
        </p:nvSpPr>
        <p:spPr>
          <a:xfrm>
            <a:off x="6355080" y="1986279"/>
            <a:ext cx="2226386"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245A9C"/>
                </a:solidFill>
                <a:latin typeface="Space Grotesk" pitchFamily="34" charset="0"/>
                <a:ea typeface="Space Grotesk" pitchFamily="34" charset="-122"/>
                <a:cs typeface="Space Grotesk" pitchFamily="34" charset="-120"/>
              </a:rPr>
              <a:t>4,320</a:t>
            </a:r>
            <a:endParaRPr lang="en-US" sz="3200" dirty="0"/>
          </a:p>
        </p:txBody>
      </p:sp>
      <p:sp>
        <p:nvSpPr>
          <p:cNvPr id="12" name="Text 10"/>
          <p:cNvSpPr/>
          <p:nvPr/>
        </p:nvSpPr>
        <p:spPr>
          <a:xfrm>
            <a:off x="6355080" y="2484121"/>
            <a:ext cx="22263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runs to cover every combination once</a:t>
            </a:r>
            <a:endParaRPr lang="en-US" sz="1200" dirty="0"/>
          </a:p>
        </p:txBody>
      </p:sp>
      <p:sp>
        <p:nvSpPr>
          <p:cNvPr id="13" name="Shape 11"/>
          <p:cNvSpPr/>
          <p:nvPr/>
        </p:nvSpPr>
        <p:spPr>
          <a:xfrm>
            <a:off x="8851900" y="1828800"/>
            <a:ext cx="2527300" cy="1452880"/>
          </a:xfrm>
          <a:prstGeom prst="roundRect">
            <a:avLst>
              <a:gd name="adj" fmla="val 5245"/>
            </a:avLst>
          </a:prstGeom>
          <a:solidFill>
            <a:srgbClr val="F7E3D5"/>
          </a:solidFill>
          <a:ln/>
        </p:spPr>
      </p:sp>
      <p:sp>
        <p:nvSpPr>
          <p:cNvPr id="14" name="Text 12"/>
          <p:cNvSpPr/>
          <p:nvPr/>
        </p:nvSpPr>
        <p:spPr>
          <a:xfrm>
            <a:off x="9029700" y="1981200"/>
            <a:ext cx="2236851" cy="47244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A9481A"/>
                </a:solidFill>
                <a:latin typeface="Space Grotesk" pitchFamily="34" charset="0"/>
                <a:ea typeface="Space Grotesk" pitchFamily="34" charset="-122"/>
                <a:cs typeface="Space Grotesk" pitchFamily="34" charset="-120"/>
              </a:rPr>
              <a:t>144 h</a:t>
            </a:r>
            <a:endParaRPr lang="en-US" sz="3200" dirty="0"/>
          </a:p>
        </p:txBody>
      </p:sp>
      <p:sp>
        <p:nvSpPr>
          <p:cNvPr id="15" name="Text 13"/>
          <p:cNvSpPr/>
          <p:nvPr/>
        </p:nvSpPr>
        <p:spPr>
          <a:xfrm>
            <a:off x="9029700" y="2479042"/>
            <a:ext cx="22368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by hand at 2 minutes a run, for every release</a:t>
            </a:r>
            <a:endParaRPr lang="en-US" sz="1200" dirty="0"/>
          </a:p>
        </p:txBody>
      </p:sp>
      <p:sp>
        <p:nvSpPr>
          <p:cNvPr id="16" name="Shape 14"/>
          <p:cNvSpPr/>
          <p:nvPr/>
        </p:nvSpPr>
        <p:spPr>
          <a:xfrm>
            <a:off x="812800" y="3542029"/>
            <a:ext cx="5181600" cy="0"/>
          </a:xfrm>
          <a:prstGeom prst="line">
            <a:avLst/>
          </a:prstGeom>
          <a:noFill/>
          <a:ln w="12700">
            <a:solidFill>
              <a:srgbClr val="245A9C"/>
            </a:solidFill>
            <a:prstDash val="solid"/>
          </a:ln>
        </p:spPr>
      </p:sp>
      <p:sp>
        <p:nvSpPr>
          <p:cNvPr id="17" name="Text 15"/>
          <p:cNvSpPr/>
          <p:nvPr/>
        </p:nvSpPr>
        <p:spPr>
          <a:xfrm>
            <a:off x="812800" y="3672842"/>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AUTOMATE FIRST</a:t>
            </a:r>
            <a:endParaRPr lang="en-US" sz="1200" dirty="0"/>
          </a:p>
        </p:txBody>
      </p:sp>
      <p:sp>
        <p:nvSpPr>
          <p:cNvPr id="18" name="Text 16"/>
          <p:cNvSpPr/>
          <p:nvPr/>
        </p:nvSpPr>
        <p:spPr>
          <a:xfrm>
            <a:off x="812800" y="39624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smoke test of log in and order on every build</a:t>
            </a:r>
            <a:endParaRPr lang="en-US" sz="1400" dirty="0"/>
          </a:p>
        </p:txBody>
      </p:sp>
      <p:sp>
        <p:nvSpPr>
          <p:cNvPr id="19" name="Text 17"/>
          <p:cNvSpPr/>
          <p:nvPr/>
        </p:nvSpPr>
        <p:spPr>
          <a:xfrm>
            <a:off x="812800" y="4287521"/>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Stable regression tests across the device list, nightly</a:t>
            </a:r>
            <a:endParaRPr lang="en-US" sz="1400" dirty="0"/>
          </a:p>
        </p:txBody>
      </p:sp>
      <p:sp>
        <p:nvSpPr>
          <p:cNvPr id="20" name="Text 18"/>
          <p:cNvSpPr/>
          <p:nvPr/>
        </p:nvSpPr>
        <p:spPr>
          <a:xfrm>
            <a:off x="812800" y="4612642"/>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API checks under the app, reused from Module 3</a:t>
            </a:r>
            <a:endParaRPr lang="en-US" sz="1400" dirty="0"/>
          </a:p>
        </p:txBody>
      </p:sp>
      <p:sp>
        <p:nvSpPr>
          <p:cNvPr id="21" name="Shape 19"/>
          <p:cNvSpPr/>
          <p:nvPr/>
        </p:nvSpPr>
        <p:spPr>
          <a:xfrm>
            <a:off x="6197600" y="3542029"/>
            <a:ext cx="5181600" cy="0"/>
          </a:xfrm>
          <a:prstGeom prst="line">
            <a:avLst/>
          </a:prstGeom>
          <a:noFill/>
          <a:ln w="12700">
            <a:solidFill>
              <a:srgbClr val="A9481A"/>
            </a:solidFill>
            <a:prstDash val="solid"/>
          </a:ln>
        </p:spPr>
      </p:sp>
      <p:sp>
        <p:nvSpPr>
          <p:cNvPr id="22" name="Text 20"/>
          <p:cNvSpPr/>
          <p:nvPr/>
        </p:nvSpPr>
        <p:spPr>
          <a:xfrm>
            <a:off x="6197600" y="3672842"/>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KEEP FOR PEOPLE</a:t>
            </a:r>
            <a:endParaRPr lang="en-US" sz="1200" dirty="0"/>
          </a:p>
        </p:txBody>
      </p:sp>
      <p:sp>
        <p:nvSpPr>
          <p:cNvPr id="23" name="Text 21"/>
          <p:cNvSpPr/>
          <p:nvPr/>
        </p:nvSpPr>
        <p:spPr>
          <a:xfrm>
            <a:off x="6197600" y="39624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Exploratory testing of new features</a:t>
            </a:r>
            <a:endParaRPr lang="en-US" sz="1400" dirty="0"/>
          </a:p>
        </p:txBody>
      </p:sp>
      <p:sp>
        <p:nvSpPr>
          <p:cNvPr id="24" name="Text 22"/>
          <p:cNvSpPr/>
          <p:nvPr/>
        </p:nvSpPr>
        <p:spPr>
          <a:xfrm>
            <a:off x="6197600" y="4287521"/>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How the app feels: usability and gestures</a:t>
            </a:r>
            <a:endParaRPr lang="en-US" sz="1400" dirty="0"/>
          </a:p>
        </p:txBody>
      </p:sp>
      <p:sp>
        <p:nvSpPr>
          <p:cNvPr id="25" name="Text 23"/>
          <p:cNvSpPr/>
          <p:nvPr/>
        </p:nvSpPr>
        <p:spPr>
          <a:xfrm>
            <a:off x="6197600" y="4612642"/>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One-off checks that will not repeat</a:t>
            </a:r>
            <a:endParaRPr lang="en-US" sz="1400" dirty="0"/>
          </a:p>
        </p:txBody>
      </p:sp>
      <p:sp>
        <p:nvSpPr>
          <p:cNvPr id="26" name="Text 2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7" name="Text 25"/>
          <p:cNvSpPr/>
          <p:nvPr/>
        </p:nvSpPr>
        <p:spPr>
          <a:xfrm>
            <a:off x="7226856" y="6238242"/>
            <a:ext cx="42769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Illustrative numbers for the Canteen App, not measurements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TOOLS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Three tools, one tap on Log in</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Text 3"/>
          <p:cNvSpPr/>
          <p:nvPr/>
        </p:nvSpPr>
        <p:spPr>
          <a:xfrm>
            <a:off x="812800" y="1960879"/>
            <a:ext cx="39243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Appium · Android and iOS</a:t>
            </a:r>
            <a:endParaRPr lang="en-US" sz="1400" dirty="0"/>
          </a:p>
        </p:txBody>
      </p:sp>
      <p:sp>
        <p:nvSpPr>
          <p:cNvPr id="6" name="Text 4"/>
          <p:cNvSpPr/>
          <p:nvPr/>
        </p:nvSpPr>
        <p:spPr>
          <a:xfrm>
            <a:off x="812800" y="2217421"/>
            <a:ext cx="3924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Open source; Python, Java, JS and more; drives the app from outside</a:t>
            </a:r>
            <a:endParaRPr lang="en-US" sz="1200" dirty="0"/>
          </a:p>
        </p:txBody>
      </p:sp>
      <p:sp>
        <p:nvSpPr>
          <p:cNvPr id="7" name="Shape 5"/>
          <p:cNvSpPr/>
          <p:nvPr/>
        </p:nvSpPr>
        <p:spPr>
          <a:xfrm>
            <a:off x="4876800" y="2018029"/>
            <a:ext cx="6502400" cy="568960"/>
          </a:xfrm>
          <a:prstGeom prst="roundRect">
            <a:avLst>
              <a:gd name="adj" fmla="val 13393"/>
            </a:avLst>
          </a:prstGeom>
          <a:solidFill>
            <a:srgbClr val="13233A"/>
          </a:solidFill>
          <a:ln/>
        </p:spPr>
      </p:sp>
      <p:sp>
        <p:nvSpPr>
          <p:cNvPr id="8" name="Text 6"/>
          <p:cNvSpPr/>
          <p:nvPr/>
        </p:nvSpPr>
        <p:spPr>
          <a:xfrm>
            <a:off x="5054600" y="2195829"/>
            <a:ext cx="633120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driver.find_element(AppiumBy.ACCESSIBILITY_ID, </a:t>
            </a:r>
            <a:r>
              <a:rPr lang="en-US" sz="1200" dirty="0">
                <a:solidFill>
                  <a:srgbClr val="9CC7F0"/>
                </a:solidFill>
                <a:latin typeface="JetBrains Mono" pitchFamily="34" charset="0"/>
                <a:ea typeface="JetBrains Mono" pitchFamily="34" charset="-122"/>
                <a:cs typeface="JetBrains Mono" pitchFamily="34" charset="-120"/>
              </a:rPr>
              <a:t>"Log in"</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p:txBody>
      </p:sp>
      <p:sp>
        <p:nvSpPr>
          <p:cNvPr id="9" name="Shape 7"/>
          <p:cNvSpPr/>
          <p:nvPr/>
        </p:nvSpPr>
        <p:spPr>
          <a:xfrm>
            <a:off x="812800" y="2774317"/>
            <a:ext cx="10566400" cy="0"/>
          </a:xfrm>
          <a:prstGeom prst="line">
            <a:avLst/>
          </a:prstGeom>
          <a:noFill/>
          <a:ln w="6350">
            <a:solidFill>
              <a:srgbClr val="DDD8CC"/>
            </a:solidFill>
            <a:prstDash val="solid"/>
          </a:ln>
        </p:spPr>
      </p:sp>
      <p:sp>
        <p:nvSpPr>
          <p:cNvPr id="10" name="Text 8"/>
          <p:cNvSpPr/>
          <p:nvPr/>
        </p:nvSpPr>
        <p:spPr>
          <a:xfrm>
            <a:off x="812800" y="2903221"/>
            <a:ext cx="39243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Espresso · Android</a:t>
            </a:r>
            <a:endParaRPr lang="en-US" sz="1400" dirty="0"/>
          </a:p>
        </p:txBody>
      </p:sp>
      <p:sp>
        <p:nvSpPr>
          <p:cNvPr id="11" name="Text 9"/>
          <p:cNvSpPr/>
          <p:nvPr/>
        </p:nvSpPr>
        <p:spPr>
          <a:xfrm>
            <a:off x="812800" y="3159764"/>
            <a:ext cx="39243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Google’s UI test framework; Kotlin or Java; waits for the app to be idle</a:t>
            </a:r>
            <a:endParaRPr lang="en-US" sz="1200" dirty="0"/>
          </a:p>
        </p:txBody>
      </p:sp>
      <p:sp>
        <p:nvSpPr>
          <p:cNvPr id="12" name="Shape 10"/>
          <p:cNvSpPr/>
          <p:nvPr/>
        </p:nvSpPr>
        <p:spPr>
          <a:xfrm>
            <a:off x="4876800" y="2960371"/>
            <a:ext cx="6502400" cy="568960"/>
          </a:xfrm>
          <a:prstGeom prst="roundRect">
            <a:avLst>
              <a:gd name="adj" fmla="val 13393"/>
            </a:avLst>
          </a:prstGeom>
          <a:solidFill>
            <a:srgbClr val="13233A"/>
          </a:solidFill>
          <a:ln/>
        </p:spPr>
      </p:sp>
      <p:sp>
        <p:nvSpPr>
          <p:cNvPr id="13" name="Text 11"/>
          <p:cNvSpPr/>
          <p:nvPr/>
        </p:nvSpPr>
        <p:spPr>
          <a:xfrm>
            <a:off x="5054600" y="3138171"/>
            <a:ext cx="633120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onView(withId(R.id.log_in)).perform(click())</a:t>
            </a:r>
            <a:endParaRPr lang="en-US" sz="1200" dirty="0"/>
          </a:p>
        </p:txBody>
      </p:sp>
      <p:sp>
        <p:nvSpPr>
          <p:cNvPr id="14" name="Shape 12"/>
          <p:cNvSpPr/>
          <p:nvPr/>
        </p:nvSpPr>
        <p:spPr>
          <a:xfrm>
            <a:off x="812800" y="3716654"/>
            <a:ext cx="10566400" cy="0"/>
          </a:xfrm>
          <a:prstGeom prst="line">
            <a:avLst/>
          </a:prstGeom>
          <a:noFill/>
          <a:ln w="6350">
            <a:solidFill>
              <a:srgbClr val="DDD8CC"/>
            </a:solidFill>
            <a:prstDash val="solid"/>
          </a:ln>
        </p:spPr>
      </p:sp>
      <p:sp>
        <p:nvSpPr>
          <p:cNvPr id="15" name="Shape 13"/>
          <p:cNvSpPr/>
          <p:nvPr/>
        </p:nvSpPr>
        <p:spPr>
          <a:xfrm>
            <a:off x="812800" y="4543424"/>
            <a:ext cx="10566400" cy="0"/>
          </a:xfrm>
          <a:prstGeom prst="line">
            <a:avLst/>
          </a:prstGeom>
          <a:noFill/>
          <a:ln w="6350">
            <a:solidFill>
              <a:srgbClr val="DDD8CC"/>
            </a:solidFill>
            <a:prstDash val="solid"/>
          </a:ln>
        </p:spPr>
      </p:sp>
      <p:sp>
        <p:nvSpPr>
          <p:cNvPr id="16" name="Text 14"/>
          <p:cNvSpPr/>
          <p:nvPr/>
        </p:nvSpPr>
        <p:spPr>
          <a:xfrm>
            <a:off x="812800" y="3895092"/>
            <a:ext cx="39243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XCUITest · iOS</a:t>
            </a:r>
            <a:endParaRPr lang="en-US" sz="1400" dirty="0"/>
          </a:p>
        </p:txBody>
      </p:sp>
      <p:sp>
        <p:nvSpPr>
          <p:cNvPr id="17" name="Text 15"/>
          <p:cNvSpPr/>
          <p:nvPr/>
        </p:nvSpPr>
        <p:spPr>
          <a:xfrm>
            <a:off x="812800" y="4151629"/>
            <a:ext cx="392430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Apple’s XCTest UI testing; Swift; runs from Xcode</a:t>
            </a:r>
            <a:endParaRPr lang="en-US" sz="1200" dirty="0"/>
          </a:p>
        </p:txBody>
      </p:sp>
      <p:sp>
        <p:nvSpPr>
          <p:cNvPr id="18" name="Shape 16"/>
          <p:cNvSpPr/>
          <p:nvPr/>
        </p:nvSpPr>
        <p:spPr>
          <a:xfrm>
            <a:off x="4876800" y="3845564"/>
            <a:ext cx="6502400" cy="568960"/>
          </a:xfrm>
          <a:prstGeom prst="roundRect">
            <a:avLst>
              <a:gd name="adj" fmla="val 13393"/>
            </a:avLst>
          </a:prstGeom>
          <a:solidFill>
            <a:srgbClr val="13233A"/>
          </a:solidFill>
          <a:ln/>
        </p:spPr>
      </p:sp>
      <p:sp>
        <p:nvSpPr>
          <p:cNvPr id="19" name="Text 17"/>
          <p:cNvSpPr/>
          <p:nvPr/>
        </p:nvSpPr>
        <p:spPr>
          <a:xfrm>
            <a:off x="5054600" y="4023364"/>
            <a:ext cx="6331204" cy="2387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app.buttons[</a:t>
            </a:r>
            <a:r>
              <a:rPr lang="en-US" sz="1200" dirty="0">
                <a:solidFill>
                  <a:srgbClr val="9CC7F0"/>
                </a:solidFill>
                <a:latin typeface="JetBrains Mono" pitchFamily="34" charset="0"/>
                <a:ea typeface="JetBrains Mono" pitchFamily="34" charset="-122"/>
                <a:cs typeface="JetBrains Mono" pitchFamily="34" charset="-120"/>
              </a:rPr>
              <a:t>"Log in"</a:t>
            </a:r>
            <a:r>
              <a:rPr lang="en-US" sz="1200" dirty="0">
                <a:solidFill>
                  <a:srgbClr val="E6EAF0"/>
                </a:solidFill>
                <a:latin typeface="JetBrains Mono" pitchFamily="34" charset="0"/>
                <a:ea typeface="JetBrains Mono" pitchFamily="34" charset="-122"/>
                <a:cs typeface="JetBrains Mono" pitchFamily="34" charset="-120"/>
              </a:rPr>
              <a:t>].tap()</a:t>
            </a:r>
            <a:endParaRPr lang="en-US" sz="1200" dirty="0"/>
          </a:p>
        </p:txBody>
      </p:sp>
      <p:sp>
        <p:nvSpPr>
          <p:cNvPr id="20" name="Shape 18"/>
          <p:cNvSpPr/>
          <p:nvPr/>
        </p:nvSpPr>
        <p:spPr>
          <a:xfrm>
            <a:off x="812800" y="4800600"/>
            <a:ext cx="10566400" cy="553720"/>
          </a:xfrm>
          <a:prstGeom prst="roundRect">
            <a:avLst>
              <a:gd name="adj" fmla="val 13761"/>
            </a:avLst>
          </a:prstGeom>
          <a:solidFill>
            <a:srgbClr val="13233A"/>
          </a:solidFill>
          <a:ln/>
        </p:spPr>
      </p:sp>
      <p:sp>
        <p:nvSpPr>
          <p:cNvPr id="21" name="Text 19"/>
          <p:cNvSpPr/>
          <p:nvPr/>
        </p:nvSpPr>
        <p:spPr>
          <a:xfrm>
            <a:off x="1016000" y="4970779"/>
            <a:ext cx="9880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TRADE-OFF</a:t>
            </a:r>
            <a:endParaRPr lang="en-US" sz="1200" dirty="0"/>
          </a:p>
        </p:txBody>
      </p:sp>
      <p:sp>
        <p:nvSpPr>
          <p:cNvPr id="22" name="Text 20"/>
          <p:cNvSpPr/>
          <p:nvPr/>
        </p:nvSpPr>
        <p:spPr>
          <a:xfrm>
            <a:off x="2105660" y="4953000"/>
            <a:ext cx="93424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Espresso and XCUITest: faster, one platform each. Appium: one suite for both.</a:t>
            </a:r>
            <a:endParaRPr lang="en-US" sz="1400" dirty="0"/>
          </a:p>
        </p:txBody>
      </p:sp>
      <p:sp>
        <p:nvSpPr>
          <p:cNvPr id="23" name="Text 21"/>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4" name="Text 22"/>
          <p:cNvSpPr/>
          <p:nvPr/>
        </p:nvSpPr>
        <p:spPr>
          <a:xfrm>
            <a:off x="5658803" y="6238242"/>
            <a:ext cx="58920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Python, Kotlin and Swift · illustrative lines; running them needs the app and a device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APPIUM</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How Appium reaches the phone</a:t>
            </a:r>
            <a:endParaRPr lang="en-US" sz="3200" dirty="0"/>
          </a:p>
        </p:txBody>
      </p:sp>
      <p:sp>
        <p:nvSpPr>
          <p:cNvPr id="4" name="Shape 2"/>
          <p:cNvSpPr/>
          <p:nvPr/>
        </p:nvSpPr>
        <p:spPr>
          <a:xfrm>
            <a:off x="812800" y="2273300"/>
            <a:ext cx="2032000" cy="1206500"/>
          </a:xfrm>
          <a:prstGeom prst="roundRect">
            <a:avLst>
              <a:gd name="adj" fmla="val 6316"/>
            </a:avLst>
          </a:prstGeom>
          <a:solidFill>
            <a:srgbClr val="13233A"/>
          </a:solidFill>
          <a:ln/>
        </p:spPr>
      </p:sp>
      <p:sp>
        <p:nvSpPr>
          <p:cNvPr id="5" name="Text 3"/>
          <p:cNvSpPr/>
          <p:nvPr/>
        </p:nvSpPr>
        <p:spPr>
          <a:xfrm>
            <a:off x="965200" y="2400300"/>
            <a:ext cx="177901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Your test</a:t>
            </a:r>
            <a:endParaRPr lang="en-US" sz="1400" dirty="0"/>
          </a:p>
        </p:txBody>
      </p:sp>
      <p:sp>
        <p:nvSpPr>
          <p:cNvPr id="6" name="Text 4"/>
          <p:cNvSpPr/>
          <p:nvPr/>
        </p:nvSpPr>
        <p:spPr>
          <a:xfrm>
            <a:off x="965200" y="2656842"/>
            <a:ext cx="17790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Python with the Appium client</a:t>
            </a:r>
            <a:endParaRPr lang="en-US" sz="1200" dirty="0"/>
          </a:p>
        </p:txBody>
      </p:sp>
      <p:sp>
        <p:nvSpPr>
          <p:cNvPr id="7" name="Shape 5"/>
          <p:cNvSpPr/>
          <p:nvPr/>
        </p:nvSpPr>
        <p:spPr>
          <a:xfrm>
            <a:off x="3660775" y="2276475"/>
            <a:ext cx="2025650" cy="1200150"/>
          </a:xfrm>
          <a:prstGeom prst="roundRect">
            <a:avLst>
              <a:gd name="adj" fmla="val 6085"/>
            </a:avLst>
          </a:prstGeom>
          <a:solidFill>
            <a:srgbClr val="FCFBF7"/>
          </a:solidFill>
          <a:ln w="6350">
            <a:solidFill>
              <a:srgbClr val="C9C2B2"/>
            </a:solidFill>
            <a:prstDash val="solid"/>
          </a:ln>
        </p:spPr>
      </p:sp>
      <p:sp>
        <p:nvSpPr>
          <p:cNvPr id="8" name="Text 6"/>
          <p:cNvSpPr/>
          <p:nvPr/>
        </p:nvSpPr>
        <p:spPr>
          <a:xfrm>
            <a:off x="3815080" y="2405379"/>
            <a:ext cx="176855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Appium server</a:t>
            </a:r>
            <a:endParaRPr lang="en-US" sz="1400" dirty="0"/>
          </a:p>
        </p:txBody>
      </p:sp>
      <p:sp>
        <p:nvSpPr>
          <p:cNvPr id="9" name="Text 7"/>
          <p:cNvSpPr/>
          <p:nvPr/>
        </p:nvSpPr>
        <p:spPr>
          <a:xfrm>
            <a:off x="3815080" y="2661921"/>
            <a:ext cx="176855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Core and plugins, on port 4723</a:t>
            </a:r>
            <a:endParaRPr lang="en-US" sz="1200" dirty="0"/>
          </a:p>
        </p:txBody>
      </p:sp>
      <p:sp>
        <p:nvSpPr>
          <p:cNvPr id="10" name="Shape 8"/>
          <p:cNvSpPr/>
          <p:nvPr/>
        </p:nvSpPr>
        <p:spPr>
          <a:xfrm>
            <a:off x="6502400" y="2273300"/>
            <a:ext cx="2032000" cy="1206500"/>
          </a:xfrm>
          <a:prstGeom prst="roundRect">
            <a:avLst>
              <a:gd name="adj" fmla="val 6316"/>
            </a:avLst>
          </a:prstGeom>
          <a:solidFill>
            <a:srgbClr val="E98B53"/>
          </a:solidFill>
          <a:ln/>
        </p:spPr>
      </p:sp>
      <p:sp>
        <p:nvSpPr>
          <p:cNvPr id="11" name="Text 9"/>
          <p:cNvSpPr/>
          <p:nvPr/>
        </p:nvSpPr>
        <p:spPr>
          <a:xfrm>
            <a:off x="6654800" y="2400300"/>
            <a:ext cx="177901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Driver</a:t>
            </a:r>
            <a:endParaRPr lang="en-US" sz="1400" dirty="0"/>
          </a:p>
        </p:txBody>
      </p:sp>
      <p:sp>
        <p:nvSpPr>
          <p:cNvPr id="12" name="Text 10"/>
          <p:cNvSpPr/>
          <p:nvPr/>
        </p:nvSpPr>
        <p:spPr>
          <a:xfrm>
            <a:off x="6654800" y="2656842"/>
            <a:ext cx="1779016"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UiAutomator2 for Android, XCUITest for iOS</a:t>
            </a:r>
            <a:endParaRPr lang="en-US" sz="1200" dirty="0"/>
          </a:p>
        </p:txBody>
      </p:sp>
      <p:sp>
        <p:nvSpPr>
          <p:cNvPr id="13" name="Shape 11"/>
          <p:cNvSpPr/>
          <p:nvPr/>
        </p:nvSpPr>
        <p:spPr>
          <a:xfrm>
            <a:off x="9347200" y="2273300"/>
            <a:ext cx="2032000" cy="1206500"/>
          </a:xfrm>
          <a:prstGeom prst="roundRect">
            <a:avLst>
              <a:gd name="adj" fmla="val 6316"/>
            </a:avLst>
          </a:prstGeom>
          <a:solidFill>
            <a:srgbClr val="DCE7F3"/>
          </a:solidFill>
          <a:ln/>
        </p:spPr>
      </p:sp>
      <p:sp>
        <p:nvSpPr>
          <p:cNvPr id="14" name="Text 12"/>
          <p:cNvSpPr/>
          <p:nvPr/>
        </p:nvSpPr>
        <p:spPr>
          <a:xfrm>
            <a:off x="9499600" y="2400300"/>
            <a:ext cx="177901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Device</a:t>
            </a:r>
            <a:endParaRPr lang="en-US" sz="1400" dirty="0"/>
          </a:p>
        </p:txBody>
      </p:sp>
      <p:sp>
        <p:nvSpPr>
          <p:cNvPr id="15" name="Text 13"/>
          <p:cNvSpPr/>
          <p:nvPr/>
        </p:nvSpPr>
        <p:spPr>
          <a:xfrm>
            <a:off x="9499600" y="2656842"/>
            <a:ext cx="17790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Emulator, simulator or real phone</a:t>
            </a:r>
            <a:endParaRPr lang="en-US" sz="1200" dirty="0"/>
          </a:p>
        </p:txBody>
      </p:sp>
      <p:sp>
        <p:nvSpPr>
          <p:cNvPr id="16" name="Text 14"/>
          <p:cNvSpPr/>
          <p:nvPr/>
        </p:nvSpPr>
        <p:spPr>
          <a:xfrm>
            <a:off x="2139315" y="1917700"/>
            <a:ext cx="222377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W3C WebDriver · HTTP</a:t>
            </a:r>
            <a:endParaRPr lang="en-US" sz="1200" dirty="0"/>
          </a:p>
        </p:txBody>
      </p:sp>
      <p:sp>
        <p:nvSpPr>
          <p:cNvPr id="17" name="Text 15"/>
          <p:cNvSpPr/>
          <p:nvPr/>
        </p:nvSpPr>
        <p:spPr>
          <a:xfrm>
            <a:off x="5308600" y="1917700"/>
            <a:ext cx="1574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5E6977"/>
                </a:solidFill>
                <a:latin typeface="JetBrains Mono" pitchFamily="34" charset="0"/>
                <a:ea typeface="JetBrains Mono" pitchFamily="34" charset="-122"/>
                <a:cs typeface="JetBrains Mono" pitchFamily="34" charset="-120"/>
              </a:rPr>
              <a:t>routes to</a:t>
            </a:r>
            <a:endParaRPr lang="en-US" sz="1200" dirty="0"/>
          </a:p>
        </p:txBody>
      </p:sp>
      <p:sp>
        <p:nvSpPr>
          <p:cNvPr id="18" name="Text 16"/>
          <p:cNvSpPr/>
          <p:nvPr/>
        </p:nvSpPr>
        <p:spPr>
          <a:xfrm>
            <a:off x="7501890" y="1917700"/>
            <a:ext cx="287782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Google or Apple tooling</a:t>
            </a:r>
            <a:endParaRPr lang="en-US" sz="1200" dirty="0"/>
          </a:p>
        </p:txBody>
      </p:sp>
      <p:pic>
        <p:nvPicPr>
          <p:cNvPr id="19" name="Image 0" descr="connector">    </p:cNvPr>
          <p:cNvPicPr>
            <a:picLocks noChangeAspect="1"/>
          </p:cNvPicPr>
          <p:nvPr/>
        </p:nvPicPr>
        <p:blipFill>
          <a:blip r:embed="rId1"/>
          <a:srcRect l="0" r="0" t="0" b="0"/>
          <a:stretch/>
        </p:blipFill>
        <p:spPr>
          <a:xfrm>
            <a:off x="2794000" y="2825750"/>
            <a:ext cx="914400" cy="101600"/>
          </a:xfrm>
          <a:prstGeom prst="rect">
            <a:avLst/>
          </a:prstGeom>
        </p:spPr>
      </p:pic>
      <p:pic>
        <p:nvPicPr>
          <p:cNvPr id="20" name="Image 1" descr="connector">    </p:cNvPr>
          <p:cNvPicPr>
            <a:picLocks noChangeAspect="1"/>
          </p:cNvPicPr>
          <p:nvPr/>
        </p:nvPicPr>
        <p:blipFill>
          <a:blip r:embed="rId2"/>
          <a:srcRect l="0" r="0" t="0" b="0"/>
          <a:stretch/>
        </p:blipFill>
        <p:spPr>
          <a:xfrm>
            <a:off x="5638800" y="2825750"/>
            <a:ext cx="914400" cy="101600"/>
          </a:xfrm>
          <a:prstGeom prst="rect">
            <a:avLst/>
          </a:prstGeom>
        </p:spPr>
      </p:pic>
      <p:pic>
        <p:nvPicPr>
          <p:cNvPr id="21" name="Image 2" descr="connector">    </p:cNvPr>
          <p:cNvPicPr>
            <a:picLocks noChangeAspect="1"/>
          </p:cNvPicPr>
          <p:nvPr/>
        </p:nvPicPr>
        <p:blipFill>
          <a:blip r:embed="rId3"/>
          <a:srcRect l="0" r="0" t="0" b="0"/>
          <a:stretch/>
        </p:blipFill>
        <p:spPr>
          <a:xfrm>
            <a:off x="8483600" y="2825750"/>
            <a:ext cx="914400" cy="101600"/>
          </a:xfrm>
          <a:prstGeom prst="rect">
            <a:avLst/>
          </a:prstGeom>
        </p:spPr>
      </p:pic>
      <p:sp>
        <p:nvSpPr>
          <p:cNvPr id="22" name="Shape 17"/>
          <p:cNvSpPr/>
          <p:nvPr/>
        </p:nvSpPr>
        <p:spPr>
          <a:xfrm>
            <a:off x="812800" y="3733800"/>
            <a:ext cx="3644900" cy="1209040"/>
          </a:xfrm>
          <a:prstGeom prst="roundRect">
            <a:avLst>
              <a:gd name="adj" fmla="val 6303"/>
            </a:avLst>
          </a:prstGeom>
          <a:solidFill>
            <a:srgbClr val="13233A"/>
          </a:solidFill>
          <a:ln/>
        </p:spPr>
      </p:sp>
      <p:sp>
        <p:nvSpPr>
          <p:cNvPr id="23" name="Text 18"/>
          <p:cNvSpPr/>
          <p:nvPr/>
        </p:nvSpPr>
        <p:spPr>
          <a:xfrm>
            <a:off x="990600" y="3911600"/>
            <a:ext cx="3387979"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npm install -g appium</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appium driver install uiautomator2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appium driver doctor uiautomator2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appium</a:t>
            </a:r>
            <a:endParaRPr lang="en-US" sz="1200" dirty="0"/>
          </a:p>
        </p:txBody>
      </p:sp>
      <p:sp>
        <p:nvSpPr>
          <p:cNvPr id="24" name="Text 19"/>
          <p:cNvSpPr/>
          <p:nvPr/>
        </p:nvSpPr>
        <p:spPr>
          <a:xfrm>
            <a:off x="4711700" y="3733800"/>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Version</a:t>
            </a:r>
            <a:endParaRPr lang="en-US" sz="1200" dirty="0"/>
          </a:p>
        </p:txBody>
      </p:sp>
      <p:sp>
        <p:nvSpPr>
          <p:cNvPr id="25" name="Text 20"/>
          <p:cNvSpPr/>
          <p:nvPr/>
        </p:nvSpPr>
        <p:spPr>
          <a:xfrm>
            <a:off x="5892800" y="3733800"/>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 3.7.0 (August 2026); needs Node.js 20.19+, 22.12+ or 24+</a:t>
            </a:r>
            <a:endParaRPr lang="en-US" sz="1200" dirty="0"/>
          </a:p>
        </p:txBody>
      </p:sp>
      <p:sp>
        <p:nvSpPr>
          <p:cNvPr id="26" name="Text 21"/>
          <p:cNvSpPr/>
          <p:nvPr/>
        </p:nvSpPr>
        <p:spPr>
          <a:xfrm>
            <a:off x="4711700" y="4023364"/>
            <a:ext cx="1130300" cy="4521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Drivers</a:t>
            </a:r>
            <a:endParaRPr lang="en-US" sz="1200" dirty="0"/>
          </a:p>
        </p:txBody>
      </p:sp>
      <p:sp>
        <p:nvSpPr>
          <p:cNvPr id="27" name="Text 22"/>
          <p:cNvSpPr/>
          <p:nvPr/>
        </p:nvSpPr>
        <p:spPr>
          <a:xfrm>
            <a:off x="5892800" y="4023364"/>
            <a:ext cx="565099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Added one by one: installing Appium “only installs the core Appium server, without any drivers.”</a:t>
            </a:r>
            <a:endParaRPr lang="en-US" sz="1200" dirty="0"/>
          </a:p>
        </p:txBody>
      </p:sp>
      <p:sp>
        <p:nvSpPr>
          <p:cNvPr id="28" name="Text 23"/>
          <p:cNvSpPr/>
          <p:nvPr/>
        </p:nvSpPr>
        <p:spPr>
          <a:xfrm>
            <a:off x="4711700" y="4526279"/>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Server</a:t>
            </a:r>
            <a:endParaRPr lang="en-US" sz="1200" dirty="0"/>
          </a:p>
        </p:txBody>
      </p:sp>
      <p:sp>
        <p:nvSpPr>
          <p:cNvPr id="29" name="Text 24"/>
          <p:cNvSpPr/>
          <p:nvPr/>
        </p:nvSpPr>
        <p:spPr>
          <a:xfrm>
            <a:off x="5892800" y="4526279"/>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http://localhost:4723 by default</a:t>
            </a:r>
            <a:endParaRPr lang="en-US" sz="1200" dirty="0"/>
          </a:p>
        </p:txBody>
      </p:sp>
      <p:sp>
        <p:nvSpPr>
          <p:cNvPr id="30" name="Text 25"/>
          <p:cNvSpPr/>
          <p:nvPr/>
        </p:nvSpPr>
        <p:spPr>
          <a:xfrm>
            <a:off x="4711700" y="4815842"/>
            <a:ext cx="11303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Inspector</a:t>
            </a:r>
            <a:endParaRPr lang="en-US" sz="1200" dirty="0"/>
          </a:p>
        </p:txBody>
      </p:sp>
      <p:sp>
        <p:nvSpPr>
          <p:cNvPr id="31" name="Text 26"/>
          <p:cNvSpPr/>
          <p:nvPr/>
        </p:nvSpPr>
        <p:spPr>
          <a:xfrm>
            <a:off x="5892800" y="4815842"/>
            <a:ext cx="56509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 Inspector, a desktop app to explore screens and find locators</a:t>
            </a:r>
            <a:endParaRPr lang="en-US" sz="1200" dirty="0"/>
          </a:p>
        </p:txBody>
      </p:sp>
      <p:sp>
        <p:nvSpPr>
          <p:cNvPr id="32" name="Text 2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3" name="Text 28"/>
          <p:cNvSpPr/>
          <p:nvPr/>
        </p:nvSpPr>
        <p:spPr>
          <a:xfrm>
            <a:off x="5146278" y="6238242"/>
            <a:ext cx="64199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appium.io documentation · doctor checks the Android SDK, Java and environment variables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APPIUM TEST</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Logging in on the Android app</a:t>
            </a:r>
            <a:endParaRPr lang="en-US" sz="3200" dirty="0"/>
          </a:p>
        </p:txBody>
      </p:sp>
      <p:sp>
        <p:nvSpPr>
          <p:cNvPr id="4" name="Shape 2"/>
          <p:cNvSpPr/>
          <p:nvPr/>
        </p:nvSpPr>
        <p:spPr>
          <a:xfrm>
            <a:off x="812800" y="1828800"/>
            <a:ext cx="8128000" cy="3982720"/>
          </a:xfrm>
          <a:prstGeom prst="roundRect">
            <a:avLst>
              <a:gd name="adj" fmla="val 1913"/>
            </a:avLst>
          </a:prstGeom>
          <a:solidFill>
            <a:srgbClr val="13233A"/>
          </a:solidFill>
          <a:ln/>
        </p:spPr>
      </p:sp>
      <p:sp>
        <p:nvSpPr>
          <p:cNvPr id="5" name="Text 3"/>
          <p:cNvSpPr/>
          <p:nvPr/>
        </p:nvSpPr>
        <p:spPr>
          <a:xfrm>
            <a:off x="990600" y="2006600"/>
            <a:ext cx="8005572" cy="36525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@pytest.fixture</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 = UiAutomator2Options()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options.platform_version = </a:t>
            </a:r>
            <a:r>
              <a:rPr lang="en-US" sz="1200" dirty="0">
                <a:solidFill>
                  <a:srgbClr val="9CC7F0"/>
                </a:solidFill>
                <a:latin typeface="JetBrains Mono" pitchFamily="34" charset="0"/>
                <a:ea typeface="JetBrains Mono" pitchFamily="34" charset="-122"/>
                <a:cs typeface="JetBrains Mono" pitchFamily="34" charset="-120"/>
              </a:rPr>
              <a:t>"14"</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options.device_name = </a:t>
            </a:r>
            <a:r>
              <a:rPr lang="en-US" sz="1200" dirty="0">
                <a:solidFill>
                  <a:srgbClr val="9CC7F0"/>
                </a:solidFill>
                <a:latin typeface="JetBrains Mono" pitchFamily="34" charset="0"/>
                <a:ea typeface="JetBrains Mono" pitchFamily="34" charset="-122"/>
                <a:cs typeface="JetBrains Mono" pitchFamily="34" charset="-120"/>
              </a:rPr>
              <a:t>"Pixel 8"</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options.app = </a:t>
            </a:r>
            <a:r>
              <a:rPr lang="en-US" sz="1200" dirty="0">
                <a:solidFill>
                  <a:srgbClr val="9CC7F0"/>
                </a:solidFill>
                <a:latin typeface="JetBrains Mono" pitchFamily="34" charset="0"/>
                <a:ea typeface="JetBrains Mono" pitchFamily="34" charset="-122"/>
                <a:cs typeface="JetBrains Mono" pitchFamily="34" charset="-120"/>
              </a:rPr>
              <a:t>"builds/canteen-debug.apk"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 = webdriver.Remote(</a:t>
            </a:r>
            <a:r>
              <a:rPr lang="en-US" sz="1200" dirty="0">
                <a:solidFill>
                  <a:srgbClr val="9CC7F0"/>
                </a:solidFill>
                <a:latin typeface="JetBrains Mono" pitchFamily="34" charset="0"/>
                <a:ea typeface="JetBrains Mono" pitchFamily="34" charset="-122"/>
                <a:cs typeface="JetBrains Mono" pitchFamily="34" charset="-120"/>
              </a:rPr>
              <a:t>"http://127.0.0.1:4723"</a:t>
            </a:r>
            <a:r>
              <a:rPr lang="en-US" sz="1200" dirty="0">
                <a:solidFill>
                  <a:srgbClr val="E6EAF0"/>
                </a:solidFill>
                <a:latin typeface="JetBrains Mono" pitchFamily="34" charset="0"/>
                <a:ea typeface="JetBrains Mono" pitchFamily="34" charset="-122"/>
                <a:cs typeface="JetBrains Mono" pitchFamily="34" charset="-120"/>
              </a:rPr>
              <a:t>, options=options)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yield</a:t>
            </a:r>
            <a:r>
              <a:rPr lang="en-US" sz="1200" dirty="0">
                <a:solidFill>
                  <a:srgbClr val="E6EAF0"/>
                </a:solidFill>
                <a:latin typeface="JetBrains Mono" pitchFamily="34" charset="0"/>
                <a:ea typeface="JetBrains Mono" pitchFamily="34" charset="-122"/>
                <a:cs typeface="JetBrains Mono" pitchFamily="34" charset="-120"/>
              </a:rPr>
              <a:t>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driver.quit()</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test_student_can_log_in(driver):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driver.find_element(AppiumBy.ACCESSIBILITY_ID, </a:t>
            </a:r>
            <a:r>
              <a:rPr lang="en-US" sz="1200" dirty="0">
                <a:solidFill>
                  <a:srgbClr val="9CC7F0"/>
                </a:solidFill>
                <a:latin typeface="JetBrains Mono" pitchFamily="34" charset="0"/>
                <a:ea typeface="JetBrains Mono" pitchFamily="34" charset="-122"/>
                <a:cs typeface="JetBrains Mono" pitchFamily="34" charset="-120"/>
              </a:rPr>
              <a:t>"University ID"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"S101"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driver.find_element(AppiumBy.ACCESSIBILITY_ID, </a:t>
            </a:r>
            <a:r>
              <a:rPr lang="en-US" sz="1200" dirty="0">
                <a:solidFill>
                  <a:srgbClr val="9CC7F0"/>
                </a:solidFill>
                <a:latin typeface="JetBrains Mono" pitchFamily="34" charset="0"/>
                <a:ea typeface="JetBrains Mono" pitchFamily="34" charset="-122"/>
                <a:cs typeface="JetBrains Mono" pitchFamily="34" charset="-120"/>
              </a:rPr>
              <a:t>"Password"</a:t>
            </a:r>
            <a:r>
              <a:rPr lang="en-US" sz="1200" dirty="0">
                <a:solidFill>
                  <a:srgbClr val="E6EAF0"/>
                </a:solidFill>
                <a:latin typeface="JetBrains Mono" pitchFamily="34" charset="0"/>
                <a:ea typeface="JetBrains Mono" pitchFamily="34" charset="-122"/>
                <a:cs typeface="JetBrains Mono" pitchFamily="34" charset="-120"/>
              </a:rPr>
              <a:t>).send_keys(</a:t>
            </a:r>
            <a:r>
              <a:rPr lang="en-US" sz="1200" dirty="0">
                <a:solidFill>
                  <a:srgbClr val="9CC7F0"/>
                </a:solidFill>
                <a:latin typeface="JetBrains Mono" pitchFamily="34" charset="0"/>
                <a:ea typeface="JetBrains Mono" pitchFamily="34" charset="-122"/>
                <a:cs typeface="JetBrains Mono" pitchFamily="34" charset="-120"/>
              </a:rPr>
              <a:t>"secret"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driver.find_element(AppiumBy.ACCESSIBILITY_ID, </a:t>
            </a:r>
            <a:r>
              <a:rPr lang="en-US" sz="1200" dirty="0">
                <a:solidFill>
                  <a:srgbClr val="9CC7F0"/>
                </a:solidFill>
                <a:latin typeface="JetBrains Mono" pitchFamily="34" charset="0"/>
                <a:ea typeface="JetBrains Mono" pitchFamily="34" charset="-122"/>
                <a:cs typeface="JetBrains Mono" pitchFamily="34" charset="-120"/>
              </a:rPr>
              <a:t>"Log in"</a:t>
            </a:r>
            <a:r>
              <a:rPr lang="en-US" sz="1200" dirty="0">
                <a:solidFill>
                  <a:srgbClr val="E6EAF0"/>
                </a:solidFill>
                <a:latin typeface="JetBrains Mono" pitchFamily="34" charset="0"/>
                <a:ea typeface="JetBrains Mono" pitchFamily="34" charset="-122"/>
                <a:cs typeface="JetBrains Mono" pitchFamily="34" charset="-120"/>
              </a:rPr>
              <a:t>).click()</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menu = WebDriverWait(driver, 10).until(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EC.visibility_of_element_located((AppiumBy.ACCESSIBILITY_ID, </a:t>
            </a:r>
            <a:r>
              <a:rPr lang="en-US" sz="1200" dirty="0">
                <a:solidFill>
                  <a:srgbClr val="9CC7F0"/>
                </a:solidFill>
                <a:latin typeface="JetBrains Mono" pitchFamily="34" charset="0"/>
                <a:ea typeface="JetBrains Mono" pitchFamily="34" charset="-122"/>
                <a:cs typeface="JetBrains Mono" pitchFamily="34" charset="-120"/>
              </a:rPr>
              <a:t>"Menu"</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assert</a:t>
            </a:r>
            <a:r>
              <a:rPr lang="en-US" sz="1200" dirty="0">
                <a:solidFill>
                  <a:srgbClr val="E6EAF0"/>
                </a:solidFill>
                <a:latin typeface="JetBrains Mono" pitchFamily="34" charset="0"/>
                <a:ea typeface="JetBrains Mono" pitchFamily="34" charset="-122"/>
                <a:cs typeface="JetBrains Mono" pitchFamily="34" charset="-120"/>
              </a:rPr>
              <a:t> menu.is_displayed()</a:t>
            </a:r>
            <a:endParaRPr lang="en-US" sz="1200" dirty="0"/>
          </a:p>
        </p:txBody>
      </p:sp>
      <p:sp>
        <p:nvSpPr>
          <p:cNvPr id="6" name="Shape 4"/>
          <p:cNvSpPr/>
          <p:nvPr/>
        </p:nvSpPr>
        <p:spPr>
          <a:xfrm>
            <a:off x="9194800" y="1835150"/>
            <a:ext cx="2184400" cy="0"/>
          </a:xfrm>
          <a:prstGeom prst="line">
            <a:avLst/>
          </a:prstGeom>
          <a:noFill/>
          <a:ln w="12700">
            <a:solidFill>
              <a:srgbClr val="A9481A"/>
            </a:solidFill>
            <a:prstDash val="solid"/>
          </a:ln>
        </p:spPr>
      </p:sp>
      <p:sp>
        <p:nvSpPr>
          <p:cNvPr id="7" name="Text 5"/>
          <p:cNvSpPr/>
          <p:nvPr/>
        </p:nvSpPr>
        <p:spPr>
          <a:xfrm>
            <a:off x="9194800" y="1915164"/>
            <a:ext cx="224993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8" name="Text 6"/>
          <p:cNvSpPr/>
          <p:nvPr/>
        </p:nvSpPr>
        <p:spPr>
          <a:xfrm>
            <a:off x="9194800" y="2219964"/>
            <a:ext cx="2249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Options name the platform, device and app to install</a:t>
            </a:r>
            <a:endParaRPr lang="en-US" sz="1200" dirty="0"/>
          </a:p>
        </p:txBody>
      </p:sp>
      <p:sp>
        <p:nvSpPr>
          <p:cNvPr id="9" name="Shape 7"/>
          <p:cNvSpPr/>
          <p:nvPr/>
        </p:nvSpPr>
        <p:spPr>
          <a:xfrm>
            <a:off x="9194800" y="2830829"/>
            <a:ext cx="2184400" cy="0"/>
          </a:xfrm>
          <a:prstGeom prst="line">
            <a:avLst/>
          </a:prstGeom>
          <a:noFill/>
          <a:ln w="12700">
            <a:solidFill>
              <a:srgbClr val="A9481A"/>
            </a:solidFill>
            <a:prstDash val="solid"/>
          </a:ln>
        </p:spPr>
      </p:sp>
      <p:sp>
        <p:nvSpPr>
          <p:cNvPr id="10" name="Text 8"/>
          <p:cNvSpPr/>
          <p:nvPr/>
        </p:nvSpPr>
        <p:spPr>
          <a:xfrm>
            <a:off x="9194800" y="2910842"/>
            <a:ext cx="224993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1" name="Text 9"/>
          <p:cNvSpPr/>
          <p:nvPr/>
        </p:nvSpPr>
        <p:spPr>
          <a:xfrm>
            <a:off x="9194800" y="3215642"/>
            <a:ext cx="2249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Remote opens a session on the Appium server</a:t>
            </a:r>
            <a:endParaRPr lang="en-US" sz="1200" dirty="0"/>
          </a:p>
        </p:txBody>
      </p:sp>
      <p:sp>
        <p:nvSpPr>
          <p:cNvPr id="12" name="Shape 10"/>
          <p:cNvSpPr/>
          <p:nvPr/>
        </p:nvSpPr>
        <p:spPr>
          <a:xfrm>
            <a:off x="9194800" y="3826514"/>
            <a:ext cx="2184400" cy="0"/>
          </a:xfrm>
          <a:prstGeom prst="line">
            <a:avLst/>
          </a:prstGeom>
          <a:noFill/>
          <a:ln w="12700">
            <a:solidFill>
              <a:srgbClr val="A9481A"/>
            </a:solidFill>
            <a:prstDash val="solid"/>
          </a:ln>
        </p:spPr>
      </p:sp>
      <p:sp>
        <p:nvSpPr>
          <p:cNvPr id="13" name="Text 11"/>
          <p:cNvSpPr/>
          <p:nvPr/>
        </p:nvSpPr>
        <p:spPr>
          <a:xfrm>
            <a:off x="9194800" y="3906521"/>
            <a:ext cx="2249932"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9194800" y="4211321"/>
            <a:ext cx="224993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Waits and asserts work as in Selenium</a:t>
            </a:r>
            <a:endParaRPr lang="en-US" sz="1200" dirty="0"/>
          </a:p>
        </p:txBody>
      </p:sp>
      <p:sp>
        <p:nvSpPr>
          <p:cNvPr id="15" name="Text 13"/>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6" name="Text 14"/>
          <p:cNvSpPr/>
          <p:nvPr/>
        </p:nvSpPr>
        <p:spPr>
          <a:xfrm>
            <a:off x="4949746" y="6238242"/>
            <a:ext cx="662233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mobile/test_login_android.py · imports omitted · not run here: needs an emulator and the APK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MOBILE LOCATORS</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Finding the Log in button</a:t>
            </a:r>
            <a:endParaRPr lang="en-US" sz="3200" dirty="0"/>
          </a:p>
        </p:txBody>
      </p:sp>
      <p:sp>
        <p:nvSpPr>
          <p:cNvPr id="4" name="Shape 2"/>
          <p:cNvSpPr/>
          <p:nvPr/>
        </p:nvSpPr>
        <p:spPr>
          <a:xfrm>
            <a:off x="11376025" y="1828800"/>
            <a:ext cx="0" cy="2540000"/>
          </a:xfrm>
          <a:prstGeom prst="line">
            <a:avLst/>
          </a:prstGeom>
          <a:noFill/>
          <a:ln w="6350">
            <a:solidFill>
              <a:srgbClr val="DDD8CC"/>
            </a:solidFill>
            <a:prstDash val="solid"/>
          </a:ln>
        </p:spPr>
      </p:sp>
      <p:sp>
        <p:nvSpPr>
          <p:cNvPr id="5" name="Shape 3"/>
          <p:cNvSpPr/>
          <p:nvPr/>
        </p:nvSpPr>
        <p:spPr>
          <a:xfrm>
            <a:off x="812800" y="436562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524760"/>
        </p:xfrm>
        <a:graphic>
          <a:graphicData uri="http://schemas.openxmlformats.org/drawingml/2006/table">
            <a:tbl>
              <a:tblPr/>
              <a:tblGrid>
                <a:gridCol w="2321255"/>
                <a:gridCol w="5275580"/>
                <a:gridCol w="2954325"/>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Strategy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Python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Notes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Accessibility 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AppiumBy.ACCESSIBILITY_ID, "Log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Best: Android and iOS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AppiumBy.ID, "com.example.canteen:id/log_in"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Android resource-id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Class name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AppiumBy.CLASS_NAME, "android.widget.Button"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Matches every button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XPath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AppiumBy.XPATH, "//*[@text='Log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Slow; last resort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54356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Android UIAutomator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AppiumBy.ANDROID_UIAUTOMATOR,</a:t>
                      </a:r>
                      <a:endParaRPr lang="en-US" sz="1200" dirty="0">
                        <a:latin typeface="IBM Plex Sans" charset="0"/>
                        <a:ea typeface="IBM Plex Sans" charset="0"/>
                        <a:cs typeface="IBM Plex Sans" charset="0"/>
                      </a:endParaRPr>
                    </a:p>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'new UiSelector().text("Log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Android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iOS predicate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AppiumBy.IOS_PREDICATE, 'label == "Log 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iOS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622800"/>
            <a:ext cx="10566400" cy="553720"/>
          </a:xfrm>
          <a:prstGeom prst="roundRect">
            <a:avLst>
              <a:gd name="adj" fmla="val 13761"/>
            </a:avLst>
          </a:prstGeom>
          <a:solidFill>
            <a:srgbClr val="13233A"/>
          </a:solidFill>
          <a:ln/>
        </p:spPr>
      </p:sp>
      <p:sp>
        <p:nvSpPr>
          <p:cNvPr id="8" name="Text 5"/>
          <p:cNvSpPr/>
          <p:nvPr/>
        </p:nvSpPr>
        <p:spPr>
          <a:xfrm>
            <a:off x="1016000" y="4792979"/>
            <a:ext cx="7797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ASK FOR</a:t>
            </a:r>
            <a:endParaRPr lang="en-US" sz="1200" dirty="0"/>
          </a:p>
        </p:txBody>
      </p:sp>
      <p:sp>
        <p:nvSpPr>
          <p:cNvPr id="9" name="Text 6"/>
          <p:cNvSpPr/>
          <p:nvPr/>
        </p:nvSpPr>
        <p:spPr>
          <a:xfrm>
            <a:off x="1897380" y="4775200"/>
            <a:ext cx="9556979"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Accessibility IDs on every control: content-desc on Android, the accessibility identifier on iOS.</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5207238" y="6238242"/>
            <a:ext cx="635712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AppiumBy names checked against Appium-Python-Client 6.0.7 · package name illustrative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L20 · CHECK YOUR UNDERSTANDING</a:t>
            </a:r>
            <a:endParaRPr lang="en-US" sz="1200" dirty="0"/>
          </a:p>
        </p:txBody>
      </p:sp>
      <p:sp>
        <p:nvSpPr>
          <p:cNvPr id="3" name="Text 1"/>
          <p:cNvSpPr/>
          <p:nvPr/>
        </p:nvSpPr>
        <p:spPr>
          <a:xfrm>
            <a:off x="812800" y="1127764"/>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20</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Appium login test passes on an emulator. Why is that not enough before a release?</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When would you pick Espresso rather than Appium for the Canteen Android app?</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Which locator would you ask the developers to add to the Place order button, and why?</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three network or interruption cases to test on the Place order step.</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21</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21 · 40 MINUTES</a:t>
            </a:r>
            <a:endParaRPr lang="en-US" sz="1200" dirty="0"/>
          </a:p>
        </p:txBody>
      </p:sp>
      <p:sp>
        <p:nvSpPr>
          <p:cNvPr id="4" name="Text 2"/>
          <p:cNvSpPr/>
          <p:nvPr/>
        </p:nvSpPr>
        <p:spPr>
          <a:xfrm>
            <a:off x="812800" y="3134358"/>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DevOps for</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mobile apps</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sp>
      <p:sp>
        <p:nvSpPr>
          <p:cNvPr id="6" name="Text 4"/>
          <p:cNvSpPr/>
          <p:nvPr/>
        </p:nvSpPr>
        <p:spPr>
          <a:xfrm>
            <a:off x="8128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Applications of DevOps in mobile automation</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sp>
      <p:sp>
        <p:nvSpPr>
          <p:cNvPr id="9" name="Text 7"/>
          <p:cNvSpPr/>
          <p:nvPr/>
        </p:nvSpPr>
        <p:spPr>
          <a:xfrm>
            <a:off x="3911600" y="51206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Role of DevOps in mobile automation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APPLICATIONS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Why mobile delivery is different</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2110232"/>
                <a:gridCol w="3798418"/>
                <a:gridCol w="4642510"/>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Web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Mobile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Deploy to your own 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 sign, pass store review</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Reaching users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Next page load gets 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Each user installs the update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Versions in use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Many at the same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Rollback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Redeploy the last version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Not possible: ship a fix or switch it off</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One build for all browsers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Separate signed Android and iOS builds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targets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few browsers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Many devices and OS versions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409442"/>
            <a:ext cx="10566400" cy="553720"/>
          </a:xfrm>
          <a:prstGeom prst="roundRect">
            <a:avLst>
              <a:gd name="adj" fmla="val 13761"/>
            </a:avLst>
          </a:prstGeom>
          <a:solidFill>
            <a:srgbClr val="13233A"/>
          </a:solidFill>
          <a:ln/>
        </p:spPr>
      </p:sp>
      <p:sp>
        <p:nvSpPr>
          <p:cNvPr id="8" name="Text 5"/>
          <p:cNvSpPr/>
          <p:nvPr/>
        </p:nvSpPr>
        <p:spPr>
          <a:xfrm>
            <a:off x="1016000" y="4579627"/>
            <a:ext cx="2590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SO</a:t>
            </a:r>
            <a:endParaRPr lang="en-US" sz="1200" dirty="0"/>
          </a:p>
        </p:txBody>
      </p:sp>
      <p:sp>
        <p:nvSpPr>
          <p:cNvPr id="9" name="Text 6"/>
          <p:cNvSpPr/>
          <p:nvPr/>
        </p:nvSpPr>
        <p:spPr>
          <a:xfrm>
            <a:off x="1376680" y="4561842"/>
            <a:ext cx="1009330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Mobile DevOps tests more before release, then controls who gets each build and watches what happens.</a:t>
            </a:r>
            <a:endParaRPr lang="en-US" sz="1400" dirty="0"/>
          </a:p>
        </p:txBody>
      </p:sp>
      <p:sp>
        <p:nvSpPr>
          <p:cNvPr id="10" name="Text 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6444774" y="6238242"/>
            <a:ext cx="50824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Both Google Play and the App Store review apps before they reach users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APPLICATIONS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mobile CI/CD pipeline</a:t>
            </a:r>
            <a:endParaRPr lang="en-US" sz="3200" dirty="0"/>
          </a:p>
        </p:txBody>
      </p:sp>
      <p:sp>
        <p:nvSpPr>
          <p:cNvPr id="4" name="Shape 2"/>
          <p:cNvSpPr/>
          <p:nvPr/>
        </p:nvSpPr>
        <p:spPr>
          <a:xfrm>
            <a:off x="812800" y="1828800"/>
            <a:ext cx="1549400" cy="1397000"/>
          </a:xfrm>
          <a:prstGeom prst="roundRect">
            <a:avLst>
              <a:gd name="adj" fmla="val 5455"/>
            </a:avLst>
          </a:prstGeom>
          <a:solidFill>
            <a:srgbClr val="13233A"/>
          </a:solidFill>
          <a:ln/>
        </p:spPr>
      </p:sp>
      <p:sp>
        <p:nvSpPr>
          <p:cNvPr id="5" name="Text 3"/>
          <p:cNvSpPr/>
          <p:nvPr/>
        </p:nvSpPr>
        <p:spPr>
          <a:xfrm>
            <a:off x="939800" y="1955800"/>
            <a:ext cx="1346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939800" y="2194558"/>
            <a:ext cx="13462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Commit</a:t>
            </a:r>
            <a:endParaRPr lang="en-US" sz="1400" dirty="0"/>
          </a:p>
        </p:txBody>
      </p:sp>
      <p:sp>
        <p:nvSpPr>
          <p:cNvPr id="7" name="Text 5"/>
          <p:cNvSpPr/>
          <p:nvPr/>
        </p:nvSpPr>
        <p:spPr>
          <a:xfrm>
            <a:off x="939800" y="2451100"/>
            <a:ext cx="1346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Push or pull request</a:t>
            </a:r>
            <a:endParaRPr lang="en-US" sz="1200" dirty="0"/>
          </a:p>
        </p:txBody>
      </p:sp>
      <p:sp>
        <p:nvSpPr>
          <p:cNvPr id="8" name="Shape 6"/>
          <p:cNvSpPr/>
          <p:nvPr/>
        </p:nvSpPr>
        <p:spPr>
          <a:xfrm>
            <a:off x="2619375" y="1831975"/>
            <a:ext cx="1543050" cy="1390650"/>
          </a:xfrm>
          <a:prstGeom prst="roundRect">
            <a:avLst>
              <a:gd name="adj" fmla="val 5251"/>
            </a:avLst>
          </a:prstGeom>
          <a:solidFill>
            <a:srgbClr val="FCFBF7"/>
          </a:solidFill>
          <a:ln w="6350">
            <a:solidFill>
              <a:srgbClr val="C9C2B2"/>
            </a:solidFill>
            <a:prstDash val="solid"/>
          </a:ln>
        </p:spPr>
      </p:sp>
      <p:sp>
        <p:nvSpPr>
          <p:cNvPr id="9" name="Text 7"/>
          <p:cNvSpPr/>
          <p:nvPr/>
        </p:nvSpPr>
        <p:spPr>
          <a:xfrm>
            <a:off x="27482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02</a:t>
            </a:r>
            <a:endParaRPr lang="en-US" sz="1200" dirty="0"/>
          </a:p>
        </p:txBody>
      </p:sp>
      <p:sp>
        <p:nvSpPr>
          <p:cNvPr id="10" name="Text 8"/>
          <p:cNvSpPr/>
          <p:nvPr/>
        </p:nvSpPr>
        <p:spPr>
          <a:xfrm>
            <a:off x="2748280" y="2199642"/>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Build</a:t>
            </a:r>
            <a:endParaRPr lang="en-US" sz="1400" dirty="0"/>
          </a:p>
        </p:txBody>
      </p:sp>
      <p:sp>
        <p:nvSpPr>
          <p:cNvPr id="11" name="Text 9"/>
          <p:cNvSpPr/>
          <p:nvPr/>
        </p:nvSpPr>
        <p:spPr>
          <a:xfrm>
            <a:off x="27482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Gradle, Xcode, unit tests</a:t>
            </a:r>
            <a:endParaRPr lang="en-US" sz="1200" dirty="0"/>
          </a:p>
        </p:txBody>
      </p:sp>
      <p:sp>
        <p:nvSpPr>
          <p:cNvPr id="12" name="Shape 10"/>
          <p:cNvSpPr/>
          <p:nvPr/>
        </p:nvSpPr>
        <p:spPr>
          <a:xfrm>
            <a:off x="4422775" y="1831975"/>
            <a:ext cx="1543050" cy="1390650"/>
          </a:xfrm>
          <a:prstGeom prst="roundRect">
            <a:avLst>
              <a:gd name="adj" fmla="val 5251"/>
            </a:avLst>
          </a:prstGeom>
          <a:solidFill>
            <a:srgbClr val="FCFBF7"/>
          </a:solidFill>
          <a:ln w="6350">
            <a:solidFill>
              <a:srgbClr val="C9C2B2"/>
            </a:solidFill>
            <a:prstDash val="solid"/>
          </a:ln>
        </p:spPr>
      </p:sp>
      <p:sp>
        <p:nvSpPr>
          <p:cNvPr id="13" name="Text 11"/>
          <p:cNvSpPr/>
          <p:nvPr/>
        </p:nvSpPr>
        <p:spPr>
          <a:xfrm>
            <a:off x="45516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03</a:t>
            </a:r>
            <a:endParaRPr lang="en-US" sz="1200" dirty="0"/>
          </a:p>
        </p:txBody>
      </p:sp>
      <p:sp>
        <p:nvSpPr>
          <p:cNvPr id="14" name="Text 12"/>
          <p:cNvSpPr/>
          <p:nvPr/>
        </p:nvSpPr>
        <p:spPr>
          <a:xfrm>
            <a:off x="4551680" y="2199642"/>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UI tests</a:t>
            </a:r>
            <a:endParaRPr lang="en-US" sz="1400" dirty="0"/>
          </a:p>
        </p:txBody>
      </p:sp>
      <p:sp>
        <p:nvSpPr>
          <p:cNvPr id="15" name="Text 13"/>
          <p:cNvSpPr/>
          <p:nvPr/>
        </p:nvSpPr>
        <p:spPr>
          <a:xfrm>
            <a:off x="45516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 emulators and simulators</a:t>
            </a:r>
            <a:endParaRPr lang="en-US" sz="1200" dirty="0"/>
          </a:p>
        </p:txBody>
      </p:sp>
      <p:sp>
        <p:nvSpPr>
          <p:cNvPr id="16" name="Shape 14"/>
          <p:cNvSpPr/>
          <p:nvPr/>
        </p:nvSpPr>
        <p:spPr>
          <a:xfrm>
            <a:off x="6226175" y="1831975"/>
            <a:ext cx="1543050" cy="1390650"/>
          </a:xfrm>
          <a:prstGeom prst="roundRect">
            <a:avLst>
              <a:gd name="adj" fmla="val 5251"/>
            </a:avLst>
          </a:prstGeom>
          <a:solidFill>
            <a:srgbClr val="FCFBF7"/>
          </a:solidFill>
          <a:ln w="6350">
            <a:solidFill>
              <a:srgbClr val="C9C2B2"/>
            </a:solidFill>
            <a:prstDash val="solid"/>
          </a:ln>
        </p:spPr>
      </p:sp>
      <p:sp>
        <p:nvSpPr>
          <p:cNvPr id="17" name="Text 15"/>
          <p:cNvSpPr/>
          <p:nvPr/>
        </p:nvSpPr>
        <p:spPr>
          <a:xfrm>
            <a:off x="63550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04</a:t>
            </a:r>
            <a:endParaRPr lang="en-US" sz="1200" dirty="0"/>
          </a:p>
        </p:txBody>
      </p:sp>
      <p:sp>
        <p:nvSpPr>
          <p:cNvPr id="18" name="Text 16"/>
          <p:cNvSpPr/>
          <p:nvPr/>
        </p:nvSpPr>
        <p:spPr>
          <a:xfrm>
            <a:off x="6355080" y="2199642"/>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Sign</a:t>
            </a:r>
            <a:endParaRPr lang="en-US" sz="1400" dirty="0"/>
          </a:p>
        </p:txBody>
      </p:sp>
      <p:sp>
        <p:nvSpPr>
          <p:cNvPr id="19" name="Text 17"/>
          <p:cNvSpPr/>
          <p:nvPr/>
        </p:nvSpPr>
        <p:spPr>
          <a:xfrm>
            <a:off x="63550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AAB for Play, IPA for Apple</a:t>
            </a:r>
            <a:endParaRPr lang="en-US" sz="1200" dirty="0"/>
          </a:p>
        </p:txBody>
      </p:sp>
      <p:sp>
        <p:nvSpPr>
          <p:cNvPr id="20" name="Shape 18"/>
          <p:cNvSpPr/>
          <p:nvPr/>
        </p:nvSpPr>
        <p:spPr>
          <a:xfrm>
            <a:off x="8029575" y="1831975"/>
            <a:ext cx="1543050" cy="1390650"/>
          </a:xfrm>
          <a:prstGeom prst="roundRect">
            <a:avLst>
              <a:gd name="adj" fmla="val 5251"/>
            </a:avLst>
          </a:prstGeom>
          <a:solidFill>
            <a:srgbClr val="FCFBF7"/>
          </a:solidFill>
          <a:ln w="6350">
            <a:solidFill>
              <a:srgbClr val="C9C2B2"/>
            </a:solidFill>
            <a:prstDash val="solid"/>
          </a:ln>
        </p:spPr>
      </p:sp>
      <p:sp>
        <p:nvSpPr>
          <p:cNvPr id="21" name="Text 19"/>
          <p:cNvSpPr/>
          <p:nvPr/>
        </p:nvSpPr>
        <p:spPr>
          <a:xfrm>
            <a:off x="81584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05</a:t>
            </a:r>
            <a:endParaRPr lang="en-US" sz="1200" dirty="0"/>
          </a:p>
        </p:txBody>
      </p:sp>
      <p:sp>
        <p:nvSpPr>
          <p:cNvPr id="22" name="Text 20"/>
          <p:cNvSpPr/>
          <p:nvPr/>
        </p:nvSpPr>
        <p:spPr>
          <a:xfrm>
            <a:off x="8158480" y="2199642"/>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Beta</a:t>
            </a:r>
            <a:endParaRPr lang="en-US" sz="1400" dirty="0"/>
          </a:p>
        </p:txBody>
      </p:sp>
      <p:sp>
        <p:nvSpPr>
          <p:cNvPr id="23" name="Text 21"/>
          <p:cNvSpPr/>
          <p:nvPr/>
        </p:nvSpPr>
        <p:spPr>
          <a:xfrm>
            <a:off x="81584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Testing tracks, TestFlight</a:t>
            </a:r>
            <a:endParaRPr lang="en-US" sz="1200" dirty="0"/>
          </a:p>
        </p:txBody>
      </p:sp>
      <p:sp>
        <p:nvSpPr>
          <p:cNvPr id="24" name="Shape 22"/>
          <p:cNvSpPr/>
          <p:nvPr/>
        </p:nvSpPr>
        <p:spPr>
          <a:xfrm>
            <a:off x="9829800" y="1828800"/>
            <a:ext cx="1549400" cy="1397000"/>
          </a:xfrm>
          <a:prstGeom prst="roundRect">
            <a:avLst>
              <a:gd name="adj" fmla="val 5455"/>
            </a:avLst>
          </a:prstGeom>
          <a:solidFill>
            <a:srgbClr val="E98B53"/>
          </a:solidFill>
          <a:ln/>
        </p:spPr>
      </p:sp>
      <p:sp>
        <p:nvSpPr>
          <p:cNvPr id="25" name="Text 23"/>
          <p:cNvSpPr/>
          <p:nvPr/>
        </p:nvSpPr>
        <p:spPr>
          <a:xfrm>
            <a:off x="9956800" y="1955800"/>
            <a:ext cx="1346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06</a:t>
            </a:r>
            <a:endParaRPr lang="en-US" sz="1200" dirty="0"/>
          </a:p>
        </p:txBody>
      </p:sp>
      <p:sp>
        <p:nvSpPr>
          <p:cNvPr id="26" name="Text 24"/>
          <p:cNvSpPr/>
          <p:nvPr/>
        </p:nvSpPr>
        <p:spPr>
          <a:xfrm>
            <a:off x="9956800" y="2194558"/>
            <a:ext cx="13462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Release</a:t>
            </a:r>
            <a:endParaRPr lang="en-US" sz="1400" dirty="0"/>
          </a:p>
        </p:txBody>
      </p:sp>
      <p:sp>
        <p:nvSpPr>
          <p:cNvPr id="27" name="Text 25"/>
          <p:cNvSpPr/>
          <p:nvPr/>
        </p:nvSpPr>
        <p:spPr>
          <a:xfrm>
            <a:off x="9956800" y="2451100"/>
            <a:ext cx="1346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Staged rollout, monitoring</a:t>
            </a:r>
            <a:endParaRPr lang="en-US" sz="1200" dirty="0"/>
          </a:p>
        </p:txBody>
      </p:sp>
      <p:pic>
        <p:nvPicPr>
          <p:cNvPr id="28" name="Image 0" descr="connector">    </p:cNvPr>
          <p:cNvPicPr>
            <a:picLocks noChangeAspect="1"/>
          </p:cNvPicPr>
          <p:nvPr/>
        </p:nvPicPr>
        <p:blipFill>
          <a:blip r:embed="rId1"/>
          <a:srcRect l="0" r="0" t="0" b="0"/>
          <a:stretch/>
        </p:blipFill>
        <p:spPr>
          <a:xfrm>
            <a:off x="2311400" y="2476500"/>
            <a:ext cx="355600" cy="101600"/>
          </a:xfrm>
          <a:prstGeom prst="rect">
            <a:avLst/>
          </a:prstGeom>
        </p:spPr>
      </p:pic>
      <p:pic>
        <p:nvPicPr>
          <p:cNvPr id="29" name="Image 1" descr="connector">    </p:cNvPr>
          <p:cNvPicPr>
            <a:picLocks noChangeAspect="1"/>
          </p:cNvPicPr>
          <p:nvPr/>
        </p:nvPicPr>
        <p:blipFill>
          <a:blip r:embed="rId2"/>
          <a:srcRect l="0" r="0" t="0" b="0"/>
          <a:stretch/>
        </p:blipFill>
        <p:spPr>
          <a:xfrm>
            <a:off x="4114800" y="2476500"/>
            <a:ext cx="355600" cy="101600"/>
          </a:xfrm>
          <a:prstGeom prst="rect">
            <a:avLst/>
          </a:prstGeom>
        </p:spPr>
      </p:pic>
      <p:pic>
        <p:nvPicPr>
          <p:cNvPr id="30" name="Image 2" descr="connector">    </p:cNvPr>
          <p:cNvPicPr>
            <a:picLocks noChangeAspect="1"/>
          </p:cNvPicPr>
          <p:nvPr/>
        </p:nvPicPr>
        <p:blipFill>
          <a:blip r:embed="rId3"/>
          <a:srcRect l="0" r="0" t="0" b="0"/>
          <a:stretch/>
        </p:blipFill>
        <p:spPr>
          <a:xfrm>
            <a:off x="5918200" y="2476500"/>
            <a:ext cx="355600" cy="101600"/>
          </a:xfrm>
          <a:prstGeom prst="rect">
            <a:avLst/>
          </a:prstGeom>
        </p:spPr>
      </p:pic>
      <p:pic>
        <p:nvPicPr>
          <p:cNvPr id="31" name="Image 3" descr="connector">    </p:cNvPr>
          <p:cNvPicPr>
            <a:picLocks noChangeAspect="1"/>
          </p:cNvPicPr>
          <p:nvPr/>
        </p:nvPicPr>
        <p:blipFill>
          <a:blip r:embed="rId4"/>
          <a:srcRect l="0" r="0" t="0" b="0"/>
          <a:stretch/>
        </p:blipFill>
        <p:spPr>
          <a:xfrm>
            <a:off x="7721600" y="2476500"/>
            <a:ext cx="355600" cy="101600"/>
          </a:xfrm>
          <a:prstGeom prst="rect">
            <a:avLst/>
          </a:prstGeom>
        </p:spPr>
      </p:pic>
      <p:pic>
        <p:nvPicPr>
          <p:cNvPr id="32" name="Image 4" descr="connector">    </p:cNvPr>
          <p:cNvPicPr>
            <a:picLocks noChangeAspect="1"/>
          </p:cNvPicPr>
          <p:nvPr/>
        </p:nvPicPr>
        <p:blipFill>
          <a:blip r:embed="rId5"/>
          <a:srcRect l="0" r="0" t="0" b="0"/>
          <a:stretch/>
        </p:blipFill>
        <p:spPr>
          <a:xfrm>
            <a:off x="9525000" y="2476500"/>
            <a:ext cx="355600" cy="101600"/>
          </a:xfrm>
          <a:prstGeom prst="rect">
            <a:avLst/>
          </a:prstGeom>
        </p:spPr>
      </p:pic>
      <p:sp>
        <p:nvSpPr>
          <p:cNvPr id="33" name="Shape 26"/>
          <p:cNvSpPr/>
          <p:nvPr/>
        </p:nvSpPr>
        <p:spPr>
          <a:xfrm>
            <a:off x="2616200" y="3479800"/>
            <a:ext cx="6959600" cy="406400"/>
          </a:xfrm>
          <a:prstGeom prst="roundRect">
            <a:avLst>
              <a:gd name="adj" fmla="val 18750"/>
            </a:avLst>
          </a:prstGeom>
          <a:solidFill>
            <a:srgbClr val="DCE7F3"/>
          </a:solidFill>
          <a:ln/>
        </p:spPr>
      </p:sp>
      <p:sp>
        <p:nvSpPr>
          <p:cNvPr id="34" name="Text 27"/>
          <p:cNvSpPr/>
          <p:nvPr/>
        </p:nvSpPr>
        <p:spPr>
          <a:xfrm>
            <a:off x="2768600" y="3576327"/>
            <a:ext cx="39861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fastlane lanes script the build, signing and upload steps</a:t>
            </a:r>
            <a:endParaRPr lang="en-US" sz="1200" dirty="0"/>
          </a:p>
        </p:txBody>
      </p:sp>
      <p:sp>
        <p:nvSpPr>
          <p:cNvPr id="35" name="Shape 28"/>
          <p:cNvSpPr/>
          <p:nvPr/>
        </p:nvSpPr>
        <p:spPr>
          <a:xfrm>
            <a:off x="812800" y="4013200"/>
            <a:ext cx="10566400" cy="406400"/>
          </a:xfrm>
          <a:prstGeom prst="roundRect">
            <a:avLst>
              <a:gd name="adj" fmla="val 18750"/>
            </a:avLst>
          </a:prstGeom>
          <a:solidFill>
            <a:srgbClr val="ECE8DE"/>
          </a:solidFill>
          <a:ln/>
        </p:spPr>
      </p:sp>
      <p:sp>
        <p:nvSpPr>
          <p:cNvPr id="36" name="Text 29"/>
          <p:cNvSpPr/>
          <p:nvPr/>
        </p:nvSpPr>
        <p:spPr>
          <a:xfrm>
            <a:off x="965200" y="4109727"/>
            <a:ext cx="706226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Jenkins or GitHub Actions runs stages 01 to 05 on every change; the team decides when to release</a:t>
            </a:r>
            <a:endParaRPr lang="en-US" sz="1200" dirty="0"/>
          </a:p>
        </p:txBody>
      </p:sp>
      <p:sp>
        <p:nvSpPr>
          <p:cNvPr id="37" name="Shape 30"/>
          <p:cNvSpPr/>
          <p:nvPr/>
        </p:nvSpPr>
        <p:spPr>
          <a:xfrm>
            <a:off x="812800" y="4546600"/>
            <a:ext cx="10566400" cy="406400"/>
          </a:xfrm>
          <a:prstGeom prst="roundRect">
            <a:avLst>
              <a:gd name="adj" fmla="val 18750"/>
            </a:avLst>
          </a:prstGeom>
          <a:solidFill>
            <a:srgbClr val="F7E3D5"/>
          </a:solidFill>
          <a:ln/>
        </p:spPr>
      </p:sp>
      <p:sp>
        <p:nvSpPr>
          <p:cNvPr id="38" name="Text 31"/>
          <p:cNvSpPr/>
          <p:nvPr/>
        </p:nvSpPr>
        <p:spPr>
          <a:xfrm>
            <a:off x="965200" y="4643127"/>
            <a:ext cx="52741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Feedback: crash reports and store reviews become new tests for stage 03</a:t>
            </a:r>
            <a:endParaRPr lang="en-US" sz="1200" dirty="0"/>
          </a:p>
        </p:txBody>
      </p:sp>
      <p:sp>
        <p:nvSpPr>
          <p:cNvPr id="39" name="Text 32"/>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40" name="Text 33"/>
          <p:cNvSpPr/>
          <p:nvPr/>
        </p:nvSpPr>
        <p:spPr>
          <a:xfrm>
            <a:off x="5029756" y="6238242"/>
            <a:ext cx="653992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AAB: Android App Bundle · IPA: iOS app archive · a nightly device-cloud run adds real phones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BUILD AND RELEASE AUTOMATION</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fastlane automates the release steps</a:t>
            </a:r>
            <a:endParaRPr lang="en-US" sz="3200" dirty="0"/>
          </a:p>
        </p:txBody>
      </p:sp>
      <p:sp>
        <p:nvSpPr>
          <p:cNvPr id="4" name="Shape 2"/>
          <p:cNvSpPr/>
          <p:nvPr/>
        </p:nvSpPr>
        <p:spPr>
          <a:xfrm>
            <a:off x="812800" y="1828800"/>
            <a:ext cx="4838700" cy="2275840"/>
          </a:xfrm>
          <a:prstGeom prst="roundRect">
            <a:avLst>
              <a:gd name="adj" fmla="val 3348"/>
            </a:avLst>
          </a:prstGeom>
          <a:solidFill>
            <a:srgbClr val="13233A"/>
          </a:solidFill>
          <a:ln/>
        </p:spPr>
      </p:sp>
      <p:sp>
        <p:nvSpPr>
          <p:cNvPr id="5" name="Text 3"/>
          <p:cNvSpPr/>
          <p:nvPr/>
        </p:nvSpPr>
        <p:spPr>
          <a:xfrm>
            <a:off x="990600" y="2006600"/>
            <a:ext cx="4617593" cy="19456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default_platform(:android)</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platform</a:t>
            </a:r>
            <a:r>
              <a:rPr lang="en-US" sz="1200" dirty="0">
                <a:solidFill>
                  <a:srgbClr val="E6EAF0"/>
                </a:solidFill>
                <a:latin typeface="JetBrains Mono" pitchFamily="34" charset="0"/>
                <a:ea typeface="JetBrains Mono" pitchFamily="34" charset="-122"/>
                <a:cs typeface="JetBrains Mono" pitchFamily="34" charset="-120"/>
              </a:rPr>
              <a:t> :android </a:t>
            </a:r>
            <a:r>
              <a:rPr lang="en-US" sz="1200" dirty="0">
                <a:solidFill>
                  <a:srgbClr val="F2A36B"/>
                </a:solidFill>
                <a:latin typeface="JetBrains Mono" pitchFamily="34" charset="0"/>
                <a:ea typeface="JetBrains Mono" pitchFamily="34" charset="-122"/>
                <a:cs typeface="JetBrains Mono" pitchFamily="34" charset="-120"/>
              </a:rPr>
              <a:t>do</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lane</a:t>
            </a:r>
            <a:r>
              <a:rPr lang="en-US" sz="1200" dirty="0">
                <a:solidFill>
                  <a:srgbClr val="E6EAF0"/>
                </a:solidFill>
                <a:latin typeface="JetBrains Mono" pitchFamily="34" charset="0"/>
                <a:ea typeface="JetBrains Mono" pitchFamily="34" charset="-122"/>
                <a:cs typeface="JetBrains Mono" pitchFamily="34" charset="-120"/>
              </a:rPr>
              <a:t> :beta </a:t>
            </a:r>
            <a:r>
              <a:rPr lang="en-US" sz="1200" dirty="0">
                <a:solidFill>
                  <a:srgbClr val="F2A36B"/>
                </a:solidFill>
                <a:latin typeface="JetBrains Mono" pitchFamily="34" charset="0"/>
                <a:ea typeface="JetBrains Mono" pitchFamily="34" charset="-122"/>
                <a:cs typeface="JetBrains Mono" pitchFamily="34" charset="-120"/>
              </a:rPr>
              <a:t>do</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gradle(task: </a:t>
            </a:r>
            <a:r>
              <a:rPr lang="en-US" sz="1200" dirty="0">
                <a:solidFill>
                  <a:srgbClr val="9CC7F0"/>
                </a:solidFill>
                <a:latin typeface="JetBrains Mono" pitchFamily="34" charset="0"/>
                <a:ea typeface="JetBrains Mono" pitchFamily="34" charset="-122"/>
                <a:cs typeface="JetBrains Mono" pitchFamily="34" charset="-120"/>
              </a:rPr>
              <a:t>"test"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gradle(task: </a:t>
            </a:r>
            <a:r>
              <a:rPr lang="en-US" sz="1200" dirty="0">
                <a:solidFill>
                  <a:srgbClr val="9CC7F0"/>
                </a:solidFill>
                <a:latin typeface="JetBrains Mono" pitchFamily="34" charset="0"/>
                <a:ea typeface="JetBrains Mono" pitchFamily="34" charset="-122"/>
                <a:cs typeface="JetBrains Mono" pitchFamily="34" charset="-120"/>
              </a:rPr>
              <a:t>"bundle"</a:t>
            </a:r>
            <a:r>
              <a:rPr lang="en-US" sz="1200" dirty="0">
                <a:solidFill>
                  <a:srgbClr val="E6EAF0"/>
                </a:solidFill>
                <a:latin typeface="JetBrains Mono" pitchFamily="34" charset="0"/>
                <a:ea typeface="JetBrains Mono" pitchFamily="34" charset="-122"/>
                <a:cs typeface="JetBrains Mono" pitchFamily="34" charset="-120"/>
              </a:rPr>
              <a:t>, build_type: </a:t>
            </a:r>
            <a:r>
              <a:rPr lang="en-US" sz="1200" dirty="0">
                <a:solidFill>
                  <a:srgbClr val="9CC7F0"/>
                </a:solidFill>
                <a:latin typeface="JetBrains Mono" pitchFamily="34" charset="0"/>
                <a:ea typeface="JetBrains Mono" pitchFamily="34" charset="-122"/>
                <a:cs typeface="JetBrains Mono" pitchFamily="34" charset="-120"/>
              </a:rPr>
              <a:t>"Release"</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upload_to_play_store(track: </a:t>
            </a:r>
            <a:r>
              <a:rPr lang="en-US" sz="1200" dirty="0">
                <a:solidFill>
                  <a:srgbClr val="9CC7F0"/>
                </a:solidFill>
                <a:latin typeface="JetBrains Mono" pitchFamily="34" charset="0"/>
                <a:ea typeface="JetBrains Mono" pitchFamily="34" charset="-122"/>
                <a:cs typeface="JetBrains Mono" pitchFamily="34" charset="-120"/>
              </a:rPr>
              <a:t>"internal"</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end</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end</a:t>
            </a:r>
            <a:endParaRPr lang="en-US" sz="1200" dirty="0"/>
          </a:p>
        </p:txBody>
      </p:sp>
      <p:sp>
        <p:nvSpPr>
          <p:cNvPr id="6" name="Shape 4"/>
          <p:cNvSpPr/>
          <p:nvPr/>
        </p:nvSpPr>
        <p:spPr>
          <a:xfrm>
            <a:off x="812800" y="4257042"/>
            <a:ext cx="4838700" cy="995680"/>
          </a:xfrm>
          <a:prstGeom prst="roundRect">
            <a:avLst>
              <a:gd name="adj" fmla="val 7653"/>
            </a:avLst>
          </a:prstGeom>
          <a:solidFill>
            <a:srgbClr val="13233A"/>
          </a:solidFill>
          <a:ln/>
        </p:spPr>
      </p:sp>
      <p:sp>
        <p:nvSpPr>
          <p:cNvPr id="7" name="Text 5"/>
          <p:cNvSpPr/>
          <p:nvPr/>
        </p:nvSpPr>
        <p:spPr>
          <a:xfrm>
            <a:off x="990600" y="4434842"/>
            <a:ext cx="4617593"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fastlane lanes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android---------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fastlane android beta</a:t>
            </a:r>
            <a:endParaRPr lang="en-US" sz="1200" dirty="0"/>
          </a:p>
        </p:txBody>
      </p:sp>
      <p:sp>
        <p:nvSpPr>
          <p:cNvPr id="8" name="Text 6"/>
          <p:cNvSpPr/>
          <p:nvPr/>
        </p:nvSpPr>
        <p:spPr>
          <a:xfrm>
            <a:off x="5905500" y="1828800"/>
            <a:ext cx="563791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fastlane “handles all tedious tasks, like generating screenshots, dealing with code signing, and releasing your application.”</a:t>
            </a:r>
            <a:endParaRPr lang="en-US" sz="1400" dirty="0"/>
          </a:p>
        </p:txBody>
      </p:sp>
      <p:sp>
        <p:nvSpPr>
          <p:cNvPr id="9" name="Shape 7"/>
          <p:cNvSpPr/>
          <p:nvPr/>
        </p:nvSpPr>
        <p:spPr>
          <a:xfrm>
            <a:off x="5905500" y="2482217"/>
            <a:ext cx="5473700" cy="0"/>
          </a:xfrm>
          <a:prstGeom prst="line">
            <a:avLst/>
          </a:prstGeom>
          <a:noFill/>
          <a:ln w="6350">
            <a:solidFill>
              <a:srgbClr val="DDD8CC"/>
            </a:solidFill>
            <a:prstDash val="solid"/>
          </a:ln>
        </p:spPr>
      </p:sp>
      <p:sp>
        <p:nvSpPr>
          <p:cNvPr id="10" name="Text 8"/>
          <p:cNvSpPr/>
          <p:nvPr/>
        </p:nvSpPr>
        <p:spPr>
          <a:xfrm>
            <a:off x="5905500" y="2547627"/>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gradle</a:t>
            </a:r>
            <a:endParaRPr lang="en-US" sz="1200" dirty="0"/>
          </a:p>
        </p:txBody>
      </p:sp>
      <p:sp>
        <p:nvSpPr>
          <p:cNvPr id="11" name="Text 9"/>
          <p:cNvSpPr/>
          <p:nvPr/>
        </p:nvSpPr>
        <p:spPr>
          <a:xfrm>
            <a:off x="8420100" y="2547627"/>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Android build and tests</a:t>
            </a:r>
            <a:endParaRPr lang="en-US" sz="1200" dirty="0"/>
          </a:p>
        </p:txBody>
      </p:sp>
      <p:sp>
        <p:nvSpPr>
          <p:cNvPr id="12" name="Shape 10"/>
          <p:cNvSpPr/>
          <p:nvPr/>
        </p:nvSpPr>
        <p:spPr>
          <a:xfrm>
            <a:off x="5905500" y="2827660"/>
            <a:ext cx="5473700" cy="0"/>
          </a:xfrm>
          <a:prstGeom prst="line">
            <a:avLst/>
          </a:prstGeom>
          <a:noFill/>
          <a:ln w="6350">
            <a:solidFill>
              <a:srgbClr val="DDD8CC"/>
            </a:solidFill>
            <a:prstDash val="solid"/>
          </a:ln>
        </p:spPr>
      </p:sp>
      <p:sp>
        <p:nvSpPr>
          <p:cNvPr id="13" name="Text 11"/>
          <p:cNvSpPr/>
          <p:nvPr/>
        </p:nvSpPr>
        <p:spPr>
          <a:xfrm>
            <a:off x="5905500" y="2893058"/>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build_app</a:t>
            </a:r>
            <a:endParaRPr lang="en-US" sz="1200" dirty="0"/>
          </a:p>
        </p:txBody>
      </p:sp>
      <p:sp>
        <p:nvSpPr>
          <p:cNvPr id="14" name="Text 12"/>
          <p:cNvSpPr/>
          <p:nvPr/>
        </p:nvSpPr>
        <p:spPr>
          <a:xfrm>
            <a:off x="8420100" y="2893058"/>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 and sign for iOS</a:t>
            </a:r>
            <a:endParaRPr lang="en-US" sz="1200" dirty="0"/>
          </a:p>
        </p:txBody>
      </p:sp>
      <p:sp>
        <p:nvSpPr>
          <p:cNvPr id="15" name="Shape 13"/>
          <p:cNvSpPr/>
          <p:nvPr/>
        </p:nvSpPr>
        <p:spPr>
          <a:xfrm>
            <a:off x="5905500" y="3173102"/>
            <a:ext cx="5473700" cy="0"/>
          </a:xfrm>
          <a:prstGeom prst="line">
            <a:avLst/>
          </a:prstGeom>
          <a:noFill/>
          <a:ln w="6350">
            <a:solidFill>
              <a:srgbClr val="DDD8CC"/>
            </a:solidFill>
            <a:prstDash val="solid"/>
          </a:ln>
        </p:spPr>
      </p:sp>
      <p:sp>
        <p:nvSpPr>
          <p:cNvPr id="16" name="Text 14"/>
          <p:cNvSpPr/>
          <p:nvPr/>
        </p:nvSpPr>
        <p:spPr>
          <a:xfrm>
            <a:off x="5905500" y="3238500"/>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upload_to_play_store</a:t>
            </a:r>
            <a:endParaRPr lang="en-US" sz="1200" dirty="0"/>
          </a:p>
        </p:txBody>
      </p:sp>
      <p:sp>
        <p:nvSpPr>
          <p:cNvPr id="17" name="Text 15"/>
          <p:cNvSpPr/>
          <p:nvPr/>
        </p:nvSpPr>
        <p:spPr>
          <a:xfrm>
            <a:off x="8420100" y="3238500"/>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Google Play tracks</a:t>
            </a:r>
            <a:endParaRPr lang="en-US" sz="1200" dirty="0"/>
          </a:p>
        </p:txBody>
      </p:sp>
      <p:sp>
        <p:nvSpPr>
          <p:cNvPr id="18" name="Shape 16"/>
          <p:cNvSpPr/>
          <p:nvPr/>
        </p:nvSpPr>
        <p:spPr>
          <a:xfrm>
            <a:off x="5905500" y="3518533"/>
            <a:ext cx="5473700" cy="0"/>
          </a:xfrm>
          <a:prstGeom prst="line">
            <a:avLst/>
          </a:prstGeom>
          <a:noFill/>
          <a:ln w="6350">
            <a:solidFill>
              <a:srgbClr val="DDD8CC"/>
            </a:solidFill>
            <a:prstDash val="solid"/>
          </a:ln>
        </p:spPr>
      </p:sp>
      <p:sp>
        <p:nvSpPr>
          <p:cNvPr id="19" name="Text 17"/>
          <p:cNvSpPr/>
          <p:nvPr/>
        </p:nvSpPr>
        <p:spPr>
          <a:xfrm>
            <a:off x="5905500" y="3583942"/>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upload_to_testflight</a:t>
            </a:r>
            <a:endParaRPr lang="en-US" sz="1200" dirty="0"/>
          </a:p>
        </p:txBody>
      </p:sp>
      <p:sp>
        <p:nvSpPr>
          <p:cNvPr id="20" name="Text 18"/>
          <p:cNvSpPr/>
          <p:nvPr/>
        </p:nvSpPr>
        <p:spPr>
          <a:xfrm>
            <a:off x="8420100" y="3583942"/>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TestFlight builds</a:t>
            </a:r>
            <a:endParaRPr lang="en-US" sz="1200" dirty="0"/>
          </a:p>
        </p:txBody>
      </p:sp>
      <p:sp>
        <p:nvSpPr>
          <p:cNvPr id="21" name="Shape 19"/>
          <p:cNvSpPr/>
          <p:nvPr/>
        </p:nvSpPr>
        <p:spPr>
          <a:xfrm>
            <a:off x="5905500" y="3863975"/>
            <a:ext cx="5473700" cy="0"/>
          </a:xfrm>
          <a:prstGeom prst="line">
            <a:avLst/>
          </a:prstGeom>
          <a:noFill/>
          <a:ln w="6350">
            <a:solidFill>
              <a:srgbClr val="DDD8CC"/>
            </a:solidFill>
            <a:prstDash val="solid"/>
          </a:ln>
        </p:spPr>
      </p:sp>
      <p:sp>
        <p:nvSpPr>
          <p:cNvPr id="22" name="Text 20"/>
          <p:cNvSpPr/>
          <p:nvPr/>
        </p:nvSpPr>
        <p:spPr>
          <a:xfrm>
            <a:off x="5905500" y="3929385"/>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match</a:t>
            </a:r>
            <a:endParaRPr lang="en-US" sz="1200" dirty="0"/>
          </a:p>
        </p:txBody>
      </p:sp>
      <p:sp>
        <p:nvSpPr>
          <p:cNvPr id="23" name="Text 21"/>
          <p:cNvSpPr/>
          <p:nvPr/>
        </p:nvSpPr>
        <p:spPr>
          <a:xfrm>
            <a:off x="8420100" y="3929385"/>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Share signing certificates</a:t>
            </a:r>
            <a:endParaRPr lang="en-US" sz="1200" dirty="0"/>
          </a:p>
        </p:txBody>
      </p:sp>
      <p:sp>
        <p:nvSpPr>
          <p:cNvPr id="24" name="Shape 22"/>
          <p:cNvSpPr/>
          <p:nvPr/>
        </p:nvSpPr>
        <p:spPr>
          <a:xfrm>
            <a:off x="5905500" y="4209417"/>
            <a:ext cx="5473700" cy="0"/>
          </a:xfrm>
          <a:prstGeom prst="line">
            <a:avLst/>
          </a:prstGeom>
          <a:noFill/>
          <a:ln w="6350">
            <a:solidFill>
              <a:srgbClr val="DDD8CC"/>
            </a:solidFill>
            <a:prstDash val="solid"/>
          </a:ln>
        </p:spPr>
      </p:sp>
      <p:sp>
        <p:nvSpPr>
          <p:cNvPr id="25" name="Shape 23"/>
          <p:cNvSpPr/>
          <p:nvPr/>
        </p:nvSpPr>
        <p:spPr>
          <a:xfrm>
            <a:off x="5905500" y="4553587"/>
            <a:ext cx="5473700" cy="0"/>
          </a:xfrm>
          <a:prstGeom prst="line">
            <a:avLst/>
          </a:prstGeom>
          <a:noFill/>
          <a:ln w="6350">
            <a:solidFill>
              <a:srgbClr val="DDD8CC"/>
            </a:solidFill>
            <a:prstDash val="solid"/>
          </a:ln>
        </p:spPr>
      </p:sp>
      <p:sp>
        <p:nvSpPr>
          <p:cNvPr id="26" name="Text 24"/>
          <p:cNvSpPr/>
          <p:nvPr/>
        </p:nvSpPr>
        <p:spPr>
          <a:xfrm>
            <a:off x="5905500" y="4274827"/>
            <a:ext cx="24853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screengrab, snapshot</a:t>
            </a:r>
            <a:endParaRPr lang="en-US" sz="1200" dirty="0"/>
          </a:p>
        </p:txBody>
      </p:sp>
      <p:sp>
        <p:nvSpPr>
          <p:cNvPr id="27" name="Text 25"/>
          <p:cNvSpPr/>
          <p:nvPr/>
        </p:nvSpPr>
        <p:spPr>
          <a:xfrm>
            <a:off x="8420100" y="4274827"/>
            <a:ext cx="304787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Store screenshots</a:t>
            </a:r>
            <a:endParaRPr lang="en-US" sz="1200" dirty="0"/>
          </a:p>
        </p:txBody>
      </p:sp>
      <p:sp>
        <p:nvSpPr>
          <p:cNvPr id="28" name="Text 26"/>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9" name="Text 27"/>
          <p:cNvSpPr/>
          <p:nvPr/>
        </p:nvSpPr>
        <p:spPr>
          <a:xfrm>
            <a:off x="5901293" y="6238242"/>
            <a:ext cx="564224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mobile/fastlane/Fastfile · parsed by fastlane 2.240.1 · quote: docs.fastlane.tools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BETA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Getting builds to testers before users</a:t>
            </a:r>
            <a:endParaRPr lang="en-US" sz="3200" dirty="0"/>
          </a:p>
        </p:txBody>
      </p:sp>
      <p:sp>
        <p:nvSpPr>
          <p:cNvPr id="4" name="Shape 2"/>
          <p:cNvSpPr/>
          <p:nvPr/>
        </p:nvSpPr>
        <p:spPr>
          <a:xfrm>
            <a:off x="815975" y="1831975"/>
            <a:ext cx="3380264" cy="2863850"/>
          </a:xfrm>
          <a:prstGeom prst="roundRect">
            <a:avLst>
              <a:gd name="adj" fmla="val 2550"/>
            </a:avLst>
          </a:prstGeom>
          <a:solidFill>
            <a:srgbClr val="FCFBF7"/>
          </a:solidFill>
          <a:ln w="6350">
            <a:solidFill>
              <a:srgbClr val="DDD8CC"/>
            </a:solidFill>
            <a:prstDash val="solid"/>
          </a:ln>
        </p:spPr>
      </p:sp>
      <p:sp>
        <p:nvSpPr>
          <p:cNvPr id="5" name="Text 3"/>
          <p:cNvSpPr/>
          <p:nvPr/>
        </p:nvSpPr>
        <p:spPr>
          <a:xfrm>
            <a:off x="1021080" y="2037085"/>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IOS</a:t>
            </a:r>
            <a:endParaRPr lang="en-US" sz="1200" dirty="0"/>
          </a:p>
        </p:txBody>
      </p:sp>
      <p:sp>
        <p:nvSpPr>
          <p:cNvPr id="6" name="Text 4"/>
          <p:cNvSpPr/>
          <p:nvPr/>
        </p:nvSpPr>
        <p:spPr>
          <a:xfrm>
            <a:off x="1021080" y="2352042"/>
            <a:ext cx="3059155"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3233A"/>
                </a:solidFill>
                <a:latin typeface="IBM Plex Sans" pitchFamily="34" charset="0"/>
                <a:ea typeface="IBM Plex Sans" pitchFamily="34" charset="-122"/>
                <a:cs typeface="IBM Plex Sans" pitchFamily="34" charset="-120"/>
              </a:rPr>
              <a:t>TestFlight</a:t>
            </a:r>
            <a:endParaRPr lang="en-US" sz="1600" dirty="0"/>
          </a:p>
        </p:txBody>
      </p:sp>
      <p:sp>
        <p:nvSpPr>
          <p:cNvPr id="7" name="Text 5"/>
          <p:cNvSpPr/>
          <p:nvPr/>
        </p:nvSpPr>
        <p:spPr>
          <a:xfrm>
            <a:off x="1021080" y="2717800"/>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100</a:t>
            </a:r>
            <a:endParaRPr lang="en-US" sz="1600" dirty="0"/>
          </a:p>
        </p:txBody>
      </p:sp>
      <p:sp>
        <p:nvSpPr>
          <p:cNvPr id="8" name="Text 6"/>
          <p:cNvSpPr/>
          <p:nvPr/>
        </p:nvSpPr>
        <p:spPr>
          <a:xfrm>
            <a:off x="2202180" y="2763527"/>
            <a:ext cx="184262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internal testers from your team</a:t>
            </a:r>
            <a:endParaRPr lang="en-US" sz="1200" dirty="0"/>
          </a:p>
        </p:txBody>
      </p:sp>
      <p:sp>
        <p:nvSpPr>
          <p:cNvPr id="9" name="Text 7"/>
          <p:cNvSpPr/>
          <p:nvPr/>
        </p:nvSpPr>
        <p:spPr>
          <a:xfrm>
            <a:off x="1021080" y="3291842"/>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10,000</a:t>
            </a:r>
            <a:endParaRPr lang="en-US" sz="1600" dirty="0"/>
          </a:p>
        </p:txBody>
      </p:sp>
      <p:sp>
        <p:nvSpPr>
          <p:cNvPr id="10" name="Text 8"/>
          <p:cNvSpPr/>
          <p:nvPr/>
        </p:nvSpPr>
        <p:spPr>
          <a:xfrm>
            <a:off x="2202180" y="3337558"/>
            <a:ext cx="18426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external testers</a:t>
            </a:r>
            <a:endParaRPr lang="en-US" sz="1200" dirty="0"/>
          </a:p>
        </p:txBody>
      </p:sp>
      <p:sp>
        <p:nvSpPr>
          <p:cNvPr id="11" name="Text 9"/>
          <p:cNvSpPr/>
          <p:nvPr/>
        </p:nvSpPr>
        <p:spPr>
          <a:xfrm>
            <a:off x="1021080" y="3677927"/>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90 days</a:t>
            </a:r>
            <a:endParaRPr lang="en-US" sz="1600" dirty="0"/>
          </a:p>
        </p:txBody>
      </p:sp>
      <p:sp>
        <p:nvSpPr>
          <p:cNvPr id="12" name="Text 10"/>
          <p:cNvSpPr/>
          <p:nvPr/>
        </p:nvSpPr>
        <p:spPr>
          <a:xfrm>
            <a:off x="2202180" y="3723642"/>
            <a:ext cx="184262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to test each build</a:t>
            </a:r>
            <a:endParaRPr lang="en-US" sz="1200" dirty="0"/>
          </a:p>
        </p:txBody>
      </p:sp>
      <p:sp>
        <p:nvSpPr>
          <p:cNvPr id="13" name="Text 11"/>
          <p:cNvSpPr/>
          <p:nvPr/>
        </p:nvSpPr>
        <p:spPr>
          <a:xfrm>
            <a:off x="1021080" y="4064000"/>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first build for external testers goes through App Review.</a:t>
            </a:r>
            <a:endParaRPr lang="en-US" sz="1200" dirty="0"/>
          </a:p>
        </p:txBody>
      </p:sp>
      <p:sp>
        <p:nvSpPr>
          <p:cNvPr id="14" name="Shape 12"/>
          <p:cNvSpPr/>
          <p:nvPr/>
        </p:nvSpPr>
        <p:spPr>
          <a:xfrm>
            <a:off x="4405789" y="1831975"/>
            <a:ext cx="3380343" cy="2863850"/>
          </a:xfrm>
          <a:prstGeom prst="roundRect">
            <a:avLst>
              <a:gd name="adj" fmla="val 2550"/>
            </a:avLst>
          </a:prstGeom>
          <a:solidFill>
            <a:srgbClr val="FCFBF7"/>
          </a:solidFill>
          <a:ln w="6350">
            <a:solidFill>
              <a:srgbClr val="DDD8CC"/>
            </a:solidFill>
            <a:prstDash val="solid"/>
          </a:ln>
        </p:spPr>
      </p:sp>
      <p:sp>
        <p:nvSpPr>
          <p:cNvPr id="15" name="Text 13"/>
          <p:cNvSpPr/>
          <p:nvPr/>
        </p:nvSpPr>
        <p:spPr>
          <a:xfrm>
            <a:off x="4610894" y="2037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ANDROID</a:t>
            </a:r>
            <a:endParaRPr lang="en-US" sz="1200" dirty="0"/>
          </a:p>
        </p:txBody>
      </p:sp>
      <p:sp>
        <p:nvSpPr>
          <p:cNvPr id="16" name="Text 14"/>
          <p:cNvSpPr/>
          <p:nvPr/>
        </p:nvSpPr>
        <p:spPr>
          <a:xfrm>
            <a:off x="4610894" y="2352042"/>
            <a:ext cx="3059237"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3233A"/>
                </a:solidFill>
                <a:latin typeface="IBM Plex Sans" pitchFamily="34" charset="0"/>
                <a:ea typeface="IBM Plex Sans" pitchFamily="34" charset="-122"/>
                <a:cs typeface="IBM Plex Sans" pitchFamily="34" charset="-120"/>
              </a:rPr>
              <a:t>Google Play tracks</a:t>
            </a:r>
            <a:endParaRPr lang="en-US" sz="1600" dirty="0"/>
          </a:p>
        </p:txBody>
      </p:sp>
      <p:sp>
        <p:nvSpPr>
          <p:cNvPr id="17" name="Text 15"/>
          <p:cNvSpPr/>
          <p:nvPr/>
        </p:nvSpPr>
        <p:spPr>
          <a:xfrm>
            <a:off x="4610894" y="2717800"/>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Internal</a:t>
            </a:r>
            <a:endParaRPr lang="en-US" sz="1600" dirty="0"/>
          </a:p>
        </p:txBody>
      </p:sp>
      <p:sp>
        <p:nvSpPr>
          <p:cNvPr id="18" name="Text 16"/>
          <p:cNvSpPr/>
          <p:nvPr/>
        </p:nvSpPr>
        <p:spPr>
          <a:xfrm>
            <a:off x="5791994" y="2763527"/>
            <a:ext cx="18427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up to 100 testers</a:t>
            </a:r>
            <a:endParaRPr lang="en-US" sz="1200" dirty="0"/>
          </a:p>
        </p:txBody>
      </p:sp>
      <p:sp>
        <p:nvSpPr>
          <p:cNvPr id="19" name="Text 17"/>
          <p:cNvSpPr/>
          <p:nvPr/>
        </p:nvSpPr>
        <p:spPr>
          <a:xfrm>
            <a:off x="4610894" y="3103885"/>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Closed</a:t>
            </a:r>
            <a:endParaRPr lang="en-US" sz="1600" dirty="0"/>
          </a:p>
        </p:txBody>
      </p:sp>
      <p:sp>
        <p:nvSpPr>
          <p:cNvPr id="20" name="Text 18"/>
          <p:cNvSpPr/>
          <p:nvPr/>
        </p:nvSpPr>
        <p:spPr>
          <a:xfrm>
            <a:off x="5791994" y="3149600"/>
            <a:ext cx="184270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wider set of invited testers</a:t>
            </a:r>
            <a:endParaRPr lang="en-US" sz="1200" dirty="0"/>
          </a:p>
        </p:txBody>
      </p:sp>
      <p:sp>
        <p:nvSpPr>
          <p:cNvPr id="21" name="Text 19"/>
          <p:cNvSpPr/>
          <p:nvPr/>
        </p:nvSpPr>
        <p:spPr>
          <a:xfrm>
            <a:off x="4610894" y="3677927"/>
            <a:ext cx="1130300" cy="30988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245A9C"/>
                </a:solidFill>
                <a:latin typeface="Space Grotesk" pitchFamily="34" charset="0"/>
                <a:ea typeface="Space Grotesk" pitchFamily="34" charset="-122"/>
                <a:cs typeface="Space Grotesk" pitchFamily="34" charset="-120"/>
              </a:rPr>
              <a:t>Open</a:t>
            </a:r>
            <a:endParaRPr lang="en-US" sz="1600" dirty="0"/>
          </a:p>
        </p:txBody>
      </p:sp>
      <p:sp>
        <p:nvSpPr>
          <p:cNvPr id="22" name="Text 20"/>
          <p:cNvSpPr/>
          <p:nvPr/>
        </p:nvSpPr>
        <p:spPr>
          <a:xfrm>
            <a:off x="5791994" y="3723642"/>
            <a:ext cx="184270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anyone can join</a:t>
            </a:r>
            <a:endParaRPr lang="en-US" sz="1200" dirty="0"/>
          </a:p>
        </p:txBody>
      </p:sp>
      <p:sp>
        <p:nvSpPr>
          <p:cNvPr id="23" name="Text 21"/>
          <p:cNvSpPr/>
          <p:nvPr/>
        </p:nvSpPr>
        <p:spPr>
          <a:xfrm>
            <a:off x="4610894" y="4064000"/>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 tested release can be promoted to the next track.</a:t>
            </a:r>
            <a:endParaRPr lang="en-US" sz="1200" dirty="0"/>
          </a:p>
        </p:txBody>
      </p:sp>
      <p:sp>
        <p:nvSpPr>
          <p:cNvPr id="24" name="Shape 22"/>
          <p:cNvSpPr/>
          <p:nvPr/>
        </p:nvSpPr>
        <p:spPr>
          <a:xfrm>
            <a:off x="7995682" y="1831975"/>
            <a:ext cx="3380343" cy="2863850"/>
          </a:xfrm>
          <a:prstGeom prst="roundRect">
            <a:avLst>
              <a:gd name="adj" fmla="val 2550"/>
            </a:avLst>
          </a:prstGeom>
          <a:solidFill>
            <a:srgbClr val="FCFBF7"/>
          </a:solidFill>
          <a:ln w="6350">
            <a:solidFill>
              <a:srgbClr val="DDD8CC"/>
            </a:solidFill>
            <a:prstDash val="solid"/>
          </a:ln>
        </p:spPr>
      </p:sp>
      <p:sp>
        <p:nvSpPr>
          <p:cNvPr id="25" name="Text 23"/>
          <p:cNvSpPr/>
          <p:nvPr/>
        </p:nvSpPr>
        <p:spPr>
          <a:xfrm>
            <a:off x="8200787" y="2037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ANDROID AND IOS</a:t>
            </a:r>
            <a:endParaRPr lang="en-US" sz="1200" dirty="0"/>
          </a:p>
        </p:txBody>
      </p:sp>
      <p:sp>
        <p:nvSpPr>
          <p:cNvPr id="26" name="Text 24"/>
          <p:cNvSpPr/>
          <p:nvPr/>
        </p:nvSpPr>
        <p:spPr>
          <a:xfrm>
            <a:off x="8200787" y="2352042"/>
            <a:ext cx="3059237" cy="289560"/>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3233A"/>
                </a:solidFill>
                <a:latin typeface="IBM Plex Sans" pitchFamily="34" charset="0"/>
                <a:ea typeface="IBM Plex Sans" pitchFamily="34" charset="-122"/>
                <a:cs typeface="IBM Plex Sans" pitchFamily="34" charset="-120"/>
              </a:rPr>
              <a:t>Firebase App Distribution</a:t>
            </a:r>
            <a:endParaRPr lang="en-US" sz="1600" dirty="0"/>
          </a:p>
        </p:txBody>
      </p:sp>
      <p:sp>
        <p:nvSpPr>
          <p:cNvPr id="27" name="Text 25"/>
          <p:cNvSpPr/>
          <p:nvPr/>
        </p:nvSpPr>
        <p:spPr>
          <a:xfrm>
            <a:off x="8200787" y="2717800"/>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“makes distributing your apps to trusted testers painless”</a:t>
            </a:r>
            <a:endParaRPr lang="en-US" sz="1400" dirty="0"/>
          </a:p>
        </p:txBody>
      </p:sp>
      <p:sp>
        <p:nvSpPr>
          <p:cNvPr id="28" name="Text 26"/>
          <p:cNvSpPr/>
          <p:nvPr/>
        </p:nvSpPr>
        <p:spPr>
          <a:xfrm>
            <a:off x="8200787" y="3317242"/>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Upload from the Firebase console or CLI, a fastlane plugin, or Gradle.</a:t>
            </a:r>
            <a:endParaRPr lang="en-US" sz="1200" dirty="0"/>
          </a:p>
        </p:txBody>
      </p:sp>
      <p:sp>
        <p:nvSpPr>
          <p:cNvPr id="29" name="Text 2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0" name="Text 28"/>
          <p:cNvSpPr/>
          <p:nvPr/>
        </p:nvSpPr>
        <p:spPr>
          <a:xfrm>
            <a:off x="5156994" y="6238242"/>
            <a:ext cx="640887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Limits from Apple’s TestFlight overview and the Google Play Console help, September 2026</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STAGED ROLLOUT</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Release to a few users first</a:t>
            </a:r>
            <a:endParaRPr lang="en-US" sz="3200" dirty="0"/>
          </a:p>
        </p:txBody>
      </p:sp>
      <p:sp>
        <p:nvSpPr>
          <p:cNvPr id="4" name="Text 2"/>
          <p:cNvSpPr/>
          <p:nvPr/>
        </p:nvSpPr>
        <p:spPr>
          <a:xfrm>
            <a:off x="812800" y="1828800"/>
            <a:ext cx="562483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APP STORE PHASED RELEASE: SHARE OF USERS</a:t>
            </a:r>
            <a:endParaRPr lang="en-US" sz="1200" dirty="0"/>
          </a:p>
        </p:txBody>
      </p:sp>
      <p:sp>
        <p:nvSpPr>
          <p:cNvPr id="5" name="Shape 3"/>
          <p:cNvSpPr/>
          <p:nvPr/>
        </p:nvSpPr>
        <p:spPr>
          <a:xfrm>
            <a:off x="812800" y="4213858"/>
            <a:ext cx="508000" cy="25400"/>
          </a:xfrm>
          <a:prstGeom prst="rect">
            <a:avLst/>
          </a:prstGeom>
          <a:solidFill>
            <a:srgbClr val="E98B53"/>
          </a:solidFill>
          <a:ln/>
        </p:spPr>
      </p:sp>
      <p:sp>
        <p:nvSpPr>
          <p:cNvPr id="6" name="Shape 4"/>
          <p:cNvSpPr/>
          <p:nvPr/>
        </p:nvSpPr>
        <p:spPr>
          <a:xfrm>
            <a:off x="1549400" y="4201158"/>
            <a:ext cx="508000" cy="38100"/>
          </a:xfrm>
          <a:prstGeom prst="rect">
            <a:avLst/>
          </a:prstGeom>
          <a:solidFill>
            <a:srgbClr val="E98B53"/>
          </a:solidFill>
          <a:ln/>
        </p:spPr>
      </p:sp>
      <p:sp>
        <p:nvSpPr>
          <p:cNvPr id="7" name="Shape 5"/>
          <p:cNvSpPr/>
          <p:nvPr/>
        </p:nvSpPr>
        <p:spPr>
          <a:xfrm>
            <a:off x="2286000" y="4150358"/>
            <a:ext cx="508000" cy="88900"/>
          </a:xfrm>
          <a:prstGeom prst="rect">
            <a:avLst/>
          </a:prstGeom>
          <a:solidFill>
            <a:srgbClr val="E98B53"/>
          </a:solidFill>
          <a:ln/>
        </p:spPr>
      </p:sp>
      <p:sp>
        <p:nvSpPr>
          <p:cNvPr id="8" name="Shape 6"/>
          <p:cNvSpPr/>
          <p:nvPr/>
        </p:nvSpPr>
        <p:spPr>
          <a:xfrm>
            <a:off x="3022600" y="4061458"/>
            <a:ext cx="508000" cy="177800"/>
          </a:xfrm>
          <a:prstGeom prst="rect">
            <a:avLst/>
          </a:prstGeom>
          <a:solidFill>
            <a:srgbClr val="E98B53"/>
          </a:solidFill>
          <a:ln/>
        </p:spPr>
      </p:sp>
      <p:sp>
        <p:nvSpPr>
          <p:cNvPr id="9" name="Shape 7"/>
          <p:cNvSpPr/>
          <p:nvPr/>
        </p:nvSpPr>
        <p:spPr>
          <a:xfrm>
            <a:off x="3759200" y="3883658"/>
            <a:ext cx="508000" cy="355600"/>
          </a:xfrm>
          <a:prstGeom prst="rect">
            <a:avLst/>
          </a:prstGeom>
          <a:solidFill>
            <a:srgbClr val="E98B53"/>
          </a:solidFill>
          <a:ln/>
        </p:spPr>
      </p:sp>
      <p:sp>
        <p:nvSpPr>
          <p:cNvPr id="10" name="Shape 8"/>
          <p:cNvSpPr/>
          <p:nvPr/>
        </p:nvSpPr>
        <p:spPr>
          <a:xfrm>
            <a:off x="4495800" y="3350258"/>
            <a:ext cx="508000" cy="889000"/>
          </a:xfrm>
          <a:prstGeom prst="rect">
            <a:avLst/>
          </a:prstGeom>
          <a:solidFill>
            <a:srgbClr val="E98B53"/>
          </a:solidFill>
          <a:ln/>
        </p:spPr>
      </p:sp>
      <p:sp>
        <p:nvSpPr>
          <p:cNvPr id="11" name="Shape 9"/>
          <p:cNvSpPr/>
          <p:nvPr/>
        </p:nvSpPr>
        <p:spPr>
          <a:xfrm>
            <a:off x="5232400" y="2461258"/>
            <a:ext cx="508000" cy="1778000"/>
          </a:xfrm>
          <a:prstGeom prst="rect">
            <a:avLst/>
          </a:prstGeom>
          <a:solidFill>
            <a:srgbClr val="A9481A"/>
          </a:solidFill>
          <a:ln/>
        </p:spPr>
      </p:sp>
      <p:sp>
        <p:nvSpPr>
          <p:cNvPr id="12" name="Text 10"/>
          <p:cNvSpPr/>
          <p:nvPr/>
        </p:nvSpPr>
        <p:spPr>
          <a:xfrm>
            <a:off x="787400" y="39344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1%</a:t>
            </a:r>
            <a:endParaRPr lang="en-US" sz="1200" dirty="0"/>
          </a:p>
        </p:txBody>
      </p:sp>
      <p:sp>
        <p:nvSpPr>
          <p:cNvPr id="13" name="Text 11"/>
          <p:cNvSpPr/>
          <p:nvPr/>
        </p:nvSpPr>
        <p:spPr>
          <a:xfrm>
            <a:off x="1524000" y="39217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2%</a:t>
            </a:r>
            <a:endParaRPr lang="en-US" sz="1200" dirty="0"/>
          </a:p>
        </p:txBody>
      </p:sp>
      <p:sp>
        <p:nvSpPr>
          <p:cNvPr id="14" name="Text 12"/>
          <p:cNvSpPr/>
          <p:nvPr/>
        </p:nvSpPr>
        <p:spPr>
          <a:xfrm>
            <a:off x="2260600" y="38709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5%</a:t>
            </a:r>
            <a:endParaRPr lang="en-US" sz="1200" dirty="0"/>
          </a:p>
        </p:txBody>
      </p:sp>
      <p:sp>
        <p:nvSpPr>
          <p:cNvPr id="15" name="Text 13"/>
          <p:cNvSpPr/>
          <p:nvPr/>
        </p:nvSpPr>
        <p:spPr>
          <a:xfrm>
            <a:off x="2997200" y="37820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10%</a:t>
            </a:r>
            <a:endParaRPr lang="en-US" sz="1200" dirty="0"/>
          </a:p>
        </p:txBody>
      </p:sp>
      <p:sp>
        <p:nvSpPr>
          <p:cNvPr id="16" name="Text 14"/>
          <p:cNvSpPr/>
          <p:nvPr/>
        </p:nvSpPr>
        <p:spPr>
          <a:xfrm>
            <a:off x="3733800" y="36042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20%</a:t>
            </a:r>
            <a:endParaRPr lang="en-US" sz="1200" dirty="0"/>
          </a:p>
        </p:txBody>
      </p:sp>
      <p:sp>
        <p:nvSpPr>
          <p:cNvPr id="17" name="Text 15"/>
          <p:cNvSpPr/>
          <p:nvPr/>
        </p:nvSpPr>
        <p:spPr>
          <a:xfrm>
            <a:off x="4470400" y="30708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50%</a:t>
            </a:r>
            <a:endParaRPr lang="en-US" sz="1200" dirty="0"/>
          </a:p>
        </p:txBody>
      </p:sp>
      <p:sp>
        <p:nvSpPr>
          <p:cNvPr id="18" name="Text 16"/>
          <p:cNvSpPr/>
          <p:nvPr/>
        </p:nvSpPr>
        <p:spPr>
          <a:xfrm>
            <a:off x="5143500" y="2181858"/>
            <a:ext cx="685800" cy="23876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3233A"/>
                </a:solidFill>
                <a:latin typeface="JetBrains Mono" pitchFamily="34" charset="0"/>
                <a:ea typeface="JetBrains Mono" pitchFamily="34" charset="-122"/>
                <a:cs typeface="JetBrains Mono" pitchFamily="34" charset="-120"/>
              </a:rPr>
              <a:t>100%</a:t>
            </a:r>
            <a:endParaRPr lang="en-US" sz="1200" dirty="0"/>
          </a:p>
        </p:txBody>
      </p:sp>
      <p:sp>
        <p:nvSpPr>
          <p:cNvPr id="19" name="Shape 17"/>
          <p:cNvSpPr/>
          <p:nvPr/>
        </p:nvSpPr>
        <p:spPr>
          <a:xfrm>
            <a:off x="812800" y="4239258"/>
            <a:ext cx="4927600" cy="12700"/>
          </a:xfrm>
          <a:prstGeom prst="rect">
            <a:avLst/>
          </a:prstGeom>
          <a:solidFill>
            <a:srgbClr val="5E6977"/>
          </a:solidFill>
          <a:ln/>
        </p:spPr>
      </p:sp>
      <p:sp>
        <p:nvSpPr>
          <p:cNvPr id="20" name="Text 18"/>
          <p:cNvSpPr/>
          <p:nvPr/>
        </p:nvSpPr>
        <p:spPr>
          <a:xfrm>
            <a:off x="7874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1</a:t>
            </a:r>
            <a:endParaRPr lang="en-US" sz="1200" dirty="0"/>
          </a:p>
        </p:txBody>
      </p:sp>
      <p:sp>
        <p:nvSpPr>
          <p:cNvPr id="21" name="Text 19"/>
          <p:cNvSpPr/>
          <p:nvPr/>
        </p:nvSpPr>
        <p:spPr>
          <a:xfrm>
            <a:off x="15240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2</a:t>
            </a:r>
            <a:endParaRPr lang="en-US" sz="1200" dirty="0"/>
          </a:p>
        </p:txBody>
      </p:sp>
      <p:sp>
        <p:nvSpPr>
          <p:cNvPr id="22" name="Text 20"/>
          <p:cNvSpPr/>
          <p:nvPr/>
        </p:nvSpPr>
        <p:spPr>
          <a:xfrm>
            <a:off x="22606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3</a:t>
            </a:r>
            <a:endParaRPr lang="en-US" sz="1200" dirty="0"/>
          </a:p>
        </p:txBody>
      </p:sp>
      <p:sp>
        <p:nvSpPr>
          <p:cNvPr id="23" name="Text 21"/>
          <p:cNvSpPr/>
          <p:nvPr/>
        </p:nvSpPr>
        <p:spPr>
          <a:xfrm>
            <a:off x="29972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4</a:t>
            </a:r>
            <a:endParaRPr lang="en-US" sz="1200" dirty="0"/>
          </a:p>
        </p:txBody>
      </p:sp>
      <p:sp>
        <p:nvSpPr>
          <p:cNvPr id="24" name="Text 22"/>
          <p:cNvSpPr/>
          <p:nvPr/>
        </p:nvSpPr>
        <p:spPr>
          <a:xfrm>
            <a:off x="37338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5</a:t>
            </a:r>
            <a:endParaRPr lang="en-US" sz="1200" dirty="0"/>
          </a:p>
        </p:txBody>
      </p:sp>
      <p:sp>
        <p:nvSpPr>
          <p:cNvPr id="25" name="Text 23"/>
          <p:cNvSpPr/>
          <p:nvPr/>
        </p:nvSpPr>
        <p:spPr>
          <a:xfrm>
            <a:off x="44704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6</a:t>
            </a:r>
            <a:endParaRPr lang="en-US" sz="1200" dirty="0"/>
          </a:p>
        </p:txBody>
      </p:sp>
      <p:sp>
        <p:nvSpPr>
          <p:cNvPr id="26" name="Text 24"/>
          <p:cNvSpPr/>
          <p:nvPr/>
        </p:nvSpPr>
        <p:spPr>
          <a:xfrm>
            <a:off x="5207000" y="4328158"/>
            <a:ext cx="558800"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Day 7</a:t>
            </a:r>
            <a:endParaRPr lang="en-US" sz="1200" dirty="0"/>
          </a:p>
        </p:txBody>
      </p:sp>
      <p:sp>
        <p:nvSpPr>
          <p:cNvPr id="27" name="Shape 25"/>
          <p:cNvSpPr/>
          <p:nvPr/>
        </p:nvSpPr>
        <p:spPr>
          <a:xfrm>
            <a:off x="6578600" y="1835150"/>
            <a:ext cx="4800600" cy="0"/>
          </a:xfrm>
          <a:prstGeom prst="line">
            <a:avLst/>
          </a:prstGeom>
          <a:noFill/>
          <a:ln w="12700">
            <a:solidFill>
              <a:srgbClr val="A9481A"/>
            </a:solidFill>
            <a:prstDash val="solid"/>
          </a:ln>
        </p:spPr>
      </p:sp>
      <p:sp>
        <p:nvSpPr>
          <p:cNvPr id="28" name="Text 26"/>
          <p:cNvSpPr/>
          <p:nvPr/>
        </p:nvSpPr>
        <p:spPr>
          <a:xfrm>
            <a:off x="6578600" y="1940558"/>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APP STORE</a:t>
            </a:r>
            <a:endParaRPr lang="en-US" sz="1200" dirty="0"/>
          </a:p>
        </p:txBody>
      </p:sp>
      <p:sp>
        <p:nvSpPr>
          <p:cNvPr id="29" name="Text 27"/>
          <p:cNvSpPr/>
          <p:nvPr/>
        </p:nvSpPr>
        <p:spPr>
          <a:xfrm>
            <a:off x="6578600" y="2217427"/>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Goes to a random sample of users with automatic updates</a:t>
            </a:r>
            <a:endParaRPr lang="en-US" sz="1200" dirty="0"/>
          </a:p>
        </p:txBody>
      </p:sp>
      <p:sp>
        <p:nvSpPr>
          <p:cNvPr id="30" name="Text 28"/>
          <p:cNvSpPr/>
          <p:nvPr/>
        </p:nvSpPr>
        <p:spPr>
          <a:xfrm>
            <a:off x="6578600" y="2494285"/>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Pause “for up to 30 days, with no limit on the number of pauses”</a:t>
            </a:r>
            <a:endParaRPr lang="en-US" sz="1200" dirty="0"/>
          </a:p>
        </p:txBody>
      </p:sp>
      <p:sp>
        <p:nvSpPr>
          <p:cNvPr id="31" name="Text 29"/>
          <p:cNvSpPr/>
          <p:nvPr/>
        </p:nvSpPr>
        <p:spPr>
          <a:xfrm>
            <a:off x="6578600" y="2771142"/>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Anyone can still update by hand at any time</a:t>
            </a:r>
            <a:endParaRPr lang="en-US" sz="1200" dirty="0"/>
          </a:p>
        </p:txBody>
      </p:sp>
      <p:sp>
        <p:nvSpPr>
          <p:cNvPr id="32" name="Shape 30"/>
          <p:cNvSpPr/>
          <p:nvPr/>
        </p:nvSpPr>
        <p:spPr>
          <a:xfrm>
            <a:off x="6578600" y="3194050"/>
            <a:ext cx="4800600" cy="0"/>
          </a:xfrm>
          <a:prstGeom prst="line">
            <a:avLst/>
          </a:prstGeom>
          <a:noFill/>
          <a:ln w="12700">
            <a:solidFill>
              <a:srgbClr val="245A9C"/>
            </a:solidFill>
            <a:prstDash val="solid"/>
          </a:ln>
        </p:spPr>
      </p:sp>
      <p:sp>
        <p:nvSpPr>
          <p:cNvPr id="33" name="Text 31"/>
          <p:cNvSpPr/>
          <p:nvPr/>
        </p:nvSpPr>
        <p:spPr>
          <a:xfrm>
            <a:off x="6578600" y="3299458"/>
            <a:ext cx="494461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GOOGLE PLAY</a:t>
            </a:r>
            <a:endParaRPr lang="en-US" sz="1200" dirty="0"/>
          </a:p>
        </p:txBody>
      </p:sp>
      <p:sp>
        <p:nvSpPr>
          <p:cNvPr id="34" name="Text 32"/>
          <p:cNvSpPr/>
          <p:nvPr/>
        </p:nvSpPr>
        <p:spPr>
          <a:xfrm>
            <a:off x="6578600" y="3576327"/>
            <a:ext cx="4944618"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“your update reaches only a percentage of your users, which you can increase over time”</a:t>
            </a:r>
            <a:endParaRPr lang="en-US" sz="1200" dirty="0"/>
          </a:p>
        </p:txBody>
      </p:sp>
      <p:sp>
        <p:nvSpPr>
          <p:cNvPr id="35" name="Text 33"/>
          <p:cNvSpPr/>
          <p:nvPr/>
        </p:nvSpPr>
        <p:spPr>
          <a:xfrm>
            <a:off x="6578600" y="4066542"/>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percentage does not rise by itself; you choose each step</a:t>
            </a:r>
            <a:endParaRPr lang="en-US" sz="1200" dirty="0"/>
          </a:p>
        </p:txBody>
      </p:sp>
      <p:sp>
        <p:nvSpPr>
          <p:cNvPr id="36" name="Text 34"/>
          <p:cNvSpPr/>
          <p:nvPr/>
        </p:nvSpPr>
        <p:spPr>
          <a:xfrm>
            <a:off x="6578600" y="4343400"/>
            <a:ext cx="49446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Halt a bad rollout, then resume it</a:t>
            </a:r>
            <a:endParaRPr lang="en-US" sz="1200" dirty="0"/>
          </a:p>
        </p:txBody>
      </p:sp>
      <p:sp>
        <p:nvSpPr>
          <p:cNvPr id="37" name="Text 35"/>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8" name="Text 36"/>
          <p:cNvSpPr/>
          <p:nvPr/>
        </p:nvSpPr>
        <p:spPr>
          <a:xfrm>
            <a:off x="6249114" y="6238242"/>
            <a:ext cx="52839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developer.apple.com: phased release · support.google.com: staged rollouts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MONITORING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Watching a release in production</a:t>
            </a:r>
            <a:endParaRPr lang="en-US" sz="3200" dirty="0"/>
          </a:p>
        </p:txBody>
      </p:sp>
      <p:sp>
        <p:nvSpPr>
          <p:cNvPr id="4" name="Shape 2"/>
          <p:cNvSpPr/>
          <p:nvPr/>
        </p:nvSpPr>
        <p:spPr>
          <a:xfrm>
            <a:off x="815975" y="1831975"/>
            <a:ext cx="5175250" cy="1949450"/>
          </a:xfrm>
          <a:prstGeom prst="roundRect">
            <a:avLst>
              <a:gd name="adj" fmla="val 3746"/>
            </a:avLst>
          </a:prstGeom>
          <a:solidFill>
            <a:srgbClr val="FCFBF7"/>
          </a:solidFill>
          <a:ln w="6350">
            <a:solidFill>
              <a:srgbClr val="DDD8CC"/>
            </a:solidFill>
            <a:prstDash val="solid"/>
          </a:ln>
        </p:spPr>
      </p:sp>
      <p:sp>
        <p:nvSpPr>
          <p:cNvPr id="5" name="Text 3"/>
          <p:cNvSpPr/>
          <p:nvPr/>
        </p:nvSpPr>
        <p:spPr>
          <a:xfrm>
            <a:off x="1021080" y="2037085"/>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FIREBASE CRASHLYTICS</a:t>
            </a:r>
            <a:endParaRPr lang="en-US" sz="1200" dirty="0"/>
          </a:p>
        </p:txBody>
      </p:sp>
      <p:sp>
        <p:nvSpPr>
          <p:cNvPr id="6" name="Text 4"/>
          <p:cNvSpPr/>
          <p:nvPr/>
        </p:nvSpPr>
        <p:spPr>
          <a:xfrm>
            <a:off x="1021080" y="2326642"/>
            <a:ext cx="4907991"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lightweight, realtime crash reporter that helps you track, prioritize, and fix stability issues that erode your app quality.”</a:t>
            </a:r>
            <a:endParaRPr lang="en-US" sz="1400" dirty="0"/>
          </a:p>
        </p:txBody>
      </p:sp>
      <p:sp>
        <p:nvSpPr>
          <p:cNvPr id="7" name="Text 5"/>
          <p:cNvSpPr/>
          <p:nvPr/>
        </p:nvSpPr>
        <p:spPr>
          <a:xfrm>
            <a:off x="1021080" y="3149600"/>
            <a:ext cx="490799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Each crash arrives with its stack trace, device, OS version and app version</a:t>
            </a:r>
            <a:endParaRPr lang="en-US" sz="1200" dirty="0"/>
          </a:p>
        </p:txBody>
      </p:sp>
      <p:sp>
        <p:nvSpPr>
          <p:cNvPr id="8" name="Shape 6"/>
          <p:cNvSpPr/>
          <p:nvPr/>
        </p:nvSpPr>
        <p:spPr>
          <a:xfrm>
            <a:off x="6200775" y="1831975"/>
            <a:ext cx="5175250" cy="1949450"/>
          </a:xfrm>
          <a:prstGeom prst="roundRect">
            <a:avLst>
              <a:gd name="adj" fmla="val 3746"/>
            </a:avLst>
          </a:prstGeom>
          <a:solidFill>
            <a:srgbClr val="FCFBF7"/>
          </a:solidFill>
          <a:ln w="6350">
            <a:solidFill>
              <a:srgbClr val="DDD8CC"/>
            </a:solidFill>
            <a:prstDash val="solid"/>
          </a:ln>
        </p:spPr>
      </p:sp>
      <p:sp>
        <p:nvSpPr>
          <p:cNvPr id="9" name="Text 7"/>
          <p:cNvSpPr/>
          <p:nvPr/>
        </p:nvSpPr>
        <p:spPr>
          <a:xfrm>
            <a:off x="6405880" y="2037085"/>
            <a:ext cx="4907991"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FIREBASE REMOTE CONFIG</a:t>
            </a:r>
            <a:endParaRPr lang="en-US" sz="1200" dirty="0"/>
          </a:p>
        </p:txBody>
      </p:sp>
      <p:sp>
        <p:nvSpPr>
          <p:cNvPr id="10" name="Text 8"/>
          <p:cNvSpPr/>
          <p:nvPr/>
        </p:nvSpPr>
        <p:spPr>
          <a:xfrm>
            <a:off x="6405880" y="2326642"/>
            <a:ext cx="490799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Changes “the behavior and appearance of your client app or server without requiring users to download an app update.”</a:t>
            </a:r>
            <a:endParaRPr lang="en-US" sz="1400" dirty="0"/>
          </a:p>
        </p:txBody>
      </p:sp>
      <p:sp>
        <p:nvSpPr>
          <p:cNvPr id="11" name="Text 9"/>
          <p:cNvSpPr/>
          <p:nvPr/>
        </p:nvSpPr>
        <p:spPr>
          <a:xfrm>
            <a:off x="6405880" y="2900685"/>
            <a:ext cx="490799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A feature flag can switch off a broken screen with no new release</a:t>
            </a:r>
            <a:endParaRPr lang="en-US" sz="1200" dirty="0"/>
          </a:p>
        </p:txBody>
      </p:sp>
      <p:sp>
        <p:nvSpPr>
          <p:cNvPr id="12" name="Text 10"/>
          <p:cNvSpPr/>
          <p:nvPr/>
        </p:nvSpPr>
        <p:spPr>
          <a:xfrm>
            <a:off x="812800" y="4038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EVERY PRODUCTION CRASH BECOMES A TEST</a:t>
            </a:r>
            <a:endParaRPr lang="en-US" sz="1200" dirty="0"/>
          </a:p>
        </p:txBody>
      </p:sp>
      <p:sp>
        <p:nvSpPr>
          <p:cNvPr id="13" name="Shape 11"/>
          <p:cNvSpPr/>
          <p:nvPr/>
        </p:nvSpPr>
        <p:spPr>
          <a:xfrm>
            <a:off x="812800" y="4328158"/>
            <a:ext cx="1866900" cy="406400"/>
          </a:xfrm>
          <a:prstGeom prst="roundRect">
            <a:avLst>
              <a:gd name="adj" fmla="val 50000"/>
            </a:avLst>
          </a:prstGeom>
          <a:solidFill>
            <a:srgbClr val="F7E3D5"/>
          </a:solidFill>
          <a:ln/>
        </p:spPr>
      </p:sp>
      <p:sp>
        <p:nvSpPr>
          <p:cNvPr id="14" name="Text 12"/>
          <p:cNvSpPr/>
          <p:nvPr/>
        </p:nvSpPr>
        <p:spPr>
          <a:xfrm>
            <a:off x="1224280" y="4424685"/>
            <a:ext cx="10947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Crash reported</a:t>
            </a:r>
            <a:endParaRPr lang="en-US" sz="1200" dirty="0"/>
          </a:p>
        </p:txBody>
      </p:sp>
      <p:sp>
        <p:nvSpPr>
          <p:cNvPr id="15" name="Shape 13"/>
          <p:cNvSpPr/>
          <p:nvPr/>
        </p:nvSpPr>
        <p:spPr>
          <a:xfrm>
            <a:off x="2984500" y="4328158"/>
            <a:ext cx="1866900" cy="406400"/>
          </a:xfrm>
          <a:prstGeom prst="roundRect">
            <a:avLst>
              <a:gd name="adj" fmla="val 50000"/>
            </a:avLst>
          </a:prstGeom>
          <a:solidFill>
            <a:srgbClr val="ECE8DE"/>
          </a:solidFill>
          <a:ln/>
        </p:spPr>
      </p:sp>
      <p:sp>
        <p:nvSpPr>
          <p:cNvPr id="16" name="Text 14"/>
          <p:cNvSpPr/>
          <p:nvPr/>
        </p:nvSpPr>
        <p:spPr>
          <a:xfrm>
            <a:off x="3474164" y="4424685"/>
            <a:ext cx="9382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Reproduce it</a:t>
            </a:r>
            <a:endParaRPr lang="en-US" sz="1200" dirty="0"/>
          </a:p>
        </p:txBody>
      </p:sp>
      <p:sp>
        <p:nvSpPr>
          <p:cNvPr id="17" name="Shape 15"/>
          <p:cNvSpPr/>
          <p:nvPr/>
        </p:nvSpPr>
        <p:spPr>
          <a:xfrm>
            <a:off x="5156200" y="4328158"/>
            <a:ext cx="1866900" cy="406400"/>
          </a:xfrm>
          <a:prstGeom prst="roundRect">
            <a:avLst>
              <a:gd name="adj" fmla="val 50000"/>
            </a:avLst>
          </a:prstGeom>
          <a:solidFill>
            <a:srgbClr val="DCE7F3"/>
          </a:solidFill>
          <a:ln/>
        </p:spPr>
      </p:sp>
      <p:sp>
        <p:nvSpPr>
          <p:cNvPr id="18" name="Text 16"/>
          <p:cNvSpPr/>
          <p:nvPr/>
        </p:nvSpPr>
        <p:spPr>
          <a:xfrm>
            <a:off x="5503625" y="4424685"/>
            <a:ext cx="122285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Add a failing test</a:t>
            </a:r>
            <a:endParaRPr lang="en-US" sz="1200" dirty="0"/>
          </a:p>
        </p:txBody>
      </p:sp>
      <p:sp>
        <p:nvSpPr>
          <p:cNvPr id="19" name="Shape 17"/>
          <p:cNvSpPr/>
          <p:nvPr/>
        </p:nvSpPr>
        <p:spPr>
          <a:xfrm>
            <a:off x="7327900" y="4328158"/>
            <a:ext cx="1866900" cy="406400"/>
          </a:xfrm>
          <a:prstGeom prst="roundRect">
            <a:avLst>
              <a:gd name="adj" fmla="val 50000"/>
            </a:avLst>
          </a:prstGeom>
          <a:solidFill>
            <a:srgbClr val="ECE8DE"/>
          </a:solidFill>
          <a:ln/>
        </p:spPr>
      </p:sp>
      <p:sp>
        <p:nvSpPr>
          <p:cNvPr id="20" name="Text 18"/>
          <p:cNvSpPr/>
          <p:nvPr/>
        </p:nvSpPr>
        <p:spPr>
          <a:xfrm>
            <a:off x="7721521" y="4424685"/>
            <a:ext cx="11304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Fix; test passes</a:t>
            </a:r>
            <a:endParaRPr lang="en-US" sz="1200" dirty="0"/>
          </a:p>
        </p:txBody>
      </p:sp>
      <p:sp>
        <p:nvSpPr>
          <p:cNvPr id="21" name="Shape 19"/>
          <p:cNvSpPr/>
          <p:nvPr/>
        </p:nvSpPr>
        <p:spPr>
          <a:xfrm>
            <a:off x="9499600" y="4328158"/>
            <a:ext cx="1879600" cy="406400"/>
          </a:xfrm>
          <a:prstGeom prst="roundRect">
            <a:avLst>
              <a:gd name="adj" fmla="val 50000"/>
            </a:avLst>
          </a:prstGeom>
          <a:solidFill>
            <a:srgbClr val="13233A"/>
          </a:solidFill>
          <a:ln/>
        </p:spPr>
      </p:sp>
      <p:sp>
        <p:nvSpPr>
          <p:cNvPr id="22" name="Text 20"/>
          <p:cNvSpPr/>
          <p:nvPr/>
        </p:nvSpPr>
        <p:spPr>
          <a:xfrm>
            <a:off x="9926082" y="4424685"/>
            <a:ext cx="107743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Release the fix</a:t>
            </a:r>
            <a:endParaRPr lang="en-US" sz="1200" dirty="0"/>
          </a:p>
        </p:txBody>
      </p:sp>
      <p:pic>
        <p:nvPicPr>
          <p:cNvPr id="23" name="Image 0" descr="connector">    </p:cNvPr>
          <p:cNvPicPr>
            <a:picLocks noChangeAspect="1"/>
          </p:cNvPicPr>
          <p:nvPr/>
        </p:nvPicPr>
        <p:blipFill>
          <a:blip r:embed="rId1"/>
          <a:srcRect l="0" r="0" t="0" b="0"/>
          <a:stretch/>
        </p:blipFill>
        <p:spPr>
          <a:xfrm>
            <a:off x="2628900" y="4480558"/>
            <a:ext cx="406400" cy="101600"/>
          </a:xfrm>
          <a:prstGeom prst="rect">
            <a:avLst/>
          </a:prstGeom>
        </p:spPr>
      </p:pic>
      <p:pic>
        <p:nvPicPr>
          <p:cNvPr id="24" name="Image 1" descr="connector">    </p:cNvPr>
          <p:cNvPicPr>
            <a:picLocks noChangeAspect="1"/>
          </p:cNvPicPr>
          <p:nvPr/>
        </p:nvPicPr>
        <p:blipFill>
          <a:blip r:embed="rId2"/>
          <a:srcRect l="0" r="0" t="0" b="0"/>
          <a:stretch/>
        </p:blipFill>
        <p:spPr>
          <a:xfrm>
            <a:off x="4800600" y="4480558"/>
            <a:ext cx="406400" cy="101600"/>
          </a:xfrm>
          <a:prstGeom prst="rect">
            <a:avLst/>
          </a:prstGeom>
        </p:spPr>
      </p:pic>
      <p:pic>
        <p:nvPicPr>
          <p:cNvPr id="25" name="Image 2" descr="connector">    </p:cNvPr>
          <p:cNvPicPr>
            <a:picLocks noChangeAspect="1"/>
          </p:cNvPicPr>
          <p:nvPr/>
        </p:nvPicPr>
        <p:blipFill>
          <a:blip r:embed="rId3"/>
          <a:srcRect l="0" r="0" t="0" b="0"/>
          <a:stretch/>
        </p:blipFill>
        <p:spPr>
          <a:xfrm>
            <a:off x="6972300" y="4480558"/>
            <a:ext cx="406400" cy="101600"/>
          </a:xfrm>
          <a:prstGeom prst="rect">
            <a:avLst/>
          </a:prstGeom>
        </p:spPr>
      </p:pic>
      <p:pic>
        <p:nvPicPr>
          <p:cNvPr id="26" name="Image 3" descr="connector">    </p:cNvPr>
          <p:cNvPicPr>
            <a:picLocks noChangeAspect="1"/>
          </p:cNvPicPr>
          <p:nvPr/>
        </p:nvPicPr>
        <p:blipFill>
          <a:blip r:embed="rId4"/>
          <a:srcRect l="0" r="0" t="0" b="0"/>
          <a:stretch/>
        </p:blipFill>
        <p:spPr>
          <a:xfrm>
            <a:off x="9144000" y="4480558"/>
            <a:ext cx="406400" cy="101600"/>
          </a:xfrm>
          <a:prstGeom prst="rect">
            <a:avLst/>
          </a:prstGeom>
        </p:spPr>
      </p:pic>
      <p:sp>
        <p:nvSpPr>
          <p:cNvPr id="27" name="Text 21"/>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8" name="Text 22"/>
          <p:cNvSpPr/>
          <p:nvPr/>
        </p:nvSpPr>
        <p:spPr>
          <a:xfrm>
            <a:off x="6483747" y="6238242"/>
            <a:ext cx="504231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Quotes: firebase.google.com/docs · Sentry and others offer similar tools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ROLE OF DEVOPS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DevOps does for mobile automation</a:t>
            </a:r>
            <a:endParaRPr lang="en-US" sz="3200" dirty="0"/>
          </a:p>
        </p:txBody>
      </p:sp>
      <p:sp>
        <p:nvSpPr>
          <p:cNvPr id="4" name="Shape 2"/>
          <p:cNvSpPr/>
          <p:nvPr/>
        </p:nvSpPr>
        <p:spPr>
          <a:xfrm>
            <a:off x="815975" y="1831975"/>
            <a:ext cx="5226050" cy="676910"/>
          </a:xfrm>
          <a:prstGeom prst="roundRect">
            <a:avLst>
              <a:gd name="adj" fmla="val 10788"/>
            </a:avLst>
          </a:prstGeom>
          <a:solidFill>
            <a:srgbClr val="FCFBF7"/>
          </a:solidFill>
          <a:ln w="6350">
            <a:solidFill>
              <a:srgbClr val="DDD8CC"/>
            </a:solidFill>
            <a:prstDash val="solid"/>
          </a:ln>
        </p:spPr>
      </p:sp>
      <p:sp>
        <p:nvSpPr>
          <p:cNvPr id="5" name="Text 3"/>
          <p:cNvSpPr/>
          <p:nvPr/>
        </p:nvSpPr>
        <p:spPr>
          <a:xfrm>
            <a:off x="970280" y="193548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52880" y="1935485"/>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Automate every build</a:t>
            </a:r>
            <a:endParaRPr lang="en-US" sz="1400" dirty="0"/>
          </a:p>
        </p:txBody>
      </p:sp>
      <p:sp>
        <p:nvSpPr>
          <p:cNvPr id="7" name="Text 5"/>
          <p:cNvSpPr/>
          <p:nvPr/>
        </p:nvSpPr>
        <p:spPr>
          <a:xfrm>
            <a:off x="1452880" y="2192027"/>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commit builds signed Android and iOS apps the same way</a:t>
            </a:r>
            <a:endParaRPr lang="en-US" sz="1200" dirty="0"/>
          </a:p>
        </p:txBody>
      </p:sp>
      <p:sp>
        <p:nvSpPr>
          <p:cNvPr id="8" name="Shape 6"/>
          <p:cNvSpPr/>
          <p:nvPr/>
        </p:nvSpPr>
        <p:spPr>
          <a:xfrm>
            <a:off x="6149975" y="1831975"/>
            <a:ext cx="5226050" cy="676910"/>
          </a:xfrm>
          <a:prstGeom prst="roundRect">
            <a:avLst>
              <a:gd name="adj" fmla="val 10788"/>
            </a:avLst>
          </a:prstGeom>
          <a:solidFill>
            <a:srgbClr val="FCFBF7"/>
          </a:solidFill>
          <a:ln w="6350">
            <a:solidFill>
              <a:srgbClr val="DDD8CC"/>
            </a:solidFill>
            <a:prstDash val="solid"/>
          </a:ln>
        </p:spPr>
      </p:sp>
      <p:sp>
        <p:nvSpPr>
          <p:cNvPr id="9" name="Text 7"/>
          <p:cNvSpPr/>
          <p:nvPr/>
        </p:nvSpPr>
        <p:spPr>
          <a:xfrm>
            <a:off x="6304280" y="193548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786880" y="1935485"/>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Test every change</a:t>
            </a:r>
            <a:endParaRPr lang="en-US" sz="1400" dirty="0"/>
          </a:p>
        </p:txBody>
      </p:sp>
      <p:sp>
        <p:nvSpPr>
          <p:cNvPr id="11" name="Text 9"/>
          <p:cNvSpPr/>
          <p:nvPr/>
        </p:nvSpPr>
        <p:spPr>
          <a:xfrm>
            <a:off x="6786880" y="2192027"/>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and emulator UI tests in CI; real devices nightly</a:t>
            </a:r>
            <a:endParaRPr lang="en-US" sz="1200" dirty="0"/>
          </a:p>
        </p:txBody>
      </p:sp>
      <p:sp>
        <p:nvSpPr>
          <p:cNvPr id="12" name="Shape 10"/>
          <p:cNvSpPr/>
          <p:nvPr/>
        </p:nvSpPr>
        <p:spPr>
          <a:xfrm>
            <a:off x="815975" y="2616833"/>
            <a:ext cx="5226050" cy="676910"/>
          </a:xfrm>
          <a:prstGeom prst="roundRect">
            <a:avLst>
              <a:gd name="adj" fmla="val 10788"/>
            </a:avLst>
          </a:prstGeom>
          <a:solidFill>
            <a:srgbClr val="FCFBF7"/>
          </a:solidFill>
          <a:ln w="6350">
            <a:solidFill>
              <a:srgbClr val="DDD8CC"/>
            </a:solidFill>
            <a:prstDash val="solid"/>
          </a:ln>
        </p:spPr>
      </p:sp>
      <p:sp>
        <p:nvSpPr>
          <p:cNvPr id="13" name="Text 11"/>
          <p:cNvSpPr/>
          <p:nvPr/>
        </p:nvSpPr>
        <p:spPr>
          <a:xfrm>
            <a:off x="970280" y="2720342"/>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452880" y="2720342"/>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Script the release</a:t>
            </a:r>
            <a:endParaRPr lang="en-US" sz="1400" dirty="0"/>
          </a:p>
        </p:txBody>
      </p:sp>
      <p:sp>
        <p:nvSpPr>
          <p:cNvPr id="15" name="Text 13"/>
          <p:cNvSpPr/>
          <p:nvPr/>
        </p:nvSpPr>
        <p:spPr>
          <a:xfrm>
            <a:off x="1452880" y="2976885"/>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fastlane lanes sign builds and upload them to testers and stores</a:t>
            </a:r>
            <a:endParaRPr lang="en-US" sz="1200" dirty="0"/>
          </a:p>
        </p:txBody>
      </p:sp>
      <p:sp>
        <p:nvSpPr>
          <p:cNvPr id="16" name="Shape 14"/>
          <p:cNvSpPr/>
          <p:nvPr/>
        </p:nvSpPr>
        <p:spPr>
          <a:xfrm>
            <a:off x="6149975" y="2616833"/>
            <a:ext cx="5226050" cy="676910"/>
          </a:xfrm>
          <a:prstGeom prst="roundRect">
            <a:avLst>
              <a:gd name="adj" fmla="val 10788"/>
            </a:avLst>
          </a:prstGeom>
          <a:solidFill>
            <a:srgbClr val="FCFBF7"/>
          </a:solidFill>
          <a:ln w="6350">
            <a:solidFill>
              <a:srgbClr val="DDD8CC"/>
            </a:solidFill>
            <a:prstDash val="solid"/>
          </a:ln>
        </p:spPr>
      </p:sp>
      <p:sp>
        <p:nvSpPr>
          <p:cNvPr id="17" name="Text 15"/>
          <p:cNvSpPr/>
          <p:nvPr/>
        </p:nvSpPr>
        <p:spPr>
          <a:xfrm>
            <a:off x="6304280" y="2720342"/>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786880" y="2720342"/>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Limit exposure</a:t>
            </a:r>
            <a:endParaRPr lang="en-US" sz="1400" dirty="0"/>
          </a:p>
        </p:txBody>
      </p:sp>
      <p:sp>
        <p:nvSpPr>
          <p:cNvPr id="19" name="Text 17"/>
          <p:cNvSpPr/>
          <p:nvPr/>
        </p:nvSpPr>
        <p:spPr>
          <a:xfrm>
            <a:off x="6786880" y="2976885"/>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Beta groups, staged rollouts and feature flags</a:t>
            </a:r>
            <a:endParaRPr lang="en-US" sz="1200" dirty="0"/>
          </a:p>
        </p:txBody>
      </p:sp>
      <p:sp>
        <p:nvSpPr>
          <p:cNvPr id="20" name="Shape 18"/>
          <p:cNvSpPr/>
          <p:nvPr/>
        </p:nvSpPr>
        <p:spPr>
          <a:xfrm>
            <a:off x="815975" y="3401702"/>
            <a:ext cx="5226050" cy="676910"/>
          </a:xfrm>
          <a:prstGeom prst="roundRect">
            <a:avLst>
              <a:gd name="adj" fmla="val 10788"/>
            </a:avLst>
          </a:prstGeom>
          <a:solidFill>
            <a:srgbClr val="FCFBF7"/>
          </a:solidFill>
          <a:ln w="6350">
            <a:solidFill>
              <a:srgbClr val="DDD8CC"/>
            </a:solidFill>
            <a:prstDash val="solid"/>
          </a:ln>
        </p:spPr>
      </p:sp>
      <p:sp>
        <p:nvSpPr>
          <p:cNvPr id="21" name="Text 19"/>
          <p:cNvSpPr/>
          <p:nvPr/>
        </p:nvSpPr>
        <p:spPr>
          <a:xfrm>
            <a:off x="970280" y="35052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5</a:t>
            </a:r>
            <a:endParaRPr lang="en-US" sz="2000" dirty="0"/>
          </a:p>
        </p:txBody>
      </p:sp>
      <p:sp>
        <p:nvSpPr>
          <p:cNvPr id="22" name="Text 20"/>
          <p:cNvSpPr/>
          <p:nvPr/>
        </p:nvSpPr>
        <p:spPr>
          <a:xfrm>
            <a:off x="1452880" y="3505200"/>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Monitor production</a:t>
            </a:r>
            <a:endParaRPr lang="en-US" sz="1400" dirty="0"/>
          </a:p>
        </p:txBody>
      </p:sp>
      <p:sp>
        <p:nvSpPr>
          <p:cNvPr id="23" name="Text 21"/>
          <p:cNvSpPr/>
          <p:nvPr/>
        </p:nvSpPr>
        <p:spPr>
          <a:xfrm>
            <a:off x="1452880" y="3761742"/>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Crash reports and analytics decide what to test next</a:t>
            </a:r>
            <a:endParaRPr lang="en-US" sz="1200" dirty="0"/>
          </a:p>
        </p:txBody>
      </p:sp>
      <p:sp>
        <p:nvSpPr>
          <p:cNvPr id="24" name="Shape 22"/>
          <p:cNvSpPr/>
          <p:nvPr/>
        </p:nvSpPr>
        <p:spPr>
          <a:xfrm>
            <a:off x="6149975" y="3401702"/>
            <a:ext cx="5226050" cy="676910"/>
          </a:xfrm>
          <a:prstGeom prst="roundRect">
            <a:avLst>
              <a:gd name="adj" fmla="val 10788"/>
            </a:avLst>
          </a:prstGeom>
          <a:solidFill>
            <a:srgbClr val="FCFBF7"/>
          </a:solidFill>
          <a:ln w="6350">
            <a:solidFill>
              <a:srgbClr val="DDD8CC"/>
            </a:solidFill>
            <a:prstDash val="solid"/>
          </a:ln>
        </p:spPr>
      </p:sp>
      <p:sp>
        <p:nvSpPr>
          <p:cNvPr id="25" name="Text 23"/>
          <p:cNvSpPr/>
          <p:nvPr/>
        </p:nvSpPr>
        <p:spPr>
          <a:xfrm>
            <a:off x="6304280" y="35052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6</a:t>
            </a:r>
            <a:endParaRPr lang="en-US" sz="2000" dirty="0"/>
          </a:p>
        </p:txBody>
      </p:sp>
      <p:sp>
        <p:nvSpPr>
          <p:cNvPr id="26" name="Text 24"/>
          <p:cNvSpPr/>
          <p:nvPr/>
        </p:nvSpPr>
        <p:spPr>
          <a:xfrm>
            <a:off x="6786880" y="3505200"/>
            <a:ext cx="4567885"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Share ownership</a:t>
            </a:r>
            <a:endParaRPr lang="en-US" sz="1400" dirty="0"/>
          </a:p>
        </p:txBody>
      </p:sp>
      <p:sp>
        <p:nvSpPr>
          <p:cNvPr id="27" name="Text 25"/>
          <p:cNvSpPr/>
          <p:nvPr/>
        </p:nvSpPr>
        <p:spPr>
          <a:xfrm>
            <a:off x="6786880" y="3761742"/>
            <a:ext cx="456788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Developers, testers and operations share one pipeline</a:t>
            </a:r>
            <a:endParaRPr lang="en-US" sz="1200" dirty="0"/>
          </a:p>
        </p:txBody>
      </p:sp>
      <p:sp>
        <p:nvSpPr>
          <p:cNvPr id="28" name="Shape 26"/>
          <p:cNvSpPr/>
          <p:nvPr/>
        </p:nvSpPr>
        <p:spPr>
          <a:xfrm>
            <a:off x="812800" y="4335785"/>
            <a:ext cx="10566400" cy="553720"/>
          </a:xfrm>
          <a:prstGeom prst="roundRect">
            <a:avLst>
              <a:gd name="adj" fmla="val 13761"/>
            </a:avLst>
          </a:prstGeom>
          <a:solidFill>
            <a:srgbClr val="13233A"/>
          </a:solidFill>
          <a:ln/>
        </p:spPr>
      </p:sp>
      <p:sp>
        <p:nvSpPr>
          <p:cNvPr id="29" name="Text 27"/>
          <p:cNvSpPr/>
          <p:nvPr/>
        </p:nvSpPr>
        <p:spPr>
          <a:xfrm>
            <a:off x="1016000" y="4505958"/>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IN SHORT</a:t>
            </a:r>
            <a:endParaRPr lang="en-US" sz="1200" dirty="0"/>
          </a:p>
        </p:txBody>
      </p:sp>
      <p:sp>
        <p:nvSpPr>
          <p:cNvPr id="30" name="Text 28"/>
          <p:cNvSpPr/>
          <p:nvPr/>
        </p:nvSpPr>
        <p:spPr>
          <a:xfrm>
            <a:off x="2001520" y="4488185"/>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Every build tested, every release watched, every crash a new test.</a:t>
            </a:r>
            <a:endParaRPr lang="en-US" sz="1400" dirty="0"/>
          </a:p>
        </p:txBody>
      </p:sp>
      <p:sp>
        <p:nvSpPr>
          <p:cNvPr id="31" name="Text 29"/>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2" name="Text 30"/>
          <p:cNvSpPr/>
          <p:nvPr/>
        </p:nvSpPr>
        <p:spPr>
          <a:xfrm>
            <a:off x="7899241" y="6238242"/>
            <a:ext cx="358435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second half of the syllabus topic for Lecture 21</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L21 · CHECK YOUR UNDERSTANDING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21</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can’t a mobile team roll back a bad release the way a web team can? What can it do instead?</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Order these: staged rollout, unit tests, signing, internal testing track, emulator UI tests.</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What does the beta lane in our Fastfile do, step by step, and why a bundle and not an APK?</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At a 5% rollout, the new payment screen crashes on some phones. Give two actions from this lecture.</a:t>
            </a:r>
            <a:endParaRPr lang="en-US" sz="1400" dirty="0"/>
          </a:p>
        </p:txBody>
      </p:sp>
      <p:sp>
        <p:nvSpPr>
          <p:cNvPr id="16" name="Text 14"/>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42"/>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22</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22 · 40 MINUTES</a:t>
            </a:r>
            <a:endParaRPr lang="en-US" sz="1200" dirty="0"/>
          </a:p>
        </p:txBody>
      </p:sp>
      <p:sp>
        <p:nvSpPr>
          <p:cNvPr id="4" name="Text 2"/>
          <p:cNvSpPr/>
          <p:nvPr/>
        </p:nvSpPr>
        <p:spPr>
          <a:xfrm>
            <a:off x="812800" y="4211327"/>
            <a:ext cx="10464800" cy="77216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Cloud testing</a:t>
            </a:r>
            <a:endParaRPr lang="en-US" sz="5600" dirty="0"/>
          </a:p>
        </p:txBody>
      </p:sp>
      <p:sp>
        <p:nvSpPr>
          <p:cNvPr id="5" name="Shape 3"/>
          <p:cNvSpPr/>
          <p:nvPr/>
        </p:nvSpPr>
        <p:spPr>
          <a:xfrm>
            <a:off x="812800" y="5320035"/>
            <a:ext cx="2794000" cy="0"/>
          </a:xfrm>
          <a:prstGeom prst="line">
            <a:avLst/>
          </a:prstGeom>
          <a:noFill/>
          <a:ln w="12700">
            <a:solidFill>
              <a:srgbClr val="3A5476"/>
            </a:solidFill>
            <a:prstDash val="solid"/>
          </a:ln>
        </p:spPr>
      </p:sp>
      <p:sp>
        <p:nvSpPr>
          <p:cNvPr id="6" name="Text 4"/>
          <p:cNvSpPr/>
          <p:nvPr/>
        </p:nvSpPr>
        <p:spPr>
          <a:xfrm>
            <a:off x="8128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Cloud testing</a:t>
            </a:r>
            <a:endParaRPr lang="en-US" sz="2000" dirty="0"/>
          </a:p>
        </p:txBody>
      </p:sp>
      <p:sp>
        <p:nvSpPr>
          <p:cNvPr id="8" name="Shape 6"/>
          <p:cNvSpPr/>
          <p:nvPr/>
        </p:nvSpPr>
        <p:spPr>
          <a:xfrm>
            <a:off x="3911600" y="5320035"/>
            <a:ext cx="2794000" cy="0"/>
          </a:xfrm>
          <a:prstGeom prst="line">
            <a:avLst/>
          </a:prstGeom>
          <a:noFill/>
          <a:ln w="12700">
            <a:solidFill>
              <a:srgbClr val="3A5476"/>
            </a:solidFill>
            <a:prstDash val="solid"/>
          </a:ln>
        </p:spPr>
      </p:sp>
      <p:sp>
        <p:nvSpPr>
          <p:cNvPr id="9" name="Text 7"/>
          <p:cNvSpPr/>
          <p:nvPr/>
        </p:nvSpPr>
        <p:spPr>
          <a:xfrm>
            <a:off x="3911600" y="5450842"/>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7150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Cloud testing setup</a:t>
            </a:r>
            <a:endParaRPr lang="en-US" sz="2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CLOUD TESTING</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cloud testing means</a:t>
            </a:r>
            <a:endParaRPr lang="en-US" sz="3200" dirty="0"/>
          </a:p>
        </p:txBody>
      </p:sp>
      <p:sp>
        <p:nvSpPr>
          <p:cNvPr id="4" name="Shape 2"/>
          <p:cNvSpPr/>
          <p:nvPr/>
        </p:nvSpPr>
        <p:spPr>
          <a:xfrm>
            <a:off x="812800" y="1828800"/>
            <a:ext cx="10566400" cy="553720"/>
          </a:xfrm>
          <a:prstGeom prst="roundRect">
            <a:avLst>
              <a:gd name="adj" fmla="val 13761"/>
            </a:avLst>
          </a:prstGeom>
          <a:solidFill>
            <a:srgbClr val="13233A"/>
          </a:solidFill>
          <a:ln/>
        </p:spPr>
      </p:sp>
      <p:sp>
        <p:nvSpPr>
          <p:cNvPr id="5" name="Text 3"/>
          <p:cNvSpPr/>
          <p:nvPr/>
        </p:nvSpPr>
        <p:spPr>
          <a:xfrm>
            <a:off x="1016000" y="199898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IDEA</a:t>
            </a:r>
            <a:endParaRPr lang="en-US" sz="1200" dirty="0"/>
          </a:p>
        </p:txBody>
      </p:sp>
      <p:sp>
        <p:nvSpPr>
          <p:cNvPr id="6" name="Text 4"/>
          <p:cNvSpPr/>
          <p:nvPr/>
        </p:nvSpPr>
        <p:spPr>
          <a:xfrm>
            <a:off x="1584960" y="1981200"/>
            <a:ext cx="98787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Tests run on browsers, devices and servers rented over the internet.</a:t>
            </a:r>
            <a:endParaRPr lang="en-US" sz="1400" dirty="0"/>
          </a:p>
        </p:txBody>
      </p:sp>
      <p:sp>
        <p:nvSpPr>
          <p:cNvPr id="7" name="Shape 5"/>
          <p:cNvSpPr/>
          <p:nvPr/>
        </p:nvSpPr>
        <p:spPr>
          <a:xfrm>
            <a:off x="815975" y="2639702"/>
            <a:ext cx="3380264" cy="1197610"/>
          </a:xfrm>
          <a:prstGeom prst="roundRect">
            <a:avLst>
              <a:gd name="adj" fmla="val 6098"/>
            </a:avLst>
          </a:prstGeom>
          <a:solidFill>
            <a:srgbClr val="FCFBF7"/>
          </a:solidFill>
          <a:ln w="6350">
            <a:solidFill>
              <a:srgbClr val="DDD8CC"/>
            </a:solidFill>
            <a:prstDash val="solid"/>
          </a:ln>
        </p:spPr>
      </p:sp>
      <p:sp>
        <p:nvSpPr>
          <p:cNvPr id="8" name="Text 6"/>
          <p:cNvSpPr/>
          <p:nvPr/>
        </p:nvSpPr>
        <p:spPr>
          <a:xfrm>
            <a:off x="1021080" y="2844800"/>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BROWSERS AND PHONES</a:t>
            </a:r>
            <a:endParaRPr lang="en-US" sz="1200" dirty="0"/>
          </a:p>
        </p:txBody>
      </p:sp>
      <p:sp>
        <p:nvSpPr>
          <p:cNvPr id="9" name="Text 7"/>
          <p:cNvSpPr/>
          <p:nvPr/>
        </p:nvSpPr>
        <p:spPr>
          <a:xfrm>
            <a:off x="1021080" y="3134358"/>
            <a:ext cx="3059155"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Selenium grids and real devices in a provider’s data centre</a:t>
            </a:r>
            <a:endParaRPr lang="en-US" sz="1400" dirty="0"/>
          </a:p>
        </p:txBody>
      </p:sp>
      <p:sp>
        <p:nvSpPr>
          <p:cNvPr id="10" name="Shape 8"/>
          <p:cNvSpPr/>
          <p:nvPr/>
        </p:nvSpPr>
        <p:spPr>
          <a:xfrm>
            <a:off x="4405789" y="2639702"/>
            <a:ext cx="3380343" cy="1197610"/>
          </a:xfrm>
          <a:prstGeom prst="roundRect">
            <a:avLst>
              <a:gd name="adj" fmla="val 6098"/>
            </a:avLst>
          </a:prstGeom>
          <a:solidFill>
            <a:srgbClr val="FCFBF7"/>
          </a:solidFill>
          <a:ln w="6350">
            <a:solidFill>
              <a:srgbClr val="DDD8CC"/>
            </a:solidFill>
            <a:prstDash val="solid"/>
          </a:ln>
        </p:spPr>
      </p:sp>
      <p:sp>
        <p:nvSpPr>
          <p:cNvPr id="11" name="Text 9"/>
          <p:cNvSpPr/>
          <p:nvPr/>
        </p:nvSpPr>
        <p:spPr>
          <a:xfrm>
            <a:off x="4610894" y="28448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LOAD</a:t>
            </a:r>
            <a:endParaRPr lang="en-US" sz="1200" dirty="0"/>
          </a:p>
        </p:txBody>
      </p:sp>
      <p:sp>
        <p:nvSpPr>
          <p:cNvPr id="12" name="Text 10"/>
          <p:cNvSpPr/>
          <p:nvPr/>
        </p:nvSpPr>
        <p:spPr>
          <a:xfrm>
            <a:off x="4610894" y="3134358"/>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Many load generators start for a performance test, then stop</a:t>
            </a:r>
            <a:endParaRPr lang="en-US" sz="1400" dirty="0"/>
          </a:p>
        </p:txBody>
      </p:sp>
      <p:sp>
        <p:nvSpPr>
          <p:cNvPr id="13" name="Shape 11"/>
          <p:cNvSpPr/>
          <p:nvPr/>
        </p:nvSpPr>
        <p:spPr>
          <a:xfrm>
            <a:off x="7995682" y="2639702"/>
            <a:ext cx="3380343" cy="1197610"/>
          </a:xfrm>
          <a:prstGeom prst="roundRect">
            <a:avLst>
              <a:gd name="adj" fmla="val 6098"/>
            </a:avLst>
          </a:prstGeom>
          <a:solidFill>
            <a:srgbClr val="FCFBF7"/>
          </a:solidFill>
          <a:ln w="6350">
            <a:solidFill>
              <a:srgbClr val="DDD8CC"/>
            </a:solidFill>
            <a:prstDash val="solid"/>
          </a:ln>
        </p:spPr>
      </p:sp>
      <p:sp>
        <p:nvSpPr>
          <p:cNvPr id="14" name="Text 12"/>
          <p:cNvSpPr/>
          <p:nvPr/>
        </p:nvSpPr>
        <p:spPr>
          <a:xfrm>
            <a:off x="8200787" y="2844800"/>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ENVIRONMENTS</a:t>
            </a:r>
            <a:endParaRPr lang="en-US" sz="1200" dirty="0"/>
          </a:p>
        </p:txBody>
      </p:sp>
      <p:sp>
        <p:nvSpPr>
          <p:cNvPr id="15" name="Text 13"/>
          <p:cNvSpPr/>
          <p:nvPr/>
        </p:nvSpPr>
        <p:spPr>
          <a:xfrm>
            <a:off x="8200787" y="3134358"/>
            <a:ext cx="305923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full test environment per branch, built from code and deleted after</a:t>
            </a:r>
            <a:endParaRPr lang="en-US" sz="1400" dirty="0"/>
          </a:p>
        </p:txBody>
      </p:sp>
      <p:sp>
        <p:nvSpPr>
          <p:cNvPr id="16" name="Shape 14"/>
          <p:cNvSpPr/>
          <p:nvPr/>
        </p:nvSpPr>
        <p:spPr>
          <a:xfrm>
            <a:off x="812800" y="4094485"/>
            <a:ext cx="1617028" cy="375920"/>
          </a:xfrm>
          <a:prstGeom prst="roundRect">
            <a:avLst>
              <a:gd name="adj" fmla="val 50000"/>
            </a:avLst>
          </a:prstGeom>
          <a:solidFill>
            <a:srgbClr val="DCE7F3"/>
          </a:solidFill>
          <a:ln/>
        </p:spPr>
      </p:sp>
      <p:sp>
        <p:nvSpPr>
          <p:cNvPr id="17" name="Text 15"/>
          <p:cNvSpPr/>
          <p:nvPr/>
        </p:nvSpPr>
        <p:spPr>
          <a:xfrm>
            <a:off x="990600" y="4157985"/>
            <a:ext cx="131222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45A9C"/>
                </a:solidFill>
                <a:latin typeface="IBM Plex Sans" pitchFamily="34" charset="0"/>
                <a:ea typeface="IBM Plex Sans" pitchFamily="34" charset="-122"/>
                <a:cs typeface="IBM Plex Sans" pitchFamily="34" charset="-120"/>
              </a:rPr>
              <a:t>Runs in parallel</a:t>
            </a:r>
            <a:endParaRPr lang="en-US" sz="1400" dirty="0"/>
          </a:p>
        </p:txBody>
      </p:sp>
      <p:sp>
        <p:nvSpPr>
          <p:cNvPr id="18" name="Shape 16"/>
          <p:cNvSpPr/>
          <p:nvPr/>
        </p:nvSpPr>
        <p:spPr>
          <a:xfrm>
            <a:off x="2531427" y="4094485"/>
            <a:ext cx="1547098" cy="375920"/>
          </a:xfrm>
          <a:prstGeom prst="roundRect">
            <a:avLst>
              <a:gd name="adj" fmla="val 50000"/>
            </a:avLst>
          </a:prstGeom>
          <a:solidFill>
            <a:srgbClr val="DCE7F3"/>
          </a:solidFill>
          <a:ln/>
        </p:spPr>
      </p:sp>
      <p:sp>
        <p:nvSpPr>
          <p:cNvPr id="19" name="Text 17"/>
          <p:cNvSpPr/>
          <p:nvPr/>
        </p:nvSpPr>
        <p:spPr>
          <a:xfrm>
            <a:off x="2709227" y="4157985"/>
            <a:ext cx="12422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45A9C"/>
                </a:solidFill>
                <a:latin typeface="IBM Plex Sans" pitchFamily="34" charset="0"/>
                <a:ea typeface="IBM Plex Sans" pitchFamily="34" charset="-122"/>
                <a:cs typeface="IBM Plex Sans" pitchFamily="34" charset="-120"/>
              </a:rPr>
              <a:t>Wide coverage</a:t>
            </a:r>
            <a:endParaRPr lang="en-US" sz="1400" dirty="0"/>
          </a:p>
        </p:txBody>
      </p:sp>
      <p:sp>
        <p:nvSpPr>
          <p:cNvPr id="20" name="Shape 18"/>
          <p:cNvSpPr/>
          <p:nvPr/>
        </p:nvSpPr>
        <p:spPr>
          <a:xfrm>
            <a:off x="4180126" y="4094485"/>
            <a:ext cx="1843484" cy="375920"/>
          </a:xfrm>
          <a:prstGeom prst="roundRect">
            <a:avLst>
              <a:gd name="adj" fmla="val 50000"/>
            </a:avLst>
          </a:prstGeom>
          <a:solidFill>
            <a:srgbClr val="DCE7F3"/>
          </a:solidFill>
          <a:ln/>
        </p:spPr>
      </p:sp>
      <p:sp>
        <p:nvSpPr>
          <p:cNvPr id="21" name="Text 19"/>
          <p:cNvSpPr/>
          <p:nvPr/>
        </p:nvSpPr>
        <p:spPr>
          <a:xfrm>
            <a:off x="4357926" y="4157985"/>
            <a:ext cx="1538684"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45A9C"/>
                </a:solidFill>
                <a:latin typeface="IBM Plex Sans" pitchFamily="34" charset="0"/>
                <a:ea typeface="IBM Plex Sans" pitchFamily="34" charset="-122"/>
                <a:cs typeface="IBM Plex Sans" pitchFamily="34" charset="-120"/>
              </a:rPr>
              <a:t>No lab to maintain</a:t>
            </a:r>
            <a:endParaRPr lang="en-US" sz="1400" dirty="0"/>
          </a:p>
        </p:txBody>
      </p:sp>
      <p:sp>
        <p:nvSpPr>
          <p:cNvPr id="22" name="Shape 20"/>
          <p:cNvSpPr/>
          <p:nvPr/>
        </p:nvSpPr>
        <p:spPr>
          <a:xfrm>
            <a:off x="6125210" y="4094485"/>
            <a:ext cx="2038588" cy="375920"/>
          </a:xfrm>
          <a:prstGeom prst="roundRect">
            <a:avLst>
              <a:gd name="adj" fmla="val 50000"/>
            </a:avLst>
          </a:prstGeom>
          <a:solidFill>
            <a:srgbClr val="DCE7F3"/>
          </a:solidFill>
          <a:ln/>
        </p:spPr>
      </p:sp>
      <p:sp>
        <p:nvSpPr>
          <p:cNvPr id="23" name="Text 21"/>
          <p:cNvSpPr/>
          <p:nvPr/>
        </p:nvSpPr>
        <p:spPr>
          <a:xfrm>
            <a:off x="6303010" y="4157985"/>
            <a:ext cx="173378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245A9C"/>
                </a:solidFill>
                <a:latin typeface="IBM Plex Sans" pitchFamily="34" charset="0"/>
                <a:ea typeface="IBM Plex Sans" pitchFamily="34" charset="-122"/>
                <a:cs typeface="IBM Plex Sans" pitchFamily="34" charset="-120"/>
              </a:rPr>
              <a:t>Pay for what you use</a:t>
            </a:r>
            <a:endParaRPr lang="en-US" sz="1400" dirty="0"/>
          </a:p>
        </p:txBody>
      </p:sp>
      <p:sp>
        <p:nvSpPr>
          <p:cNvPr id="24" name="Text 22"/>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5" name="Text 23"/>
          <p:cNvSpPr/>
          <p:nvPr/>
        </p:nvSpPr>
        <p:spPr>
          <a:xfrm>
            <a:off x="7354729" y="6238242"/>
            <a:ext cx="41452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This lecture focuses on the first card: browsers and phones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OPTIONS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Four ways to get browsers and devices</a:t>
            </a:r>
            <a:endParaRPr lang="en-US" sz="3200" dirty="0"/>
          </a:p>
        </p:txBody>
      </p:sp>
      <p:sp>
        <p:nvSpPr>
          <p:cNvPr id="4" name="Shape 2"/>
          <p:cNvSpPr/>
          <p:nvPr/>
        </p:nvSpPr>
        <p:spPr>
          <a:xfrm>
            <a:off x="11376025" y="1828800"/>
            <a:ext cx="0" cy="1666240"/>
          </a:xfrm>
          <a:prstGeom prst="line">
            <a:avLst/>
          </a:prstGeom>
          <a:noFill/>
          <a:ln w="6350">
            <a:solidFill>
              <a:srgbClr val="DDD8CC"/>
            </a:solidFill>
            <a:prstDash val="solid"/>
          </a:ln>
        </p:spPr>
      </p:sp>
      <p:sp>
        <p:nvSpPr>
          <p:cNvPr id="5" name="Shape 3"/>
          <p:cNvSpPr/>
          <p:nvPr/>
        </p:nvSpPr>
        <p:spPr>
          <a:xfrm>
            <a:off x="812800" y="34918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651000"/>
        </p:xfrm>
        <a:graphic>
          <a:graphicData uri="http://schemas.openxmlformats.org/drawingml/2006/table">
            <a:tbl>
              <a:tblPr/>
              <a:tblGrid>
                <a:gridCol w="2321255"/>
                <a:gridCol w="3587394"/>
                <a:gridCol w="2321255"/>
                <a:gridCol w="2321255"/>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Option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Examples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You look after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Good for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Own Selenium Grid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Docker Selenium on your server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Servers and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Private apps, low cost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Grid on cloud servers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Docker Selenium on Kubernetes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Cluster and images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Scaling on demand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cloud (SaaS)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BrowserStack, Sauce Labs, TestMu AI</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Only your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Browsers and phones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Mobile device farm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AWS Device Farm, Firebase Test Lab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Only your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Real phones, tablets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3755392"/>
            <a:ext cx="5181600" cy="0"/>
          </a:xfrm>
          <a:prstGeom prst="line">
            <a:avLst/>
          </a:prstGeom>
          <a:noFill/>
          <a:ln w="12700">
            <a:solidFill>
              <a:srgbClr val="245A9C"/>
            </a:solidFill>
            <a:prstDash val="solid"/>
          </a:ln>
        </p:spPr>
      </p:sp>
      <p:sp>
        <p:nvSpPr>
          <p:cNvPr id="8" name="Text 5"/>
          <p:cNvSpPr/>
          <p:nvPr/>
        </p:nvSpPr>
        <p:spPr>
          <a:xfrm>
            <a:off x="812800" y="38608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SAME PROTOCOL</a:t>
            </a:r>
            <a:endParaRPr lang="en-US" sz="1200" dirty="0"/>
          </a:p>
        </p:txBody>
      </p:sp>
      <p:sp>
        <p:nvSpPr>
          <p:cNvPr id="9" name="Text 6"/>
          <p:cNvSpPr/>
          <p:nvPr/>
        </p:nvSpPr>
        <p:spPr>
          <a:xfrm>
            <a:off x="812800" y="4124958"/>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Grids and test clouds speak W3C WebDriver: moving between them changes the driver set-up, not the tests.</a:t>
            </a:r>
            <a:endParaRPr lang="en-US" sz="1400" dirty="0"/>
          </a:p>
        </p:txBody>
      </p:sp>
      <p:sp>
        <p:nvSpPr>
          <p:cNvPr id="10" name="Shape 7"/>
          <p:cNvSpPr/>
          <p:nvPr/>
        </p:nvSpPr>
        <p:spPr>
          <a:xfrm>
            <a:off x="6197600" y="3755392"/>
            <a:ext cx="5181600" cy="0"/>
          </a:xfrm>
          <a:prstGeom prst="line">
            <a:avLst/>
          </a:prstGeom>
          <a:noFill/>
          <a:ln w="12700">
            <a:solidFill>
              <a:srgbClr val="A9481A"/>
            </a:solidFill>
            <a:prstDash val="solid"/>
          </a:ln>
        </p:spPr>
      </p:sp>
      <p:sp>
        <p:nvSpPr>
          <p:cNvPr id="11" name="Text 8"/>
          <p:cNvSpPr/>
          <p:nvPr/>
        </p:nvSpPr>
        <p:spPr>
          <a:xfrm>
            <a:off x="6197600" y="3860800"/>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NAME CHANGE</a:t>
            </a:r>
            <a:endParaRPr lang="en-US" sz="1200" dirty="0"/>
          </a:p>
        </p:txBody>
      </p:sp>
      <p:sp>
        <p:nvSpPr>
          <p:cNvPr id="12" name="Text 9"/>
          <p:cNvSpPr/>
          <p:nvPr/>
        </p:nvSpPr>
        <p:spPr>
          <a:xfrm>
            <a:off x="6197600" y="4124958"/>
            <a:ext cx="533704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LambdaTest renamed itself TestMu AI in January 2026; hub.lambdatest.com still works.</a:t>
            </a:r>
            <a:endParaRPr lang="en-US" sz="1400" dirty="0"/>
          </a:p>
        </p:txBody>
      </p:sp>
      <p:sp>
        <p:nvSpPr>
          <p:cNvPr id="13" name="Text 10"/>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4" name="Text 11"/>
          <p:cNvSpPr/>
          <p:nvPr/>
        </p:nvSpPr>
        <p:spPr>
          <a:xfrm>
            <a:off x="5979319" y="6238242"/>
            <a:ext cx="55618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Examples only, not a recommendation · this lecture runs the first option for real</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TRADE-OFFS</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the cloud gives, and what it costs</a:t>
            </a:r>
            <a:endParaRPr lang="en-US" sz="3200" dirty="0"/>
          </a:p>
        </p:txBody>
      </p:sp>
      <p:sp>
        <p:nvSpPr>
          <p:cNvPr id="4" name="Shape 2"/>
          <p:cNvSpPr/>
          <p:nvPr/>
        </p:nvSpPr>
        <p:spPr>
          <a:xfrm>
            <a:off x="812800" y="1835150"/>
            <a:ext cx="5181600" cy="0"/>
          </a:xfrm>
          <a:prstGeom prst="line">
            <a:avLst/>
          </a:prstGeom>
          <a:noFill/>
          <a:ln w="12700">
            <a:solidFill>
              <a:srgbClr val="245A9C"/>
            </a:solidFill>
            <a:prstDash val="solid"/>
          </a:ln>
        </p:spPr>
      </p:sp>
      <p:sp>
        <p:nvSpPr>
          <p:cNvPr id="5" name="Text 3"/>
          <p:cNvSpPr/>
          <p:nvPr/>
        </p:nvSpPr>
        <p:spPr>
          <a:xfrm>
            <a:off x="812800" y="1940558"/>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YOU GAIN</a:t>
            </a:r>
            <a:endParaRPr lang="en-US" sz="1200" dirty="0"/>
          </a:p>
        </p:txBody>
      </p:sp>
      <p:sp>
        <p:nvSpPr>
          <p:cNvPr id="6" name="Text 4"/>
          <p:cNvSpPr/>
          <p:nvPr/>
        </p:nvSpPr>
        <p:spPr>
          <a:xfrm>
            <a:off x="812800" y="2230127"/>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Faster suites: many sessions in parallel</a:t>
            </a:r>
            <a:endParaRPr lang="en-US" sz="1400" dirty="0"/>
          </a:p>
        </p:txBody>
      </p:sp>
      <p:sp>
        <p:nvSpPr>
          <p:cNvPr id="7" name="Text 5"/>
          <p:cNvSpPr/>
          <p:nvPr/>
        </p:nvSpPr>
        <p:spPr>
          <a:xfrm>
            <a:off x="812800" y="2555242"/>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Browsers, OS versions and phones you don’t own</a:t>
            </a:r>
            <a:endParaRPr lang="en-US" sz="1400" dirty="0"/>
          </a:p>
        </p:txBody>
      </p:sp>
      <p:sp>
        <p:nvSpPr>
          <p:cNvPr id="8" name="Text 6"/>
          <p:cNvSpPr/>
          <p:nvPr/>
        </p:nvSpPr>
        <p:spPr>
          <a:xfrm>
            <a:off x="812800" y="2880358"/>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No device lab to buy, charge and update</a:t>
            </a:r>
            <a:endParaRPr lang="en-US" sz="1400" dirty="0"/>
          </a:p>
        </p:txBody>
      </p:sp>
      <p:sp>
        <p:nvSpPr>
          <p:cNvPr id="9" name="Text 7"/>
          <p:cNvSpPr/>
          <p:nvPr/>
        </p:nvSpPr>
        <p:spPr>
          <a:xfrm>
            <a:off x="812800" y="3205485"/>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Video, screenshots and logs for each session</a:t>
            </a:r>
            <a:endParaRPr lang="en-US" sz="1400" dirty="0"/>
          </a:p>
        </p:txBody>
      </p:sp>
      <p:sp>
        <p:nvSpPr>
          <p:cNvPr id="10" name="Text 8"/>
          <p:cNvSpPr/>
          <p:nvPr/>
        </p:nvSpPr>
        <p:spPr>
          <a:xfrm>
            <a:off x="812800" y="35306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Start and stop in minutes; pay for use</a:t>
            </a:r>
            <a:endParaRPr lang="en-US" sz="1400" dirty="0"/>
          </a:p>
        </p:txBody>
      </p:sp>
      <p:sp>
        <p:nvSpPr>
          <p:cNvPr id="11" name="Shape 9"/>
          <p:cNvSpPr/>
          <p:nvPr/>
        </p:nvSpPr>
        <p:spPr>
          <a:xfrm>
            <a:off x="6197600" y="1835150"/>
            <a:ext cx="5181600" cy="0"/>
          </a:xfrm>
          <a:prstGeom prst="line">
            <a:avLst/>
          </a:prstGeom>
          <a:noFill/>
          <a:ln w="12700">
            <a:solidFill>
              <a:srgbClr val="A9481A"/>
            </a:solidFill>
            <a:prstDash val="solid"/>
          </a:ln>
        </p:spPr>
      </p:sp>
      <p:sp>
        <p:nvSpPr>
          <p:cNvPr id="12" name="Text 10"/>
          <p:cNvSpPr/>
          <p:nvPr/>
        </p:nvSpPr>
        <p:spPr>
          <a:xfrm>
            <a:off x="6197600" y="1940558"/>
            <a:ext cx="533704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WATCH OUT FOR</a:t>
            </a:r>
            <a:endParaRPr lang="en-US" sz="1200" dirty="0"/>
          </a:p>
        </p:txBody>
      </p:sp>
      <p:sp>
        <p:nvSpPr>
          <p:cNvPr id="13" name="Text 11"/>
          <p:cNvSpPr/>
          <p:nvPr/>
        </p:nvSpPr>
        <p:spPr>
          <a:xfrm>
            <a:off x="6197600" y="2230127"/>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Cost that grows with minutes and parallel slots</a:t>
            </a:r>
            <a:endParaRPr lang="en-US" sz="1400" dirty="0"/>
          </a:p>
        </p:txBody>
      </p:sp>
      <p:sp>
        <p:nvSpPr>
          <p:cNvPr id="14" name="Text 12"/>
          <p:cNvSpPr/>
          <p:nvPr/>
        </p:nvSpPr>
        <p:spPr>
          <a:xfrm>
            <a:off x="6197600" y="2555242"/>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Slower commands: each one crosses the internet</a:t>
            </a:r>
            <a:endParaRPr lang="en-US" sz="1400" dirty="0"/>
          </a:p>
        </p:txBody>
      </p:sp>
      <p:sp>
        <p:nvSpPr>
          <p:cNvPr id="15" name="Text 13"/>
          <p:cNvSpPr/>
          <p:nvPr/>
        </p:nvSpPr>
        <p:spPr>
          <a:xfrm>
            <a:off x="6197600" y="2880358"/>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Private apps need a tunnel to be reachable</a:t>
            </a:r>
            <a:endParaRPr lang="en-US" sz="1400" dirty="0"/>
          </a:p>
        </p:txBody>
      </p:sp>
      <p:sp>
        <p:nvSpPr>
          <p:cNvPr id="16" name="Text 14"/>
          <p:cNvSpPr/>
          <p:nvPr/>
        </p:nvSpPr>
        <p:spPr>
          <a:xfrm>
            <a:off x="6197600" y="3205485"/>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Keys and test data leave your network</a:t>
            </a:r>
            <a:endParaRPr lang="en-US" sz="1400" dirty="0"/>
          </a:p>
        </p:txBody>
      </p:sp>
      <p:sp>
        <p:nvSpPr>
          <p:cNvPr id="17" name="Text 15"/>
          <p:cNvSpPr/>
          <p:nvPr/>
        </p:nvSpPr>
        <p:spPr>
          <a:xfrm>
            <a:off x="6197600" y="3530600"/>
            <a:ext cx="533704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Queues when every parallel slot is busy</a:t>
            </a:r>
            <a:endParaRPr lang="en-US" sz="1400" dirty="0"/>
          </a:p>
        </p:txBody>
      </p:sp>
      <p:sp>
        <p:nvSpPr>
          <p:cNvPr id="18" name="Shape 16"/>
          <p:cNvSpPr/>
          <p:nvPr/>
        </p:nvSpPr>
        <p:spPr>
          <a:xfrm>
            <a:off x="812800" y="4033527"/>
            <a:ext cx="10566400" cy="553720"/>
          </a:xfrm>
          <a:prstGeom prst="roundRect">
            <a:avLst>
              <a:gd name="adj" fmla="val 13761"/>
            </a:avLst>
          </a:prstGeom>
          <a:solidFill>
            <a:srgbClr val="13233A"/>
          </a:solidFill>
          <a:ln/>
        </p:spPr>
      </p:sp>
      <p:sp>
        <p:nvSpPr>
          <p:cNvPr id="19" name="Text 17"/>
          <p:cNvSpPr/>
          <p:nvPr/>
        </p:nvSpPr>
        <p:spPr>
          <a:xfrm>
            <a:off x="1016000" y="4203700"/>
            <a:ext cx="13004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CANTEEN PLAN</a:t>
            </a:r>
            <a:endParaRPr lang="en-US" sz="1200" dirty="0"/>
          </a:p>
        </p:txBody>
      </p:sp>
      <p:sp>
        <p:nvSpPr>
          <p:cNvPr id="20" name="Text 18"/>
          <p:cNvSpPr/>
          <p:nvPr/>
        </p:nvSpPr>
        <p:spPr>
          <a:xfrm>
            <a:off x="2418080" y="4185927"/>
            <a:ext cx="902065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Own Docker grid in CI on every merge; a test cloud each night for Safari and real phones.</a:t>
            </a:r>
            <a:endParaRPr lang="en-US" sz="1400" dirty="0"/>
          </a:p>
        </p:txBody>
      </p:sp>
      <p:sp>
        <p:nvSpPr>
          <p:cNvPr id="21" name="Text 19"/>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SETUP: OWN GRID</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Selenium Grid in Docker Compose</a:t>
            </a:r>
            <a:endParaRPr lang="en-US" sz="3200" dirty="0"/>
          </a:p>
        </p:txBody>
      </p:sp>
      <p:sp>
        <p:nvSpPr>
          <p:cNvPr id="4" name="Shape 2"/>
          <p:cNvSpPr/>
          <p:nvPr/>
        </p:nvSpPr>
        <p:spPr>
          <a:xfrm>
            <a:off x="812800" y="1828800"/>
            <a:ext cx="4654550" cy="3769360"/>
          </a:xfrm>
          <a:prstGeom prst="roundRect">
            <a:avLst>
              <a:gd name="adj" fmla="val 2022"/>
            </a:avLst>
          </a:prstGeom>
          <a:solidFill>
            <a:srgbClr val="13233A"/>
          </a:solidFill>
          <a:ln/>
        </p:spPr>
      </p:sp>
      <p:sp>
        <p:nvSpPr>
          <p:cNvPr id="5" name="Text 3"/>
          <p:cNvSpPr/>
          <p:nvPr/>
        </p:nvSpPr>
        <p:spPr>
          <a:xfrm>
            <a:off x="990600" y="2006600"/>
            <a:ext cx="4427919" cy="34391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services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selenium-hub</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image</a:t>
            </a:r>
            <a:r>
              <a:rPr lang="en-US" sz="1200" dirty="0">
                <a:solidFill>
                  <a:srgbClr val="E6EAF0"/>
                </a:solidFill>
                <a:latin typeface="JetBrains Mono" pitchFamily="34" charset="0"/>
                <a:ea typeface="JetBrains Mono" pitchFamily="34" charset="-122"/>
                <a:cs typeface="JetBrains Mono" pitchFamily="34" charset="-120"/>
              </a:rPr>
              <a:t>: selenium/hub:4.48.0-20260905</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container_name</a:t>
            </a:r>
            <a:r>
              <a:rPr lang="en-US" sz="1200" dirty="0">
                <a:solidFill>
                  <a:srgbClr val="E6EAF0"/>
                </a:solidFill>
                <a:latin typeface="JetBrains Mono" pitchFamily="34" charset="0"/>
                <a:ea typeface="JetBrains Mono" pitchFamily="34" charset="-122"/>
                <a:cs typeface="JetBrains Mono" pitchFamily="34" charset="-120"/>
              </a:rPr>
              <a:t>: selenium-hub</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ports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t>
            </a:r>
            <a:r>
              <a:rPr lang="en-US" sz="1200" dirty="0">
                <a:solidFill>
                  <a:srgbClr val="9CC7F0"/>
                </a:solidFill>
                <a:latin typeface="JetBrains Mono" pitchFamily="34" charset="0"/>
                <a:ea typeface="JetBrains Mono" pitchFamily="34" charset="-122"/>
                <a:cs typeface="JetBrains Mono" pitchFamily="34" charset="-120"/>
              </a:rPr>
              <a:t>"4442:4442"</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t>
            </a:r>
            <a:r>
              <a:rPr lang="en-US" sz="1200" dirty="0">
                <a:solidFill>
                  <a:srgbClr val="9CC7F0"/>
                </a:solidFill>
                <a:latin typeface="JetBrains Mono" pitchFamily="34" charset="0"/>
                <a:ea typeface="JetBrains Mono" pitchFamily="34" charset="-122"/>
                <a:cs typeface="JetBrains Mono" pitchFamily="34" charset="-120"/>
              </a:rPr>
              <a:t>"4443:4443"</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a:t>
            </a:r>
            <a:r>
              <a:rPr lang="en-US" sz="1200" dirty="0">
                <a:solidFill>
                  <a:srgbClr val="9CC7F0"/>
                </a:solidFill>
                <a:latin typeface="JetBrains Mono" pitchFamily="34" charset="0"/>
                <a:ea typeface="JetBrains Mono" pitchFamily="34" charset="-122"/>
                <a:cs typeface="JetBrains Mono" pitchFamily="34" charset="-120"/>
              </a:rPr>
              <a:t>"4444:4444"</a:t>
            </a:r>
            <a:endParaRPr lang="en-US" sz="1200" dirty="0"/>
          </a:p>
          <a:p>
            <a:pPr algn="l" indent="0" marL="0">
              <a:lnSpc>
                <a:spcPts val="1680"/>
              </a:lnSpc>
              <a:buNone/>
            </a:pP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chrome</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image</a:t>
            </a:r>
            <a:r>
              <a:rPr lang="en-US" sz="1200" dirty="0">
                <a:solidFill>
                  <a:srgbClr val="E6EAF0"/>
                </a:solidFill>
                <a:latin typeface="JetBrains Mono" pitchFamily="34" charset="0"/>
                <a:ea typeface="JetBrains Mono" pitchFamily="34" charset="-122"/>
                <a:cs typeface="JetBrains Mono" pitchFamily="34" charset="-120"/>
              </a:rPr>
              <a:t>: selenium/node-chrome:4.48.0-20260905</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shm_size</a:t>
            </a:r>
            <a:r>
              <a:rPr lang="en-US" sz="1200" dirty="0">
                <a:solidFill>
                  <a:srgbClr val="E6EAF0"/>
                </a:solidFill>
                <a:latin typeface="JetBrains Mono" pitchFamily="34" charset="0"/>
                <a:ea typeface="JetBrains Mono" pitchFamily="34" charset="-122"/>
                <a:cs typeface="JetBrains Mono" pitchFamily="34" charset="-120"/>
              </a:rPr>
              <a:t>: 2gb</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depends_on</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selenium-hub</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    environment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 SE_EVENT_BUS_HOST=selenium-hub</a:t>
            </a:r>
            <a:endParaRPr lang="en-US" sz="1200" dirty="0"/>
          </a:p>
        </p:txBody>
      </p:sp>
      <p:sp>
        <p:nvSpPr>
          <p:cNvPr id="6" name="Shape 4"/>
          <p:cNvSpPr/>
          <p:nvPr/>
        </p:nvSpPr>
        <p:spPr>
          <a:xfrm>
            <a:off x="5721350" y="1831975"/>
            <a:ext cx="5657850" cy="0"/>
          </a:xfrm>
          <a:prstGeom prst="line">
            <a:avLst/>
          </a:prstGeom>
          <a:noFill/>
          <a:ln w="6350">
            <a:solidFill>
              <a:srgbClr val="DDD8CC"/>
            </a:solidFill>
            <a:prstDash val="solid"/>
          </a:ln>
        </p:spPr>
      </p:sp>
      <p:sp>
        <p:nvSpPr>
          <p:cNvPr id="7" name="Text 5"/>
          <p:cNvSpPr/>
          <p:nvPr/>
        </p:nvSpPr>
        <p:spPr>
          <a:xfrm>
            <a:off x="5721350" y="1935485"/>
            <a:ext cx="58275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Hub on port 4444</a:t>
            </a:r>
            <a:endParaRPr lang="en-US" sz="1400" dirty="0"/>
          </a:p>
        </p:txBody>
      </p:sp>
      <p:sp>
        <p:nvSpPr>
          <p:cNvPr id="8" name="Text 6"/>
          <p:cNvSpPr/>
          <p:nvPr/>
        </p:nvSpPr>
        <p:spPr>
          <a:xfrm>
            <a:off x="5721350" y="2192027"/>
            <a:ext cx="58275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Tests connect here; it sends each session to a free node. Ports 4442 and 4443 are its event bus.</a:t>
            </a:r>
            <a:endParaRPr lang="en-US" sz="1200" dirty="0"/>
          </a:p>
        </p:txBody>
      </p:sp>
      <p:sp>
        <p:nvSpPr>
          <p:cNvPr id="9" name="Shape 7"/>
          <p:cNvSpPr/>
          <p:nvPr/>
        </p:nvSpPr>
        <p:spPr>
          <a:xfrm>
            <a:off x="5721350" y="2723517"/>
            <a:ext cx="5657850" cy="0"/>
          </a:xfrm>
          <a:prstGeom prst="line">
            <a:avLst/>
          </a:prstGeom>
          <a:noFill/>
          <a:ln w="6350">
            <a:solidFill>
              <a:srgbClr val="DDD8CC"/>
            </a:solidFill>
            <a:prstDash val="solid"/>
          </a:ln>
        </p:spPr>
      </p:sp>
      <p:sp>
        <p:nvSpPr>
          <p:cNvPr id="10" name="Text 8"/>
          <p:cNvSpPr/>
          <p:nvPr/>
        </p:nvSpPr>
        <p:spPr>
          <a:xfrm>
            <a:off x="5721350" y="2827027"/>
            <a:ext cx="58275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Nodes run the browsers</a:t>
            </a:r>
            <a:endParaRPr lang="en-US" sz="1400" dirty="0"/>
          </a:p>
        </p:txBody>
      </p:sp>
      <p:sp>
        <p:nvSpPr>
          <p:cNvPr id="11" name="Text 9"/>
          <p:cNvSpPr/>
          <p:nvPr/>
        </p:nvSpPr>
        <p:spPr>
          <a:xfrm>
            <a:off x="5721350" y="3083558"/>
            <a:ext cx="582758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Each node finds the hub through SE_EVENT_BUS_HOST. A Firefox node is set up the same way.</a:t>
            </a:r>
            <a:endParaRPr lang="en-US" sz="1200" dirty="0"/>
          </a:p>
        </p:txBody>
      </p:sp>
      <p:sp>
        <p:nvSpPr>
          <p:cNvPr id="12" name="Shape 10"/>
          <p:cNvSpPr/>
          <p:nvPr/>
        </p:nvSpPr>
        <p:spPr>
          <a:xfrm>
            <a:off x="5721350" y="3615060"/>
            <a:ext cx="5657850" cy="0"/>
          </a:xfrm>
          <a:prstGeom prst="line">
            <a:avLst/>
          </a:prstGeom>
          <a:noFill/>
          <a:ln w="6350">
            <a:solidFill>
              <a:srgbClr val="DDD8CC"/>
            </a:solidFill>
            <a:prstDash val="solid"/>
          </a:ln>
        </p:spPr>
      </p:sp>
      <p:sp>
        <p:nvSpPr>
          <p:cNvPr id="13" name="Text 11"/>
          <p:cNvSpPr/>
          <p:nvPr/>
        </p:nvSpPr>
        <p:spPr>
          <a:xfrm>
            <a:off x="5721350" y="3718558"/>
            <a:ext cx="58275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shm_size: 2gb</a:t>
            </a:r>
            <a:endParaRPr lang="en-US" sz="1400" dirty="0"/>
          </a:p>
        </p:txBody>
      </p:sp>
      <p:sp>
        <p:nvSpPr>
          <p:cNvPr id="14" name="Text 12"/>
          <p:cNvSpPr/>
          <p:nvPr/>
        </p:nvSpPr>
        <p:spPr>
          <a:xfrm>
            <a:off x="5721350" y="3975100"/>
            <a:ext cx="58275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Docker’s default shared memory is too small for Chrome, which can then crash.</a:t>
            </a:r>
            <a:endParaRPr lang="en-US" sz="1200" dirty="0"/>
          </a:p>
        </p:txBody>
      </p:sp>
      <p:sp>
        <p:nvSpPr>
          <p:cNvPr id="15" name="Shape 13"/>
          <p:cNvSpPr/>
          <p:nvPr/>
        </p:nvSpPr>
        <p:spPr>
          <a:xfrm>
            <a:off x="5721350" y="4293233"/>
            <a:ext cx="5657850" cy="0"/>
          </a:xfrm>
          <a:prstGeom prst="line">
            <a:avLst/>
          </a:prstGeom>
          <a:noFill/>
          <a:ln w="6350">
            <a:solidFill>
              <a:srgbClr val="DDD8CC"/>
            </a:solidFill>
            <a:prstDash val="solid"/>
          </a:ln>
        </p:spPr>
      </p:sp>
      <p:sp>
        <p:nvSpPr>
          <p:cNvPr id="16" name="Shape 14"/>
          <p:cNvSpPr/>
          <p:nvPr/>
        </p:nvSpPr>
        <p:spPr>
          <a:xfrm>
            <a:off x="5721350" y="4970143"/>
            <a:ext cx="5657850" cy="0"/>
          </a:xfrm>
          <a:prstGeom prst="line">
            <a:avLst/>
          </a:prstGeom>
          <a:noFill/>
          <a:ln w="6350">
            <a:solidFill>
              <a:srgbClr val="DDD8CC"/>
            </a:solidFill>
            <a:prstDash val="solid"/>
          </a:ln>
        </p:spPr>
      </p:sp>
      <p:sp>
        <p:nvSpPr>
          <p:cNvPr id="17" name="Text 15"/>
          <p:cNvSpPr/>
          <p:nvPr/>
        </p:nvSpPr>
        <p:spPr>
          <a:xfrm>
            <a:off x="5721350" y="4396742"/>
            <a:ext cx="582758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Pinned image tags</a:t>
            </a:r>
            <a:endParaRPr lang="en-US" sz="1400" dirty="0"/>
          </a:p>
        </p:txBody>
      </p:sp>
      <p:sp>
        <p:nvSpPr>
          <p:cNvPr id="18" name="Text 16"/>
          <p:cNvSpPr/>
          <p:nvPr/>
        </p:nvSpPr>
        <p:spPr>
          <a:xfrm>
            <a:off x="5721350" y="4653285"/>
            <a:ext cx="58275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run gets the same Selenium and browser versions.</a:t>
            </a:r>
            <a:endParaRPr lang="en-US" sz="1200" dirty="0"/>
          </a:p>
        </p:txBody>
      </p:sp>
      <p:sp>
        <p:nvSpPr>
          <p:cNvPr id="19" name="Text 17"/>
          <p:cNvSpPr/>
          <p:nvPr/>
        </p:nvSpPr>
        <p:spPr>
          <a:xfrm>
            <a:off x="812800" y="6238242"/>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0" name="Text 18"/>
          <p:cNvSpPr/>
          <p:nvPr/>
        </p:nvSpPr>
        <p:spPr>
          <a:xfrm>
            <a:off x="5646182" y="6238242"/>
            <a:ext cx="590500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grid/docker-compose.yml, first 16 of 24 lines · based on docker-selenium’s example</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SETUP: OWN GRID</a:t>
            </a:r>
            <a:endParaRPr lang="en-US" sz="1200" dirty="0"/>
          </a:p>
        </p:txBody>
      </p:sp>
      <p:sp>
        <p:nvSpPr>
          <p:cNvPr id="3" name="Text 1"/>
          <p:cNvSpPr/>
          <p:nvPr/>
        </p:nvSpPr>
        <p:spPr>
          <a:xfrm>
            <a:off x="812800" y="11277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Same tests, now on the grid</a:t>
            </a:r>
            <a:endParaRPr lang="en-US" sz="3200" dirty="0"/>
          </a:p>
        </p:txBody>
      </p:sp>
      <p:sp>
        <p:nvSpPr>
          <p:cNvPr id="4" name="Shape 2"/>
          <p:cNvSpPr/>
          <p:nvPr/>
        </p:nvSpPr>
        <p:spPr>
          <a:xfrm>
            <a:off x="812800" y="1828800"/>
            <a:ext cx="8312150" cy="1635760"/>
          </a:xfrm>
          <a:prstGeom prst="roundRect">
            <a:avLst>
              <a:gd name="adj" fmla="val 4658"/>
            </a:avLst>
          </a:prstGeom>
          <a:solidFill>
            <a:srgbClr val="13233A"/>
          </a:solidFill>
          <a:ln/>
        </p:spPr>
      </p:sp>
      <p:sp>
        <p:nvSpPr>
          <p:cNvPr id="5" name="Text 3"/>
          <p:cNvSpPr/>
          <p:nvPr/>
        </p:nvSpPr>
        <p:spPr>
          <a:xfrm>
            <a:off x="990600" y="2006600"/>
            <a:ext cx="8195246"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@pytest.fixture</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grid = os.environ.get(</a:t>
            </a:r>
            <a:r>
              <a:rPr lang="en-US" sz="1200" dirty="0">
                <a:solidFill>
                  <a:srgbClr val="9CC7F0"/>
                </a:solidFill>
                <a:latin typeface="JetBrains Mono" pitchFamily="34" charset="0"/>
                <a:ea typeface="JetBrains Mono" pitchFamily="34" charset="-122"/>
                <a:cs typeface="JetBrains Mono" pitchFamily="34" charset="-120"/>
              </a:rPr>
              <a:t>"GRID_URL"</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"http://localhost:4444"</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 = webdriver.Remote(command_executor=grid, options=webdriver.ChromeOptions())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yield</a:t>
            </a:r>
            <a:r>
              <a:rPr lang="en-US" sz="1200" dirty="0">
                <a:solidFill>
                  <a:srgbClr val="E6EAF0"/>
                </a:solidFill>
                <a:latin typeface="JetBrains Mono" pitchFamily="34" charset="0"/>
                <a:ea typeface="JetBrains Mono" pitchFamily="34" charset="-122"/>
                <a:cs typeface="JetBrains Mono" pitchFamily="34" charset="-120"/>
              </a:rPr>
              <a:t>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driver.quit()</a:t>
            </a:r>
            <a:endParaRPr lang="en-US" sz="1200" dirty="0"/>
          </a:p>
        </p:txBody>
      </p:sp>
      <p:sp>
        <p:nvSpPr>
          <p:cNvPr id="6" name="Shape 4"/>
          <p:cNvSpPr/>
          <p:nvPr/>
        </p:nvSpPr>
        <p:spPr>
          <a:xfrm>
            <a:off x="812800" y="3667770"/>
            <a:ext cx="5753100" cy="1432560"/>
          </a:xfrm>
          <a:prstGeom prst="roundRect">
            <a:avLst>
              <a:gd name="adj" fmla="val 5319"/>
            </a:avLst>
          </a:prstGeom>
          <a:solidFill>
            <a:srgbClr val="13233A"/>
          </a:solidFill>
          <a:ln/>
        </p:spPr>
      </p:sp>
      <p:sp>
        <p:nvSpPr>
          <p:cNvPr id="7" name="Text 5"/>
          <p:cNvSpPr/>
          <p:nvPr/>
        </p:nvSpPr>
        <p:spPr>
          <a:xfrm>
            <a:off x="990600" y="3845570"/>
            <a:ext cx="5559425"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docker compose up -d --scale chrome=2 selenium-hub chrome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BASE_URL=http://172.18.0.1:5000 pytest -n 2 tests/grid</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[100%]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4 passed in 15.87s</a:t>
            </a:r>
            <a:endParaRPr lang="en-US" sz="1200" dirty="0"/>
          </a:p>
        </p:txBody>
      </p:sp>
      <p:sp>
        <p:nvSpPr>
          <p:cNvPr id="8" name="Text 6"/>
          <p:cNvSpPr/>
          <p:nvPr/>
        </p:nvSpPr>
        <p:spPr>
          <a:xfrm>
            <a:off x="6819900" y="3667770"/>
            <a:ext cx="46960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Only this fixture changed; the tests and page objects are the ones from Lecture 18.</a:t>
            </a:r>
            <a:endParaRPr lang="en-US" sz="1200" dirty="0"/>
          </a:p>
        </p:txBody>
      </p:sp>
      <p:sp>
        <p:nvSpPr>
          <p:cNvPr id="9" name="Text 7"/>
          <p:cNvSpPr/>
          <p:nvPr/>
        </p:nvSpPr>
        <p:spPr>
          <a:xfrm>
            <a:off x="6819900" y="4170685"/>
            <a:ext cx="46960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 2 (pytest-xdist) runs two tests at a time, one on each Chrome node.</a:t>
            </a:r>
            <a:endParaRPr lang="en-US" sz="1200" dirty="0"/>
          </a:p>
        </p:txBody>
      </p:sp>
      <p:sp>
        <p:nvSpPr>
          <p:cNvPr id="10" name="Text 8"/>
          <p:cNvSpPr/>
          <p:nvPr/>
        </p:nvSpPr>
        <p:spPr>
          <a:xfrm>
            <a:off x="6819900" y="4673600"/>
            <a:ext cx="469607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Inside a container, localhost is the container, so BASE_URL uses the Docker network’s gateway.</a:t>
            </a:r>
            <a:endParaRPr lang="en-US" sz="1200" dirty="0"/>
          </a:p>
        </p:txBody>
      </p:sp>
      <p:sp>
        <p:nvSpPr>
          <p:cNvPr id="11" name="Text 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2" name="Text 10"/>
          <p:cNvSpPr/>
          <p:nvPr/>
        </p:nvSpPr>
        <p:spPr>
          <a:xfrm>
            <a:off x="5955586" y="6238255"/>
            <a:ext cx="558632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tests/grid/conftest.py · real run against the teaching app, Selenium 4.48 images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SETUP: TEST CLOUD</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same fixture, on BrowserStack</a:t>
            </a:r>
            <a:endParaRPr lang="en-US" sz="3200" dirty="0"/>
          </a:p>
        </p:txBody>
      </p:sp>
      <p:sp>
        <p:nvSpPr>
          <p:cNvPr id="4" name="Shape 2"/>
          <p:cNvSpPr/>
          <p:nvPr/>
        </p:nvSpPr>
        <p:spPr>
          <a:xfrm>
            <a:off x="812800" y="1828800"/>
            <a:ext cx="8585200" cy="3769360"/>
          </a:xfrm>
          <a:prstGeom prst="roundRect">
            <a:avLst>
              <a:gd name="adj" fmla="val 2022"/>
            </a:avLst>
          </a:prstGeom>
          <a:solidFill>
            <a:srgbClr val="13233A"/>
          </a:solidFill>
          <a:ln/>
        </p:spPr>
      </p:sp>
      <p:sp>
        <p:nvSpPr>
          <p:cNvPr id="5" name="Text 3"/>
          <p:cNvSpPr/>
          <p:nvPr/>
        </p:nvSpPr>
        <p:spPr>
          <a:xfrm>
            <a:off x="990600" y="2006600"/>
            <a:ext cx="8476488" cy="34391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HUB = </a:t>
            </a:r>
            <a:r>
              <a:rPr lang="en-US" sz="1200" dirty="0">
                <a:solidFill>
                  <a:srgbClr val="9CC7F0"/>
                </a:solidFill>
                <a:latin typeface="JetBrains Mono" pitchFamily="34" charset="0"/>
                <a:ea typeface="JetBrains Mono" pitchFamily="34" charset="-122"/>
                <a:cs typeface="JetBrains Mono" pitchFamily="34" charset="-120"/>
              </a:rPr>
              <a:t>"https://hub.browserstack.com/wd/hub"</a:t>
            </a:r>
            <a:endParaRPr lang="en-US" sz="1200" dirty="0"/>
          </a:p>
          <a:p>
            <a:pPr algn="l" indent="0" marL="0">
              <a:lnSpc>
                <a:spcPts val="1680"/>
              </a:lnSpc>
              <a:buNone/>
            </a:pP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@pytest.fixture</a:t>
            </a:r>
            <a:endParaRPr lang="en-US" sz="1200" dirty="0"/>
          </a:p>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def</a:t>
            </a:r>
            <a:r>
              <a:rPr lang="en-US" sz="1200" dirty="0">
                <a:solidFill>
                  <a:srgbClr val="E6EAF0"/>
                </a:solidFill>
                <a:latin typeface="JetBrains Mono" pitchFamily="34" charset="0"/>
                <a:ea typeface="JetBrains Mono" pitchFamily="34" charset="-122"/>
                <a:cs typeface="JetBrains Mono" pitchFamily="34" charset="-120"/>
              </a:rPr>
              <a:t> driver():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 = webdriver.ChromeOptions()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options.set_capability(</a:t>
            </a:r>
            <a:r>
              <a:rPr lang="en-US" sz="1200" dirty="0">
                <a:solidFill>
                  <a:srgbClr val="9CC7F0"/>
                </a:solidFill>
                <a:latin typeface="JetBrains Mono" pitchFamily="34" charset="0"/>
                <a:ea typeface="JetBrains Mono" pitchFamily="34" charset="-122"/>
                <a:cs typeface="JetBrains Mono" pitchFamily="34" charset="-120"/>
              </a:rPr>
              <a:t>"bstack:options"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"os"</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"Windows"</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"osVersion"</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"11"</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"browserVersion"</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"latest"</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"buildName"</a:t>
            </a:r>
            <a:r>
              <a:rPr lang="en-US" sz="1200" dirty="0">
                <a:solidFill>
                  <a:srgbClr val="E6EAF0"/>
                </a:solidFill>
                <a:latin typeface="JetBrains Mono" pitchFamily="34" charset="0"/>
                <a:ea typeface="JetBrains Mono" pitchFamily="34" charset="-122"/>
                <a:cs typeface="JetBrains Mono" pitchFamily="34" charset="-120"/>
              </a:rPr>
              <a:t>: os.environ.get(</a:t>
            </a:r>
            <a:r>
              <a:rPr lang="en-US" sz="1200" dirty="0">
                <a:solidFill>
                  <a:srgbClr val="9CC7F0"/>
                </a:solidFill>
                <a:latin typeface="JetBrains Mono" pitchFamily="34" charset="0"/>
                <a:ea typeface="JetBrains Mono" pitchFamily="34" charset="-122"/>
                <a:cs typeface="JetBrains Mono" pitchFamily="34" charset="-120"/>
              </a:rPr>
              <a:t>"BUILD_TAG"</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"local"</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"sessionName"</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"Canteen order journey"</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config = ClientConfig(remote_server_addr=HUB,</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username=os.environ[</a:t>
            </a:r>
            <a:r>
              <a:rPr lang="en-US" sz="1200" dirty="0">
                <a:solidFill>
                  <a:srgbClr val="9CC7F0"/>
                </a:solidFill>
                <a:latin typeface="JetBrains Mono" pitchFamily="34" charset="0"/>
                <a:ea typeface="JetBrains Mono" pitchFamily="34" charset="-122"/>
                <a:cs typeface="JetBrains Mono" pitchFamily="34" charset="-120"/>
              </a:rPr>
              <a:t>"BROWSERSTACK_USERNAME"</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password=os.environ[</a:t>
            </a:r>
            <a:r>
              <a:rPr lang="en-US" sz="1200" dirty="0">
                <a:solidFill>
                  <a:srgbClr val="9CC7F0"/>
                </a:solidFill>
                <a:latin typeface="JetBrains Mono" pitchFamily="34" charset="0"/>
                <a:ea typeface="JetBrains Mono" pitchFamily="34" charset="-122"/>
                <a:cs typeface="JetBrains Mono" pitchFamily="34" charset="-120"/>
              </a:rPr>
              <a:t>"BROWSERSTACK_ACCESS_KEY"</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driver = webdriver.Remote(command_executor=HUB, options=options, client_config=config)</a:t>
            </a:r>
            <a:endParaRPr lang="en-US" sz="1200" dirty="0"/>
          </a:p>
        </p:txBody>
      </p:sp>
      <p:sp>
        <p:nvSpPr>
          <p:cNvPr id="6" name="Shape 4"/>
          <p:cNvSpPr/>
          <p:nvPr/>
        </p:nvSpPr>
        <p:spPr>
          <a:xfrm>
            <a:off x="9652000" y="1835150"/>
            <a:ext cx="1727200" cy="0"/>
          </a:xfrm>
          <a:prstGeom prst="line">
            <a:avLst/>
          </a:prstGeom>
          <a:noFill/>
          <a:ln w="12700">
            <a:solidFill>
              <a:srgbClr val="A9481A"/>
            </a:solidFill>
            <a:prstDash val="solid"/>
          </a:ln>
        </p:spPr>
      </p:sp>
      <p:sp>
        <p:nvSpPr>
          <p:cNvPr id="7" name="Text 5"/>
          <p:cNvSpPr/>
          <p:nvPr/>
        </p:nvSpPr>
        <p:spPr>
          <a:xfrm>
            <a:off x="9652000" y="1915170"/>
            <a:ext cx="177901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8" name="Text 6"/>
          <p:cNvSpPr/>
          <p:nvPr/>
        </p:nvSpPr>
        <p:spPr>
          <a:xfrm>
            <a:off x="9652000" y="2219970"/>
            <a:ext cx="17790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Vendor options pick the OS and browser</a:t>
            </a:r>
            <a:endParaRPr lang="en-US" sz="1200" dirty="0"/>
          </a:p>
        </p:txBody>
      </p:sp>
      <p:sp>
        <p:nvSpPr>
          <p:cNvPr id="9" name="Shape 7"/>
          <p:cNvSpPr/>
          <p:nvPr/>
        </p:nvSpPr>
        <p:spPr>
          <a:xfrm>
            <a:off x="9652000" y="2830835"/>
            <a:ext cx="1727200" cy="0"/>
          </a:xfrm>
          <a:prstGeom prst="line">
            <a:avLst/>
          </a:prstGeom>
          <a:noFill/>
          <a:ln w="12700">
            <a:solidFill>
              <a:srgbClr val="A9481A"/>
            </a:solidFill>
            <a:prstDash val="solid"/>
          </a:ln>
        </p:spPr>
      </p:sp>
      <p:sp>
        <p:nvSpPr>
          <p:cNvPr id="10" name="Text 8"/>
          <p:cNvSpPr/>
          <p:nvPr/>
        </p:nvSpPr>
        <p:spPr>
          <a:xfrm>
            <a:off x="9652000" y="2910855"/>
            <a:ext cx="177901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1" name="Text 9"/>
          <p:cNvSpPr/>
          <p:nvPr/>
        </p:nvSpPr>
        <p:spPr>
          <a:xfrm>
            <a:off x="9652000" y="3215655"/>
            <a:ext cx="17790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 name groups a CI run’s sessions</a:t>
            </a:r>
            <a:endParaRPr lang="en-US" sz="1200" dirty="0"/>
          </a:p>
        </p:txBody>
      </p:sp>
      <p:sp>
        <p:nvSpPr>
          <p:cNvPr id="12" name="Shape 10"/>
          <p:cNvSpPr/>
          <p:nvPr/>
        </p:nvSpPr>
        <p:spPr>
          <a:xfrm>
            <a:off x="9652000" y="3826520"/>
            <a:ext cx="1727200" cy="0"/>
          </a:xfrm>
          <a:prstGeom prst="line">
            <a:avLst/>
          </a:prstGeom>
          <a:noFill/>
          <a:ln w="12700">
            <a:solidFill>
              <a:srgbClr val="A9481A"/>
            </a:solidFill>
            <a:prstDash val="solid"/>
          </a:ln>
        </p:spPr>
      </p:sp>
      <p:sp>
        <p:nvSpPr>
          <p:cNvPr id="13" name="Text 11"/>
          <p:cNvSpPr/>
          <p:nvPr/>
        </p:nvSpPr>
        <p:spPr>
          <a:xfrm>
            <a:off x="9652000" y="3906515"/>
            <a:ext cx="1779016" cy="3048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9652000" y="4211315"/>
            <a:ext cx="177901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Keys come from CI secrets</a:t>
            </a:r>
            <a:endParaRPr lang="en-US" sz="1200" dirty="0"/>
          </a:p>
        </p:txBody>
      </p:sp>
      <p:sp>
        <p:nvSpPr>
          <p:cNvPr id="15" name="Text 1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6" name="Text 14"/>
          <p:cNvSpPr/>
          <p:nvPr/>
        </p:nvSpPr>
        <p:spPr>
          <a:xfrm>
            <a:off x="5319157" y="6238255"/>
            <a:ext cx="624184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cloud/conftest.py, lines 7–23 · tested against a stand-in hub; a real run needs an account</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SETUP: DEVICE FARMS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Device farms: real phones on demand</a:t>
            </a:r>
            <a:endParaRPr lang="en-US" sz="3200" dirty="0"/>
          </a:p>
        </p:txBody>
      </p:sp>
      <p:sp>
        <p:nvSpPr>
          <p:cNvPr id="4" name="Text 2"/>
          <p:cNvSpPr/>
          <p:nvPr/>
        </p:nvSpPr>
        <p:spPr>
          <a:xfrm>
            <a:off x="812800" y="1828800"/>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FIREBASE TEST LAB</a:t>
            </a:r>
            <a:endParaRPr lang="en-US" sz="1200" dirty="0"/>
          </a:p>
        </p:txBody>
      </p:sp>
      <p:sp>
        <p:nvSpPr>
          <p:cNvPr id="5" name="Text 3"/>
          <p:cNvSpPr/>
          <p:nvPr/>
        </p:nvSpPr>
        <p:spPr>
          <a:xfrm>
            <a:off x="812800" y="2143770"/>
            <a:ext cx="5310886"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your app on devices hosted in a Google data center.”</a:t>
            </a:r>
            <a:endParaRPr lang="en-US" sz="1400" dirty="0"/>
          </a:p>
        </p:txBody>
      </p:sp>
      <p:sp>
        <p:nvSpPr>
          <p:cNvPr id="6" name="Shape 4"/>
          <p:cNvSpPr/>
          <p:nvPr/>
        </p:nvSpPr>
        <p:spPr>
          <a:xfrm>
            <a:off x="812800" y="2494285"/>
            <a:ext cx="4743450" cy="995680"/>
          </a:xfrm>
          <a:prstGeom prst="roundRect">
            <a:avLst>
              <a:gd name="adj" fmla="val 7653"/>
            </a:avLst>
          </a:prstGeom>
          <a:solidFill>
            <a:srgbClr val="13233A"/>
          </a:solidFill>
          <a:ln/>
        </p:spPr>
      </p:sp>
      <p:sp>
        <p:nvSpPr>
          <p:cNvPr id="7" name="Text 5"/>
          <p:cNvSpPr/>
          <p:nvPr/>
        </p:nvSpPr>
        <p:spPr>
          <a:xfrm>
            <a:off x="990600" y="2672085"/>
            <a:ext cx="4519486" cy="66548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gcloud firebase test android run --type robo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--app canteen-debug.apk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--device model=MODEL_ID,version=API_LEVEL</a:t>
            </a:r>
            <a:endParaRPr lang="en-US" sz="1200" dirty="0"/>
          </a:p>
        </p:txBody>
      </p:sp>
      <p:sp>
        <p:nvSpPr>
          <p:cNvPr id="8" name="Text 6"/>
          <p:cNvSpPr/>
          <p:nvPr/>
        </p:nvSpPr>
        <p:spPr>
          <a:xfrm>
            <a:off x="812800" y="3591570"/>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Robo explores the app by itself, with no test code</a:t>
            </a:r>
            <a:endParaRPr lang="en-US" sz="1200" dirty="0"/>
          </a:p>
        </p:txBody>
      </p:sp>
      <p:sp>
        <p:nvSpPr>
          <p:cNvPr id="9" name="Text 7"/>
          <p:cNvSpPr/>
          <p:nvPr/>
        </p:nvSpPr>
        <p:spPr>
          <a:xfrm>
            <a:off x="812800" y="3906515"/>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--type instrumentation --test runs an Espresso test APK</a:t>
            </a:r>
            <a:endParaRPr lang="en-US" sz="1200" dirty="0"/>
          </a:p>
        </p:txBody>
      </p:sp>
      <p:sp>
        <p:nvSpPr>
          <p:cNvPr id="10" name="Text 8"/>
          <p:cNvSpPr/>
          <p:nvPr/>
        </p:nvSpPr>
        <p:spPr>
          <a:xfrm>
            <a:off x="812800" y="4221485"/>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gcloud firebase test android models list shows model IDs</a:t>
            </a:r>
            <a:endParaRPr lang="en-US" sz="1200" dirty="0"/>
          </a:p>
        </p:txBody>
      </p:sp>
      <p:sp>
        <p:nvSpPr>
          <p:cNvPr id="11" name="Text 9"/>
          <p:cNvSpPr/>
          <p:nvPr/>
        </p:nvSpPr>
        <p:spPr>
          <a:xfrm>
            <a:off x="6223000" y="1828800"/>
            <a:ext cx="531088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AWS DEVICE FARM</a:t>
            </a:r>
            <a:endParaRPr lang="en-US" sz="1200" dirty="0"/>
          </a:p>
        </p:txBody>
      </p:sp>
      <p:sp>
        <p:nvSpPr>
          <p:cNvPr id="12" name="Text 10"/>
          <p:cNvSpPr/>
          <p:nvPr/>
        </p:nvSpPr>
        <p:spPr>
          <a:xfrm>
            <a:off x="6223000" y="2143770"/>
            <a:ext cx="531088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“test and interact with your Android, iOS, and web apps on real, physical phones and tablets that are hosted by Amazon Web Services (AWS).”</a:t>
            </a:r>
            <a:endParaRPr lang="en-US" sz="1400" dirty="0"/>
          </a:p>
        </p:txBody>
      </p:sp>
      <p:sp>
        <p:nvSpPr>
          <p:cNvPr id="13" name="Text 11"/>
          <p:cNvSpPr/>
          <p:nvPr/>
        </p:nvSpPr>
        <p:spPr>
          <a:xfrm>
            <a:off x="6223000" y="2992115"/>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Runs uploaded Appium, Espresso and XCUITest packages</a:t>
            </a:r>
            <a:endParaRPr lang="en-US" sz="1200" dirty="0"/>
          </a:p>
        </p:txBody>
      </p:sp>
      <p:sp>
        <p:nvSpPr>
          <p:cNvPr id="14" name="Text 12"/>
          <p:cNvSpPr/>
          <p:nvPr/>
        </p:nvSpPr>
        <p:spPr>
          <a:xfrm>
            <a:off x="6223000" y="3307085"/>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Remote access: use a real phone from the browser</a:t>
            </a:r>
            <a:endParaRPr lang="en-US" sz="1200" dirty="0"/>
          </a:p>
        </p:txBody>
      </p:sp>
      <p:sp>
        <p:nvSpPr>
          <p:cNvPr id="15" name="Text 13"/>
          <p:cNvSpPr/>
          <p:nvPr/>
        </p:nvSpPr>
        <p:spPr>
          <a:xfrm>
            <a:off x="6223000" y="3622055"/>
            <a:ext cx="53108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Logs, screenshots and video for each device</a:t>
            </a:r>
            <a:endParaRPr lang="en-US" sz="12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5308600" y="6238255"/>
            <a:ext cx="62527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Quotes: firebase.google.com and docs.aws.amazon.com · the command was not run here</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SETUP CHECKLIST</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Setting up cloud testing in eight steps</a:t>
            </a:r>
            <a:endParaRPr lang="en-US" sz="3200" dirty="0"/>
          </a:p>
        </p:txBody>
      </p:sp>
      <p:sp>
        <p:nvSpPr>
          <p:cNvPr id="4" name="Shape 2"/>
          <p:cNvSpPr/>
          <p:nvPr/>
        </p:nvSpPr>
        <p:spPr>
          <a:xfrm>
            <a:off x="815975" y="1831975"/>
            <a:ext cx="5238750" cy="626110"/>
          </a:xfrm>
          <a:prstGeom prst="roundRect">
            <a:avLst>
              <a:gd name="adj" fmla="val 11663"/>
            </a:avLst>
          </a:prstGeom>
          <a:solidFill>
            <a:srgbClr val="FCFBF7"/>
          </a:solidFill>
          <a:ln w="6350">
            <a:solidFill>
              <a:srgbClr val="DDD8CC"/>
            </a:solidFill>
            <a:prstDash val="solid"/>
          </a:ln>
        </p:spPr>
      </p:sp>
      <p:sp>
        <p:nvSpPr>
          <p:cNvPr id="5" name="Text 3"/>
          <p:cNvSpPr/>
          <p:nvPr/>
        </p:nvSpPr>
        <p:spPr>
          <a:xfrm>
            <a:off x="970280" y="191008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452880" y="1910085"/>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Choose the matrix</a:t>
            </a:r>
            <a:endParaRPr lang="en-US" sz="1400" dirty="0"/>
          </a:p>
        </p:txBody>
      </p:sp>
      <p:sp>
        <p:nvSpPr>
          <p:cNvPr id="7" name="Text 5"/>
          <p:cNvSpPr/>
          <p:nvPr/>
        </p:nvSpPr>
        <p:spPr>
          <a:xfrm>
            <a:off x="1452880" y="216661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Browsers, OS versions, devices from analytics</a:t>
            </a:r>
            <a:endParaRPr lang="en-US" sz="1200" dirty="0"/>
          </a:p>
        </p:txBody>
      </p:sp>
      <p:sp>
        <p:nvSpPr>
          <p:cNvPr id="8" name="Shape 6"/>
          <p:cNvSpPr/>
          <p:nvPr/>
        </p:nvSpPr>
        <p:spPr>
          <a:xfrm>
            <a:off x="6137275" y="1831975"/>
            <a:ext cx="5238750" cy="626110"/>
          </a:xfrm>
          <a:prstGeom prst="roundRect">
            <a:avLst>
              <a:gd name="adj" fmla="val 11663"/>
            </a:avLst>
          </a:prstGeom>
          <a:solidFill>
            <a:srgbClr val="FCFBF7"/>
          </a:solidFill>
          <a:ln w="6350">
            <a:solidFill>
              <a:srgbClr val="DDD8CC"/>
            </a:solidFill>
            <a:prstDash val="solid"/>
          </a:ln>
        </p:spPr>
      </p:sp>
      <p:sp>
        <p:nvSpPr>
          <p:cNvPr id="9" name="Text 7"/>
          <p:cNvSpPr/>
          <p:nvPr/>
        </p:nvSpPr>
        <p:spPr>
          <a:xfrm>
            <a:off x="6291580" y="191008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774180" y="1910085"/>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Store keys as secrets</a:t>
            </a:r>
            <a:endParaRPr lang="en-US" sz="1400" dirty="0"/>
          </a:p>
        </p:txBody>
      </p:sp>
      <p:sp>
        <p:nvSpPr>
          <p:cNvPr id="11" name="Text 9"/>
          <p:cNvSpPr/>
          <p:nvPr/>
        </p:nvSpPr>
        <p:spPr>
          <a:xfrm>
            <a:off x="6774180" y="216661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Username and access key in the CI secret store</a:t>
            </a:r>
            <a:endParaRPr lang="en-US" sz="1200" dirty="0"/>
          </a:p>
        </p:txBody>
      </p:sp>
      <p:sp>
        <p:nvSpPr>
          <p:cNvPr id="12" name="Shape 10"/>
          <p:cNvSpPr/>
          <p:nvPr/>
        </p:nvSpPr>
        <p:spPr>
          <a:xfrm>
            <a:off x="815975" y="2540645"/>
            <a:ext cx="5238750" cy="626110"/>
          </a:xfrm>
          <a:prstGeom prst="roundRect">
            <a:avLst>
              <a:gd name="adj" fmla="val 11663"/>
            </a:avLst>
          </a:prstGeom>
          <a:solidFill>
            <a:srgbClr val="FCFBF7"/>
          </a:solidFill>
          <a:ln w="6350">
            <a:solidFill>
              <a:srgbClr val="DDD8CC"/>
            </a:solidFill>
            <a:prstDash val="solid"/>
          </a:ln>
        </p:spPr>
      </p:sp>
      <p:sp>
        <p:nvSpPr>
          <p:cNvPr id="13" name="Text 11"/>
          <p:cNvSpPr/>
          <p:nvPr/>
        </p:nvSpPr>
        <p:spPr>
          <a:xfrm>
            <a:off x="970280" y="261875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452880" y="2618755"/>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Change only the driver</a:t>
            </a:r>
            <a:endParaRPr lang="en-US" sz="1400" dirty="0"/>
          </a:p>
        </p:txBody>
      </p:sp>
      <p:sp>
        <p:nvSpPr>
          <p:cNvPr id="15" name="Text 13"/>
          <p:cNvSpPr/>
          <p:nvPr/>
        </p:nvSpPr>
        <p:spPr>
          <a:xfrm>
            <a:off x="1452880" y="287528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Remote hub URL plus the vendor’s options block</a:t>
            </a:r>
            <a:endParaRPr lang="en-US" sz="1200" dirty="0"/>
          </a:p>
        </p:txBody>
      </p:sp>
      <p:sp>
        <p:nvSpPr>
          <p:cNvPr id="16" name="Shape 14"/>
          <p:cNvSpPr/>
          <p:nvPr/>
        </p:nvSpPr>
        <p:spPr>
          <a:xfrm>
            <a:off x="6137275" y="2540645"/>
            <a:ext cx="5238750" cy="626110"/>
          </a:xfrm>
          <a:prstGeom prst="roundRect">
            <a:avLst>
              <a:gd name="adj" fmla="val 11663"/>
            </a:avLst>
          </a:prstGeom>
          <a:solidFill>
            <a:srgbClr val="FCFBF7"/>
          </a:solidFill>
          <a:ln w="6350">
            <a:solidFill>
              <a:srgbClr val="DDD8CC"/>
            </a:solidFill>
            <a:prstDash val="solid"/>
          </a:ln>
        </p:spPr>
      </p:sp>
      <p:sp>
        <p:nvSpPr>
          <p:cNvPr id="17" name="Text 15"/>
          <p:cNvSpPr/>
          <p:nvPr/>
        </p:nvSpPr>
        <p:spPr>
          <a:xfrm>
            <a:off x="6291580" y="2618755"/>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774180" y="2618755"/>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Tunnel to private apps</a:t>
            </a:r>
            <a:endParaRPr lang="en-US" sz="1400" dirty="0"/>
          </a:p>
        </p:txBody>
      </p:sp>
      <p:sp>
        <p:nvSpPr>
          <p:cNvPr id="19" name="Text 17"/>
          <p:cNvSpPr/>
          <p:nvPr/>
        </p:nvSpPr>
        <p:spPr>
          <a:xfrm>
            <a:off x="6774180" y="287528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BrowserStack Local or Sauce Connect 5</a:t>
            </a:r>
            <a:endParaRPr lang="en-US" sz="1200" dirty="0"/>
          </a:p>
        </p:txBody>
      </p:sp>
      <p:sp>
        <p:nvSpPr>
          <p:cNvPr id="20" name="Shape 18"/>
          <p:cNvSpPr/>
          <p:nvPr/>
        </p:nvSpPr>
        <p:spPr>
          <a:xfrm>
            <a:off x="815975" y="3249290"/>
            <a:ext cx="5238750" cy="626110"/>
          </a:xfrm>
          <a:prstGeom prst="roundRect">
            <a:avLst>
              <a:gd name="adj" fmla="val 11663"/>
            </a:avLst>
          </a:prstGeom>
          <a:solidFill>
            <a:srgbClr val="FCFBF7"/>
          </a:solidFill>
          <a:ln w="6350">
            <a:solidFill>
              <a:srgbClr val="DDD8CC"/>
            </a:solidFill>
            <a:prstDash val="solid"/>
          </a:ln>
        </p:spPr>
      </p:sp>
      <p:sp>
        <p:nvSpPr>
          <p:cNvPr id="21" name="Text 19"/>
          <p:cNvSpPr/>
          <p:nvPr/>
        </p:nvSpPr>
        <p:spPr>
          <a:xfrm>
            <a:off x="970280" y="33274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5</a:t>
            </a:r>
            <a:endParaRPr lang="en-US" sz="2000" dirty="0"/>
          </a:p>
        </p:txBody>
      </p:sp>
      <p:sp>
        <p:nvSpPr>
          <p:cNvPr id="22" name="Text 20"/>
          <p:cNvSpPr/>
          <p:nvPr/>
        </p:nvSpPr>
        <p:spPr>
          <a:xfrm>
            <a:off x="1452880" y="3327400"/>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Name builds and sessions</a:t>
            </a:r>
            <a:endParaRPr lang="en-US" sz="1400" dirty="0"/>
          </a:p>
        </p:txBody>
      </p:sp>
      <p:sp>
        <p:nvSpPr>
          <p:cNvPr id="23" name="Text 21"/>
          <p:cNvSpPr/>
          <p:nvPr/>
        </p:nvSpPr>
        <p:spPr>
          <a:xfrm>
            <a:off x="1452880" y="358395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CI build tag makes each run one build</a:t>
            </a:r>
            <a:endParaRPr lang="en-US" sz="1200" dirty="0"/>
          </a:p>
        </p:txBody>
      </p:sp>
      <p:sp>
        <p:nvSpPr>
          <p:cNvPr id="24" name="Shape 22"/>
          <p:cNvSpPr/>
          <p:nvPr/>
        </p:nvSpPr>
        <p:spPr>
          <a:xfrm>
            <a:off x="6137275" y="3249290"/>
            <a:ext cx="5238750" cy="626110"/>
          </a:xfrm>
          <a:prstGeom prst="roundRect">
            <a:avLst>
              <a:gd name="adj" fmla="val 11663"/>
            </a:avLst>
          </a:prstGeom>
          <a:solidFill>
            <a:srgbClr val="FCFBF7"/>
          </a:solidFill>
          <a:ln w="6350">
            <a:solidFill>
              <a:srgbClr val="DDD8CC"/>
            </a:solidFill>
            <a:prstDash val="solid"/>
          </a:ln>
        </p:spPr>
      </p:sp>
      <p:sp>
        <p:nvSpPr>
          <p:cNvPr id="25" name="Text 23"/>
          <p:cNvSpPr/>
          <p:nvPr/>
        </p:nvSpPr>
        <p:spPr>
          <a:xfrm>
            <a:off x="6291580" y="332740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6</a:t>
            </a:r>
            <a:endParaRPr lang="en-US" sz="2000" dirty="0"/>
          </a:p>
        </p:txBody>
      </p:sp>
      <p:sp>
        <p:nvSpPr>
          <p:cNvPr id="26" name="Text 24"/>
          <p:cNvSpPr/>
          <p:nvPr/>
        </p:nvSpPr>
        <p:spPr>
          <a:xfrm>
            <a:off x="6774180" y="3327400"/>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Run in parallel</a:t>
            </a:r>
            <a:endParaRPr lang="en-US" sz="1400" dirty="0"/>
          </a:p>
        </p:txBody>
      </p:sp>
      <p:sp>
        <p:nvSpPr>
          <p:cNvPr id="27" name="Text 25"/>
          <p:cNvSpPr/>
          <p:nvPr/>
        </p:nvSpPr>
        <p:spPr>
          <a:xfrm>
            <a:off x="6774180" y="3583955"/>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pytest-xdist up to your plan’s parallel limit</a:t>
            </a:r>
            <a:endParaRPr lang="en-US" sz="1200" dirty="0"/>
          </a:p>
        </p:txBody>
      </p:sp>
      <p:sp>
        <p:nvSpPr>
          <p:cNvPr id="28" name="Shape 26"/>
          <p:cNvSpPr/>
          <p:nvPr/>
        </p:nvSpPr>
        <p:spPr>
          <a:xfrm>
            <a:off x="815975" y="3957960"/>
            <a:ext cx="5238750" cy="626110"/>
          </a:xfrm>
          <a:prstGeom prst="roundRect">
            <a:avLst>
              <a:gd name="adj" fmla="val 11663"/>
            </a:avLst>
          </a:prstGeom>
          <a:solidFill>
            <a:srgbClr val="FCFBF7"/>
          </a:solidFill>
          <a:ln w="6350">
            <a:solidFill>
              <a:srgbClr val="DDD8CC"/>
            </a:solidFill>
            <a:prstDash val="solid"/>
          </a:ln>
        </p:spPr>
      </p:sp>
      <p:sp>
        <p:nvSpPr>
          <p:cNvPr id="29" name="Text 27"/>
          <p:cNvSpPr/>
          <p:nvPr/>
        </p:nvSpPr>
        <p:spPr>
          <a:xfrm>
            <a:off x="970280" y="403607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7</a:t>
            </a:r>
            <a:endParaRPr lang="en-US" sz="2000" dirty="0"/>
          </a:p>
        </p:txBody>
      </p:sp>
      <p:sp>
        <p:nvSpPr>
          <p:cNvPr id="30" name="Text 28"/>
          <p:cNvSpPr/>
          <p:nvPr/>
        </p:nvSpPr>
        <p:spPr>
          <a:xfrm>
            <a:off x="1452880" y="4036070"/>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Keep the evidence</a:t>
            </a:r>
            <a:endParaRPr lang="en-US" sz="1400" dirty="0"/>
          </a:p>
        </p:txBody>
      </p:sp>
      <p:sp>
        <p:nvSpPr>
          <p:cNvPr id="31" name="Text 29"/>
          <p:cNvSpPr/>
          <p:nvPr/>
        </p:nvSpPr>
        <p:spPr>
          <a:xfrm>
            <a:off x="1452880" y="4292600"/>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Video, logs and screenshots of failures</a:t>
            </a:r>
            <a:endParaRPr lang="en-US" sz="1200" dirty="0"/>
          </a:p>
        </p:txBody>
      </p:sp>
      <p:sp>
        <p:nvSpPr>
          <p:cNvPr id="32" name="Shape 30"/>
          <p:cNvSpPr/>
          <p:nvPr/>
        </p:nvSpPr>
        <p:spPr>
          <a:xfrm>
            <a:off x="6137275" y="3957960"/>
            <a:ext cx="5238750" cy="626110"/>
          </a:xfrm>
          <a:prstGeom prst="roundRect">
            <a:avLst>
              <a:gd name="adj" fmla="val 11663"/>
            </a:avLst>
          </a:prstGeom>
          <a:solidFill>
            <a:srgbClr val="FCFBF7"/>
          </a:solidFill>
          <a:ln w="6350">
            <a:solidFill>
              <a:srgbClr val="DDD8CC"/>
            </a:solidFill>
            <a:prstDash val="solid"/>
          </a:ln>
        </p:spPr>
      </p:sp>
      <p:sp>
        <p:nvSpPr>
          <p:cNvPr id="33" name="Text 31"/>
          <p:cNvSpPr/>
          <p:nvPr/>
        </p:nvSpPr>
        <p:spPr>
          <a:xfrm>
            <a:off x="6291580" y="4036070"/>
            <a:ext cx="406400" cy="495300"/>
          </a:xfrm>
          <a:prstGeom prst="rect">
            <a:avLst/>
          </a:prstGeom>
          <a:noFill/>
          <a:ln/>
        </p:spPr>
        <p:txBody>
          <a:bodyPr wrap="square" lIns="0" tIns="0" rIns="0" bIns="0" rtlCol="0" anchor="t">
            <a:normAutofit/>
          </a:bodyPr>
          <a:lstStyle/>
          <a:p>
            <a:pPr algn="l" indent="0" marL="0">
              <a:lnSpc>
                <a:spcPts val="2200"/>
              </a:lnSpc>
              <a:buNone/>
            </a:pPr>
            <a:r>
              <a:rPr lang="en-US" sz="2000" b="1" dirty="0">
                <a:solidFill>
                  <a:srgbClr val="A9481A"/>
                </a:solidFill>
                <a:latin typeface="Space Grotesk" pitchFamily="34" charset="0"/>
                <a:ea typeface="Space Grotesk" pitchFamily="34" charset="-122"/>
                <a:cs typeface="Space Grotesk" pitchFamily="34" charset="-120"/>
              </a:rPr>
              <a:t>8</a:t>
            </a:r>
            <a:endParaRPr lang="en-US" sz="2000" dirty="0"/>
          </a:p>
        </p:txBody>
      </p:sp>
      <p:sp>
        <p:nvSpPr>
          <p:cNvPr id="34" name="Text 32"/>
          <p:cNvSpPr/>
          <p:nvPr/>
        </p:nvSpPr>
        <p:spPr>
          <a:xfrm>
            <a:off x="6774180" y="4036070"/>
            <a:ext cx="458096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Watch cost and time</a:t>
            </a:r>
            <a:endParaRPr lang="en-US" sz="1400" dirty="0"/>
          </a:p>
        </p:txBody>
      </p:sp>
      <p:sp>
        <p:nvSpPr>
          <p:cNvPr id="35" name="Text 33"/>
          <p:cNvSpPr/>
          <p:nvPr/>
        </p:nvSpPr>
        <p:spPr>
          <a:xfrm>
            <a:off x="6774180" y="4292600"/>
            <a:ext cx="458096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Minutes used, queue time, flaky sessions</a:t>
            </a:r>
            <a:endParaRPr lang="en-US" sz="1200" dirty="0"/>
          </a:p>
        </p:txBody>
      </p:sp>
      <p:sp>
        <p:nvSpPr>
          <p:cNvPr id="36" name="Shape 34"/>
          <p:cNvSpPr/>
          <p:nvPr/>
        </p:nvSpPr>
        <p:spPr>
          <a:xfrm>
            <a:off x="812800" y="4841255"/>
            <a:ext cx="10566400" cy="802640"/>
          </a:xfrm>
          <a:prstGeom prst="roundRect">
            <a:avLst>
              <a:gd name="adj" fmla="val 9494"/>
            </a:avLst>
          </a:prstGeom>
          <a:solidFill>
            <a:srgbClr val="13233A"/>
          </a:solidFill>
          <a:ln/>
        </p:spPr>
      </p:sp>
      <p:sp>
        <p:nvSpPr>
          <p:cNvPr id="37" name="Text 35"/>
          <p:cNvSpPr/>
          <p:nvPr/>
        </p:nvSpPr>
        <p:spPr>
          <a:xfrm>
            <a:off x="1016000" y="5135885"/>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STEP 4</a:t>
            </a:r>
            <a:endParaRPr lang="en-US" sz="1200" dirty="0"/>
          </a:p>
        </p:txBody>
      </p:sp>
      <p:sp>
        <p:nvSpPr>
          <p:cNvPr id="38" name="Text 36"/>
          <p:cNvSpPr/>
          <p:nvPr/>
        </p:nvSpPr>
        <p:spPr>
          <a:xfrm>
            <a:off x="1793240" y="4993655"/>
            <a:ext cx="9664243"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BrowserStack Local “connects BrowserStack to websites and apps hosted on your localhost, staging, or private network.”</a:t>
            </a:r>
            <a:endParaRPr lang="en-US" sz="1400" dirty="0"/>
          </a:p>
        </p:txBody>
      </p:sp>
      <p:sp>
        <p:nvSpPr>
          <p:cNvPr id="39" name="Text 3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40" name="Text 38"/>
          <p:cNvSpPr/>
          <p:nvPr/>
        </p:nvSpPr>
        <p:spPr>
          <a:xfrm>
            <a:off x="7759383" y="6238255"/>
            <a:ext cx="37284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Sauce Connect 4 is deprecated; use Sauce Connect 5</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L22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22</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team owns three Android phones. Give two reasons to add a device cloud, and one to keep the phones.</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does each Chrome node in our compose file set shm_size: 2gb?</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On BrowserStack, the test cannot open http://localhost:5000. Why not, and what are two fixes?</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Moving from local Chrome to the grid to BrowserStack, which files changed and which did not?</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23</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23 · 40 MINUTES</a:t>
            </a:r>
            <a:endParaRPr lang="en-US" sz="1200" dirty="0"/>
          </a:p>
        </p:txBody>
      </p:sp>
      <p:sp>
        <p:nvSpPr>
          <p:cNvPr id="4" name="Text 2"/>
          <p:cNvSpPr/>
          <p:nvPr/>
        </p:nvSpPr>
        <p:spPr>
          <a:xfrm>
            <a:off x="812800" y="31343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Tests in CI,</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reports and gates</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sp>
      <p:sp>
        <p:nvSpPr>
          <p:cNvPr id="6" name="Text 4"/>
          <p:cNvSpPr/>
          <p:nvPr/>
        </p:nvSpPr>
        <p:spPr>
          <a:xfrm>
            <a:off x="8128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execution in CI pipelines</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sp>
      <p:sp>
        <p:nvSpPr>
          <p:cNvPr id="9" name="Text 7"/>
          <p:cNvSpPr/>
          <p:nvPr/>
        </p:nvSpPr>
        <p:spPr>
          <a:xfrm>
            <a:off x="39116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20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Test reporting and quality gates</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TEST EXECUTION IN CI</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Canteen pipeline, stage by stage</a:t>
            </a:r>
            <a:endParaRPr lang="en-US" sz="3200" dirty="0"/>
          </a:p>
        </p:txBody>
      </p:sp>
      <p:sp>
        <p:nvSpPr>
          <p:cNvPr id="4" name="Shape 2"/>
          <p:cNvSpPr/>
          <p:nvPr/>
        </p:nvSpPr>
        <p:spPr>
          <a:xfrm>
            <a:off x="815975" y="1831975"/>
            <a:ext cx="1543050" cy="1517650"/>
          </a:xfrm>
          <a:prstGeom prst="roundRect">
            <a:avLst>
              <a:gd name="adj" fmla="val 4812"/>
            </a:avLst>
          </a:prstGeom>
          <a:solidFill>
            <a:srgbClr val="FCFBF7"/>
          </a:solidFill>
          <a:ln w="6350">
            <a:solidFill>
              <a:srgbClr val="C9C2B2"/>
            </a:solidFill>
            <a:prstDash val="solid"/>
          </a:ln>
        </p:spPr>
      </p:sp>
      <p:sp>
        <p:nvSpPr>
          <p:cNvPr id="5" name="Text 3"/>
          <p:cNvSpPr/>
          <p:nvPr/>
        </p:nvSpPr>
        <p:spPr>
          <a:xfrm>
            <a:off x="9448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01</a:t>
            </a:r>
            <a:endParaRPr lang="en-US" sz="1200" dirty="0"/>
          </a:p>
        </p:txBody>
      </p:sp>
      <p:sp>
        <p:nvSpPr>
          <p:cNvPr id="6" name="Text 4"/>
          <p:cNvSpPr/>
          <p:nvPr/>
        </p:nvSpPr>
        <p:spPr>
          <a:xfrm>
            <a:off x="944880" y="2199655"/>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Unit tests</a:t>
            </a:r>
            <a:endParaRPr lang="en-US" sz="1400" dirty="0"/>
          </a:p>
        </p:txBody>
      </p:sp>
      <p:sp>
        <p:nvSpPr>
          <p:cNvPr id="7" name="Text 5"/>
          <p:cNvSpPr/>
          <p:nvPr/>
        </p:nvSpPr>
        <p:spPr>
          <a:xfrm>
            <a:off x="9448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pytest, coverage at least 80%</a:t>
            </a:r>
            <a:endParaRPr lang="en-US" sz="1200" dirty="0"/>
          </a:p>
        </p:txBody>
      </p:sp>
      <p:sp>
        <p:nvSpPr>
          <p:cNvPr id="8" name="Shape 6"/>
          <p:cNvSpPr/>
          <p:nvPr/>
        </p:nvSpPr>
        <p:spPr>
          <a:xfrm>
            <a:off x="2619375" y="1831975"/>
            <a:ext cx="1543050" cy="1517650"/>
          </a:xfrm>
          <a:prstGeom prst="roundRect">
            <a:avLst>
              <a:gd name="adj" fmla="val 4812"/>
            </a:avLst>
          </a:prstGeom>
          <a:solidFill>
            <a:srgbClr val="FCFBF7"/>
          </a:solidFill>
          <a:ln w="6350">
            <a:solidFill>
              <a:srgbClr val="C9C2B2"/>
            </a:solidFill>
            <a:prstDash val="solid"/>
          </a:ln>
        </p:spPr>
      </p:sp>
      <p:sp>
        <p:nvSpPr>
          <p:cNvPr id="9" name="Text 7"/>
          <p:cNvSpPr/>
          <p:nvPr/>
        </p:nvSpPr>
        <p:spPr>
          <a:xfrm>
            <a:off x="27482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02–03</a:t>
            </a:r>
            <a:endParaRPr lang="en-US" sz="1200" dirty="0"/>
          </a:p>
        </p:txBody>
      </p:sp>
      <p:sp>
        <p:nvSpPr>
          <p:cNvPr id="10" name="Text 8"/>
          <p:cNvSpPr/>
          <p:nvPr/>
        </p:nvSpPr>
        <p:spPr>
          <a:xfrm>
            <a:off x="2748280" y="2199655"/>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Analysis</a:t>
            </a:r>
            <a:endParaRPr lang="en-US" sz="1400" dirty="0"/>
          </a:p>
        </p:txBody>
      </p:sp>
      <p:sp>
        <p:nvSpPr>
          <p:cNvPr id="11" name="Text 9"/>
          <p:cNvSpPr/>
          <p:nvPr/>
        </p:nvSpPr>
        <p:spPr>
          <a:xfrm>
            <a:off x="27482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SonarQube and its quality gate</a:t>
            </a:r>
            <a:endParaRPr lang="en-US" sz="1200" dirty="0"/>
          </a:p>
        </p:txBody>
      </p:sp>
      <p:sp>
        <p:nvSpPr>
          <p:cNvPr id="12" name="Shape 10"/>
          <p:cNvSpPr/>
          <p:nvPr/>
        </p:nvSpPr>
        <p:spPr>
          <a:xfrm>
            <a:off x="4422775" y="1831975"/>
            <a:ext cx="1543050" cy="1517650"/>
          </a:xfrm>
          <a:prstGeom prst="roundRect">
            <a:avLst>
              <a:gd name="adj" fmla="val 4812"/>
            </a:avLst>
          </a:prstGeom>
          <a:solidFill>
            <a:srgbClr val="FCFBF7"/>
          </a:solidFill>
          <a:ln w="6350">
            <a:solidFill>
              <a:srgbClr val="C9C2B2"/>
            </a:solidFill>
            <a:prstDash val="solid"/>
          </a:ln>
        </p:spPr>
      </p:sp>
      <p:sp>
        <p:nvSpPr>
          <p:cNvPr id="13" name="Text 11"/>
          <p:cNvSpPr/>
          <p:nvPr/>
        </p:nvSpPr>
        <p:spPr>
          <a:xfrm>
            <a:off x="45516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04</a:t>
            </a:r>
            <a:endParaRPr lang="en-US" sz="1200" dirty="0"/>
          </a:p>
        </p:txBody>
      </p:sp>
      <p:sp>
        <p:nvSpPr>
          <p:cNvPr id="14" name="Text 12"/>
          <p:cNvSpPr/>
          <p:nvPr/>
        </p:nvSpPr>
        <p:spPr>
          <a:xfrm>
            <a:off x="4551680" y="2199655"/>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Deploy</a:t>
            </a:r>
            <a:endParaRPr lang="en-US" sz="1400" dirty="0"/>
          </a:p>
        </p:txBody>
      </p:sp>
      <p:sp>
        <p:nvSpPr>
          <p:cNvPr id="15" name="Text 13"/>
          <p:cNvSpPr/>
          <p:nvPr/>
        </p:nvSpPr>
        <p:spPr>
          <a:xfrm>
            <a:off x="4551680" y="24561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To the test server</a:t>
            </a:r>
            <a:endParaRPr lang="en-US" sz="1200" dirty="0"/>
          </a:p>
        </p:txBody>
      </p:sp>
      <p:sp>
        <p:nvSpPr>
          <p:cNvPr id="16" name="Shape 14"/>
          <p:cNvSpPr/>
          <p:nvPr/>
        </p:nvSpPr>
        <p:spPr>
          <a:xfrm>
            <a:off x="6226175" y="1831975"/>
            <a:ext cx="1543050" cy="1517650"/>
          </a:xfrm>
          <a:prstGeom prst="roundRect">
            <a:avLst>
              <a:gd name="adj" fmla="val 4812"/>
            </a:avLst>
          </a:prstGeom>
          <a:solidFill>
            <a:srgbClr val="FCFBF7"/>
          </a:solidFill>
          <a:ln w="6350">
            <a:solidFill>
              <a:srgbClr val="C9C2B2"/>
            </a:solidFill>
            <a:prstDash val="solid"/>
          </a:ln>
        </p:spPr>
      </p:sp>
      <p:sp>
        <p:nvSpPr>
          <p:cNvPr id="17" name="Text 15"/>
          <p:cNvSpPr/>
          <p:nvPr/>
        </p:nvSpPr>
        <p:spPr>
          <a:xfrm>
            <a:off x="63550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05</a:t>
            </a:r>
            <a:endParaRPr lang="en-US" sz="1200" dirty="0"/>
          </a:p>
        </p:txBody>
      </p:sp>
      <p:sp>
        <p:nvSpPr>
          <p:cNvPr id="18" name="Text 16"/>
          <p:cNvSpPr/>
          <p:nvPr/>
        </p:nvSpPr>
        <p:spPr>
          <a:xfrm>
            <a:off x="6355080" y="2199655"/>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Smoke</a:t>
            </a:r>
            <a:endParaRPr lang="en-US" sz="1400" dirty="0"/>
          </a:p>
        </p:txBody>
      </p:sp>
      <p:sp>
        <p:nvSpPr>
          <p:cNvPr id="19" name="Text 17"/>
          <p:cNvSpPr/>
          <p:nvPr/>
        </p:nvSpPr>
        <p:spPr>
          <a:xfrm>
            <a:off x="6355080" y="2456185"/>
            <a:ext cx="13360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Key journeys on the new build</a:t>
            </a:r>
            <a:endParaRPr lang="en-US" sz="1200" dirty="0"/>
          </a:p>
        </p:txBody>
      </p:sp>
      <p:sp>
        <p:nvSpPr>
          <p:cNvPr id="20" name="Shape 18"/>
          <p:cNvSpPr/>
          <p:nvPr/>
        </p:nvSpPr>
        <p:spPr>
          <a:xfrm>
            <a:off x="8029575" y="1831975"/>
            <a:ext cx="1543050" cy="1517650"/>
          </a:xfrm>
          <a:prstGeom prst="roundRect">
            <a:avLst>
              <a:gd name="adj" fmla="val 4812"/>
            </a:avLst>
          </a:prstGeom>
          <a:solidFill>
            <a:srgbClr val="FCFBF7"/>
          </a:solidFill>
          <a:ln w="6350">
            <a:solidFill>
              <a:srgbClr val="C9C2B2"/>
            </a:solidFill>
            <a:prstDash val="solid"/>
          </a:ln>
        </p:spPr>
      </p:sp>
      <p:sp>
        <p:nvSpPr>
          <p:cNvPr id="21" name="Text 19"/>
          <p:cNvSpPr/>
          <p:nvPr/>
        </p:nvSpPr>
        <p:spPr>
          <a:xfrm>
            <a:off x="8158480" y="1960885"/>
            <a:ext cx="133604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06</a:t>
            </a:r>
            <a:endParaRPr lang="en-US" sz="1200" dirty="0"/>
          </a:p>
        </p:txBody>
      </p:sp>
      <p:sp>
        <p:nvSpPr>
          <p:cNvPr id="22" name="Text 20"/>
          <p:cNvSpPr/>
          <p:nvPr/>
        </p:nvSpPr>
        <p:spPr>
          <a:xfrm>
            <a:off x="8158480" y="2225055"/>
            <a:ext cx="13360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Regression</a:t>
            </a:r>
            <a:endParaRPr lang="en-US" sz="1400" dirty="0"/>
          </a:p>
        </p:txBody>
      </p:sp>
      <p:sp>
        <p:nvSpPr>
          <p:cNvPr id="23" name="Shape 21"/>
          <p:cNvSpPr/>
          <p:nvPr/>
        </p:nvSpPr>
        <p:spPr>
          <a:xfrm>
            <a:off x="8158480" y="2506985"/>
            <a:ext cx="1285240" cy="264160"/>
          </a:xfrm>
          <a:prstGeom prst="roundRect">
            <a:avLst>
              <a:gd name="adj" fmla="val 19231"/>
            </a:avLst>
          </a:prstGeom>
          <a:solidFill>
            <a:srgbClr val="DCE7F3"/>
          </a:solidFill>
          <a:ln/>
        </p:spPr>
      </p:sp>
      <p:sp>
        <p:nvSpPr>
          <p:cNvPr id="24" name="Text 22"/>
          <p:cNvSpPr/>
          <p:nvPr/>
        </p:nvSpPr>
        <p:spPr>
          <a:xfrm>
            <a:off x="8234680" y="2532385"/>
            <a:ext cx="1183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API · Newman</a:t>
            </a:r>
            <a:endParaRPr lang="en-US" sz="1200" dirty="0"/>
          </a:p>
        </p:txBody>
      </p:sp>
      <p:sp>
        <p:nvSpPr>
          <p:cNvPr id="25" name="Shape 23"/>
          <p:cNvSpPr/>
          <p:nvPr/>
        </p:nvSpPr>
        <p:spPr>
          <a:xfrm>
            <a:off x="8158480" y="2821955"/>
            <a:ext cx="1285240" cy="264160"/>
          </a:xfrm>
          <a:prstGeom prst="roundRect">
            <a:avLst>
              <a:gd name="adj" fmla="val 19231"/>
            </a:avLst>
          </a:prstGeom>
          <a:solidFill>
            <a:srgbClr val="DCE7F3"/>
          </a:solidFill>
          <a:ln/>
        </p:spPr>
      </p:sp>
      <p:sp>
        <p:nvSpPr>
          <p:cNvPr id="26" name="Text 24"/>
          <p:cNvSpPr/>
          <p:nvPr/>
        </p:nvSpPr>
        <p:spPr>
          <a:xfrm>
            <a:off x="8234680" y="2847355"/>
            <a:ext cx="118364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UI · pytest</a:t>
            </a:r>
            <a:endParaRPr lang="en-US" sz="1200" dirty="0"/>
          </a:p>
        </p:txBody>
      </p:sp>
      <p:sp>
        <p:nvSpPr>
          <p:cNvPr id="27" name="Shape 25"/>
          <p:cNvSpPr/>
          <p:nvPr/>
        </p:nvSpPr>
        <p:spPr>
          <a:xfrm>
            <a:off x="9829800" y="1828800"/>
            <a:ext cx="1549400" cy="1524000"/>
          </a:xfrm>
          <a:prstGeom prst="roundRect">
            <a:avLst>
              <a:gd name="adj" fmla="val 5000"/>
            </a:avLst>
          </a:prstGeom>
          <a:solidFill>
            <a:srgbClr val="13233A"/>
          </a:solidFill>
          <a:ln/>
        </p:spPr>
      </p:sp>
      <p:sp>
        <p:nvSpPr>
          <p:cNvPr id="28" name="Text 26"/>
          <p:cNvSpPr/>
          <p:nvPr/>
        </p:nvSpPr>
        <p:spPr>
          <a:xfrm>
            <a:off x="9956800" y="1955800"/>
            <a:ext cx="1346200"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2A36B"/>
                </a:solidFill>
                <a:latin typeface="JetBrains Mono" pitchFamily="34" charset="0"/>
                <a:ea typeface="JetBrains Mono" pitchFamily="34" charset="-122"/>
                <a:cs typeface="JetBrains Mono" pitchFamily="34" charset="-120"/>
              </a:rPr>
              <a:t>post</a:t>
            </a:r>
            <a:endParaRPr lang="en-US" sz="1200" dirty="0"/>
          </a:p>
        </p:txBody>
      </p:sp>
      <p:sp>
        <p:nvSpPr>
          <p:cNvPr id="29" name="Text 27"/>
          <p:cNvSpPr/>
          <p:nvPr/>
        </p:nvSpPr>
        <p:spPr>
          <a:xfrm>
            <a:off x="9956800" y="2194570"/>
            <a:ext cx="13462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F3F1EA"/>
                </a:solidFill>
                <a:latin typeface="IBM Plex Sans" pitchFamily="34" charset="0"/>
                <a:ea typeface="IBM Plex Sans" pitchFamily="34" charset="-122"/>
                <a:cs typeface="IBM Plex Sans" pitchFamily="34" charset="-120"/>
              </a:rPr>
              <a:t>Reports</a:t>
            </a:r>
            <a:endParaRPr lang="en-US" sz="1400" dirty="0"/>
          </a:p>
        </p:txBody>
      </p:sp>
      <p:sp>
        <p:nvSpPr>
          <p:cNvPr id="30" name="Text 28"/>
          <p:cNvSpPr/>
          <p:nvPr/>
        </p:nvSpPr>
        <p:spPr>
          <a:xfrm>
            <a:off x="9956800" y="2451100"/>
            <a:ext cx="13462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junit publishes every XML result</a:t>
            </a:r>
            <a:endParaRPr lang="en-US" sz="1200" dirty="0"/>
          </a:p>
        </p:txBody>
      </p:sp>
      <p:pic>
        <p:nvPicPr>
          <p:cNvPr id="31" name="Image 0" descr="connector">    </p:cNvPr>
          <p:cNvPicPr>
            <a:picLocks noChangeAspect="1"/>
          </p:cNvPicPr>
          <p:nvPr/>
        </p:nvPicPr>
        <p:blipFill>
          <a:blip r:embed="rId1"/>
          <a:srcRect l="0" r="0" t="0" b="0"/>
          <a:stretch/>
        </p:blipFill>
        <p:spPr>
          <a:xfrm>
            <a:off x="2311400" y="2540000"/>
            <a:ext cx="355600" cy="101600"/>
          </a:xfrm>
          <a:prstGeom prst="rect">
            <a:avLst/>
          </a:prstGeom>
        </p:spPr>
      </p:pic>
      <p:pic>
        <p:nvPicPr>
          <p:cNvPr id="32" name="Image 1" descr="connector">    </p:cNvPr>
          <p:cNvPicPr>
            <a:picLocks noChangeAspect="1"/>
          </p:cNvPicPr>
          <p:nvPr/>
        </p:nvPicPr>
        <p:blipFill>
          <a:blip r:embed="rId2"/>
          <a:srcRect l="0" r="0" t="0" b="0"/>
          <a:stretch/>
        </p:blipFill>
        <p:spPr>
          <a:xfrm>
            <a:off x="4114800" y="2540000"/>
            <a:ext cx="355600" cy="101600"/>
          </a:xfrm>
          <a:prstGeom prst="rect">
            <a:avLst/>
          </a:prstGeom>
        </p:spPr>
      </p:pic>
      <p:pic>
        <p:nvPicPr>
          <p:cNvPr id="33" name="Image 2" descr="connector">    </p:cNvPr>
          <p:cNvPicPr>
            <a:picLocks noChangeAspect="1"/>
          </p:cNvPicPr>
          <p:nvPr/>
        </p:nvPicPr>
        <p:blipFill>
          <a:blip r:embed="rId3"/>
          <a:srcRect l="0" r="0" t="0" b="0"/>
          <a:stretch/>
        </p:blipFill>
        <p:spPr>
          <a:xfrm>
            <a:off x="5918200" y="2540000"/>
            <a:ext cx="355600" cy="101600"/>
          </a:xfrm>
          <a:prstGeom prst="rect">
            <a:avLst/>
          </a:prstGeom>
        </p:spPr>
      </p:pic>
      <p:pic>
        <p:nvPicPr>
          <p:cNvPr id="34" name="Image 3" descr="connector">    </p:cNvPr>
          <p:cNvPicPr>
            <a:picLocks noChangeAspect="1"/>
          </p:cNvPicPr>
          <p:nvPr/>
        </p:nvPicPr>
        <p:blipFill>
          <a:blip r:embed="rId4"/>
          <a:srcRect l="0" r="0" t="0" b="0"/>
          <a:stretch/>
        </p:blipFill>
        <p:spPr>
          <a:xfrm>
            <a:off x="7721600" y="2540000"/>
            <a:ext cx="355600" cy="101600"/>
          </a:xfrm>
          <a:prstGeom prst="rect">
            <a:avLst/>
          </a:prstGeom>
        </p:spPr>
      </p:pic>
      <p:pic>
        <p:nvPicPr>
          <p:cNvPr id="35" name="Image 4" descr="connector">    </p:cNvPr>
          <p:cNvPicPr>
            <a:picLocks noChangeAspect="1"/>
          </p:cNvPicPr>
          <p:nvPr/>
        </p:nvPicPr>
        <p:blipFill>
          <a:blip r:embed="rId5"/>
          <a:srcRect l="0" r="0" t="0" b="0"/>
          <a:stretch/>
        </p:blipFill>
        <p:spPr>
          <a:xfrm>
            <a:off x="9525000" y="2540000"/>
            <a:ext cx="355600" cy="101600"/>
          </a:xfrm>
          <a:prstGeom prst="rect">
            <a:avLst/>
          </a:prstGeom>
        </p:spPr>
      </p:pic>
      <p:sp>
        <p:nvSpPr>
          <p:cNvPr id="36" name="Shape 29"/>
          <p:cNvSpPr/>
          <p:nvPr/>
        </p:nvSpPr>
        <p:spPr>
          <a:xfrm>
            <a:off x="812800" y="3606800"/>
            <a:ext cx="8763000" cy="406400"/>
          </a:xfrm>
          <a:prstGeom prst="roundRect">
            <a:avLst>
              <a:gd name="adj" fmla="val 18750"/>
            </a:avLst>
          </a:prstGeom>
          <a:solidFill>
            <a:srgbClr val="DCE7F3"/>
          </a:solidFill>
          <a:ln/>
        </p:spPr>
      </p:sp>
      <p:sp>
        <p:nvSpPr>
          <p:cNvPr id="37" name="Text 30"/>
          <p:cNvSpPr/>
          <p:nvPr/>
        </p:nvSpPr>
        <p:spPr>
          <a:xfrm>
            <a:off x="965200" y="3703315"/>
            <a:ext cx="193533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Seconds, no server needed</a:t>
            </a:r>
            <a:endParaRPr lang="en-US" sz="1200" dirty="0"/>
          </a:p>
        </p:txBody>
      </p:sp>
      <p:sp>
        <p:nvSpPr>
          <p:cNvPr id="38" name="Text 31"/>
          <p:cNvSpPr/>
          <p:nvPr/>
        </p:nvSpPr>
        <p:spPr>
          <a:xfrm>
            <a:off x="7119303" y="3703315"/>
            <a:ext cx="23732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Minutes, needs the deployed app</a:t>
            </a:r>
            <a:endParaRPr lang="en-US" sz="1200" dirty="0"/>
          </a:p>
        </p:txBody>
      </p:sp>
      <p:sp>
        <p:nvSpPr>
          <p:cNvPr id="39" name="Shape 32"/>
          <p:cNvSpPr/>
          <p:nvPr/>
        </p:nvSpPr>
        <p:spPr>
          <a:xfrm>
            <a:off x="812800" y="4140200"/>
            <a:ext cx="10566400" cy="406400"/>
          </a:xfrm>
          <a:prstGeom prst="roundRect">
            <a:avLst>
              <a:gd name="adj" fmla="val 18750"/>
            </a:avLst>
          </a:prstGeom>
          <a:solidFill>
            <a:srgbClr val="ECE8DE"/>
          </a:solidFill>
          <a:ln/>
        </p:spPr>
      </p:sp>
      <p:sp>
        <p:nvSpPr>
          <p:cNvPr id="40" name="Text 33"/>
          <p:cNvSpPr/>
          <p:nvPr/>
        </p:nvSpPr>
        <p:spPr>
          <a:xfrm>
            <a:off x="965200" y="4236715"/>
            <a:ext cx="657802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stage starts only when the one before it passed; the post section runs whatever happened</a:t>
            </a:r>
            <a:endParaRPr lang="en-US" sz="1200" dirty="0"/>
          </a:p>
        </p:txBody>
      </p:sp>
      <p:sp>
        <p:nvSpPr>
          <p:cNvPr id="41" name="Text 3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42" name="Text 35"/>
          <p:cNvSpPr/>
          <p:nvPr/>
        </p:nvSpPr>
        <p:spPr>
          <a:xfrm>
            <a:off x="6840696" y="6238255"/>
            <a:ext cx="467465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stages of our Jenkinsfile · API and UI regression run in parallel</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TEST EXECUTION IN CI</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 declarative Jenkinsfile</a:t>
            </a:r>
            <a:endParaRPr lang="en-US" sz="3200" dirty="0"/>
          </a:p>
        </p:txBody>
      </p:sp>
      <p:sp>
        <p:nvSpPr>
          <p:cNvPr id="4" name="Shape 2"/>
          <p:cNvSpPr/>
          <p:nvPr/>
        </p:nvSpPr>
        <p:spPr>
          <a:xfrm>
            <a:off x="812800" y="1828800"/>
            <a:ext cx="10325100" cy="2915920"/>
          </a:xfrm>
          <a:prstGeom prst="roundRect">
            <a:avLst>
              <a:gd name="adj" fmla="val 2613"/>
            </a:avLst>
          </a:prstGeom>
          <a:solidFill>
            <a:srgbClr val="13233A"/>
          </a:solidFill>
          <a:ln/>
        </p:spPr>
      </p:sp>
      <p:sp>
        <p:nvSpPr>
          <p:cNvPr id="5" name="Text 3"/>
          <p:cNvSpPr/>
          <p:nvPr/>
        </p:nvSpPr>
        <p:spPr>
          <a:xfrm>
            <a:off x="990600" y="2006600"/>
            <a:ext cx="10268585" cy="258572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pipeline</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agent</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any</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environment</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CANTEEN_PASSWORD = credentials(</a:t>
            </a:r>
            <a:r>
              <a:rPr lang="en-US" sz="1200" dirty="0">
                <a:solidFill>
                  <a:srgbClr val="9CC7F0"/>
                </a:solidFill>
                <a:latin typeface="JetBrains Mono" pitchFamily="34" charset="0"/>
                <a:ea typeface="JetBrains Mono" pitchFamily="34" charset="-122"/>
                <a:cs typeface="JetBrains Mono" pitchFamily="34" charset="-120"/>
              </a:rPr>
              <a:t>'canteen-password'</a:t>
            </a:r>
            <a:r>
              <a:rPr lang="en-US" sz="1200" dirty="0">
                <a:solidFill>
                  <a:srgbClr val="E6EAF0"/>
                </a:solidFill>
                <a:latin typeface="JetBrains Mono" pitchFamily="34" charset="0"/>
                <a:ea typeface="JetBrains Mono" pitchFamily="34" charset="-122"/>
                <a:cs typeface="JetBrains Mono" pitchFamily="34" charset="-120"/>
              </a:rPr>
              <a:t>)</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'Unit tests'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steps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sh </a:t>
            </a:r>
            <a:r>
              <a:rPr lang="en-US" sz="1200" dirty="0">
                <a:solidFill>
                  <a:srgbClr val="9CC7F0"/>
                </a:solidFill>
                <a:latin typeface="JetBrains Mono" pitchFamily="34" charset="0"/>
                <a:ea typeface="JetBrains Mono" pitchFamily="34" charset="-122"/>
                <a:cs typeface="JetBrains Mono" pitchFamily="34" charset="-120"/>
              </a:rPr>
              <a:t>'pytest tests/unit --junitxml=reports/unit.xml --cov=canteen --cov-report=xml --cov-fail-under=80'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p:txBody>
      </p:sp>
      <p:sp>
        <p:nvSpPr>
          <p:cNvPr id="6" name="Shape 4"/>
          <p:cNvSpPr/>
          <p:nvPr/>
        </p:nvSpPr>
        <p:spPr>
          <a:xfrm>
            <a:off x="812800" y="4903465"/>
            <a:ext cx="2527300" cy="0"/>
          </a:xfrm>
          <a:prstGeom prst="line">
            <a:avLst/>
          </a:prstGeom>
          <a:noFill/>
          <a:ln w="12700">
            <a:solidFill>
              <a:srgbClr val="A9481A"/>
            </a:solidFill>
            <a:prstDash val="solid"/>
          </a:ln>
        </p:spPr>
      </p:sp>
      <p:sp>
        <p:nvSpPr>
          <p:cNvPr id="7" name="Text 5"/>
          <p:cNvSpPr/>
          <p:nvPr/>
        </p:nvSpPr>
        <p:spPr>
          <a:xfrm>
            <a:off x="812800" y="498348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agent any</a:t>
            </a:r>
            <a:endParaRPr lang="en-US" sz="1200" dirty="0"/>
          </a:p>
        </p:txBody>
      </p:sp>
      <p:sp>
        <p:nvSpPr>
          <p:cNvPr id="8" name="Text 6"/>
          <p:cNvSpPr/>
          <p:nvPr/>
        </p:nvSpPr>
        <p:spPr>
          <a:xfrm>
            <a:off x="812800" y="52476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Run on any free Jenkins agent</a:t>
            </a:r>
            <a:endParaRPr lang="en-US" sz="1200" dirty="0"/>
          </a:p>
        </p:txBody>
      </p:sp>
      <p:sp>
        <p:nvSpPr>
          <p:cNvPr id="9" name="Shape 7"/>
          <p:cNvSpPr/>
          <p:nvPr/>
        </p:nvSpPr>
        <p:spPr>
          <a:xfrm>
            <a:off x="3492500" y="4903465"/>
            <a:ext cx="2527300" cy="0"/>
          </a:xfrm>
          <a:prstGeom prst="line">
            <a:avLst/>
          </a:prstGeom>
          <a:noFill/>
          <a:ln w="12700">
            <a:solidFill>
              <a:srgbClr val="A9481A"/>
            </a:solidFill>
            <a:prstDash val="solid"/>
          </a:ln>
        </p:spPr>
      </p:sp>
      <p:sp>
        <p:nvSpPr>
          <p:cNvPr id="10" name="Text 8"/>
          <p:cNvSpPr/>
          <p:nvPr/>
        </p:nvSpPr>
        <p:spPr>
          <a:xfrm>
            <a:off x="3492500" y="498348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credentials()</a:t>
            </a:r>
            <a:endParaRPr lang="en-US" sz="1200" dirty="0"/>
          </a:p>
        </p:txBody>
      </p:sp>
      <p:sp>
        <p:nvSpPr>
          <p:cNvPr id="11" name="Text 9"/>
          <p:cNvSpPr/>
          <p:nvPr/>
        </p:nvSpPr>
        <p:spPr>
          <a:xfrm>
            <a:off x="3492500" y="5247655"/>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Reads a stored secret; the log masks it</a:t>
            </a:r>
            <a:endParaRPr lang="en-US" sz="1200" dirty="0"/>
          </a:p>
        </p:txBody>
      </p:sp>
      <p:sp>
        <p:nvSpPr>
          <p:cNvPr id="12" name="Shape 10"/>
          <p:cNvSpPr/>
          <p:nvPr/>
        </p:nvSpPr>
        <p:spPr>
          <a:xfrm>
            <a:off x="6172200" y="4903465"/>
            <a:ext cx="2527300" cy="0"/>
          </a:xfrm>
          <a:prstGeom prst="line">
            <a:avLst/>
          </a:prstGeom>
          <a:noFill/>
          <a:ln w="12700">
            <a:solidFill>
              <a:srgbClr val="A9481A"/>
            </a:solidFill>
            <a:prstDash val="solid"/>
          </a:ln>
        </p:spPr>
      </p:sp>
      <p:sp>
        <p:nvSpPr>
          <p:cNvPr id="13" name="Text 11"/>
          <p:cNvSpPr/>
          <p:nvPr/>
        </p:nvSpPr>
        <p:spPr>
          <a:xfrm>
            <a:off x="6172200" y="498348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stages, steps</a:t>
            </a:r>
            <a:endParaRPr lang="en-US" sz="1200" dirty="0"/>
          </a:p>
        </p:txBody>
      </p:sp>
      <p:sp>
        <p:nvSpPr>
          <p:cNvPr id="14" name="Text 12"/>
          <p:cNvSpPr/>
          <p:nvPr/>
        </p:nvSpPr>
        <p:spPr>
          <a:xfrm>
            <a:off x="6172200" y="5247655"/>
            <a:ext cx="260311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Stages run in order; sh runs a command</a:t>
            </a:r>
            <a:endParaRPr lang="en-US" sz="1200" dirty="0"/>
          </a:p>
        </p:txBody>
      </p:sp>
      <p:sp>
        <p:nvSpPr>
          <p:cNvPr id="15" name="Shape 13"/>
          <p:cNvSpPr/>
          <p:nvPr/>
        </p:nvSpPr>
        <p:spPr>
          <a:xfrm>
            <a:off x="8851900" y="4903465"/>
            <a:ext cx="2527300" cy="0"/>
          </a:xfrm>
          <a:prstGeom prst="line">
            <a:avLst/>
          </a:prstGeom>
          <a:noFill/>
          <a:ln w="12700">
            <a:solidFill>
              <a:srgbClr val="A9481A"/>
            </a:solidFill>
            <a:prstDash val="solid"/>
          </a:ln>
        </p:spPr>
      </p:sp>
      <p:sp>
        <p:nvSpPr>
          <p:cNvPr id="16" name="Text 14"/>
          <p:cNvSpPr/>
          <p:nvPr/>
        </p:nvSpPr>
        <p:spPr>
          <a:xfrm>
            <a:off x="8851900" y="4983485"/>
            <a:ext cx="2603119"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exit code</a:t>
            </a:r>
            <a:endParaRPr lang="en-US" sz="1200" dirty="0"/>
          </a:p>
        </p:txBody>
      </p:sp>
      <p:sp>
        <p:nvSpPr>
          <p:cNvPr id="17" name="Text 15"/>
          <p:cNvSpPr/>
          <p:nvPr/>
        </p:nvSpPr>
        <p:spPr>
          <a:xfrm>
            <a:off x="8851900" y="5247655"/>
            <a:ext cx="26031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 non-zero exit fails the stage</a:t>
            </a:r>
            <a:endParaRPr lang="en-US" sz="1200" dirty="0"/>
          </a:p>
        </p:txBody>
      </p:sp>
      <p:sp>
        <p:nvSpPr>
          <p:cNvPr id="18" name="Text 16"/>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9" name="Text 17"/>
          <p:cNvSpPr/>
          <p:nvPr/>
        </p:nvSpPr>
        <p:spPr>
          <a:xfrm>
            <a:off x="5605621" y="6238255"/>
            <a:ext cx="594678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Jenkinsfile, lines 1–11 of 58 · passes the Jenkins declarative linter (Jenkins 2.568.3)</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TEST EXECUTION IN CI</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API and UI regression side by side</a:t>
            </a:r>
            <a:endParaRPr lang="en-US" sz="3200" dirty="0"/>
          </a:p>
        </p:txBody>
      </p:sp>
      <p:sp>
        <p:nvSpPr>
          <p:cNvPr id="4" name="Shape 2"/>
          <p:cNvSpPr/>
          <p:nvPr/>
        </p:nvSpPr>
        <p:spPr>
          <a:xfrm>
            <a:off x="812800" y="1828800"/>
            <a:ext cx="10229850" cy="3769360"/>
          </a:xfrm>
          <a:prstGeom prst="roundRect">
            <a:avLst>
              <a:gd name="adj" fmla="val 2022"/>
            </a:avLst>
          </a:prstGeom>
          <a:solidFill>
            <a:srgbClr val="13233A"/>
          </a:solidFill>
          <a:ln/>
        </p:spPr>
      </p:sp>
      <p:sp>
        <p:nvSpPr>
          <p:cNvPr id="5" name="Text 3"/>
          <p:cNvSpPr/>
          <p:nvPr/>
        </p:nvSpPr>
        <p:spPr>
          <a:xfrm>
            <a:off x="990600" y="2006600"/>
            <a:ext cx="10170478" cy="34391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'Regression'</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failFast</a:t>
            </a: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true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parallel</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'API'</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steps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sh </a:t>
            </a:r>
            <a:r>
              <a:rPr lang="en-US" sz="1200" dirty="0">
                <a:solidFill>
                  <a:srgbClr val="9CC7F0"/>
                </a:solidFill>
                <a:latin typeface="JetBrains Mono" pitchFamily="34" charset="0"/>
                <a:ea typeface="JetBrains Mono" pitchFamily="34" charset="-122"/>
                <a:cs typeface="JetBrains Mono" pitchFamily="34" charset="-120"/>
              </a:rPr>
              <a:t>'newman run api/canteen.postman_collection.json -e api/staging.postman_environment.json '</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9CC7F0"/>
                </a:solidFill>
                <a:latin typeface="JetBrains Mono" pitchFamily="34" charset="0"/>
                <a:ea typeface="JetBrains Mono" pitchFamily="34" charset="-122"/>
                <a:cs typeface="JetBrains Mono" pitchFamily="34" charset="-120"/>
              </a:rPr>
              <a:t>'--env-var "password=$CANTEEN_PASSWORD" -r cli,junit --reporter-junit-export reports/api.xml'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'UI'</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steps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sh </a:t>
            </a:r>
            <a:r>
              <a:rPr lang="en-US" sz="1200" dirty="0">
                <a:solidFill>
                  <a:srgbClr val="9CC7F0"/>
                </a:solidFill>
                <a:latin typeface="JetBrains Mono" pitchFamily="34" charset="0"/>
                <a:ea typeface="JetBrains Mono" pitchFamily="34" charset="-122"/>
                <a:cs typeface="JetBrains Mono" pitchFamily="34" charset="-120"/>
              </a:rPr>
              <a:t>'pytest tests/ui -n 4 --junitxml=reports/ui.xml'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p:txBody>
      </p:sp>
      <p:sp>
        <p:nvSpPr>
          <p:cNvPr id="6" name="Text 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7" name="Text 5"/>
          <p:cNvSpPr/>
          <p:nvPr/>
        </p:nvSpPr>
        <p:spPr>
          <a:xfrm>
            <a:off x="6270387" y="6238255"/>
            <a:ext cx="52620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Jenkinsfile lines 36–51 · failFast: the first failed branch stops the other one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TEST REPORTING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One test run, three kinds of report</a:t>
            </a:r>
            <a:endParaRPr lang="en-US" sz="3200" dirty="0"/>
          </a:p>
        </p:txBody>
      </p:sp>
      <p:sp>
        <p:nvSpPr>
          <p:cNvPr id="4" name="Shape 2"/>
          <p:cNvSpPr/>
          <p:nvPr/>
        </p:nvSpPr>
        <p:spPr>
          <a:xfrm>
            <a:off x="812800" y="1828800"/>
            <a:ext cx="7029450" cy="1209040"/>
          </a:xfrm>
          <a:prstGeom prst="roundRect">
            <a:avLst>
              <a:gd name="adj" fmla="val 6303"/>
            </a:avLst>
          </a:prstGeom>
          <a:solidFill>
            <a:srgbClr val="13233A"/>
          </a:solidFill>
          <a:ln/>
        </p:spPr>
      </p:sp>
      <p:sp>
        <p:nvSpPr>
          <p:cNvPr id="5" name="Text 3"/>
          <p:cNvSpPr/>
          <p:nvPr/>
        </p:nvSpPr>
        <p:spPr>
          <a:xfrm>
            <a:off x="990600" y="2006600"/>
            <a:ext cx="6874065" cy="8788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tests/ui --junitxml=reports/ui.xml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tests/ui --html=reports/report.html --self-contained-html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tests/ui --alluredir=reports/allure-results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allure generate reports/allure-results -o reports/allure-report --clean</a:t>
            </a:r>
            <a:endParaRPr lang="en-US" sz="1200" dirty="0"/>
          </a:p>
        </p:txBody>
      </p:sp>
      <p:sp>
        <p:nvSpPr>
          <p:cNvPr id="6" name="Shape 4"/>
          <p:cNvSpPr/>
          <p:nvPr/>
        </p:nvSpPr>
        <p:spPr>
          <a:xfrm>
            <a:off x="8096250" y="1828800"/>
            <a:ext cx="3282950" cy="1422400"/>
          </a:xfrm>
          <a:prstGeom prst="roundRect">
            <a:avLst>
              <a:gd name="adj" fmla="val 5357"/>
            </a:avLst>
          </a:prstGeom>
          <a:solidFill>
            <a:srgbClr val="13233A"/>
          </a:solidFill>
          <a:ln/>
        </p:spPr>
      </p:sp>
      <p:sp>
        <p:nvSpPr>
          <p:cNvPr id="7" name="Text 5"/>
          <p:cNvSpPr/>
          <p:nvPr/>
        </p:nvSpPr>
        <p:spPr>
          <a:xfrm>
            <a:off x="8274050" y="2006600"/>
            <a:ext cx="3015171" cy="109220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post</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always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junit </a:t>
            </a:r>
            <a:r>
              <a:rPr lang="en-US" sz="1200" dirty="0">
                <a:solidFill>
                  <a:srgbClr val="9CC7F0"/>
                </a:solidFill>
                <a:latin typeface="JetBrains Mono" pitchFamily="34" charset="0"/>
                <a:ea typeface="JetBrains Mono" pitchFamily="34" charset="-122"/>
                <a:cs typeface="JetBrains Mono" pitchFamily="34" charset="-120"/>
              </a:rPr>
              <a:t>'reports/*.xml'</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p:txBody>
      </p:sp>
      <p:sp>
        <p:nvSpPr>
          <p:cNvPr id="8" name="Shape 6"/>
          <p:cNvSpPr/>
          <p:nvPr/>
        </p:nvSpPr>
        <p:spPr>
          <a:xfrm>
            <a:off x="815975" y="3508375"/>
            <a:ext cx="3380264" cy="1289050"/>
          </a:xfrm>
          <a:prstGeom prst="roundRect">
            <a:avLst>
              <a:gd name="adj" fmla="val 5665"/>
            </a:avLst>
          </a:prstGeom>
          <a:solidFill>
            <a:srgbClr val="FCFBF7"/>
          </a:solidFill>
          <a:ln w="6350">
            <a:solidFill>
              <a:srgbClr val="DDD8CC"/>
            </a:solidFill>
            <a:prstDash val="solid"/>
          </a:ln>
        </p:spPr>
      </p:sp>
      <p:sp>
        <p:nvSpPr>
          <p:cNvPr id="9" name="Text 7"/>
          <p:cNvSpPr/>
          <p:nvPr/>
        </p:nvSpPr>
        <p:spPr>
          <a:xfrm>
            <a:off x="1021080" y="3688085"/>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JUNIT XML</a:t>
            </a:r>
            <a:endParaRPr lang="en-US" sz="1200" dirty="0"/>
          </a:p>
        </p:txBody>
      </p:sp>
      <p:sp>
        <p:nvSpPr>
          <p:cNvPr id="10" name="Text 8"/>
          <p:cNvSpPr/>
          <p:nvPr/>
        </p:nvSpPr>
        <p:spPr>
          <a:xfrm>
            <a:off x="1021080" y="3977655"/>
            <a:ext cx="305915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format CI servers read. Jenkins’s junit step turns it into results and trends.</a:t>
            </a:r>
            <a:endParaRPr lang="en-US" sz="1200" dirty="0"/>
          </a:p>
        </p:txBody>
      </p:sp>
      <p:sp>
        <p:nvSpPr>
          <p:cNvPr id="11" name="Shape 9"/>
          <p:cNvSpPr/>
          <p:nvPr/>
        </p:nvSpPr>
        <p:spPr>
          <a:xfrm>
            <a:off x="4405789" y="3508375"/>
            <a:ext cx="3380343" cy="1289050"/>
          </a:xfrm>
          <a:prstGeom prst="roundRect">
            <a:avLst>
              <a:gd name="adj" fmla="val 5665"/>
            </a:avLst>
          </a:prstGeom>
          <a:solidFill>
            <a:srgbClr val="FCFBF7"/>
          </a:solidFill>
          <a:ln w="6350">
            <a:solidFill>
              <a:srgbClr val="DDD8CC"/>
            </a:solidFill>
            <a:prstDash val="solid"/>
          </a:ln>
        </p:spPr>
      </p:sp>
      <p:sp>
        <p:nvSpPr>
          <p:cNvPr id="12" name="Text 10"/>
          <p:cNvSpPr/>
          <p:nvPr/>
        </p:nvSpPr>
        <p:spPr>
          <a:xfrm>
            <a:off x="4610894" y="3688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HTML</a:t>
            </a:r>
            <a:endParaRPr lang="en-US" sz="1200" dirty="0"/>
          </a:p>
        </p:txBody>
      </p:sp>
      <p:sp>
        <p:nvSpPr>
          <p:cNvPr id="13" name="Text 11"/>
          <p:cNvSpPr/>
          <p:nvPr/>
        </p:nvSpPr>
        <p:spPr>
          <a:xfrm>
            <a:off x="4610894" y="3977655"/>
            <a:ext cx="305923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pytest-html writes one page; a self-contained file “can be more convenient when sharing”.</a:t>
            </a:r>
            <a:endParaRPr lang="en-US" sz="1200" dirty="0"/>
          </a:p>
        </p:txBody>
      </p:sp>
      <p:sp>
        <p:nvSpPr>
          <p:cNvPr id="14" name="Shape 12"/>
          <p:cNvSpPr/>
          <p:nvPr/>
        </p:nvSpPr>
        <p:spPr>
          <a:xfrm>
            <a:off x="7995682" y="3508375"/>
            <a:ext cx="3380343" cy="1289050"/>
          </a:xfrm>
          <a:prstGeom prst="roundRect">
            <a:avLst>
              <a:gd name="adj" fmla="val 5665"/>
            </a:avLst>
          </a:prstGeom>
          <a:solidFill>
            <a:srgbClr val="FCFBF7"/>
          </a:solidFill>
          <a:ln w="6350">
            <a:solidFill>
              <a:srgbClr val="DDD8CC"/>
            </a:solidFill>
            <a:prstDash val="solid"/>
          </a:ln>
        </p:spPr>
      </p:sp>
      <p:sp>
        <p:nvSpPr>
          <p:cNvPr id="15" name="Text 13"/>
          <p:cNvSpPr/>
          <p:nvPr/>
        </p:nvSpPr>
        <p:spPr>
          <a:xfrm>
            <a:off x="8200787" y="3688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ALLURE</a:t>
            </a:r>
            <a:endParaRPr lang="en-US" sz="1200" dirty="0"/>
          </a:p>
        </p:txBody>
      </p:sp>
      <p:sp>
        <p:nvSpPr>
          <p:cNvPr id="16" name="Text 14"/>
          <p:cNvSpPr/>
          <p:nvPr/>
        </p:nvSpPr>
        <p:spPr>
          <a:xfrm>
            <a:off x="8200787" y="3977655"/>
            <a:ext cx="3059237"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allure-pytest saves results; the Allure tool builds a web report with steps and history.</a:t>
            </a:r>
            <a:endParaRPr lang="en-US" sz="1200" dirty="0"/>
          </a:p>
        </p:txBody>
      </p:sp>
      <p:sp>
        <p:nvSpPr>
          <p:cNvPr id="17" name="Text 1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8" name="Text 16"/>
          <p:cNvSpPr/>
          <p:nvPr/>
        </p:nvSpPr>
        <p:spPr>
          <a:xfrm>
            <a:off x="5844778" y="6238255"/>
            <a:ext cx="57004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All four commands ran on the Canteen UI tests · Allure 2.46.1 command-line tool</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TEST REPORTING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Six questions a good report answers</a:t>
            </a:r>
            <a:endParaRPr lang="en-US" sz="3200" dirty="0"/>
          </a:p>
        </p:txBody>
      </p:sp>
      <p:sp>
        <p:nvSpPr>
          <p:cNvPr id="4" name="Shape 2"/>
          <p:cNvSpPr/>
          <p:nvPr/>
        </p:nvSpPr>
        <p:spPr>
          <a:xfrm>
            <a:off x="815975" y="1831975"/>
            <a:ext cx="3414157" cy="1017270"/>
          </a:xfrm>
          <a:prstGeom prst="roundRect">
            <a:avLst>
              <a:gd name="adj" fmla="val 7179"/>
            </a:avLst>
          </a:prstGeom>
          <a:solidFill>
            <a:srgbClr val="FCFBF7"/>
          </a:solidFill>
          <a:ln w="6350">
            <a:solidFill>
              <a:srgbClr val="DDD8CC"/>
            </a:solidFill>
            <a:prstDash val="solid"/>
          </a:ln>
        </p:spPr>
      </p:sp>
      <p:sp>
        <p:nvSpPr>
          <p:cNvPr id="5" name="Text 3"/>
          <p:cNvSpPr/>
          <p:nvPr/>
        </p:nvSpPr>
        <p:spPr>
          <a:xfrm>
            <a:off x="995680"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What failed?</a:t>
            </a:r>
            <a:endParaRPr lang="en-US" sz="1400" dirty="0"/>
          </a:p>
        </p:txBody>
      </p:sp>
      <p:sp>
        <p:nvSpPr>
          <p:cNvPr id="6" name="Text 4"/>
          <p:cNvSpPr/>
          <p:nvPr/>
        </p:nvSpPr>
        <p:spPr>
          <a:xfrm>
            <a:off x="995680" y="226821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name, assertion message, stack trace</a:t>
            </a:r>
            <a:endParaRPr lang="en-US" sz="1200" dirty="0"/>
          </a:p>
        </p:txBody>
      </p:sp>
      <p:sp>
        <p:nvSpPr>
          <p:cNvPr id="7" name="Shape 5"/>
          <p:cNvSpPr/>
          <p:nvPr/>
        </p:nvSpPr>
        <p:spPr>
          <a:xfrm>
            <a:off x="4388882" y="1831975"/>
            <a:ext cx="3414157" cy="1017270"/>
          </a:xfrm>
          <a:prstGeom prst="roundRect">
            <a:avLst>
              <a:gd name="adj" fmla="val 7179"/>
            </a:avLst>
          </a:prstGeom>
          <a:solidFill>
            <a:srgbClr val="FCFBF7"/>
          </a:solidFill>
          <a:ln w="6350">
            <a:solidFill>
              <a:srgbClr val="DDD8CC"/>
            </a:solidFill>
            <a:prstDash val="solid"/>
          </a:ln>
        </p:spPr>
      </p:sp>
      <p:sp>
        <p:nvSpPr>
          <p:cNvPr id="8" name="Text 6"/>
          <p:cNvSpPr/>
          <p:nvPr/>
        </p:nvSpPr>
        <p:spPr>
          <a:xfrm>
            <a:off x="4568587"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Where?</a:t>
            </a:r>
            <a:endParaRPr lang="en-US" sz="1400" dirty="0"/>
          </a:p>
        </p:txBody>
      </p:sp>
      <p:sp>
        <p:nvSpPr>
          <p:cNvPr id="9" name="Text 7"/>
          <p:cNvSpPr/>
          <p:nvPr/>
        </p:nvSpPr>
        <p:spPr>
          <a:xfrm>
            <a:off x="4568587" y="22682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Build number, commit, environment, browser or device</a:t>
            </a:r>
            <a:endParaRPr lang="en-US" sz="1200" dirty="0"/>
          </a:p>
        </p:txBody>
      </p:sp>
      <p:sp>
        <p:nvSpPr>
          <p:cNvPr id="10" name="Shape 8"/>
          <p:cNvSpPr/>
          <p:nvPr/>
        </p:nvSpPr>
        <p:spPr>
          <a:xfrm>
            <a:off x="7961789" y="1831975"/>
            <a:ext cx="3414157" cy="1017270"/>
          </a:xfrm>
          <a:prstGeom prst="roundRect">
            <a:avLst>
              <a:gd name="adj" fmla="val 7179"/>
            </a:avLst>
          </a:prstGeom>
          <a:solidFill>
            <a:srgbClr val="FCFBF7"/>
          </a:solidFill>
          <a:ln w="6350">
            <a:solidFill>
              <a:srgbClr val="DDD8CC"/>
            </a:solidFill>
            <a:prstDash val="solid"/>
          </a:ln>
        </p:spPr>
      </p:sp>
      <p:sp>
        <p:nvSpPr>
          <p:cNvPr id="11" name="Text 9"/>
          <p:cNvSpPr/>
          <p:nvPr/>
        </p:nvSpPr>
        <p:spPr>
          <a:xfrm>
            <a:off x="8141494"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Why?</a:t>
            </a:r>
            <a:endParaRPr lang="en-US" sz="1400" dirty="0"/>
          </a:p>
        </p:txBody>
      </p:sp>
      <p:sp>
        <p:nvSpPr>
          <p:cNvPr id="12" name="Text 10"/>
          <p:cNvSpPr/>
          <p:nvPr/>
        </p:nvSpPr>
        <p:spPr>
          <a:xfrm>
            <a:off x="8141494" y="22682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Screenshot, video, logs, the API request and response</a:t>
            </a:r>
            <a:endParaRPr lang="en-US" sz="1200" dirty="0"/>
          </a:p>
        </p:txBody>
      </p:sp>
      <p:sp>
        <p:nvSpPr>
          <p:cNvPr id="13" name="Shape 11"/>
          <p:cNvSpPr/>
          <p:nvPr/>
        </p:nvSpPr>
        <p:spPr>
          <a:xfrm>
            <a:off x="815975" y="3007990"/>
            <a:ext cx="3414157" cy="1017270"/>
          </a:xfrm>
          <a:prstGeom prst="roundRect">
            <a:avLst>
              <a:gd name="adj" fmla="val 7179"/>
            </a:avLst>
          </a:prstGeom>
          <a:solidFill>
            <a:srgbClr val="FCFBF7"/>
          </a:solidFill>
          <a:ln w="6350">
            <a:solidFill>
              <a:srgbClr val="DDD8CC"/>
            </a:solidFill>
            <a:prstDash val="solid"/>
          </a:ln>
        </p:spPr>
      </p:sp>
      <p:sp>
        <p:nvSpPr>
          <p:cNvPr id="14" name="Text 12"/>
          <p:cNvSpPr/>
          <p:nvPr/>
        </p:nvSpPr>
        <p:spPr>
          <a:xfrm>
            <a:off x="995680"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Is it new?</a:t>
            </a:r>
            <a:endParaRPr lang="en-US" sz="1400" dirty="0"/>
          </a:p>
        </p:txBody>
      </p:sp>
      <p:sp>
        <p:nvSpPr>
          <p:cNvPr id="15" name="Text 13"/>
          <p:cNvSpPr/>
          <p:nvPr/>
        </p:nvSpPr>
        <p:spPr>
          <a:xfrm>
            <a:off x="995680" y="3444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History across builds; flaky tests marked as flaky</a:t>
            </a:r>
            <a:endParaRPr lang="en-US" sz="1200" dirty="0"/>
          </a:p>
        </p:txBody>
      </p:sp>
      <p:sp>
        <p:nvSpPr>
          <p:cNvPr id="16" name="Shape 14"/>
          <p:cNvSpPr/>
          <p:nvPr/>
        </p:nvSpPr>
        <p:spPr>
          <a:xfrm>
            <a:off x="4388882" y="3007990"/>
            <a:ext cx="3414157" cy="1017270"/>
          </a:xfrm>
          <a:prstGeom prst="roundRect">
            <a:avLst>
              <a:gd name="adj" fmla="val 7179"/>
            </a:avLst>
          </a:prstGeom>
          <a:solidFill>
            <a:srgbClr val="FCFBF7"/>
          </a:solidFill>
          <a:ln w="6350">
            <a:solidFill>
              <a:srgbClr val="DDD8CC"/>
            </a:solidFill>
            <a:prstDash val="solid"/>
          </a:ln>
        </p:spPr>
      </p:sp>
      <p:sp>
        <p:nvSpPr>
          <p:cNvPr id="17" name="Text 15"/>
          <p:cNvSpPr/>
          <p:nvPr/>
        </p:nvSpPr>
        <p:spPr>
          <a:xfrm>
            <a:off x="4568587"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Which requirement?</a:t>
            </a:r>
            <a:endParaRPr lang="en-US" sz="1400" dirty="0"/>
          </a:p>
        </p:txBody>
      </p:sp>
      <p:sp>
        <p:nvSpPr>
          <p:cNvPr id="18" name="Text 16"/>
          <p:cNvSpPr/>
          <p:nvPr/>
        </p:nvSpPr>
        <p:spPr>
          <a:xfrm>
            <a:off x="4568587" y="3444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Requirement IDs, such as our req("REQ-03") marker</a:t>
            </a:r>
            <a:endParaRPr lang="en-US" sz="1200" dirty="0"/>
          </a:p>
        </p:txBody>
      </p:sp>
      <p:sp>
        <p:nvSpPr>
          <p:cNvPr id="19" name="Shape 17"/>
          <p:cNvSpPr/>
          <p:nvPr/>
        </p:nvSpPr>
        <p:spPr>
          <a:xfrm>
            <a:off x="7961789" y="3007990"/>
            <a:ext cx="3414157" cy="1017270"/>
          </a:xfrm>
          <a:prstGeom prst="roundRect">
            <a:avLst>
              <a:gd name="adj" fmla="val 7179"/>
            </a:avLst>
          </a:prstGeom>
          <a:solidFill>
            <a:srgbClr val="FCFBF7"/>
          </a:solidFill>
          <a:ln w="6350">
            <a:solidFill>
              <a:srgbClr val="DDD8CC"/>
            </a:solidFill>
            <a:prstDash val="solid"/>
          </a:ln>
        </p:spPr>
      </p:sp>
      <p:sp>
        <p:nvSpPr>
          <p:cNvPr id="20" name="Text 18"/>
          <p:cNvSpPr/>
          <p:nvPr/>
        </p:nvSpPr>
        <p:spPr>
          <a:xfrm>
            <a:off x="8141494"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How long?</a:t>
            </a:r>
            <a:endParaRPr lang="en-US" sz="1400" dirty="0"/>
          </a:p>
        </p:txBody>
      </p:sp>
      <p:sp>
        <p:nvSpPr>
          <p:cNvPr id="21" name="Text 19"/>
          <p:cNvSpPr/>
          <p:nvPr/>
        </p:nvSpPr>
        <p:spPr>
          <a:xfrm>
            <a:off x="8141494" y="3444255"/>
            <a:ext cx="314638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Duration per test, slowest tests, suite trend</a:t>
            </a:r>
            <a:endParaRPr lang="en-US" sz="1200" dirty="0"/>
          </a:p>
        </p:txBody>
      </p:sp>
      <p:sp>
        <p:nvSpPr>
          <p:cNvPr id="22" name="Shape 20"/>
          <p:cNvSpPr/>
          <p:nvPr/>
        </p:nvSpPr>
        <p:spPr>
          <a:xfrm>
            <a:off x="812800" y="4282455"/>
            <a:ext cx="10566400" cy="553720"/>
          </a:xfrm>
          <a:prstGeom prst="roundRect">
            <a:avLst>
              <a:gd name="adj" fmla="val 13761"/>
            </a:avLst>
          </a:prstGeom>
          <a:solidFill>
            <a:srgbClr val="13233A"/>
          </a:solidFill>
          <a:ln/>
        </p:spPr>
      </p:sp>
      <p:sp>
        <p:nvSpPr>
          <p:cNvPr id="23" name="Text 21"/>
          <p:cNvSpPr/>
          <p:nvPr/>
        </p:nvSpPr>
        <p:spPr>
          <a:xfrm>
            <a:off x="1016000" y="4452615"/>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AUDIENCE</a:t>
            </a:r>
            <a:endParaRPr lang="en-US" sz="1200" dirty="0"/>
          </a:p>
        </p:txBody>
      </p:sp>
      <p:sp>
        <p:nvSpPr>
          <p:cNvPr id="24" name="Text 22"/>
          <p:cNvSpPr/>
          <p:nvPr/>
        </p:nvSpPr>
        <p:spPr>
          <a:xfrm>
            <a:off x="2001520" y="4434855"/>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Developers need the first three to fix a failure; the team and managers need the last three to see quality over time.</a:t>
            </a:r>
            <a:endParaRPr lang="en-US" sz="1400" dirty="0"/>
          </a:p>
        </p:txBody>
      </p:sp>
      <p:sp>
        <p:nvSpPr>
          <p:cNvPr id="25" name="Text 2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6" name="Text 24"/>
          <p:cNvSpPr/>
          <p:nvPr/>
        </p:nvSpPr>
        <p:spPr>
          <a:xfrm>
            <a:off x="5653008" y="6238255"/>
            <a:ext cx="589797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Our real JUnit XML records each test’s name, class and time; failures add a message</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QUALITY GATES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Gates: rules the pipeline enforces</a:t>
            </a:r>
            <a:endParaRPr lang="en-US" sz="3200" dirty="0"/>
          </a:p>
        </p:txBody>
      </p:sp>
      <p:sp>
        <p:nvSpPr>
          <p:cNvPr id="4" name="Shape 2"/>
          <p:cNvSpPr/>
          <p:nvPr/>
        </p:nvSpPr>
        <p:spPr>
          <a:xfrm>
            <a:off x="812800" y="1828800"/>
            <a:ext cx="10566400" cy="553720"/>
          </a:xfrm>
          <a:prstGeom prst="roundRect">
            <a:avLst>
              <a:gd name="adj" fmla="val 13761"/>
            </a:avLst>
          </a:prstGeom>
          <a:solidFill>
            <a:srgbClr val="13233A"/>
          </a:solidFill>
          <a:ln/>
        </p:spPr>
      </p:sp>
      <p:sp>
        <p:nvSpPr>
          <p:cNvPr id="5" name="Text 3"/>
          <p:cNvSpPr/>
          <p:nvPr/>
        </p:nvSpPr>
        <p:spPr>
          <a:xfrm>
            <a:off x="1016000" y="199898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GATE</a:t>
            </a:r>
            <a:endParaRPr lang="en-US" sz="1200" dirty="0"/>
          </a:p>
        </p:txBody>
      </p:sp>
      <p:sp>
        <p:nvSpPr>
          <p:cNvPr id="6" name="Text 4"/>
          <p:cNvSpPr/>
          <p:nvPr/>
        </p:nvSpPr>
        <p:spPr>
          <a:xfrm>
            <a:off x="1584960" y="1981200"/>
            <a:ext cx="98787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 pass or fail rule checked automatically; a change that fails it goes no further.</a:t>
            </a:r>
            <a:endParaRPr lang="en-US" sz="1400" dirty="0"/>
          </a:p>
        </p:txBody>
      </p:sp>
      <p:sp>
        <p:nvSpPr>
          <p:cNvPr id="7" name="Shape 5"/>
          <p:cNvSpPr/>
          <p:nvPr/>
        </p:nvSpPr>
        <p:spPr>
          <a:xfrm>
            <a:off x="11376025" y="2636515"/>
            <a:ext cx="0" cy="2656840"/>
          </a:xfrm>
          <a:prstGeom prst="line">
            <a:avLst/>
          </a:prstGeom>
          <a:noFill/>
          <a:ln w="6350">
            <a:solidFill>
              <a:srgbClr val="DDD8CC"/>
            </a:solidFill>
            <a:prstDash val="solid"/>
          </a:ln>
        </p:spPr>
      </p:sp>
      <p:sp>
        <p:nvSpPr>
          <p:cNvPr id="8" name="Shape 6"/>
          <p:cNvSpPr/>
          <p:nvPr/>
        </p:nvSpPr>
        <p:spPr>
          <a:xfrm>
            <a:off x="812800" y="5290180"/>
            <a:ext cx="10566400" cy="0"/>
          </a:xfrm>
          <a:prstGeom prst="line">
            <a:avLst/>
          </a:prstGeom>
          <a:noFill/>
          <a:ln w="6350">
            <a:solidFill>
              <a:srgbClr val="DDD8CC"/>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2646675"/>
          <a:ext cx="10551160" cy="2641600"/>
        </p:xfrm>
        <a:graphic>
          <a:graphicData uri="http://schemas.openxmlformats.org/drawingml/2006/table">
            <a:tbl>
              <a:tblPr/>
              <a:tblGrid>
                <a:gridCol w="2110232"/>
                <a:gridCol w="4009441"/>
                <a:gridCol w="4431487"/>
              </a:tblGrid>
              <a:tr h="330200">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Gate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Rule for the Canteen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3233A"/>
                          </a:solidFill>
                          <a:latin typeface="IBM Plex Sans" pitchFamily="34" charset="0"/>
                          <a:ea typeface="IBM Plex Sans" pitchFamily="34" charset="-122"/>
                          <a:cs typeface="IBM Plex Sans" pitchFamily="34" charset="-120"/>
                        </a:rPr>
                        <a:t>How it stops the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Unit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All 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pytest exits with 1; the stage fails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Coverage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At least 80% of lines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--cov-fail-under=80 exits with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Static analysis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Sonar way quality gate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waitForQualityGate aborts the run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Smoke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Key journeys work after deploy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Regression never starts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Regression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and UI suites 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failFast stops the other branch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Performance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p95 under 2 s, errors under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Locust exits with 1 (Lecture 16)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Security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 FAIL alerts in the ZAP scan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zap-baseline.py exits with 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6517640" y="6238255"/>
            <a:ext cx="500740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The first five are in our Jenkinsfile; the last two use the Lecture 16 tools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QUALITY GATES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coverage gate: fail, then pass</a:t>
            </a:r>
            <a:endParaRPr lang="en-US" sz="3200" dirty="0"/>
          </a:p>
        </p:txBody>
      </p:sp>
      <p:sp>
        <p:nvSpPr>
          <p:cNvPr id="4" name="Shape 2"/>
          <p:cNvSpPr/>
          <p:nvPr/>
        </p:nvSpPr>
        <p:spPr>
          <a:xfrm>
            <a:off x="812800" y="1828800"/>
            <a:ext cx="6756400" cy="1635760"/>
          </a:xfrm>
          <a:prstGeom prst="roundRect">
            <a:avLst>
              <a:gd name="adj" fmla="val 4658"/>
            </a:avLst>
          </a:prstGeom>
          <a:solidFill>
            <a:srgbClr val="13233A"/>
          </a:solidFill>
          <a:ln/>
        </p:spPr>
      </p:sp>
      <p:sp>
        <p:nvSpPr>
          <p:cNvPr id="5" name="Text 3"/>
          <p:cNvSpPr/>
          <p:nvPr/>
        </p:nvSpPr>
        <p:spPr>
          <a:xfrm>
            <a:off x="990600" y="2006600"/>
            <a:ext cx="6592824"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tests/unit --cov=canteen --cov-fail-under=80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TOTAL                    43     13    70%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FAIL Required test coverage of 80% not reached. Total coverage: 69.77%</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12 passed in 0.08s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echo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a:t>
            </a:r>
            <a:endParaRPr lang="en-US" sz="1200" dirty="0"/>
          </a:p>
        </p:txBody>
      </p:sp>
      <p:sp>
        <p:nvSpPr>
          <p:cNvPr id="6" name="Text 4"/>
          <p:cNvSpPr/>
          <p:nvPr/>
        </p:nvSpPr>
        <p:spPr>
          <a:xfrm>
            <a:off x="7823200" y="2141215"/>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BEFORE · EXIT 1</a:t>
            </a:r>
            <a:endParaRPr lang="en-US" sz="1200" dirty="0"/>
          </a:p>
        </p:txBody>
      </p:sp>
      <p:sp>
        <p:nvSpPr>
          <p:cNvPr id="7" name="Text 5"/>
          <p:cNvSpPr/>
          <p:nvPr/>
        </p:nvSpPr>
        <p:spPr>
          <a:xfrm>
            <a:off x="7823200" y="2405385"/>
            <a:ext cx="3662680"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All 12 tests pass, yet the stage fails: the minimum-order and cart rules were never run.</a:t>
            </a:r>
            <a:endParaRPr lang="en-US" sz="1400" dirty="0"/>
          </a:p>
        </p:txBody>
      </p:sp>
      <p:sp>
        <p:nvSpPr>
          <p:cNvPr id="8" name="Shape 6"/>
          <p:cNvSpPr/>
          <p:nvPr/>
        </p:nvSpPr>
        <p:spPr>
          <a:xfrm>
            <a:off x="812800" y="3616970"/>
            <a:ext cx="6756400" cy="1635760"/>
          </a:xfrm>
          <a:prstGeom prst="roundRect">
            <a:avLst>
              <a:gd name="adj" fmla="val 4658"/>
            </a:avLst>
          </a:prstGeom>
          <a:solidFill>
            <a:srgbClr val="13233A"/>
          </a:solidFill>
          <a:ln/>
        </p:spPr>
      </p:sp>
      <p:sp>
        <p:nvSpPr>
          <p:cNvPr id="9" name="Text 7"/>
          <p:cNvSpPr/>
          <p:nvPr/>
        </p:nvSpPr>
        <p:spPr>
          <a:xfrm>
            <a:off x="990600" y="3794770"/>
            <a:ext cx="6592824" cy="130556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pytest tests/unit --cov=canteen --cov-fail-under=80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TOTAL                    43      4    91%</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Required test coverage of 80% reached. Total coverage: 90.70%</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15 passed in 0.07s</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echo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0</a:t>
            </a:r>
            <a:endParaRPr lang="en-US" sz="1200" dirty="0"/>
          </a:p>
        </p:txBody>
      </p:sp>
      <p:sp>
        <p:nvSpPr>
          <p:cNvPr id="10" name="Text 8"/>
          <p:cNvSpPr/>
          <p:nvPr/>
        </p:nvSpPr>
        <p:spPr>
          <a:xfrm>
            <a:off x="7823200" y="4053855"/>
            <a:ext cx="366268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245A9C"/>
                </a:solidFill>
                <a:latin typeface="JetBrains Mono" pitchFamily="34" charset="0"/>
                <a:ea typeface="JetBrains Mono" pitchFamily="34" charset="-122"/>
                <a:cs typeface="JetBrains Mono" pitchFamily="34" charset="-120"/>
              </a:rPr>
              <a:t>AFTER · EXIT 0</a:t>
            </a:r>
            <a:endParaRPr lang="en-US" sz="1200" dirty="0"/>
          </a:p>
        </p:txBody>
      </p:sp>
      <p:sp>
        <p:nvSpPr>
          <p:cNvPr id="11" name="Text 9"/>
          <p:cNvSpPr/>
          <p:nvPr/>
        </p:nvSpPr>
        <p:spPr>
          <a:xfrm>
            <a:off x="7823200" y="4318000"/>
            <a:ext cx="366268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Three tests added for those rules. The gate passes and the pipeline moves on.</a:t>
            </a:r>
            <a:endParaRPr lang="en-US" sz="1400" dirty="0"/>
          </a:p>
        </p:txBody>
      </p:sp>
      <p:sp>
        <p:nvSpPr>
          <p:cNvPr id="12" name="Text 1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3" name="Text 11"/>
          <p:cNvSpPr/>
          <p:nvPr/>
        </p:nvSpPr>
        <p:spPr>
          <a:xfrm>
            <a:off x="6143942" y="6238255"/>
            <a:ext cx="539231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Real pytest-cov runs on the Canteen code · coverage table trimmed to TOTAL</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QUALITY GATES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SonarQube’s quality gate in Jenkins</a:t>
            </a:r>
            <a:endParaRPr lang="en-US" sz="3200" dirty="0"/>
          </a:p>
        </p:txBody>
      </p:sp>
      <p:sp>
        <p:nvSpPr>
          <p:cNvPr id="4" name="Shape 2"/>
          <p:cNvSpPr/>
          <p:nvPr/>
        </p:nvSpPr>
        <p:spPr>
          <a:xfrm>
            <a:off x="812800" y="1828800"/>
            <a:ext cx="4743450" cy="3342640"/>
          </a:xfrm>
          <a:prstGeom prst="roundRect">
            <a:avLst>
              <a:gd name="adj" fmla="val 2280"/>
            </a:avLst>
          </a:prstGeom>
          <a:solidFill>
            <a:srgbClr val="13233A"/>
          </a:solidFill>
          <a:ln/>
        </p:spPr>
      </p:sp>
      <p:sp>
        <p:nvSpPr>
          <p:cNvPr id="5" name="Text 3"/>
          <p:cNvSpPr/>
          <p:nvPr/>
        </p:nvSpPr>
        <p:spPr>
          <a:xfrm>
            <a:off x="990600" y="2006600"/>
            <a:ext cx="4519486" cy="3012440"/>
          </a:xfrm>
          <a:prstGeom prst="rect">
            <a:avLst/>
          </a:prstGeom>
          <a:noFill/>
          <a:ln/>
        </p:spPr>
        <p:txBody>
          <a:bodyPr wrap="none" lIns="0" tIns="0" rIns="0" bIns="0" rtlCol="0" anchor="t">
            <a:normAutofit/>
          </a:bodyPr>
          <a:lstStyle/>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'SonarQube analysis'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steps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withSonarQubeEnv(</a:t>
            </a:r>
            <a:r>
              <a:rPr lang="en-US" sz="1200" dirty="0">
                <a:solidFill>
                  <a:srgbClr val="9CC7F0"/>
                </a:solidFill>
                <a:latin typeface="JetBrains Mono" pitchFamily="34" charset="0"/>
                <a:ea typeface="JetBrains Mono" pitchFamily="34" charset="-122"/>
                <a:cs typeface="JetBrains Mono" pitchFamily="34" charset="-120"/>
              </a:rPr>
              <a:t>'sonarqube'</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sh </a:t>
            </a:r>
            <a:r>
              <a:rPr lang="en-US" sz="1200" dirty="0">
                <a:solidFill>
                  <a:srgbClr val="9CC7F0"/>
                </a:solidFill>
                <a:latin typeface="JetBrains Mono" pitchFamily="34" charset="0"/>
                <a:ea typeface="JetBrains Mono" pitchFamily="34" charset="-122"/>
                <a:cs typeface="JetBrains Mono" pitchFamily="34" charset="-120"/>
              </a:rPr>
              <a:t>'sonar-scanner'</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stage</a:t>
            </a:r>
            <a:r>
              <a:rPr lang="en-US" sz="1200" dirty="0">
                <a:solidFill>
                  <a:srgbClr val="E6EAF0"/>
                </a:solidFill>
                <a:latin typeface="JetBrains Mono" pitchFamily="34" charset="0"/>
                <a:ea typeface="JetBrains Mono" pitchFamily="34" charset="-122"/>
                <a:cs typeface="JetBrains Mono" pitchFamily="34" charset="-120"/>
              </a:rPr>
              <a:t>(</a:t>
            </a:r>
            <a:r>
              <a:rPr lang="en-US" sz="1200" dirty="0">
                <a:solidFill>
                  <a:srgbClr val="9CC7F0"/>
                </a:solidFill>
                <a:latin typeface="JetBrains Mono" pitchFamily="34" charset="0"/>
                <a:ea typeface="JetBrains Mono" pitchFamily="34" charset="-122"/>
                <a:cs typeface="JetBrains Mono" pitchFamily="34" charset="-120"/>
              </a:rPr>
              <a:t>'Quality gate'</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r>
              <a:rPr lang="en-US" sz="1200" dirty="0">
                <a:solidFill>
                  <a:srgbClr val="F2A36B"/>
                </a:solidFill>
                <a:latin typeface="JetBrains Mono" pitchFamily="34" charset="0"/>
                <a:ea typeface="JetBrains Mono" pitchFamily="34" charset="-122"/>
                <a:cs typeface="JetBrains Mono" pitchFamily="34" charset="-120"/>
              </a:rPr>
              <a:t>steps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timeout(time: 10, unit: </a:t>
            </a:r>
            <a:r>
              <a:rPr lang="en-US" sz="1200" dirty="0">
                <a:solidFill>
                  <a:srgbClr val="9CC7F0"/>
                </a:solidFill>
                <a:latin typeface="JetBrains Mono" pitchFamily="34" charset="0"/>
                <a:ea typeface="JetBrains Mono" pitchFamily="34" charset="-122"/>
                <a:cs typeface="JetBrains Mono" pitchFamily="34" charset="-120"/>
              </a:rPr>
              <a:t>'MINUTES'</a:t>
            </a: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waitForQualityGate abortPipeline: </a:t>
            </a:r>
            <a:r>
              <a:rPr lang="en-US" sz="1200" dirty="0">
                <a:solidFill>
                  <a:srgbClr val="F2A36B"/>
                </a:solidFill>
                <a:latin typeface="JetBrains Mono" pitchFamily="34" charset="0"/>
                <a:ea typeface="JetBrains Mono" pitchFamily="34" charset="-122"/>
                <a:cs typeface="JetBrains Mono" pitchFamily="34" charset="-120"/>
              </a:rPr>
              <a:t>true</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a:p>
            <a:pPr algn="l" indent="0" marL="0">
              <a:lnSpc>
                <a:spcPts val="1680"/>
              </a:lnSpc>
              <a:buNone/>
            </a:pPr>
            <a:r>
              <a:rPr lang="en-US" sz="1200" dirty="0">
                <a:solidFill>
                  <a:srgbClr val="E6EAF0"/>
                </a:solidFill>
                <a:latin typeface="JetBrains Mono" pitchFamily="34" charset="0"/>
                <a:ea typeface="JetBrains Mono" pitchFamily="34" charset="-122"/>
                <a:cs typeface="JetBrains Mono" pitchFamily="34" charset="-120"/>
              </a:rPr>
              <a:t>    }</a:t>
            </a:r>
            <a:endParaRPr lang="en-US" sz="1200" dirty="0"/>
          </a:p>
        </p:txBody>
      </p:sp>
      <p:sp>
        <p:nvSpPr>
          <p:cNvPr id="6" name="Text 4"/>
          <p:cNvSpPr/>
          <p:nvPr/>
        </p:nvSpPr>
        <p:spPr>
          <a:xfrm>
            <a:off x="5810250" y="1828800"/>
            <a:ext cx="5736019"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SONAR WAY, SONARQUBE SERVER</a:t>
            </a:r>
            <a:endParaRPr lang="en-US" sz="1200" dirty="0"/>
          </a:p>
        </p:txBody>
      </p:sp>
      <p:sp>
        <p:nvSpPr>
          <p:cNvPr id="7" name="Shape 5"/>
          <p:cNvSpPr/>
          <p:nvPr/>
        </p:nvSpPr>
        <p:spPr>
          <a:xfrm>
            <a:off x="5810250" y="2172345"/>
            <a:ext cx="5568950" cy="0"/>
          </a:xfrm>
          <a:prstGeom prst="line">
            <a:avLst/>
          </a:prstGeom>
          <a:noFill/>
          <a:ln w="6350">
            <a:solidFill>
              <a:srgbClr val="DDD8CC"/>
            </a:solidFill>
            <a:prstDash val="solid"/>
          </a:ln>
        </p:spPr>
      </p:sp>
      <p:sp>
        <p:nvSpPr>
          <p:cNvPr id="8" name="Text 6"/>
          <p:cNvSpPr/>
          <p:nvPr/>
        </p:nvSpPr>
        <p:spPr>
          <a:xfrm>
            <a:off x="5810250" y="2237750"/>
            <a:ext cx="57360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“No new issues are introduced”</a:t>
            </a:r>
            <a:endParaRPr lang="en-US" sz="1200" dirty="0"/>
          </a:p>
        </p:txBody>
      </p:sp>
      <p:sp>
        <p:nvSpPr>
          <p:cNvPr id="9" name="Shape 7"/>
          <p:cNvSpPr/>
          <p:nvPr/>
        </p:nvSpPr>
        <p:spPr>
          <a:xfrm>
            <a:off x="5810250" y="2517775"/>
            <a:ext cx="5568950" cy="0"/>
          </a:xfrm>
          <a:prstGeom prst="line">
            <a:avLst/>
          </a:prstGeom>
          <a:noFill/>
          <a:ln w="6350">
            <a:solidFill>
              <a:srgbClr val="DDD8CC"/>
            </a:solidFill>
            <a:prstDash val="solid"/>
          </a:ln>
        </p:spPr>
      </p:sp>
      <p:sp>
        <p:nvSpPr>
          <p:cNvPr id="10" name="Text 8"/>
          <p:cNvSpPr/>
          <p:nvPr/>
        </p:nvSpPr>
        <p:spPr>
          <a:xfrm>
            <a:off x="5810250" y="2583180"/>
            <a:ext cx="57360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“All new Security Hotspots are reviewed”</a:t>
            </a:r>
            <a:endParaRPr lang="en-US" sz="1200" dirty="0"/>
          </a:p>
        </p:txBody>
      </p:sp>
      <p:sp>
        <p:nvSpPr>
          <p:cNvPr id="11" name="Shape 9"/>
          <p:cNvSpPr/>
          <p:nvPr/>
        </p:nvSpPr>
        <p:spPr>
          <a:xfrm>
            <a:off x="5810250" y="2863230"/>
            <a:ext cx="5568950" cy="0"/>
          </a:xfrm>
          <a:prstGeom prst="line">
            <a:avLst/>
          </a:prstGeom>
          <a:noFill/>
          <a:ln w="6350">
            <a:solidFill>
              <a:srgbClr val="DDD8CC"/>
            </a:solidFill>
            <a:prstDash val="solid"/>
          </a:ln>
        </p:spPr>
      </p:sp>
      <p:sp>
        <p:nvSpPr>
          <p:cNvPr id="12" name="Text 10"/>
          <p:cNvSpPr/>
          <p:nvPr/>
        </p:nvSpPr>
        <p:spPr>
          <a:xfrm>
            <a:off x="5810250" y="2928635"/>
            <a:ext cx="57360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“New code test coverage is greater than or equal to 80.0%”</a:t>
            </a:r>
            <a:endParaRPr lang="en-US" sz="1200" dirty="0"/>
          </a:p>
        </p:txBody>
      </p:sp>
      <p:sp>
        <p:nvSpPr>
          <p:cNvPr id="13" name="Shape 11"/>
          <p:cNvSpPr/>
          <p:nvPr/>
        </p:nvSpPr>
        <p:spPr>
          <a:xfrm>
            <a:off x="5810250" y="3208660"/>
            <a:ext cx="5568950" cy="0"/>
          </a:xfrm>
          <a:prstGeom prst="line">
            <a:avLst/>
          </a:prstGeom>
          <a:noFill/>
          <a:ln w="6350">
            <a:solidFill>
              <a:srgbClr val="DDD8CC"/>
            </a:solidFill>
            <a:prstDash val="solid"/>
          </a:ln>
        </p:spPr>
      </p:sp>
      <p:sp>
        <p:nvSpPr>
          <p:cNvPr id="14" name="Shape 12"/>
          <p:cNvSpPr/>
          <p:nvPr/>
        </p:nvSpPr>
        <p:spPr>
          <a:xfrm>
            <a:off x="5810250" y="3552830"/>
            <a:ext cx="5568950" cy="0"/>
          </a:xfrm>
          <a:prstGeom prst="line">
            <a:avLst/>
          </a:prstGeom>
          <a:noFill/>
          <a:ln w="6350">
            <a:solidFill>
              <a:srgbClr val="DDD8CC"/>
            </a:solidFill>
            <a:prstDash val="solid"/>
          </a:ln>
        </p:spPr>
      </p:sp>
      <p:sp>
        <p:nvSpPr>
          <p:cNvPr id="15" name="Text 13"/>
          <p:cNvSpPr/>
          <p:nvPr/>
        </p:nvSpPr>
        <p:spPr>
          <a:xfrm>
            <a:off x="5810250" y="3274065"/>
            <a:ext cx="573601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“Duplication in the new code is less than or equal to 3.0%”</a:t>
            </a:r>
            <a:endParaRPr lang="en-US" sz="1200" dirty="0"/>
          </a:p>
        </p:txBody>
      </p:sp>
      <p:sp>
        <p:nvSpPr>
          <p:cNvPr id="16" name="Shape 14"/>
          <p:cNvSpPr/>
          <p:nvPr/>
        </p:nvSpPr>
        <p:spPr>
          <a:xfrm>
            <a:off x="5810250" y="3683000"/>
            <a:ext cx="5568950" cy="944880"/>
          </a:xfrm>
          <a:prstGeom prst="roundRect">
            <a:avLst>
              <a:gd name="adj" fmla="val 8065"/>
            </a:avLst>
          </a:prstGeom>
          <a:solidFill>
            <a:srgbClr val="DCE7F3"/>
          </a:solidFill>
          <a:ln/>
        </p:spPr>
      </p:sp>
      <p:sp>
        <p:nvSpPr>
          <p:cNvPr id="17" name="Text 15"/>
          <p:cNvSpPr/>
          <p:nvPr/>
        </p:nvSpPr>
        <p:spPr>
          <a:xfrm>
            <a:off x="5962650" y="3810000"/>
            <a:ext cx="5422075"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45A9C"/>
                </a:solidFill>
                <a:latin typeface="JetBrains Mono" pitchFamily="34" charset="0"/>
                <a:ea typeface="JetBrains Mono" pitchFamily="34" charset="-122"/>
                <a:cs typeface="JetBrains Mono" pitchFamily="34" charset="-120"/>
              </a:rPr>
              <a:t>Webhook</a:t>
            </a:r>
            <a:endParaRPr lang="en-US" sz="1200" dirty="0"/>
          </a:p>
        </p:txBody>
      </p:sp>
      <p:sp>
        <p:nvSpPr>
          <p:cNvPr id="18" name="Text 16"/>
          <p:cNvSpPr/>
          <p:nvPr/>
        </p:nvSpPr>
        <p:spPr>
          <a:xfrm>
            <a:off x="5962650" y="4074170"/>
            <a:ext cx="5422075"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SonarQube calls &lt;jenkins&gt;/sonarqube-webhook/ with the result. “The trailing slash is mandatory!”</a:t>
            </a:r>
            <a:endParaRPr lang="en-US" sz="1200" dirty="0"/>
          </a:p>
        </p:txBody>
      </p:sp>
      <p:sp>
        <p:nvSpPr>
          <p:cNvPr id="19" name="Text 1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0" name="Text 18"/>
          <p:cNvSpPr/>
          <p:nvPr/>
        </p:nvSpPr>
        <p:spPr>
          <a:xfrm>
            <a:off x="4931886" y="6238255"/>
            <a:ext cx="664073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Jenkinsfile lines 12–25 · quotes: docs.sonarsource.com · SonarQube Cloud’s Sonar way differs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L23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23</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do the unit tests run before Deploy to test, and the smoke tests before regression?</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is junit in post always rather than in a step after the tests?</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Coverage is 69.77% against an 80% gate. Give two good ways to pass it and one bad way.</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The Quality gate stage waits until its 10-minute timeout. What is the likely cause?</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25</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25 · 40 MINUTES</a:t>
            </a:r>
            <a:endParaRPr lang="en-US" sz="1200" dirty="0"/>
          </a:p>
        </p:txBody>
      </p:sp>
      <p:sp>
        <p:nvSpPr>
          <p:cNvPr id="4" name="Text 2"/>
          <p:cNvSpPr/>
          <p:nvPr/>
        </p:nvSpPr>
        <p:spPr>
          <a:xfrm>
            <a:off x="812800" y="31343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Continuous</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testing</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sp>
      <p:sp>
        <p:nvSpPr>
          <p:cNvPr id="6" name="Text 4"/>
          <p:cNvSpPr/>
          <p:nvPr/>
        </p:nvSpPr>
        <p:spPr>
          <a:xfrm>
            <a:off x="8128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7" name="Text 5"/>
          <p:cNvSpPr/>
          <p:nvPr/>
        </p:nvSpPr>
        <p:spPr>
          <a:xfrm>
            <a:off x="812800" y="53848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Continuous testing</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sp>
      <p:sp>
        <p:nvSpPr>
          <p:cNvPr id="9" name="Text 7"/>
          <p:cNvSpPr/>
          <p:nvPr/>
        </p:nvSpPr>
        <p:spPr>
          <a:xfrm>
            <a:off x="39116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25 min</a:t>
            </a:r>
            <a:endParaRPr lang="en-US" sz="1200" dirty="0"/>
          </a:p>
        </p:txBody>
      </p:sp>
      <p:sp>
        <p:nvSpPr>
          <p:cNvPr id="10" name="Text 8"/>
          <p:cNvSpPr/>
          <p:nvPr/>
        </p:nvSpPr>
        <p:spPr>
          <a:xfrm>
            <a:off x="39116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Its requirements and advantages</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CONTINUOUS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continuous testing is</a:t>
            </a:r>
            <a:endParaRPr lang="en-US" sz="3200" dirty="0"/>
          </a:p>
        </p:txBody>
      </p:sp>
      <p:sp>
        <p:nvSpPr>
          <p:cNvPr id="4" name="Shape 2"/>
          <p:cNvSpPr/>
          <p:nvPr/>
        </p:nvSpPr>
        <p:spPr>
          <a:xfrm>
            <a:off x="812800" y="1828800"/>
            <a:ext cx="10566400" cy="1264920"/>
          </a:xfrm>
          <a:prstGeom prst="roundRect">
            <a:avLst>
              <a:gd name="adj" fmla="val 6024"/>
            </a:avLst>
          </a:prstGeom>
          <a:solidFill>
            <a:srgbClr val="13233A"/>
          </a:solidFill>
          <a:ln/>
        </p:spPr>
      </p:sp>
      <p:sp>
        <p:nvSpPr>
          <p:cNvPr id="5" name="Text 3"/>
          <p:cNvSpPr/>
          <p:nvPr/>
        </p:nvSpPr>
        <p:spPr>
          <a:xfrm>
            <a:off x="1066800" y="2032000"/>
            <a:ext cx="1036015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3F1EA"/>
                </a:solidFill>
                <a:latin typeface="IBM Plex Sans" pitchFamily="34" charset="0"/>
                <a:ea typeface="IBM Plex Sans" pitchFamily="34" charset="-122"/>
                <a:cs typeface="IBM Plex Sans" pitchFamily="34" charset="-120"/>
              </a:rPr>
              <a:t>“Continuous testing is the process of executing </a:t>
            </a:r>
            <a:r>
              <a:rPr lang="en-US" sz="1600" dirty="0">
                <a:solidFill>
                  <a:srgbClr val="F2A36B"/>
                </a:solidFill>
                <a:latin typeface="IBM Plex Sans" pitchFamily="34" charset="0"/>
                <a:ea typeface="IBM Plex Sans" pitchFamily="34" charset="-122"/>
                <a:cs typeface="IBM Plex Sans" pitchFamily="34" charset="-120"/>
              </a:rPr>
              <a:t>automated tests</a:t>
            </a:r>
            <a:r>
              <a:rPr lang="en-US" sz="1600" dirty="0">
                <a:solidFill>
                  <a:srgbClr val="F3F1EA"/>
                </a:solidFill>
                <a:latin typeface="IBM Plex Sans" pitchFamily="34" charset="0"/>
                <a:ea typeface="IBM Plex Sans" pitchFamily="34" charset="-122"/>
                <a:cs typeface="IBM Plex Sans" pitchFamily="34" charset="-120"/>
              </a:rPr>
              <a:t> as part of the </a:t>
            </a:r>
            <a:r>
              <a:rPr lang="en-US" sz="1600" dirty="0">
                <a:solidFill>
                  <a:srgbClr val="F2A36B"/>
                </a:solidFill>
                <a:latin typeface="IBM Plex Sans" pitchFamily="34" charset="0"/>
                <a:ea typeface="IBM Plex Sans" pitchFamily="34" charset="-122"/>
                <a:cs typeface="IBM Plex Sans" pitchFamily="34" charset="-120"/>
              </a:rPr>
              <a:t>software delivery pipeline</a:t>
            </a:r>
            <a:r>
              <a:rPr lang="en-US" sz="1600" dirty="0">
                <a:solidFill>
                  <a:srgbClr val="F3F1EA"/>
                </a:solidFill>
                <a:latin typeface="IBM Plex Sans" pitchFamily="34" charset="0"/>
                <a:ea typeface="IBM Plex Sans" pitchFamily="34" charset="-122"/>
                <a:cs typeface="IBM Plex Sans" pitchFamily="34" charset="-120"/>
              </a:rPr>
              <a:t> to obtain </a:t>
            </a:r>
            <a:r>
              <a:rPr lang="en-US" sz="1600" dirty="0">
                <a:solidFill>
                  <a:srgbClr val="F2A36B"/>
                </a:solidFill>
                <a:latin typeface="IBM Plex Sans" pitchFamily="34" charset="0"/>
                <a:ea typeface="IBM Plex Sans" pitchFamily="34" charset="-122"/>
                <a:cs typeface="IBM Plex Sans" pitchFamily="34" charset="-120"/>
              </a:rPr>
              <a:t>immediate feedback</a:t>
            </a:r>
            <a:r>
              <a:rPr lang="en-US" sz="1600" dirty="0">
                <a:solidFill>
                  <a:srgbClr val="F3F1EA"/>
                </a:solidFill>
                <a:latin typeface="IBM Plex Sans" pitchFamily="34" charset="0"/>
                <a:ea typeface="IBM Plex Sans" pitchFamily="34" charset="-122"/>
                <a:cs typeface="IBM Plex Sans" pitchFamily="34" charset="-120"/>
              </a:rPr>
              <a:t> on the </a:t>
            </a:r>
            <a:r>
              <a:rPr lang="en-US" sz="1600" dirty="0">
                <a:solidFill>
                  <a:srgbClr val="F2A36B"/>
                </a:solidFill>
                <a:latin typeface="IBM Plex Sans" pitchFamily="34" charset="0"/>
                <a:ea typeface="IBM Plex Sans" pitchFamily="34" charset="-122"/>
                <a:cs typeface="IBM Plex Sans" pitchFamily="34" charset="-120"/>
              </a:rPr>
              <a:t>business risks</a:t>
            </a:r>
            <a:r>
              <a:rPr lang="en-US" sz="1600" dirty="0">
                <a:solidFill>
                  <a:srgbClr val="F3F1EA"/>
                </a:solidFill>
                <a:latin typeface="IBM Plex Sans" pitchFamily="34" charset="0"/>
                <a:ea typeface="IBM Plex Sans" pitchFamily="34" charset="-122"/>
                <a:cs typeface="IBM Plex Sans" pitchFamily="34" charset="-120"/>
              </a:rPr>
              <a:t> associated with a </a:t>
            </a:r>
            <a:r>
              <a:rPr lang="en-US" sz="1600" dirty="0">
                <a:solidFill>
                  <a:srgbClr val="F2A36B"/>
                </a:solidFill>
                <a:latin typeface="IBM Plex Sans" pitchFamily="34" charset="0"/>
                <a:ea typeface="IBM Plex Sans" pitchFamily="34" charset="-122"/>
                <a:cs typeface="IBM Plex Sans" pitchFamily="34" charset="-120"/>
              </a:rPr>
              <a:t>software release candidate</a:t>
            </a:r>
            <a:r>
              <a:rPr lang="en-US" sz="1600" dirty="0">
                <a:solidFill>
                  <a:srgbClr val="F3F1EA"/>
                </a:solidFill>
                <a:latin typeface="IBM Plex Sans" pitchFamily="34" charset="0"/>
                <a:ea typeface="IBM Plex Sans" pitchFamily="34" charset="-122"/>
                <a:cs typeface="IBM Plex Sans" pitchFamily="34" charset="-120"/>
              </a:rPr>
              <a:t>.”</a:t>
            </a:r>
            <a:endParaRPr lang="en-US" sz="1600" dirty="0"/>
          </a:p>
        </p:txBody>
      </p:sp>
      <p:sp>
        <p:nvSpPr>
          <p:cNvPr id="6" name="Text 4"/>
          <p:cNvSpPr/>
          <p:nvPr/>
        </p:nvSpPr>
        <p:spPr>
          <a:xfrm>
            <a:off x="1066800" y="2677170"/>
            <a:ext cx="1036015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AAD"/>
                </a:solidFill>
                <a:latin typeface="JetBrains Mono" pitchFamily="34" charset="0"/>
                <a:ea typeface="JetBrains Mono" pitchFamily="34" charset="-122"/>
                <a:cs typeface="JetBrains Mono" pitchFamily="34" charset="-120"/>
              </a:rPr>
              <a:t>Wikipedia, “Continuous testing”</a:t>
            </a:r>
            <a:endParaRPr lang="en-US" sz="1200" dirty="0"/>
          </a:p>
        </p:txBody>
      </p:sp>
      <p:sp>
        <p:nvSpPr>
          <p:cNvPr id="7" name="Shape 5"/>
          <p:cNvSpPr/>
          <p:nvPr/>
        </p:nvSpPr>
        <p:spPr>
          <a:xfrm>
            <a:off x="812800" y="3354065"/>
            <a:ext cx="2011680" cy="0"/>
          </a:xfrm>
          <a:prstGeom prst="line">
            <a:avLst/>
          </a:prstGeom>
          <a:noFill/>
          <a:ln w="12700">
            <a:solidFill>
              <a:srgbClr val="A9481A"/>
            </a:solidFill>
            <a:prstDash val="solid"/>
          </a:ln>
        </p:spPr>
      </p:sp>
      <p:sp>
        <p:nvSpPr>
          <p:cNvPr id="8" name="Text 6"/>
          <p:cNvSpPr/>
          <p:nvPr/>
        </p:nvSpPr>
        <p:spPr>
          <a:xfrm>
            <a:off x="812800" y="3446785"/>
            <a:ext cx="207203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Automated</a:t>
            </a:r>
            <a:endParaRPr lang="en-US" sz="1400" dirty="0"/>
          </a:p>
        </p:txBody>
      </p:sp>
      <p:sp>
        <p:nvSpPr>
          <p:cNvPr id="9" name="Text 7"/>
          <p:cNvSpPr/>
          <p:nvPr/>
        </p:nvSpPr>
        <p:spPr>
          <a:xfrm>
            <a:off x="812800" y="3728715"/>
            <a:ext cx="2072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Machines run the checks on every change</a:t>
            </a:r>
            <a:endParaRPr lang="en-US" sz="1200" dirty="0"/>
          </a:p>
        </p:txBody>
      </p:sp>
      <p:sp>
        <p:nvSpPr>
          <p:cNvPr id="10" name="Shape 8"/>
          <p:cNvSpPr/>
          <p:nvPr/>
        </p:nvSpPr>
        <p:spPr>
          <a:xfrm>
            <a:off x="2951480" y="3354065"/>
            <a:ext cx="2011680" cy="0"/>
          </a:xfrm>
          <a:prstGeom prst="line">
            <a:avLst/>
          </a:prstGeom>
          <a:noFill/>
          <a:ln w="12700">
            <a:solidFill>
              <a:srgbClr val="A9481A"/>
            </a:solidFill>
            <a:prstDash val="solid"/>
          </a:ln>
        </p:spPr>
      </p:sp>
      <p:sp>
        <p:nvSpPr>
          <p:cNvPr id="11" name="Text 9"/>
          <p:cNvSpPr/>
          <p:nvPr/>
        </p:nvSpPr>
        <p:spPr>
          <a:xfrm>
            <a:off x="2951480" y="3446785"/>
            <a:ext cx="207203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In the pipeline</a:t>
            </a:r>
            <a:endParaRPr lang="en-US" sz="1400" dirty="0"/>
          </a:p>
        </p:txBody>
      </p:sp>
      <p:sp>
        <p:nvSpPr>
          <p:cNvPr id="12" name="Text 10"/>
          <p:cNvSpPr/>
          <p:nvPr/>
        </p:nvSpPr>
        <p:spPr>
          <a:xfrm>
            <a:off x="2951480" y="3728715"/>
            <a:ext cx="2072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Tests are stages, not a phase at the end</a:t>
            </a:r>
            <a:endParaRPr lang="en-US" sz="1200" dirty="0"/>
          </a:p>
        </p:txBody>
      </p:sp>
      <p:sp>
        <p:nvSpPr>
          <p:cNvPr id="13" name="Shape 11"/>
          <p:cNvSpPr/>
          <p:nvPr/>
        </p:nvSpPr>
        <p:spPr>
          <a:xfrm>
            <a:off x="5090160" y="3354065"/>
            <a:ext cx="2011680" cy="0"/>
          </a:xfrm>
          <a:prstGeom prst="line">
            <a:avLst/>
          </a:prstGeom>
          <a:noFill/>
          <a:ln w="12700">
            <a:solidFill>
              <a:srgbClr val="A9481A"/>
            </a:solidFill>
            <a:prstDash val="solid"/>
          </a:ln>
        </p:spPr>
      </p:sp>
      <p:sp>
        <p:nvSpPr>
          <p:cNvPr id="14" name="Text 12"/>
          <p:cNvSpPr/>
          <p:nvPr/>
        </p:nvSpPr>
        <p:spPr>
          <a:xfrm>
            <a:off x="5090160" y="3446785"/>
            <a:ext cx="207203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Immediate</a:t>
            </a:r>
            <a:endParaRPr lang="en-US" sz="1400" dirty="0"/>
          </a:p>
        </p:txBody>
      </p:sp>
      <p:sp>
        <p:nvSpPr>
          <p:cNvPr id="15" name="Text 13"/>
          <p:cNvSpPr/>
          <p:nvPr/>
        </p:nvSpPr>
        <p:spPr>
          <a:xfrm>
            <a:off x="5090160" y="3728715"/>
            <a:ext cx="2072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Minutes after the commit, not weeks</a:t>
            </a:r>
            <a:endParaRPr lang="en-US" sz="1200" dirty="0"/>
          </a:p>
        </p:txBody>
      </p:sp>
      <p:sp>
        <p:nvSpPr>
          <p:cNvPr id="16" name="Shape 14"/>
          <p:cNvSpPr/>
          <p:nvPr/>
        </p:nvSpPr>
        <p:spPr>
          <a:xfrm>
            <a:off x="7228840" y="3354065"/>
            <a:ext cx="2011680" cy="0"/>
          </a:xfrm>
          <a:prstGeom prst="line">
            <a:avLst/>
          </a:prstGeom>
          <a:noFill/>
          <a:ln w="12700">
            <a:solidFill>
              <a:srgbClr val="A9481A"/>
            </a:solidFill>
            <a:prstDash val="solid"/>
          </a:ln>
        </p:spPr>
      </p:sp>
      <p:sp>
        <p:nvSpPr>
          <p:cNvPr id="17" name="Text 15"/>
          <p:cNvSpPr/>
          <p:nvPr/>
        </p:nvSpPr>
        <p:spPr>
          <a:xfrm>
            <a:off x="7228840" y="3446785"/>
            <a:ext cx="207203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Business risk</a:t>
            </a:r>
            <a:endParaRPr lang="en-US" sz="1400" dirty="0"/>
          </a:p>
        </p:txBody>
      </p:sp>
      <p:sp>
        <p:nvSpPr>
          <p:cNvPr id="18" name="Text 16"/>
          <p:cNvSpPr/>
          <p:nvPr/>
        </p:nvSpPr>
        <p:spPr>
          <a:xfrm>
            <a:off x="7228840" y="3728715"/>
            <a:ext cx="2072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What breaks for users, not only which test failed</a:t>
            </a:r>
            <a:endParaRPr lang="en-US" sz="1200" dirty="0"/>
          </a:p>
        </p:txBody>
      </p:sp>
      <p:sp>
        <p:nvSpPr>
          <p:cNvPr id="19" name="Shape 17"/>
          <p:cNvSpPr/>
          <p:nvPr/>
        </p:nvSpPr>
        <p:spPr>
          <a:xfrm>
            <a:off x="9367520" y="3354065"/>
            <a:ext cx="2011680" cy="0"/>
          </a:xfrm>
          <a:prstGeom prst="line">
            <a:avLst/>
          </a:prstGeom>
          <a:noFill/>
          <a:ln w="12700">
            <a:solidFill>
              <a:srgbClr val="A9481A"/>
            </a:solidFill>
            <a:prstDash val="solid"/>
          </a:ln>
        </p:spPr>
      </p:sp>
      <p:sp>
        <p:nvSpPr>
          <p:cNvPr id="20" name="Text 18"/>
          <p:cNvSpPr/>
          <p:nvPr/>
        </p:nvSpPr>
        <p:spPr>
          <a:xfrm>
            <a:off x="9367520" y="3446785"/>
            <a:ext cx="2072031"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Release candidate</a:t>
            </a:r>
            <a:endParaRPr lang="en-US" sz="1400" dirty="0"/>
          </a:p>
        </p:txBody>
      </p:sp>
      <p:sp>
        <p:nvSpPr>
          <p:cNvPr id="21" name="Text 19"/>
          <p:cNvSpPr/>
          <p:nvPr/>
        </p:nvSpPr>
        <p:spPr>
          <a:xfrm>
            <a:off x="9367520" y="3728715"/>
            <a:ext cx="2072031"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build could be the one that ships</a:t>
            </a:r>
            <a:endParaRPr lang="en-US" sz="1200" dirty="0"/>
          </a:p>
        </p:txBody>
      </p:sp>
      <p:sp>
        <p:nvSpPr>
          <p:cNvPr id="22" name="Text 20"/>
          <p:cNvSpPr/>
          <p:nvPr/>
        </p:nvSpPr>
        <p:spPr>
          <a:xfrm>
            <a:off x="812800" y="4409455"/>
            <a:ext cx="9810750"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DORA lists it as a capability: “Testing throughout the software delivery lifecycle rather than as a separate phase after dev complete.”</a:t>
            </a:r>
            <a:endParaRPr lang="en-US" sz="1400" dirty="0"/>
          </a:p>
        </p:txBody>
      </p:sp>
      <p:sp>
        <p:nvSpPr>
          <p:cNvPr id="23" name="Text 21"/>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4" name="Text 22"/>
          <p:cNvSpPr/>
          <p:nvPr/>
        </p:nvSpPr>
        <p:spPr>
          <a:xfrm>
            <a:off x="5598160" y="6238255"/>
            <a:ext cx="595447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en.wikipedia.org/wiki/Continuous_testing · dora.dev, continuous delivery capabilities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CONTINUOUS TESTING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Test automation vs continuous testing</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1899209"/>
                <a:gridCol w="4009441"/>
                <a:gridCol w="4642510"/>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Test automation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Continuous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Can a machine run this check?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Is this change safe to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Whenever someone starts the suite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 every change, at every 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Scope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Mostly functional checks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Functional, performance, security, 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Result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Pass or fail per test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go or no-go on the release risk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Needs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Scripts and tools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Pipeline, environments, data,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Owner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Often a test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whole delivery team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409455"/>
            <a:ext cx="10566400" cy="553720"/>
          </a:xfrm>
          <a:prstGeom prst="roundRect">
            <a:avLst>
              <a:gd name="adj" fmla="val 13761"/>
            </a:avLst>
          </a:prstGeom>
          <a:solidFill>
            <a:srgbClr val="13233A"/>
          </a:solidFill>
          <a:ln/>
        </p:spPr>
      </p:sp>
      <p:sp>
        <p:nvSpPr>
          <p:cNvPr id="8" name="Text 5"/>
          <p:cNvSpPr/>
          <p:nvPr/>
        </p:nvSpPr>
        <p:spPr>
          <a:xfrm>
            <a:off x="1016000" y="4579615"/>
            <a:ext cx="88392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RELATION</a:t>
            </a:r>
            <a:endParaRPr lang="en-US" sz="1200" dirty="0"/>
          </a:p>
        </p:txBody>
      </p:sp>
      <p:sp>
        <p:nvSpPr>
          <p:cNvPr id="9" name="Text 6"/>
          <p:cNvSpPr/>
          <p:nvPr/>
        </p:nvSpPr>
        <p:spPr>
          <a:xfrm>
            <a:off x="2001520" y="4561855"/>
            <a:ext cx="9449715"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Automated tests are the building blocks; continuous testing decides when they run and what their results mean.</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6130370" y="6238255"/>
            <a:ext cx="540629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 team can have thousands of automated tests and still not test continuously</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REQUIREMENTS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continuous testing needs in place</a:t>
            </a:r>
            <a:endParaRPr lang="en-US" sz="3200" dirty="0"/>
          </a:p>
        </p:txBody>
      </p:sp>
      <p:sp>
        <p:nvSpPr>
          <p:cNvPr id="4" name="Shape 2"/>
          <p:cNvSpPr/>
          <p:nvPr/>
        </p:nvSpPr>
        <p:spPr>
          <a:xfrm>
            <a:off x="11376025" y="1828800"/>
            <a:ext cx="0" cy="2987040"/>
          </a:xfrm>
          <a:prstGeom prst="line">
            <a:avLst/>
          </a:prstGeom>
          <a:noFill/>
          <a:ln w="6350">
            <a:solidFill>
              <a:srgbClr val="DDD8CC"/>
            </a:solidFill>
            <a:prstDash val="solid"/>
          </a:ln>
        </p:spPr>
      </p:sp>
      <p:sp>
        <p:nvSpPr>
          <p:cNvPr id="5" name="Shape 3"/>
          <p:cNvSpPr/>
          <p:nvPr/>
        </p:nvSpPr>
        <p:spPr>
          <a:xfrm>
            <a:off x="812800" y="48126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971800"/>
        </p:xfrm>
        <a:graphic>
          <a:graphicData uri="http://schemas.openxmlformats.org/drawingml/2006/table">
            <a:tbl>
              <a:tblPr/>
              <a:tblGrid>
                <a:gridCol w="3165348"/>
                <a:gridCol w="5908650"/>
                <a:gridCol w="1477162"/>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Requirement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In the Canteen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Lecture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pipeline on every change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Jenkins runs the Jenkinsfile on each push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Tests at every level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API, UI, performance, security, mobile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L15–L20</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 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stage in seconds; parallel regression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L14,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Reliable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flaky lock test fixed, not retried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L14, L18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Environments on demand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Docker grid; test server deployed by script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L22,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data and stubs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Seeded students S101, S102; stubbed payment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Gates and reports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Coverage, Sonar way, JUnit, Allure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Production feedback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Crash reports, staged rollout, monitoring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L21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Text 4"/>
          <p:cNvSpPr/>
          <p:nvPr/>
        </p:nvSpPr>
        <p:spPr>
          <a:xfrm>
            <a:off x="812800" y="5069855"/>
            <a:ext cx="9810750"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Plus a team habit: when the pipeline goes red, fixing it comes before new work.</a:t>
            </a:r>
            <a:endParaRPr lang="en-US" sz="1400" dirty="0"/>
          </a:p>
        </p:txBody>
      </p:sp>
      <p:sp>
        <p:nvSpPr>
          <p:cNvPr id="8" name="Text 5"/>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9" name="Text 6"/>
          <p:cNvSpPr/>
          <p:nvPr/>
        </p:nvSpPr>
        <p:spPr>
          <a:xfrm>
            <a:off x="5103178" y="6238255"/>
            <a:ext cx="646430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Most of these are DORA capabilities: test automation, test data management, CI, monitoring</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ADVANTAGES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continuous testing gives a team</a:t>
            </a:r>
            <a:endParaRPr lang="en-US" sz="3200" dirty="0"/>
          </a:p>
        </p:txBody>
      </p:sp>
      <p:sp>
        <p:nvSpPr>
          <p:cNvPr id="4" name="Shape 2"/>
          <p:cNvSpPr/>
          <p:nvPr/>
        </p:nvSpPr>
        <p:spPr>
          <a:xfrm>
            <a:off x="815975" y="1831975"/>
            <a:ext cx="3414157" cy="1017270"/>
          </a:xfrm>
          <a:prstGeom prst="roundRect">
            <a:avLst>
              <a:gd name="adj" fmla="val 7179"/>
            </a:avLst>
          </a:prstGeom>
          <a:solidFill>
            <a:srgbClr val="FCFBF7"/>
          </a:solidFill>
          <a:ln w="6350">
            <a:solidFill>
              <a:srgbClr val="DDD8CC"/>
            </a:solidFill>
            <a:prstDash val="solid"/>
          </a:ln>
        </p:spPr>
      </p:sp>
      <p:sp>
        <p:nvSpPr>
          <p:cNvPr id="5" name="Text 3"/>
          <p:cNvSpPr/>
          <p:nvPr/>
        </p:nvSpPr>
        <p:spPr>
          <a:xfrm>
            <a:off x="995680"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Early defects</a:t>
            </a:r>
            <a:endParaRPr lang="en-US" sz="1400" dirty="0"/>
          </a:p>
        </p:txBody>
      </p:sp>
      <p:sp>
        <p:nvSpPr>
          <p:cNvPr id="6" name="Text 4"/>
          <p:cNvSpPr/>
          <p:nvPr/>
        </p:nvSpPr>
        <p:spPr>
          <a:xfrm>
            <a:off x="995680" y="22682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Found minutes after the commit, while the change is fresh and cheap to fix</a:t>
            </a:r>
            <a:endParaRPr lang="en-US" sz="1200" dirty="0"/>
          </a:p>
        </p:txBody>
      </p:sp>
      <p:sp>
        <p:nvSpPr>
          <p:cNvPr id="7" name="Shape 5"/>
          <p:cNvSpPr/>
          <p:nvPr/>
        </p:nvSpPr>
        <p:spPr>
          <a:xfrm>
            <a:off x="4388882" y="1831975"/>
            <a:ext cx="3414157" cy="1017270"/>
          </a:xfrm>
          <a:prstGeom prst="roundRect">
            <a:avLst>
              <a:gd name="adj" fmla="val 7179"/>
            </a:avLst>
          </a:prstGeom>
          <a:solidFill>
            <a:srgbClr val="FCFBF7"/>
          </a:solidFill>
          <a:ln w="6350">
            <a:solidFill>
              <a:srgbClr val="DDD8CC"/>
            </a:solidFill>
            <a:prstDash val="solid"/>
          </a:ln>
        </p:spPr>
      </p:sp>
      <p:sp>
        <p:nvSpPr>
          <p:cNvPr id="8" name="Text 6"/>
          <p:cNvSpPr/>
          <p:nvPr/>
        </p:nvSpPr>
        <p:spPr>
          <a:xfrm>
            <a:off x="4568587"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Lower release risk</a:t>
            </a:r>
            <a:endParaRPr lang="en-US" sz="1400" dirty="0"/>
          </a:p>
        </p:txBody>
      </p:sp>
      <p:sp>
        <p:nvSpPr>
          <p:cNvPr id="9" name="Text 7"/>
          <p:cNvSpPr/>
          <p:nvPr/>
        </p:nvSpPr>
        <p:spPr>
          <a:xfrm>
            <a:off x="4568587" y="22682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Every candidate has passed the same gates, so a release is routine</a:t>
            </a:r>
            <a:endParaRPr lang="en-US" sz="1200" dirty="0"/>
          </a:p>
        </p:txBody>
      </p:sp>
      <p:sp>
        <p:nvSpPr>
          <p:cNvPr id="10" name="Shape 8"/>
          <p:cNvSpPr/>
          <p:nvPr/>
        </p:nvSpPr>
        <p:spPr>
          <a:xfrm>
            <a:off x="7961789" y="1831975"/>
            <a:ext cx="3414157" cy="1017270"/>
          </a:xfrm>
          <a:prstGeom prst="roundRect">
            <a:avLst>
              <a:gd name="adj" fmla="val 7179"/>
            </a:avLst>
          </a:prstGeom>
          <a:solidFill>
            <a:srgbClr val="FCFBF7"/>
          </a:solidFill>
          <a:ln w="6350">
            <a:solidFill>
              <a:srgbClr val="DDD8CC"/>
            </a:solidFill>
            <a:prstDash val="solid"/>
          </a:ln>
        </p:spPr>
      </p:sp>
      <p:sp>
        <p:nvSpPr>
          <p:cNvPr id="11" name="Text 9"/>
          <p:cNvSpPr/>
          <p:nvPr/>
        </p:nvSpPr>
        <p:spPr>
          <a:xfrm>
            <a:off x="8141494" y="1986285"/>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Smaller, frequent releases</a:t>
            </a:r>
            <a:endParaRPr lang="en-US" sz="1400" dirty="0"/>
          </a:p>
        </p:txBody>
      </p:sp>
      <p:sp>
        <p:nvSpPr>
          <p:cNvPr id="12" name="Text 10"/>
          <p:cNvSpPr/>
          <p:nvPr/>
        </p:nvSpPr>
        <p:spPr>
          <a:xfrm>
            <a:off x="8141494" y="226821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No long test phase before each release, so changes ship in small batches</a:t>
            </a:r>
            <a:endParaRPr lang="en-US" sz="1200" dirty="0"/>
          </a:p>
        </p:txBody>
      </p:sp>
      <p:sp>
        <p:nvSpPr>
          <p:cNvPr id="13" name="Shape 11"/>
          <p:cNvSpPr/>
          <p:nvPr/>
        </p:nvSpPr>
        <p:spPr>
          <a:xfrm>
            <a:off x="815975" y="3007990"/>
            <a:ext cx="3414157" cy="1017270"/>
          </a:xfrm>
          <a:prstGeom prst="roundRect">
            <a:avLst>
              <a:gd name="adj" fmla="val 7179"/>
            </a:avLst>
          </a:prstGeom>
          <a:solidFill>
            <a:srgbClr val="FCFBF7"/>
          </a:solidFill>
          <a:ln w="6350">
            <a:solidFill>
              <a:srgbClr val="DDD8CC"/>
            </a:solidFill>
            <a:prstDash val="solid"/>
          </a:ln>
        </p:spPr>
      </p:sp>
      <p:sp>
        <p:nvSpPr>
          <p:cNvPr id="14" name="Text 12"/>
          <p:cNvSpPr/>
          <p:nvPr/>
        </p:nvSpPr>
        <p:spPr>
          <a:xfrm>
            <a:off x="995680"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Visible quality</a:t>
            </a:r>
            <a:endParaRPr lang="en-US" sz="1400" dirty="0"/>
          </a:p>
        </p:txBody>
      </p:sp>
      <p:sp>
        <p:nvSpPr>
          <p:cNvPr id="15" name="Text 13"/>
          <p:cNvSpPr/>
          <p:nvPr/>
        </p:nvSpPr>
        <p:spPr>
          <a:xfrm>
            <a:off x="995680" y="3444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Reports and trends show everyone the state of the product, every day</a:t>
            </a:r>
            <a:endParaRPr lang="en-US" sz="1200" dirty="0"/>
          </a:p>
        </p:txBody>
      </p:sp>
      <p:sp>
        <p:nvSpPr>
          <p:cNvPr id="16" name="Shape 14"/>
          <p:cNvSpPr/>
          <p:nvPr/>
        </p:nvSpPr>
        <p:spPr>
          <a:xfrm>
            <a:off x="4388882" y="3007990"/>
            <a:ext cx="3414157" cy="1017270"/>
          </a:xfrm>
          <a:prstGeom prst="roundRect">
            <a:avLst>
              <a:gd name="adj" fmla="val 7179"/>
            </a:avLst>
          </a:prstGeom>
          <a:solidFill>
            <a:srgbClr val="FCFBF7"/>
          </a:solidFill>
          <a:ln w="6350">
            <a:solidFill>
              <a:srgbClr val="DDD8CC"/>
            </a:solidFill>
            <a:prstDash val="solid"/>
          </a:ln>
        </p:spPr>
      </p:sp>
      <p:sp>
        <p:nvSpPr>
          <p:cNvPr id="17" name="Text 15"/>
          <p:cNvSpPr/>
          <p:nvPr/>
        </p:nvSpPr>
        <p:spPr>
          <a:xfrm>
            <a:off x="4568587"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Safe change</a:t>
            </a:r>
            <a:endParaRPr lang="en-US" sz="1400" dirty="0"/>
          </a:p>
        </p:txBody>
      </p:sp>
      <p:sp>
        <p:nvSpPr>
          <p:cNvPr id="18" name="Text 16"/>
          <p:cNvSpPr/>
          <p:nvPr/>
        </p:nvSpPr>
        <p:spPr>
          <a:xfrm>
            <a:off x="4568587" y="3444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 safety net for refactoring and for upgrading libraries and browsers</a:t>
            </a:r>
            <a:endParaRPr lang="en-US" sz="1200" dirty="0"/>
          </a:p>
        </p:txBody>
      </p:sp>
      <p:sp>
        <p:nvSpPr>
          <p:cNvPr id="19" name="Shape 17"/>
          <p:cNvSpPr/>
          <p:nvPr/>
        </p:nvSpPr>
        <p:spPr>
          <a:xfrm>
            <a:off x="7961789" y="3007990"/>
            <a:ext cx="3414157" cy="1017270"/>
          </a:xfrm>
          <a:prstGeom prst="roundRect">
            <a:avLst>
              <a:gd name="adj" fmla="val 7179"/>
            </a:avLst>
          </a:prstGeom>
          <a:solidFill>
            <a:srgbClr val="FCFBF7"/>
          </a:solidFill>
          <a:ln w="6350">
            <a:solidFill>
              <a:srgbClr val="DDD8CC"/>
            </a:solidFill>
            <a:prstDash val="solid"/>
          </a:ln>
        </p:spPr>
      </p:sp>
      <p:sp>
        <p:nvSpPr>
          <p:cNvPr id="20" name="Text 18"/>
          <p:cNvSpPr/>
          <p:nvPr/>
        </p:nvSpPr>
        <p:spPr>
          <a:xfrm>
            <a:off x="8141494" y="3162300"/>
            <a:ext cx="314638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Less manual repetition</a:t>
            </a:r>
            <a:endParaRPr lang="en-US" sz="1400" dirty="0"/>
          </a:p>
        </p:txBody>
      </p:sp>
      <p:sp>
        <p:nvSpPr>
          <p:cNvPr id="21" name="Text 19"/>
          <p:cNvSpPr/>
          <p:nvPr/>
        </p:nvSpPr>
        <p:spPr>
          <a:xfrm>
            <a:off x="8141494" y="3444255"/>
            <a:ext cx="314638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Testers spend their time on exploration and new risks</a:t>
            </a:r>
            <a:endParaRPr lang="en-US" sz="1200" dirty="0"/>
          </a:p>
        </p:txBody>
      </p:sp>
      <p:sp>
        <p:nvSpPr>
          <p:cNvPr id="22" name="Shape 20"/>
          <p:cNvSpPr/>
          <p:nvPr/>
        </p:nvSpPr>
        <p:spPr>
          <a:xfrm>
            <a:off x="812800" y="4282455"/>
            <a:ext cx="10566400" cy="553720"/>
          </a:xfrm>
          <a:prstGeom prst="roundRect">
            <a:avLst>
              <a:gd name="adj" fmla="val 13761"/>
            </a:avLst>
          </a:prstGeom>
          <a:solidFill>
            <a:srgbClr val="13233A"/>
          </a:solidFill>
          <a:ln/>
        </p:spPr>
      </p:sp>
      <p:sp>
        <p:nvSpPr>
          <p:cNvPr id="23" name="Text 21"/>
          <p:cNvSpPr/>
          <p:nvPr/>
        </p:nvSpPr>
        <p:spPr>
          <a:xfrm>
            <a:off x="1016000" y="445261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DORA</a:t>
            </a:r>
            <a:endParaRPr lang="en-US" sz="1200" dirty="0"/>
          </a:p>
        </p:txBody>
      </p:sp>
      <p:sp>
        <p:nvSpPr>
          <p:cNvPr id="24" name="Text 22"/>
          <p:cNvSpPr/>
          <p:nvPr/>
        </p:nvSpPr>
        <p:spPr>
          <a:xfrm>
            <a:off x="1584960" y="4434855"/>
            <a:ext cx="98787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Its research links test automation to “improved software stability, reduced team burnout, and lower deployment pain”.</a:t>
            </a:r>
            <a:endParaRPr lang="en-US" sz="1400" dirty="0"/>
          </a:p>
        </p:txBody>
      </p:sp>
      <p:sp>
        <p:nvSpPr>
          <p:cNvPr id="25" name="Text 2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6" name="Text 24"/>
          <p:cNvSpPr/>
          <p:nvPr/>
        </p:nvSpPr>
        <p:spPr>
          <a:xfrm>
            <a:off x="8432959" y="6238255"/>
            <a:ext cx="30346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Quote: dora.dev, test automation capability</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CHALLENGES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gets in the way, and what helps</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3376371"/>
                <a:gridCol w="7174789"/>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Challenge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What helps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Flaky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Quarantine, find the cause, fix; never hide them with retries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Slow suites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Push checks down the pyramid; run in parallel; stop at the first failure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Seed known data for each run; reset it afterwards; use no real personal data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Environments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Containers and scripts build the same environment every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Unready dependencies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Stubs, virtual services and contract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Old code with no 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tests where you change code; gate only the new code, as Sonar way does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Skills and habits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Developers own tests; the team stops to fix a red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55"/>
            <a:ext cx="10566400" cy="553720"/>
          </a:xfrm>
          <a:prstGeom prst="roundRect">
            <a:avLst>
              <a:gd name="adj" fmla="val 13761"/>
            </a:avLst>
          </a:prstGeom>
          <a:solidFill>
            <a:srgbClr val="13233A"/>
          </a:solidFill>
          <a:ln/>
        </p:spPr>
      </p:sp>
      <p:sp>
        <p:nvSpPr>
          <p:cNvPr id="8" name="Text 5"/>
          <p:cNvSpPr/>
          <p:nvPr/>
        </p:nvSpPr>
        <p:spPr>
          <a:xfrm>
            <a:off x="1016000" y="4909815"/>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GOOGLE</a:t>
            </a:r>
            <a:endParaRPr lang="en-US" sz="1200" dirty="0"/>
          </a:p>
        </p:txBody>
      </p:sp>
      <p:sp>
        <p:nvSpPr>
          <p:cNvPr id="9" name="Text 6"/>
          <p:cNvSpPr/>
          <p:nvPr/>
        </p:nvSpPr>
        <p:spPr>
          <a:xfrm>
            <a:off x="1793240" y="4892055"/>
            <a:ext cx="96642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84% of pass-to-fail transitions in its CI involved a flaky test (Micco, 2016).</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7798515" y="6238255"/>
            <a:ext cx="368810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Most mitigations were practised in Lectures 14 to 23</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L25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25</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Explain “business risks associated with a software release candidate” using the Canteen App.</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A team runs 2,000 automated UI tests once a week before release. Is that continuous testing?</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Name four requirements for continuous testing and where each appears in our pipeline.</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Why do flaky tests harm continuous testing more than they harm a manual release test?</a:t>
            </a:r>
            <a:endParaRPr lang="en-US" sz="1400" dirty="0"/>
          </a:p>
        </p:txBody>
      </p:sp>
      <p:sp>
        <p:nvSpPr>
          <p:cNvPr id="16" name="Text 14"/>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55"/>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7193280" y="812800"/>
            <a:ext cx="4185920" cy="2438400"/>
          </a:xfrm>
          <a:prstGeom prst="rect">
            <a:avLst/>
          </a:prstGeom>
          <a:noFill/>
          <a:ln/>
        </p:spPr>
        <p:txBody>
          <a:bodyPr wrap="square" lIns="0" tIns="0" rIns="0" bIns="0" rtlCol="0" anchor="t">
            <a:normAutofit/>
          </a:bodyPr>
          <a:lstStyle/>
          <a:p>
            <a:pPr algn="r" indent="0" marL="0">
              <a:lnSpc>
                <a:spcPts val="19000"/>
              </a:lnSpc>
              <a:buNone/>
            </a:pPr>
            <a:r>
              <a:rPr lang="en-US" sz="19000" b="1" spc="-400" kern="0" dirty="0">
                <a:solidFill>
                  <a:srgbClr val="000000">
                    <a:alpha val="0"/>
                  </a:srgbClr>
                </a:solidFill>
                <a:latin typeface="Space Grotesk" pitchFamily="34" charset="0"/>
                <a:ea typeface="Space Grotesk" pitchFamily="34" charset="-122"/>
                <a:cs typeface="Space Grotesk" pitchFamily="34" charset="-120"/>
              </a:rPr>
              <a:t>26</a:t>
            </a:r>
            <a:endParaRPr lang="en-US" sz="19000" dirty="0"/>
          </a:p>
        </p:txBody>
      </p:sp>
      <p:sp>
        <p:nvSpPr>
          <p:cNvPr id="3" name="Text 1"/>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LECTURE 26 · 40 MINUTES</a:t>
            </a:r>
            <a:endParaRPr lang="en-US" sz="1200" dirty="0"/>
          </a:p>
        </p:txBody>
      </p:sp>
      <p:sp>
        <p:nvSpPr>
          <p:cNvPr id="4" name="Text 2"/>
          <p:cNvSpPr/>
          <p:nvPr/>
        </p:nvSpPr>
        <p:spPr>
          <a:xfrm>
            <a:off x="812800" y="3134370"/>
            <a:ext cx="10464800" cy="1518920"/>
          </a:xfrm>
          <a:prstGeom prst="rect">
            <a:avLst/>
          </a:prstGeom>
          <a:noFill/>
          <a:ln/>
        </p:spPr>
        <p:txBody>
          <a:bodyPr wrap="square" lIns="0" tIns="0" rIns="0" bIns="0" rtlCol="0" anchor="t">
            <a:normAutofit/>
          </a:bodyPr>
          <a:lstStyle/>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Strategy and</a:t>
            </a:r>
            <a:endParaRPr lang="en-US" sz="5600" dirty="0"/>
          </a:p>
          <a:p>
            <a:pPr algn="l" indent="0" marL="0">
              <a:lnSpc>
                <a:spcPts val="5880"/>
              </a:lnSpc>
              <a:buNone/>
            </a:pPr>
            <a:r>
              <a:rPr lang="en-US" sz="5600" b="1" spc="-100" kern="0" dirty="0">
                <a:solidFill>
                  <a:srgbClr val="F3F1EA"/>
                </a:solidFill>
                <a:latin typeface="Space Grotesk" pitchFamily="34" charset="0"/>
                <a:ea typeface="Space Grotesk" pitchFamily="34" charset="-122"/>
                <a:cs typeface="Space Grotesk" pitchFamily="34" charset="-120"/>
              </a:rPr>
              <a:t>continuous delivery</a:t>
            </a:r>
            <a:endParaRPr lang="en-US" sz="5600" dirty="0"/>
          </a:p>
        </p:txBody>
      </p:sp>
      <p:sp>
        <p:nvSpPr>
          <p:cNvPr id="5" name="Shape 3"/>
          <p:cNvSpPr/>
          <p:nvPr/>
        </p:nvSpPr>
        <p:spPr>
          <a:xfrm>
            <a:off x="812800" y="4989835"/>
            <a:ext cx="2794000" cy="0"/>
          </a:xfrm>
          <a:prstGeom prst="line">
            <a:avLst/>
          </a:prstGeom>
          <a:noFill/>
          <a:ln w="12700">
            <a:solidFill>
              <a:srgbClr val="3A5476"/>
            </a:solidFill>
            <a:prstDash val="solid"/>
          </a:ln>
        </p:spPr>
      </p:sp>
      <p:sp>
        <p:nvSpPr>
          <p:cNvPr id="6" name="Text 4"/>
          <p:cNvSpPr/>
          <p:nvPr/>
        </p:nvSpPr>
        <p:spPr>
          <a:xfrm>
            <a:off x="8128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7" name="Text 5"/>
          <p:cNvSpPr/>
          <p:nvPr/>
        </p:nvSpPr>
        <p:spPr>
          <a:xfrm>
            <a:off x="8128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Continuous testing strategy</a:t>
            </a:r>
            <a:endParaRPr lang="en-US" sz="2000" dirty="0"/>
          </a:p>
        </p:txBody>
      </p:sp>
      <p:sp>
        <p:nvSpPr>
          <p:cNvPr id="8" name="Shape 6"/>
          <p:cNvSpPr/>
          <p:nvPr/>
        </p:nvSpPr>
        <p:spPr>
          <a:xfrm>
            <a:off x="3911600" y="4989835"/>
            <a:ext cx="2794000" cy="0"/>
          </a:xfrm>
          <a:prstGeom prst="line">
            <a:avLst/>
          </a:prstGeom>
          <a:noFill/>
          <a:ln w="12700">
            <a:solidFill>
              <a:srgbClr val="3A5476"/>
            </a:solidFill>
            <a:prstDash val="solid"/>
          </a:ln>
        </p:spPr>
      </p:sp>
      <p:sp>
        <p:nvSpPr>
          <p:cNvPr id="9" name="Text 7"/>
          <p:cNvSpPr/>
          <p:nvPr/>
        </p:nvSpPr>
        <p:spPr>
          <a:xfrm>
            <a:off x="39116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15 min</a:t>
            </a:r>
            <a:endParaRPr lang="en-US" sz="1200" dirty="0"/>
          </a:p>
        </p:txBody>
      </p:sp>
      <p:sp>
        <p:nvSpPr>
          <p:cNvPr id="10" name="Text 8"/>
          <p:cNvSpPr/>
          <p:nvPr/>
        </p:nvSpPr>
        <p:spPr>
          <a:xfrm>
            <a:off x="3911600" y="5384800"/>
            <a:ext cx="2877820" cy="3556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Continuous delivery</a:t>
            </a:r>
            <a:endParaRPr lang="en-US" sz="2000" dirty="0"/>
          </a:p>
        </p:txBody>
      </p:sp>
      <p:sp>
        <p:nvSpPr>
          <p:cNvPr id="11" name="Shape 9"/>
          <p:cNvSpPr/>
          <p:nvPr/>
        </p:nvSpPr>
        <p:spPr>
          <a:xfrm>
            <a:off x="7010400" y="4989835"/>
            <a:ext cx="2794000" cy="0"/>
          </a:xfrm>
          <a:prstGeom prst="line">
            <a:avLst/>
          </a:prstGeom>
          <a:noFill/>
          <a:ln w="12700">
            <a:solidFill>
              <a:srgbClr val="3A5476"/>
            </a:solidFill>
            <a:prstDash val="solid"/>
          </a:ln>
        </p:spPr>
      </p:sp>
      <p:sp>
        <p:nvSpPr>
          <p:cNvPr id="12" name="Text 10"/>
          <p:cNvSpPr/>
          <p:nvPr/>
        </p:nvSpPr>
        <p:spPr>
          <a:xfrm>
            <a:off x="7010400" y="5120655"/>
            <a:ext cx="287782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2A36B"/>
                </a:solidFill>
                <a:latin typeface="JetBrains Mono" pitchFamily="34" charset="0"/>
                <a:ea typeface="JetBrains Mono" pitchFamily="34" charset="-122"/>
                <a:cs typeface="JetBrains Mono" pitchFamily="34" charset="-120"/>
              </a:rPr>
              <a:t>10 min</a:t>
            </a:r>
            <a:endParaRPr lang="en-US" sz="1200" dirty="0"/>
          </a:p>
        </p:txBody>
      </p:sp>
      <p:sp>
        <p:nvSpPr>
          <p:cNvPr id="13" name="Text 11"/>
          <p:cNvSpPr/>
          <p:nvPr/>
        </p:nvSpPr>
        <p:spPr>
          <a:xfrm>
            <a:off x="7010400" y="5384800"/>
            <a:ext cx="287782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F3F1EA"/>
                </a:solidFill>
                <a:latin typeface="IBM Plex Sans" pitchFamily="34" charset="0"/>
                <a:ea typeface="IBM Plex Sans" pitchFamily="34" charset="-122"/>
                <a:cs typeface="IBM Plex Sans" pitchFamily="34" charset="-120"/>
              </a:rPr>
              <a:t>Continuous testing vs delivery</a:t>
            </a:r>
            <a:endParaRPr lang="en-US" sz="2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TESTING STRATEGY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Six questions a strategy must answer</a:t>
            </a:r>
            <a:endParaRPr lang="en-US" sz="3200" dirty="0"/>
          </a:p>
        </p:txBody>
      </p:sp>
      <p:sp>
        <p:nvSpPr>
          <p:cNvPr id="4" name="Shape 2"/>
          <p:cNvSpPr/>
          <p:nvPr/>
        </p:nvSpPr>
        <p:spPr>
          <a:xfrm>
            <a:off x="812800" y="1831975"/>
            <a:ext cx="10566400" cy="0"/>
          </a:xfrm>
          <a:prstGeom prst="line">
            <a:avLst/>
          </a:prstGeom>
          <a:noFill/>
          <a:ln w="6350">
            <a:solidFill>
              <a:srgbClr val="DDD8CC"/>
            </a:solidFill>
            <a:prstDash val="solid"/>
          </a:ln>
        </p:spPr>
      </p:sp>
      <p:sp>
        <p:nvSpPr>
          <p:cNvPr id="5" name="Text 3"/>
          <p:cNvSpPr/>
          <p:nvPr/>
        </p:nvSpPr>
        <p:spPr>
          <a:xfrm>
            <a:off x="812800" y="1910085"/>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01</a:t>
            </a:r>
            <a:endParaRPr lang="en-US" sz="2000" dirty="0"/>
          </a:p>
        </p:txBody>
      </p:sp>
      <p:sp>
        <p:nvSpPr>
          <p:cNvPr id="6" name="Text 4"/>
          <p:cNvSpPr/>
          <p:nvPr/>
        </p:nvSpPr>
        <p:spPr>
          <a:xfrm>
            <a:off x="1473200" y="1946920"/>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Which risks matter most?</a:t>
            </a:r>
            <a:endParaRPr lang="en-US" sz="1400" dirty="0"/>
          </a:p>
        </p:txBody>
      </p:sp>
      <p:sp>
        <p:nvSpPr>
          <p:cNvPr id="7" name="Text 5"/>
          <p:cNvSpPr/>
          <p:nvPr/>
        </p:nvSpPr>
        <p:spPr>
          <a:xfrm>
            <a:off x="5613400" y="1955800"/>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Rank what would hurt students and the canteen most</a:t>
            </a:r>
            <a:endParaRPr lang="en-US" sz="1200" dirty="0"/>
          </a:p>
        </p:txBody>
      </p:sp>
      <p:sp>
        <p:nvSpPr>
          <p:cNvPr id="8" name="Shape 6"/>
          <p:cNvSpPr/>
          <p:nvPr/>
        </p:nvSpPr>
        <p:spPr>
          <a:xfrm>
            <a:off x="812800" y="2294260"/>
            <a:ext cx="10566400" cy="0"/>
          </a:xfrm>
          <a:prstGeom prst="line">
            <a:avLst/>
          </a:prstGeom>
          <a:noFill/>
          <a:ln w="6350">
            <a:solidFill>
              <a:srgbClr val="DDD8CC"/>
            </a:solidFill>
            <a:prstDash val="solid"/>
          </a:ln>
        </p:spPr>
      </p:sp>
      <p:sp>
        <p:nvSpPr>
          <p:cNvPr id="9" name="Text 7"/>
          <p:cNvSpPr/>
          <p:nvPr/>
        </p:nvSpPr>
        <p:spPr>
          <a:xfrm>
            <a:off x="812800" y="237237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02</a:t>
            </a:r>
            <a:endParaRPr lang="en-US" sz="2000" dirty="0"/>
          </a:p>
        </p:txBody>
      </p:sp>
      <p:sp>
        <p:nvSpPr>
          <p:cNvPr id="10" name="Text 8"/>
          <p:cNvSpPr/>
          <p:nvPr/>
        </p:nvSpPr>
        <p:spPr>
          <a:xfrm>
            <a:off x="1473200" y="2409205"/>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Which tests, at which level?</a:t>
            </a:r>
            <a:endParaRPr lang="en-US" sz="1400" dirty="0"/>
          </a:p>
        </p:txBody>
      </p:sp>
      <p:sp>
        <p:nvSpPr>
          <p:cNvPr id="11" name="Text 9"/>
          <p:cNvSpPr/>
          <p:nvPr/>
        </p:nvSpPr>
        <p:spPr>
          <a:xfrm>
            <a:off x="5613400" y="2418085"/>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Most checks low in the pyramid; few end-to-end journeys</a:t>
            </a:r>
            <a:endParaRPr lang="en-US" sz="1200" dirty="0"/>
          </a:p>
        </p:txBody>
      </p:sp>
      <p:sp>
        <p:nvSpPr>
          <p:cNvPr id="12" name="Shape 10"/>
          <p:cNvSpPr/>
          <p:nvPr/>
        </p:nvSpPr>
        <p:spPr>
          <a:xfrm>
            <a:off x="812800" y="2756545"/>
            <a:ext cx="10566400" cy="0"/>
          </a:xfrm>
          <a:prstGeom prst="line">
            <a:avLst/>
          </a:prstGeom>
          <a:noFill/>
          <a:ln w="6350">
            <a:solidFill>
              <a:srgbClr val="DDD8CC"/>
            </a:solidFill>
            <a:prstDash val="solid"/>
          </a:ln>
        </p:spPr>
      </p:sp>
      <p:sp>
        <p:nvSpPr>
          <p:cNvPr id="13" name="Text 11"/>
          <p:cNvSpPr/>
          <p:nvPr/>
        </p:nvSpPr>
        <p:spPr>
          <a:xfrm>
            <a:off x="812800" y="2834655"/>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03</a:t>
            </a:r>
            <a:endParaRPr lang="en-US" sz="2000" dirty="0"/>
          </a:p>
        </p:txBody>
      </p:sp>
      <p:sp>
        <p:nvSpPr>
          <p:cNvPr id="14" name="Text 12"/>
          <p:cNvSpPr/>
          <p:nvPr/>
        </p:nvSpPr>
        <p:spPr>
          <a:xfrm>
            <a:off x="1473200" y="2871465"/>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When does each suite run?</a:t>
            </a:r>
            <a:endParaRPr lang="en-US" sz="1400" dirty="0"/>
          </a:p>
        </p:txBody>
      </p:sp>
      <p:sp>
        <p:nvSpPr>
          <p:cNvPr id="15" name="Text 13"/>
          <p:cNvSpPr/>
          <p:nvPr/>
        </p:nvSpPr>
        <p:spPr>
          <a:xfrm>
            <a:off x="5613400" y="2880370"/>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Map suites to pipeline stages, each with a time budget</a:t>
            </a:r>
            <a:endParaRPr lang="en-US" sz="1200" dirty="0"/>
          </a:p>
        </p:txBody>
      </p:sp>
      <p:sp>
        <p:nvSpPr>
          <p:cNvPr id="16" name="Shape 14"/>
          <p:cNvSpPr/>
          <p:nvPr/>
        </p:nvSpPr>
        <p:spPr>
          <a:xfrm>
            <a:off x="812800" y="3218830"/>
            <a:ext cx="10566400" cy="0"/>
          </a:xfrm>
          <a:prstGeom prst="line">
            <a:avLst/>
          </a:prstGeom>
          <a:noFill/>
          <a:ln w="6350">
            <a:solidFill>
              <a:srgbClr val="DDD8CC"/>
            </a:solidFill>
            <a:prstDash val="solid"/>
          </a:ln>
        </p:spPr>
      </p:sp>
      <p:sp>
        <p:nvSpPr>
          <p:cNvPr id="17" name="Text 15"/>
          <p:cNvSpPr/>
          <p:nvPr/>
        </p:nvSpPr>
        <p:spPr>
          <a:xfrm>
            <a:off x="812800" y="3296915"/>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04</a:t>
            </a:r>
            <a:endParaRPr lang="en-US" sz="2000" dirty="0"/>
          </a:p>
        </p:txBody>
      </p:sp>
      <p:sp>
        <p:nvSpPr>
          <p:cNvPr id="18" name="Text 16"/>
          <p:cNvSpPr/>
          <p:nvPr/>
        </p:nvSpPr>
        <p:spPr>
          <a:xfrm>
            <a:off x="1473200" y="3333750"/>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What stops a release?</a:t>
            </a:r>
            <a:endParaRPr lang="en-US" sz="1400" dirty="0"/>
          </a:p>
        </p:txBody>
      </p:sp>
      <p:sp>
        <p:nvSpPr>
          <p:cNvPr id="19" name="Text 17"/>
          <p:cNvSpPr/>
          <p:nvPr/>
        </p:nvSpPr>
        <p:spPr>
          <a:xfrm>
            <a:off x="5613400" y="3342655"/>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Quality gates with clear, measurable thresholds</a:t>
            </a:r>
            <a:endParaRPr lang="en-US" sz="1200" dirty="0"/>
          </a:p>
        </p:txBody>
      </p:sp>
      <p:sp>
        <p:nvSpPr>
          <p:cNvPr id="20" name="Shape 18"/>
          <p:cNvSpPr/>
          <p:nvPr/>
        </p:nvSpPr>
        <p:spPr>
          <a:xfrm>
            <a:off x="812800" y="3681090"/>
            <a:ext cx="10566400" cy="0"/>
          </a:xfrm>
          <a:prstGeom prst="line">
            <a:avLst/>
          </a:prstGeom>
          <a:noFill/>
          <a:ln w="6350">
            <a:solidFill>
              <a:srgbClr val="DDD8CC"/>
            </a:solidFill>
            <a:prstDash val="solid"/>
          </a:ln>
        </p:spPr>
      </p:sp>
      <p:sp>
        <p:nvSpPr>
          <p:cNvPr id="21" name="Text 19"/>
          <p:cNvSpPr/>
          <p:nvPr/>
        </p:nvSpPr>
        <p:spPr>
          <a:xfrm>
            <a:off x="812800" y="3759200"/>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05</a:t>
            </a:r>
            <a:endParaRPr lang="en-US" sz="2000" dirty="0"/>
          </a:p>
        </p:txBody>
      </p:sp>
      <p:sp>
        <p:nvSpPr>
          <p:cNvPr id="22" name="Text 20"/>
          <p:cNvSpPr/>
          <p:nvPr/>
        </p:nvSpPr>
        <p:spPr>
          <a:xfrm>
            <a:off x="1473200" y="3796035"/>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Where, and with what data?</a:t>
            </a:r>
            <a:endParaRPr lang="en-US" sz="1400" dirty="0"/>
          </a:p>
        </p:txBody>
      </p:sp>
      <p:sp>
        <p:nvSpPr>
          <p:cNvPr id="23" name="Text 21"/>
          <p:cNvSpPr/>
          <p:nvPr/>
        </p:nvSpPr>
        <p:spPr>
          <a:xfrm>
            <a:off x="5613400" y="3804915"/>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Environments, devices and test data available on demand</a:t>
            </a:r>
            <a:endParaRPr lang="en-US" sz="1200" dirty="0"/>
          </a:p>
        </p:txBody>
      </p:sp>
      <p:sp>
        <p:nvSpPr>
          <p:cNvPr id="24" name="Shape 22"/>
          <p:cNvSpPr/>
          <p:nvPr/>
        </p:nvSpPr>
        <p:spPr>
          <a:xfrm>
            <a:off x="812800" y="4143375"/>
            <a:ext cx="10566400" cy="0"/>
          </a:xfrm>
          <a:prstGeom prst="line">
            <a:avLst/>
          </a:prstGeom>
          <a:noFill/>
          <a:ln w="6350">
            <a:solidFill>
              <a:srgbClr val="DDD8CC"/>
            </a:solidFill>
            <a:prstDash val="solid"/>
          </a:ln>
        </p:spPr>
      </p:sp>
      <p:sp>
        <p:nvSpPr>
          <p:cNvPr id="25" name="Shape 23"/>
          <p:cNvSpPr/>
          <p:nvPr/>
        </p:nvSpPr>
        <p:spPr>
          <a:xfrm>
            <a:off x="812800" y="4604385"/>
            <a:ext cx="10566400" cy="0"/>
          </a:xfrm>
          <a:prstGeom prst="line">
            <a:avLst/>
          </a:prstGeom>
          <a:noFill/>
          <a:ln w="6350">
            <a:solidFill>
              <a:srgbClr val="DDD8CC"/>
            </a:solidFill>
            <a:prstDash val="solid"/>
          </a:ln>
        </p:spPr>
      </p:sp>
      <p:sp>
        <p:nvSpPr>
          <p:cNvPr id="26" name="Text 24"/>
          <p:cNvSpPr/>
          <p:nvPr/>
        </p:nvSpPr>
        <p:spPr>
          <a:xfrm>
            <a:off x="812800" y="4221485"/>
            <a:ext cx="508000"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06</a:t>
            </a:r>
            <a:endParaRPr lang="en-US" sz="2000" dirty="0"/>
          </a:p>
        </p:txBody>
      </p:sp>
      <p:sp>
        <p:nvSpPr>
          <p:cNvPr id="27" name="Text 25"/>
          <p:cNvSpPr/>
          <p:nvPr/>
        </p:nvSpPr>
        <p:spPr>
          <a:xfrm>
            <a:off x="1473200" y="4258320"/>
            <a:ext cx="405511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How do we learn and improve?</a:t>
            </a:r>
            <a:endParaRPr lang="en-US" sz="1400" dirty="0"/>
          </a:p>
        </p:txBody>
      </p:sp>
      <p:sp>
        <p:nvSpPr>
          <p:cNvPr id="28" name="Text 26"/>
          <p:cNvSpPr/>
          <p:nvPr/>
        </p:nvSpPr>
        <p:spPr>
          <a:xfrm>
            <a:off x="5613400" y="4267200"/>
            <a:ext cx="593877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Reports, flaky tests, production signals, delivery metrics</a:t>
            </a:r>
            <a:endParaRPr lang="en-US" sz="1200" dirty="0"/>
          </a:p>
        </p:txBody>
      </p:sp>
      <p:sp>
        <p:nvSpPr>
          <p:cNvPr id="29" name="Shape 27"/>
          <p:cNvSpPr/>
          <p:nvPr/>
        </p:nvSpPr>
        <p:spPr>
          <a:xfrm>
            <a:off x="812800" y="4861570"/>
            <a:ext cx="10566400" cy="553720"/>
          </a:xfrm>
          <a:prstGeom prst="roundRect">
            <a:avLst>
              <a:gd name="adj" fmla="val 13761"/>
            </a:avLst>
          </a:prstGeom>
          <a:solidFill>
            <a:srgbClr val="13233A"/>
          </a:solidFill>
          <a:ln/>
        </p:spPr>
      </p:sp>
      <p:sp>
        <p:nvSpPr>
          <p:cNvPr id="30" name="Text 28"/>
          <p:cNvSpPr/>
          <p:nvPr/>
        </p:nvSpPr>
        <p:spPr>
          <a:xfrm>
            <a:off x="1016000" y="5031755"/>
            <a:ext cx="57150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OWNER</a:t>
            </a:r>
            <a:endParaRPr lang="en-US" sz="1200" dirty="0"/>
          </a:p>
        </p:txBody>
      </p:sp>
      <p:sp>
        <p:nvSpPr>
          <p:cNvPr id="31" name="Text 29"/>
          <p:cNvSpPr/>
          <p:nvPr/>
        </p:nvSpPr>
        <p:spPr>
          <a:xfrm>
            <a:off x="1689100" y="5013970"/>
            <a:ext cx="977150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The whole team writes and reviews the strategy, and changes it as the risks change.</a:t>
            </a:r>
            <a:endParaRPr lang="en-US" sz="1400" dirty="0"/>
          </a:p>
        </p:txBody>
      </p:sp>
      <p:sp>
        <p:nvSpPr>
          <p:cNvPr id="32" name="Text 3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3" name="Text 31"/>
          <p:cNvSpPr/>
          <p:nvPr/>
        </p:nvSpPr>
        <p:spPr>
          <a:xfrm>
            <a:off x="5961221" y="6238255"/>
            <a:ext cx="558051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 strategy is a short document the team keeps with the code, not a one-off plan</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TESTING STRATEGY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Canteen App’s strategy on one page</a:t>
            </a:r>
            <a:endParaRPr lang="en-US" sz="3200" dirty="0"/>
          </a:p>
        </p:txBody>
      </p:sp>
      <p:sp>
        <p:nvSpPr>
          <p:cNvPr id="4" name="Shape 2"/>
          <p:cNvSpPr/>
          <p:nvPr/>
        </p:nvSpPr>
        <p:spPr>
          <a:xfrm>
            <a:off x="11376025" y="1828800"/>
            <a:ext cx="0" cy="1996440"/>
          </a:xfrm>
          <a:prstGeom prst="line">
            <a:avLst/>
          </a:prstGeom>
          <a:noFill/>
          <a:ln w="6350">
            <a:solidFill>
              <a:srgbClr val="DDD8CC"/>
            </a:solidFill>
            <a:prstDash val="solid"/>
          </a:ln>
        </p:spPr>
      </p:sp>
      <p:sp>
        <p:nvSpPr>
          <p:cNvPr id="5" name="Shape 3"/>
          <p:cNvSpPr/>
          <p:nvPr/>
        </p:nvSpPr>
        <p:spPr>
          <a:xfrm>
            <a:off x="812800" y="38220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81200"/>
        </p:xfrm>
        <a:graphic>
          <a:graphicData uri="http://schemas.openxmlformats.org/drawingml/2006/table">
            <a:tbl>
              <a:tblPr/>
              <a:tblGrid>
                <a:gridCol w="1793697"/>
                <a:gridCol w="3903929"/>
                <a:gridCol w="1582674"/>
                <a:gridCol w="3270860"/>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When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Tests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Budget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Gate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push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Unit tests, coverage, SonarQube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10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80% coverage; Sonar way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After deploy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Smoke: log in, add item, order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2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All pass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Merge to main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and UI regression in parallel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30 min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All pass; failFast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Nightly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cloud, real phones, Locust, ZAP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Hours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p95 under 2 s; no FAIL alerts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Staged rollout, production smoke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Days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Crash-free rate holds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085605"/>
            <a:ext cx="3386614" cy="0"/>
          </a:xfrm>
          <a:prstGeom prst="line">
            <a:avLst/>
          </a:prstGeom>
          <a:noFill/>
          <a:ln w="12700">
            <a:solidFill>
              <a:srgbClr val="A9481A"/>
            </a:solidFill>
            <a:prstDash val="solid"/>
          </a:ln>
        </p:spPr>
      </p:sp>
      <p:sp>
        <p:nvSpPr>
          <p:cNvPr id="8" name="Text 5"/>
          <p:cNvSpPr/>
          <p:nvPr/>
        </p:nvSpPr>
        <p:spPr>
          <a:xfrm>
            <a:off x="812800" y="417830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TOP RISKS</a:t>
            </a:r>
            <a:endParaRPr lang="en-US" sz="1200" dirty="0"/>
          </a:p>
        </p:txBody>
      </p:sp>
      <p:sp>
        <p:nvSpPr>
          <p:cNvPr id="9" name="Text 6"/>
          <p:cNvSpPr/>
          <p:nvPr/>
        </p:nvSpPr>
        <p:spPr>
          <a:xfrm>
            <a:off x="812800" y="4442470"/>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Wrong discount, lost or double orders, locked-out students</a:t>
            </a:r>
            <a:endParaRPr lang="en-US" sz="1200" dirty="0"/>
          </a:p>
        </p:txBody>
      </p:sp>
      <p:sp>
        <p:nvSpPr>
          <p:cNvPr id="10" name="Shape 7"/>
          <p:cNvSpPr/>
          <p:nvPr/>
        </p:nvSpPr>
        <p:spPr>
          <a:xfrm>
            <a:off x="4402614" y="4085605"/>
            <a:ext cx="3386693" cy="0"/>
          </a:xfrm>
          <a:prstGeom prst="line">
            <a:avLst/>
          </a:prstGeom>
          <a:noFill/>
          <a:ln w="12700">
            <a:solidFill>
              <a:srgbClr val="A9481A"/>
            </a:solidFill>
            <a:prstDash val="solid"/>
          </a:ln>
        </p:spPr>
      </p:sp>
      <p:sp>
        <p:nvSpPr>
          <p:cNvPr id="11" name="Text 8"/>
          <p:cNvSpPr/>
          <p:nvPr/>
        </p:nvSpPr>
        <p:spPr>
          <a:xfrm>
            <a:off x="4402614" y="417830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DATA</a:t>
            </a:r>
            <a:endParaRPr lang="en-US" sz="1200" dirty="0"/>
          </a:p>
        </p:txBody>
      </p:sp>
      <p:sp>
        <p:nvSpPr>
          <p:cNvPr id="12" name="Text 9"/>
          <p:cNvSpPr/>
          <p:nvPr/>
        </p:nvSpPr>
        <p:spPr>
          <a:xfrm>
            <a:off x="4402614" y="444247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Seeded students and menu, reset each run; no real records</a:t>
            </a:r>
            <a:endParaRPr lang="en-US" sz="1200" dirty="0"/>
          </a:p>
        </p:txBody>
      </p:sp>
      <p:sp>
        <p:nvSpPr>
          <p:cNvPr id="13" name="Shape 10"/>
          <p:cNvSpPr/>
          <p:nvPr/>
        </p:nvSpPr>
        <p:spPr>
          <a:xfrm>
            <a:off x="7992507" y="4085605"/>
            <a:ext cx="3386693" cy="0"/>
          </a:xfrm>
          <a:prstGeom prst="line">
            <a:avLst/>
          </a:prstGeom>
          <a:noFill/>
          <a:ln w="12700">
            <a:solidFill>
              <a:srgbClr val="A9481A"/>
            </a:solidFill>
            <a:prstDash val="solid"/>
          </a:ln>
        </p:spPr>
      </p:sp>
      <p:sp>
        <p:nvSpPr>
          <p:cNvPr id="14" name="Text 11"/>
          <p:cNvSpPr/>
          <p:nvPr/>
        </p:nvSpPr>
        <p:spPr>
          <a:xfrm>
            <a:off x="7992507" y="417830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REVIEW</a:t>
            </a:r>
            <a:endParaRPr lang="en-US" sz="1200" dirty="0"/>
          </a:p>
        </p:txBody>
      </p:sp>
      <p:sp>
        <p:nvSpPr>
          <p:cNvPr id="15" name="Text 12"/>
          <p:cNvSpPr/>
          <p:nvPr/>
        </p:nvSpPr>
        <p:spPr>
          <a:xfrm>
            <a:off x="7992507" y="4442470"/>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Each sprint: flaky tests, slow stages, escaped defects</a:t>
            </a:r>
            <a:endParaRPr lang="en-US" sz="1200" dirty="0"/>
          </a:p>
        </p:txBody>
      </p:sp>
      <p:sp>
        <p:nvSpPr>
          <p:cNvPr id="16" name="Text 13"/>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4"/>
          <p:cNvSpPr/>
          <p:nvPr/>
        </p:nvSpPr>
        <p:spPr>
          <a:xfrm>
            <a:off x="5153501" y="6238255"/>
            <a:ext cx="64124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Budgets are targets for this example; the 10-minute commit stage follows DORA’s guidance</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DELIVERY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What continuous delivery means</a:t>
            </a:r>
            <a:endParaRPr lang="en-US" sz="3200" dirty="0"/>
          </a:p>
        </p:txBody>
      </p:sp>
      <p:sp>
        <p:nvSpPr>
          <p:cNvPr id="4" name="Shape 2"/>
          <p:cNvSpPr/>
          <p:nvPr/>
        </p:nvSpPr>
        <p:spPr>
          <a:xfrm>
            <a:off x="812800" y="1828800"/>
            <a:ext cx="5181600" cy="1442720"/>
          </a:xfrm>
          <a:prstGeom prst="roundRect">
            <a:avLst>
              <a:gd name="adj" fmla="val 5282"/>
            </a:avLst>
          </a:prstGeom>
          <a:solidFill>
            <a:srgbClr val="13233A"/>
          </a:solidFill>
          <a:ln/>
        </p:spPr>
      </p:sp>
      <p:sp>
        <p:nvSpPr>
          <p:cNvPr id="5" name="Text 3"/>
          <p:cNvSpPr/>
          <p:nvPr/>
        </p:nvSpPr>
        <p:spPr>
          <a:xfrm>
            <a:off x="1016000" y="2032000"/>
            <a:ext cx="4918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DORA</a:t>
            </a:r>
            <a:endParaRPr lang="en-US" sz="1200" dirty="0"/>
          </a:p>
        </p:txBody>
      </p:sp>
      <p:sp>
        <p:nvSpPr>
          <p:cNvPr id="6" name="Text 4"/>
          <p:cNvSpPr/>
          <p:nvPr/>
        </p:nvSpPr>
        <p:spPr>
          <a:xfrm>
            <a:off x="1016000" y="2321570"/>
            <a:ext cx="491845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“Continuous delivery is the ability to release changes of all kinds on demand quickly, safely, and sustainably.”</a:t>
            </a:r>
            <a:endParaRPr lang="en-US" sz="1400" dirty="0"/>
          </a:p>
        </p:txBody>
      </p:sp>
      <p:sp>
        <p:nvSpPr>
          <p:cNvPr id="7" name="Shape 5"/>
          <p:cNvSpPr/>
          <p:nvPr/>
        </p:nvSpPr>
        <p:spPr>
          <a:xfrm>
            <a:off x="6197600" y="1828800"/>
            <a:ext cx="5181600" cy="1442720"/>
          </a:xfrm>
          <a:prstGeom prst="roundRect">
            <a:avLst>
              <a:gd name="adj" fmla="val 5282"/>
            </a:avLst>
          </a:prstGeom>
          <a:solidFill>
            <a:srgbClr val="13233A"/>
          </a:solidFill>
          <a:ln/>
        </p:spPr>
      </p:sp>
      <p:sp>
        <p:nvSpPr>
          <p:cNvPr id="8" name="Text 6"/>
          <p:cNvSpPr/>
          <p:nvPr/>
        </p:nvSpPr>
        <p:spPr>
          <a:xfrm>
            <a:off x="6400800" y="2032000"/>
            <a:ext cx="4918456"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MARTIN FOWLER</a:t>
            </a:r>
            <a:endParaRPr lang="en-US" sz="1200" dirty="0"/>
          </a:p>
        </p:txBody>
      </p:sp>
      <p:sp>
        <p:nvSpPr>
          <p:cNvPr id="9" name="Text 7"/>
          <p:cNvSpPr/>
          <p:nvPr/>
        </p:nvSpPr>
        <p:spPr>
          <a:xfrm>
            <a:off x="6400800" y="2321570"/>
            <a:ext cx="4918456"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“Continuous Delivery is a software development discipline where you build software in such a way that the software can be released to production at any time.”</a:t>
            </a:r>
            <a:endParaRPr lang="en-US" sz="1400" dirty="0"/>
          </a:p>
        </p:txBody>
      </p:sp>
      <p:sp>
        <p:nvSpPr>
          <p:cNvPr id="10" name="Text 8"/>
          <p:cNvSpPr/>
          <p:nvPr/>
        </p:nvSpPr>
        <p:spPr>
          <a:xfrm>
            <a:off x="812800" y="352551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977"/>
                </a:solidFill>
                <a:latin typeface="JetBrains Mono" pitchFamily="34" charset="0"/>
                <a:ea typeface="JetBrains Mono" pitchFamily="34" charset="-122"/>
                <a:cs typeface="JetBrains Mono" pitchFamily="34" charset="-120"/>
              </a:rPr>
              <a:t>FOWLER: “YOU’RE DOING CONTINUOUS DELIVERY WHEN:”</a:t>
            </a:r>
            <a:endParaRPr lang="en-US" sz="1200" dirty="0"/>
          </a:p>
        </p:txBody>
      </p:sp>
      <p:sp>
        <p:nvSpPr>
          <p:cNvPr id="11" name="Shape 9"/>
          <p:cNvSpPr/>
          <p:nvPr/>
        </p:nvSpPr>
        <p:spPr>
          <a:xfrm>
            <a:off x="815975" y="3818260"/>
            <a:ext cx="5226050" cy="633730"/>
          </a:xfrm>
          <a:prstGeom prst="roundRect">
            <a:avLst>
              <a:gd name="adj" fmla="val 11523"/>
            </a:avLst>
          </a:prstGeom>
          <a:solidFill>
            <a:srgbClr val="FCFBF7"/>
          </a:solidFill>
          <a:ln w="6350">
            <a:solidFill>
              <a:srgbClr val="DDD8CC"/>
            </a:solidFill>
            <a:prstDash val="solid"/>
          </a:ln>
        </p:spPr>
      </p:sp>
      <p:sp>
        <p:nvSpPr>
          <p:cNvPr id="12" name="Text 10"/>
          <p:cNvSpPr/>
          <p:nvPr/>
        </p:nvSpPr>
        <p:spPr>
          <a:xfrm>
            <a:off x="970280" y="3921765"/>
            <a:ext cx="50649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“Your software is deployable throughout its lifecycle”</a:t>
            </a:r>
            <a:endParaRPr lang="en-US" sz="1200" dirty="0"/>
          </a:p>
        </p:txBody>
      </p:sp>
      <p:sp>
        <p:nvSpPr>
          <p:cNvPr id="13" name="Shape 11"/>
          <p:cNvSpPr/>
          <p:nvPr/>
        </p:nvSpPr>
        <p:spPr>
          <a:xfrm>
            <a:off x="6149975" y="3818260"/>
            <a:ext cx="5226050" cy="633730"/>
          </a:xfrm>
          <a:prstGeom prst="roundRect">
            <a:avLst>
              <a:gd name="adj" fmla="val 11523"/>
            </a:avLst>
          </a:prstGeom>
          <a:solidFill>
            <a:srgbClr val="FCFBF7"/>
          </a:solidFill>
          <a:ln w="6350">
            <a:solidFill>
              <a:srgbClr val="DDD8CC"/>
            </a:solidFill>
            <a:prstDash val="solid"/>
          </a:ln>
        </p:spPr>
      </p:sp>
      <p:sp>
        <p:nvSpPr>
          <p:cNvPr id="14" name="Text 12"/>
          <p:cNvSpPr/>
          <p:nvPr/>
        </p:nvSpPr>
        <p:spPr>
          <a:xfrm>
            <a:off x="6304280" y="3921765"/>
            <a:ext cx="506496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“Your team prioritizes keeping the software deployable over working on new features”</a:t>
            </a:r>
            <a:endParaRPr lang="en-US" sz="1200" dirty="0"/>
          </a:p>
        </p:txBody>
      </p:sp>
      <p:sp>
        <p:nvSpPr>
          <p:cNvPr id="15" name="Shape 13"/>
          <p:cNvSpPr/>
          <p:nvPr/>
        </p:nvSpPr>
        <p:spPr>
          <a:xfrm>
            <a:off x="815975" y="4559945"/>
            <a:ext cx="5226050" cy="847090"/>
          </a:xfrm>
          <a:prstGeom prst="roundRect">
            <a:avLst>
              <a:gd name="adj" fmla="val 8621"/>
            </a:avLst>
          </a:prstGeom>
          <a:solidFill>
            <a:srgbClr val="FCFBF7"/>
          </a:solidFill>
          <a:ln w="6350">
            <a:solidFill>
              <a:srgbClr val="DDD8CC"/>
            </a:solidFill>
            <a:prstDash val="solid"/>
          </a:ln>
        </p:spPr>
      </p:sp>
      <p:sp>
        <p:nvSpPr>
          <p:cNvPr id="16" name="Text 14"/>
          <p:cNvSpPr/>
          <p:nvPr/>
        </p:nvSpPr>
        <p:spPr>
          <a:xfrm>
            <a:off x="970280" y="4663450"/>
            <a:ext cx="506496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“Anybody can get fast, automated feedback on the production readiness of their systems any time somebody makes a change to them”</a:t>
            </a:r>
            <a:endParaRPr lang="en-US" sz="1200" dirty="0"/>
          </a:p>
        </p:txBody>
      </p:sp>
      <p:sp>
        <p:nvSpPr>
          <p:cNvPr id="17" name="Shape 15"/>
          <p:cNvSpPr/>
          <p:nvPr/>
        </p:nvSpPr>
        <p:spPr>
          <a:xfrm>
            <a:off x="6149975" y="4559945"/>
            <a:ext cx="5226050" cy="847090"/>
          </a:xfrm>
          <a:prstGeom prst="roundRect">
            <a:avLst>
              <a:gd name="adj" fmla="val 8621"/>
            </a:avLst>
          </a:prstGeom>
          <a:solidFill>
            <a:srgbClr val="FCFBF7"/>
          </a:solidFill>
          <a:ln w="6350">
            <a:solidFill>
              <a:srgbClr val="DDD8CC"/>
            </a:solidFill>
            <a:prstDash val="solid"/>
          </a:ln>
        </p:spPr>
      </p:sp>
      <p:sp>
        <p:nvSpPr>
          <p:cNvPr id="18" name="Text 16"/>
          <p:cNvSpPr/>
          <p:nvPr/>
        </p:nvSpPr>
        <p:spPr>
          <a:xfrm>
            <a:off x="6304280" y="4663450"/>
            <a:ext cx="5064963"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“You can perform push-button deployments of any version of the software to any environment on demand”</a:t>
            </a:r>
            <a:endParaRPr lang="en-US" sz="1200" dirty="0"/>
          </a:p>
        </p:txBody>
      </p:sp>
      <p:sp>
        <p:nvSpPr>
          <p:cNvPr id="19" name="Text 1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0" name="Text 18"/>
          <p:cNvSpPr/>
          <p:nvPr/>
        </p:nvSpPr>
        <p:spPr>
          <a:xfrm>
            <a:off x="5465286" y="6238255"/>
            <a:ext cx="609133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dora.dev, continuous delivery · martinfowler.com/bliki/ContinuousDelivery.html (2013)</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DELIVERY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The deployment pipeline</a:t>
            </a:r>
            <a:endParaRPr lang="en-US" sz="3200" dirty="0"/>
          </a:p>
        </p:txBody>
      </p:sp>
      <p:sp>
        <p:nvSpPr>
          <p:cNvPr id="4" name="Shape 2"/>
          <p:cNvSpPr/>
          <p:nvPr/>
        </p:nvSpPr>
        <p:spPr>
          <a:xfrm>
            <a:off x="815975" y="1831975"/>
            <a:ext cx="1898650" cy="1263650"/>
          </a:xfrm>
          <a:prstGeom prst="roundRect">
            <a:avLst>
              <a:gd name="adj" fmla="val 5779"/>
            </a:avLst>
          </a:prstGeom>
          <a:solidFill>
            <a:srgbClr val="FCFBF7"/>
          </a:solidFill>
          <a:ln w="6350">
            <a:solidFill>
              <a:srgbClr val="C9C2B2"/>
            </a:solidFill>
            <a:prstDash val="solid"/>
          </a:ln>
        </p:spPr>
      </p:sp>
      <p:sp>
        <p:nvSpPr>
          <p:cNvPr id="5" name="Text 3"/>
          <p:cNvSpPr/>
          <p:nvPr/>
        </p:nvSpPr>
        <p:spPr>
          <a:xfrm>
            <a:off x="970280" y="1960885"/>
            <a:ext cx="16408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Commit</a:t>
            </a:r>
            <a:endParaRPr lang="en-US" sz="1400" dirty="0"/>
          </a:p>
        </p:txBody>
      </p:sp>
      <p:sp>
        <p:nvSpPr>
          <p:cNvPr id="6" name="Text 4"/>
          <p:cNvSpPr/>
          <p:nvPr/>
        </p:nvSpPr>
        <p:spPr>
          <a:xfrm>
            <a:off x="970280" y="2217415"/>
            <a:ext cx="1640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 the package once; unit tests, analysis</a:t>
            </a:r>
            <a:endParaRPr lang="en-US" sz="1200" dirty="0"/>
          </a:p>
        </p:txBody>
      </p:sp>
      <p:sp>
        <p:nvSpPr>
          <p:cNvPr id="7" name="Shape 5"/>
          <p:cNvSpPr/>
          <p:nvPr/>
        </p:nvSpPr>
        <p:spPr>
          <a:xfrm>
            <a:off x="2981325" y="1831975"/>
            <a:ext cx="1898650" cy="1263650"/>
          </a:xfrm>
          <a:prstGeom prst="roundRect">
            <a:avLst>
              <a:gd name="adj" fmla="val 5779"/>
            </a:avLst>
          </a:prstGeom>
          <a:solidFill>
            <a:srgbClr val="FCFBF7"/>
          </a:solidFill>
          <a:ln w="6350">
            <a:solidFill>
              <a:srgbClr val="C9C2B2"/>
            </a:solidFill>
            <a:prstDash val="solid"/>
          </a:ln>
        </p:spPr>
      </p:sp>
      <p:sp>
        <p:nvSpPr>
          <p:cNvPr id="8" name="Text 6"/>
          <p:cNvSpPr/>
          <p:nvPr/>
        </p:nvSpPr>
        <p:spPr>
          <a:xfrm>
            <a:off x="3135630" y="1960885"/>
            <a:ext cx="16408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Acceptance</a:t>
            </a:r>
            <a:endParaRPr lang="en-US" sz="1400" dirty="0"/>
          </a:p>
        </p:txBody>
      </p:sp>
      <p:sp>
        <p:nvSpPr>
          <p:cNvPr id="9" name="Text 7"/>
          <p:cNvSpPr/>
          <p:nvPr/>
        </p:nvSpPr>
        <p:spPr>
          <a:xfrm>
            <a:off x="3135630" y="2217415"/>
            <a:ext cx="1640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Deploy to test; smoke, API and UI regression</a:t>
            </a:r>
            <a:endParaRPr lang="en-US" sz="1200" dirty="0"/>
          </a:p>
        </p:txBody>
      </p:sp>
      <p:sp>
        <p:nvSpPr>
          <p:cNvPr id="10" name="Shape 8"/>
          <p:cNvSpPr/>
          <p:nvPr/>
        </p:nvSpPr>
        <p:spPr>
          <a:xfrm>
            <a:off x="5146675" y="1831975"/>
            <a:ext cx="1898650" cy="1263650"/>
          </a:xfrm>
          <a:prstGeom prst="roundRect">
            <a:avLst>
              <a:gd name="adj" fmla="val 5779"/>
            </a:avLst>
          </a:prstGeom>
          <a:solidFill>
            <a:srgbClr val="FCFBF7"/>
          </a:solidFill>
          <a:ln w="6350">
            <a:solidFill>
              <a:srgbClr val="C9C2B2"/>
            </a:solidFill>
            <a:prstDash val="solid"/>
          </a:ln>
        </p:spPr>
      </p:sp>
      <p:sp>
        <p:nvSpPr>
          <p:cNvPr id="11" name="Text 9"/>
          <p:cNvSpPr/>
          <p:nvPr/>
        </p:nvSpPr>
        <p:spPr>
          <a:xfrm>
            <a:off x="5300980" y="1960885"/>
            <a:ext cx="16408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Non-functional</a:t>
            </a:r>
            <a:endParaRPr lang="en-US" sz="1400" dirty="0"/>
          </a:p>
        </p:txBody>
      </p:sp>
      <p:sp>
        <p:nvSpPr>
          <p:cNvPr id="12" name="Text 10"/>
          <p:cNvSpPr/>
          <p:nvPr/>
        </p:nvSpPr>
        <p:spPr>
          <a:xfrm>
            <a:off x="5300980" y="2217415"/>
            <a:ext cx="1640840"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Load tests and scans on a production-like copy</a:t>
            </a:r>
            <a:endParaRPr lang="en-US" sz="1200" dirty="0"/>
          </a:p>
        </p:txBody>
      </p:sp>
      <p:sp>
        <p:nvSpPr>
          <p:cNvPr id="13" name="Shape 11"/>
          <p:cNvSpPr/>
          <p:nvPr/>
        </p:nvSpPr>
        <p:spPr>
          <a:xfrm>
            <a:off x="7312025" y="1831975"/>
            <a:ext cx="1898650" cy="1263650"/>
          </a:xfrm>
          <a:prstGeom prst="roundRect">
            <a:avLst>
              <a:gd name="adj" fmla="val 5779"/>
            </a:avLst>
          </a:prstGeom>
          <a:solidFill>
            <a:srgbClr val="FCFBF7"/>
          </a:solidFill>
          <a:ln w="6350">
            <a:solidFill>
              <a:srgbClr val="C9C2B2"/>
            </a:solidFill>
            <a:prstDash val="solid"/>
          </a:ln>
        </p:spPr>
      </p:sp>
      <p:sp>
        <p:nvSpPr>
          <p:cNvPr id="14" name="Text 12"/>
          <p:cNvSpPr/>
          <p:nvPr/>
        </p:nvSpPr>
        <p:spPr>
          <a:xfrm>
            <a:off x="7466330" y="1960885"/>
            <a:ext cx="164084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People</a:t>
            </a:r>
            <a:endParaRPr lang="en-US" sz="1400" dirty="0"/>
          </a:p>
        </p:txBody>
      </p:sp>
      <p:sp>
        <p:nvSpPr>
          <p:cNvPr id="15" name="Text 13"/>
          <p:cNvSpPr/>
          <p:nvPr/>
        </p:nvSpPr>
        <p:spPr>
          <a:xfrm>
            <a:off x="7466330" y="2217415"/>
            <a:ext cx="1640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Exploratory testing and user acceptance</a:t>
            </a:r>
            <a:endParaRPr lang="en-US" sz="1200" dirty="0"/>
          </a:p>
        </p:txBody>
      </p:sp>
      <p:sp>
        <p:nvSpPr>
          <p:cNvPr id="16" name="Shape 14"/>
          <p:cNvSpPr/>
          <p:nvPr/>
        </p:nvSpPr>
        <p:spPr>
          <a:xfrm>
            <a:off x="9474200" y="1828800"/>
            <a:ext cx="1905000" cy="1270000"/>
          </a:xfrm>
          <a:prstGeom prst="roundRect">
            <a:avLst>
              <a:gd name="adj" fmla="val 6000"/>
            </a:avLst>
          </a:prstGeom>
          <a:solidFill>
            <a:srgbClr val="E98B53"/>
          </a:solidFill>
          <a:ln/>
        </p:spPr>
      </p:sp>
      <p:sp>
        <p:nvSpPr>
          <p:cNvPr id="17" name="Text 15"/>
          <p:cNvSpPr/>
          <p:nvPr/>
        </p:nvSpPr>
        <p:spPr>
          <a:xfrm>
            <a:off x="9626600" y="1955800"/>
            <a:ext cx="165100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Release</a:t>
            </a:r>
            <a:endParaRPr lang="en-US" sz="1400" dirty="0"/>
          </a:p>
        </p:txBody>
      </p:sp>
      <p:sp>
        <p:nvSpPr>
          <p:cNvPr id="18" name="Text 16"/>
          <p:cNvSpPr/>
          <p:nvPr/>
        </p:nvSpPr>
        <p:spPr>
          <a:xfrm>
            <a:off x="9626600" y="2212355"/>
            <a:ext cx="165100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One button deploys the tested package</a:t>
            </a:r>
            <a:endParaRPr lang="en-US" sz="1200" dirty="0"/>
          </a:p>
        </p:txBody>
      </p:sp>
      <p:pic>
        <p:nvPicPr>
          <p:cNvPr id="19" name="Image 0" descr="connector">    </p:cNvPr>
          <p:cNvPicPr>
            <a:picLocks noChangeAspect="1"/>
          </p:cNvPicPr>
          <p:nvPr/>
        </p:nvPicPr>
        <p:blipFill>
          <a:blip r:embed="rId1"/>
          <a:srcRect l="0" r="0" t="0" b="0"/>
          <a:stretch/>
        </p:blipFill>
        <p:spPr>
          <a:xfrm>
            <a:off x="2667000" y="2413000"/>
            <a:ext cx="361950" cy="101600"/>
          </a:xfrm>
          <a:prstGeom prst="rect">
            <a:avLst/>
          </a:prstGeom>
        </p:spPr>
      </p:pic>
      <p:pic>
        <p:nvPicPr>
          <p:cNvPr id="20" name="Image 1" descr="connector">    </p:cNvPr>
          <p:cNvPicPr>
            <a:picLocks noChangeAspect="1"/>
          </p:cNvPicPr>
          <p:nvPr/>
        </p:nvPicPr>
        <p:blipFill>
          <a:blip r:embed="rId2"/>
          <a:srcRect l="0" r="0" t="0" b="0"/>
          <a:stretch/>
        </p:blipFill>
        <p:spPr>
          <a:xfrm>
            <a:off x="4832350" y="2413000"/>
            <a:ext cx="361950" cy="101600"/>
          </a:xfrm>
          <a:prstGeom prst="rect">
            <a:avLst/>
          </a:prstGeom>
        </p:spPr>
      </p:pic>
      <p:pic>
        <p:nvPicPr>
          <p:cNvPr id="21" name="Image 2" descr="connector">    </p:cNvPr>
          <p:cNvPicPr>
            <a:picLocks noChangeAspect="1"/>
          </p:cNvPicPr>
          <p:nvPr/>
        </p:nvPicPr>
        <p:blipFill>
          <a:blip r:embed="rId3"/>
          <a:srcRect l="0" r="0" t="0" b="0"/>
          <a:stretch/>
        </p:blipFill>
        <p:spPr>
          <a:xfrm>
            <a:off x="6997700" y="2413000"/>
            <a:ext cx="361950" cy="101600"/>
          </a:xfrm>
          <a:prstGeom prst="rect">
            <a:avLst/>
          </a:prstGeom>
        </p:spPr>
      </p:pic>
      <p:pic>
        <p:nvPicPr>
          <p:cNvPr id="22" name="Image 3" descr="connector">    </p:cNvPr>
          <p:cNvPicPr>
            <a:picLocks noChangeAspect="1"/>
          </p:cNvPicPr>
          <p:nvPr/>
        </p:nvPicPr>
        <p:blipFill>
          <a:blip r:embed="rId4"/>
          <a:srcRect l="0" r="0" t="0" b="0"/>
          <a:stretch/>
        </p:blipFill>
        <p:spPr>
          <a:xfrm>
            <a:off x="9163050" y="2413000"/>
            <a:ext cx="361950" cy="101600"/>
          </a:xfrm>
          <a:prstGeom prst="rect">
            <a:avLst/>
          </a:prstGeom>
        </p:spPr>
      </p:pic>
      <p:sp>
        <p:nvSpPr>
          <p:cNvPr id="23" name="Shape 17"/>
          <p:cNvSpPr/>
          <p:nvPr/>
        </p:nvSpPr>
        <p:spPr>
          <a:xfrm>
            <a:off x="812800" y="3327400"/>
            <a:ext cx="10566400" cy="406400"/>
          </a:xfrm>
          <a:prstGeom prst="roundRect">
            <a:avLst>
              <a:gd name="adj" fmla="val 18750"/>
            </a:avLst>
          </a:prstGeom>
          <a:solidFill>
            <a:srgbClr val="DCE7F3"/>
          </a:solidFill>
          <a:ln/>
        </p:spPr>
      </p:sp>
      <p:sp>
        <p:nvSpPr>
          <p:cNvPr id="24" name="Text 18"/>
          <p:cNvSpPr/>
          <p:nvPr/>
        </p:nvSpPr>
        <p:spPr>
          <a:xfrm>
            <a:off x="965200" y="3423915"/>
            <a:ext cx="19602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Fast feedback, many builds</a:t>
            </a:r>
            <a:endParaRPr lang="en-US" sz="1200" dirty="0"/>
          </a:p>
        </p:txBody>
      </p:sp>
      <p:sp>
        <p:nvSpPr>
          <p:cNvPr id="25" name="Text 19"/>
          <p:cNvSpPr/>
          <p:nvPr/>
        </p:nvSpPr>
        <p:spPr>
          <a:xfrm>
            <a:off x="8034020" y="3423915"/>
            <a:ext cx="3288564"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Slower, closer to production, more confidence</a:t>
            </a:r>
            <a:endParaRPr lang="en-US" sz="1200" dirty="0"/>
          </a:p>
        </p:txBody>
      </p:sp>
      <p:sp>
        <p:nvSpPr>
          <p:cNvPr id="26" name="Shape 20"/>
          <p:cNvSpPr/>
          <p:nvPr/>
        </p:nvSpPr>
        <p:spPr>
          <a:xfrm>
            <a:off x="812800" y="3994150"/>
            <a:ext cx="3386614" cy="0"/>
          </a:xfrm>
          <a:prstGeom prst="line">
            <a:avLst/>
          </a:prstGeom>
          <a:noFill/>
          <a:ln w="12700">
            <a:solidFill>
              <a:srgbClr val="A9481A"/>
            </a:solidFill>
            <a:prstDash val="solid"/>
          </a:ln>
        </p:spPr>
      </p:sp>
      <p:sp>
        <p:nvSpPr>
          <p:cNvPr id="27" name="Text 21"/>
          <p:cNvSpPr/>
          <p:nvPr/>
        </p:nvSpPr>
        <p:spPr>
          <a:xfrm>
            <a:off x="812800" y="4086870"/>
            <a:ext cx="348821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BUILD ONCE</a:t>
            </a:r>
            <a:endParaRPr lang="en-US" sz="1200" dirty="0"/>
          </a:p>
        </p:txBody>
      </p:sp>
      <p:sp>
        <p:nvSpPr>
          <p:cNvPr id="28" name="Text 22"/>
          <p:cNvSpPr/>
          <p:nvPr/>
        </p:nvSpPr>
        <p:spPr>
          <a:xfrm>
            <a:off x="812800" y="4351015"/>
            <a:ext cx="3488212"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The package that was tested is the package released</a:t>
            </a:r>
            <a:endParaRPr lang="en-US" sz="1200" dirty="0"/>
          </a:p>
        </p:txBody>
      </p:sp>
      <p:sp>
        <p:nvSpPr>
          <p:cNvPr id="29" name="Shape 23"/>
          <p:cNvSpPr/>
          <p:nvPr/>
        </p:nvSpPr>
        <p:spPr>
          <a:xfrm>
            <a:off x="4402614" y="3994150"/>
            <a:ext cx="3386693" cy="0"/>
          </a:xfrm>
          <a:prstGeom prst="line">
            <a:avLst/>
          </a:prstGeom>
          <a:noFill/>
          <a:ln w="12700">
            <a:solidFill>
              <a:srgbClr val="A9481A"/>
            </a:solidFill>
            <a:prstDash val="solid"/>
          </a:ln>
        </p:spPr>
      </p:sp>
      <p:sp>
        <p:nvSpPr>
          <p:cNvPr id="30" name="Text 24"/>
          <p:cNvSpPr/>
          <p:nvPr/>
        </p:nvSpPr>
        <p:spPr>
          <a:xfrm>
            <a:off x="4402614" y="40868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STOP ON RED</a:t>
            </a:r>
            <a:endParaRPr lang="en-US" sz="1200" dirty="0"/>
          </a:p>
        </p:txBody>
      </p:sp>
      <p:sp>
        <p:nvSpPr>
          <p:cNvPr id="31" name="Text 25"/>
          <p:cNvSpPr/>
          <p:nvPr/>
        </p:nvSpPr>
        <p:spPr>
          <a:xfrm>
            <a:off x="4402614" y="4351015"/>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failed stage stops that candidate from going further</a:t>
            </a:r>
            <a:endParaRPr lang="en-US" sz="1200" dirty="0"/>
          </a:p>
        </p:txBody>
      </p:sp>
      <p:sp>
        <p:nvSpPr>
          <p:cNvPr id="32" name="Shape 26"/>
          <p:cNvSpPr/>
          <p:nvPr/>
        </p:nvSpPr>
        <p:spPr>
          <a:xfrm>
            <a:off x="7992507" y="3994150"/>
            <a:ext cx="3386693" cy="0"/>
          </a:xfrm>
          <a:prstGeom prst="line">
            <a:avLst/>
          </a:prstGeom>
          <a:noFill/>
          <a:ln w="12700">
            <a:solidFill>
              <a:srgbClr val="A9481A"/>
            </a:solidFill>
            <a:prstDash val="solid"/>
          </a:ln>
        </p:spPr>
      </p:sp>
      <p:sp>
        <p:nvSpPr>
          <p:cNvPr id="33" name="Text 27"/>
          <p:cNvSpPr/>
          <p:nvPr/>
        </p:nvSpPr>
        <p:spPr>
          <a:xfrm>
            <a:off x="7992507" y="4086870"/>
            <a:ext cx="3488294"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RELEASE IS A CHOICE</a:t>
            </a:r>
            <a:endParaRPr lang="en-US" sz="1200" dirty="0"/>
          </a:p>
        </p:txBody>
      </p:sp>
      <p:sp>
        <p:nvSpPr>
          <p:cNvPr id="34" name="Text 28"/>
          <p:cNvSpPr/>
          <p:nvPr/>
        </p:nvSpPr>
        <p:spPr>
          <a:xfrm>
            <a:off x="7992507" y="4351015"/>
            <a:ext cx="3488294"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 green candidate can go out whenever the business decides</a:t>
            </a:r>
            <a:endParaRPr lang="en-US" sz="1200" dirty="0"/>
          </a:p>
        </p:txBody>
      </p:sp>
      <p:sp>
        <p:nvSpPr>
          <p:cNvPr id="35" name="Text 29"/>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36" name="Text 30"/>
          <p:cNvSpPr/>
          <p:nvPr/>
        </p:nvSpPr>
        <p:spPr>
          <a:xfrm>
            <a:off x="4712414" y="6238255"/>
            <a:ext cx="686679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After Humble and Farley, Continuous Delivery (2010), chapter 5 · dashed arrow: a human decision</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DELIVERY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Integration, delivery, deployment</a:t>
            </a:r>
            <a:endParaRPr lang="en-US" sz="3200" dirty="0"/>
          </a:p>
        </p:txBody>
      </p:sp>
      <p:sp>
        <p:nvSpPr>
          <p:cNvPr id="4" name="Shape 2"/>
          <p:cNvSpPr/>
          <p:nvPr/>
        </p:nvSpPr>
        <p:spPr>
          <a:xfrm>
            <a:off x="815975" y="1831975"/>
            <a:ext cx="3380264" cy="1924050"/>
          </a:xfrm>
          <a:prstGeom prst="roundRect">
            <a:avLst>
              <a:gd name="adj" fmla="val 3795"/>
            </a:avLst>
          </a:prstGeom>
          <a:solidFill>
            <a:srgbClr val="FCFBF7"/>
          </a:solidFill>
          <a:ln w="6350">
            <a:solidFill>
              <a:srgbClr val="DDD8CC"/>
            </a:solidFill>
            <a:prstDash val="solid"/>
          </a:ln>
        </p:spPr>
      </p:sp>
      <p:sp>
        <p:nvSpPr>
          <p:cNvPr id="5" name="Text 3"/>
          <p:cNvSpPr/>
          <p:nvPr/>
        </p:nvSpPr>
        <p:spPr>
          <a:xfrm>
            <a:off x="1021080" y="2037085"/>
            <a:ext cx="3059155"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CONTINUOUS INTEGRATION</a:t>
            </a:r>
            <a:endParaRPr lang="en-US" sz="1200" dirty="0"/>
          </a:p>
        </p:txBody>
      </p:sp>
      <p:sp>
        <p:nvSpPr>
          <p:cNvPr id="6" name="Text 4"/>
          <p:cNvSpPr/>
          <p:nvPr/>
        </p:nvSpPr>
        <p:spPr>
          <a:xfrm>
            <a:off x="1021080" y="2326655"/>
            <a:ext cx="3059155"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Each member of the team merges their changes “at least daily. Each of these integrations is verified by an automated build (including test)”.</a:t>
            </a:r>
            <a:endParaRPr lang="en-US" sz="1200" dirty="0"/>
          </a:p>
        </p:txBody>
      </p:sp>
      <p:sp>
        <p:nvSpPr>
          <p:cNvPr id="7" name="Shape 5"/>
          <p:cNvSpPr/>
          <p:nvPr/>
        </p:nvSpPr>
        <p:spPr>
          <a:xfrm>
            <a:off x="1021080" y="3259460"/>
            <a:ext cx="2970054" cy="0"/>
          </a:xfrm>
          <a:prstGeom prst="line">
            <a:avLst/>
          </a:prstGeom>
          <a:noFill/>
          <a:ln w="6350">
            <a:solidFill>
              <a:srgbClr val="DDD8CC"/>
            </a:solidFill>
            <a:prstDash val="solid"/>
          </a:ln>
        </p:spPr>
      </p:sp>
      <p:sp>
        <p:nvSpPr>
          <p:cNvPr id="8" name="Text 6"/>
          <p:cNvSpPr/>
          <p:nvPr/>
        </p:nvSpPr>
        <p:spPr>
          <a:xfrm>
            <a:off x="1021080" y="3337565"/>
            <a:ext cx="3059155"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merge → build → test</a:t>
            </a:r>
            <a:endParaRPr lang="en-US" sz="1200" dirty="0"/>
          </a:p>
        </p:txBody>
      </p:sp>
      <p:sp>
        <p:nvSpPr>
          <p:cNvPr id="9" name="Shape 7"/>
          <p:cNvSpPr/>
          <p:nvPr/>
        </p:nvSpPr>
        <p:spPr>
          <a:xfrm>
            <a:off x="4405789" y="1831975"/>
            <a:ext cx="3380343" cy="1924050"/>
          </a:xfrm>
          <a:prstGeom prst="roundRect">
            <a:avLst>
              <a:gd name="adj" fmla="val 3795"/>
            </a:avLst>
          </a:prstGeom>
          <a:solidFill>
            <a:srgbClr val="FCFBF7"/>
          </a:solidFill>
          <a:ln w="6350">
            <a:solidFill>
              <a:srgbClr val="DDD8CC"/>
            </a:solidFill>
            <a:prstDash val="solid"/>
          </a:ln>
        </p:spPr>
      </p:sp>
      <p:sp>
        <p:nvSpPr>
          <p:cNvPr id="10" name="Text 8"/>
          <p:cNvSpPr/>
          <p:nvPr/>
        </p:nvSpPr>
        <p:spPr>
          <a:xfrm>
            <a:off x="4610894" y="2037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CONTINUOUS DELIVERY</a:t>
            </a:r>
            <a:endParaRPr lang="en-US" sz="1200" dirty="0"/>
          </a:p>
        </p:txBody>
      </p:sp>
      <p:sp>
        <p:nvSpPr>
          <p:cNvPr id="11" name="Text 9"/>
          <p:cNvSpPr/>
          <p:nvPr/>
        </p:nvSpPr>
        <p:spPr>
          <a:xfrm>
            <a:off x="4610894" y="2326655"/>
            <a:ext cx="3059237" cy="66548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“Continuous Delivery just means that you are able to do frequent deployments but may choose not to do it”</a:t>
            </a:r>
            <a:endParaRPr lang="en-US" sz="1200" dirty="0"/>
          </a:p>
        </p:txBody>
      </p:sp>
      <p:sp>
        <p:nvSpPr>
          <p:cNvPr id="12" name="Shape 10"/>
          <p:cNvSpPr/>
          <p:nvPr/>
        </p:nvSpPr>
        <p:spPr>
          <a:xfrm>
            <a:off x="4610894" y="3046090"/>
            <a:ext cx="2970133" cy="0"/>
          </a:xfrm>
          <a:prstGeom prst="line">
            <a:avLst/>
          </a:prstGeom>
          <a:noFill/>
          <a:ln w="6350">
            <a:solidFill>
              <a:srgbClr val="DDD8CC"/>
            </a:solidFill>
            <a:prstDash val="solid"/>
          </a:ln>
        </p:spPr>
      </p:sp>
      <p:sp>
        <p:nvSpPr>
          <p:cNvPr id="13" name="Text 11"/>
          <p:cNvSpPr/>
          <p:nvPr/>
        </p:nvSpPr>
        <p:spPr>
          <a:xfrm>
            <a:off x="4610894" y="3124195"/>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 → ready → release when chosen</a:t>
            </a:r>
            <a:endParaRPr lang="en-US" sz="1200" dirty="0"/>
          </a:p>
        </p:txBody>
      </p:sp>
      <p:sp>
        <p:nvSpPr>
          <p:cNvPr id="14" name="Shape 12"/>
          <p:cNvSpPr/>
          <p:nvPr/>
        </p:nvSpPr>
        <p:spPr>
          <a:xfrm>
            <a:off x="7995682" y="1831975"/>
            <a:ext cx="3380343" cy="1924050"/>
          </a:xfrm>
          <a:prstGeom prst="roundRect">
            <a:avLst>
              <a:gd name="adj" fmla="val 3795"/>
            </a:avLst>
          </a:prstGeom>
          <a:solidFill>
            <a:srgbClr val="FCFBF7"/>
          </a:solidFill>
          <a:ln w="6350">
            <a:solidFill>
              <a:srgbClr val="DDD8CC"/>
            </a:solidFill>
            <a:prstDash val="solid"/>
          </a:ln>
        </p:spPr>
      </p:sp>
      <p:sp>
        <p:nvSpPr>
          <p:cNvPr id="15" name="Text 13"/>
          <p:cNvSpPr/>
          <p:nvPr/>
        </p:nvSpPr>
        <p:spPr>
          <a:xfrm>
            <a:off x="8200787" y="2037085"/>
            <a:ext cx="3059237"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CONTINUOUS DEPLOYMENT</a:t>
            </a:r>
            <a:endParaRPr lang="en-US" sz="1200" dirty="0"/>
          </a:p>
        </p:txBody>
      </p:sp>
      <p:sp>
        <p:nvSpPr>
          <p:cNvPr id="16" name="Text 14"/>
          <p:cNvSpPr/>
          <p:nvPr/>
        </p:nvSpPr>
        <p:spPr>
          <a:xfrm>
            <a:off x="8200787" y="2326655"/>
            <a:ext cx="3059237" cy="87884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“every change goes through the pipeline and automatically gets put into production, resulting in many production deployments every day.”</a:t>
            </a:r>
            <a:endParaRPr lang="en-US" sz="1200" dirty="0"/>
          </a:p>
        </p:txBody>
      </p:sp>
      <p:sp>
        <p:nvSpPr>
          <p:cNvPr id="17" name="Shape 15"/>
          <p:cNvSpPr/>
          <p:nvPr/>
        </p:nvSpPr>
        <p:spPr>
          <a:xfrm>
            <a:off x="8200787" y="3259460"/>
            <a:ext cx="2970133" cy="0"/>
          </a:xfrm>
          <a:prstGeom prst="line">
            <a:avLst/>
          </a:prstGeom>
          <a:noFill/>
          <a:ln w="6350">
            <a:solidFill>
              <a:srgbClr val="DDD8CC"/>
            </a:solidFill>
            <a:prstDash val="solid"/>
          </a:ln>
        </p:spPr>
      </p:sp>
      <p:sp>
        <p:nvSpPr>
          <p:cNvPr id="18" name="Text 16"/>
          <p:cNvSpPr/>
          <p:nvPr/>
        </p:nvSpPr>
        <p:spPr>
          <a:xfrm>
            <a:off x="8200787" y="3337565"/>
            <a:ext cx="3059237"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45A9C"/>
                </a:solidFill>
                <a:latin typeface="JetBrains Mono" pitchFamily="34" charset="0"/>
                <a:ea typeface="JetBrains Mono" pitchFamily="34" charset="-122"/>
                <a:cs typeface="JetBrains Mono" pitchFamily="34" charset="-120"/>
              </a:rPr>
              <a:t>… → production automatically</a:t>
            </a:r>
            <a:endParaRPr lang="en-US" sz="1200" dirty="0"/>
          </a:p>
        </p:txBody>
      </p:sp>
      <p:sp>
        <p:nvSpPr>
          <p:cNvPr id="19" name="Shape 17"/>
          <p:cNvSpPr/>
          <p:nvPr/>
        </p:nvSpPr>
        <p:spPr>
          <a:xfrm>
            <a:off x="812800" y="4013200"/>
            <a:ext cx="10566400" cy="553720"/>
          </a:xfrm>
          <a:prstGeom prst="roundRect">
            <a:avLst>
              <a:gd name="adj" fmla="val 13761"/>
            </a:avLst>
          </a:prstGeom>
          <a:solidFill>
            <a:srgbClr val="13233A"/>
          </a:solidFill>
          <a:ln/>
        </p:spPr>
      </p:sp>
      <p:sp>
        <p:nvSpPr>
          <p:cNvPr id="20" name="Text 18"/>
          <p:cNvSpPr/>
          <p:nvPr/>
        </p:nvSpPr>
        <p:spPr>
          <a:xfrm>
            <a:off x="1016000" y="4183385"/>
            <a:ext cx="6756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FOWLER</a:t>
            </a:r>
            <a:endParaRPr lang="en-US" sz="1200" dirty="0"/>
          </a:p>
        </p:txBody>
      </p:sp>
      <p:sp>
        <p:nvSpPr>
          <p:cNvPr id="21" name="Text 19"/>
          <p:cNvSpPr/>
          <p:nvPr/>
        </p:nvSpPr>
        <p:spPr>
          <a:xfrm>
            <a:off x="1793240" y="4165600"/>
            <a:ext cx="9664243"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“In order to do Continuous Deployment you must be doing Continuous Delivery.”</a:t>
            </a:r>
            <a:endParaRPr lang="en-US" sz="1400" dirty="0"/>
          </a:p>
        </p:txBody>
      </p:sp>
      <p:sp>
        <p:nvSpPr>
          <p:cNvPr id="22" name="Text 20"/>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3" name="Text 21"/>
          <p:cNvSpPr/>
          <p:nvPr/>
        </p:nvSpPr>
        <p:spPr>
          <a:xfrm>
            <a:off x="5812473" y="6238255"/>
            <a:ext cx="57337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martinfowler.com: Continuous Integration (2024) and Continuous Delivery (2013)</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CONTINUOUS TESTING VS CONTINUOUS DELIVERY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Two ideas that depend on each other</a:t>
            </a:r>
            <a:endParaRPr lang="en-US" sz="3200" dirty="0"/>
          </a:p>
        </p:txBody>
      </p:sp>
      <p:sp>
        <p:nvSpPr>
          <p:cNvPr id="4" name="Shape 2"/>
          <p:cNvSpPr/>
          <p:nvPr/>
        </p:nvSpPr>
        <p:spPr>
          <a:xfrm>
            <a:off x="11376025" y="1828800"/>
            <a:ext cx="0" cy="2326640"/>
          </a:xfrm>
          <a:prstGeom prst="line">
            <a:avLst/>
          </a:prstGeom>
          <a:noFill/>
          <a:ln w="6350">
            <a:solidFill>
              <a:srgbClr val="DDD8CC"/>
            </a:solidFill>
            <a:prstDash val="solid"/>
          </a:ln>
        </p:spPr>
      </p:sp>
      <p:sp>
        <p:nvSpPr>
          <p:cNvPr id="5" name="Shape 3"/>
          <p:cNvSpPr/>
          <p:nvPr/>
        </p:nvSpPr>
        <p:spPr>
          <a:xfrm>
            <a:off x="812800" y="41522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311400"/>
        </p:xfrm>
        <a:graphic>
          <a:graphicData uri="http://schemas.openxmlformats.org/drawingml/2006/table">
            <a:tbl>
              <a:tblPr/>
              <a:tblGrid>
                <a:gridCol w="1899209"/>
                <a:gridCol w="4325976"/>
                <a:gridCol w="4325976"/>
              </a:tblGrid>
              <a:tr h="3302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Continuous testing</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Continuous delivery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What it is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Automated tests at every pipeline stage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 change can be released on demand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Question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Is this build good enough?</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 we release it now, safely?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Scope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testing activities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Build, test, deploy and release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Output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Evidence: results, reports, gates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 tested package ready to deploy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Measured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Feedback time, escaped defects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DORA’s five delivery metrics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Canteen App</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stages and gates in the Jenkinsfile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 green build can go live with one click</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bl>
          </a:graphicData>
        </a:graphic>
      </p:graphicFrame>
      <p:sp>
        <p:nvSpPr>
          <p:cNvPr id="7" name="Shape 4"/>
          <p:cNvSpPr/>
          <p:nvPr/>
        </p:nvSpPr>
        <p:spPr>
          <a:xfrm>
            <a:off x="812800" y="4409455"/>
            <a:ext cx="10566400" cy="802640"/>
          </a:xfrm>
          <a:prstGeom prst="roundRect">
            <a:avLst>
              <a:gd name="adj" fmla="val 9494"/>
            </a:avLst>
          </a:prstGeom>
          <a:solidFill>
            <a:srgbClr val="13233A"/>
          </a:solidFill>
          <a:ln/>
        </p:spPr>
      </p:sp>
      <p:sp>
        <p:nvSpPr>
          <p:cNvPr id="8" name="Text 5"/>
          <p:cNvSpPr/>
          <p:nvPr/>
        </p:nvSpPr>
        <p:spPr>
          <a:xfrm>
            <a:off x="1016000" y="470408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LINK</a:t>
            </a:r>
            <a:endParaRPr lang="en-US" sz="1200" dirty="0"/>
          </a:p>
        </p:txBody>
      </p:sp>
      <p:sp>
        <p:nvSpPr>
          <p:cNvPr id="9" name="Text 6"/>
          <p:cNvSpPr/>
          <p:nvPr/>
        </p:nvSpPr>
        <p:spPr>
          <a:xfrm>
            <a:off x="1584960" y="4561855"/>
            <a:ext cx="9878771"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Continuous testing is how continuous delivery knows a build is safe to release; DORA lists it as one of the capabilities behind CD.</a:t>
            </a:r>
            <a:endParaRPr lang="en-US" sz="1400" dirty="0"/>
          </a:p>
        </p:txBody>
      </p:sp>
      <p:sp>
        <p:nvSpPr>
          <p:cNvPr id="10" name="Text 7"/>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8641874" y="6238255"/>
            <a:ext cx="2819446"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CT is a part of CD, not an alternative to it</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MEASURING DELIVERY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DORA’s five delivery metrics</a:t>
            </a:r>
            <a:endParaRPr lang="en-US" sz="3200" dirty="0"/>
          </a:p>
        </p:txBody>
      </p:sp>
      <p:sp>
        <p:nvSpPr>
          <p:cNvPr id="4" name="Shape 2"/>
          <p:cNvSpPr/>
          <p:nvPr/>
        </p:nvSpPr>
        <p:spPr>
          <a:xfrm>
            <a:off x="11376025" y="1828800"/>
            <a:ext cx="0" cy="1996440"/>
          </a:xfrm>
          <a:prstGeom prst="line">
            <a:avLst/>
          </a:prstGeom>
          <a:noFill/>
          <a:ln w="6350">
            <a:solidFill>
              <a:srgbClr val="DDD8CC"/>
            </a:solidFill>
            <a:prstDash val="solid"/>
          </a:ln>
        </p:spPr>
      </p:sp>
      <p:sp>
        <p:nvSpPr>
          <p:cNvPr id="5" name="Shape 3"/>
          <p:cNvSpPr/>
          <p:nvPr/>
        </p:nvSpPr>
        <p:spPr>
          <a:xfrm>
            <a:off x="812800" y="38220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1981200"/>
        </p:xfrm>
        <a:graphic>
          <a:graphicData uri="http://schemas.openxmlformats.org/drawingml/2006/table">
            <a:tbl>
              <a:tblPr/>
              <a:tblGrid>
                <a:gridCol w="3165348"/>
                <a:gridCol w="3692906"/>
                <a:gridCol w="3692906"/>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Metric</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Measures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Continuous testing helps by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Change lead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Commit to running in production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Replacing a manual test phase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Deployment frequency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How often the team deploys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Making every green build releasable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245A9C"/>
                          </a:solidFill>
                          <a:latin typeface="IBM Plex Sans" pitchFamily="34" charset="0"/>
                          <a:ea typeface="IBM Plex Sans" pitchFamily="34" charset="-122"/>
                          <a:cs typeface="IBM Plex Sans" pitchFamily="34" charset="-120"/>
                        </a:rPr>
                        <a:t>Failed deployment recovery time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Recovery from a failed deployment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Testing and shipping the fix fast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Change fail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Deployments needing a quick fix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Gates that stop bad builds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A9481A"/>
                          </a:solidFill>
                          <a:latin typeface="IBM Plex Sans" pitchFamily="34" charset="0"/>
                          <a:ea typeface="IBM Plex Sans" pitchFamily="34" charset="-122"/>
                          <a:cs typeface="IBM Plex Sans" pitchFamily="34" charset="-120"/>
                        </a:rPr>
                        <a:t>Deployment rework rate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Unplanned deployments after incidents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Fewer escaped defects to hotfix</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Text 4"/>
          <p:cNvSpPr/>
          <p:nvPr/>
        </p:nvSpPr>
        <p:spPr>
          <a:xfrm>
            <a:off x="812800" y="3926855"/>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Blue: throughput · Orange: instability</a:t>
            </a:r>
            <a:endParaRPr lang="en-US" sz="1200" dirty="0"/>
          </a:p>
        </p:txBody>
      </p:sp>
      <p:sp>
        <p:nvSpPr>
          <p:cNvPr id="8" name="Shape 5"/>
          <p:cNvSpPr/>
          <p:nvPr/>
        </p:nvSpPr>
        <p:spPr>
          <a:xfrm>
            <a:off x="812800" y="4394200"/>
            <a:ext cx="10566400" cy="553720"/>
          </a:xfrm>
          <a:prstGeom prst="roundRect">
            <a:avLst>
              <a:gd name="adj" fmla="val 13761"/>
            </a:avLst>
          </a:prstGeom>
          <a:solidFill>
            <a:srgbClr val="13233A"/>
          </a:solidFill>
          <a:ln/>
        </p:spPr>
      </p:sp>
      <p:sp>
        <p:nvSpPr>
          <p:cNvPr id="9" name="Text 6"/>
          <p:cNvSpPr/>
          <p:nvPr/>
        </p:nvSpPr>
        <p:spPr>
          <a:xfrm>
            <a:off x="1016000" y="4564385"/>
            <a:ext cx="46736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DORA</a:t>
            </a:r>
            <a:endParaRPr lang="en-US" sz="1200" dirty="0"/>
          </a:p>
        </p:txBody>
      </p:sp>
      <p:sp>
        <p:nvSpPr>
          <p:cNvPr id="10" name="Text 7"/>
          <p:cNvSpPr/>
          <p:nvPr/>
        </p:nvSpPr>
        <p:spPr>
          <a:xfrm>
            <a:off x="1584960" y="4546600"/>
            <a:ext cx="9878771"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3F1EA"/>
                </a:solidFill>
                <a:latin typeface="IBM Plex Sans" pitchFamily="34" charset="0"/>
                <a:ea typeface="IBM Plex Sans" pitchFamily="34" charset="-122"/>
                <a:cs typeface="IBM Plex Sans" pitchFamily="34" charset="-120"/>
              </a:rPr>
              <a:t>Teams that do continuous delivery well can “make changes to production in a low-risk way at any time”.</a:t>
            </a:r>
            <a:endParaRPr lang="en-US" sz="1400" dirty="0"/>
          </a:p>
        </p:txBody>
      </p:sp>
      <p:sp>
        <p:nvSpPr>
          <p:cNvPr id="11" name="Text 8"/>
          <p:cNvSpPr/>
          <p:nvPr/>
        </p:nvSpPr>
        <p:spPr>
          <a:xfrm>
            <a:off x="812800" y="6238255"/>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2" name="Text 9"/>
          <p:cNvSpPr/>
          <p:nvPr/>
        </p:nvSpPr>
        <p:spPr>
          <a:xfrm>
            <a:off x="6512878" y="6238255"/>
            <a:ext cx="501231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dora.dev/guides/dora-metrics · dora.dev, continuous delivery capability</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L26 · CHECK YOUR UNDERSTANDING</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Knowledge check: Lecture 26</a:t>
            </a:r>
            <a:endParaRPr lang="en-US" sz="3200" dirty="0"/>
          </a:p>
        </p:txBody>
      </p:sp>
      <p:sp>
        <p:nvSpPr>
          <p:cNvPr id="4" name="Shape 2"/>
          <p:cNvSpPr/>
          <p:nvPr/>
        </p:nvSpPr>
        <p:spPr>
          <a:xfrm>
            <a:off x="815975" y="1831975"/>
            <a:ext cx="5175250" cy="1339850"/>
          </a:xfrm>
          <a:prstGeom prst="roundRect">
            <a:avLst>
              <a:gd name="adj" fmla="val 5450"/>
            </a:avLst>
          </a:prstGeom>
          <a:solidFill>
            <a:srgbClr val="FCFBF7"/>
          </a:solidFill>
          <a:ln w="6350">
            <a:solidFill>
              <a:srgbClr val="DDD8CC"/>
            </a:solidFill>
            <a:prstDash val="solid"/>
          </a:ln>
        </p:spPr>
      </p:sp>
      <p:sp>
        <p:nvSpPr>
          <p:cNvPr id="5" name="Text 3"/>
          <p:cNvSpPr/>
          <p:nvPr/>
        </p:nvSpPr>
        <p:spPr>
          <a:xfrm>
            <a:off x="10464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Q1</a:t>
            </a:r>
            <a:endParaRPr lang="en-US" sz="2000" dirty="0"/>
          </a:p>
        </p:txBody>
      </p:sp>
      <p:sp>
        <p:nvSpPr>
          <p:cNvPr id="6" name="Text 4"/>
          <p:cNvSpPr/>
          <p:nvPr/>
        </p:nvSpPr>
        <p:spPr>
          <a:xfrm>
            <a:off x="10464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Where would you run a 40-minute UI regression suite in the Canteen strategy, and why not on every push?</a:t>
            </a:r>
            <a:endParaRPr lang="en-US" sz="1400" dirty="0"/>
          </a:p>
        </p:txBody>
      </p:sp>
      <p:sp>
        <p:nvSpPr>
          <p:cNvPr id="7" name="Shape 5"/>
          <p:cNvSpPr/>
          <p:nvPr/>
        </p:nvSpPr>
        <p:spPr>
          <a:xfrm>
            <a:off x="6200775" y="1831975"/>
            <a:ext cx="5175250" cy="1339850"/>
          </a:xfrm>
          <a:prstGeom prst="roundRect">
            <a:avLst>
              <a:gd name="adj" fmla="val 5450"/>
            </a:avLst>
          </a:prstGeom>
          <a:solidFill>
            <a:srgbClr val="FCFBF7"/>
          </a:solidFill>
          <a:ln w="6350">
            <a:solidFill>
              <a:srgbClr val="DDD8CC"/>
            </a:solidFill>
            <a:prstDash val="solid"/>
          </a:ln>
        </p:spPr>
      </p:sp>
      <p:sp>
        <p:nvSpPr>
          <p:cNvPr id="8" name="Text 6"/>
          <p:cNvSpPr/>
          <p:nvPr/>
        </p:nvSpPr>
        <p:spPr>
          <a:xfrm>
            <a:off x="6431280" y="20624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Q2</a:t>
            </a:r>
            <a:endParaRPr lang="en-US" sz="2000" dirty="0"/>
          </a:p>
        </p:txBody>
      </p:sp>
      <p:sp>
        <p:nvSpPr>
          <p:cNvPr id="9" name="Text 7"/>
          <p:cNvSpPr/>
          <p:nvPr/>
        </p:nvSpPr>
        <p:spPr>
          <a:xfrm>
            <a:off x="6431280" y="24434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Continuous delivery or continuous deployment: which fits the Canteen mobile apps? Explain.</a:t>
            </a:r>
            <a:endParaRPr lang="en-US" sz="1400" dirty="0"/>
          </a:p>
        </p:txBody>
      </p:sp>
      <p:sp>
        <p:nvSpPr>
          <p:cNvPr id="10" name="Shape 8"/>
          <p:cNvSpPr/>
          <p:nvPr/>
        </p:nvSpPr>
        <p:spPr>
          <a:xfrm>
            <a:off x="815975" y="3381375"/>
            <a:ext cx="5175250" cy="1339850"/>
          </a:xfrm>
          <a:prstGeom prst="roundRect">
            <a:avLst>
              <a:gd name="adj" fmla="val 5450"/>
            </a:avLst>
          </a:prstGeom>
          <a:solidFill>
            <a:srgbClr val="FCFBF7"/>
          </a:solidFill>
          <a:ln w="6350">
            <a:solidFill>
              <a:srgbClr val="DDD8CC"/>
            </a:solidFill>
            <a:prstDash val="solid"/>
          </a:ln>
        </p:spPr>
      </p:sp>
      <p:sp>
        <p:nvSpPr>
          <p:cNvPr id="11" name="Text 9"/>
          <p:cNvSpPr/>
          <p:nvPr/>
        </p:nvSpPr>
        <p:spPr>
          <a:xfrm>
            <a:off x="10464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Q3</a:t>
            </a:r>
            <a:endParaRPr lang="en-US" sz="2000" dirty="0"/>
          </a:p>
        </p:txBody>
      </p:sp>
      <p:sp>
        <p:nvSpPr>
          <p:cNvPr id="12" name="Text 10"/>
          <p:cNvSpPr/>
          <p:nvPr/>
        </p:nvSpPr>
        <p:spPr>
          <a:xfrm>
            <a:off x="10464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“We do continuous delivery, so we don’t need continuous testing.” What is wrong with this?</a:t>
            </a:r>
            <a:endParaRPr lang="en-US" sz="1400" dirty="0"/>
          </a:p>
        </p:txBody>
      </p:sp>
      <p:sp>
        <p:nvSpPr>
          <p:cNvPr id="13" name="Shape 11"/>
          <p:cNvSpPr/>
          <p:nvPr/>
        </p:nvSpPr>
        <p:spPr>
          <a:xfrm>
            <a:off x="6200775" y="3381375"/>
            <a:ext cx="5175250" cy="1339850"/>
          </a:xfrm>
          <a:prstGeom prst="roundRect">
            <a:avLst>
              <a:gd name="adj" fmla="val 5450"/>
            </a:avLst>
          </a:prstGeom>
          <a:solidFill>
            <a:srgbClr val="FCFBF7"/>
          </a:solidFill>
          <a:ln w="6350">
            <a:solidFill>
              <a:srgbClr val="DDD8CC"/>
            </a:solidFill>
            <a:prstDash val="solid"/>
          </a:ln>
        </p:spPr>
      </p:sp>
      <p:sp>
        <p:nvSpPr>
          <p:cNvPr id="14" name="Text 12"/>
          <p:cNvSpPr/>
          <p:nvPr/>
        </p:nvSpPr>
        <p:spPr>
          <a:xfrm>
            <a:off x="6431280" y="3611885"/>
            <a:ext cx="485566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A9481A"/>
                </a:solidFill>
                <a:latin typeface="Space Grotesk" pitchFamily="34" charset="0"/>
                <a:ea typeface="Space Grotesk" pitchFamily="34" charset="-122"/>
                <a:cs typeface="Space Grotesk" pitchFamily="34" charset="-120"/>
              </a:rPr>
              <a:t>Q4</a:t>
            </a:r>
            <a:endParaRPr lang="en-US" sz="2000" dirty="0"/>
          </a:p>
        </p:txBody>
      </p:sp>
      <p:sp>
        <p:nvSpPr>
          <p:cNvPr id="15" name="Text 13"/>
          <p:cNvSpPr/>
          <p:nvPr/>
        </p:nvSpPr>
        <p:spPr>
          <a:xfrm>
            <a:off x="6431280" y="3992885"/>
            <a:ext cx="485566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Which DORA metric shows that bad builds are reaching production, and which gate would you add?</a:t>
            </a:r>
            <a:endParaRPr lang="en-US" sz="1400" dirty="0"/>
          </a:p>
        </p:txBody>
      </p:sp>
      <p:sp>
        <p:nvSpPr>
          <p:cNvPr id="16" name="Text 14"/>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7" name="Text 15"/>
          <p:cNvSpPr/>
          <p:nvPr/>
        </p:nvSpPr>
        <p:spPr>
          <a:xfrm>
            <a:off x="9372044" y="6238230"/>
            <a:ext cx="206737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Answers in the speaker notes</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SUMMARY</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Module 4 in one page</a:t>
            </a:r>
            <a:endParaRPr lang="en-US" sz="3200" dirty="0"/>
          </a:p>
        </p:txBody>
      </p:sp>
      <p:sp>
        <p:nvSpPr>
          <p:cNvPr id="4" name="Shape 2"/>
          <p:cNvSpPr/>
          <p:nvPr/>
        </p:nvSpPr>
        <p:spPr>
          <a:xfrm>
            <a:off x="815975" y="1831975"/>
            <a:ext cx="2559050" cy="935990"/>
          </a:xfrm>
          <a:prstGeom prst="roundRect">
            <a:avLst>
              <a:gd name="adj" fmla="val 7802"/>
            </a:avLst>
          </a:prstGeom>
          <a:solidFill>
            <a:srgbClr val="FCFBF7"/>
          </a:solidFill>
          <a:ln w="6350">
            <a:solidFill>
              <a:srgbClr val="DDD8CC"/>
            </a:solidFill>
            <a:prstDash val="solid"/>
          </a:ln>
        </p:spPr>
      </p:sp>
      <p:sp>
        <p:nvSpPr>
          <p:cNvPr id="5" name="Text 3"/>
          <p:cNvSpPr/>
          <p:nvPr/>
        </p:nvSpPr>
        <p:spPr>
          <a:xfrm>
            <a:off x="970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Mobile testing</a:t>
            </a:r>
            <a:endParaRPr lang="en-US" sz="1200" dirty="0"/>
          </a:p>
        </p:txBody>
      </p:sp>
      <p:sp>
        <p:nvSpPr>
          <p:cNvPr id="6" name="Text 4"/>
          <p:cNvSpPr/>
          <p:nvPr/>
        </p:nvSpPr>
        <p:spPr>
          <a:xfrm>
            <a:off x="970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Devices, versions and networks multiply the cases</a:t>
            </a:r>
            <a:endParaRPr lang="en-US" sz="1200" dirty="0"/>
          </a:p>
        </p:txBody>
      </p:sp>
      <p:sp>
        <p:nvSpPr>
          <p:cNvPr id="7" name="Shape 5"/>
          <p:cNvSpPr/>
          <p:nvPr/>
        </p:nvSpPr>
        <p:spPr>
          <a:xfrm>
            <a:off x="3482975" y="1831975"/>
            <a:ext cx="2559050" cy="935990"/>
          </a:xfrm>
          <a:prstGeom prst="roundRect">
            <a:avLst>
              <a:gd name="adj" fmla="val 7802"/>
            </a:avLst>
          </a:prstGeom>
          <a:solidFill>
            <a:srgbClr val="FCFBF7"/>
          </a:solidFill>
          <a:ln w="6350">
            <a:solidFill>
              <a:srgbClr val="DDD8CC"/>
            </a:solidFill>
            <a:prstDash val="solid"/>
          </a:ln>
        </p:spPr>
      </p:sp>
      <p:sp>
        <p:nvSpPr>
          <p:cNvPr id="8" name="Text 6"/>
          <p:cNvSpPr/>
          <p:nvPr/>
        </p:nvSpPr>
        <p:spPr>
          <a:xfrm>
            <a:off x="3637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Devices</a:t>
            </a:r>
            <a:endParaRPr lang="en-US" sz="1200" dirty="0"/>
          </a:p>
        </p:txBody>
      </p:sp>
      <p:sp>
        <p:nvSpPr>
          <p:cNvPr id="9" name="Text 7"/>
          <p:cNvSpPr/>
          <p:nvPr/>
        </p:nvSpPr>
        <p:spPr>
          <a:xfrm>
            <a:off x="3637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Emulators for speed, real phones before release</a:t>
            </a:r>
            <a:endParaRPr lang="en-US" sz="1200" dirty="0"/>
          </a:p>
        </p:txBody>
      </p:sp>
      <p:sp>
        <p:nvSpPr>
          <p:cNvPr id="10" name="Shape 8"/>
          <p:cNvSpPr/>
          <p:nvPr/>
        </p:nvSpPr>
        <p:spPr>
          <a:xfrm>
            <a:off x="6149975" y="1831975"/>
            <a:ext cx="2559050" cy="935990"/>
          </a:xfrm>
          <a:prstGeom prst="roundRect">
            <a:avLst>
              <a:gd name="adj" fmla="val 7802"/>
            </a:avLst>
          </a:prstGeom>
          <a:solidFill>
            <a:srgbClr val="FCFBF7"/>
          </a:solidFill>
          <a:ln w="6350">
            <a:solidFill>
              <a:srgbClr val="DDD8CC"/>
            </a:solidFill>
            <a:prstDash val="solid"/>
          </a:ln>
        </p:spPr>
      </p:sp>
      <p:sp>
        <p:nvSpPr>
          <p:cNvPr id="11" name="Text 9"/>
          <p:cNvSpPr/>
          <p:nvPr/>
        </p:nvSpPr>
        <p:spPr>
          <a:xfrm>
            <a:off x="6304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Appium</a:t>
            </a:r>
            <a:endParaRPr lang="en-US" sz="1200" dirty="0"/>
          </a:p>
        </p:txBody>
      </p:sp>
      <p:sp>
        <p:nvSpPr>
          <p:cNvPr id="12" name="Text 10"/>
          <p:cNvSpPr/>
          <p:nvPr/>
        </p:nvSpPr>
        <p:spPr>
          <a:xfrm>
            <a:off x="6304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WebDriver for phones; accessibility IDs first</a:t>
            </a:r>
            <a:endParaRPr lang="en-US" sz="1200" dirty="0"/>
          </a:p>
        </p:txBody>
      </p:sp>
      <p:sp>
        <p:nvSpPr>
          <p:cNvPr id="13" name="Shape 11"/>
          <p:cNvSpPr/>
          <p:nvPr/>
        </p:nvSpPr>
        <p:spPr>
          <a:xfrm>
            <a:off x="8816975" y="1831975"/>
            <a:ext cx="2559050" cy="935990"/>
          </a:xfrm>
          <a:prstGeom prst="roundRect">
            <a:avLst>
              <a:gd name="adj" fmla="val 7802"/>
            </a:avLst>
          </a:prstGeom>
          <a:solidFill>
            <a:srgbClr val="FCFBF7"/>
          </a:solidFill>
          <a:ln w="6350">
            <a:solidFill>
              <a:srgbClr val="DDD8CC"/>
            </a:solidFill>
            <a:prstDash val="solid"/>
          </a:ln>
        </p:spPr>
      </p:sp>
      <p:sp>
        <p:nvSpPr>
          <p:cNvPr id="14" name="Text 12"/>
          <p:cNvSpPr/>
          <p:nvPr/>
        </p:nvSpPr>
        <p:spPr>
          <a:xfrm>
            <a:off x="8971280" y="19609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Mobile DevOps</a:t>
            </a:r>
            <a:endParaRPr lang="en-US" sz="1200" dirty="0"/>
          </a:p>
        </p:txBody>
      </p:sp>
      <p:sp>
        <p:nvSpPr>
          <p:cNvPr id="15" name="Text 13"/>
          <p:cNvSpPr/>
          <p:nvPr/>
        </p:nvSpPr>
        <p:spPr>
          <a:xfrm>
            <a:off x="8971280" y="221233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Signed builds, beta tracks, staged rollouts</a:t>
            </a:r>
            <a:endParaRPr lang="en-US" sz="1200" dirty="0"/>
          </a:p>
        </p:txBody>
      </p:sp>
      <p:sp>
        <p:nvSpPr>
          <p:cNvPr id="16" name="Shape 14"/>
          <p:cNvSpPr/>
          <p:nvPr/>
        </p:nvSpPr>
        <p:spPr>
          <a:xfrm>
            <a:off x="815975" y="2875905"/>
            <a:ext cx="2559050" cy="935990"/>
          </a:xfrm>
          <a:prstGeom prst="roundRect">
            <a:avLst>
              <a:gd name="adj" fmla="val 7802"/>
            </a:avLst>
          </a:prstGeom>
          <a:solidFill>
            <a:srgbClr val="FCFBF7"/>
          </a:solidFill>
          <a:ln w="6350">
            <a:solidFill>
              <a:srgbClr val="DDD8CC"/>
            </a:solidFill>
            <a:prstDash val="solid"/>
          </a:ln>
        </p:spPr>
      </p:sp>
      <p:sp>
        <p:nvSpPr>
          <p:cNvPr id="17" name="Text 15"/>
          <p:cNvSpPr/>
          <p:nvPr/>
        </p:nvSpPr>
        <p:spPr>
          <a:xfrm>
            <a:off x="970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Monitoring</a:t>
            </a:r>
            <a:endParaRPr lang="en-US" sz="1200" dirty="0"/>
          </a:p>
        </p:txBody>
      </p:sp>
      <p:sp>
        <p:nvSpPr>
          <p:cNvPr id="18" name="Text 16"/>
          <p:cNvSpPr/>
          <p:nvPr/>
        </p:nvSpPr>
        <p:spPr>
          <a:xfrm>
            <a:off x="970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Crash reports and flags; each crash a new test</a:t>
            </a:r>
            <a:endParaRPr lang="en-US" sz="1200" dirty="0"/>
          </a:p>
        </p:txBody>
      </p:sp>
      <p:sp>
        <p:nvSpPr>
          <p:cNvPr id="19" name="Shape 17"/>
          <p:cNvSpPr/>
          <p:nvPr/>
        </p:nvSpPr>
        <p:spPr>
          <a:xfrm>
            <a:off x="3482975" y="2875905"/>
            <a:ext cx="2559050" cy="935990"/>
          </a:xfrm>
          <a:prstGeom prst="roundRect">
            <a:avLst>
              <a:gd name="adj" fmla="val 7802"/>
            </a:avLst>
          </a:prstGeom>
          <a:solidFill>
            <a:srgbClr val="FCFBF7"/>
          </a:solidFill>
          <a:ln w="6350">
            <a:solidFill>
              <a:srgbClr val="DDD8CC"/>
            </a:solidFill>
            <a:prstDash val="solid"/>
          </a:ln>
        </p:spPr>
      </p:sp>
      <p:sp>
        <p:nvSpPr>
          <p:cNvPr id="20" name="Text 18"/>
          <p:cNvSpPr/>
          <p:nvPr/>
        </p:nvSpPr>
        <p:spPr>
          <a:xfrm>
            <a:off x="3637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Cloud testing</a:t>
            </a:r>
            <a:endParaRPr lang="en-US" sz="1200" dirty="0"/>
          </a:p>
        </p:txBody>
      </p:sp>
      <p:sp>
        <p:nvSpPr>
          <p:cNvPr id="21" name="Text 19"/>
          <p:cNvSpPr/>
          <p:nvPr/>
        </p:nvSpPr>
        <p:spPr>
          <a:xfrm>
            <a:off x="3637280" y="3256310"/>
            <a:ext cx="2317953"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Grids, test clouds, device farms</a:t>
            </a:r>
            <a:endParaRPr lang="en-US" sz="1200" dirty="0"/>
          </a:p>
        </p:txBody>
      </p:sp>
      <p:sp>
        <p:nvSpPr>
          <p:cNvPr id="22" name="Shape 20"/>
          <p:cNvSpPr/>
          <p:nvPr/>
        </p:nvSpPr>
        <p:spPr>
          <a:xfrm>
            <a:off x="6149975" y="2875905"/>
            <a:ext cx="2559050" cy="935990"/>
          </a:xfrm>
          <a:prstGeom prst="roundRect">
            <a:avLst>
              <a:gd name="adj" fmla="val 7802"/>
            </a:avLst>
          </a:prstGeom>
          <a:solidFill>
            <a:srgbClr val="FCFBF7"/>
          </a:solidFill>
          <a:ln w="6350">
            <a:solidFill>
              <a:srgbClr val="DDD8CC"/>
            </a:solidFill>
            <a:prstDash val="solid"/>
          </a:ln>
        </p:spPr>
      </p:sp>
      <p:sp>
        <p:nvSpPr>
          <p:cNvPr id="23" name="Text 21"/>
          <p:cNvSpPr/>
          <p:nvPr/>
        </p:nvSpPr>
        <p:spPr>
          <a:xfrm>
            <a:off x="6304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Cloud setup</a:t>
            </a:r>
            <a:endParaRPr lang="en-US" sz="1200" dirty="0"/>
          </a:p>
        </p:txBody>
      </p:sp>
      <p:sp>
        <p:nvSpPr>
          <p:cNvPr id="24" name="Text 22"/>
          <p:cNvSpPr/>
          <p:nvPr/>
        </p:nvSpPr>
        <p:spPr>
          <a:xfrm>
            <a:off x="6304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Only the driver fixture changes; keys stay secret</a:t>
            </a:r>
            <a:endParaRPr lang="en-US" sz="1200" dirty="0"/>
          </a:p>
        </p:txBody>
      </p:sp>
      <p:sp>
        <p:nvSpPr>
          <p:cNvPr id="25" name="Shape 23"/>
          <p:cNvSpPr/>
          <p:nvPr/>
        </p:nvSpPr>
        <p:spPr>
          <a:xfrm>
            <a:off x="8816975" y="2875905"/>
            <a:ext cx="2559050" cy="935990"/>
          </a:xfrm>
          <a:prstGeom prst="roundRect">
            <a:avLst>
              <a:gd name="adj" fmla="val 7802"/>
            </a:avLst>
          </a:prstGeom>
          <a:solidFill>
            <a:srgbClr val="FCFBF7"/>
          </a:solidFill>
          <a:ln w="6350">
            <a:solidFill>
              <a:srgbClr val="DDD8CC"/>
            </a:solidFill>
            <a:prstDash val="solid"/>
          </a:ln>
        </p:spPr>
      </p:sp>
      <p:sp>
        <p:nvSpPr>
          <p:cNvPr id="26" name="Text 24"/>
          <p:cNvSpPr/>
          <p:nvPr/>
        </p:nvSpPr>
        <p:spPr>
          <a:xfrm>
            <a:off x="8971280" y="300484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Tests in CI</a:t>
            </a:r>
            <a:endParaRPr lang="en-US" sz="1200" dirty="0"/>
          </a:p>
        </p:txBody>
      </p:sp>
      <p:sp>
        <p:nvSpPr>
          <p:cNvPr id="27" name="Text 25"/>
          <p:cNvSpPr/>
          <p:nvPr/>
        </p:nvSpPr>
        <p:spPr>
          <a:xfrm>
            <a:off x="8971280" y="325631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Cheap checks first; parallel regression</a:t>
            </a:r>
            <a:endParaRPr lang="en-US" sz="1200" dirty="0"/>
          </a:p>
        </p:txBody>
      </p:sp>
      <p:sp>
        <p:nvSpPr>
          <p:cNvPr id="28" name="Shape 26"/>
          <p:cNvSpPr/>
          <p:nvPr/>
        </p:nvSpPr>
        <p:spPr>
          <a:xfrm>
            <a:off x="815975" y="3919885"/>
            <a:ext cx="2559050" cy="935990"/>
          </a:xfrm>
          <a:prstGeom prst="roundRect">
            <a:avLst>
              <a:gd name="adj" fmla="val 7802"/>
            </a:avLst>
          </a:prstGeom>
          <a:solidFill>
            <a:srgbClr val="FCFBF7"/>
          </a:solidFill>
          <a:ln w="6350">
            <a:solidFill>
              <a:srgbClr val="DDD8CC"/>
            </a:solidFill>
            <a:prstDash val="solid"/>
          </a:ln>
        </p:spPr>
      </p:sp>
      <p:sp>
        <p:nvSpPr>
          <p:cNvPr id="29" name="Text 27"/>
          <p:cNvSpPr/>
          <p:nvPr/>
        </p:nvSpPr>
        <p:spPr>
          <a:xfrm>
            <a:off x="970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Reports and gates</a:t>
            </a:r>
            <a:endParaRPr lang="en-US" sz="1200" dirty="0"/>
          </a:p>
        </p:txBody>
      </p:sp>
      <p:sp>
        <p:nvSpPr>
          <p:cNvPr id="30" name="Text 28"/>
          <p:cNvSpPr/>
          <p:nvPr/>
        </p:nvSpPr>
        <p:spPr>
          <a:xfrm>
            <a:off x="970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JUnit in post always; coverage and Sonar way</a:t>
            </a:r>
            <a:endParaRPr lang="en-US" sz="1200" dirty="0"/>
          </a:p>
        </p:txBody>
      </p:sp>
      <p:sp>
        <p:nvSpPr>
          <p:cNvPr id="31" name="Shape 29"/>
          <p:cNvSpPr/>
          <p:nvPr/>
        </p:nvSpPr>
        <p:spPr>
          <a:xfrm>
            <a:off x="3482975" y="3919885"/>
            <a:ext cx="2559050" cy="935990"/>
          </a:xfrm>
          <a:prstGeom prst="roundRect">
            <a:avLst>
              <a:gd name="adj" fmla="val 7802"/>
            </a:avLst>
          </a:prstGeom>
          <a:solidFill>
            <a:srgbClr val="FCFBF7"/>
          </a:solidFill>
          <a:ln w="6350">
            <a:solidFill>
              <a:srgbClr val="DDD8CC"/>
            </a:solidFill>
            <a:prstDash val="solid"/>
          </a:ln>
        </p:spPr>
      </p:sp>
      <p:sp>
        <p:nvSpPr>
          <p:cNvPr id="32" name="Text 30"/>
          <p:cNvSpPr/>
          <p:nvPr/>
        </p:nvSpPr>
        <p:spPr>
          <a:xfrm>
            <a:off x="3637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Continuous testing</a:t>
            </a:r>
            <a:endParaRPr lang="en-US" sz="1200" dirty="0"/>
          </a:p>
        </p:txBody>
      </p:sp>
      <p:sp>
        <p:nvSpPr>
          <p:cNvPr id="33" name="Text 31"/>
          <p:cNvSpPr/>
          <p:nvPr/>
        </p:nvSpPr>
        <p:spPr>
          <a:xfrm>
            <a:off x="3637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Feedback on release risk for every build</a:t>
            </a:r>
            <a:endParaRPr lang="en-US" sz="1200" dirty="0"/>
          </a:p>
        </p:txBody>
      </p:sp>
      <p:sp>
        <p:nvSpPr>
          <p:cNvPr id="34" name="Shape 32"/>
          <p:cNvSpPr/>
          <p:nvPr/>
        </p:nvSpPr>
        <p:spPr>
          <a:xfrm>
            <a:off x="6149975" y="3919885"/>
            <a:ext cx="2559050" cy="935990"/>
          </a:xfrm>
          <a:prstGeom prst="roundRect">
            <a:avLst>
              <a:gd name="adj" fmla="val 7802"/>
            </a:avLst>
          </a:prstGeom>
          <a:solidFill>
            <a:srgbClr val="FCFBF7"/>
          </a:solidFill>
          <a:ln w="6350">
            <a:solidFill>
              <a:srgbClr val="DDD8CC"/>
            </a:solidFill>
            <a:prstDash val="solid"/>
          </a:ln>
        </p:spPr>
      </p:sp>
      <p:sp>
        <p:nvSpPr>
          <p:cNvPr id="35" name="Text 33"/>
          <p:cNvSpPr/>
          <p:nvPr/>
        </p:nvSpPr>
        <p:spPr>
          <a:xfrm>
            <a:off x="6304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Strategy</a:t>
            </a:r>
            <a:endParaRPr lang="en-US" sz="1200" dirty="0"/>
          </a:p>
        </p:txBody>
      </p:sp>
      <p:sp>
        <p:nvSpPr>
          <p:cNvPr id="36" name="Text 34"/>
          <p:cNvSpPr/>
          <p:nvPr/>
        </p:nvSpPr>
        <p:spPr>
          <a:xfrm>
            <a:off x="6304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Risks, levels, stages, gates, data, review</a:t>
            </a:r>
            <a:endParaRPr lang="en-US" sz="1200" dirty="0"/>
          </a:p>
        </p:txBody>
      </p:sp>
      <p:sp>
        <p:nvSpPr>
          <p:cNvPr id="37" name="Shape 35"/>
          <p:cNvSpPr/>
          <p:nvPr/>
        </p:nvSpPr>
        <p:spPr>
          <a:xfrm>
            <a:off x="8816975" y="3919885"/>
            <a:ext cx="2559050" cy="935990"/>
          </a:xfrm>
          <a:prstGeom prst="roundRect">
            <a:avLst>
              <a:gd name="adj" fmla="val 7802"/>
            </a:avLst>
          </a:prstGeom>
          <a:solidFill>
            <a:srgbClr val="FCFBF7"/>
          </a:solidFill>
          <a:ln w="6350">
            <a:solidFill>
              <a:srgbClr val="DDD8CC"/>
            </a:solidFill>
            <a:prstDash val="solid"/>
          </a:ln>
        </p:spPr>
      </p:sp>
      <p:sp>
        <p:nvSpPr>
          <p:cNvPr id="38" name="Text 36"/>
          <p:cNvSpPr/>
          <p:nvPr/>
        </p:nvSpPr>
        <p:spPr>
          <a:xfrm>
            <a:off x="8971280" y="4048770"/>
            <a:ext cx="2317953" cy="23876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A9481A"/>
                </a:solidFill>
                <a:latin typeface="JetBrains Mono" pitchFamily="34" charset="0"/>
                <a:ea typeface="JetBrains Mono" pitchFamily="34" charset="-122"/>
                <a:cs typeface="JetBrains Mono" pitchFamily="34" charset="-120"/>
              </a:rPr>
              <a:t>Continuous delivery</a:t>
            </a:r>
            <a:endParaRPr lang="en-US" sz="1200" dirty="0"/>
          </a:p>
        </p:txBody>
      </p:sp>
      <p:sp>
        <p:nvSpPr>
          <p:cNvPr id="39" name="Text 37"/>
          <p:cNvSpPr/>
          <p:nvPr/>
        </p:nvSpPr>
        <p:spPr>
          <a:xfrm>
            <a:off x="8971280" y="4300240"/>
            <a:ext cx="231795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Any green build can be released on demand</a:t>
            </a:r>
            <a:endParaRPr lang="en-US" sz="1200" dirty="0"/>
          </a:p>
        </p:txBody>
      </p:sp>
      <p:sp>
        <p:nvSpPr>
          <p:cNvPr id="40" name="Text 38"/>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41" name="Text 39"/>
          <p:cNvSpPr/>
          <p:nvPr/>
        </p:nvSpPr>
        <p:spPr>
          <a:xfrm>
            <a:off x="8557181" y="6238230"/>
            <a:ext cx="290668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Cards follow the lecture order, L20 to L26</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LABS AND NEXT STEPS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Practise it in the lab</a:t>
            </a:r>
            <a:endParaRPr lang="en-US" sz="3200" dirty="0"/>
          </a:p>
        </p:txBody>
      </p:sp>
      <p:sp>
        <p:nvSpPr>
          <p:cNvPr id="4" name="Shape 2"/>
          <p:cNvSpPr/>
          <p:nvPr/>
        </p:nvSpPr>
        <p:spPr>
          <a:xfrm>
            <a:off x="11376025" y="1828800"/>
            <a:ext cx="0" cy="2656840"/>
          </a:xfrm>
          <a:prstGeom prst="line">
            <a:avLst/>
          </a:prstGeom>
          <a:noFill/>
          <a:ln w="6350">
            <a:solidFill>
              <a:srgbClr val="DDD8CC"/>
            </a:solidFill>
            <a:prstDash val="solid"/>
          </a:ln>
        </p:spPr>
      </p:sp>
      <p:sp>
        <p:nvSpPr>
          <p:cNvPr id="5" name="Shape 3"/>
          <p:cNvSpPr/>
          <p:nvPr/>
        </p:nvSpPr>
        <p:spPr>
          <a:xfrm>
            <a:off x="812800" y="4482465"/>
            <a:ext cx="10566400" cy="0"/>
          </a:xfrm>
          <a:prstGeom prst="line">
            <a:avLst/>
          </a:prstGeom>
          <a:noFill/>
          <a:ln w="6350">
            <a:solidFill>
              <a:srgbClr val="DDD8CC"/>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1160" cy="2641600"/>
        </p:xfrm>
        <a:graphic>
          <a:graphicData uri="http://schemas.openxmlformats.org/drawingml/2006/table">
            <a:tbl>
              <a:tblPr/>
              <a:tblGrid>
                <a:gridCol w="844093"/>
                <a:gridCol w="5697626"/>
                <a:gridCol w="4009441"/>
              </a:tblGrid>
              <a:tr h="330200">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Lab</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Session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c>
                  <a:txBody>
                    <a:bodyPr/>
                    <a:lstStyle/>
                    <a:p>
                      <a:pPr indent="0" marL="0">
                        <a:lnSpc>
                          <a:spcPts val="1680"/>
                        </a:lnSpc>
                        <a:buNone/>
                      </a:pPr>
                      <a:r>
                        <a:rPr lang="en-US" sz="1200" b="1" dirty="0">
                          <a:solidFill>
                            <a:srgbClr val="F3F1EA"/>
                          </a:solidFill>
                          <a:latin typeface="IBM Plex Sans" pitchFamily="34" charset="0"/>
                          <a:ea typeface="IBM Plex Sans" pitchFamily="34" charset="-122"/>
                          <a:cs typeface="IBM Plex Sans" pitchFamily="34" charset="-120"/>
                        </a:rPr>
                        <a:t>Builds 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132031"/>
                      </a:solidFill>
                      <a:prstDash val="solid"/>
                      <a:round/>
                      <a:headEnd type="none" w="med" len="med"/>
                      <a:tailEnd type="none" w="med" len="med"/>
                    </a:lnL>
                    <a:lnR w="12700" cap="flat" cmpd="sng" algn="ctr">
                      <a:solidFill>
                        <a:srgbClr val="1320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32031"/>
                      </a:solidFill>
                      <a:prstDash val="solid"/>
                      <a:round/>
                      <a:headEnd type="none" w="med" len="med"/>
                      <a:tailEnd type="none" w="med" len="med"/>
                    </a:lnB>
                    <a:solidFill>
                      <a:srgbClr val="13233A"/>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pytest test cases: fixtures, assertions, markers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Driver fixtures (L22); smoke marker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132031"/>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Page Object Model with Selenium WebDriver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Same tests on grid and cloud (L22)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7</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Data-driven testing and suite organisation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Suites per stage (L23, L26)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8</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Cross-browser runs on Selenium Grid in Docker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Grid in Docker Compose (L22)</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11</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assertions; running collections with Newman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API stage in Jenkins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Integrating test suites into a Jenkins pipeline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The Jenkinsfile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9C8C5"/>
                      </a:solidFill>
                      <a:prstDash val="solid"/>
                      <a:round/>
                      <a:headEnd type="none" w="med" len="med"/>
                      <a:tailEnd type="none" w="med" len="med"/>
                    </a:lnT>
                    <a:lnB w="12700" cap="flat" cmpd="sng" algn="ctr">
                      <a:solidFill>
                        <a:srgbClr val="C4C3BE"/>
                      </a:solidFill>
                      <a:prstDash val="solid"/>
                      <a:round/>
                      <a:headEnd type="none" w="med" len="med"/>
                      <a:tailEnd type="none" w="med" len="med"/>
                    </a:lnB>
                    <a:solidFill>
                      <a:srgbClr val="F6F4EE"/>
                    </a:solidFill>
                  </a:tcPr>
                </a:tc>
              </a:tr>
              <a:tr h="330200">
                <a:tc>
                  <a:txBody>
                    <a:bodyPr/>
                    <a:lstStyle/>
                    <a:p>
                      <a:pPr indent="0" marL="0">
                        <a:lnSpc>
                          <a:spcPts val="1680"/>
                        </a:lnSpc>
                        <a:buNone/>
                      </a:pPr>
                      <a:r>
                        <a:rPr lang="en-US" sz="1200" dirty="0">
                          <a:solidFill>
                            <a:srgbClr val="13233A"/>
                          </a:solidFill>
                          <a:latin typeface="IBM Plex Sans" pitchFamily="34" charset="0"/>
                          <a:ea typeface="IBM Plex Sans" pitchFamily="34" charset="-122"/>
                          <a:cs typeface="IBM Plex Sans" pitchFamily="34" charset="-120"/>
                        </a:rPr>
                        <a:t>14</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Test reporting, quality gates, pipeline results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c>
                  <a:txBody>
                    <a:bodyPr/>
                    <a:lstStyle/>
                    <a:p>
                      <a:pPr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Reports and gates (L23)</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9C8C5"/>
                      </a:solidFill>
                      <a:prstDash val="solid"/>
                      <a:round/>
                      <a:headEnd type="none" w="med" len="med"/>
                      <a:tailEnd type="none" w="med" len="med"/>
                    </a:lnL>
                    <a:lnR w="12700" cap="flat" cmpd="sng" algn="ctr">
                      <a:solidFill>
                        <a:srgbClr val="C9C8C5"/>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9C8C5"/>
                      </a:solidFill>
                      <a:prstDash val="solid"/>
                      <a:round/>
                      <a:headEnd type="none" w="med" len="med"/>
                      <a:tailEnd type="none" w="med" len="med"/>
                    </a:lnB>
                    <a:solidFill>
                      <a:srgbClr val="FCFBF7"/>
                    </a:solidFill>
                  </a:tcPr>
                </a:tc>
              </a:tr>
            </a:tbl>
          </a:graphicData>
        </a:graphic>
      </p:graphicFrame>
      <p:sp>
        <p:nvSpPr>
          <p:cNvPr id="7" name="Shape 4"/>
          <p:cNvSpPr/>
          <p:nvPr/>
        </p:nvSpPr>
        <p:spPr>
          <a:xfrm>
            <a:off x="812800" y="4739630"/>
            <a:ext cx="10566400" cy="518160"/>
          </a:xfrm>
          <a:prstGeom prst="roundRect">
            <a:avLst>
              <a:gd name="adj" fmla="val 14706"/>
            </a:avLst>
          </a:prstGeom>
          <a:solidFill>
            <a:srgbClr val="13233A"/>
          </a:solidFill>
          <a:ln/>
        </p:spPr>
      </p:sp>
      <p:sp>
        <p:nvSpPr>
          <p:cNvPr id="8" name="Text 5"/>
          <p:cNvSpPr/>
          <p:nvPr/>
        </p:nvSpPr>
        <p:spPr>
          <a:xfrm>
            <a:off x="1016000" y="4892030"/>
            <a:ext cx="171704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F2A36B"/>
                </a:solidFill>
                <a:latin typeface="JetBrains Mono" pitchFamily="34" charset="0"/>
                <a:ea typeface="JetBrains Mono" pitchFamily="34" charset="-122"/>
                <a:cs typeface="JetBrains Mono" pitchFamily="34" charset="-120"/>
              </a:rPr>
              <a:t>NEXT: LECTURE 27</a:t>
            </a:r>
            <a:endParaRPr lang="en-US" sz="1200" dirty="0"/>
          </a:p>
        </p:txBody>
      </p:sp>
      <p:sp>
        <p:nvSpPr>
          <p:cNvPr id="9" name="Text 6"/>
          <p:cNvSpPr/>
          <p:nvPr/>
        </p:nvSpPr>
        <p:spPr>
          <a:xfrm>
            <a:off x="2834640" y="4892030"/>
            <a:ext cx="859160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1EA"/>
                </a:solidFill>
                <a:latin typeface="IBM Plex Sans" pitchFamily="34" charset="0"/>
                <a:ea typeface="IBM Plex Sans" pitchFamily="34" charset="-122"/>
                <a:cs typeface="IBM Plex Sans" pitchFamily="34" charset="-120"/>
              </a:rPr>
              <a:t>End-term examination across Modules 1 to 4; the knowledge checks and practice tasks in each deck are good revision</a:t>
            </a:r>
            <a:endParaRPr lang="en-US" sz="1200" dirty="0"/>
          </a:p>
        </p:txBody>
      </p:sp>
      <p:sp>
        <p:nvSpPr>
          <p:cNvPr id="10" name="Text 7"/>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11" name="Text 8"/>
          <p:cNvSpPr/>
          <p:nvPr/>
        </p:nvSpPr>
        <p:spPr>
          <a:xfrm>
            <a:off x="6336745" y="6238230"/>
            <a:ext cx="5193729"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Lab sessions from the lab-wise plan · Lecture 24 is buffer and assessment</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9481A"/>
                </a:solidFill>
                <a:latin typeface="JetBrains Mono" pitchFamily="34" charset="0"/>
                <a:ea typeface="JetBrains Mono" pitchFamily="34" charset="-122"/>
                <a:cs typeface="JetBrains Mono" pitchFamily="34" charset="-120"/>
              </a:rPr>
              <a:t>MODULE 4 · PRACTICE</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13233A"/>
                </a:solidFill>
                <a:latin typeface="Space Grotesk" pitchFamily="34" charset="0"/>
                <a:ea typeface="Space Grotesk" pitchFamily="34" charset="-122"/>
                <a:cs typeface="Space Grotesk" pitchFamily="34" charset="-120"/>
              </a:rPr>
              <a:t>Take-home practice</a:t>
            </a:r>
            <a:endParaRPr lang="en-US" sz="3200" dirty="0"/>
          </a:p>
        </p:txBody>
      </p:sp>
      <p:sp>
        <p:nvSpPr>
          <p:cNvPr id="4" name="Shape 2"/>
          <p:cNvSpPr/>
          <p:nvPr/>
        </p:nvSpPr>
        <p:spPr>
          <a:xfrm>
            <a:off x="815975" y="1831975"/>
            <a:ext cx="5200650" cy="1118870"/>
          </a:xfrm>
          <a:prstGeom prst="roundRect">
            <a:avLst>
              <a:gd name="adj" fmla="val 6527"/>
            </a:avLst>
          </a:prstGeom>
          <a:solidFill>
            <a:srgbClr val="FCFBF7"/>
          </a:solidFill>
          <a:ln w="6350">
            <a:solidFill>
              <a:srgbClr val="DDD8CC"/>
            </a:solidFill>
            <a:prstDash val="solid"/>
          </a:ln>
        </p:spPr>
      </p:sp>
      <p:sp>
        <p:nvSpPr>
          <p:cNvPr id="5" name="Text 3"/>
          <p:cNvSpPr/>
          <p:nvPr/>
        </p:nvSpPr>
        <p:spPr>
          <a:xfrm>
            <a:off x="1021080" y="2037110"/>
            <a:ext cx="163592"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1</a:t>
            </a:r>
            <a:endParaRPr lang="en-US" sz="2000" dirty="0"/>
          </a:p>
        </p:txBody>
      </p:sp>
      <p:sp>
        <p:nvSpPr>
          <p:cNvPr id="6" name="Text 4"/>
          <p:cNvSpPr/>
          <p:nvPr/>
        </p:nvSpPr>
        <p:spPr>
          <a:xfrm>
            <a:off x="1286272" y="2037110"/>
            <a:ext cx="4661006"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Two browsers</a:t>
            </a:r>
            <a:endParaRPr lang="en-US" sz="1400" dirty="0"/>
          </a:p>
        </p:txBody>
      </p:sp>
      <p:sp>
        <p:nvSpPr>
          <p:cNvPr id="7" name="Text 5"/>
          <p:cNvSpPr/>
          <p:nvPr/>
        </p:nvSpPr>
        <p:spPr>
          <a:xfrm>
            <a:off x="1286272" y="2319040"/>
            <a:ext cx="4661006"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Parametrize the grid driver fixture so the four order tests run on Chrome and Firefox nodes in one pytest command.</a:t>
            </a:r>
            <a:endParaRPr lang="en-US" sz="1200" dirty="0"/>
          </a:p>
        </p:txBody>
      </p:sp>
      <p:sp>
        <p:nvSpPr>
          <p:cNvPr id="8" name="Shape 6"/>
          <p:cNvSpPr/>
          <p:nvPr/>
        </p:nvSpPr>
        <p:spPr>
          <a:xfrm>
            <a:off x="6175375" y="1831975"/>
            <a:ext cx="5200650" cy="1118870"/>
          </a:xfrm>
          <a:prstGeom prst="roundRect">
            <a:avLst>
              <a:gd name="adj" fmla="val 6527"/>
            </a:avLst>
          </a:prstGeom>
          <a:solidFill>
            <a:srgbClr val="FCFBF7"/>
          </a:solidFill>
          <a:ln w="6350">
            <a:solidFill>
              <a:srgbClr val="DDD8CC"/>
            </a:solidFill>
            <a:prstDash val="solid"/>
          </a:ln>
        </p:spPr>
      </p:sp>
      <p:sp>
        <p:nvSpPr>
          <p:cNvPr id="9" name="Text 7"/>
          <p:cNvSpPr/>
          <p:nvPr/>
        </p:nvSpPr>
        <p:spPr>
          <a:xfrm>
            <a:off x="6380480" y="2037110"/>
            <a:ext cx="202248"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2</a:t>
            </a:r>
            <a:endParaRPr lang="en-US" sz="2000" dirty="0"/>
          </a:p>
        </p:txBody>
      </p:sp>
      <p:sp>
        <p:nvSpPr>
          <p:cNvPr id="10" name="Text 8"/>
          <p:cNvSpPr/>
          <p:nvPr/>
        </p:nvSpPr>
        <p:spPr>
          <a:xfrm>
            <a:off x="6684328" y="2037110"/>
            <a:ext cx="4621190"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Coverage gate</a:t>
            </a:r>
            <a:endParaRPr lang="en-US" sz="1400" dirty="0"/>
          </a:p>
        </p:txBody>
      </p:sp>
      <p:sp>
        <p:nvSpPr>
          <p:cNvPr id="11" name="Text 9"/>
          <p:cNvSpPr/>
          <p:nvPr/>
        </p:nvSpPr>
        <p:spPr>
          <a:xfrm>
            <a:off x="6684328" y="2319040"/>
            <a:ext cx="462119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Raise --cov-fail-under to 95. Use --cov-report=term-missing to find the gap, then close it the right way.</a:t>
            </a:r>
            <a:endParaRPr lang="en-US" sz="1200" dirty="0"/>
          </a:p>
        </p:txBody>
      </p:sp>
      <p:sp>
        <p:nvSpPr>
          <p:cNvPr id="12" name="Shape 10"/>
          <p:cNvSpPr/>
          <p:nvPr/>
        </p:nvSpPr>
        <p:spPr>
          <a:xfrm>
            <a:off x="815975" y="3109615"/>
            <a:ext cx="5200650" cy="1118870"/>
          </a:xfrm>
          <a:prstGeom prst="roundRect">
            <a:avLst>
              <a:gd name="adj" fmla="val 6527"/>
            </a:avLst>
          </a:prstGeom>
          <a:solidFill>
            <a:srgbClr val="FCFBF7"/>
          </a:solidFill>
          <a:ln w="6350">
            <a:solidFill>
              <a:srgbClr val="DDD8CC"/>
            </a:solidFill>
            <a:prstDash val="solid"/>
          </a:ln>
        </p:spPr>
      </p:sp>
      <p:sp>
        <p:nvSpPr>
          <p:cNvPr id="13" name="Text 11"/>
          <p:cNvSpPr/>
          <p:nvPr/>
        </p:nvSpPr>
        <p:spPr>
          <a:xfrm>
            <a:off x="1021080" y="3314700"/>
            <a:ext cx="205026"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3</a:t>
            </a:r>
            <a:endParaRPr lang="en-US" sz="2000" dirty="0"/>
          </a:p>
        </p:txBody>
      </p:sp>
      <p:sp>
        <p:nvSpPr>
          <p:cNvPr id="14" name="Text 12"/>
          <p:cNvSpPr/>
          <p:nvPr/>
        </p:nvSpPr>
        <p:spPr>
          <a:xfrm>
            <a:off x="1327706" y="3314700"/>
            <a:ext cx="4618329"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Security stage</a:t>
            </a:r>
            <a:endParaRPr lang="en-US" sz="1400" dirty="0"/>
          </a:p>
        </p:txBody>
      </p:sp>
      <p:sp>
        <p:nvSpPr>
          <p:cNvPr id="15" name="Text 13"/>
          <p:cNvSpPr/>
          <p:nvPr/>
        </p:nvSpPr>
        <p:spPr>
          <a:xfrm>
            <a:off x="1327706" y="3596630"/>
            <a:ext cx="4618329"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Add a Security scan stage after Smoke that runs the ZAP baseline on the test server and archives its HTML report.</a:t>
            </a:r>
            <a:endParaRPr lang="en-US" sz="1200" dirty="0"/>
          </a:p>
        </p:txBody>
      </p:sp>
      <p:sp>
        <p:nvSpPr>
          <p:cNvPr id="16" name="Shape 14"/>
          <p:cNvSpPr/>
          <p:nvPr/>
        </p:nvSpPr>
        <p:spPr>
          <a:xfrm>
            <a:off x="6175375" y="3109615"/>
            <a:ext cx="5200650" cy="1118870"/>
          </a:xfrm>
          <a:prstGeom prst="roundRect">
            <a:avLst>
              <a:gd name="adj" fmla="val 6527"/>
            </a:avLst>
          </a:prstGeom>
          <a:solidFill>
            <a:srgbClr val="FCFBF7"/>
          </a:solidFill>
          <a:ln w="6350">
            <a:solidFill>
              <a:srgbClr val="DDD8CC"/>
            </a:solidFill>
            <a:prstDash val="solid"/>
          </a:ln>
        </p:spPr>
      </p:sp>
      <p:sp>
        <p:nvSpPr>
          <p:cNvPr id="17" name="Text 15"/>
          <p:cNvSpPr/>
          <p:nvPr/>
        </p:nvSpPr>
        <p:spPr>
          <a:xfrm>
            <a:off x="6380480" y="3314700"/>
            <a:ext cx="211614" cy="73406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A9481A"/>
                </a:solidFill>
                <a:latin typeface="Space Grotesk" pitchFamily="34" charset="0"/>
                <a:ea typeface="Space Grotesk" pitchFamily="34" charset="-122"/>
                <a:cs typeface="Space Grotesk" pitchFamily="34" charset="-120"/>
              </a:rPr>
              <a:t>4</a:t>
            </a:r>
            <a:endParaRPr lang="en-US" sz="2000" dirty="0"/>
          </a:p>
        </p:txBody>
      </p:sp>
      <p:sp>
        <p:nvSpPr>
          <p:cNvPr id="18" name="Text 16"/>
          <p:cNvSpPr/>
          <p:nvPr/>
        </p:nvSpPr>
        <p:spPr>
          <a:xfrm>
            <a:off x="6693694" y="3314700"/>
            <a:ext cx="4611543" cy="256540"/>
          </a:xfrm>
          <a:prstGeom prst="rect">
            <a:avLst/>
          </a:prstGeom>
          <a:noFill/>
          <a:ln/>
        </p:spPr>
        <p:txBody>
          <a:bodyPr wrap="square" lIns="0" tIns="0" rIns="0" bIns="0" rtlCol="0" anchor="t">
            <a:normAutofit/>
          </a:bodyPr>
          <a:lstStyle/>
          <a:p>
            <a:pPr algn="l" indent="0" marL="0">
              <a:lnSpc>
                <a:spcPts val="1820"/>
              </a:lnSpc>
              <a:buNone/>
            </a:pPr>
            <a:r>
              <a:rPr lang="en-US" sz="1400" b="1" dirty="0">
                <a:solidFill>
                  <a:srgbClr val="13233A"/>
                </a:solidFill>
                <a:latin typeface="IBM Plex Sans" pitchFamily="34" charset="0"/>
                <a:ea typeface="IBM Plex Sans" pitchFamily="34" charset="-122"/>
                <a:cs typeface="IBM Plex Sans" pitchFamily="34" charset="-120"/>
              </a:rPr>
              <a:t>Mobile strategy</a:t>
            </a:r>
            <a:endParaRPr lang="en-US" sz="1400" dirty="0"/>
          </a:p>
        </p:txBody>
      </p:sp>
      <p:sp>
        <p:nvSpPr>
          <p:cNvPr id="19" name="Text 17"/>
          <p:cNvSpPr/>
          <p:nvPr/>
        </p:nvSpPr>
        <p:spPr>
          <a:xfrm>
            <a:off x="6693694" y="3596630"/>
            <a:ext cx="4611543"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F"/>
                </a:solidFill>
                <a:latin typeface="IBM Plex Sans" pitchFamily="34" charset="0"/>
                <a:ea typeface="IBM Plex Sans" pitchFamily="34" charset="-122"/>
                <a:cs typeface="IBM Plex Sans" pitchFamily="34" charset="-120"/>
              </a:rPr>
              <a:t>Write the Lecture 26 strategy table for the Canteen Android app: stages, suites, devices, time budgets and gates.</a:t>
            </a:r>
            <a:endParaRPr lang="en-US" sz="1200" dirty="0"/>
          </a:p>
        </p:txBody>
      </p:sp>
      <p:sp>
        <p:nvSpPr>
          <p:cNvPr id="20" name="Text 18"/>
          <p:cNvSpPr/>
          <p:nvPr/>
        </p:nvSpPr>
        <p:spPr>
          <a:xfrm>
            <a:off x="812800" y="4485630"/>
            <a:ext cx="10883392"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33A"/>
                </a:solidFill>
                <a:latin typeface="IBM Plex Sans" pitchFamily="34" charset="0"/>
                <a:ea typeface="IBM Plex Sans" pitchFamily="34" charset="-122"/>
                <a:cs typeface="IBM Plex Sans" pitchFamily="34" charset="-120"/>
              </a:rPr>
              <a:t>For tasks 1 to 3, hand in the command output or pipeline log as evidence.</a:t>
            </a:r>
            <a:endParaRPr lang="en-US" sz="1400" dirty="0"/>
          </a:p>
        </p:txBody>
      </p:sp>
      <p:sp>
        <p:nvSpPr>
          <p:cNvPr id="21" name="Text 19"/>
          <p:cNvSpPr/>
          <p:nvPr/>
        </p:nvSpPr>
        <p:spPr>
          <a:xfrm>
            <a:off x="812800" y="6238230"/>
            <a:ext cx="1442561"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CSET454 · Module 4</a:t>
            </a:r>
            <a:endParaRPr lang="en-US" sz="1200" dirty="0"/>
          </a:p>
        </p:txBody>
      </p:sp>
      <p:sp>
        <p:nvSpPr>
          <p:cNvPr id="22" name="Text 20"/>
          <p:cNvSpPr/>
          <p:nvPr/>
        </p:nvSpPr>
        <p:spPr>
          <a:xfrm>
            <a:off x="8473678" y="6238230"/>
            <a:ext cx="2992688"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7"/>
                </a:solidFill>
                <a:latin typeface="IBM Plex Sans" pitchFamily="34" charset="0"/>
                <a:ea typeface="IBM Plex Sans" pitchFamily="34" charset="-122"/>
                <a:cs typeface="IBM Plex Sans" pitchFamily="34" charset="-120"/>
              </a:rPr>
              <a:t>Deadline and marks: [set by the instructor]</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1323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F2A36B"/>
                </a:solidFill>
                <a:latin typeface="JetBrains Mono" pitchFamily="34" charset="0"/>
                <a:ea typeface="JetBrains Mono" pitchFamily="34" charset="-122"/>
                <a:cs typeface="JetBrains Mono" pitchFamily="34" charset="-120"/>
              </a:rPr>
              <a:t>MODULE 4 · READINGS</a:t>
            </a:r>
            <a:endParaRPr lang="en-US" sz="1200" dirty="0"/>
          </a:p>
        </p:txBody>
      </p:sp>
      <p:sp>
        <p:nvSpPr>
          <p:cNvPr id="3" name="Text 1"/>
          <p:cNvSpPr/>
          <p:nvPr/>
        </p:nvSpPr>
        <p:spPr>
          <a:xfrm>
            <a:off x="812800" y="112777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spc="-50" kern="0" dirty="0">
                <a:solidFill>
                  <a:srgbClr val="F3F1EA"/>
                </a:solidFill>
                <a:latin typeface="Space Grotesk" pitchFamily="34" charset="0"/>
                <a:ea typeface="Space Grotesk" pitchFamily="34" charset="-122"/>
                <a:cs typeface="Space Grotesk" pitchFamily="34" charset="-120"/>
              </a:rPr>
              <a:t>Readings and references</a:t>
            </a:r>
            <a:endParaRPr lang="en-US" sz="3200" dirty="0"/>
          </a:p>
        </p:txBody>
      </p:sp>
      <p:sp>
        <p:nvSpPr>
          <p:cNvPr id="4" name="Text 2"/>
          <p:cNvSpPr/>
          <p:nvPr/>
        </p:nvSpPr>
        <p:spPr>
          <a:xfrm>
            <a:off x="812800" y="1879600"/>
            <a:ext cx="4055110"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COURSE BOOKS</a:t>
            </a:r>
            <a:endParaRPr lang="en-US" sz="1200" dirty="0"/>
          </a:p>
        </p:txBody>
      </p:sp>
      <p:sp>
        <p:nvSpPr>
          <p:cNvPr id="5" name="Shape 3"/>
          <p:cNvSpPr/>
          <p:nvPr/>
        </p:nvSpPr>
        <p:spPr>
          <a:xfrm>
            <a:off x="812800" y="2223145"/>
            <a:ext cx="3937000" cy="0"/>
          </a:xfrm>
          <a:prstGeom prst="line">
            <a:avLst/>
          </a:prstGeom>
          <a:noFill/>
          <a:ln w="6350">
            <a:solidFill>
              <a:srgbClr val="3A5476"/>
            </a:solidFill>
            <a:prstDash val="solid"/>
          </a:ln>
        </p:spPr>
      </p:sp>
      <p:sp>
        <p:nvSpPr>
          <p:cNvPr id="6" name="Text 4"/>
          <p:cNvSpPr/>
          <p:nvPr/>
        </p:nvSpPr>
        <p:spPr>
          <a:xfrm>
            <a:off x="812800" y="232663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Enterprise Continuous Testing</a:t>
            </a:r>
            <a:endParaRPr lang="en-US" sz="1400" dirty="0"/>
          </a:p>
        </p:txBody>
      </p:sp>
      <p:sp>
        <p:nvSpPr>
          <p:cNvPr id="7" name="Text 5"/>
          <p:cNvSpPr/>
          <p:nvPr/>
        </p:nvSpPr>
        <p:spPr>
          <a:xfrm>
            <a:off x="812800" y="260479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W. Platz and C. Dunlop, 2019 · textbook</a:t>
            </a:r>
            <a:endParaRPr lang="en-US" sz="1200" dirty="0"/>
          </a:p>
        </p:txBody>
      </p:sp>
      <p:sp>
        <p:nvSpPr>
          <p:cNvPr id="8" name="Shape 6"/>
          <p:cNvSpPr/>
          <p:nvPr/>
        </p:nvSpPr>
        <p:spPr>
          <a:xfrm>
            <a:off x="812800" y="2948335"/>
            <a:ext cx="3937000" cy="0"/>
          </a:xfrm>
          <a:prstGeom prst="line">
            <a:avLst/>
          </a:prstGeom>
          <a:noFill/>
          <a:ln w="6350">
            <a:solidFill>
              <a:srgbClr val="3A5476"/>
            </a:solidFill>
            <a:prstDash val="solid"/>
          </a:ln>
        </p:spPr>
      </p:sp>
      <p:sp>
        <p:nvSpPr>
          <p:cNvPr id="9" name="Text 7"/>
          <p:cNvSpPr/>
          <p:nvPr/>
        </p:nvSpPr>
        <p:spPr>
          <a:xfrm>
            <a:off x="812800" y="305182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Complete Guide to Test Automation</a:t>
            </a:r>
            <a:endParaRPr lang="en-US" sz="1400" dirty="0"/>
          </a:p>
        </p:txBody>
      </p:sp>
      <p:sp>
        <p:nvSpPr>
          <p:cNvPr id="10" name="Text 8"/>
          <p:cNvSpPr/>
          <p:nvPr/>
        </p:nvSpPr>
        <p:spPr>
          <a:xfrm>
            <a:off x="812800" y="332993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A. Axelrod, Apress, 2019 · reference</a:t>
            </a:r>
            <a:endParaRPr lang="en-US" sz="1200" dirty="0"/>
          </a:p>
        </p:txBody>
      </p:sp>
      <p:sp>
        <p:nvSpPr>
          <p:cNvPr id="11" name="Shape 9"/>
          <p:cNvSpPr/>
          <p:nvPr/>
        </p:nvSpPr>
        <p:spPr>
          <a:xfrm>
            <a:off x="812800" y="3673475"/>
            <a:ext cx="3937000" cy="0"/>
          </a:xfrm>
          <a:prstGeom prst="line">
            <a:avLst/>
          </a:prstGeom>
          <a:noFill/>
          <a:ln w="6350">
            <a:solidFill>
              <a:srgbClr val="3A5476"/>
            </a:solidFill>
            <a:prstDash val="solid"/>
          </a:ln>
        </p:spPr>
      </p:sp>
      <p:sp>
        <p:nvSpPr>
          <p:cNvPr id="12" name="Text 10"/>
          <p:cNvSpPr/>
          <p:nvPr/>
        </p:nvSpPr>
        <p:spPr>
          <a:xfrm>
            <a:off x="812800" y="3777010"/>
            <a:ext cx="4055110"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F3F1EA"/>
                </a:solidFill>
                <a:latin typeface="IBM Plex Sans" pitchFamily="34" charset="0"/>
                <a:ea typeface="IBM Plex Sans" pitchFamily="34" charset="-122"/>
                <a:cs typeface="IBM Plex Sans" pitchFamily="34" charset="-120"/>
              </a:rPr>
              <a:t>Continuous Delivery</a:t>
            </a:r>
            <a:endParaRPr lang="en-US" sz="1400" dirty="0"/>
          </a:p>
        </p:txBody>
      </p:sp>
      <p:sp>
        <p:nvSpPr>
          <p:cNvPr id="13" name="Text 11"/>
          <p:cNvSpPr/>
          <p:nvPr/>
        </p:nvSpPr>
        <p:spPr>
          <a:xfrm>
            <a:off x="812800" y="4055120"/>
            <a:ext cx="4055110"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5CFDB"/>
                </a:solidFill>
                <a:latin typeface="IBM Plex Sans" pitchFamily="34" charset="0"/>
                <a:ea typeface="IBM Plex Sans" pitchFamily="34" charset="-122"/>
                <a:cs typeface="IBM Plex Sans" pitchFamily="34" charset="-120"/>
              </a:rPr>
              <a:t>J. Humble and D. Farley, 2010 · further reading</a:t>
            </a:r>
            <a:endParaRPr lang="en-US" sz="1200" dirty="0"/>
          </a:p>
        </p:txBody>
      </p:sp>
      <p:sp>
        <p:nvSpPr>
          <p:cNvPr id="14" name="Text 12"/>
          <p:cNvSpPr/>
          <p:nvPr/>
        </p:nvSpPr>
        <p:spPr>
          <a:xfrm>
            <a:off x="5054600" y="1879600"/>
            <a:ext cx="6514338"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8FB9E6"/>
                </a:solidFill>
                <a:latin typeface="JetBrains Mono" pitchFamily="34" charset="0"/>
                <a:ea typeface="JetBrains Mono" pitchFamily="34" charset="-122"/>
                <a:cs typeface="JetBrains Mono" pitchFamily="34" charset="-120"/>
              </a:rPr>
              <a:t>SOURCES USED IN THIS MODULE</a:t>
            </a:r>
            <a:endParaRPr lang="en-US" sz="1200" dirty="0"/>
          </a:p>
        </p:txBody>
      </p:sp>
      <p:sp>
        <p:nvSpPr>
          <p:cNvPr id="15" name="Text 13"/>
          <p:cNvSpPr/>
          <p:nvPr/>
        </p:nvSpPr>
        <p:spPr>
          <a:xfrm>
            <a:off x="5054600" y="2219970"/>
            <a:ext cx="6514338" cy="2540000"/>
          </a:xfrm>
          <a:prstGeom prst="rect">
            <a:avLst/>
          </a:prstGeom>
          <a:noFill/>
          <a:ln/>
        </p:spPr>
        <p:txBody>
          <a:bodyPr wrap="square" lIns="0" tIns="0" rIns="0" bIns="0" rtlCol="0" anchor="t">
            <a:normAutofit/>
          </a:bodyPr>
          <a:lstStyle/>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StatCounter Global Stats, mobile OS market share, August 2026</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Appium documentation; Android Developers (Espresso, emulator); Apple Developer (Simulator, TestFlight, phased release)</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Google Play Console Help; fastlane docs; Firebase docs (Crashlytics, Remote Config, App Distribution, Test Lab)</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docker-selenium README; BrowserStack, Sauce Labs and AWS Device Farm documentation</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Jenkins Pipeline docs; SonarQube Server docs; pytest-cov, pytest-html and Allure docs</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Wikipedia, “Continuous testing”; continuousdelivery.com; M. Fowler, “ContinuousDelivery” (2013), “Continuous Integration” (2024)</a:t>
            </a:r>
            <a:endParaRPr lang="en-US" sz="1200" dirty="0"/>
          </a:p>
          <a:p>
            <a:pPr algn="l" marL="182880" indent="-155194">
              <a:lnSpc>
                <a:spcPts val="1800"/>
              </a:lnSpc>
              <a:buSzPct val="100000"/>
              <a:buChar char="•"/>
            </a:pPr>
            <a:r>
              <a:rPr lang="en-US" sz="1200" dirty="0">
                <a:solidFill>
                  <a:srgbClr val="C5CFDB"/>
                </a:solidFill>
                <a:latin typeface="IBM Plex Sans" pitchFamily="34" charset="0"/>
                <a:ea typeface="IBM Plex Sans" pitchFamily="34" charset="-122"/>
                <a:cs typeface="IBM Plex Sans" pitchFamily="34" charset="-120"/>
              </a:rPr>
              <a:t>DORA: continuous delivery and test automation capabilities; DORA metrics guide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CSET454 Module 4: Mobile, Cloud and Continuous Testing</dc:title>
  <dc:subject>PptxGenJS Presentation</dc:subject>
  <dc:creator>PptxGenJS</dc:creator>
  <cp:lastModifiedBy>PptxGenJS</cp:lastModifiedBy>
  <cp:revision>1</cp:revision>
  <dcterms:created xsi:type="dcterms:W3CDTF">2026-09-27T09:06:56Z</dcterms:created>
  <dcterms:modified xsi:type="dcterms:W3CDTF">2026-09-27T09:06:56Z</dcterms:modified>
</cp:coreProperties>
</file>