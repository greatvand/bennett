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2"/>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5523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Software can run test cases and compare actual with expected results, generate test data, set up environments, run static analysis and report results. People are still needed to decide what to test, design good tests and expected results, explore, judge usability, and investigate failures. Q2: The suite only checks what it was written to check, so the bug may sit in an untested area; the assertions may be too weak; the test data or environment may differ from production; or a failing test may have been disabled or marked flaky. Q3: Automate the checks that are repeated often, stable and valuable, such as regression and smoke suites, but keep people on exploratory, usability and one-off testing. Automation also has build and maintenance costs, so "everything" is rarely worth it. Q4: The definition says "perform or support test activities", so it also covers support work: generating test data, provisioning environments, static analysis, monitoring and reporting.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Shift left: reviewing requirements for testability, unit tests and test-driven development, static analysis on every commit, API tests before the UI exists. Shift right: monitoring and alerting, canary releases and feature flags, A/B experiments, scheduled synthetic user journeys in production. Q2: They are the fastest and cheapest checks and point precisely at the faulty code. Running them first gives feedback in minutes and stops a broken build before slower, costlier UI stages run. Q3: (a) data-driven testing, one test fed by a data file of coupon codes; (b) performance and load testing; (c) smoke checks, also called build verification tests. Q4: Break-even becomes 80 divided by (16 minus 12), which is 20 releases instead of about 7. Maintenance cost decides whether automation pays off, so keep tests simple and maintainable.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Self-checking. An automated test should report its own pass or fail through assertions, with no human reading the output. Q2: Tests wear out, once called the pesticide paradox. The same tests keep passing but stop finding new defects. The team should review and update the suite, add cases for new or changed coupon rules and for every escaped bug, and add exploratory sessions. Q3: The absence-of-defects fallacy. Example: the Canteen App has no known defects, but ordering takes longer than queuing at the counter, so students stop using it. Q4: It starts in parallel with the SDLC's requirements phase, with requirement analysis. Testing early finds ambiguous or untestable requirements before they turn into design and code defects, which is principle 3, early testing saves time and money.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Test planning, phase 2. Its entry criterion is that requirement analysis is complete: the requirements have been studied, testable items listed and doubts clarified. Q2: High severity, because money is taken and the core ordering function fails. High priority, because every paying student can be hit and it damages trust, so it must be fixed immediately. Q3: Reopened. It goes back to the developer, who works on it again as an open defect; after the next fix it returns to Retest. Q4: Efficiency, which is the effort, such as time or steps, needed to reach the goal. Effectiveness is whether users succeed, and satisfaction is how they feel.</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Non-functional. It is a performance efficiency requirement with a measurable target, checked by load or performance testing with a tool such as JMeter or k6, comparing measured response times against the 2-second target. Q2: (a) spike testing; (b) endurance or soak testing; (c) stress testing. Q3: Horizontal: a student logs in, orders, pays by wallet, and the order moves through the kitchen dashboard until it is collected, crossing the app, services, wallet provider and notifications. Vertical: apply SAVE20 and check it at every layer: the discount shown in the UI, the response from the coupon API, and the discount stored with the order in the database. Q4: A fixed sleep either wastes time when the page is ready sooner, or fails when the page takes longer than 5 seconds, which makes the test flaky. An explicit wait checks the condition repeatedly and continues as soon as it is true, up to a timeout, so the test is both faster and more reliable.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Any four of: browsers (Chrome and Safari on phones), operating systems (Android and iOS versions), devices and screen sizes (low-memory phones, laptops), networks (weak hostel Wi-Fi, going offline), versions (an old app against a new API), and hardware (the camera for QR pickup codes). Q2: 40 tests times 3 browsers gives 120 test runs. Running them in parallel on separate Grid nodes cuts the total time to roughly that of the slowest browser, which keeps pipeline feedback fast. Q3: Visual regression testing: comparing screenshots with an approved baseline flags the overlap. A functional script could still pass, because the Pay button exists and may even be clickable. Q4: ID and data-testid first, since both are unique and stable and data-testid exists only for tests; then relative XPath; absolute XPath last, because any layout change breaks it.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POST to /api/cart/items; a successful call returns 201 Created, with the new cart line in the body. Q2: Yes, it is a defect. Invalid input is the client's mistake and should get a 4xx response, here 422 Unprocessable Content or 400 Bad Request, with a clear message such as "qty must be 1-10". A 500 means the server failed to handle the input. Q3: Any four of: the body values, such as line_total 120; the schema or contract, meaning fields and types; headers such as Content-Type; error messages; authentication and access rules; response time; and side effects, such as the item appearing in a later GET. Q4: They skip the browser, rendering and page loading, so they run in milliseconds to seconds. They do not depend on locators or layout, which change often. And they reach the business rule directly, so a failure points closer to its cause.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marL="0" indent="0" algn="r">
              <a:lnSpc>
                <a:spcPts val="19000"/>
              </a:lnSpc>
              <a:buNone/>
            </a:pPr>
            <a:r>
              <a:rPr lang="en-US" sz="19000" b="1" kern="0" spc="-400" dirty="0">
                <a:solidFill>
                  <a:srgbClr val="000000">
                    <a:alpha val="0"/>
                  </a:srgbClr>
                </a:solidFill>
                <a:latin typeface="Space Grotesk" pitchFamily="34" charset="0"/>
                <a:ea typeface="Space Grotesk" pitchFamily="34" charset="-122"/>
                <a:cs typeface="Space Grotesk" pitchFamily="34" charset="-120"/>
              </a:rPr>
              <a:t>01</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36B"/>
                </a:solidFill>
                <a:latin typeface="JetBrains Mono" pitchFamily="34" charset="0"/>
                <a:ea typeface="JetBrains Mono" pitchFamily="34" charset="-122"/>
                <a:cs typeface="JetBrains Mono" pitchFamily="34" charset="-120"/>
              </a:rPr>
              <a:t>CSET454 · TEST AUTOMATION IN DEVOPS</a:t>
            </a:r>
            <a:endParaRPr lang="en-US" sz="1200" dirty="0"/>
          </a:p>
        </p:txBody>
      </p:sp>
      <p:sp>
        <p:nvSpPr>
          <p:cNvPr id="4" name="Text 2"/>
          <p:cNvSpPr/>
          <p:nvPr/>
        </p:nvSpPr>
        <p:spPr>
          <a:xfrm>
            <a:off x="812800" y="3489960"/>
            <a:ext cx="10883392" cy="1518920"/>
          </a:xfrm>
          <a:prstGeom prst="rect">
            <a:avLst/>
          </a:prstGeom>
          <a:noFill/>
          <a:ln/>
        </p:spPr>
        <p:txBody>
          <a:bodyPr wrap="square" lIns="0" tIns="0" rIns="0" bIns="0" rtlCol="0" anchor="t">
            <a:normAutofit/>
          </a:bodyPr>
          <a:lstStyle/>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Test Automation Manifesto</a:t>
            </a:r>
            <a:endParaRPr lang="en-US" sz="5600" dirty="0"/>
          </a:p>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and Testing</a:t>
            </a:r>
            <a:endParaRPr lang="en-US" sz="5600" dirty="0"/>
          </a:p>
        </p:txBody>
      </p:sp>
      <p:sp>
        <p:nvSpPr>
          <p:cNvPr id="5" name="Text 3"/>
          <p:cNvSpPr/>
          <p:nvPr/>
        </p:nvSpPr>
        <p:spPr>
          <a:xfrm>
            <a:off x="812800" y="5186680"/>
            <a:ext cx="10883392"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C5CFDB"/>
                </a:solidFill>
                <a:latin typeface="IBM Plex Sans" pitchFamily="34" charset="0"/>
                <a:ea typeface="IBM Plex Sans" pitchFamily="34" charset="-122"/>
                <a:cs typeface="IBM Plex Sans" pitchFamily="34" charset="-120"/>
              </a:rPr>
              <a:t>Module 1 · Lectures 1–7 · 7 contact hours</a:t>
            </a:r>
            <a:endParaRPr lang="en-US" sz="2000" dirty="0"/>
          </a:p>
        </p:txBody>
      </p:sp>
      <p:sp>
        <p:nvSpPr>
          <p:cNvPr id="6" name="Shape 4"/>
          <p:cNvSpPr/>
          <p:nvPr/>
        </p:nvSpPr>
        <p:spPr>
          <a:xfrm>
            <a:off x="815975" y="5723255"/>
            <a:ext cx="1172210" cy="318770"/>
          </a:xfrm>
          <a:prstGeom prst="roundRect">
            <a:avLst>
              <a:gd name="adj" fmla="val 50000"/>
            </a:avLst>
          </a:prstGeom>
          <a:noFill/>
          <a:ln w="6350">
            <a:solidFill>
              <a:srgbClr val="3A5476"/>
            </a:solidFill>
            <a:prstDash val="solid"/>
          </a:ln>
        </p:spPr>
        <p:txBody>
          <a:bodyPr/>
          <a:lstStyle/>
          <a:p>
            <a:endParaRPr lang="en-IN"/>
          </a:p>
        </p:txBody>
      </p:sp>
      <p:sp>
        <p:nvSpPr>
          <p:cNvPr id="7" name="Text 5"/>
          <p:cNvSpPr/>
          <p:nvPr/>
        </p:nvSpPr>
        <p:spPr>
          <a:xfrm>
            <a:off x="944880" y="5775960"/>
            <a:ext cx="9652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Semester V</a:t>
            </a:r>
            <a:endParaRPr lang="en-US" sz="1200" dirty="0"/>
          </a:p>
        </p:txBody>
      </p:sp>
      <p:sp>
        <p:nvSpPr>
          <p:cNvPr id="8" name="Shape 6"/>
          <p:cNvSpPr/>
          <p:nvPr/>
        </p:nvSpPr>
        <p:spPr>
          <a:xfrm>
            <a:off x="2096135" y="5723255"/>
            <a:ext cx="2360930" cy="318770"/>
          </a:xfrm>
          <a:prstGeom prst="roundRect">
            <a:avLst>
              <a:gd name="adj" fmla="val 50000"/>
            </a:avLst>
          </a:prstGeom>
          <a:noFill/>
          <a:ln w="6350">
            <a:solidFill>
              <a:srgbClr val="3A5476"/>
            </a:solidFill>
            <a:prstDash val="solid"/>
          </a:ln>
        </p:spPr>
        <p:txBody>
          <a:bodyPr/>
          <a:lstStyle/>
          <a:p>
            <a:endParaRPr lang="en-IN"/>
          </a:p>
        </p:txBody>
      </p:sp>
      <p:sp>
        <p:nvSpPr>
          <p:cNvPr id="9" name="Text 7"/>
          <p:cNvSpPr/>
          <p:nvPr/>
        </p:nvSpPr>
        <p:spPr>
          <a:xfrm>
            <a:off x="2225040" y="5775960"/>
            <a:ext cx="21662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Specialisation elective</a:t>
            </a:r>
            <a:endParaRPr lang="en-US" sz="1200" dirty="0"/>
          </a:p>
        </p:txBody>
      </p:sp>
      <p:sp>
        <p:nvSpPr>
          <p:cNvPr id="10" name="Shape 8"/>
          <p:cNvSpPr/>
          <p:nvPr/>
        </p:nvSpPr>
        <p:spPr>
          <a:xfrm>
            <a:off x="4565015" y="5723255"/>
            <a:ext cx="1263650" cy="318770"/>
          </a:xfrm>
          <a:prstGeom prst="roundRect">
            <a:avLst>
              <a:gd name="adj" fmla="val 50000"/>
            </a:avLst>
          </a:prstGeom>
          <a:noFill/>
          <a:ln w="6350">
            <a:solidFill>
              <a:srgbClr val="3A5476"/>
            </a:solidFill>
            <a:prstDash val="solid"/>
          </a:ln>
        </p:spPr>
        <p:txBody>
          <a:bodyPr/>
          <a:lstStyle/>
          <a:p>
            <a:endParaRPr lang="en-IN"/>
          </a:p>
        </p:txBody>
      </p:sp>
      <p:sp>
        <p:nvSpPr>
          <p:cNvPr id="11" name="Text 9"/>
          <p:cNvSpPr/>
          <p:nvPr/>
        </p:nvSpPr>
        <p:spPr>
          <a:xfrm>
            <a:off x="4693920" y="5775960"/>
            <a:ext cx="10566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L-T-P 2-0-2</a:t>
            </a:r>
            <a:endParaRPr lang="en-US" sz="1200" dirty="0"/>
          </a:p>
        </p:txBody>
      </p:sp>
      <p:sp>
        <p:nvSpPr>
          <p:cNvPr id="12" name="Shape 10"/>
          <p:cNvSpPr/>
          <p:nvPr/>
        </p:nvSpPr>
        <p:spPr>
          <a:xfrm>
            <a:off x="5936615" y="5723255"/>
            <a:ext cx="1080770" cy="318770"/>
          </a:xfrm>
          <a:prstGeom prst="roundRect">
            <a:avLst>
              <a:gd name="adj" fmla="val 50000"/>
            </a:avLst>
          </a:prstGeom>
          <a:noFill/>
          <a:ln w="6350">
            <a:solidFill>
              <a:srgbClr val="3A5476"/>
            </a:solidFill>
            <a:prstDash val="solid"/>
          </a:ln>
        </p:spPr>
        <p:txBody>
          <a:bodyPr/>
          <a:lstStyle/>
          <a:p>
            <a:endParaRPr lang="en-IN"/>
          </a:p>
        </p:txBody>
      </p:sp>
      <p:sp>
        <p:nvSpPr>
          <p:cNvPr id="13" name="Text 11"/>
          <p:cNvSpPr/>
          <p:nvPr/>
        </p:nvSpPr>
        <p:spPr>
          <a:xfrm>
            <a:off x="6065520" y="5775960"/>
            <a:ext cx="873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3 credits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MODULE 1 · ROADMAP</a:t>
            </a:r>
            <a:endParaRPr lang="en-US" sz="1200" dirty="0"/>
          </a:p>
        </p:txBody>
      </p:sp>
      <p:sp>
        <p:nvSpPr>
          <p:cNvPr id="3" name="Text 1"/>
          <p:cNvSpPr/>
          <p:nvPr/>
        </p:nvSpPr>
        <p:spPr>
          <a:xfrm>
            <a:off x="812800" y="112776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Module 1 at a glance</a:t>
            </a:r>
            <a:endParaRPr lang="en-US" sz="3200" dirty="0"/>
          </a:p>
        </p:txBody>
      </p:sp>
      <p:sp>
        <p:nvSpPr>
          <p:cNvPr id="4" name="Shape 2"/>
          <p:cNvSpPr/>
          <p:nvPr/>
        </p:nvSpPr>
        <p:spPr>
          <a:xfrm>
            <a:off x="812800" y="1831975"/>
            <a:ext cx="1016000" cy="0"/>
          </a:xfrm>
          <a:prstGeom prst="line">
            <a:avLst/>
          </a:prstGeom>
          <a:noFill/>
          <a:ln w="6350">
            <a:solidFill>
              <a:srgbClr val="DDD8CC"/>
            </a:solidFill>
            <a:prstDash val="solid"/>
          </a:ln>
        </p:spPr>
        <p:txBody>
          <a:bodyPr/>
          <a:lstStyle/>
          <a:p>
            <a:endParaRPr lang="en-IN"/>
          </a:p>
        </p:txBody>
      </p:sp>
      <p:sp>
        <p:nvSpPr>
          <p:cNvPr id="5" name="Text 3"/>
          <p:cNvSpPr/>
          <p:nvPr/>
        </p:nvSpPr>
        <p:spPr>
          <a:xfrm>
            <a:off x="812800" y="1922780"/>
            <a:ext cx="10668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L1</a:t>
            </a:r>
            <a:endParaRPr lang="en-US" sz="2000" dirty="0"/>
          </a:p>
        </p:txBody>
      </p:sp>
      <p:sp>
        <p:nvSpPr>
          <p:cNvPr id="6" name="Shape 4"/>
          <p:cNvSpPr/>
          <p:nvPr/>
        </p:nvSpPr>
        <p:spPr>
          <a:xfrm>
            <a:off x="1828800" y="1831975"/>
            <a:ext cx="3183414" cy="0"/>
          </a:xfrm>
          <a:prstGeom prst="line">
            <a:avLst/>
          </a:prstGeom>
          <a:noFill/>
          <a:ln w="6350">
            <a:solidFill>
              <a:srgbClr val="DDD8CC"/>
            </a:solidFill>
            <a:prstDash val="solid"/>
          </a:ln>
        </p:spPr>
        <p:txBody>
          <a:bodyPr/>
          <a:lstStyle/>
          <a:p>
            <a:endParaRPr lang="en-IN"/>
          </a:p>
        </p:txBody>
      </p:sp>
      <p:sp>
        <p:nvSpPr>
          <p:cNvPr id="7" name="Text 5"/>
          <p:cNvSpPr/>
          <p:nvPr/>
        </p:nvSpPr>
        <p:spPr>
          <a:xfrm>
            <a:off x="1828800" y="1948180"/>
            <a:ext cx="198708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Course and assessment</a:t>
            </a:r>
            <a:endParaRPr lang="en-US" sz="1400" dirty="0"/>
          </a:p>
        </p:txBody>
      </p:sp>
      <p:sp>
        <p:nvSpPr>
          <p:cNvPr id="8" name="Text 6"/>
          <p:cNvSpPr/>
          <p:nvPr/>
        </p:nvSpPr>
        <p:spPr>
          <a:xfrm>
            <a:off x="3834209" y="1973580"/>
            <a:ext cx="59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9" name="Shape 7"/>
          <p:cNvSpPr/>
          <p:nvPr/>
        </p:nvSpPr>
        <p:spPr>
          <a:xfrm>
            <a:off x="5012214" y="1831975"/>
            <a:ext cx="3183493" cy="0"/>
          </a:xfrm>
          <a:prstGeom prst="line">
            <a:avLst/>
          </a:prstGeom>
          <a:noFill/>
          <a:ln w="6350">
            <a:solidFill>
              <a:srgbClr val="DDD8CC"/>
            </a:solidFill>
            <a:prstDash val="solid"/>
          </a:ln>
        </p:spPr>
        <p:txBody>
          <a:bodyPr/>
          <a:lstStyle/>
          <a:p>
            <a:endParaRPr lang="en-IN"/>
          </a:p>
        </p:txBody>
      </p:sp>
      <p:sp>
        <p:nvSpPr>
          <p:cNvPr id="10" name="Text 8"/>
          <p:cNvSpPr/>
          <p:nvPr/>
        </p:nvSpPr>
        <p:spPr>
          <a:xfrm>
            <a:off x="5012214" y="1948180"/>
            <a:ext cx="136779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 automation</a:t>
            </a:r>
            <a:endParaRPr lang="en-US" sz="1400" dirty="0"/>
          </a:p>
        </p:txBody>
      </p:sp>
      <p:sp>
        <p:nvSpPr>
          <p:cNvPr id="11" name="Text 9"/>
          <p:cNvSpPr/>
          <p:nvPr/>
        </p:nvSpPr>
        <p:spPr>
          <a:xfrm>
            <a:off x="6405404" y="1973580"/>
            <a:ext cx="59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12" name="Shape 10"/>
          <p:cNvSpPr/>
          <p:nvPr/>
        </p:nvSpPr>
        <p:spPr>
          <a:xfrm>
            <a:off x="8195707" y="1831975"/>
            <a:ext cx="3183493" cy="0"/>
          </a:xfrm>
          <a:prstGeom prst="line">
            <a:avLst/>
          </a:prstGeom>
          <a:noFill/>
          <a:ln w="6350">
            <a:solidFill>
              <a:srgbClr val="DDD8CC"/>
            </a:solidFill>
            <a:prstDash val="solid"/>
          </a:ln>
        </p:spPr>
        <p:txBody>
          <a:bodyPr/>
          <a:lstStyle/>
          <a:p>
            <a:endParaRPr lang="en-IN"/>
          </a:p>
        </p:txBody>
      </p:sp>
      <p:sp>
        <p:nvSpPr>
          <p:cNvPr id="13" name="Shape 11"/>
          <p:cNvSpPr/>
          <p:nvPr/>
        </p:nvSpPr>
        <p:spPr>
          <a:xfrm>
            <a:off x="812800" y="2319655"/>
            <a:ext cx="1016000" cy="0"/>
          </a:xfrm>
          <a:prstGeom prst="line">
            <a:avLst/>
          </a:prstGeom>
          <a:noFill/>
          <a:ln w="6350">
            <a:solidFill>
              <a:srgbClr val="DDD8CC"/>
            </a:solidFill>
            <a:prstDash val="solid"/>
          </a:ln>
        </p:spPr>
        <p:txBody>
          <a:bodyPr/>
          <a:lstStyle/>
          <a:p>
            <a:endParaRPr lang="en-IN"/>
          </a:p>
        </p:txBody>
      </p:sp>
      <p:sp>
        <p:nvSpPr>
          <p:cNvPr id="14" name="Text 12"/>
          <p:cNvSpPr/>
          <p:nvPr/>
        </p:nvSpPr>
        <p:spPr>
          <a:xfrm>
            <a:off x="812800" y="2410460"/>
            <a:ext cx="10668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L2</a:t>
            </a:r>
            <a:endParaRPr lang="en-US" sz="2000" dirty="0"/>
          </a:p>
        </p:txBody>
      </p:sp>
      <p:sp>
        <p:nvSpPr>
          <p:cNvPr id="15" name="Shape 13"/>
          <p:cNvSpPr/>
          <p:nvPr/>
        </p:nvSpPr>
        <p:spPr>
          <a:xfrm>
            <a:off x="1828800" y="2319655"/>
            <a:ext cx="3183414" cy="0"/>
          </a:xfrm>
          <a:prstGeom prst="line">
            <a:avLst/>
          </a:prstGeom>
          <a:noFill/>
          <a:ln w="6350">
            <a:solidFill>
              <a:srgbClr val="DDD8CC"/>
            </a:solidFill>
            <a:prstDash val="solid"/>
          </a:ln>
        </p:spPr>
        <p:txBody>
          <a:bodyPr/>
          <a:lstStyle/>
          <a:p>
            <a:endParaRPr lang="en-IN"/>
          </a:p>
        </p:txBody>
      </p:sp>
      <p:sp>
        <p:nvSpPr>
          <p:cNvPr id="16" name="Text 14"/>
          <p:cNvSpPr/>
          <p:nvPr/>
        </p:nvSpPr>
        <p:spPr>
          <a:xfrm>
            <a:off x="1828800" y="2435860"/>
            <a:ext cx="187123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Automation in DevOps</a:t>
            </a:r>
            <a:endParaRPr lang="en-US" sz="1400" dirty="0"/>
          </a:p>
        </p:txBody>
      </p:sp>
      <p:sp>
        <p:nvSpPr>
          <p:cNvPr id="17" name="Text 15"/>
          <p:cNvSpPr/>
          <p:nvPr/>
        </p:nvSpPr>
        <p:spPr>
          <a:xfrm>
            <a:off x="3721735" y="2461260"/>
            <a:ext cx="59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18" name="Shape 16"/>
          <p:cNvSpPr/>
          <p:nvPr/>
        </p:nvSpPr>
        <p:spPr>
          <a:xfrm>
            <a:off x="5012214" y="2319655"/>
            <a:ext cx="3183493" cy="0"/>
          </a:xfrm>
          <a:prstGeom prst="line">
            <a:avLst/>
          </a:prstGeom>
          <a:noFill/>
          <a:ln w="6350">
            <a:solidFill>
              <a:srgbClr val="DDD8CC"/>
            </a:solidFill>
            <a:prstDash val="solid"/>
          </a:ln>
        </p:spPr>
        <p:txBody>
          <a:bodyPr/>
          <a:lstStyle/>
          <a:p>
            <a:endParaRPr lang="en-IN"/>
          </a:p>
        </p:txBody>
      </p:sp>
      <p:sp>
        <p:nvSpPr>
          <p:cNvPr id="19" name="Text 17"/>
          <p:cNvSpPr/>
          <p:nvPr/>
        </p:nvSpPr>
        <p:spPr>
          <a:xfrm>
            <a:off x="5012214" y="2435860"/>
            <a:ext cx="184335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Automation use cases</a:t>
            </a:r>
            <a:endParaRPr lang="en-US" sz="1400" dirty="0"/>
          </a:p>
        </p:txBody>
      </p:sp>
      <p:sp>
        <p:nvSpPr>
          <p:cNvPr id="20" name="Text 18"/>
          <p:cNvSpPr/>
          <p:nvPr/>
        </p:nvSpPr>
        <p:spPr>
          <a:xfrm>
            <a:off x="6878082" y="2461260"/>
            <a:ext cx="59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21" name="Shape 19"/>
          <p:cNvSpPr/>
          <p:nvPr/>
        </p:nvSpPr>
        <p:spPr>
          <a:xfrm>
            <a:off x="8195707" y="2319655"/>
            <a:ext cx="3183493" cy="0"/>
          </a:xfrm>
          <a:prstGeom prst="line">
            <a:avLst/>
          </a:prstGeom>
          <a:noFill/>
          <a:ln w="6350">
            <a:solidFill>
              <a:srgbClr val="DDD8CC"/>
            </a:solidFill>
            <a:prstDash val="solid"/>
          </a:ln>
        </p:spPr>
        <p:txBody>
          <a:bodyPr/>
          <a:lstStyle/>
          <a:p>
            <a:endParaRPr lang="en-IN"/>
          </a:p>
        </p:txBody>
      </p:sp>
      <p:sp>
        <p:nvSpPr>
          <p:cNvPr id="22" name="Shape 20"/>
          <p:cNvSpPr/>
          <p:nvPr/>
        </p:nvSpPr>
        <p:spPr>
          <a:xfrm>
            <a:off x="812800" y="2807335"/>
            <a:ext cx="1016000" cy="0"/>
          </a:xfrm>
          <a:prstGeom prst="line">
            <a:avLst/>
          </a:prstGeom>
          <a:noFill/>
          <a:ln w="6350">
            <a:solidFill>
              <a:srgbClr val="DDD8CC"/>
            </a:solidFill>
            <a:prstDash val="solid"/>
          </a:ln>
        </p:spPr>
        <p:txBody>
          <a:bodyPr/>
          <a:lstStyle/>
          <a:p>
            <a:endParaRPr lang="en-IN"/>
          </a:p>
        </p:txBody>
      </p:sp>
      <p:sp>
        <p:nvSpPr>
          <p:cNvPr id="23" name="Text 21"/>
          <p:cNvSpPr/>
          <p:nvPr/>
        </p:nvSpPr>
        <p:spPr>
          <a:xfrm>
            <a:off x="812800" y="2898140"/>
            <a:ext cx="10668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L3</a:t>
            </a:r>
            <a:endParaRPr lang="en-US" sz="2000" dirty="0"/>
          </a:p>
        </p:txBody>
      </p:sp>
      <p:sp>
        <p:nvSpPr>
          <p:cNvPr id="24" name="Shape 22"/>
          <p:cNvSpPr/>
          <p:nvPr/>
        </p:nvSpPr>
        <p:spPr>
          <a:xfrm>
            <a:off x="1828800" y="2807335"/>
            <a:ext cx="3183414" cy="0"/>
          </a:xfrm>
          <a:prstGeom prst="line">
            <a:avLst/>
          </a:prstGeom>
          <a:noFill/>
          <a:ln w="6350">
            <a:solidFill>
              <a:srgbClr val="DDD8CC"/>
            </a:solidFill>
            <a:prstDash val="solid"/>
          </a:ln>
        </p:spPr>
        <p:txBody>
          <a:bodyPr/>
          <a:lstStyle/>
          <a:p>
            <a:endParaRPr lang="en-IN"/>
          </a:p>
        </p:txBody>
      </p:sp>
      <p:sp>
        <p:nvSpPr>
          <p:cNvPr id="25" name="Text 23"/>
          <p:cNvSpPr/>
          <p:nvPr/>
        </p:nvSpPr>
        <p:spPr>
          <a:xfrm>
            <a:off x="1828800" y="2923540"/>
            <a:ext cx="186363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Automation manifesto</a:t>
            </a:r>
            <a:endParaRPr lang="en-US" sz="1400" dirty="0"/>
          </a:p>
        </p:txBody>
      </p:sp>
      <p:sp>
        <p:nvSpPr>
          <p:cNvPr id="26" name="Text 24"/>
          <p:cNvSpPr/>
          <p:nvPr/>
        </p:nvSpPr>
        <p:spPr>
          <a:xfrm>
            <a:off x="3714353" y="2948940"/>
            <a:ext cx="59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27" name="Shape 25"/>
          <p:cNvSpPr/>
          <p:nvPr/>
        </p:nvSpPr>
        <p:spPr>
          <a:xfrm>
            <a:off x="5012214" y="2807335"/>
            <a:ext cx="3183493" cy="0"/>
          </a:xfrm>
          <a:prstGeom prst="line">
            <a:avLst/>
          </a:prstGeom>
          <a:noFill/>
          <a:ln w="6350">
            <a:solidFill>
              <a:srgbClr val="DDD8CC"/>
            </a:solidFill>
            <a:prstDash val="solid"/>
          </a:ln>
        </p:spPr>
        <p:txBody>
          <a:bodyPr/>
          <a:lstStyle/>
          <a:p>
            <a:endParaRPr lang="en-IN"/>
          </a:p>
        </p:txBody>
      </p:sp>
      <p:sp>
        <p:nvSpPr>
          <p:cNvPr id="28" name="Text 26"/>
          <p:cNvSpPr/>
          <p:nvPr/>
        </p:nvSpPr>
        <p:spPr>
          <a:xfrm>
            <a:off x="5012214" y="2923540"/>
            <a:ext cx="205208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Principles, SDLC vs STLC</a:t>
            </a:r>
            <a:endParaRPr lang="en-US" sz="1400" dirty="0"/>
          </a:p>
        </p:txBody>
      </p:sp>
      <p:sp>
        <p:nvSpPr>
          <p:cNvPr id="29" name="Text 27"/>
          <p:cNvSpPr/>
          <p:nvPr/>
        </p:nvSpPr>
        <p:spPr>
          <a:xfrm>
            <a:off x="7080727" y="2948940"/>
            <a:ext cx="59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30" name="Shape 28"/>
          <p:cNvSpPr/>
          <p:nvPr/>
        </p:nvSpPr>
        <p:spPr>
          <a:xfrm>
            <a:off x="8195707" y="2807335"/>
            <a:ext cx="3183493" cy="0"/>
          </a:xfrm>
          <a:prstGeom prst="line">
            <a:avLst/>
          </a:prstGeom>
          <a:noFill/>
          <a:ln w="6350">
            <a:solidFill>
              <a:srgbClr val="DDD8CC"/>
            </a:solidFill>
            <a:prstDash val="solid"/>
          </a:ln>
        </p:spPr>
        <p:txBody>
          <a:bodyPr/>
          <a:lstStyle/>
          <a:p>
            <a:endParaRPr lang="en-IN"/>
          </a:p>
        </p:txBody>
      </p:sp>
      <p:sp>
        <p:nvSpPr>
          <p:cNvPr id="31" name="Shape 29"/>
          <p:cNvSpPr/>
          <p:nvPr/>
        </p:nvSpPr>
        <p:spPr>
          <a:xfrm>
            <a:off x="812800" y="3295015"/>
            <a:ext cx="1016000" cy="0"/>
          </a:xfrm>
          <a:prstGeom prst="line">
            <a:avLst/>
          </a:prstGeom>
          <a:noFill/>
          <a:ln w="6350">
            <a:solidFill>
              <a:srgbClr val="DDD8CC"/>
            </a:solidFill>
            <a:prstDash val="solid"/>
          </a:ln>
        </p:spPr>
        <p:txBody>
          <a:bodyPr/>
          <a:lstStyle/>
          <a:p>
            <a:endParaRPr lang="en-IN"/>
          </a:p>
        </p:txBody>
      </p:sp>
      <p:sp>
        <p:nvSpPr>
          <p:cNvPr id="32" name="Text 30"/>
          <p:cNvSpPr/>
          <p:nvPr/>
        </p:nvSpPr>
        <p:spPr>
          <a:xfrm>
            <a:off x="812800" y="3385820"/>
            <a:ext cx="10668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L4</a:t>
            </a:r>
            <a:endParaRPr lang="en-US" sz="2000" dirty="0"/>
          </a:p>
        </p:txBody>
      </p:sp>
      <p:sp>
        <p:nvSpPr>
          <p:cNvPr id="33" name="Shape 31"/>
          <p:cNvSpPr/>
          <p:nvPr/>
        </p:nvSpPr>
        <p:spPr>
          <a:xfrm>
            <a:off x="1828800" y="3295015"/>
            <a:ext cx="3183414" cy="0"/>
          </a:xfrm>
          <a:prstGeom prst="line">
            <a:avLst/>
          </a:prstGeom>
          <a:noFill/>
          <a:ln w="6350">
            <a:solidFill>
              <a:srgbClr val="DDD8CC"/>
            </a:solidFill>
            <a:prstDash val="solid"/>
          </a:ln>
        </p:spPr>
        <p:txBody>
          <a:bodyPr/>
          <a:lstStyle/>
          <a:p>
            <a:endParaRPr lang="en-IN"/>
          </a:p>
        </p:txBody>
      </p:sp>
      <p:sp>
        <p:nvSpPr>
          <p:cNvPr id="34" name="Text 32"/>
          <p:cNvSpPr/>
          <p:nvPr/>
        </p:nvSpPr>
        <p:spPr>
          <a:xfrm>
            <a:off x="1828800" y="3411220"/>
            <a:ext cx="139858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Testing life cycle</a:t>
            </a:r>
            <a:endParaRPr lang="en-US" sz="1400" dirty="0"/>
          </a:p>
        </p:txBody>
      </p:sp>
      <p:sp>
        <p:nvSpPr>
          <p:cNvPr id="35" name="Text 33"/>
          <p:cNvSpPr/>
          <p:nvPr/>
        </p:nvSpPr>
        <p:spPr>
          <a:xfrm>
            <a:off x="3252788" y="3436620"/>
            <a:ext cx="59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25 min</a:t>
            </a:r>
            <a:endParaRPr lang="en-US" sz="1200" dirty="0"/>
          </a:p>
        </p:txBody>
      </p:sp>
      <p:sp>
        <p:nvSpPr>
          <p:cNvPr id="36" name="Shape 34"/>
          <p:cNvSpPr/>
          <p:nvPr/>
        </p:nvSpPr>
        <p:spPr>
          <a:xfrm>
            <a:off x="5012214" y="3295015"/>
            <a:ext cx="3183493" cy="0"/>
          </a:xfrm>
          <a:prstGeom prst="line">
            <a:avLst/>
          </a:prstGeom>
          <a:noFill/>
          <a:ln w="6350">
            <a:solidFill>
              <a:srgbClr val="DDD8CC"/>
            </a:solidFill>
            <a:prstDash val="solid"/>
          </a:ln>
        </p:spPr>
        <p:txBody>
          <a:bodyPr/>
          <a:lstStyle/>
          <a:p>
            <a:endParaRPr lang="en-IN"/>
          </a:p>
        </p:txBody>
      </p:sp>
      <p:sp>
        <p:nvSpPr>
          <p:cNvPr id="37" name="Text 35"/>
          <p:cNvSpPr/>
          <p:nvPr/>
        </p:nvSpPr>
        <p:spPr>
          <a:xfrm>
            <a:off x="5012214" y="3411220"/>
            <a:ext cx="136667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Usability testing</a:t>
            </a:r>
            <a:endParaRPr lang="en-US" sz="1400" dirty="0"/>
          </a:p>
        </p:txBody>
      </p:sp>
      <p:sp>
        <p:nvSpPr>
          <p:cNvPr id="38" name="Text 36"/>
          <p:cNvSpPr/>
          <p:nvPr/>
        </p:nvSpPr>
        <p:spPr>
          <a:xfrm>
            <a:off x="6404292" y="3436620"/>
            <a:ext cx="59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15 min</a:t>
            </a:r>
            <a:endParaRPr lang="en-US" sz="1200" dirty="0"/>
          </a:p>
        </p:txBody>
      </p:sp>
      <p:sp>
        <p:nvSpPr>
          <p:cNvPr id="39" name="Shape 37"/>
          <p:cNvSpPr/>
          <p:nvPr/>
        </p:nvSpPr>
        <p:spPr>
          <a:xfrm>
            <a:off x="8195707" y="3295015"/>
            <a:ext cx="3183493" cy="0"/>
          </a:xfrm>
          <a:prstGeom prst="line">
            <a:avLst/>
          </a:prstGeom>
          <a:noFill/>
          <a:ln w="6350">
            <a:solidFill>
              <a:srgbClr val="DDD8CC"/>
            </a:solidFill>
            <a:prstDash val="solid"/>
          </a:ln>
        </p:spPr>
        <p:txBody>
          <a:bodyPr/>
          <a:lstStyle/>
          <a:p>
            <a:endParaRPr lang="en-IN"/>
          </a:p>
        </p:txBody>
      </p:sp>
      <p:sp>
        <p:nvSpPr>
          <p:cNvPr id="40" name="Shape 38"/>
          <p:cNvSpPr/>
          <p:nvPr/>
        </p:nvSpPr>
        <p:spPr>
          <a:xfrm>
            <a:off x="812800" y="3782695"/>
            <a:ext cx="1016000" cy="0"/>
          </a:xfrm>
          <a:prstGeom prst="line">
            <a:avLst/>
          </a:prstGeom>
          <a:noFill/>
          <a:ln w="6350">
            <a:solidFill>
              <a:srgbClr val="DDD8CC"/>
            </a:solidFill>
            <a:prstDash val="solid"/>
          </a:ln>
        </p:spPr>
        <p:txBody>
          <a:bodyPr/>
          <a:lstStyle/>
          <a:p>
            <a:endParaRPr lang="en-IN"/>
          </a:p>
        </p:txBody>
      </p:sp>
      <p:sp>
        <p:nvSpPr>
          <p:cNvPr id="41" name="Text 39"/>
          <p:cNvSpPr/>
          <p:nvPr/>
        </p:nvSpPr>
        <p:spPr>
          <a:xfrm>
            <a:off x="812800" y="3873500"/>
            <a:ext cx="10668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L5</a:t>
            </a:r>
            <a:endParaRPr lang="en-US" sz="2000" dirty="0"/>
          </a:p>
        </p:txBody>
      </p:sp>
      <p:sp>
        <p:nvSpPr>
          <p:cNvPr id="42" name="Shape 40"/>
          <p:cNvSpPr/>
          <p:nvPr/>
        </p:nvSpPr>
        <p:spPr>
          <a:xfrm>
            <a:off x="1828800" y="3782695"/>
            <a:ext cx="3183414" cy="0"/>
          </a:xfrm>
          <a:prstGeom prst="line">
            <a:avLst/>
          </a:prstGeom>
          <a:noFill/>
          <a:ln w="6350">
            <a:solidFill>
              <a:srgbClr val="DDD8CC"/>
            </a:solidFill>
            <a:prstDash val="solid"/>
          </a:ln>
        </p:spPr>
        <p:txBody>
          <a:bodyPr/>
          <a:lstStyle/>
          <a:p>
            <a:endParaRPr lang="en-IN"/>
          </a:p>
        </p:txBody>
      </p:sp>
      <p:sp>
        <p:nvSpPr>
          <p:cNvPr id="43" name="Text 41"/>
          <p:cNvSpPr/>
          <p:nvPr/>
        </p:nvSpPr>
        <p:spPr>
          <a:xfrm>
            <a:off x="1828800" y="3898900"/>
            <a:ext cx="150995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Functional testing</a:t>
            </a:r>
            <a:endParaRPr lang="en-US" sz="1400" dirty="0"/>
          </a:p>
        </p:txBody>
      </p:sp>
      <p:sp>
        <p:nvSpPr>
          <p:cNvPr id="44" name="Text 42"/>
          <p:cNvSpPr/>
          <p:nvPr/>
        </p:nvSpPr>
        <p:spPr>
          <a:xfrm>
            <a:off x="3364151" y="3924300"/>
            <a:ext cx="59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10 min</a:t>
            </a:r>
            <a:endParaRPr lang="en-US" sz="1200" dirty="0"/>
          </a:p>
        </p:txBody>
      </p:sp>
      <p:sp>
        <p:nvSpPr>
          <p:cNvPr id="45" name="Shape 43"/>
          <p:cNvSpPr/>
          <p:nvPr/>
        </p:nvSpPr>
        <p:spPr>
          <a:xfrm>
            <a:off x="5012214" y="3782695"/>
            <a:ext cx="3183493" cy="0"/>
          </a:xfrm>
          <a:prstGeom prst="line">
            <a:avLst/>
          </a:prstGeom>
          <a:noFill/>
          <a:ln w="6350">
            <a:solidFill>
              <a:srgbClr val="DDD8CC"/>
            </a:solidFill>
            <a:prstDash val="solid"/>
          </a:ln>
        </p:spPr>
        <p:txBody>
          <a:bodyPr/>
          <a:lstStyle/>
          <a:p>
            <a:endParaRPr lang="en-IN"/>
          </a:p>
        </p:txBody>
      </p:sp>
      <p:sp>
        <p:nvSpPr>
          <p:cNvPr id="46" name="Text 44"/>
          <p:cNvSpPr/>
          <p:nvPr/>
        </p:nvSpPr>
        <p:spPr>
          <a:xfrm>
            <a:off x="5012214" y="3898900"/>
            <a:ext cx="187875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Non-functional testing</a:t>
            </a:r>
            <a:endParaRPr lang="en-US" sz="1400" dirty="0"/>
          </a:p>
        </p:txBody>
      </p:sp>
      <p:sp>
        <p:nvSpPr>
          <p:cNvPr id="47" name="Text 45"/>
          <p:cNvSpPr/>
          <p:nvPr/>
        </p:nvSpPr>
        <p:spPr>
          <a:xfrm>
            <a:off x="6912452" y="3924300"/>
            <a:ext cx="59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10 min</a:t>
            </a:r>
            <a:endParaRPr lang="en-US" sz="1200" dirty="0"/>
          </a:p>
        </p:txBody>
      </p:sp>
      <p:sp>
        <p:nvSpPr>
          <p:cNvPr id="48" name="Shape 46"/>
          <p:cNvSpPr/>
          <p:nvPr/>
        </p:nvSpPr>
        <p:spPr>
          <a:xfrm>
            <a:off x="8195707" y="3782695"/>
            <a:ext cx="3183493" cy="0"/>
          </a:xfrm>
          <a:prstGeom prst="line">
            <a:avLst/>
          </a:prstGeom>
          <a:noFill/>
          <a:ln w="6350">
            <a:solidFill>
              <a:srgbClr val="DDD8CC"/>
            </a:solidFill>
            <a:prstDash val="solid"/>
          </a:ln>
        </p:spPr>
        <p:txBody>
          <a:bodyPr/>
          <a:lstStyle/>
          <a:p>
            <a:endParaRPr lang="en-IN"/>
          </a:p>
        </p:txBody>
      </p:sp>
      <p:sp>
        <p:nvSpPr>
          <p:cNvPr id="49" name="Text 47"/>
          <p:cNvSpPr/>
          <p:nvPr/>
        </p:nvSpPr>
        <p:spPr>
          <a:xfrm>
            <a:off x="8195707" y="3898900"/>
            <a:ext cx="158408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End-to-end testing</a:t>
            </a:r>
            <a:endParaRPr lang="en-US" sz="1400" dirty="0"/>
          </a:p>
        </p:txBody>
      </p:sp>
      <p:sp>
        <p:nvSpPr>
          <p:cNvPr id="50" name="Text 48"/>
          <p:cNvSpPr/>
          <p:nvPr/>
        </p:nvSpPr>
        <p:spPr>
          <a:xfrm>
            <a:off x="9805194" y="3924300"/>
            <a:ext cx="59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51" name="Shape 49"/>
          <p:cNvSpPr/>
          <p:nvPr/>
        </p:nvSpPr>
        <p:spPr>
          <a:xfrm>
            <a:off x="812800" y="4270375"/>
            <a:ext cx="1016000" cy="0"/>
          </a:xfrm>
          <a:prstGeom prst="line">
            <a:avLst/>
          </a:prstGeom>
          <a:noFill/>
          <a:ln w="6350">
            <a:solidFill>
              <a:srgbClr val="DDD8CC"/>
            </a:solidFill>
            <a:prstDash val="solid"/>
          </a:ln>
        </p:spPr>
        <p:txBody>
          <a:bodyPr/>
          <a:lstStyle/>
          <a:p>
            <a:endParaRPr lang="en-IN"/>
          </a:p>
        </p:txBody>
      </p:sp>
      <p:sp>
        <p:nvSpPr>
          <p:cNvPr id="52" name="Text 50"/>
          <p:cNvSpPr/>
          <p:nvPr/>
        </p:nvSpPr>
        <p:spPr>
          <a:xfrm>
            <a:off x="812800" y="4361180"/>
            <a:ext cx="10668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L6</a:t>
            </a:r>
            <a:endParaRPr lang="en-US" sz="2000" dirty="0"/>
          </a:p>
        </p:txBody>
      </p:sp>
      <p:sp>
        <p:nvSpPr>
          <p:cNvPr id="53" name="Shape 51"/>
          <p:cNvSpPr/>
          <p:nvPr/>
        </p:nvSpPr>
        <p:spPr>
          <a:xfrm>
            <a:off x="1828800" y="4270375"/>
            <a:ext cx="3183414" cy="0"/>
          </a:xfrm>
          <a:prstGeom prst="line">
            <a:avLst/>
          </a:prstGeom>
          <a:noFill/>
          <a:ln w="6350">
            <a:solidFill>
              <a:srgbClr val="DDD8CC"/>
            </a:solidFill>
            <a:prstDash val="solid"/>
          </a:ln>
        </p:spPr>
        <p:txBody>
          <a:bodyPr/>
          <a:lstStyle/>
          <a:p>
            <a:endParaRPr lang="en-IN"/>
          </a:p>
        </p:txBody>
      </p:sp>
      <p:sp>
        <p:nvSpPr>
          <p:cNvPr id="54" name="Text 52"/>
          <p:cNvSpPr/>
          <p:nvPr/>
        </p:nvSpPr>
        <p:spPr>
          <a:xfrm>
            <a:off x="1828800" y="4386580"/>
            <a:ext cx="174331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Compatibility testing</a:t>
            </a:r>
            <a:endParaRPr lang="en-US" sz="1400" dirty="0"/>
          </a:p>
        </p:txBody>
      </p:sp>
      <p:sp>
        <p:nvSpPr>
          <p:cNvPr id="55" name="Text 53"/>
          <p:cNvSpPr/>
          <p:nvPr/>
        </p:nvSpPr>
        <p:spPr>
          <a:xfrm>
            <a:off x="3597513" y="4411980"/>
            <a:ext cx="59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56" name="Shape 54"/>
          <p:cNvSpPr/>
          <p:nvPr/>
        </p:nvSpPr>
        <p:spPr>
          <a:xfrm>
            <a:off x="5012214" y="4270375"/>
            <a:ext cx="3183493" cy="0"/>
          </a:xfrm>
          <a:prstGeom prst="line">
            <a:avLst/>
          </a:prstGeom>
          <a:noFill/>
          <a:ln w="6350">
            <a:solidFill>
              <a:srgbClr val="DDD8CC"/>
            </a:solidFill>
            <a:prstDash val="solid"/>
          </a:ln>
        </p:spPr>
        <p:txBody>
          <a:bodyPr/>
          <a:lstStyle/>
          <a:p>
            <a:endParaRPr lang="en-IN"/>
          </a:p>
        </p:txBody>
      </p:sp>
      <p:sp>
        <p:nvSpPr>
          <p:cNvPr id="57" name="Text 55"/>
          <p:cNvSpPr/>
          <p:nvPr/>
        </p:nvSpPr>
        <p:spPr>
          <a:xfrm>
            <a:off x="5012214" y="4386580"/>
            <a:ext cx="97369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GUI testing</a:t>
            </a:r>
            <a:endParaRPr lang="en-US" sz="1400" dirty="0"/>
          </a:p>
        </p:txBody>
      </p:sp>
      <p:sp>
        <p:nvSpPr>
          <p:cNvPr id="58" name="Text 56"/>
          <p:cNvSpPr/>
          <p:nvPr/>
        </p:nvSpPr>
        <p:spPr>
          <a:xfrm>
            <a:off x="6011307" y="4411980"/>
            <a:ext cx="59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59" name="Shape 57"/>
          <p:cNvSpPr/>
          <p:nvPr/>
        </p:nvSpPr>
        <p:spPr>
          <a:xfrm>
            <a:off x="8195707" y="4270375"/>
            <a:ext cx="3183493" cy="0"/>
          </a:xfrm>
          <a:prstGeom prst="line">
            <a:avLst/>
          </a:prstGeom>
          <a:noFill/>
          <a:ln w="6350">
            <a:solidFill>
              <a:srgbClr val="DDD8CC"/>
            </a:solidFill>
            <a:prstDash val="solid"/>
          </a:ln>
        </p:spPr>
        <p:txBody>
          <a:bodyPr/>
          <a:lstStyle/>
          <a:p>
            <a:endParaRPr lang="en-IN"/>
          </a:p>
        </p:txBody>
      </p:sp>
      <p:sp>
        <p:nvSpPr>
          <p:cNvPr id="60" name="Shape 58"/>
          <p:cNvSpPr/>
          <p:nvPr/>
        </p:nvSpPr>
        <p:spPr>
          <a:xfrm>
            <a:off x="812800" y="4758055"/>
            <a:ext cx="1016000" cy="0"/>
          </a:xfrm>
          <a:prstGeom prst="line">
            <a:avLst/>
          </a:prstGeom>
          <a:noFill/>
          <a:ln w="6350">
            <a:solidFill>
              <a:srgbClr val="DDD8CC"/>
            </a:solidFill>
            <a:prstDash val="solid"/>
          </a:ln>
        </p:spPr>
        <p:txBody>
          <a:bodyPr/>
          <a:lstStyle/>
          <a:p>
            <a:endParaRPr lang="en-IN"/>
          </a:p>
        </p:txBody>
      </p:sp>
      <p:sp>
        <p:nvSpPr>
          <p:cNvPr id="61" name="Text 59"/>
          <p:cNvSpPr/>
          <p:nvPr/>
        </p:nvSpPr>
        <p:spPr>
          <a:xfrm>
            <a:off x="812800" y="4848860"/>
            <a:ext cx="10668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L7</a:t>
            </a:r>
            <a:endParaRPr lang="en-US" sz="2000" dirty="0"/>
          </a:p>
        </p:txBody>
      </p:sp>
      <p:sp>
        <p:nvSpPr>
          <p:cNvPr id="62" name="Shape 60"/>
          <p:cNvSpPr/>
          <p:nvPr/>
        </p:nvSpPr>
        <p:spPr>
          <a:xfrm>
            <a:off x="1828800" y="4758055"/>
            <a:ext cx="3183414" cy="0"/>
          </a:xfrm>
          <a:prstGeom prst="line">
            <a:avLst/>
          </a:prstGeom>
          <a:noFill/>
          <a:ln w="6350">
            <a:solidFill>
              <a:srgbClr val="DDD8CC"/>
            </a:solidFill>
            <a:prstDash val="solid"/>
          </a:ln>
        </p:spPr>
        <p:txBody>
          <a:bodyPr/>
          <a:lstStyle/>
          <a:p>
            <a:endParaRPr lang="en-IN"/>
          </a:p>
        </p:txBody>
      </p:sp>
      <p:sp>
        <p:nvSpPr>
          <p:cNvPr id="63" name="Text 61"/>
          <p:cNvSpPr/>
          <p:nvPr/>
        </p:nvSpPr>
        <p:spPr>
          <a:xfrm>
            <a:off x="1828800" y="4874260"/>
            <a:ext cx="95543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API testing</a:t>
            </a:r>
            <a:endParaRPr lang="en-US" sz="1400" dirty="0"/>
          </a:p>
        </p:txBody>
      </p:sp>
      <p:sp>
        <p:nvSpPr>
          <p:cNvPr id="64" name="Text 62"/>
          <p:cNvSpPr/>
          <p:nvPr/>
        </p:nvSpPr>
        <p:spPr>
          <a:xfrm>
            <a:off x="2809637" y="4899660"/>
            <a:ext cx="59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40 min</a:t>
            </a:r>
            <a:endParaRPr lang="en-US" sz="1200" dirty="0"/>
          </a:p>
        </p:txBody>
      </p:sp>
      <p:sp>
        <p:nvSpPr>
          <p:cNvPr id="65" name="Shape 63"/>
          <p:cNvSpPr/>
          <p:nvPr/>
        </p:nvSpPr>
        <p:spPr>
          <a:xfrm>
            <a:off x="5012214" y="4758055"/>
            <a:ext cx="3183493" cy="0"/>
          </a:xfrm>
          <a:prstGeom prst="line">
            <a:avLst/>
          </a:prstGeom>
          <a:noFill/>
          <a:ln w="6350">
            <a:solidFill>
              <a:srgbClr val="DDD8CC"/>
            </a:solidFill>
            <a:prstDash val="solid"/>
          </a:ln>
        </p:spPr>
        <p:txBody>
          <a:bodyPr/>
          <a:lstStyle/>
          <a:p>
            <a:endParaRPr lang="en-IN"/>
          </a:p>
        </p:txBody>
      </p:sp>
      <p:sp>
        <p:nvSpPr>
          <p:cNvPr id="66" name="Shape 64"/>
          <p:cNvSpPr/>
          <p:nvPr/>
        </p:nvSpPr>
        <p:spPr>
          <a:xfrm>
            <a:off x="8195707" y="4758055"/>
            <a:ext cx="3183493" cy="0"/>
          </a:xfrm>
          <a:prstGeom prst="line">
            <a:avLst/>
          </a:prstGeom>
          <a:noFill/>
          <a:ln w="6350">
            <a:solidFill>
              <a:srgbClr val="DDD8CC"/>
            </a:solidFill>
            <a:prstDash val="solid"/>
          </a:ln>
        </p:spPr>
        <p:txBody>
          <a:bodyPr/>
          <a:lstStyle/>
          <a:p>
            <a:endParaRPr lang="en-IN"/>
          </a:p>
        </p:txBody>
      </p:sp>
      <p:sp>
        <p:nvSpPr>
          <p:cNvPr id="67" name="Shape 65"/>
          <p:cNvSpPr/>
          <p:nvPr/>
        </p:nvSpPr>
        <p:spPr>
          <a:xfrm>
            <a:off x="812800" y="5245735"/>
            <a:ext cx="10566400" cy="0"/>
          </a:xfrm>
          <a:prstGeom prst="line">
            <a:avLst/>
          </a:prstGeom>
          <a:noFill/>
          <a:ln w="6350">
            <a:solidFill>
              <a:srgbClr val="DDD8CC"/>
            </a:solidFill>
            <a:prstDash val="solid"/>
          </a:ln>
        </p:spPr>
        <p:txBody>
          <a:bodyPr/>
          <a:lstStyle/>
          <a:p>
            <a:endParaRPr lang="en-IN"/>
          </a:p>
        </p:txBody>
      </p:sp>
      <p:sp>
        <p:nvSpPr>
          <p:cNvPr id="68" name="Text 66"/>
          <p:cNvSpPr/>
          <p:nvPr/>
        </p:nvSpPr>
        <p:spPr>
          <a:xfrm>
            <a:off x="812800" y="6238241"/>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69" name="Text 67"/>
          <p:cNvSpPr/>
          <p:nvPr/>
        </p:nvSpPr>
        <p:spPr>
          <a:xfrm>
            <a:off x="6578997" y="6238241"/>
            <a:ext cx="494420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Lecture 8: buffer and assessment · minutes from the lecture-wise plan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MODULE 1 · LEARNING OUTCOMES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Learning outcomes</a:t>
            </a:r>
            <a:endParaRPr lang="en-US" sz="3200" dirty="0"/>
          </a:p>
        </p:txBody>
      </p:sp>
      <p:sp>
        <p:nvSpPr>
          <p:cNvPr id="4" name="Shape 2"/>
          <p:cNvSpPr/>
          <p:nvPr/>
        </p:nvSpPr>
        <p:spPr>
          <a:xfrm>
            <a:off x="812800" y="1831975"/>
            <a:ext cx="10566400" cy="0"/>
          </a:xfrm>
          <a:prstGeom prst="line">
            <a:avLst/>
          </a:prstGeom>
          <a:noFill/>
          <a:ln w="6350">
            <a:solidFill>
              <a:srgbClr val="DDD8CC"/>
            </a:solidFill>
            <a:prstDash val="solid"/>
          </a:ln>
        </p:spPr>
        <p:txBody>
          <a:bodyPr/>
          <a:lstStyle/>
          <a:p>
            <a:endParaRPr lang="en-IN"/>
          </a:p>
        </p:txBody>
      </p:sp>
      <p:sp>
        <p:nvSpPr>
          <p:cNvPr id="5" name="Text 3"/>
          <p:cNvSpPr/>
          <p:nvPr/>
        </p:nvSpPr>
        <p:spPr>
          <a:xfrm>
            <a:off x="812800" y="1922780"/>
            <a:ext cx="5080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01</a:t>
            </a:r>
            <a:endParaRPr lang="en-US" sz="2000" dirty="0"/>
          </a:p>
        </p:txBody>
      </p:sp>
      <p:sp>
        <p:nvSpPr>
          <p:cNvPr id="6" name="Text 4"/>
          <p:cNvSpPr/>
          <p:nvPr/>
        </p:nvSpPr>
        <p:spPr>
          <a:xfrm>
            <a:off x="1473200" y="1950720"/>
            <a:ext cx="947587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Explain what test automation is, what it is good for, and where it falls short.</a:t>
            </a:r>
            <a:endParaRPr lang="en-US" sz="1400" dirty="0"/>
          </a:p>
        </p:txBody>
      </p:sp>
      <p:sp>
        <p:nvSpPr>
          <p:cNvPr id="7" name="Shape 5"/>
          <p:cNvSpPr/>
          <p:nvPr/>
        </p:nvSpPr>
        <p:spPr>
          <a:xfrm>
            <a:off x="10876280" y="1930400"/>
            <a:ext cx="502920" cy="289560"/>
          </a:xfrm>
          <a:prstGeom prst="roundRect">
            <a:avLst>
              <a:gd name="adj" fmla="val 50000"/>
            </a:avLst>
          </a:prstGeom>
          <a:solidFill>
            <a:srgbClr val="DCE7F3"/>
          </a:solidFill>
          <a:ln/>
        </p:spPr>
        <p:txBody>
          <a:bodyPr/>
          <a:lstStyle/>
          <a:p>
            <a:endParaRPr lang="en-IN"/>
          </a:p>
        </p:txBody>
      </p:sp>
      <p:sp>
        <p:nvSpPr>
          <p:cNvPr id="8" name="Text 6"/>
          <p:cNvSpPr/>
          <p:nvPr/>
        </p:nvSpPr>
        <p:spPr>
          <a:xfrm>
            <a:off x="10990580" y="1968500"/>
            <a:ext cx="3251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CO1</a:t>
            </a:r>
            <a:endParaRPr lang="en-US" sz="1200" dirty="0"/>
          </a:p>
        </p:txBody>
      </p:sp>
      <p:sp>
        <p:nvSpPr>
          <p:cNvPr id="9" name="Shape 7"/>
          <p:cNvSpPr/>
          <p:nvPr/>
        </p:nvSpPr>
        <p:spPr>
          <a:xfrm>
            <a:off x="812800" y="2319655"/>
            <a:ext cx="10566400" cy="0"/>
          </a:xfrm>
          <a:prstGeom prst="line">
            <a:avLst/>
          </a:prstGeom>
          <a:noFill/>
          <a:ln w="6350">
            <a:solidFill>
              <a:srgbClr val="DDD8CC"/>
            </a:solidFill>
            <a:prstDash val="solid"/>
          </a:ln>
        </p:spPr>
        <p:txBody>
          <a:bodyPr/>
          <a:lstStyle/>
          <a:p>
            <a:endParaRPr lang="en-IN"/>
          </a:p>
        </p:txBody>
      </p:sp>
      <p:sp>
        <p:nvSpPr>
          <p:cNvPr id="10" name="Text 8"/>
          <p:cNvSpPr/>
          <p:nvPr/>
        </p:nvSpPr>
        <p:spPr>
          <a:xfrm>
            <a:off x="812800" y="2410461"/>
            <a:ext cx="5080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02</a:t>
            </a:r>
            <a:endParaRPr lang="en-US" sz="2000" dirty="0"/>
          </a:p>
        </p:txBody>
      </p:sp>
      <p:sp>
        <p:nvSpPr>
          <p:cNvPr id="11" name="Text 9"/>
          <p:cNvSpPr/>
          <p:nvPr/>
        </p:nvSpPr>
        <p:spPr>
          <a:xfrm>
            <a:off x="1473200" y="2438400"/>
            <a:ext cx="947587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Describe how automated tests fit a DevOps pipeline, including shift-left and continuous testing.</a:t>
            </a:r>
            <a:endParaRPr lang="en-US" sz="1400" dirty="0"/>
          </a:p>
        </p:txBody>
      </p:sp>
      <p:sp>
        <p:nvSpPr>
          <p:cNvPr id="12" name="Shape 10"/>
          <p:cNvSpPr/>
          <p:nvPr/>
        </p:nvSpPr>
        <p:spPr>
          <a:xfrm>
            <a:off x="10876280" y="2418080"/>
            <a:ext cx="502920" cy="289560"/>
          </a:xfrm>
          <a:prstGeom prst="roundRect">
            <a:avLst>
              <a:gd name="adj" fmla="val 50000"/>
            </a:avLst>
          </a:prstGeom>
          <a:solidFill>
            <a:srgbClr val="DCE7F3"/>
          </a:solidFill>
          <a:ln/>
        </p:spPr>
        <p:txBody>
          <a:bodyPr/>
          <a:lstStyle/>
          <a:p>
            <a:endParaRPr lang="en-IN"/>
          </a:p>
        </p:txBody>
      </p:sp>
      <p:sp>
        <p:nvSpPr>
          <p:cNvPr id="13" name="Text 11"/>
          <p:cNvSpPr/>
          <p:nvPr/>
        </p:nvSpPr>
        <p:spPr>
          <a:xfrm>
            <a:off x="10990580" y="2456180"/>
            <a:ext cx="3251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CO1</a:t>
            </a:r>
            <a:endParaRPr lang="en-US" sz="1200" dirty="0"/>
          </a:p>
        </p:txBody>
      </p:sp>
      <p:sp>
        <p:nvSpPr>
          <p:cNvPr id="14" name="Shape 12"/>
          <p:cNvSpPr/>
          <p:nvPr/>
        </p:nvSpPr>
        <p:spPr>
          <a:xfrm>
            <a:off x="812800" y="2807336"/>
            <a:ext cx="10566400" cy="0"/>
          </a:xfrm>
          <a:prstGeom prst="line">
            <a:avLst/>
          </a:prstGeom>
          <a:noFill/>
          <a:ln w="6350">
            <a:solidFill>
              <a:srgbClr val="DDD8CC"/>
            </a:solidFill>
            <a:prstDash val="solid"/>
          </a:ln>
        </p:spPr>
        <p:txBody>
          <a:bodyPr/>
          <a:lstStyle/>
          <a:p>
            <a:endParaRPr lang="en-IN"/>
          </a:p>
        </p:txBody>
      </p:sp>
      <p:sp>
        <p:nvSpPr>
          <p:cNvPr id="15" name="Text 13"/>
          <p:cNvSpPr/>
          <p:nvPr/>
        </p:nvSpPr>
        <p:spPr>
          <a:xfrm>
            <a:off x="812800" y="2898141"/>
            <a:ext cx="5080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03</a:t>
            </a:r>
            <a:endParaRPr lang="en-US" sz="2000" dirty="0"/>
          </a:p>
        </p:txBody>
      </p:sp>
      <p:sp>
        <p:nvSpPr>
          <p:cNvPr id="16" name="Text 14"/>
          <p:cNvSpPr/>
          <p:nvPr/>
        </p:nvSpPr>
        <p:spPr>
          <a:xfrm>
            <a:off x="1473200" y="2926080"/>
            <a:ext cx="947587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Judge test quality with the Test Automation Manifesto and the seven testing principles.</a:t>
            </a:r>
            <a:endParaRPr lang="en-US" sz="1400" dirty="0"/>
          </a:p>
        </p:txBody>
      </p:sp>
      <p:sp>
        <p:nvSpPr>
          <p:cNvPr id="17" name="Shape 15"/>
          <p:cNvSpPr/>
          <p:nvPr/>
        </p:nvSpPr>
        <p:spPr>
          <a:xfrm>
            <a:off x="10876280" y="2905761"/>
            <a:ext cx="502920" cy="289560"/>
          </a:xfrm>
          <a:prstGeom prst="roundRect">
            <a:avLst>
              <a:gd name="adj" fmla="val 50000"/>
            </a:avLst>
          </a:prstGeom>
          <a:solidFill>
            <a:srgbClr val="DCE7F3"/>
          </a:solidFill>
          <a:ln/>
        </p:spPr>
        <p:txBody>
          <a:bodyPr/>
          <a:lstStyle/>
          <a:p>
            <a:endParaRPr lang="en-IN"/>
          </a:p>
        </p:txBody>
      </p:sp>
      <p:sp>
        <p:nvSpPr>
          <p:cNvPr id="18" name="Text 16"/>
          <p:cNvSpPr/>
          <p:nvPr/>
        </p:nvSpPr>
        <p:spPr>
          <a:xfrm>
            <a:off x="10990580" y="2943861"/>
            <a:ext cx="3251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CO1</a:t>
            </a:r>
            <a:endParaRPr lang="en-US" sz="1200" dirty="0"/>
          </a:p>
        </p:txBody>
      </p:sp>
      <p:sp>
        <p:nvSpPr>
          <p:cNvPr id="19" name="Shape 17"/>
          <p:cNvSpPr/>
          <p:nvPr/>
        </p:nvSpPr>
        <p:spPr>
          <a:xfrm>
            <a:off x="812800" y="3295016"/>
            <a:ext cx="10566400" cy="0"/>
          </a:xfrm>
          <a:prstGeom prst="line">
            <a:avLst/>
          </a:prstGeom>
          <a:noFill/>
          <a:ln w="6350">
            <a:solidFill>
              <a:srgbClr val="DDD8CC"/>
            </a:solidFill>
            <a:prstDash val="solid"/>
          </a:ln>
        </p:spPr>
        <p:txBody>
          <a:bodyPr/>
          <a:lstStyle/>
          <a:p>
            <a:endParaRPr lang="en-IN"/>
          </a:p>
        </p:txBody>
      </p:sp>
      <p:sp>
        <p:nvSpPr>
          <p:cNvPr id="20" name="Text 18"/>
          <p:cNvSpPr/>
          <p:nvPr/>
        </p:nvSpPr>
        <p:spPr>
          <a:xfrm>
            <a:off x="812800" y="3385820"/>
            <a:ext cx="5080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04</a:t>
            </a:r>
            <a:endParaRPr lang="en-US" sz="2000" dirty="0"/>
          </a:p>
        </p:txBody>
      </p:sp>
      <p:sp>
        <p:nvSpPr>
          <p:cNvPr id="21" name="Text 19"/>
          <p:cNvSpPr/>
          <p:nvPr/>
        </p:nvSpPr>
        <p:spPr>
          <a:xfrm>
            <a:off x="1473200" y="3413761"/>
            <a:ext cx="947587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Compare SDLC and STLC, and follow the STLC phases with their entry and exit criteria.</a:t>
            </a:r>
            <a:endParaRPr lang="en-US" sz="1400" dirty="0"/>
          </a:p>
        </p:txBody>
      </p:sp>
      <p:sp>
        <p:nvSpPr>
          <p:cNvPr id="22" name="Shape 20"/>
          <p:cNvSpPr/>
          <p:nvPr/>
        </p:nvSpPr>
        <p:spPr>
          <a:xfrm>
            <a:off x="10876280" y="3393441"/>
            <a:ext cx="502920" cy="289560"/>
          </a:xfrm>
          <a:prstGeom prst="roundRect">
            <a:avLst>
              <a:gd name="adj" fmla="val 50000"/>
            </a:avLst>
          </a:prstGeom>
          <a:solidFill>
            <a:srgbClr val="DCE7F3"/>
          </a:solidFill>
          <a:ln/>
        </p:spPr>
        <p:txBody>
          <a:bodyPr/>
          <a:lstStyle/>
          <a:p>
            <a:endParaRPr lang="en-IN"/>
          </a:p>
        </p:txBody>
      </p:sp>
      <p:sp>
        <p:nvSpPr>
          <p:cNvPr id="23" name="Text 21"/>
          <p:cNvSpPr/>
          <p:nvPr/>
        </p:nvSpPr>
        <p:spPr>
          <a:xfrm>
            <a:off x="10990580" y="3431541"/>
            <a:ext cx="3251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CO1</a:t>
            </a:r>
            <a:endParaRPr lang="en-US" sz="1200" dirty="0"/>
          </a:p>
        </p:txBody>
      </p:sp>
      <p:sp>
        <p:nvSpPr>
          <p:cNvPr id="24" name="Shape 22"/>
          <p:cNvSpPr/>
          <p:nvPr/>
        </p:nvSpPr>
        <p:spPr>
          <a:xfrm>
            <a:off x="812800" y="3782695"/>
            <a:ext cx="10566400" cy="0"/>
          </a:xfrm>
          <a:prstGeom prst="line">
            <a:avLst/>
          </a:prstGeom>
          <a:noFill/>
          <a:ln w="6350">
            <a:solidFill>
              <a:srgbClr val="DDD8CC"/>
            </a:solidFill>
            <a:prstDash val="solid"/>
          </a:ln>
        </p:spPr>
        <p:txBody>
          <a:bodyPr/>
          <a:lstStyle/>
          <a:p>
            <a:endParaRPr lang="en-IN"/>
          </a:p>
        </p:txBody>
      </p:sp>
      <p:sp>
        <p:nvSpPr>
          <p:cNvPr id="25" name="Text 23"/>
          <p:cNvSpPr/>
          <p:nvPr/>
        </p:nvSpPr>
        <p:spPr>
          <a:xfrm>
            <a:off x="812800" y="3873500"/>
            <a:ext cx="5080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05</a:t>
            </a:r>
            <a:endParaRPr lang="en-US" sz="2000" dirty="0"/>
          </a:p>
        </p:txBody>
      </p:sp>
      <p:sp>
        <p:nvSpPr>
          <p:cNvPr id="26" name="Text 24"/>
          <p:cNvSpPr/>
          <p:nvPr/>
        </p:nvSpPr>
        <p:spPr>
          <a:xfrm>
            <a:off x="1473200" y="3901441"/>
            <a:ext cx="947587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Pick the right test type and tool: usability, functional, non-functional, end-to-end, compatibility and GUI testing.</a:t>
            </a:r>
            <a:endParaRPr lang="en-US" sz="1400" dirty="0"/>
          </a:p>
        </p:txBody>
      </p:sp>
      <p:sp>
        <p:nvSpPr>
          <p:cNvPr id="27" name="Shape 25"/>
          <p:cNvSpPr/>
          <p:nvPr/>
        </p:nvSpPr>
        <p:spPr>
          <a:xfrm>
            <a:off x="10876280" y="3881120"/>
            <a:ext cx="502920" cy="289560"/>
          </a:xfrm>
          <a:prstGeom prst="roundRect">
            <a:avLst>
              <a:gd name="adj" fmla="val 50000"/>
            </a:avLst>
          </a:prstGeom>
          <a:solidFill>
            <a:srgbClr val="DCE7F3"/>
          </a:solidFill>
          <a:ln/>
        </p:spPr>
        <p:txBody>
          <a:bodyPr/>
          <a:lstStyle/>
          <a:p>
            <a:endParaRPr lang="en-IN"/>
          </a:p>
        </p:txBody>
      </p:sp>
      <p:sp>
        <p:nvSpPr>
          <p:cNvPr id="28" name="Text 26"/>
          <p:cNvSpPr/>
          <p:nvPr/>
        </p:nvSpPr>
        <p:spPr>
          <a:xfrm>
            <a:off x="10990580" y="3919220"/>
            <a:ext cx="3251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CO2</a:t>
            </a:r>
            <a:endParaRPr lang="en-US" sz="1200" dirty="0"/>
          </a:p>
        </p:txBody>
      </p:sp>
      <p:sp>
        <p:nvSpPr>
          <p:cNvPr id="29" name="Shape 27"/>
          <p:cNvSpPr/>
          <p:nvPr/>
        </p:nvSpPr>
        <p:spPr>
          <a:xfrm>
            <a:off x="812800" y="4270375"/>
            <a:ext cx="10566400" cy="0"/>
          </a:xfrm>
          <a:prstGeom prst="line">
            <a:avLst/>
          </a:prstGeom>
          <a:noFill/>
          <a:ln w="6350">
            <a:solidFill>
              <a:srgbClr val="DDD8CC"/>
            </a:solidFill>
            <a:prstDash val="solid"/>
          </a:ln>
        </p:spPr>
        <p:txBody>
          <a:bodyPr/>
          <a:lstStyle/>
          <a:p>
            <a:endParaRPr lang="en-IN"/>
          </a:p>
        </p:txBody>
      </p:sp>
      <p:sp>
        <p:nvSpPr>
          <p:cNvPr id="30" name="Shape 28"/>
          <p:cNvSpPr/>
          <p:nvPr/>
        </p:nvSpPr>
        <p:spPr>
          <a:xfrm>
            <a:off x="812800" y="4756785"/>
            <a:ext cx="10566400" cy="0"/>
          </a:xfrm>
          <a:prstGeom prst="line">
            <a:avLst/>
          </a:prstGeom>
          <a:noFill/>
          <a:ln w="6350">
            <a:solidFill>
              <a:srgbClr val="DDD8CC"/>
            </a:solidFill>
            <a:prstDash val="solid"/>
          </a:ln>
        </p:spPr>
        <p:txBody>
          <a:bodyPr/>
          <a:lstStyle/>
          <a:p>
            <a:endParaRPr lang="en-IN"/>
          </a:p>
        </p:txBody>
      </p:sp>
      <p:sp>
        <p:nvSpPr>
          <p:cNvPr id="31" name="Text 29"/>
          <p:cNvSpPr/>
          <p:nvPr/>
        </p:nvSpPr>
        <p:spPr>
          <a:xfrm>
            <a:off x="812800" y="4361180"/>
            <a:ext cx="5080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06</a:t>
            </a:r>
            <a:endParaRPr lang="en-US" sz="2000" dirty="0"/>
          </a:p>
        </p:txBody>
      </p:sp>
      <p:sp>
        <p:nvSpPr>
          <p:cNvPr id="32" name="Text 30"/>
          <p:cNvSpPr/>
          <p:nvPr/>
        </p:nvSpPr>
        <p:spPr>
          <a:xfrm>
            <a:off x="1473200" y="4389120"/>
            <a:ext cx="947587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Design API test cases and automate them with pytest, requests and Postman.</a:t>
            </a:r>
            <a:endParaRPr lang="en-US" sz="1400" dirty="0"/>
          </a:p>
        </p:txBody>
      </p:sp>
      <p:sp>
        <p:nvSpPr>
          <p:cNvPr id="33" name="Shape 31"/>
          <p:cNvSpPr/>
          <p:nvPr/>
        </p:nvSpPr>
        <p:spPr>
          <a:xfrm>
            <a:off x="10876280" y="4368800"/>
            <a:ext cx="502920" cy="289560"/>
          </a:xfrm>
          <a:prstGeom prst="roundRect">
            <a:avLst>
              <a:gd name="adj" fmla="val 50000"/>
            </a:avLst>
          </a:prstGeom>
          <a:solidFill>
            <a:srgbClr val="DCE7F3"/>
          </a:solidFill>
          <a:ln/>
        </p:spPr>
        <p:txBody>
          <a:bodyPr/>
          <a:lstStyle/>
          <a:p>
            <a:endParaRPr lang="en-IN"/>
          </a:p>
        </p:txBody>
      </p:sp>
      <p:sp>
        <p:nvSpPr>
          <p:cNvPr id="34" name="Text 32"/>
          <p:cNvSpPr/>
          <p:nvPr/>
        </p:nvSpPr>
        <p:spPr>
          <a:xfrm>
            <a:off x="10990580" y="4406900"/>
            <a:ext cx="3251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CO3</a:t>
            </a:r>
            <a:endParaRPr lang="en-US" sz="1200" dirty="0"/>
          </a:p>
        </p:txBody>
      </p:sp>
      <p:sp>
        <p:nvSpPr>
          <p:cNvPr id="35" name="Text 33"/>
          <p:cNvSpPr/>
          <p:nvPr/>
        </p:nvSpPr>
        <p:spPr>
          <a:xfrm>
            <a:off x="812800" y="6238241"/>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36" name="Text 34"/>
          <p:cNvSpPr/>
          <p:nvPr/>
        </p:nvSpPr>
        <p:spPr>
          <a:xfrm>
            <a:off x="6471285" y="6238241"/>
            <a:ext cx="50551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CO1 understand approaches · CO2 apply tools · CO3 evaluate in DevOps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MODULE 1 · RUNNING EXAMPLE</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Running example: the Canteen App</a:t>
            </a:r>
            <a:endParaRPr lang="en-US" sz="3200" dirty="0"/>
          </a:p>
        </p:txBody>
      </p:sp>
      <p:sp>
        <p:nvSpPr>
          <p:cNvPr id="4" name="Text 2"/>
          <p:cNvSpPr/>
          <p:nvPr/>
        </p:nvSpPr>
        <p:spPr>
          <a:xfrm>
            <a:off x="812800" y="1828800"/>
            <a:ext cx="91567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A campus food-ordering app. Modules 1 and 2 test the same six features, so each example builds on the one before.</a:t>
            </a:r>
            <a:endParaRPr lang="en-US" sz="1400" dirty="0"/>
          </a:p>
        </p:txBody>
      </p:sp>
      <p:sp>
        <p:nvSpPr>
          <p:cNvPr id="5" name="Shape 3"/>
          <p:cNvSpPr/>
          <p:nvPr/>
        </p:nvSpPr>
        <p:spPr>
          <a:xfrm>
            <a:off x="815975" y="2583816"/>
            <a:ext cx="3380264" cy="1446530"/>
          </a:xfrm>
          <a:prstGeom prst="roundRect">
            <a:avLst>
              <a:gd name="adj" fmla="val 5048"/>
            </a:avLst>
          </a:prstGeom>
          <a:solidFill>
            <a:srgbClr val="FCFBF7"/>
          </a:solidFill>
          <a:ln w="6350">
            <a:solidFill>
              <a:srgbClr val="DDD8CC"/>
            </a:solidFill>
            <a:prstDash val="solid"/>
          </a:ln>
        </p:spPr>
        <p:txBody>
          <a:bodyPr/>
          <a:lstStyle/>
          <a:p>
            <a:endParaRPr lang="en-IN"/>
          </a:p>
        </p:txBody>
      </p:sp>
      <p:sp>
        <p:nvSpPr>
          <p:cNvPr id="6" name="Text 4"/>
          <p:cNvSpPr/>
          <p:nvPr/>
        </p:nvSpPr>
        <p:spPr>
          <a:xfrm>
            <a:off x="1021080" y="2788920"/>
            <a:ext cx="305915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F1 · LOGIN</a:t>
            </a:r>
            <a:endParaRPr lang="en-US" sz="1200" dirty="0"/>
          </a:p>
        </p:txBody>
      </p:sp>
      <p:sp>
        <p:nvSpPr>
          <p:cNvPr id="7" name="Text 5"/>
          <p:cNvSpPr/>
          <p:nvPr/>
        </p:nvSpPr>
        <p:spPr>
          <a:xfrm>
            <a:off x="1021080" y="3078480"/>
            <a:ext cx="305915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University ID and password. The account locks after 3 failed attempts.</a:t>
            </a:r>
            <a:endParaRPr lang="en-US" sz="1400" dirty="0"/>
          </a:p>
        </p:txBody>
      </p:sp>
      <p:sp>
        <p:nvSpPr>
          <p:cNvPr id="8" name="Shape 6"/>
          <p:cNvSpPr/>
          <p:nvPr/>
        </p:nvSpPr>
        <p:spPr>
          <a:xfrm>
            <a:off x="4405789" y="2583816"/>
            <a:ext cx="3380343" cy="1446530"/>
          </a:xfrm>
          <a:prstGeom prst="roundRect">
            <a:avLst>
              <a:gd name="adj" fmla="val 5048"/>
            </a:avLst>
          </a:prstGeom>
          <a:solidFill>
            <a:srgbClr val="FCFBF7"/>
          </a:solidFill>
          <a:ln w="6350">
            <a:solidFill>
              <a:srgbClr val="DDD8CC"/>
            </a:solidFill>
            <a:prstDash val="solid"/>
          </a:ln>
        </p:spPr>
        <p:txBody>
          <a:bodyPr/>
          <a:lstStyle/>
          <a:p>
            <a:endParaRPr lang="en-IN"/>
          </a:p>
        </p:txBody>
      </p:sp>
      <p:sp>
        <p:nvSpPr>
          <p:cNvPr id="9" name="Text 7"/>
          <p:cNvSpPr/>
          <p:nvPr/>
        </p:nvSpPr>
        <p:spPr>
          <a:xfrm>
            <a:off x="4610894" y="2788920"/>
            <a:ext cx="305923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F2 · MENU</a:t>
            </a:r>
            <a:endParaRPr lang="en-US" sz="1200" dirty="0"/>
          </a:p>
        </p:txBody>
      </p:sp>
      <p:sp>
        <p:nvSpPr>
          <p:cNvPr id="10" name="Text 8"/>
          <p:cNvSpPr/>
          <p:nvPr/>
        </p:nvSpPr>
        <p:spPr>
          <a:xfrm>
            <a:off x="4610894" y="3078480"/>
            <a:ext cx="305923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Browse by category, search by name. Loads within 2 seconds at the lunch peak.</a:t>
            </a:r>
            <a:endParaRPr lang="en-US" sz="1400" dirty="0"/>
          </a:p>
        </p:txBody>
      </p:sp>
      <p:sp>
        <p:nvSpPr>
          <p:cNvPr id="11" name="Shape 9"/>
          <p:cNvSpPr/>
          <p:nvPr/>
        </p:nvSpPr>
        <p:spPr>
          <a:xfrm>
            <a:off x="7995682" y="2583816"/>
            <a:ext cx="3380343" cy="1446530"/>
          </a:xfrm>
          <a:prstGeom prst="roundRect">
            <a:avLst>
              <a:gd name="adj" fmla="val 5048"/>
            </a:avLst>
          </a:prstGeom>
          <a:solidFill>
            <a:srgbClr val="FCFBF7"/>
          </a:solidFill>
          <a:ln w="6350">
            <a:solidFill>
              <a:srgbClr val="DDD8CC"/>
            </a:solidFill>
            <a:prstDash val="solid"/>
          </a:ln>
        </p:spPr>
        <p:txBody>
          <a:bodyPr/>
          <a:lstStyle/>
          <a:p>
            <a:endParaRPr lang="en-IN"/>
          </a:p>
        </p:txBody>
      </p:sp>
      <p:sp>
        <p:nvSpPr>
          <p:cNvPr id="12" name="Text 10"/>
          <p:cNvSpPr/>
          <p:nvPr/>
        </p:nvSpPr>
        <p:spPr>
          <a:xfrm>
            <a:off x="8200787" y="2788920"/>
            <a:ext cx="305923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F3 · CART</a:t>
            </a:r>
            <a:endParaRPr lang="en-US" sz="1200" dirty="0"/>
          </a:p>
        </p:txBody>
      </p:sp>
      <p:sp>
        <p:nvSpPr>
          <p:cNvPr id="13" name="Text 11"/>
          <p:cNvSpPr/>
          <p:nvPr/>
        </p:nvSpPr>
        <p:spPr>
          <a:xfrm>
            <a:off x="8200787" y="3078480"/>
            <a:ext cx="305923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Add and remove items. Quantity per item is a whole number from 1 to 10.</a:t>
            </a:r>
            <a:endParaRPr lang="en-US" sz="1400" dirty="0"/>
          </a:p>
        </p:txBody>
      </p:sp>
      <p:sp>
        <p:nvSpPr>
          <p:cNvPr id="14" name="Shape 12"/>
          <p:cNvSpPr/>
          <p:nvPr/>
        </p:nvSpPr>
        <p:spPr>
          <a:xfrm>
            <a:off x="815975" y="4239895"/>
            <a:ext cx="3380264" cy="1446530"/>
          </a:xfrm>
          <a:prstGeom prst="roundRect">
            <a:avLst>
              <a:gd name="adj" fmla="val 5048"/>
            </a:avLst>
          </a:prstGeom>
          <a:solidFill>
            <a:srgbClr val="FCFBF7"/>
          </a:solidFill>
          <a:ln w="6350">
            <a:solidFill>
              <a:srgbClr val="DDD8CC"/>
            </a:solidFill>
            <a:prstDash val="solid"/>
          </a:ln>
        </p:spPr>
        <p:txBody>
          <a:bodyPr/>
          <a:lstStyle/>
          <a:p>
            <a:endParaRPr lang="en-IN"/>
          </a:p>
        </p:txBody>
      </p:sp>
      <p:sp>
        <p:nvSpPr>
          <p:cNvPr id="15" name="Text 13"/>
          <p:cNvSpPr/>
          <p:nvPr/>
        </p:nvSpPr>
        <p:spPr>
          <a:xfrm>
            <a:off x="1021080" y="4445000"/>
            <a:ext cx="305915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F4 · COUPON</a:t>
            </a:r>
            <a:endParaRPr lang="en-US" sz="1200" dirty="0"/>
          </a:p>
        </p:txBody>
      </p:sp>
      <p:sp>
        <p:nvSpPr>
          <p:cNvPr id="16" name="Text 14"/>
          <p:cNvSpPr/>
          <p:nvPr/>
        </p:nvSpPr>
        <p:spPr>
          <a:xfrm>
            <a:off x="1021080" y="4734561"/>
            <a:ext cx="3059155"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SAVE20 takes 20% off orders of ₹200 or more. The discount is capped at ₹100.</a:t>
            </a:r>
            <a:endParaRPr lang="en-US" sz="1400" dirty="0"/>
          </a:p>
        </p:txBody>
      </p:sp>
      <p:sp>
        <p:nvSpPr>
          <p:cNvPr id="17" name="Shape 15"/>
          <p:cNvSpPr/>
          <p:nvPr/>
        </p:nvSpPr>
        <p:spPr>
          <a:xfrm>
            <a:off x="4405789" y="4239895"/>
            <a:ext cx="3380343" cy="1446530"/>
          </a:xfrm>
          <a:prstGeom prst="roundRect">
            <a:avLst>
              <a:gd name="adj" fmla="val 5048"/>
            </a:avLst>
          </a:prstGeom>
          <a:solidFill>
            <a:srgbClr val="FCFBF7"/>
          </a:solidFill>
          <a:ln w="6350">
            <a:solidFill>
              <a:srgbClr val="DDD8CC"/>
            </a:solidFill>
            <a:prstDash val="solid"/>
          </a:ln>
        </p:spPr>
        <p:txBody>
          <a:bodyPr/>
          <a:lstStyle/>
          <a:p>
            <a:endParaRPr lang="en-IN"/>
          </a:p>
        </p:txBody>
      </p:sp>
      <p:sp>
        <p:nvSpPr>
          <p:cNvPr id="18" name="Text 16"/>
          <p:cNvSpPr/>
          <p:nvPr/>
        </p:nvSpPr>
        <p:spPr>
          <a:xfrm>
            <a:off x="4610894" y="4445000"/>
            <a:ext cx="305923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F5 · PAYMENT</a:t>
            </a:r>
            <a:endParaRPr lang="en-US" sz="1200" dirty="0"/>
          </a:p>
        </p:txBody>
      </p:sp>
      <p:sp>
        <p:nvSpPr>
          <p:cNvPr id="19" name="Text 17"/>
          <p:cNvSpPr/>
          <p:nvPr/>
        </p:nvSpPr>
        <p:spPr>
          <a:xfrm>
            <a:off x="4610894" y="4734561"/>
            <a:ext cx="305923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Campus wallet or UPI. A low wallet balance blocks the payment.</a:t>
            </a:r>
            <a:endParaRPr lang="en-US" sz="1400" dirty="0"/>
          </a:p>
        </p:txBody>
      </p:sp>
      <p:sp>
        <p:nvSpPr>
          <p:cNvPr id="20" name="Shape 18"/>
          <p:cNvSpPr/>
          <p:nvPr/>
        </p:nvSpPr>
        <p:spPr>
          <a:xfrm>
            <a:off x="7995682" y="4239895"/>
            <a:ext cx="3380343" cy="1446530"/>
          </a:xfrm>
          <a:prstGeom prst="roundRect">
            <a:avLst>
              <a:gd name="adj" fmla="val 5048"/>
            </a:avLst>
          </a:prstGeom>
          <a:solidFill>
            <a:srgbClr val="FCFBF7"/>
          </a:solidFill>
          <a:ln w="6350">
            <a:solidFill>
              <a:srgbClr val="DDD8CC"/>
            </a:solidFill>
            <a:prstDash val="solid"/>
          </a:ln>
        </p:spPr>
        <p:txBody>
          <a:bodyPr/>
          <a:lstStyle/>
          <a:p>
            <a:endParaRPr lang="en-IN"/>
          </a:p>
        </p:txBody>
      </p:sp>
      <p:sp>
        <p:nvSpPr>
          <p:cNvPr id="21" name="Text 19"/>
          <p:cNvSpPr/>
          <p:nvPr/>
        </p:nvSpPr>
        <p:spPr>
          <a:xfrm>
            <a:off x="8200787" y="4445000"/>
            <a:ext cx="305923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F6 · ORDER STATUS</a:t>
            </a:r>
            <a:endParaRPr lang="en-US" sz="1200" dirty="0"/>
          </a:p>
        </p:txBody>
      </p:sp>
      <p:sp>
        <p:nvSpPr>
          <p:cNvPr id="22" name="Text 20"/>
          <p:cNvSpPr/>
          <p:nvPr/>
        </p:nvSpPr>
        <p:spPr>
          <a:xfrm>
            <a:off x="8200787" y="4734561"/>
            <a:ext cx="305923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Placed, Preparing, Ready, Collected. Cancel only while the order is Placed.</a:t>
            </a:r>
            <a:endParaRPr lang="en-US" sz="1400" dirty="0"/>
          </a:p>
        </p:txBody>
      </p:sp>
      <p:sp>
        <p:nvSpPr>
          <p:cNvPr id="23" name="Text 21"/>
          <p:cNvSpPr/>
          <p:nvPr/>
        </p:nvSpPr>
        <p:spPr>
          <a:xfrm>
            <a:off x="812800" y="6238239"/>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4" name="Text 22"/>
          <p:cNvSpPr/>
          <p:nvPr/>
        </p:nvSpPr>
        <p:spPr>
          <a:xfrm>
            <a:off x="8520430" y="6238239"/>
            <a:ext cx="29445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Fictional app; rules simplified for teaching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marL="0" indent="0" algn="r">
              <a:lnSpc>
                <a:spcPts val="19000"/>
              </a:lnSpc>
              <a:buNone/>
            </a:pPr>
            <a:r>
              <a:rPr lang="en-US" sz="19000" b="1" kern="0" spc="-400" dirty="0">
                <a:solidFill>
                  <a:srgbClr val="000000">
                    <a:alpha val="0"/>
                  </a:srgbClr>
                </a:solidFill>
                <a:latin typeface="Space Grotesk" pitchFamily="34" charset="0"/>
                <a:ea typeface="Space Grotesk" pitchFamily="34" charset="-122"/>
                <a:cs typeface="Space Grotesk" pitchFamily="34" charset="-120"/>
              </a:rPr>
              <a:t>01</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36B"/>
                </a:solidFill>
                <a:latin typeface="JetBrains Mono" pitchFamily="34" charset="0"/>
                <a:ea typeface="JetBrains Mono" pitchFamily="34" charset="-122"/>
                <a:cs typeface="JetBrains Mono" pitchFamily="34" charset="-120"/>
              </a:rPr>
              <a:t>MODULE 1 · LECTURE 1 · 40 MINUTES</a:t>
            </a:r>
            <a:endParaRPr lang="en-US" sz="1200" dirty="0"/>
          </a:p>
        </p:txBody>
      </p:sp>
      <p:sp>
        <p:nvSpPr>
          <p:cNvPr id="4" name="Text 2"/>
          <p:cNvSpPr/>
          <p:nvPr/>
        </p:nvSpPr>
        <p:spPr>
          <a:xfrm>
            <a:off x="812800" y="3134361"/>
            <a:ext cx="10464800" cy="1518920"/>
          </a:xfrm>
          <a:prstGeom prst="rect">
            <a:avLst/>
          </a:prstGeom>
          <a:noFill/>
          <a:ln/>
        </p:spPr>
        <p:txBody>
          <a:bodyPr wrap="square" lIns="0" tIns="0" rIns="0" bIns="0" rtlCol="0" anchor="t">
            <a:normAutofit/>
          </a:bodyPr>
          <a:lstStyle/>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Course overview</a:t>
            </a:r>
            <a:endParaRPr lang="en-US" sz="5600" dirty="0"/>
          </a:p>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and test automation</a:t>
            </a:r>
            <a:endParaRPr lang="en-US" sz="5600" dirty="0"/>
          </a:p>
        </p:txBody>
      </p:sp>
      <p:sp>
        <p:nvSpPr>
          <p:cNvPr id="5" name="Shape 3"/>
          <p:cNvSpPr/>
          <p:nvPr/>
        </p:nvSpPr>
        <p:spPr>
          <a:xfrm>
            <a:off x="812800" y="4989832"/>
            <a:ext cx="2794000" cy="0"/>
          </a:xfrm>
          <a:prstGeom prst="line">
            <a:avLst/>
          </a:prstGeom>
          <a:noFill/>
          <a:ln w="12700">
            <a:solidFill>
              <a:srgbClr val="3A5476"/>
            </a:solidFill>
            <a:prstDash val="solid"/>
          </a:ln>
        </p:spPr>
        <p:txBody>
          <a:bodyPr/>
          <a:lstStyle/>
          <a:p>
            <a:endParaRPr lang="en-IN"/>
          </a:p>
        </p:txBody>
      </p:sp>
      <p:sp>
        <p:nvSpPr>
          <p:cNvPr id="6" name="Text 4"/>
          <p:cNvSpPr/>
          <p:nvPr/>
        </p:nvSpPr>
        <p:spPr>
          <a:xfrm>
            <a:off x="812800" y="5120639"/>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7" name="Text 5"/>
          <p:cNvSpPr/>
          <p:nvPr/>
        </p:nvSpPr>
        <p:spPr>
          <a:xfrm>
            <a:off x="812800" y="5384800"/>
            <a:ext cx="287782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Course structure and assessment</a:t>
            </a:r>
            <a:endParaRPr lang="en-US" sz="2000" dirty="0"/>
          </a:p>
        </p:txBody>
      </p:sp>
      <p:sp>
        <p:nvSpPr>
          <p:cNvPr id="8" name="Shape 6"/>
          <p:cNvSpPr/>
          <p:nvPr/>
        </p:nvSpPr>
        <p:spPr>
          <a:xfrm>
            <a:off x="3911600" y="4989832"/>
            <a:ext cx="2794000" cy="0"/>
          </a:xfrm>
          <a:prstGeom prst="line">
            <a:avLst/>
          </a:prstGeom>
          <a:noFill/>
          <a:ln w="12700">
            <a:solidFill>
              <a:srgbClr val="3A5476"/>
            </a:solidFill>
            <a:prstDash val="solid"/>
          </a:ln>
        </p:spPr>
        <p:txBody>
          <a:bodyPr/>
          <a:lstStyle/>
          <a:p>
            <a:endParaRPr lang="en-IN"/>
          </a:p>
        </p:txBody>
      </p:sp>
      <p:sp>
        <p:nvSpPr>
          <p:cNvPr id="9" name="Text 7"/>
          <p:cNvSpPr/>
          <p:nvPr/>
        </p:nvSpPr>
        <p:spPr>
          <a:xfrm>
            <a:off x="3911600" y="5120639"/>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10" name="Text 8"/>
          <p:cNvSpPr/>
          <p:nvPr/>
        </p:nvSpPr>
        <p:spPr>
          <a:xfrm>
            <a:off x="3911600" y="5384800"/>
            <a:ext cx="287782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Test automation</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L1 · COURSE STRUCTURE</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CSET454 at a glance</a:t>
            </a:r>
            <a:endParaRPr lang="en-US" sz="3200" dirty="0"/>
          </a:p>
        </p:txBody>
      </p:sp>
      <p:sp>
        <p:nvSpPr>
          <p:cNvPr id="4" name="Shape 2"/>
          <p:cNvSpPr/>
          <p:nvPr/>
        </p:nvSpPr>
        <p:spPr>
          <a:xfrm>
            <a:off x="815975" y="1831975"/>
            <a:ext cx="1949450" cy="1207770"/>
          </a:xfrm>
          <a:prstGeom prst="roundRect">
            <a:avLst>
              <a:gd name="adj" fmla="val 6046"/>
            </a:avLst>
          </a:prstGeom>
          <a:solidFill>
            <a:srgbClr val="FCFBF7"/>
          </a:solidFill>
          <a:ln w="6350">
            <a:solidFill>
              <a:srgbClr val="DDD8CC"/>
            </a:solidFill>
            <a:prstDash val="solid"/>
          </a:ln>
        </p:spPr>
        <p:txBody>
          <a:bodyPr/>
          <a:lstStyle/>
          <a:p>
            <a:endParaRPr lang="en-IN"/>
          </a:p>
        </p:txBody>
      </p:sp>
      <p:sp>
        <p:nvSpPr>
          <p:cNvPr id="5" name="Text 3"/>
          <p:cNvSpPr/>
          <p:nvPr/>
        </p:nvSpPr>
        <p:spPr>
          <a:xfrm>
            <a:off x="995680" y="1986282"/>
            <a:ext cx="164084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TYPE</a:t>
            </a:r>
            <a:endParaRPr lang="en-US" sz="1200" dirty="0"/>
          </a:p>
        </p:txBody>
      </p:sp>
      <p:sp>
        <p:nvSpPr>
          <p:cNvPr id="6" name="Text 4"/>
          <p:cNvSpPr/>
          <p:nvPr/>
        </p:nvSpPr>
        <p:spPr>
          <a:xfrm>
            <a:off x="995680" y="2250439"/>
            <a:ext cx="164084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Specialisation elective</a:t>
            </a:r>
            <a:endParaRPr lang="en-US" sz="1400" dirty="0"/>
          </a:p>
        </p:txBody>
      </p:sp>
      <p:sp>
        <p:nvSpPr>
          <p:cNvPr id="7" name="Shape 5"/>
          <p:cNvSpPr/>
          <p:nvPr/>
        </p:nvSpPr>
        <p:spPr>
          <a:xfrm>
            <a:off x="2924175" y="1831975"/>
            <a:ext cx="1949450" cy="1207770"/>
          </a:xfrm>
          <a:prstGeom prst="roundRect">
            <a:avLst>
              <a:gd name="adj" fmla="val 6046"/>
            </a:avLst>
          </a:prstGeom>
          <a:solidFill>
            <a:srgbClr val="FCFBF7"/>
          </a:solidFill>
          <a:ln w="6350">
            <a:solidFill>
              <a:srgbClr val="DDD8CC"/>
            </a:solidFill>
            <a:prstDash val="solid"/>
          </a:ln>
        </p:spPr>
        <p:txBody>
          <a:bodyPr/>
          <a:lstStyle/>
          <a:p>
            <a:endParaRPr lang="en-IN"/>
          </a:p>
        </p:txBody>
      </p:sp>
      <p:sp>
        <p:nvSpPr>
          <p:cNvPr id="8" name="Text 6"/>
          <p:cNvSpPr/>
          <p:nvPr/>
        </p:nvSpPr>
        <p:spPr>
          <a:xfrm>
            <a:off x="3103880" y="1986282"/>
            <a:ext cx="164084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WHEN</a:t>
            </a:r>
            <a:endParaRPr lang="en-US" sz="1200" dirty="0"/>
          </a:p>
        </p:txBody>
      </p:sp>
      <p:sp>
        <p:nvSpPr>
          <p:cNvPr id="9" name="Text 7"/>
          <p:cNvSpPr/>
          <p:nvPr/>
        </p:nvSpPr>
        <p:spPr>
          <a:xfrm>
            <a:off x="3103880" y="2250439"/>
            <a:ext cx="164084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Semester V, Year III</a:t>
            </a:r>
            <a:endParaRPr lang="en-US" sz="1400" dirty="0"/>
          </a:p>
        </p:txBody>
      </p:sp>
      <p:sp>
        <p:nvSpPr>
          <p:cNvPr id="10" name="Shape 8"/>
          <p:cNvSpPr/>
          <p:nvPr/>
        </p:nvSpPr>
        <p:spPr>
          <a:xfrm>
            <a:off x="815975" y="3198496"/>
            <a:ext cx="1949450" cy="1207770"/>
          </a:xfrm>
          <a:prstGeom prst="roundRect">
            <a:avLst>
              <a:gd name="adj" fmla="val 6046"/>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995680" y="3352800"/>
            <a:ext cx="164084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L-T-P</a:t>
            </a:r>
            <a:endParaRPr lang="en-US" sz="1200" dirty="0"/>
          </a:p>
        </p:txBody>
      </p:sp>
      <p:sp>
        <p:nvSpPr>
          <p:cNvPr id="12" name="Text 10"/>
          <p:cNvSpPr/>
          <p:nvPr/>
        </p:nvSpPr>
        <p:spPr>
          <a:xfrm>
            <a:off x="995680" y="3616961"/>
            <a:ext cx="164084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2-0-2: lectures and labs each week</a:t>
            </a:r>
            <a:endParaRPr lang="en-US" sz="1400" dirty="0"/>
          </a:p>
        </p:txBody>
      </p:sp>
      <p:sp>
        <p:nvSpPr>
          <p:cNvPr id="13" name="Shape 11"/>
          <p:cNvSpPr/>
          <p:nvPr/>
        </p:nvSpPr>
        <p:spPr>
          <a:xfrm>
            <a:off x="2924175" y="3198496"/>
            <a:ext cx="1949450" cy="1207770"/>
          </a:xfrm>
          <a:prstGeom prst="roundRect">
            <a:avLst>
              <a:gd name="adj" fmla="val 6046"/>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3103880" y="3352800"/>
            <a:ext cx="164084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CREDITS</a:t>
            </a:r>
            <a:endParaRPr lang="en-US" sz="1200" dirty="0"/>
          </a:p>
        </p:txBody>
      </p:sp>
      <p:sp>
        <p:nvSpPr>
          <p:cNvPr id="15" name="Text 13"/>
          <p:cNvSpPr/>
          <p:nvPr/>
        </p:nvSpPr>
        <p:spPr>
          <a:xfrm>
            <a:off x="3103880" y="3616961"/>
            <a:ext cx="164084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3</a:t>
            </a:r>
            <a:endParaRPr lang="en-US" sz="1400" dirty="0"/>
          </a:p>
        </p:txBody>
      </p:sp>
      <p:sp>
        <p:nvSpPr>
          <p:cNvPr id="16" name="Text 14"/>
          <p:cNvSpPr/>
          <p:nvPr/>
        </p:nvSpPr>
        <p:spPr>
          <a:xfrm>
            <a:off x="5181600" y="1828800"/>
            <a:ext cx="638352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E6977"/>
                </a:solidFill>
                <a:latin typeface="JetBrains Mono" pitchFamily="34" charset="0"/>
                <a:ea typeface="JetBrains Mono" pitchFamily="34" charset="-122"/>
                <a:cs typeface="JetBrains Mono" pitchFamily="34" charset="-120"/>
              </a:rPr>
              <a:t>COURSE SUMMARY</a:t>
            </a:r>
            <a:endParaRPr lang="en-US" sz="1200" dirty="0"/>
          </a:p>
        </p:txBody>
      </p:sp>
      <p:sp>
        <p:nvSpPr>
          <p:cNvPr id="17" name="Text 15"/>
          <p:cNvSpPr/>
          <p:nvPr/>
        </p:nvSpPr>
        <p:spPr>
          <a:xfrm>
            <a:off x="5181600" y="2118361"/>
            <a:ext cx="638352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Create and run test cases on software builds in an integrated, automated way, so testing keeps pace at scale.</a:t>
            </a:r>
            <a:endParaRPr lang="en-US" sz="1400" dirty="0"/>
          </a:p>
        </p:txBody>
      </p:sp>
      <p:sp>
        <p:nvSpPr>
          <p:cNvPr id="18" name="Text 16"/>
          <p:cNvSpPr/>
          <p:nvPr/>
        </p:nvSpPr>
        <p:spPr>
          <a:xfrm>
            <a:off x="5181600" y="2819400"/>
            <a:ext cx="638352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E6977"/>
                </a:solidFill>
                <a:latin typeface="JetBrains Mono" pitchFamily="34" charset="0"/>
                <a:ea typeface="JetBrains Mono" pitchFamily="34" charset="-122"/>
                <a:cs typeface="JetBrains Mono" pitchFamily="34" charset="-120"/>
              </a:rPr>
              <a:t>COURSE OUTCOMES</a:t>
            </a:r>
            <a:endParaRPr lang="en-US" sz="1200" dirty="0"/>
          </a:p>
        </p:txBody>
      </p:sp>
      <p:sp>
        <p:nvSpPr>
          <p:cNvPr id="19" name="Shape 17"/>
          <p:cNvSpPr/>
          <p:nvPr/>
        </p:nvSpPr>
        <p:spPr>
          <a:xfrm>
            <a:off x="5181600" y="3112136"/>
            <a:ext cx="6197600" cy="0"/>
          </a:xfrm>
          <a:prstGeom prst="line">
            <a:avLst/>
          </a:prstGeom>
          <a:noFill/>
          <a:ln w="6350">
            <a:solidFill>
              <a:srgbClr val="DDD8CC"/>
            </a:solidFill>
            <a:prstDash val="solid"/>
          </a:ln>
        </p:spPr>
        <p:txBody>
          <a:bodyPr/>
          <a:lstStyle/>
          <a:p>
            <a:endParaRPr lang="en-IN"/>
          </a:p>
        </p:txBody>
      </p:sp>
      <p:sp>
        <p:nvSpPr>
          <p:cNvPr id="20" name="Text 18"/>
          <p:cNvSpPr/>
          <p:nvPr/>
        </p:nvSpPr>
        <p:spPr>
          <a:xfrm>
            <a:off x="5181600" y="3228339"/>
            <a:ext cx="5080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CO1</a:t>
            </a:r>
            <a:endParaRPr lang="en-US" sz="1200" dirty="0"/>
          </a:p>
        </p:txBody>
      </p:sp>
      <p:sp>
        <p:nvSpPr>
          <p:cNvPr id="21" name="Text 19"/>
          <p:cNvSpPr/>
          <p:nvPr/>
        </p:nvSpPr>
        <p:spPr>
          <a:xfrm>
            <a:off x="5791200" y="3202939"/>
            <a:ext cx="575564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Understand the various testing approaches</a:t>
            </a:r>
            <a:endParaRPr lang="en-US" sz="1400" dirty="0"/>
          </a:p>
        </p:txBody>
      </p:sp>
      <p:sp>
        <p:nvSpPr>
          <p:cNvPr id="22" name="Shape 20"/>
          <p:cNvSpPr/>
          <p:nvPr/>
        </p:nvSpPr>
        <p:spPr>
          <a:xfrm>
            <a:off x="5181600" y="3543936"/>
            <a:ext cx="6197600" cy="0"/>
          </a:xfrm>
          <a:prstGeom prst="line">
            <a:avLst/>
          </a:prstGeom>
          <a:noFill/>
          <a:ln w="6350">
            <a:solidFill>
              <a:srgbClr val="DDD8CC"/>
            </a:solidFill>
            <a:prstDash val="solid"/>
          </a:ln>
        </p:spPr>
        <p:txBody>
          <a:bodyPr/>
          <a:lstStyle/>
          <a:p>
            <a:endParaRPr lang="en-IN"/>
          </a:p>
        </p:txBody>
      </p:sp>
      <p:sp>
        <p:nvSpPr>
          <p:cNvPr id="23" name="Text 21"/>
          <p:cNvSpPr/>
          <p:nvPr/>
        </p:nvSpPr>
        <p:spPr>
          <a:xfrm>
            <a:off x="5181600" y="3660139"/>
            <a:ext cx="5080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CO2</a:t>
            </a:r>
            <a:endParaRPr lang="en-US" sz="1200" dirty="0"/>
          </a:p>
        </p:txBody>
      </p:sp>
      <p:sp>
        <p:nvSpPr>
          <p:cNvPr id="24" name="Text 22"/>
          <p:cNvSpPr/>
          <p:nvPr/>
        </p:nvSpPr>
        <p:spPr>
          <a:xfrm>
            <a:off x="5791200" y="3634739"/>
            <a:ext cx="575564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Apply automation testing technologies through tools</a:t>
            </a:r>
            <a:endParaRPr lang="en-US" sz="1400" dirty="0"/>
          </a:p>
        </p:txBody>
      </p:sp>
      <p:sp>
        <p:nvSpPr>
          <p:cNvPr id="25" name="Shape 23"/>
          <p:cNvSpPr/>
          <p:nvPr/>
        </p:nvSpPr>
        <p:spPr>
          <a:xfrm>
            <a:off x="5181600" y="3975736"/>
            <a:ext cx="6197600" cy="0"/>
          </a:xfrm>
          <a:prstGeom prst="line">
            <a:avLst/>
          </a:prstGeom>
          <a:noFill/>
          <a:ln w="6350">
            <a:solidFill>
              <a:srgbClr val="DDD8CC"/>
            </a:solidFill>
            <a:prstDash val="solid"/>
          </a:ln>
        </p:spPr>
        <p:txBody>
          <a:bodyPr/>
          <a:lstStyle/>
          <a:p>
            <a:endParaRPr lang="en-IN"/>
          </a:p>
        </p:txBody>
      </p:sp>
      <p:sp>
        <p:nvSpPr>
          <p:cNvPr id="26" name="Shape 24"/>
          <p:cNvSpPr/>
          <p:nvPr/>
        </p:nvSpPr>
        <p:spPr>
          <a:xfrm>
            <a:off x="5181600" y="4406266"/>
            <a:ext cx="6197600" cy="0"/>
          </a:xfrm>
          <a:prstGeom prst="line">
            <a:avLst/>
          </a:prstGeom>
          <a:noFill/>
          <a:ln w="6350">
            <a:solidFill>
              <a:srgbClr val="DDD8CC"/>
            </a:solidFill>
            <a:prstDash val="solid"/>
          </a:ln>
        </p:spPr>
        <p:txBody>
          <a:bodyPr/>
          <a:lstStyle/>
          <a:p>
            <a:endParaRPr lang="en-IN"/>
          </a:p>
        </p:txBody>
      </p:sp>
      <p:sp>
        <p:nvSpPr>
          <p:cNvPr id="27" name="Text 25"/>
          <p:cNvSpPr/>
          <p:nvPr/>
        </p:nvSpPr>
        <p:spPr>
          <a:xfrm>
            <a:off x="5181600" y="4091939"/>
            <a:ext cx="5080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CO3</a:t>
            </a:r>
            <a:endParaRPr lang="en-US" sz="1200" dirty="0"/>
          </a:p>
        </p:txBody>
      </p:sp>
      <p:sp>
        <p:nvSpPr>
          <p:cNvPr id="28" name="Text 26"/>
          <p:cNvSpPr/>
          <p:nvPr/>
        </p:nvSpPr>
        <p:spPr>
          <a:xfrm>
            <a:off x="5791200" y="4066539"/>
            <a:ext cx="575564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 and evaluate automation test cases in DevOps environments</a:t>
            </a:r>
            <a:endParaRPr lang="en-US" sz="1400" dirty="0"/>
          </a:p>
        </p:txBody>
      </p:sp>
      <p:sp>
        <p:nvSpPr>
          <p:cNvPr id="29" name="Text 27"/>
          <p:cNvSpPr/>
          <p:nvPr/>
        </p:nvSpPr>
        <p:spPr>
          <a:xfrm>
            <a:off x="812800" y="6238239"/>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30" name="Text 28"/>
          <p:cNvSpPr/>
          <p:nvPr/>
        </p:nvSpPr>
        <p:spPr>
          <a:xfrm>
            <a:off x="8992553" y="6238239"/>
            <a:ext cx="245824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From the CSET454 course handout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L1 · COURSE STRUCTURE</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Four modules, 24 contact hours</a:t>
            </a:r>
            <a:endParaRPr lang="en-US" sz="3200" dirty="0"/>
          </a:p>
        </p:txBody>
      </p:sp>
      <p:sp>
        <p:nvSpPr>
          <p:cNvPr id="4" name="Shape 2"/>
          <p:cNvSpPr/>
          <p:nvPr/>
        </p:nvSpPr>
        <p:spPr>
          <a:xfrm>
            <a:off x="812800" y="1828800"/>
            <a:ext cx="2519680" cy="2524760"/>
          </a:xfrm>
          <a:prstGeom prst="roundRect">
            <a:avLst>
              <a:gd name="adj" fmla="val 3024"/>
            </a:avLst>
          </a:prstGeom>
          <a:solidFill>
            <a:srgbClr val="13233A"/>
          </a:solidFill>
          <a:ln/>
        </p:spPr>
        <p:txBody>
          <a:bodyPr/>
          <a:lstStyle/>
          <a:p>
            <a:endParaRPr lang="en-IN"/>
          </a:p>
        </p:txBody>
      </p:sp>
      <p:sp>
        <p:nvSpPr>
          <p:cNvPr id="5" name="Text 3"/>
          <p:cNvSpPr/>
          <p:nvPr/>
        </p:nvSpPr>
        <p:spPr>
          <a:xfrm>
            <a:off x="1016000" y="2032000"/>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36B"/>
                </a:solidFill>
                <a:latin typeface="JetBrains Mono" pitchFamily="34" charset="0"/>
                <a:ea typeface="JetBrains Mono" pitchFamily="34" charset="-122"/>
                <a:cs typeface="JetBrains Mono" pitchFamily="34" charset="-120"/>
              </a:rPr>
              <a:t>M1 · 7 HOURS · NOW</a:t>
            </a:r>
            <a:endParaRPr lang="en-US" sz="1200" dirty="0"/>
          </a:p>
        </p:txBody>
      </p:sp>
      <p:sp>
        <p:nvSpPr>
          <p:cNvPr id="6" name="Text 4"/>
          <p:cNvSpPr/>
          <p:nvPr/>
        </p:nvSpPr>
        <p:spPr>
          <a:xfrm>
            <a:off x="1016000" y="2321561"/>
            <a:ext cx="2176679"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Test automation manifesto and testing</a:t>
            </a:r>
            <a:endParaRPr lang="en-US" sz="1400" dirty="0"/>
          </a:p>
        </p:txBody>
      </p:sp>
      <p:sp>
        <p:nvSpPr>
          <p:cNvPr id="7" name="Text 5"/>
          <p:cNvSpPr/>
          <p:nvPr/>
        </p:nvSpPr>
        <p:spPr>
          <a:xfrm>
            <a:off x="1016000" y="2860039"/>
            <a:ext cx="2176679" cy="10922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FDB"/>
                </a:solidFill>
                <a:latin typeface="IBM Plex Sans" pitchFamily="34" charset="0"/>
                <a:ea typeface="IBM Plex Sans" pitchFamily="34" charset="-122"/>
                <a:cs typeface="IBM Plex Sans" pitchFamily="34" charset="-120"/>
              </a:rPr>
              <a:t>Principles, SDLC vs STLC, testing life cycle, usability, functional, non-functional, end-to-end, compatibility, GUI and API testing</a:t>
            </a:r>
            <a:endParaRPr lang="en-US" sz="1200" dirty="0"/>
          </a:p>
        </p:txBody>
      </p:sp>
      <p:sp>
        <p:nvSpPr>
          <p:cNvPr id="8" name="Shape 6"/>
          <p:cNvSpPr/>
          <p:nvPr/>
        </p:nvSpPr>
        <p:spPr>
          <a:xfrm>
            <a:off x="3488055" y="1831975"/>
            <a:ext cx="2523490" cy="2518410"/>
          </a:xfrm>
          <a:prstGeom prst="roundRect">
            <a:avLst>
              <a:gd name="adj" fmla="val 2900"/>
            </a:avLst>
          </a:prstGeom>
          <a:solidFill>
            <a:srgbClr val="FCFBF7"/>
          </a:solidFill>
          <a:ln w="6350">
            <a:solidFill>
              <a:srgbClr val="DDD8CC"/>
            </a:solidFill>
            <a:prstDash val="solid"/>
          </a:ln>
        </p:spPr>
        <p:txBody>
          <a:bodyPr/>
          <a:lstStyle/>
          <a:p>
            <a:endParaRPr lang="en-IN"/>
          </a:p>
        </p:txBody>
      </p:sp>
      <p:sp>
        <p:nvSpPr>
          <p:cNvPr id="9" name="Text 7"/>
          <p:cNvSpPr/>
          <p:nvPr/>
        </p:nvSpPr>
        <p:spPr>
          <a:xfrm>
            <a:off x="3693160" y="2037082"/>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M2 · 5 HOURS</a:t>
            </a:r>
            <a:endParaRPr lang="en-US" sz="1200" dirty="0"/>
          </a:p>
        </p:txBody>
      </p:sp>
      <p:sp>
        <p:nvSpPr>
          <p:cNvPr id="10" name="Text 8"/>
          <p:cNvSpPr/>
          <p:nvPr/>
        </p:nvSpPr>
        <p:spPr>
          <a:xfrm>
            <a:off x="3693160" y="2326639"/>
            <a:ext cx="2176679"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Testing approaches and test case design</a:t>
            </a:r>
            <a:endParaRPr lang="en-US" sz="1400" dirty="0"/>
          </a:p>
        </p:txBody>
      </p:sp>
      <p:sp>
        <p:nvSpPr>
          <p:cNvPr id="11" name="Text 9"/>
          <p:cNvSpPr/>
          <p:nvPr/>
        </p:nvSpPr>
        <p:spPr>
          <a:xfrm>
            <a:off x="3693160" y="2865121"/>
            <a:ext cx="2176679" cy="13055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Manual and automated; unit, integration, system, acceptance, smoke–sanity and regression testing; scenarios, test cases, test basis, traceability</a:t>
            </a:r>
            <a:endParaRPr lang="en-US" sz="1200" dirty="0"/>
          </a:p>
        </p:txBody>
      </p:sp>
      <p:sp>
        <p:nvSpPr>
          <p:cNvPr id="12" name="Shape 10"/>
          <p:cNvSpPr/>
          <p:nvPr/>
        </p:nvSpPr>
        <p:spPr>
          <a:xfrm>
            <a:off x="6170295" y="1831975"/>
            <a:ext cx="2523490" cy="2518410"/>
          </a:xfrm>
          <a:prstGeom prst="roundRect">
            <a:avLst>
              <a:gd name="adj" fmla="val 2900"/>
            </a:avLst>
          </a:prstGeom>
          <a:solidFill>
            <a:srgbClr val="FCFBF7"/>
          </a:solidFill>
          <a:ln w="6350">
            <a:solidFill>
              <a:srgbClr val="DDD8CC"/>
            </a:solidFill>
            <a:prstDash val="solid"/>
          </a:ln>
        </p:spPr>
        <p:txBody>
          <a:bodyPr/>
          <a:lstStyle/>
          <a:p>
            <a:endParaRPr lang="en-IN"/>
          </a:p>
        </p:txBody>
      </p:sp>
      <p:sp>
        <p:nvSpPr>
          <p:cNvPr id="13" name="Text 11"/>
          <p:cNvSpPr/>
          <p:nvPr/>
        </p:nvSpPr>
        <p:spPr>
          <a:xfrm>
            <a:off x="6375400" y="2037082"/>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M3 · 6 HOURS</a:t>
            </a:r>
            <a:endParaRPr lang="en-US" sz="1200" dirty="0"/>
          </a:p>
        </p:txBody>
      </p:sp>
      <p:sp>
        <p:nvSpPr>
          <p:cNvPr id="14" name="Text 12"/>
          <p:cNvSpPr/>
          <p:nvPr/>
        </p:nvSpPr>
        <p:spPr>
          <a:xfrm>
            <a:off x="6375400" y="2326639"/>
            <a:ext cx="2176679"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 automation types and tools</a:t>
            </a:r>
            <a:endParaRPr lang="en-US" sz="1400" dirty="0"/>
          </a:p>
        </p:txBody>
      </p:sp>
      <p:sp>
        <p:nvSpPr>
          <p:cNvPr id="15" name="Text 13"/>
          <p:cNvSpPr/>
          <p:nvPr/>
        </p:nvSpPr>
        <p:spPr>
          <a:xfrm>
            <a:off x="6375400" y="2865121"/>
            <a:ext cx="2176679" cy="10922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Business, technical and non-functional automation; Selenium WebDriver, pytest, Postman; test script design and the Page Object Model</a:t>
            </a:r>
            <a:endParaRPr lang="en-US" sz="1200" dirty="0"/>
          </a:p>
        </p:txBody>
      </p:sp>
      <p:sp>
        <p:nvSpPr>
          <p:cNvPr id="16" name="Shape 14"/>
          <p:cNvSpPr/>
          <p:nvPr/>
        </p:nvSpPr>
        <p:spPr>
          <a:xfrm>
            <a:off x="8852535" y="1831975"/>
            <a:ext cx="2523490" cy="2518410"/>
          </a:xfrm>
          <a:prstGeom prst="roundRect">
            <a:avLst>
              <a:gd name="adj" fmla="val 2900"/>
            </a:avLst>
          </a:prstGeom>
          <a:solidFill>
            <a:srgbClr val="FCFBF7"/>
          </a:solidFill>
          <a:ln w="6350">
            <a:solidFill>
              <a:srgbClr val="DDD8CC"/>
            </a:solidFill>
            <a:prstDash val="solid"/>
          </a:ln>
        </p:spPr>
        <p:txBody>
          <a:bodyPr/>
          <a:lstStyle/>
          <a:p>
            <a:endParaRPr lang="en-IN"/>
          </a:p>
        </p:txBody>
      </p:sp>
      <p:sp>
        <p:nvSpPr>
          <p:cNvPr id="17" name="Text 15"/>
          <p:cNvSpPr/>
          <p:nvPr/>
        </p:nvSpPr>
        <p:spPr>
          <a:xfrm>
            <a:off x="9057640" y="2037082"/>
            <a:ext cx="217667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M4 · 6 HOURS</a:t>
            </a:r>
            <a:endParaRPr lang="en-US" sz="1200" dirty="0"/>
          </a:p>
        </p:txBody>
      </p:sp>
      <p:sp>
        <p:nvSpPr>
          <p:cNvPr id="18" name="Text 16"/>
          <p:cNvSpPr/>
          <p:nvPr/>
        </p:nvSpPr>
        <p:spPr>
          <a:xfrm>
            <a:off x="9057640" y="2326639"/>
            <a:ext cx="2176679"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Mobile, cloud and continuous testing</a:t>
            </a:r>
            <a:endParaRPr lang="en-US" sz="1400" dirty="0"/>
          </a:p>
        </p:txBody>
      </p:sp>
      <p:sp>
        <p:nvSpPr>
          <p:cNvPr id="19" name="Text 17"/>
          <p:cNvSpPr/>
          <p:nvPr/>
        </p:nvSpPr>
        <p:spPr>
          <a:xfrm>
            <a:off x="9057640" y="2865121"/>
            <a:ext cx="2176679" cy="13055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Mobile automation, cloud testing setup, continuous testing strategy, tests in CI pipelines, reporting and quality gates, continuous delivery</a:t>
            </a:r>
            <a:endParaRPr lang="en-US" sz="1200" dirty="0"/>
          </a:p>
        </p:txBody>
      </p:sp>
      <p:sp>
        <p:nvSpPr>
          <p:cNvPr id="20" name="Text 18"/>
          <p:cNvSpPr/>
          <p:nvPr/>
        </p:nvSpPr>
        <p:spPr>
          <a:xfrm>
            <a:off x="812800" y="4607561"/>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Each module builds on the one before: concepts first, then design, then tools, then the pipeline.</a:t>
            </a:r>
            <a:endParaRPr lang="en-US" sz="1400" dirty="0"/>
          </a:p>
        </p:txBody>
      </p:sp>
      <p:sp>
        <p:nvSpPr>
          <p:cNvPr id="21" name="Text 19"/>
          <p:cNvSpPr/>
          <p:nvPr/>
        </p:nvSpPr>
        <p:spPr>
          <a:xfrm>
            <a:off x="812800" y="6238239"/>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2" name="Text 20"/>
          <p:cNvSpPr/>
          <p:nvPr/>
        </p:nvSpPr>
        <p:spPr>
          <a:xfrm>
            <a:off x="8613696" y="6238239"/>
            <a:ext cx="28484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Contact hours from the detailed syllabus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L1 · COURSE STRUCTURE</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Lab plan: 14 sessions</a:t>
            </a:r>
            <a:endParaRPr lang="en-US" sz="3200" dirty="0"/>
          </a:p>
        </p:txBody>
      </p:sp>
      <p:sp>
        <p:nvSpPr>
          <p:cNvPr id="4" name="Shape 2"/>
          <p:cNvSpPr/>
          <p:nvPr/>
        </p:nvSpPr>
        <p:spPr>
          <a:xfrm>
            <a:off x="812800" y="1831975"/>
            <a:ext cx="5130800" cy="0"/>
          </a:xfrm>
          <a:prstGeom prst="line">
            <a:avLst/>
          </a:prstGeom>
          <a:noFill/>
          <a:ln w="6350">
            <a:solidFill>
              <a:srgbClr val="DDD8CC"/>
            </a:solidFill>
            <a:prstDash val="solid"/>
          </a:ln>
        </p:spPr>
        <p:txBody>
          <a:bodyPr/>
          <a:lstStyle/>
          <a:p>
            <a:endParaRPr lang="en-IN"/>
          </a:p>
        </p:txBody>
      </p:sp>
      <p:sp>
        <p:nvSpPr>
          <p:cNvPr id="5" name="Text 3"/>
          <p:cNvSpPr/>
          <p:nvPr/>
        </p:nvSpPr>
        <p:spPr>
          <a:xfrm>
            <a:off x="889000" y="1897382"/>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01</a:t>
            </a:r>
            <a:endParaRPr lang="en-US" sz="1200" dirty="0"/>
          </a:p>
        </p:txBody>
      </p:sp>
      <p:sp>
        <p:nvSpPr>
          <p:cNvPr id="6" name="Text 4"/>
          <p:cNvSpPr/>
          <p:nvPr/>
        </p:nvSpPr>
        <p:spPr>
          <a:xfrm>
            <a:off x="1371600" y="1897382"/>
            <a:ext cx="463067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Environment setup: Python, pytest, Selenium WebDriver, browser drivers</a:t>
            </a:r>
            <a:endParaRPr lang="en-US" sz="1200" dirty="0"/>
          </a:p>
        </p:txBody>
      </p:sp>
      <p:sp>
        <p:nvSpPr>
          <p:cNvPr id="7" name="Shape 5"/>
          <p:cNvSpPr/>
          <p:nvPr/>
        </p:nvSpPr>
        <p:spPr>
          <a:xfrm>
            <a:off x="812800" y="2390775"/>
            <a:ext cx="5130800" cy="0"/>
          </a:xfrm>
          <a:prstGeom prst="line">
            <a:avLst/>
          </a:prstGeom>
          <a:noFill/>
          <a:ln w="6350">
            <a:solidFill>
              <a:srgbClr val="DDD8CC"/>
            </a:solidFill>
            <a:prstDash val="solid"/>
          </a:ln>
        </p:spPr>
        <p:txBody>
          <a:bodyPr/>
          <a:lstStyle/>
          <a:p>
            <a:endParaRPr lang="en-IN"/>
          </a:p>
        </p:txBody>
      </p:sp>
      <p:sp>
        <p:nvSpPr>
          <p:cNvPr id="8" name="Text 6"/>
          <p:cNvSpPr/>
          <p:nvPr/>
        </p:nvSpPr>
        <p:spPr>
          <a:xfrm>
            <a:off x="889000" y="2456182"/>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02</a:t>
            </a:r>
            <a:endParaRPr lang="en-US" sz="1200" dirty="0"/>
          </a:p>
        </p:txBody>
      </p:sp>
      <p:sp>
        <p:nvSpPr>
          <p:cNvPr id="9" name="Text 7"/>
          <p:cNvSpPr/>
          <p:nvPr/>
        </p:nvSpPr>
        <p:spPr>
          <a:xfrm>
            <a:off x="1371600" y="2456182"/>
            <a:ext cx="463067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Selenium WebDriver basics: browser control, locators, element interaction</a:t>
            </a:r>
            <a:endParaRPr lang="en-US" sz="1200" dirty="0"/>
          </a:p>
        </p:txBody>
      </p:sp>
      <p:sp>
        <p:nvSpPr>
          <p:cNvPr id="10" name="Shape 8"/>
          <p:cNvSpPr/>
          <p:nvPr/>
        </p:nvSpPr>
        <p:spPr>
          <a:xfrm>
            <a:off x="812800" y="2949575"/>
            <a:ext cx="5130800" cy="0"/>
          </a:xfrm>
          <a:prstGeom prst="line">
            <a:avLst/>
          </a:prstGeom>
          <a:noFill/>
          <a:ln w="6350">
            <a:solidFill>
              <a:srgbClr val="DDD8CC"/>
            </a:solidFill>
            <a:prstDash val="solid"/>
          </a:ln>
        </p:spPr>
        <p:txBody>
          <a:bodyPr/>
          <a:lstStyle/>
          <a:p>
            <a:endParaRPr lang="en-IN"/>
          </a:p>
        </p:txBody>
      </p:sp>
      <p:sp>
        <p:nvSpPr>
          <p:cNvPr id="11" name="Text 9"/>
          <p:cNvSpPr/>
          <p:nvPr/>
        </p:nvSpPr>
        <p:spPr>
          <a:xfrm>
            <a:off x="889000" y="3014982"/>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03</a:t>
            </a:r>
            <a:endParaRPr lang="en-US" sz="1200" dirty="0"/>
          </a:p>
        </p:txBody>
      </p:sp>
      <p:sp>
        <p:nvSpPr>
          <p:cNvPr id="12" name="Text 10"/>
          <p:cNvSpPr/>
          <p:nvPr/>
        </p:nvSpPr>
        <p:spPr>
          <a:xfrm>
            <a:off x="1371600" y="3014982"/>
            <a:ext cx="46306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Handling waits, dynamic elements and multiple windows</a:t>
            </a:r>
            <a:endParaRPr lang="en-US" sz="1200" dirty="0"/>
          </a:p>
        </p:txBody>
      </p:sp>
      <p:sp>
        <p:nvSpPr>
          <p:cNvPr id="13" name="Shape 11"/>
          <p:cNvSpPr/>
          <p:nvPr/>
        </p:nvSpPr>
        <p:spPr>
          <a:xfrm>
            <a:off x="812800" y="3295014"/>
            <a:ext cx="5130800" cy="0"/>
          </a:xfrm>
          <a:prstGeom prst="line">
            <a:avLst/>
          </a:prstGeom>
          <a:noFill/>
          <a:ln w="6350">
            <a:solidFill>
              <a:srgbClr val="DDD8CC"/>
            </a:solidFill>
            <a:prstDash val="solid"/>
          </a:ln>
        </p:spPr>
        <p:txBody>
          <a:bodyPr/>
          <a:lstStyle/>
          <a:p>
            <a:endParaRPr lang="en-IN"/>
          </a:p>
        </p:txBody>
      </p:sp>
      <p:sp>
        <p:nvSpPr>
          <p:cNvPr id="14" name="Text 12"/>
          <p:cNvSpPr/>
          <p:nvPr/>
        </p:nvSpPr>
        <p:spPr>
          <a:xfrm>
            <a:off x="889000" y="3360421"/>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04</a:t>
            </a:r>
            <a:endParaRPr lang="en-US" sz="1200" dirty="0"/>
          </a:p>
        </p:txBody>
      </p:sp>
      <p:sp>
        <p:nvSpPr>
          <p:cNvPr id="15" name="Text 13"/>
          <p:cNvSpPr/>
          <p:nvPr/>
        </p:nvSpPr>
        <p:spPr>
          <a:xfrm>
            <a:off x="1371600" y="3360421"/>
            <a:ext cx="46306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Structured test cases with pytest: fixtures, assertions, markers</a:t>
            </a:r>
            <a:endParaRPr lang="en-US" sz="1200" dirty="0"/>
          </a:p>
        </p:txBody>
      </p:sp>
      <p:sp>
        <p:nvSpPr>
          <p:cNvPr id="16" name="Shape 14"/>
          <p:cNvSpPr/>
          <p:nvPr/>
        </p:nvSpPr>
        <p:spPr>
          <a:xfrm>
            <a:off x="812800" y="3637282"/>
            <a:ext cx="5130800" cy="345440"/>
          </a:xfrm>
          <a:prstGeom prst="rect">
            <a:avLst/>
          </a:prstGeom>
          <a:solidFill>
            <a:srgbClr val="F7E3D5"/>
          </a:solidFill>
          <a:ln/>
        </p:spPr>
        <p:txBody>
          <a:bodyPr/>
          <a:lstStyle/>
          <a:p>
            <a:endParaRPr lang="en-IN"/>
          </a:p>
        </p:txBody>
      </p:sp>
      <p:sp>
        <p:nvSpPr>
          <p:cNvPr id="17" name="Shape 15"/>
          <p:cNvSpPr/>
          <p:nvPr/>
        </p:nvSpPr>
        <p:spPr>
          <a:xfrm>
            <a:off x="812800" y="3640457"/>
            <a:ext cx="5130800" cy="0"/>
          </a:xfrm>
          <a:prstGeom prst="line">
            <a:avLst/>
          </a:prstGeom>
          <a:noFill/>
          <a:ln w="6350">
            <a:solidFill>
              <a:srgbClr val="DDD8CC"/>
            </a:solidFill>
            <a:prstDash val="solid"/>
          </a:ln>
        </p:spPr>
        <p:txBody>
          <a:bodyPr/>
          <a:lstStyle/>
          <a:p>
            <a:endParaRPr lang="en-IN"/>
          </a:p>
        </p:txBody>
      </p:sp>
      <p:sp>
        <p:nvSpPr>
          <p:cNvPr id="18" name="Text 16"/>
          <p:cNvSpPr/>
          <p:nvPr/>
        </p:nvSpPr>
        <p:spPr>
          <a:xfrm>
            <a:off x="889000" y="3705861"/>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05</a:t>
            </a:r>
            <a:endParaRPr lang="en-US" sz="1200" dirty="0"/>
          </a:p>
        </p:txBody>
      </p:sp>
      <p:sp>
        <p:nvSpPr>
          <p:cNvPr id="19" name="Text 17"/>
          <p:cNvSpPr/>
          <p:nvPr/>
        </p:nvSpPr>
        <p:spPr>
          <a:xfrm>
            <a:off x="1371600" y="3705861"/>
            <a:ext cx="463067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Lab Assessment 1</a:t>
            </a:r>
            <a:endParaRPr lang="en-US" sz="1200" dirty="0"/>
          </a:p>
        </p:txBody>
      </p:sp>
      <p:sp>
        <p:nvSpPr>
          <p:cNvPr id="20" name="Shape 18"/>
          <p:cNvSpPr/>
          <p:nvPr/>
        </p:nvSpPr>
        <p:spPr>
          <a:xfrm>
            <a:off x="812800" y="3985896"/>
            <a:ext cx="5130800" cy="0"/>
          </a:xfrm>
          <a:prstGeom prst="line">
            <a:avLst/>
          </a:prstGeom>
          <a:noFill/>
          <a:ln w="6350">
            <a:solidFill>
              <a:srgbClr val="DDD8CC"/>
            </a:solidFill>
            <a:prstDash val="solid"/>
          </a:ln>
        </p:spPr>
        <p:txBody>
          <a:bodyPr/>
          <a:lstStyle/>
          <a:p>
            <a:endParaRPr lang="en-IN"/>
          </a:p>
        </p:txBody>
      </p:sp>
      <p:sp>
        <p:nvSpPr>
          <p:cNvPr id="21" name="Text 19"/>
          <p:cNvSpPr/>
          <p:nvPr/>
        </p:nvSpPr>
        <p:spPr>
          <a:xfrm>
            <a:off x="889000" y="4051300"/>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06</a:t>
            </a:r>
            <a:endParaRPr lang="en-US" sz="1200" dirty="0"/>
          </a:p>
        </p:txBody>
      </p:sp>
      <p:sp>
        <p:nvSpPr>
          <p:cNvPr id="22" name="Text 20"/>
          <p:cNvSpPr/>
          <p:nvPr/>
        </p:nvSpPr>
        <p:spPr>
          <a:xfrm>
            <a:off x="1371600" y="4051300"/>
            <a:ext cx="46306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Page Object Model (POM) design with Selenium WebDriver</a:t>
            </a:r>
            <a:endParaRPr lang="en-US" sz="1200" dirty="0"/>
          </a:p>
        </p:txBody>
      </p:sp>
      <p:sp>
        <p:nvSpPr>
          <p:cNvPr id="23" name="Shape 21"/>
          <p:cNvSpPr/>
          <p:nvPr/>
        </p:nvSpPr>
        <p:spPr>
          <a:xfrm>
            <a:off x="812800" y="4331339"/>
            <a:ext cx="5130800" cy="0"/>
          </a:xfrm>
          <a:prstGeom prst="line">
            <a:avLst/>
          </a:prstGeom>
          <a:noFill/>
          <a:ln w="6350">
            <a:solidFill>
              <a:srgbClr val="DDD8CC"/>
            </a:solidFill>
            <a:prstDash val="solid"/>
          </a:ln>
        </p:spPr>
        <p:txBody>
          <a:bodyPr/>
          <a:lstStyle/>
          <a:p>
            <a:endParaRPr lang="en-IN"/>
          </a:p>
        </p:txBody>
      </p:sp>
      <p:sp>
        <p:nvSpPr>
          <p:cNvPr id="24" name="Shape 22"/>
          <p:cNvSpPr/>
          <p:nvPr/>
        </p:nvSpPr>
        <p:spPr>
          <a:xfrm>
            <a:off x="812800" y="4675509"/>
            <a:ext cx="5130800" cy="0"/>
          </a:xfrm>
          <a:prstGeom prst="line">
            <a:avLst/>
          </a:prstGeom>
          <a:noFill/>
          <a:ln w="6350">
            <a:solidFill>
              <a:srgbClr val="DDD8CC"/>
            </a:solidFill>
            <a:prstDash val="solid"/>
          </a:ln>
        </p:spPr>
        <p:txBody>
          <a:bodyPr/>
          <a:lstStyle/>
          <a:p>
            <a:endParaRPr lang="en-IN"/>
          </a:p>
        </p:txBody>
      </p:sp>
      <p:sp>
        <p:nvSpPr>
          <p:cNvPr id="25" name="Text 23"/>
          <p:cNvSpPr/>
          <p:nvPr/>
        </p:nvSpPr>
        <p:spPr>
          <a:xfrm>
            <a:off x="889000" y="4396742"/>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07</a:t>
            </a:r>
            <a:endParaRPr lang="en-US" sz="1200" dirty="0"/>
          </a:p>
        </p:txBody>
      </p:sp>
      <p:sp>
        <p:nvSpPr>
          <p:cNvPr id="26" name="Text 24"/>
          <p:cNvSpPr/>
          <p:nvPr/>
        </p:nvSpPr>
        <p:spPr>
          <a:xfrm>
            <a:off x="1371600" y="4396742"/>
            <a:ext cx="46306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Data-driven testing and test suite organisation</a:t>
            </a:r>
            <a:endParaRPr lang="en-US" sz="1200" dirty="0"/>
          </a:p>
        </p:txBody>
      </p:sp>
      <p:sp>
        <p:nvSpPr>
          <p:cNvPr id="27" name="Shape 25"/>
          <p:cNvSpPr/>
          <p:nvPr/>
        </p:nvSpPr>
        <p:spPr>
          <a:xfrm>
            <a:off x="6248400" y="1831975"/>
            <a:ext cx="5130800" cy="0"/>
          </a:xfrm>
          <a:prstGeom prst="line">
            <a:avLst/>
          </a:prstGeom>
          <a:noFill/>
          <a:ln w="6350">
            <a:solidFill>
              <a:srgbClr val="DDD8CC"/>
            </a:solidFill>
            <a:prstDash val="solid"/>
          </a:ln>
        </p:spPr>
        <p:txBody>
          <a:bodyPr/>
          <a:lstStyle/>
          <a:p>
            <a:endParaRPr lang="en-IN"/>
          </a:p>
        </p:txBody>
      </p:sp>
      <p:sp>
        <p:nvSpPr>
          <p:cNvPr id="28" name="Text 26"/>
          <p:cNvSpPr/>
          <p:nvPr/>
        </p:nvSpPr>
        <p:spPr>
          <a:xfrm>
            <a:off x="6324600" y="1897382"/>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08</a:t>
            </a:r>
            <a:endParaRPr lang="en-US" sz="1200" dirty="0"/>
          </a:p>
        </p:txBody>
      </p:sp>
      <p:sp>
        <p:nvSpPr>
          <p:cNvPr id="29" name="Text 27"/>
          <p:cNvSpPr/>
          <p:nvPr/>
        </p:nvSpPr>
        <p:spPr>
          <a:xfrm>
            <a:off x="6807200" y="1897382"/>
            <a:ext cx="46306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Cross-browser execution with Selenium Grid on Docker</a:t>
            </a:r>
            <a:endParaRPr lang="en-US" sz="1200" dirty="0"/>
          </a:p>
        </p:txBody>
      </p:sp>
      <p:sp>
        <p:nvSpPr>
          <p:cNvPr id="30" name="Shape 28"/>
          <p:cNvSpPr/>
          <p:nvPr/>
        </p:nvSpPr>
        <p:spPr>
          <a:xfrm>
            <a:off x="6248400" y="2177414"/>
            <a:ext cx="5130800" cy="0"/>
          </a:xfrm>
          <a:prstGeom prst="line">
            <a:avLst/>
          </a:prstGeom>
          <a:noFill/>
          <a:ln w="6350">
            <a:solidFill>
              <a:srgbClr val="DDD8CC"/>
            </a:solidFill>
            <a:prstDash val="solid"/>
          </a:ln>
        </p:spPr>
        <p:txBody>
          <a:bodyPr/>
          <a:lstStyle/>
          <a:p>
            <a:endParaRPr lang="en-IN"/>
          </a:p>
        </p:txBody>
      </p:sp>
      <p:sp>
        <p:nvSpPr>
          <p:cNvPr id="31" name="Text 29"/>
          <p:cNvSpPr/>
          <p:nvPr/>
        </p:nvSpPr>
        <p:spPr>
          <a:xfrm>
            <a:off x="6324600" y="2242821"/>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09</a:t>
            </a:r>
            <a:endParaRPr lang="en-US" sz="1200" dirty="0"/>
          </a:p>
        </p:txBody>
      </p:sp>
      <p:sp>
        <p:nvSpPr>
          <p:cNvPr id="32" name="Text 30"/>
          <p:cNvSpPr/>
          <p:nvPr/>
        </p:nvSpPr>
        <p:spPr>
          <a:xfrm>
            <a:off x="6807200" y="2242821"/>
            <a:ext cx="46306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API testing with Postman: requests, collections, environments</a:t>
            </a:r>
            <a:endParaRPr lang="en-US" sz="1200" dirty="0"/>
          </a:p>
        </p:txBody>
      </p:sp>
      <p:sp>
        <p:nvSpPr>
          <p:cNvPr id="33" name="Shape 31"/>
          <p:cNvSpPr/>
          <p:nvPr/>
        </p:nvSpPr>
        <p:spPr>
          <a:xfrm>
            <a:off x="6248400" y="2519682"/>
            <a:ext cx="5130800" cy="345440"/>
          </a:xfrm>
          <a:prstGeom prst="rect">
            <a:avLst/>
          </a:prstGeom>
          <a:solidFill>
            <a:srgbClr val="F7E3D5"/>
          </a:solidFill>
          <a:ln/>
        </p:spPr>
        <p:txBody>
          <a:bodyPr/>
          <a:lstStyle/>
          <a:p>
            <a:endParaRPr lang="en-IN"/>
          </a:p>
        </p:txBody>
      </p:sp>
      <p:sp>
        <p:nvSpPr>
          <p:cNvPr id="34" name="Shape 32"/>
          <p:cNvSpPr/>
          <p:nvPr/>
        </p:nvSpPr>
        <p:spPr>
          <a:xfrm>
            <a:off x="6248400" y="2522857"/>
            <a:ext cx="5130800" cy="0"/>
          </a:xfrm>
          <a:prstGeom prst="line">
            <a:avLst/>
          </a:prstGeom>
          <a:noFill/>
          <a:ln w="6350">
            <a:solidFill>
              <a:srgbClr val="DDD8CC"/>
            </a:solidFill>
            <a:prstDash val="solid"/>
          </a:ln>
        </p:spPr>
        <p:txBody>
          <a:bodyPr/>
          <a:lstStyle/>
          <a:p>
            <a:endParaRPr lang="en-IN"/>
          </a:p>
        </p:txBody>
      </p:sp>
      <p:sp>
        <p:nvSpPr>
          <p:cNvPr id="35" name="Text 33"/>
          <p:cNvSpPr/>
          <p:nvPr/>
        </p:nvSpPr>
        <p:spPr>
          <a:xfrm>
            <a:off x="6324600" y="2588261"/>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10</a:t>
            </a:r>
            <a:endParaRPr lang="en-US" sz="1200" dirty="0"/>
          </a:p>
        </p:txBody>
      </p:sp>
      <p:sp>
        <p:nvSpPr>
          <p:cNvPr id="36" name="Text 34"/>
          <p:cNvSpPr/>
          <p:nvPr/>
        </p:nvSpPr>
        <p:spPr>
          <a:xfrm>
            <a:off x="6807200" y="2588261"/>
            <a:ext cx="463067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Lab Assessment 2</a:t>
            </a:r>
            <a:endParaRPr lang="en-US" sz="1200" dirty="0"/>
          </a:p>
        </p:txBody>
      </p:sp>
      <p:sp>
        <p:nvSpPr>
          <p:cNvPr id="37" name="Shape 35"/>
          <p:cNvSpPr/>
          <p:nvPr/>
        </p:nvSpPr>
        <p:spPr>
          <a:xfrm>
            <a:off x="6248400" y="2868296"/>
            <a:ext cx="5130800" cy="0"/>
          </a:xfrm>
          <a:prstGeom prst="line">
            <a:avLst/>
          </a:prstGeom>
          <a:noFill/>
          <a:ln w="6350">
            <a:solidFill>
              <a:srgbClr val="DDD8CC"/>
            </a:solidFill>
            <a:prstDash val="solid"/>
          </a:ln>
        </p:spPr>
        <p:txBody>
          <a:bodyPr/>
          <a:lstStyle/>
          <a:p>
            <a:endParaRPr lang="en-IN"/>
          </a:p>
        </p:txBody>
      </p:sp>
      <p:sp>
        <p:nvSpPr>
          <p:cNvPr id="38" name="Text 36"/>
          <p:cNvSpPr/>
          <p:nvPr/>
        </p:nvSpPr>
        <p:spPr>
          <a:xfrm>
            <a:off x="6324600" y="2933700"/>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11</a:t>
            </a:r>
            <a:endParaRPr lang="en-US" sz="1200" dirty="0"/>
          </a:p>
        </p:txBody>
      </p:sp>
      <p:sp>
        <p:nvSpPr>
          <p:cNvPr id="39" name="Text 37"/>
          <p:cNvSpPr/>
          <p:nvPr/>
        </p:nvSpPr>
        <p:spPr>
          <a:xfrm>
            <a:off x="6807200" y="2933700"/>
            <a:ext cx="46306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API test assertions and running collections with Newman</a:t>
            </a:r>
            <a:endParaRPr lang="en-US" sz="1200" dirty="0"/>
          </a:p>
        </p:txBody>
      </p:sp>
      <p:sp>
        <p:nvSpPr>
          <p:cNvPr id="40" name="Shape 38"/>
          <p:cNvSpPr/>
          <p:nvPr/>
        </p:nvSpPr>
        <p:spPr>
          <a:xfrm>
            <a:off x="6248400" y="3213736"/>
            <a:ext cx="5130800" cy="0"/>
          </a:xfrm>
          <a:prstGeom prst="line">
            <a:avLst/>
          </a:prstGeom>
          <a:noFill/>
          <a:ln w="6350">
            <a:solidFill>
              <a:srgbClr val="DDD8CC"/>
            </a:solidFill>
            <a:prstDash val="solid"/>
          </a:ln>
        </p:spPr>
        <p:txBody>
          <a:bodyPr/>
          <a:lstStyle/>
          <a:p>
            <a:endParaRPr lang="en-IN"/>
          </a:p>
        </p:txBody>
      </p:sp>
      <p:sp>
        <p:nvSpPr>
          <p:cNvPr id="41" name="Text 39"/>
          <p:cNvSpPr/>
          <p:nvPr/>
        </p:nvSpPr>
        <p:spPr>
          <a:xfrm>
            <a:off x="6324600" y="3279139"/>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12</a:t>
            </a:r>
            <a:endParaRPr lang="en-US" sz="1200" dirty="0"/>
          </a:p>
        </p:txBody>
      </p:sp>
      <p:sp>
        <p:nvSpPr>
          <p:cNvPr id="42" name="Text 40"/>
          <p:cNvSpPr/>
          <p:nvPr/>
        </p:nvSpPr>
        <p:spPr>
          <a:xfrm>
            <a:off x="6807200" y="3279139"/>
            <a:ext cx="46306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Behaviour-driven development (BDD) with pytest-bdd</a:t>
            </a:r>
            <a:endParaRPr lang="en-US" sz="1200" dirty="0"/>
          </a:p>
        </p:txBody>
      </p:sp>
      <p:sp>
        <p:nvSpPr>
          <p:cNvPr id="43" name="Shape 41"/>
          <p:cNvSpPr/>
          <p:nvPr/>
        </p:nvSpPr>
        <p:spPr>
          <a:xfrm>
            <a:off x="6248400" y="3559175"/>
            <a:ext cx="5130800" cy="0"/>
          </a:xfrm>
          <a:prstGeom prst="line">
            <a:avLst/>
          </a:prstGeom>
          <a:noFill/>
          <a:ln w="6350">
            <a:solidFill>
              <a:srgbClr val="DDD8CC"/>
            </a:solidFill>
            <a:prstDash val="solid"/>
          </a:ln>
        </p:spPr>
        <p:txBody>
          <a:bodyPr/>
          <a:lstStyle/>
          <a:p>
            <a:endParaRPr lang="en-IN"/>
          </a:p>
        </p:txBody>
      </p:sp>
      <p:sp>
        <p:nvSpPr>
          <p:cNvPr id="44" name="Text 42"/>
          <p:cNvSpPr/>
          <p:nvPr/>
        </p:nvSpPr>
        <p:spPr>
          <a:xfrm>
            <a:off x="6324600" y="3624582"/>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13</a:t>
            </a:r>
            <a:endParaRPr lang="en-US" sz="1200" dirty="0"/>
          </a:p>
        </p:txBody>
      </p:sp>
      <p:sp>
        <p:nvSpPr>
          <p:cNvPr id="45" name="Text 43"/>
          <p:cNvSpPr/>
          <p:nvPr/>
        </p:nvSpPr>
        <p:spPr>
          <a:xfrm>
            <a:off x="6807200" y="3624582"/>
            <a:ext cx="46306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Integrating automated test suites into a Jenkins pipeline</a:t>
            </a:r>
            <a:endParaRPr lang="en-US" sz="1200" dirty="0"/>
          </a:p>
        </p:txBody>
      </p:sp>
      <p:sp>
        <p:nvSpPr>
          <p:cNvPr id="46" name="Shape 44"/>
          <p:cNvSpPr/>
          <p:nvPr/>
        </p:nvSpPr>
        <p:spPr>
          <a:xfrm>
            <a:off x="6248400" y="3904614"/>
            <a:ext cx="5130800" cy="0"/>
          </a:xfrm>
          <a:prstGeom prst="line">
            <a:avLst/>
          </a:prstGeom>
          <a:noFill/>
          <a:ln w="6350">
            <a:solidFill>
              <a:srgbClr val="DDD8CC"/>
            </a:solidFill>
            <a:prstDash val="solid"/>
          </a:ln>
        </p:spPr>
        <p:txBody>
          <a:bodyPr/>
          <a:lstStyle/>
          <a:p>
            <a:endParaRPr lang="en-IN"/>
          </a:p>
        </p:txBody>
      </p:sp>
      <p:sp>
        <p:nvSpPr>
          <p:cNvPr id="47" name="Shape 45"/>
          <p:cNvSpPr/>
          <p:nvPr/>
        </p:nvSpPr>
        <p:spPr>
          <a:xfrm>
            <a:off x="6248400" y="4248784"/>
            <a:ext cx="5130800" cy="0"/>
          </a:xfrm>
          <a:prstGeom prst="line">
            <a:avLst/>
          </a:prstGeom>
          <a:noFill/>
          <a:ln w="6350">
            <a:solidFill>
              <a:srgbClr val="DDD8CC"/>
            </a:solidFill>
            <a:prstDash val="solid"/>
          </a:ln>
        </p:spPr>
        <p:txBody>
          <a:bodyPr/>
          <a:lstStyle/>
          <a:p>
            <a:endParaRPr lang="en-IN"/>
          </a:p>
        </p:txBody>
      </p:sp>
      <p:sp>
        <p:nvSpPr>
          <p:cNvPr id="48" name="Text 46"/>
          <p:cNvSpPr/>
          <p:nvPr/>
        </p:nvSpPr>
        <p:spPr>
          <a:xfrm>
            <a:off x="6324600" y="3970021"/>
            <a:ext cx="4064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14</a:t>
            </a:r>
            <a:endParaRPr lang="en-US" sz="1200" dirty="0"/>
          </a:p>
        </p:txBody>
      </p:sp>
      <p:sp>
        <p:nvSpPr>
          <p:cNvPr id="49" name="Text 47"/>
          <p:cNvSpPr/>
          <p:nvPr/>
        </p:nvSpPr>
        <p:spPr>
          <a:xfrm>
            <a:off x="6807200" y="3970021"/>
            <a:ext cx="46306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 reporting, quality gates and pipeline result evaluation</a:t>
            </a:r>
            <a:endParaRPr lang="en-US" sz="1200" dirty="0"/>
          </a:p>
        </p:txBody>
      </p:sp>
      <p:sp>
        <p:nvSpPr>
          <p:cNvPr id="50" name="Text 48"/>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51" name="Text 49"/>
          <p:cNvSpPr/>
          <p:nvPr/>
        </p:nvSpPr>
        <p:spPr>
          <a:xfrm>
            <a:off x="7716044" y="6238242"/>
            <a:ext cx="377305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Highlighted: lab assessments · from the lab-wise plan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L1 · TEST AUTOMATION</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What is test automation?</a:t>
            </a:r>
            <a:endParaRPr lang="en-US" sz="3200" dirty="0"/>
          </a:p>
        </p:txBody>
      </p:sp>
      <p:sp>
        <p:nvSpPr>
          <p:cNvPr id="4" name="Text 2"/>
          <p:cNvSpPr/>
          <p:nvPr/>
        </p:nvSpPr>
        <p:spPr>
          <a:xfrm>
            <a:off x="812800" y="1828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ISTQB · TEST AUTOMATION</a:t>
            </a:r>
            <a:endParaRPr lang="en-US" sz="1200" dirty="0"/>
          </a:p>
        </p:txBody>
      </p:sp>
      <p:sp>
        <p:nvSpPr>
          <p:cNvPr id="5" name="Text 3"/>
          <p:cNvSpPr/>
          <p:nvPr/>
        </p:nvSpPr>
        <p:spPr>
          <a:xfrm>
            <a:off x="812800" y="2118364"/>
            <a:ext cx="10883392" cy="342900"/>
          </a:xfrm>
          <a:prstGeom prst="rect">
            <a:avLst/>
          </a:prstGeom>
          <a:noFill/>
          <a:ln/>
        </p:spPr>
        <p:txBody>
          <a:bodyPr wrap="square" lIns="0" tIns="0" rIns="0" bIns="0" rtlCol="0" anchor="t">
            <a:normAutofit/>
          </a:bodyPr>
          <a:lstStyle/>
          <a:p>
            <a:pPr marL="0" indent="0" algn="l">
              <a:lnSpc>
                <a:spcPts val="2500"/>
              </a:lnSpc>
              <a:buNone/>
            </a:pPr>
            <a:r>
              <a:rPr lang="en-US" sz="2000" dirty="0">
                <a:solidFill>
                  <a:srgbClr val="13233A"/>
                </a:solidFill>
                <a:latin typeface="Space Grotesk" pitchFamily="34" charset="0"/>
                <a:ea typeface="Space Grotesk" pitchFamily="34" charset="-122"/>
                <a:cs typeface="Space Grotesk" pitchFamily="34" charset="-120"/>
              </a:rPr>
              <a:t>“The use of software to perform or support test activities.”</a:t>
            </a:r>
            <a:endParaRPr lang="en-US" sz="2000" dirty="0"/>
          </a:p>
        </p:txBody>
      </p:sp>
      <p:sp>
        <p:nvSpPr>
          <p:cNvPr id="6" name="Shape 4"/>
          <p:cNvSpPr/>
          <p:nvPr/>
        </p:nvSpPr>
        <p:spPr>
          <a:xfrm>
            <a:off x="815975" y="2693039"/>
            <a:ext cx="5175250" cy="2033270"/>
          </a:xfrm>
          <a:prstGeom prst="roundRect">
            <a:avLst>
              <a:gd name="adj" fmla="val 3592"/>
            </a:avLst>
          </a:prstGeom>
          <a:solidFill>
            <a:srgbClr val="FCFBF7"/>
          </a:solidFill>
          <a:ln w="6350">
            <a:solidFill>
              <a:srgbClr val="DDD8CC"/>
            </a:solidFill>
            <a:prstDash val="solid"/>
          </a:ln>
        </p:spPr>
        <p:txBody>
          <a:bodyPr/>
          <a:lstStyle/>
          <a:p>
            <a:endParaRPr lang="en-IN"/>
          </a:p>
        </p:txBody>
      </p:sp>
      <p:sp>
        <p:nvSpPr>
          <p:cNvPr id="7" name="Text 5"/>
          <p:cNvSpPr/>
          <p:nvPr/>
        </p:nvSpPr>
        <p:spPr>
          <a:xfrm>
            <a:off x="1071880" y="2898142"/>
            <a:ext cx="480334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SOFTWARE CAN</a:t>
            </a:r>
            <a:endParaRPr lang="en-US" sz="1200" dirty="0"/>
          </a:p>
        </p:txBody>
      </p:sp>
      <p:sp>
        <p:nvSpPr>
          <p:cNvPr id="8" name="Text 6"/>
          <p:cNvSpPr/>
          <p:nvPr/>
        </p:nvSpPr>
        <p:spPr>
          <a:xfrm>
            <a:off x="1071880" y="3187700"/>
            <a:ext cx="4803343" cy="1358900"/>
          </a:xfrm>
          <a:prstGeom prst="rect">
            <a:avLst/>
          </a:prstGeom>
          <a:noFill/>
          <a:ln/>
        </p:spPr>
        <p:txBody>
          <a:bodyPr wrap="square" lIns="0" tIns="0" rIns="0" bIns="0" rtlCol="0" anchor="t">
            <a:normAutofit/>
          </a:bodyPr>
          <a:lstStyle/>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Run test cases and compare results</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Generate and load test data</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Build and reset test environments</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Check code without running it</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Collect results and report them</a:t>
            </a:r>
            <a:endParaRPr lang="en-US" sz="1400" dirty="0"/>
          </a:p>
        </p:txBody>
      </p:sp>
      <p:sp>
        <p:nvSpPr>
          <p:cNvPr id="9" name="Shape 7"/>
          <p:cNvSpPr/>
          <p:nvPr/>
        </p:nvSpPr>
        <p:spPr>
          <a:xfrm>
            <a:off x="6200775" y="2693039"/>
            <a:ext cx="5175250" cy="2033270"/>
          </a:xfrm>
          <a:prstGeom prst="roundRect">
            <a:avLst>
              <a:gd name="adj" fmla="val 3592"/>
            </a:avLst>
          </a:prstGeom>
          <a:solidFill>
            <a:srgbClr val="FCFBF7"/>
          </a:solidFill>
          <a:ln w="6350">
            <a:solidFill>
              <a:srgbClr val="DDD8CC"/>
            </a:solidFill>
            <a:prstDash val="solid"/>
          </a:ln>
        </p:spPr>
        <p:txBody>
          <a:bodyPr/>
          <a:lstStyle/>
          <a:p>
            <a:endParaRPr lang="en-IN"/>
          </a:p>
        </p:txBody>
      </p:sp>
      <p:sp>
        <p:nvSpPr>
          <p:cNvPr id="10" name="Text 8"/>
          <p:cNvSpPr/>
          <p:nvPr/>
        </p:nvSpPr>
        <p:spPr>
          <a:xfrm>
            <a:off x="6456680" y="2898142"/>
            <a:ext cx="480334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PEOPLE STILL</a:t>
            </a:r>
            <a:endParaRPr lang="en-US" sz="1200" dirty="0"/>
          </a:p>
        </p:txBody>
      </p:sp>
      <p:sp>
        <p:nvSpPr>
          <p:cNvPr id="11" name="Text 9"/>
          <p:cNvSpPr/>
          <p:nvPr/>
        </p:nvSpPr>
        <p:spPr>
          <a:xfrm>
            <a:off x="6456680" y="3187700"/>
            <a:ext cx="4803343" cy="1358900"/>
          </a:xfrm>
          <a:prstGeom prst="rect">
            <a:avLst/>
          </a:prstGeom>
          <a:noFill/>
          <a:ln/>
        </p:spPr>
        <p:txBody>
          <a:bodyPr wrap="square" lIns="0" tIns="0" rIns="0" bIns="0" rtlCol="0" anchor="t">
            <a:normAutofit/>
          </a:bodyPr>
          <a:lstStyle/>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Decide what is worth testing</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Design tests and expected results</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Explore and notice the unexpected</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Judge usability and look and feel</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Investigate why a test failed</a:t>
            </a:r>
            <a:endParaRPr lang="en-US" sz="1400" dirty="0"/>
          </a:p>
        </p:txBody>
      </p:sp>
      <p:sp>
        <p:nvSpPr>
          <p:cNvPr id="12" name="Text 10"/>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3" name="Text 11"/>
          <p:cNvSpPr/>
          <p:nvPr/>
        </p:nvSpPr>
        <p:spPr>
          <a:xfrm>
            <a:off x="9568021" y="6238242"/>
            <a:ext cx="18655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Definition: ISTQB Glossary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L1 · TEST AUTOMATION</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Benefits and costs of automation</a:t>
            </a:r>
            <a:endParaRPr lang="en-US" sz="3200" dirty="0"/>
          </a:p>
        </p:txBody>
      </p:sp>
      <p:sp>
        <p:nvSpPr>
          <p:cNvPr id="4" name="Shape 2"/>
          <p:cNvSpPr/>
          <p:nvPr/>
        </p:nvSpPr>
        <p:spPr>
          <a:xfrm>
            <a:off x="812800" y="1828800"/>
            <a:ext cx="5181600" cy="2423160"/>
          </a:xfrm>
          <a:prstGeom prst="roundRect">
            <a:avLst>
              <a:gd name="adj" fmla="val 3145"/>
            </a:avLst>
          </a:prstGeom>
          <a:solidFill>
            <a:srgbClr val="DCE7F3"/>
          </a:solidFill>
          <a:ln/>
        </p:spPr>
        <p:txBody>
          <a:bodyPr/>
          <a:lstStyle/>
          <a:p>
            <a:endParaRPr lang="en-IN"/>
          </a:p>
        </p:txBody>
      </p:sp>
      <p:sp>
        <p:nvSpPr>
          <p:cNvPr id="5" name="Text 3"/>
          <p:cNvSpPr/>
          <p:nvPr/>
        </p:nvSpPr>
        <p:spPr>
          <a:xfrm>
            <a:off x="1066800" y="2082800"/>
            <a:ext cx="481380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BENEFITS</a:t>
            </a:r>
            <a:endParaRPr lang="en-US" sz="1200" dirty="0"/>
          </a:p>
        </p:txBody>
      </p:sp>
      <p:sp>
        <p:nvSpPr>
          <p:cNvPr id="6" name="Text 4"/>
          <p:cNvSpPr/>
          <p:nvPr/>
        </p:nvSpPr>
        <p:spPr>
          <a:xfrm>
            <a:off x="1066800" y="2397764"/>
            <a:ext cx="4813808" cy="1625600"/>
          </a:xfrm>
          <a:prstGeom prst="rect">
            <a:avLst/>
          </a:prstGeom>
          <a:noFill/>
          <a:ln/>
        </p:spPr>
        <p:txBody>
          <a:bodyPr wrap="square" lIns="0" tIns="0" rIns="0" bIns="0" rtlCol="0" anchor="t">
            <a:normAutofit/>
          </a:bodyPr>
          <a:lstStyle/>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Fast feedback on every change</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The same checks, every run</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More coverage: browsers, devices, data</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Frees testers to explore</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Makes CI/CD possible</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Tests double as living documentation</a:t>
            </a:r>
            <a:endParaRPr lang="en-US" sz="1400" dirty="0"/>
          </a:p>
        </p:txBody>
      </p:sp>
      <p:sp>
        <p:nvSpPr>
          <p:cNvPr id="7" name="Shape 5"/>
          <p:cNvSpPr/>
          <p:nvPr/>
        </p:nvSpPr>
        <p:spPr>
          <a:xfrm>
            <a:off x="6197600" y="1828800"/>
            <a:ext cx="5181600" cy="2423160"/>
          </a:xfrm>
          <a:prstGeom prst="roundRect">
            <a:avLst>
              <a:gd name="adj" fmla="val 3145"/>
            </a:avLst>
          </a:prstGeom>
          <a:solidFill>
            <a:srgbClr val="F7E3D5"/>
          </a:solidFill>
          <a:ln/>
        </p:spPr>
        <p:txBody>
          <a:bodyPr/>
          <a:lstStyle/>
          <a:p>
            <a:endParaRPr lang="en-IN"/>
          </a:p>
        </p:txBody>
      </p:sp>
      <p:sp>
        <p:nvSpPr>
          <p:cNvPr id="8" name="Text 6"/>
          <p:cNvSpPr/>
          <p:nvPr/>
        </p:nvSpPr>
        <p:spPr>
          <a:xfrm>
            <a:off x="6451600" y="2082800"/>
            <a:ext cx="481380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COSTS AND LIMITS</a:t>
            </a:r>
            <a:endParaRPr lang="en-US" sz="1200" dirty="0"/>
          </a:p>
        </p:txBody>
      </p:sp>
      <p:sp>
        <p:nvSpPr>
          <p:cNvPr id="9" name="Text 7"/>
          <p:cNvSpPr/>
          <p:nvPr/>
        </p:nvSpPr>
        <p:spPr>
          <a:xfrm>
            <a:off x="6451600" y="2397764"/>
            <a:ext cx="4813808" cy="1358900"/>
          </a:xfrm>
          <a:prstGeom prst="rect">
            <a:avLst/>
          </a:prstGeom>
          <a:noFill/>
          <a:ln/>
        </p:spPr>
        <p:txBody>
          <a:bodyPr wrap="square" lIns="0" tIns="0" rIns="0" bIns="0" rtlCol="0" anchor="t">
            <a:normAutofit/>
          </a:bodyPr>
          <a:lstStyle/>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Up-front cost: tools, frameworks, skills</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Maintenance whenever the app changes</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Flaky tests that erode trust</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Finds only what it was told to check</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False confidence from a green build</a:t>
            </a:r>
            <a:endParaRPr lang="en-US" sz="1400" dirty="0"/>
          </a:p>
        </p:txBody>
      </p:sp>
      <p:sp>
        <p:nvSpPr>
          <p:cNvPr id="10" name="Text 8"/>
          <p:cNvSpPr/>
          <p:nvPr/>
        </p:nvSpPr>
        <p:spPr>
          <a:xfrm>
            <a:off x="812800" y="4505964"/>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Automation pays off when a check is repeated often enough to recover what it costs to build and maintain.</a:t>
            </a:r>
            <a:endParaRPr lang="en-US" sz="1400" dirty="0"/>
          </a:p>
        </p:txBody>
      </p:sp>
      <p:sp>
        <p:nvSpPr>
          <p:cNvPr id="11" name="Text 9"/>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2" name="Text 10"/>
          <p:cNvSpPr/>
          <p:nvPr/>
        </p:nvSpPr>
        <p:spPr>
          <a:xfrm>
            <a:off x="8586708" y="6238242"/>
            <a:ext cx="287626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Worked break-even example in Lecture 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L1 · TEST AUTOMATION</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Myths and realities</a:t>
            </a:r>
            <a:endParaRPr lang="en-US" sz="3200" dirty="0"/>
          </a:p>
        </p:txBody>
      </p:sp>
      <p:sp>
        <p:nvSpPr>
          <p:cNvPr id="4" name="Shape 2"/>
          <p:cNvSpPr/>
          <p:nvPr/>
        </p:nvSpPr>
        <p:spPr>
          <a:xfrm>
            <a:off x="11376025" y="1828800"/>
            <a:ext cx="0" cy="2316480"/>
          </a:xfrm>
          <a:prstGeom prst="line">
            <a:avLst/>
          </a:prstGeom>
          <a:noFill/>
          <a:ln w="6350">
            <a:solidFill>
              <a:srgbClr val="DDD8CC"/>
            </a:solidFill>
            <a:prstDash val="solid"/>
          </a:ln>
        </p:spPr>
        <p:txBody>
          <a:bodyPr/>
          <a:lstStyle/>
          <a:p>
            <a:endParaRPr lang="en-IN"/>
          </a:p>
        </p:txBody>
      </p:sp>
      <p:sp>
        <p:nvSpPr>
          <p:cNvPr id="5" name="Shape 3"/>
          <p:cNvSpPr/>
          <p:nvPr/>
        </p:nvSpPr>
        <p:spPr>
          <a:xfrm>
            <a:off x="812800" y="4142105"/>
            <a:ext cx="10566400" cy="0"/>
          </a:xfrm>
          <a:prstGeom prst="line">
            <a:avLst/>
          </a:prstGeom>
          <a:noFill/>
          <a:ln w="6350">
            <a:solidFill>
              <a:srgbClr val="DDD8CC"/>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301240"/>
        </p:xfrm>
        <a:graphic>
          <a:graphicData uri="http://schemas.openxmlformats.org/drawingml/2006/table">
            <a:tbl>
              <a:tblPr/>
              <a:tblGrid>
                <a:gridCol w="3587394">
                  <a:extLst>
                    <a:ext uri="{9D8B030D-6E8A-4147-A177-3AD203B41FA5}">
                      <a16:colId xmlns:a16="http://schemas.microsoft.com/office/drawing/2014/main" val="20000"/>
                    </a:ext>
                  </a:extLst>
                </a:gridCol>
                <a:gridCol w="6963766">
                  <a:extLst>
                    <a:ext uri="{9D8B030D-6E8A-4147-A177-3AD203B41FA5}">
                      <a16:colId xmlns:a16="http://schemas.microsoft.com/office/drawing/2014/main" val="20001"/>
                    </a:ext>
                  </a:extLst>
                </a:gridCol>
              </a:tblGrid>
              <a:tr h="383540">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Myth</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Reality</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A9481A"/>
                          </a:solidFill>
                          <a:latin typeface="IBM Plex Sans" pitchFamily="34" charset="0"/>
                          <a:ea typeface="IBM Plex Sans" pitchFamily="34" charset="-122"/>
                          <a:cs typeface="IBM Plex Sans" pitchFamily="34" charset="-120"/>
                        </a:rPr>
                        <a:t>Automation replaces testers.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It replaces repetitive checking; people still design, explore and judge.</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A9481A"/>
                          </a:solidFill>
                          <a:latin typeface="IBM Plex Sans" pitchFamily="34" charset="0"/>
                          <a:ea typeface="IBM Plex Sans" pitchFamily="34" charset="-122"/>
                          <a:cs typeface="IBM Plex Sans" pitchFamily="34" charset="-120"/>
                        </a:rPr>
                        <a:t>Aim for 100% automation.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Automate what is repeatable and valuable; some tests are better by hand.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A9481A"/>
                          </a:solidFill>
                          <a:latin typeface="IBM Plex Sans" pitchFamily="34" charset="0"/>
                          <a:ea typeface="IBM Plex Sans" pitchFamily="34" charset="-122"/>
                          <a:cs typeface="IBM Plex Sans" pitchFamily="34" charset="-120"/>
                        </a:rPr>
                        <a:t>Automated tests find more bugs.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They mostly catch regressions; new bugs are usually found by exploring.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A9481A"/>
                          </a:solidFill>
                          <a:latin typeface="IBM Plex Sans" pitchFamily="34" charset="0"/>
                          <a:ea typeface="IBM Plex Sans" pitchFamily="34" charset="-122"/>
                          <a:cs typeface="IBM Plex Sans" pitchFamily="34" charset="-120"/>
                        </a:rPr>
                        <a:t>Record and playback is enough.</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Recorded scripts break easily; lasting suites need design (Module 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A9481A"/>
                          </a:solidFill>
                          <a:latin typeface="IBM Plex Sans" pitchFamily="34" charset="0"/>
                          <a:ea typeface="IBM Plex Sans" pitchFamily="34" charset="-122"/>
                          <a:cs typeface="IBM Plex Sans" pitchFamily="34" charset="-120"/>
                        </a:rPr>
                        <a:t>Once written, tests are done.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Tests are code: they need reviews, refactoring and maintenance.</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5"/>
                  </a:ext>
                </a:extLst>
              </a:tr>
            </a:tbl>
          </a:graphicData>
        </a:graphic>
      </p:graphicFrame>
      <p:sp>
        <p:nvSpPr>
          <p:cNvPr id="7" name="Text 4"/>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L1 · CHECK YOUR UNDERSTANDING</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Knowledge check: Lecture 1</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5" name="Text 3"/>
          <p:cNvSpPr/>
          <p:nvPr/>
        </p:nvSpPr>
        <p:spPr>
          <a:xfrm>
            <a:off x="1046480" y="2062479"/>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79"/>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Name two testing tasks software can automate, and two that still need a person.</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8" name="Text 6"/>
          <p:cNvSpPr/>
          <p:nvPr/>
        </p:nvSpPr>
        <p:spPr>
          <a:xfrm>
            <a:off x="6431280" y="2062479"/>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79"/>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automated suite is all green, yet users find a serious bug. Give two reasons this can happen.</a:t>
            </a:r>
            <a:endParaRPr lang="en-US" sz="1400" dirty="0"/>
          </a:p>
        </p:txBody>
      </p:sp>
      <p:sp>
        <p:nvSpPr>
          <p:cNvPr id="10" name="Shape 8"/>
          <p:cNvSpPr/>
          <p:nvPr/>
        </p:nvSpPr>
        <p:spPr>
          <a:xfrm>
            <a:off x="815975" y="3381375"/>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1046480" y="3611879"/>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879"/>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 manager says: “Automate everything and drop manual testing.” How do you respond?</a:t>
            </a:r>
            <a:endParaRPr lang="en-US" sz="1400" dirty="0"/>
          </a:p>
        </p:txBody>
      </p:sp>
      <p:sp>
        <p:nvSpPr>
          <p:cNvPr id="13" name="Shape 11"/>
          <p:cNvSpPr/>
          <p:nvPr/>
        </p:nvSpPr>
        <p:spPr>
          <a:xfrm>
            <a:off x="6200775" y="3381375"/>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6431280" y="3611879"/>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879"/>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Apart from running tests, name one activity that the ISTQB definition of test automation covers.</a:t>
            </a:r>
            <a:endParaRPr lang="en-US" sz="1400" dirty="0"/>
          </a:p>
        </p:txBody>
      </p:sp>
      <p:sp>
        <p:nvSpPr>
          <p:cNvPr id="16" name="Text 14"/>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7" name="Text 15"/>
          <p:cNvSpPr/>
          <p:nvPr/>
        </p:nvSpPr>
        <p:spPr>
          <a:xfrm>
            <a:off x="9372044" y="6238242"/>
            <a:ext cx="20673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marL="0" indent="0" algn="r">
              <a:lnSpc>
                <a:spcPts val="19000"/>
              </a:lnSpc>
              <a:buNone/>
            </a:pPr>
            <a:r>
              <a:rPr lang="en-US" sz="19000" b="1" kern="0" spc="-400" dirty="0">
                <a:solidFill>
                  <a:srgbClr val="000000">
                    <a:alpha val="0"/>
                  </a:srgbClr>
                </a:solidFill>
                <a:latin typeface="Space Grotesk" pitchFamily="34" charset="0"/>
                <a:ea typeface="Space Grotesk" pitchFamily="34" charset="-122"/>
                <a:cs typeface="Space Grotesk" pitchFamily="34" charset="-120"/>
              </a:rPr>
              <a:t>02</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36B"/>
                </a:solidFill>
                <a:latin typeface="JetBrains Mono" pitchFamily="34" charset="0"/>
                <a:ea typeface="JetBrains Mono" pitchFamily="34" charset="-122"/>
                <a:cs typeface="JetBrains Mono" pitchFamily="34" charset="-120"/>
              </a:rPr>
              <a:t>MODULE 1 · LECTURE 2 · 40 MINUTES</a:t>
            </a:r>
            <a:endParaRPr lang="en-US" sz="1200" dirty="0"/>
          </a:p>
        </p:txBody>
      </p:sp>
      <p:sp>
        <p:nvSpPr>
          <p:cNvPr id="4" name="Text 2"/>
          <p:cNvSpPr/>
          <p:nvPr/>
        </p:nvSpPr>
        <p:spPr>
          <a:xfrm>
            <a:off x="812800" y="3134364"/>
            <a:ext cx="10464800" cy="1518920"/>
          </a:xfrm>
          <a:prstGeom prst="rect">
            <a:avLst/>
          </a:prstGeom>
          <a:noFill/>
          <a:ln/>
        </p:spPr>
        <p:txBody>
          <a:bodyPr wrap="square" lIns="0" tIns="0" rIns="0" bIns="0" rtlCol="0" anchor="t">
            <a:normAutofit/>
          </a:bodyPr>
          <a:lstStyle/>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Test automation</a:t>
            </a:r>
            <a:endParaRPr lang="en-US" sz="5600" dirty="0"/>
          </a:p>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in DevOps</a:t>
            </a:r>
            <a:endParaRPr lang="en-US" sz="5600" dirty="0"/>
          </a:p>
        </p:txBody>
      </p:sp>
      <p:sp>
        <p:nvSpPr>
          <p:cNvPr id="5" name="Shape 3"/>
          <p:cNvSpPr/>
          <p:nvPr/>
        </p:nvSpPr>
        <p:spPr>
          <a:xfrm>
            <a:off x="812800" y="4989829"/>
            <a:ext cx="2794000" cy="0"/>
          </a:xfrm>
          <a:prstGeom prst="line">
            <a:avLst/>
          </a:prstGeom>
          <a:noFill/>
          <a:ln w="12700">
            <a:solidFill>
              <a:srgbClr val="3A5476"/>
            </a:solidFill>
            <a:prstDash val="solid"/>
          </a:ln>
        </p:spPr>
        <p:txBody>
          <a:bodyPr/>
          <a:lstStyle/>
          <a:p>
            <a:endParaRPr lang="en-IN"/>
          </a:p>
        </p:txBody>
      </p:sp>
      <p:sp>
        <p:nvSpPr>
          <p:cNvPr id="6" name="Text 4"/>
          <p:cNvSpPr/>
          <p:nvPr/>
        </p:nvSpPr>
        <p:spPr>
          <a:xfrm>
            <a:off x="812800" y="5120642"/>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7" name="Text 5"/>
          <p:cNvSpPr/>
          <p:nvPr/>
        </p:nvSpPr>
        <p:spPr>
          <a:xfrm>
            <a:off x="812800" y="5384800"/>
            <a:ext cx="287782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Test automation in DevOps</a:t>
            </a:r>
            <a:endParaRPr lang="en-US" sz="2000" dirty="0"/>
          </a:p>
        </p:txBody>
      </p:sp>
      <p:sp>
        <p:nvSpPr>
          <p:cNvPr id="8" name="Shape 6"/>
          <p:cNvSpPr/>
          <p:nvPr/>
        </p:nvSpPr>
        <p:spPr>
          <a:xfrm>
            <a:off x="3911600" y="4989829"/>
            <a:ext cx="2794000" cy="0"/>
          </a:xfrm>
          <a:prstGeom prst="line">
            <a:avLst/>
          </a:prstGeom>
          <a:noFill/>
          <a:ln w="12700">
            <a:solidFill>
              <a:srgbClr val="3A5476"/>
            </a:solidFill>
            <a:prstDash val="solid"/>
          </a:ln>
        </p:spPr>
        <p:txBody>
          <a:bodyPr/>
          <a:lstStyle/>
          <a:p>
            <a:endParaRPr lang="en-IN"/>
          </a:p>
        </p:txBody>
      </p:sp>
      <p:sp>
        <p:nvSpPr>
          <p:cNvPr id="9" name="Text 7"/>
          <p:cNvSpPr/>
          <p:nvPr/>
        </p:nvSpPr>
        <p:spPr>
          <a:xfrm>
            <a:off x="3911600" y="5120642"/>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10" name="Text 8"/>
          <p:cNvSpPr/>
          <p:nvPr/>
        </p:nvSpPr>
        <p:spPr>
          <a:xfrm>
            <a:off x="3911600" y="5384800"/>
            <a:ext cx="287782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Test automation use cases</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L2 · TEST AUTOMATION IN DEVOPS</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Testing across the DevOps loop</a:t>
            </a:r>
            <a:endParaRPr lang="en-US" sz="3200" dirty="0"/>
          </a:p>
        </p:txBody>
      </p:sp>
      <p:sp>
        <p:nvSpPr>
          <p:cNvPr id="4" name="Shape 2"/>
          <p:cNvSpPr/>
          <p:nvPr/>
        </p:nvSpPr>
        <p:spPr>
          <a:xfrm>
            <a:off x="815975" y="1831975"/>
            <a:ext cx="2520950" cy="1070610"/>
          </a:xfrm>
          <a:prstGeom prst="roundRect">
            <a:avLst>
              <a:gd name="adj" fmla="val 6821"/>
            </a:avLst>
          </a:prstGeom>
          <a:solidFill>
            <a:srgbClr val="FCFBF7"/>
          </a:solidFill>
          <a:ln w="6350">
            <a:solidFill>
              <a:srgbClr val="DDD8CC"/>
            </a:solidFill>
            <a:prstDash val="solid"/>
          </a:ln>
        </p:spPr>
        <p:txBody>
          <a:bodyPr/>
          <a:lstStyle/>
          <a:p>
            <a:endParaRPr lang="en-IN"/>
          </a:p>
        </p:txBody>
      </p:sp>
      <p:sp>
        <p:nvSpPr>
          <p:cNvPr id="5" name="Text 3"/>
          <p:cNvSpPr/>
          <p:nvPr/>
        </p:nvSpPr>
        <p:spPr>
          <a:xfrm>
            <a:off x="995680" y="1986279"/>
            <a:ext cx="222638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01 · PLAN</a:t>
            </a:r>
            <a:endParaRPr lang="en-US" sz="1200" dirty="0"/>
          </a:p>
        </p:txBody>
      </p:sp>
      <p:sp>
        <p:nvSpPr>
          <p:cNvPr id="6" name="Text 4"/>
          <p:cNvSpPr/>
          <p:nvPr/>
        </p:nvSpPr>
        <p:spPr>
          <a:xfrm>
            <a:off x="995680" y="2250442"/>
            <a:ext cx="222638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Acceptance criteria; testability review of stories</a:t>
            </a:r>
            <a:endParaRPr lang="en-US" sz="1400" dirty="0"/>
          </a:p>
        </p:txBody>
      </p:sp>
      <p:sp>
        <p:nvSpPr>
          <p:cNvPr id="7" name="Shape 5"/>
          <p:cNvSpPr/>
          <p:nvPr/>
        </p:nvSpPr>
        <p:spPr>
          <a:xfrm>
            <a:off x="3495675" y="1831975"/>
            <a:ext cx="2520950" cy="1070610"/>
          </a:xfrm>
          <a:prstGeom prst="roundRect">
            <a:avLst>
              <a:gd name="adj" fmla="val 6821"/>
            </a:avLst>
          </a:prstGeom>
          <a:solidFill>
            <a:srgbClr val="FCFBF7"/>
          </a:solidFill>
          <a:ln w="6350">
            <a:solidFill>
              <a:srgbClr val="DDD8CC"/>
            </a:solidFill>
            <a:prstDash val="solid"/>
          </a:ln>
        </p:spPr>
        <p:txBody>
          <a:bodyPr/>
          <a:lstStyle/>
          <a:p>
            <a:endParaRPr lang="en-IN"/>
          </a:p>
        </p:txBody>
      </p:sp>
      <p:sp>
        <p:nvSpPr>
          <p:cNvPr id="8" name="Text 6"/>
          <p:cNvSpPr/>
          <p:nvPr/>
        </p:nvSpPr>
        <p:spPr>
          <a:xfrm>
            <a:off x="3675380" y="1986279"/>
            <a:ext cx="222638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02 · CODE</a:t>
            </a:r>
            <a:endParaRPr lang="en-US" sz="1200" dirty="0"/>
          </a:p>
        </p:txBody>
      </p:sp>
      <p:sp>
        <p:nvSpPr>
          <p:cNvPr id="9" name="Text 7"/>
          <p:cNvSpPr/>
          <p:nvPr/>
        </p:nvSpPr>
        <p:spPr>
          <a:xfrm>
            <a:off x="3675380" y="2250442"/>
            <a:ext cx="222638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Unit tests, static analysis, peer review</a:t>
            </a:r>
            <a:endParaRPr lang="en-US" sz="1400" dirty="0"/>
          </a:p>
        </p:txBody>
      </p:sp>
      <p:sp>
        <p:nvSpPr>
          <p:cNvPr id="10" name="Shape 8"/>
          <p:cNvSpPr/>
          <p:nvPr/>
        </p:nvSpPr>
        <p:spPr>
          <a:xfrm>
            <a:off x="6175375" y="1831975"/>
            <a:ext cx="2520950" cy="1070610"/>
          </a:xfrm>
          <a:prstGeom prst="roundRect">
            <a:avLst>
              <a:gd name="adj" fmla="val 6821"/>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6355080" y="1986279"/>
            <a:ext cx="222638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03 · BUILD</a:t>
            </a:r>
            <a:endParaRPr lang="en-US" sz="1200" dirty="0"/>
          </a:p>
        </p:txBody>
      </p:sp>
      <p:sp>
        <p:nvSpPr>
          <p:cNvPr id="12" name="Text 10"/>
          <p:cNvSpPr/>
          <p:nvPr/>
        </p:nvSpPr>
        <p:spPr>
          <a:xfrm>
            <a:off x="6355080" y="2250442"/>
            <a:ext cx="222638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Build checks; dependency and licence scans</a:t>
            </a:r>
            <a:endParaRPr lang="en-US" sz="1400" dirty="0"/>
          </a:p>
        </p:txBody>
      </p:sp>
      <p:sp>
        <p:nvSpPr>
          <p:cNvPr id="13" name="Shape 11"/>
          <p:cNvSpPr/>
          <p:nvPr/>
        </p:nvSpPr>
        <p:spPr>
          <a:xfrm>
            <a:off x="8855075" y="1831975"/>
            <a:ext cx="2520950" cy="1070610"/>
          </a:xfrm>
          <a:prstGeom prst="roundRect">
            <a:avLst>
              <a:gd name="adj" fmla="val 6821"/>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9034780" y="1986279"/>
            <a:ext cx="222638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04 · TEST</a:t>
            </a:r>
            <a:endParaRPr lang="en-US" sz="1200" dirty="0"/>
          </a:p>
        </p:txBody>
      </p:sp>
      <p:sp>
        <p:nvSpPr>
          <p:cNvPr id="15" name="Text 13"/>
          <p:cNvSpPr/>
          <p:nvPr/>
        </p:nvSpPr>
        <p:spPr>
          <a:xfrm>
            <a:off x="9034780" y="2250442"/>
            <a:ext cx="222638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Integration, API, UI and performance suites</a:t>
            </a:r>
            <a:endParaRPr lang="en-US" sz="1400" dirty="0"/>
          </a:p>
        </p:txBody>
      </p:sp>
      <p:sp>
        <p:nvSpPr>
          <p:cNvPr id="16" name="Shape 14"/>
          <p:cNvSpPr/>
          <p:nvPr/>
        </p:nvSpPr>
        <p:spPr>
          <a:xfrm>
            <a:off x="815975" y="3061339"/>
            <a:ext cx="2520950" cy="1070610"/>
          </a:xfrm>
          <a:prstGeom prst="roundRect">
            <a:avLst>
              <a:gd name="adj" fmla="val 6821"/>
            </a:avLst>
          </a:prstGeom>
          <a:solidFill>
            <a:srgbClr val="FCFBF7"/>
          </a:solidFill>
          <a:ln w="6350">
            <a:solidFill>
              <a:srgbClr val="DDD8CC"/>
            </a:solidFill>
            <a:prstDash val="solid"/>
          </a:ln>
        </p:spPr>
        <p:txBody>
          <a:bodyPr/>
          <a:lstStyle/>
          <a:p>
            <a:endParaRPr lang="en-IN"/>
          </a:p>
        </p:txBody>
      </p:sp>
      <p:sp>
        <p:nvSpPr>
          <p:cNvPr id="17" name="Text 15"/>
          <p:cNvSpPr/>
          <p:nvPr/>
        </p:nvSpPr>
        <p:spPr>
          <a:xfrm>
            <a:off x="995680" y="3215642"/>
            <a:ext cx="222638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05 · RELEASE</a:t>
            </a:r>
            <a:endParaRPr lang="en-US" sz="1200" dirty="0"/>
          </a:p>
        </p:txBody>
      </p:sp>
      <p:sp>
        <p:nvSpPr>
          <p:cNvPr id="18" name="Text 16"/>
          <p:cNvSpPr/>
          <p:nvPr/>
        </p:nvSpPr>
        <p:spPr>
          <a:xfrm>
            <a:off x="995680" y="3479800"/>
            <a:ext cx="222638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Quality gates and acceptance sign-off</a:t>
            </a:r>
            <a:endParaRPr lang="en-US" sz="1400" dirty="0"/>
          </a:p>
        </p:txBody>
      </p:sp>
      <p:sp>
        <p:nvSpPr>
          <p:cNvPr id="19" name="Shape 17"/>
          <p:cNvSpPr/>
          <p:nvPr/>
        </p:nvSpPr>
        <p:spPr>
          <a:xfrm>
            <a:off x="3495675" y="3061339"/>
            <a:ext cx="2520950" cy="1070610"/>
          </a:xfrm>
          <a:prstGeom prst="roundRect">
            <a:avLst>
              <a:gd name="adj" fmla="val 6821"/>
            </a:avLst>
          </a:prstGeom>
          <a:solidFill>
            <a:srgbClr val="FCFBF7"/>
          </a:solidFill>
          <a:ln w="6350">
            <a:solidFill>
              <a:srgbClr val="DDD8CC"/>
            </a:solidFill>
            <a:prstDash val="solid"/>
          </a:ln>
        </p:spPr>
        <p:txBody>
          <a:bodyPr/>
          <a:lstStyle/>
          <a:p>
            <a:endParaRPr lang="en-IN"/>
          </a:p>
        </p:txBody>
      </p:sp>
      <p:sp>
        <p:nvSpPr>
          <p:cNvPr id="20" name="Text 18"/>
          <p:cNvSpPr/>
          <p:nvPr/>
        </p:nvSpPr>
        <p:spPr>
          <a:xfrm>
            <a:off x="3675380" y="3215642"/>
            <a:ext cx="222638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06 · DEPLOY</a:t>
            </a:r>
            <a:endParaRPr lang="en-US" sz="1200" dirty="0"/>
          </a:p>
        </p:txBody>
      </p:sp>
      <p:sp>
        <p:nvSpPr>
          <p:cNvPr id="21" name="Text 19"/>
          <p:cNvSpPr/>
          <p:nvPr/>
        </p:nvSpPr>
        <p:spPr>
          <a:xfrm>
            <a:off x="3675380" y="3479800"/>
            <a:ext cx="222638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Smoke tests right after each deployment</a:t>
            </a:r>
            <a:endParaRPr lang="en-US" sz="1400" dirty="0"/>
          </a:p>
        </p:txBody>
      </p:sp>
      <p:sp>
        <p:nvSpPr>
          <p:cNvPr id="22" name="Shape 20"/>
          <p:cNvSpPr/>
          <p:nvPr/>
        </p:nvSpPr>
        <p:spPr>
          <a:xfrm>
            <a:off x="6175375" y="3061339"/>
            <a:ext cx="2520950" cy="1070610"/>
          </a:xfrm>
          <a:prstGeom prst="roundRect">
            <a:avLst>
              <a:gd name="adj" fmla="val 6821"/>
            </a:avLst>
          </a:prstGeom>
          <a:solidFill>
            <a:srgbClr val="FCFBF7"/>
          </a:solidFill>
          <a:ln w="6350">
            <a:solidFill>
              <a:srgbClr val="DDD8CC"/>
            </a:solidFill>
            <a:prstDash val="solid"/>
          </a:ln>
        </p:spPr>
        <p:txBody>
          <a:bodyPr/>
          <a:lstStyle/>
          <a:p>
            <a:endParaRPr lang="en-IN"/>
          </a:p>
        </p:txBody>
      </p:sp>
      <p:sp>
        <p:nvSpPr>
          <p:cNvPr id="23" name="Text 21"/>
          <p:cNvSpPr/>
          <p:nvPr/>
        </p:nvSpPr>
        <p:spPr>
          <a:xfrm>
            <a:off x="6355080" y="3215642"/>
            <a:ext cx="222638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07 · OPERATE</a:t>
            </a:r>
            <a:endParaRPr lang="en-US" sz="1200" dirty="0"/>
          </a:p>
        </p:txBody>
      </p:sp>
      <p:sp>
        <p:nvSpPr>
          <p:cNvPr id="24" name="Text 22"/>
          <p:cNvSpPr/>
          <p:nvPr/>
        </p:nvSpPr>
        <p:spPr>
          <a:xfrm>
            <a:off x="6355080" y="3479800"/>
            <a:ext cx="222638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Synthetic checks; canary releases</a:t>
            </a:r>
            <a:endParaRPr lang="en-US" sz="1400" dirty="0"/>
          </a:p>
        </p:txBody>
      </p:sp>
      <p:sp>
        <p:nvSpPr>
          <p:cNvPr id="25" name="Shape 23"/>
          <p:cNvSpPr/>
          <p:nvPr/>
        </p:nvSpPr>
        <p:spPr>
          <a:xfrm>
            <a:off x="8855075" y="3061339"/>
            <a:ext cx="2520950" cy="1070610"/>
          </a:xfrm>
          <a:prstGeom prst="roundRect">
            <a:avLst>
              <a:gd name="adj" fmla="val 6821"/>
            </a:avLst>
          </a:prstGeom>
          <a:solidFill>
            <a:srgbClr val="FCFBF7"/>
          </a:solidFill>
          <a:ln w="6350">
            <a:solidFill>
              <a:srgbClr val="DDD8CC"/>
            </a:solidFill>
            <a:prstDash val="solid"/>
          </a:ln>
        </p:spPr>
        <p:txBody>
          <a:bodyPr/>
          <a:lstStyle/>
          <a:p>
            <a:endParaRPr lang="en-IN"/>
          </a:p>
        </p:txBody>
      </p:sp>
      <p:sp>
        <p:nvSpPr>
          <p:cNvPr id="26" name="Text 24"/>
          <p:cNvSpPr/>
          <p:nvPr/>
        </p:nvSpPr>
        <p:spPr>
          <a:xfrm>
            <a:off x="9034780" y="3215642"/>
            <a:ext cx="222638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08 · MONITOR</a:t>
            </a:r>
            <a:endParaRPr lang="en-US" sz="1200" dirty="0"/>
          </a:p>
        </p:txBody>
      </p:sp>
      <p:sp>
        <p:nvSpPr>
          <p:cNvPr id="27" name="Text 25"/>
          <p:cNvSpPr/>
          <p:nvPr/>
        </p:nvSpPr>
        <p:spPr>
          <a:xfrm>
            <a:off x="9034780" y="3479800"/>
            <a:ext cx="222638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Alerts, error rates and user feedback feed new tests</a:t>
            </a:r>
            <a:endParaRPr lang="en-US" sz="1400" dirty="0"/>
          </a:p>
        </p:txBody>
      </p:sp>
      <p:sp>
        <p:nvSpPr>
          <p:cNvPr id="28" name="Text 26"/>
          <p:cNvSpPr/>
          <p:nvPr/>
        </p:nvSpPr>
        <p:spPr>
          <a:xfrm>
            <a:off x="812800" y="4389121"/>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Testing is not one phase: every stage has checks, and what production reveals flows back into planning.</a:t>
            </a:r>
            <a:endParaRPr lang="en-US" sz="1400" dirty="0"/>
          </a:p>
        </p:txBody>
      </p:sp>
      <p:sp>
        <p:nvSpPr>
          <p:cNvPr id="29" name="Text 27"/>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30" name="Text 28"/>
          <p:cNvSpPr/>
          <p:nvPr/>
        </p:nvSpPr>
        <p:spPr>
          <a:xfrm>
            <a:off x="8018304" y="6238242"/>
            <a:ext cx="34617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Blue: development side · Orange: operations side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L2 · TEST AUTOMATION IN DEVOPS</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Continuous testing: shift left, shift right</a:t>
            </a:r>
            <a:endParaRPr lang="en-US" sz="3200" dirty="0"/>
          </a:p>
        </p:txBody>
      </p:sp>
      <p:sp>
        <p:nvSpPr>
          <p:cNvPr id="4" name="Text 2"/>
          <p:cNvSpPr/>
          <p:nvPr/>
        </p:nvSpPr>
        <p:spPr>
          <a:xfrm>
            <a:off x="812800" y="1828800"/>
            <a:ext cx="981075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Continuous testing runs automated tests inside the delivery pipeline, so every release candidate gets fast feedback on its business risk.</a:t>
            </a:r>
            <a:endParaRPr lang="en-US" sz="1400" dirty="0"/>
          </a:p>
        </p:txBody>
      </p:sp>
      <p:sp>
        <p:nvSpPr>
          <p:cNvPr id="5" name="Shape 3"/>
          <p:cNvSpPr/>
          <p:nvPr/>
        </p:nvSpPr>
        <p:spPr>
          <a:xfrm>
            <a:off x="815975" y="2583817"/>
            <a:ext cx="5175250" cy="2345690"/>
          </a:xfrm>
          <a:prstGeom prst="roundRect">
            <a:avLst>
              <a:gd name="adj" fmla="val 3113"/>
            </a:avLst>
          </a:prstGeom>
          <a:solidFill>
            <a:srgbClr val="FCFBF7"/>
          </a:solidFill>
          <a:ln w="6350">
            <a:solidFill>
              <a:srgbClr val="DDD8CC"/>
            </a:solidFill>
            <a:prstDash val="solid"/>
          </a:ln>
        </p:spPr>
        <p:txBody>
          <a:bodyPr/>
          <a:lstStyle/>
          <a:p>
            <a:endParaRPr lang="en-IN"/>
          </a:p>
        </p:txBody>
      </p:sp>
      <p:sp>
        <p:nvSpPr>
          <p:cNvPr id="6" name="Text 4"/>
          <p:cNvSpPr/>
          <p:nvPr/>
        </p:nvSpPr>
        <p:spPr>
          <a:xfrm>
            <a:off x="1046480" y="2814327"/>
            <a:ext cx="485566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SHIFT LEFT</a:t>
            </a:r>
            <a:endParaRPr lang="en-US" sz="1200" dirty="0"/>
          </a:p>
        </p:txBody>
      </p:sp>
      <p:sp>
        <p:nvSpPr>
          <p:cNvPr id="7" name="Text 5"/>
          <p:cNvSpPr/>
          <p:nvPr/>
        </p:nvSpPr>
        <p:spPr>
          <a:xfrm>
            <a:off x="1046480" y="3116585"/>
            <a:ext cx="4855667" cy="4521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13233A"/>
                </a:solidFill>
                <a:latin typeface="IBM Plex Sans" pitchFamily="34" charset="0"/>
                <a:ea typeface="IBM Plex Sans" pitchFamily="34" charset="-122"/>
                <a:cs typeface="IBM Plex Sans" pitchFamily="34" charset="-120"/>
              </a:rPr>
              <a:t>ISTQB: “An approach to performing testing and quality assurance activities as early as possible in the software development lifecycle.”</a:t>
            </a:r>
            <a:endParaRPr lang="en-US" sz="1200" dirty="0"/>
          </a:p>
        </p:txBody>
      </p:sp>
      <p:sp>
        <p:nvSpPr>
          <p:cNvPr id="8" name="Text 6"/>
          <p:cNvSpPr/>
          <p:nvPr/>
        </p:nvSpPr>
        <p:spPr>
          <a:xfrm>
            <a:off x="1046480" y="3632200"/>
            <a:ext cx="4855667" cy="1092200"/>
          </a:xfrm>
          <a:prstGeom prst="rect">
            <a:avLst/>
          </a:prstGeom>
          <a:noFill/>
          <a:ln/>
        </p:spPr>
        <p:txBody>
          <a:bodyPr wrap="square" lIns="0" tIns="0" rIns="0" bIns="0" rtlCol="0" anchor="t">
            <a:normAutofit/>
          </a:bodyPr>
          <a:lstStyle/>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Review requirements for testability</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Unit tests and test-driven development</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Static analysis on every commit</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API tests before the UI exists</a:t>
            </a:r>
            <a:endParaRPr lang="en-US" sz="1400" dirty="0"/>
          </a:p>
        </p:txBody>
      </p:sp>
      <p:sp>
        <p:nvSpPr>
          <p:cNvPr id="9" name="Shape 7"/>
          <p:cNvSpPr/>
          <p:nvPr/>
        </p:nvSpPr>
        <p:spPr>
          <a:xfrm>
            <a:off x="6200775" y="2583817"/>
            <a:ext cx="5175250" cy="2345690"/>
          </a:xfrm>
          <a:prstGeom prst="roundRect">
            <a:avLst>
              <a:gd name="adj" fmla="val 3113"/>
            </a:avLst>
          </a:prstGeom>
          <a:solidFill>
            <a:srgbClr val="FCFBF7"/>
          </a:solidFill>
          <a:ln w="6350">
            <a:solidFill>
              <a:srgbClr val="DDD8CC"/>
            </a:solidFill>
            <a:prstDash val="solid"/>
          </a:ln>
        </p:spPr>
        <p:txBody>
          <a:bodyPr/>
          <a:lstStyle/>
          <a:p>
            <a:endParaRPr lang="en-IN"/>
          </a:p>
        </p:txBody>
      </p:sp>
      <p:sp>
        <p:nvSpPr>
          <p:cNvPr id="10" name="Text 8"/>
          <p:cNvSpPr/>
          <p:nvPr/>
        </p:nvSpPr>
        <p:spPr>
          <a:xfrm>
            <a:off x="6431280" y="2814327"/>
            <a:ext cx="485566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SHIFT RIGHT</a:t>
            </a:r>
            <a:endParaRPr lang="en-US" sz="1200" dirty="0"/>
          </a:p>
        </p:txBody>
      </p:sp>
      <p:sp>
        <p:nvSpPr>
          <p:cNvPr id="11" name="Text 9"/>
          <p:cNvSpPr/>
          <p:nvPr/>
        </p:nvSpPr>
        <p:spPr>
          <a:xfrm>
            <a:off x="6431280" y="3116585"/>
            <a:ext cx="4855667" cy="4521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13233A"/>
                </a:solidFill>
                <a:latin typeface="IBM Plex Sans" pitchFamily="34" charset="0"/>
                <a:ea typeface="IBM Plex Sans" pitchFamily="34" charset="-122"/>
                <a:cs typeface="IBM Plex Sans" pitchFamily="34" charset="-120"/>
              </a:rPr>
              <a:t>Keep testing after release, with real users and real traffic, to catch what pre-release testing cannot.</a:t>
            </a:r>
            <a:endParaRPr lang="en-US" sz="1200" dirty="0"/>
          </a:p>
        </p:txBody>
      </p:sp>
      <p:sp>
        <p:nvSpPr>
          <p:cNvPr id="12" name="Text 10"/>
          <p:cNvSpPr/>
          <p:nvPr/>
        </p:nvSpPr>
        <p:spPr>
          <a:xfrm>
            <a:off x="6431280" y="3632200"/>
            <a:ext cx="4855667" cy="1092200"/>
          </a:xfrm>
          <a:prstGeom prst="rect">
            <a:avLst/>
          </a:prstGeom>
          <a:noFill/>
          <a:ln/>
        </p:spPr>
        <p:txBody>
          <a:bodyPr wrap="square" lIns="0" tIns="0" rIns="0" bIns="0" rtlCol="0" anchor="t">
            <a:normAutofit/>
          </a:bodyPr>
          <a:lstStyle/>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Monitoring and alerting</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Canary releases and feature flags</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A/B experiments</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Synthetic user journeys on a schedule</a:t>
            </a:r>
            <a:endParaRPr lang="en-US" sz="1400" dirty="0"/>
          </a:p>
        </p:txBody>
      </p:sp>
      <p:sp>
        <p:nvSpPr>
          <p:cNvPr id="13" name="Text 11"/>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4" name="Text 12"/>
          <p:cNvSpPr/>
          <p:nvPr/>
        </p:nvSpPr>
        <p:spPr>
          <a:xfrm>
            <a:off x="8965883" y="6238242"/>
            <a:ext cx="248571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Shift left definition: ISTQB Glossary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L2 · TEST AUTOMATION IN DEVOPS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Automated tests in a CI/CD pipeline</a:t>
            </a:r>
            <a:endParaRPr lang="en-US" sz="3200" dirty="0"/>
          </a:p>
        </p:txBody>
      </p:sp>
      <p:sp>
        <p:nvSpPr>
          <p:cNvPr id="4" name="Shape 2"/>
          <p:cNvSpPr/>
          <p:nvPr/>
        </p:nvSpPr>
        <p:spPr>
          <a:xfrm>
            <a:off x="815975" y="2085975"/>
            <a:ext cx="2152650" cy="819150"/>
          </a:xfrm>
          <a:prstGeom prst="roundRect">
            <a:avLst>
              <a:gd name="adj" fmla="val 7364"/>
            </a:avLst>
          </a:prstGeom>
          <a:solidFill>
            <a:srgbClr val="FCFBF7"/>
          </a:solidFill>
          <a:ln w="6350">
            <a:solidFill>
              <a:srgbClr val="C9C2B2"/>
            </a:solidFill>
            <a:prstDash val="solid"/>
          </a:ln>
        </p:spPr>
        <p:txBody>
          <a:bodyPr/>
          <a:lstStyle/>
          <a:p>
            <a:endParaRPr lang="en-IN"/>
          </a:p>
        </p:txBody>
      </p:sp>
      <p:sp>
        <p:nvSpPr>
          <p:cNvPr id="5" name="Text 3"/>
          <p:cNvSpPr/>
          <p:nvPr/>
        </p:nvSpPr>
        <p:spPr>
          <a:xfrm>
            <a:off x="1482011" y="2269492"/>
            <a:ext cx="820579"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1 · Commit</a:t>
            </a:r>
            <a:endParaRPr lang="en-US" sz="1200" dirty="0"/>
          </a:p>
        </p:txBody>
      </p:sp>
      <p:sp>
        <p:nvSpPr>
          <p:cNvPr id="6" name="Text 4"/>
          <p:cNvSpPr/>
          <p:nvPr/>
        </p:nvSpPr>
        <p:spPr>
          <a:xfrm>
            <a:off x="1183799" y="2508250"/>
            <a:ext cx="1416923"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977"/>
                </a:solidFill>
                <a:latin typeface="IBM Plex Sans" pitchFamily="34" charset="0"/>
                <a:ea typeface="IBM Plex Sans" pitchFamily="34" charset="-122"/>
                <a:cs typeface="IBM Plex Sans" pitchFamily="34" charset="-120"/>
              </a:rPr>
              <a:t>push or pull request</a:t>
            </a:r>
            <a:endParaRPr lang="en-US" sz="1200" dirty="0"/>
          </a:p>
        </p:txBody>
      </p:sp>
      <p:sp>
        <p:nvSpPr>
          <p:cNvPr id="7" name="Shape 5"/>
          <p:cNvSpPr/>
          <p:nvPr/>
        </p:nvSpPr>
        <p:spPr>
          <a:xfrm>
            <a:off x="3613150" y="2082800"/>
            <a:ext cx="2159000" cy="825500"/>
          </a:xfrm>
          <a:prstGeom prst="roundRect">
            <a:avLst>
              <a:gd name="adj" fmla="val 7692"/>
            </a:avLst>
          </a:prstGeom>
          <a:solidFill>
            <a:srgbClr val="13233A"/>
          </a:solidFill>
          <a:ln/>
        </p:spPr>
        <p:txBody>
          <a:bodyPr/>
          <a:lstStyle/>
          <a:p>
            <a:endParaRPr lang="en-IN"/>
          </a:p>
        </p:txBody>
      </p:sp>
      <p:sp>
        <p:nvSpPr>
          <p:cNvPr id="8" name="Text 6"/>
          <p:cNvSpPr/>
          <p:nvPr/>
        </p:nvSpPr>
        <p:spPr>
          <a:xfrm>
            <a:off x="3714683" y="2269492"/>
            <a:ext cx="1955855"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2 · Static checks, unit tests</a:t>
            </a:r>
            <a:endParaRPr lang="en-US" sz="1200" dirty="0"/>
          </a:p>
        </p:txBody>
      </p:sp>
      <p:sp>
        <p:nvSpPr>
          <p:cNvPr id="9" name="Text 7"/>
          <p:cNvSpPr/>
          <p:nvPr/>
        </p:nvSpPr>
        <p:spPr>
          <a:xfrm>
            <a:off x="4100036" y="2508250"/>
            <a:ext cx="1185148"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5CFDB"/>
                </a:solidFill>
                <a:latin typeface="IBM Plex Sans" pitchFamily="34" charset="0"/>
                <a:ea typeface="IBM Plex Sans" pitchFamily="34" charset="-122"/>
                <a:cs typeface="IBM Plex Sans" pitchFamily="34" charset="-120"/>
              </a:rPr>
              <a:t>fastest feedback</a:t>
            </a:r>
            <a:endParaRPr lang="en-US" sz="1200" dirty="0"/>
          </a:p>
        </p:txBody>
      </p:sp>
      <p:sp>
        <p:nvSpPr>
          <p:cNvPr id="10" name="Shape 8"/>
          <p:cNvSpPr/>
          <p:nvPr/>
        </p:nvSpPr>
        <p:spPr>
          <a:xfrm>
            <a:off x="6416675" y="2085975"/>
            <a:ext cx="2152650" cy="819150"/>
          </a:xfrm>
          <a:prstGeom prst="roundRect">
            <a:avLst>
              <a:gd name="adj" fmla="val 7364"/>
            </a:avLst>
          </a:prstGeom>
          <a:solidFill>
            <a:srgbClr val="FCFBF7"/>
          </a:solidFill>
          <a:ln w="6350">
            <a:solidFill>
              <a:srgbClr val="C9C2B2"/>
            </a:solidFill>
            <a:prstDash val="solid"/>
          </a:ln>
        </p:spPr>
        <p:txBody>
          <a:bodyPr/>
          <a:lstStyle/>
          <a:p>
            <a:endParaRPr lang="en-IN"/>
          </a:p>
        </p:txBody>
      </p:sp>
      <p:sp>
        <p:nvSpPr>
          <p:cNvPr id="11" name="Text 9"/>
          <p:cNvSpPr/>
          <p:nvPr/>
        </p:nvSpPr>
        <p:spPr>
          <a:xfrm>
            <a:off x="6709490" y="2269492"/>
            <a:ext cx="1567021"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3 · Build and package</a:t>
            </a:r>
            <a:endParaRPr lang="en-US" sz="1200" dirty="0"/>
          </a:p>
        </p:txBody>
      </p:sp>
      <p:sp>
        <p:nvSpPr>
          <p:cNvPr id="12" name="Text 10"/>
          <p:cNvSpPr/>
          <p:nvPr/>
        </p:nvSpPr>
        <p:spPr>
          <a:xfrm>
            <a:off x="6907847" y="2508250"/>
            <a:ext cx="1170226"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977"/>
                </a:solidFill>
                <a:latin typeface="IBM Plex Sans" pitchFamily="34" charset="0"/>
                <a:ea typeface="IBM Plex Sans" pitchFamily="34" charset="-122"/>
                <a:cs typeface="IBM Plex Sans" pitchFamily="34" charset="-120"/>
              </a:rPr>
              <a:t>artifact or image</a:t>
            </a:r>
            <a:endParaRPr lang="en-US" sz="1200" dirty="0"/>
          </a:p>
        </p:txBody>
      </p:sp>
      <p:sp>
        <p:nvSpPr>
          <p:cNvPr id="13" name="Shape 11"/>
          <p:cNvSpPr/>
          <p:nvPr/>
        </p:nvSpPr>
        <p:spPr>
          <a:xfrm>
            <a:off x="9217025" y="2085975"/>
            <a:ext cx="2152650" cy="819150"/>
          </a:xfrm>
          <a:prstGeom prst="roundRect">
            <a:avLst>
              <a:gd name="adj" fmla="val 7364"/>
            </a:avLst>
          </a:prstGeom>
          <a:solidFill>
            <a:srgbClr val="FCFBF7"/>
          </a:solidFill>
          <a:ln w="6350">
            <a:solidFill>
              <a:srgbClr val="C9C2B2"/>
            </a:solidFill>
            <a:prstDash val="solid"/>
          </a:ln>
        </p:spPr>
        <p:txBody>
          <a:bodyPr/>
          <a:lstStyle/>
          <a:p>
            <a:endParaRPr lang="en-IN"/>
          </a:p>
        </p:txBody>
      </p:sp>
      <p:sp>
        <p:nvSpPr>
          <p:cNvPr id="14" name="Text 12"/>
          <p:cNvSpPr/>
          <p:nvPr/>
        </p:nvSpPr>
        <p:spPr>
          <a:xfrm>
            <a:off x="9670574" y="2269492"/>
            <a:ext cx="1245473"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4 · Deploy to test</a:t>
            </a:r>
            <a:endParaRPr lang="en-US" sz="1200" dirty="0"/>
          </a:p>
        </p:txBody>
      </p:sp>
      <p:sp>
        <p:nvSpPr>
          <p:cNvPr id="15" name="Text 13"/>
          <p:cNvSpPr/>
          <p:nvPr/>
        </p:nvSpPr>
        <p:spPr>
          <a:xfrm>
            <a:off x="9470946" y="2508250"/>
            <a:ext cx="1644809"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977"/>
                </a:solidFill>
                <a:latin typeface="IBM Plex Sans" pitchFamily="34" charset="0"/>
                <a:ea typeface="IBM Plex Sans" pitchFamily="34" charset="-122"/>
                <a:cs typeface="IBM Plex Sans" pitchFamily="34" charset="-120"/>
              </a:rPr>
              <a:t>environment from code</a:t>
            </a:r>
            <a:endParaRPr lang="en-US" sz="1200" dirty="0"/>
          </a:p>
        </p:txBody>
      </p:sp>
      <p:sp>
        <p:nvSpPr>
          <p:cNvPr id="16" name="Shape 14"/>
          <p:cNvSpPr/>
          <p:nvPr/>
        </p:nvSpPr>
        <p:spPr>
          <a:xfrm>
            <a:off x="9213850" y="3924300"/>
            <a:ext cx="2159000" cy="825500"/>
          </a:xfrm>
          <a:prstGeom prst="roundRect">
            <a:avLst>
              <a:gd name="adj" fmla="val 7692"/>
            </a:avLst>
          </a:prstGeom>
          <a:solidFill>
            <a:srgbClr val="13233A"/>
          </a:solidFill>
          <a:ln/>
        </p:spPr>
        <p:txBody>
          <a:bodyPr/>
          <a:lstStyle/>
          <a:p>
            <a:endParaRPr lang="en-IN"/>
          </a:p>
        </p:txBody>
      </p:sp>
      <p:sp>
        <p:nvSpPr>
          <p:cNvPr id="17" name="Text 15"/>
          <p:cNvSpPr/>
          <p:nvPr/>
        </p:nvSpPr>
        <p:spPr>
          <a:xfrm>
            <a:off x="9471740" y="4110992"/>
            <a:ext cx="1643221"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5 · API and integration</a:t>
            </a:r>
            <a:endParaRPr lang="en-US" sz="1200" dirty="0"/>
          </a:p>
        </p:txBody>
      </p:sp>
      <p:sp>
        <p:nvSpPr>
          <p:cNvPr id="18" name="Text 16"/>
          <p:cNvSpPr/>
          <p:nvPr/>
        </p:nvSpPr>
        <p:spPr>
          <a:xfrm>
            <a:off x="9521587" y="4349750"/>
            <a:ext cx="1543447"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5CFDB"/>
                </a:solidFill>
                <a:latin typeface="IBM Plex Sans" pitchFamily="34" charset="0"/>
                <a:ea typeface="IBM Plex Sans" pitchFamily="34" charset="-122"/>
                <a:cs typeface="IBM Plex Sans" pitchFamily="34" charset="-120"/>
              </a:rPr>
              <a:t>services talk correctly</a:t>
            </a:r>
            <a:endParaRPr lang="en-US" sz="1200" dirty="0"/>
          </a:p>
        </p:txBody>
      </p:sp>
      <p:sp>
        <p:nvSpPr>
          <p:cNvPr id="19" name="Shape 17"/>
          <p:cNvSpPr/>
          <p:nvPr/>
        </p:nvSpPr>
        <p:spPr>
          <a:xfrm>
            <a:off x="6413500" y="3924300"/>
            <a:ext cx="2159000" cy="825500"/>
          </a:xfrm>
          <a:prstGeom prst="roundRect">
            <a:avLst>
              <a:gd name="adj" fmla="val 7692"/>
            </a:avLst>
          </a:prstGeom>
          <a:solidFill>
            <a:srgbClr val="13233A"/>
          </a:solidFill>
          <a:ln/>
        </p:spPr>
        <p:txBody>
          <a:bodyPr/>
          <a:lstStyle/>
          <a:p>
            <a:endParaRPr lang="en-IN"/>
          </a:p>
        </p:txBody>
      </p:sp>
      <p:sp>
        <p:nvSpPr>
          <p:cNvPr id="20" name="Text 18"/>
          <p:cNvSpPr/>
          <p:nvPr/>
        </p:nvSpPr>
        <p:spPr>
          <a:xfrm>
            <a:off x="6831806" y="4110992"/>
            <a:ext cx="1322388"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6 · UI smoke tests</a:t>
            </a:r>
            <a:endParaRPr lang="en-US" sz="1200" dirty="0"/>
          </a:p>
        </p:txBody>
      </p:sp>
      <p:sp>
        <p:nvSpPr>
          <p:cNvPr id="21" name="Text 19"/>
          <p:cNvSpPr/>
          <p:nvPr/>
        </p:nvSpPr>
        <p:spPr>
          <a:xfrm>
            <a:off x="6764258" y="4349750"/>
            <a:ext cx="1457484"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5CFDB"/>
                </a:solidFill>
                <a:latin typeface="IBM Plex Sans" pitchFamily="34" charset="0"/>
                <a:ea typeface="IBM Plex Sans" pitchFamily="34" charset="-122"/>
                <a:cs typeface="IBM Plex Sans" pitchFamily="34" charset="-120"/>
              </a:rPr>
              <a:t>critical journeys only</a:t>
            </a:r>
            <a:endParaRPr lang="en-US" sz="1200" dirty="0"/>
          </a:p>
        </p:txBody>
      </p:sp>
      <p:sp>
        <p:nvSpPr>
          <p:cNvPr id="22" name="Shape 20"/>
          <p:cNvSpPr/>
          <p:nvPr/>
        </p:nvSpPr>
        <p:spPr>
          <a:xfrm>
            <a:off x="3613150" y="3924300"/>
            <a:ext cx="2159000" cy="825500"/>
          </a:xfrm>
          <a:prstGeom prst="roundRect">
            <a:avLst>
              <a:gd name="adj" fmla="val 7692"/>
            </a:avLst>
          </a:prstGeom>
          <a:solidFill>
            <a:srgbClr val="13233A"/>
          </a:solidFill>
          <a:ln/>
        </p:spPr>
        <p:txBody>
          <a:bodyPr/>
          <a:lstStyle/>
          <a:p>
            <a:endParaRPr lang="en-IN"/>
          </a:p>
        </p:txBody>
      </p:sp>
      <p:sp>
        <p:nvSpPr>
          <p:cNvPr id="23" name="Text 21"/>
          <p:cNvSpPr/>
          <p:nvPr/>
        </p:nvSpPr>
        <p:spPr>
          <a:xfrm>
            <a:off x="3778615" y="4110992"/>
            <a:ext cx="182807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7 · Performance, security</a:t>
            </a:r>
            <a:endParaRPr lang="en-US" sz="1200" dirty="0"/>
          </a:p>
        </p:txBody>
      </p:sp>
      <p:sp>
        <p:nvSpPr>
          <p:cNvPr id="24" name="Text 22"/>
          <p:cNvSpPr/>
          <p:nvPr/>
        </p:nvSpPr>
        <p:spPr>
          <a:xfrm>
            <a:off x="4134088" y="4349750"/>
            <a:ext cx="1117044"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5CFDB"/>
                </a:solidFill>
                <a:latin typeface="IBM Plex Sans" pitchFamily="34" charset="0"/>
                <a:ea typeface="IBM Plex Sans" pitchFamily="34" charset="-122"/>
                <a:cs typeface="IBM Plex Sans" pitchFamily="34" charset="-120"/>
              </a:rPr>
              <a:t>load test, scans</a:t>
            </a:r>
            <a:endParaRPr lang="en-US" sz="1200" dirty="0"/>
          </a:p>
        </p:txBody>
      </p:sp>
      <p:sp>
        <p:nvSpPr>
          <p:cNvPr id="25" name="Shape 23"/>
          <p:cNvSpPr/>
          <p:nvPr/>
        </p:nvSpPr>
        <p:spPr>
          <a:xfrm>
            <a:off x="812800" y="3924300"/>
            <a:ext cx="2159000" cy="825500"/>
          </a:xfrm>
          <a:prstGeom prst="roundRect">
            <a:avLst>
              <a:gd name="adj" fmla="val 7692"/>
            </a:avLst>
          </a:prstGeom>
          <a:solidFill>
            <a:srgbClr val="E98B53"/>
          </a:solidFill>
          <a:ln/>
        </p:spPr>
        <p:txBody>
          <a:bodyPr/>
          <a:lstStyle/>
          <a:p>
            <a:endParaRPr lang="en-IN"/>
          </a:p>
        </p:txBody>
      </p:sp>
      <p:sp>
        <p:nvSpPr>
          <p:cNvPr id="26" name="Text 24"/>
          <p:cNvSpPr/>
          <p:nvPr/>
        </p:nvSpPr>
        <p:spPr>
          <a:xfrm>
            <a:off x="1478518" y="4110992"/>
            <a:ext cx="827484"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8 · Release</a:t>
            </a:r>
            <a:endParaRPr lang="en-US" sz="1200" dirty="0"/>
          </a:p>
        </p:txBody>
      </p:sp>
      <p:sp>
        <p:nvSpPr>
          <p:cNvPr id="27" name="Text 25"/>
          <p:cNvSpPr/>
          <p:nvPr/>
        </p:nvSpPr>
        <p:spPr>
          <a:xfrm>
            <a:off x="1102757" y="4349750"/>
            <a:ext cx="1579086"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then monitor and alert</a:t>
            </a:r>
            <a:endParaRPr lang="en-US" sz="1200" dirty="0"/>
          </a:p>
        </p:txBody>
      </p:sp>
      <p:pic>
        <p:nvPicPr>
          <p:cNvPr id="28" name="Image 0" descr="connector"/>
          <p:cNvPicPr>
            <a:picLocks noChangeAspect="1"/>
          </p:cNvPicPr>
          <p:nvPr/>
        </p:nvPicPr>
        <p:blipFill>
          <a:blip r:embed="rId3"/>
          <a:srcRect/>
          <a:stretch/>
        </p:blipFill>
        <p:spPr>
          <a:xfrm>
            <a:off x="2921000" y="2444750"/>
            <a:ext cx="742950" cy="101600"/>
          </a:xfrm>
          <a:prstGeom prst="rect">
            <a:avLst/>
          </a:prstGeom>
        </p:spPr>
      </p:pic>
      <p:pic>
        <p:nvPicPr>
          <p:cNvPr id="29" name="Image 1" descr="connector"/>
          <p:cNvPicPr>
            <a:picLocks noChangeAspect="1"/>
          </p:cNvPicPr>
          <p:nvPr/>
        </p:nvPicPr>
        <p:blipFill>
          <a:blip r:embed="rId3"/>
          <a:srcRect/>
          <a:stretch/>
        </p:blipFill>
        <p:spPr>
          <a:xfrm>
            <a:off x="5721350" y="2444750"/>
            <a:ext cx="742950" cy="101600"/>
          </a:xfrm>
          <a:prstGeom prst="rect">
            <a:avLst/>
          </a:prstGeom>
        </p:spPr>
      </p:pic>
      <p:pic>
        <p:nvPicPr>
          <p:cNvPr id="30" name="Image 2" descr="connector"/>
          <p:cNvPicPr>
            <a:picLocks noChangeAspect="1"/>
          </p:cNvPicPr>
          <p:nvPr/>
        </p:nvPicPr>
        <p:blipFill>
          <a:blip r:embed="rId3"/>
          <a:srcRect/>
          <a:stretch/>
        </p:blipFill>
        <p:spPr>
          <a:xfrm>
            <a:off x="8521700" y="2444750"/>
            <a:ext cx="742950" cy="101600"/>
          </a:xfrm>
          <a:prstGeom prst="rect">
            <a:avLst/>
          </a:prstGeom>
        </p:spPr>
      </p:pic>
      <p:pic>
        <p:nvPicPr>
          <p:cNvPr id="31" name="Image 3" descr="connector"/>
          <p:cNvPicPr>
            <a:picLocks noChangeAspect="1"/>
          </p:cNvPicPr>
          <p:nvPr/>
        </p:nvPicPr>
        <p:blipFill>
          <a:blip r:embed="rId4"/>
          <a:srcRect/>
          <a:stretch/>
        </p:blipFill>
        <p:spPr>
          <a:xfrm>
            <a:off x="10242550" y="2857500"/>
            <a:ext cx="101600" cy="1117600"/>
          </a:xfrm>
          <a:prstGeom prst="rect">
            <a:avLst/>
          </a:prstGeom>
        </p:spPr>
      </p:pic>
      <p:pic>
        <p:nvPicPr>
          <p:cNvPr id="32" name="Image 4" descr="connector"/>
          <p:cNvPicPr>
            <a:picLocks noChangeAspect="1"/>
          </p:cNvPicPr>
          <p:nvPr/>
        </p:nvPicPr>
        <p:blipFill>
          <a:blip r:embed="rId5"/>
          <a:srcRect/>
          <a:stretch/>
        </p:blipFill>
        <p:spPr>
          <a:xfrm>
            <a:off x="8521700" y="4286250"/>
            <a:ext cx="742950" cy="101600"/>
          </a:xfrm>
          <a:prstGeom prst="rect">
            <a:avLst/>
          </a:prstGeom>
        </p:spPr>
      </p:pic>
      <p:pic>
        <p:nvPicPr>
          <p:cNvPr id="33" name="Image 5" descr="connector"/>
          <p:cNvPicPr>
            <a:picLocks noChangeAspect="1"/>
          </p:cNvPicPr>
          <p:nvPr/>
        </p:nvPicPr>
        <p:blipFill>
          <a:blip r:embed="rId5"/>
          <a:srcRect/>
          <a:stretch/>
        </p:blipFill>
        <p:spPr>
          <a:xfrm>
            <a:off x="5721350" y="4286250"/>
            <a:ext cx="742950" cy="101600"/>
          </a:xfrm>
          <a:prstGeom prst="rect">
            <a:avLst/>
          </a:prstGeom>
        </p:spPr>
      </p:pic>
      <p:pic>
        <p:nvPicPr>
          <p:cNvPr id="34" name="Image 6" descr="connector"/>
          <p:cNvPicPr>
            <a:picLocks noChangeAspect="1"/>
          </p:cNvPicPr>
          <p:nvPr/>
        </p:nvPicPr>
        <p:blipFill>
          <a:blip r:embed="rId5"/>
          <a:srcRect/>
          <a:stretch/>
        </p:blipFill>
        <p:spPr>
          <a:xfrm>
            <a:off x="2921000" y="4286250"/>
            <a:ext cx="742950" cy="101600"/>
          </a:xfrm>
          <a:prstGeom prst="rect">
            <a:avLst/>
          </a:prstGeom>
        </p:spPr>
      </p:pic>
      <p:sp>
        <p:nvSpPr>
          <p:cNvPr id="35" name="Text 26"/>
          <p:cNvSpPr/>
          <p:nvPr/>
        </p:nvSpPr>
        <p:spPr>
          <a:xfrm>
            <a:off x="812800" y="50673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Cheapest, fastest checks run first; each stage runs only if the one before it passes.</a:t>
            </a:r>
            <a:endParaRPr lang="en-US" sz="1400" dirty="0"/>
          </a:p>
        </p:txBody>
      </p:sp>
      <p:sp>
        <p:nvSpPr>
          <p:cNvPr id="36" name="Text 27"/>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37" name="Text 28"/>
          <p:cNvSpPr/>
          <p:nvPr/>
        </p:nvSpPr>
        <p:spPr>
          <a:xfrm>
            <a:off x="9011444" y="6238242"/>
            <a:ext cx="24387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Dark boxes: automated test stages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L2 · TEST AUTOMATION IN DEVOPS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Quality is a whole-team job</a:t>
            </a:r>
            <a:endParaRPr lang="en-US" sz="3200" dirty="0"/>
          </a:p>
        </p:txBody>
      </p:sp>
      <p:sp>
        <p:nvSpPr>
          <p:cNvPr id="4" name="Shape 2"/>
          <p:cNvSpPr/>
          <p:nvPr/>
        </p:nvSpPr>
        <p:spPr>
          <a:xfrm>
            <a:off x="11376025" y="1828800"/>
            <a:ext cx="0" cy="2316480"/>
          </a:xfrm>
          <a:prstGeom prst="line">
            <a:avLst/>
          </a:prstGeom>
          <a:noFill/>
          <a:ln w="6350">
            <a:solidFill>
              <a:srgbClr val="DDD8CC"/>
            </a:solidFill>
            <a:prstDash val="solid"/>
          </a:ln>
        </p:spPr>
        <p:txBody>
          <a:bodyPr/>
          <a:lstStyle/>
          <a:p>
            <a:endParaRPr lang="en-IN"/>
          </a:p>
        </p:txBody>
      </p:sp>
      <p:sp>
        <p:nvSpPr>
          <p:cNvPr id="5" name="Shape 3"/>
          <p:cNvSpPr/>
          <p:nvPr/>
        </p:nvSpPr>
        <p:spPr>
          <a:xfrm>
            <a:off x="812800" y="4142105"/>
            <a:ext cx="10566400" cy="0"/>
          </a:xfrm>
          <a:prstGeom prst="line">
            <a:avLst/>
          </a:prstGeom>
          <a:noFill/>
          <a:ln w="6350">
            <a:solidFill>
              <a:srgbClr val="DDD8CC"/>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301240"/>
        </p:xfrm>
        <a:graphic>
          <a:graphicData uri="http://schemas.openxmlformats.org/drawingml/2006/table">
            <a:tbl>
              <a:tblPr/>
              <a:tblGrid>
                <a:gridCol w="3376371">
                  <a:extLst>
                    <a:ext uri="{9D8B030D-6E8A-4147-A177-3AD203B41FA5}">
                      <a16:colId xmlns:a16="http://schemas.microsoft.com/office/drawing/2014/main" val="20000"/>
                    </a:ext>
                  </a:extLst>
                </a:gridCol>
                <a:gridCol w="7174789">
                  <a:extLst>
                    <a:ext uri="{9D8B030D-6E8A-4147-A177-3AD203B41FA5}">
                      <a16:colId xmlns:a16="http://schemas.microsoft.com/office/drawing/2014/main" val="20001"/>
                    </a:ext>
                  </a:extLst>
                </a:gridCol>
              </a:tblGrid>
              <a:tr h="383540">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Role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Testing work in a DevOps team</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Developers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Write unit tests, keep the build green, review each other's code</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Testers / QA engineers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Test strategy, risk analysis, exploratory and acceptance testing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Automation engineers (SDETs)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Frameworks, pipelines, test data and reporting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Operations / SRE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Monitoring, synthetic checks, performance and resilience testing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Product owner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Acceptance criteria and release sign-off</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5"/>
                  </a:ext>
                </a:extLst>
              </a:tr>
            </a:tbl>
          </a:graphicData>
        </a:graphic>
      </p:graphicFrame>
      <p:sp>
        <p:nvSpPr>
          <p:cNvPr id="7" name="Shape 4"/>
          <p:cNvSpPr/>
          <p:nvPr/>
        </p:nvSpPr>
        <p:spPr>
          <a:xfrm>
            <a:off x="812800" y="4399285"/>
            <a:ext cx="10566400" cy="553720"/>
          </a:xfrm>
          <a:prstGeom prst="roundRect">
            <a:avLst>
              <a:gd name="adj" fmla="val 13761"/>
            </a:avLst>
          </a:prstGeom>
          <a:solidFill>
            <a:srgbClr val="DCE7F3"/>
          </a:solidFill>
          <a:ln/>
        </p:spPr>
        <p:txBody>
          <a:bodyPr/>
          <a:lstStyle/>
          <a:p>
            <a:endParaRPr lang="en-IN"/>
          </a:p>
        </p:txBody>
      </p:sp>
      <p:sp>
        <p:nvSpPr>
          <p:cNvPr id="8" name="Text 5"/>
          <p:cNvSpPr/>
          <p:nvPr/>
        </p:nvSpPr>
        <p:spPr>
          <a:xfrm>
            <a:off x="1016000" y="4569458"/>
            <a:ext cx="150876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SHIFT IN ROLES</a:t>
            </a:r>
            <a:endParaRPr lang="en-US" sz="1200" dirty="0"/>
          </a:p>
        </p:txBody>
      </p:sp>
      <p:sp>
        <p:nvSpPr>
          <p:cNvPr id="9" name="Text 6"/>
          <p:cNvSpPr/>
          <p:nvPr/>
        </p:nvSpPr>
        <p:spPr>
          <a:xfrm>
            <a:off x="2626360" y="4551685"/>
            <a:ext cx="880612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Testers spend less time running scripts by hand and more on strategy, exploration and coaching the team.</a:t>
            </a:r>
            <a:endParaRPr lang="en-US" sz="1400" dirty="0"/>
          </a:p>
        </p:txBody>
      </p:sp>
      <p:sp>
        <p:nvSpPr>
          <p:cNvPr id="10" name="Text 7"/>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1" name="Text 8"/>
          <p:cNvSpPr/>
          <p:nvPr/>
        </p:nvSpPr>
        <p:spPr>
          <a:xfrm>
            <a:off x="6073061" y="6238242"/>
            <a:ext cx="54653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SDET: software development engineer in test · SRE: site reliability engineering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L2 · TEST AUTOMATION USE CASES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Where test automation is used</a:t>
            </a:r>
            <a:endParaRPr lang="en-US" sz="3200" dirty="0"/>
          </a:p>
        </p:txBody>
      </p:sp>
      <p:sp>
        <p:nvSpPr>
          <p:cNvPr id="4" name="Shape 2"/>
          <p:cNvSpPr/>
          <p:nvPr/>
        </p:nvSpPr>
        <p:spPr>
          <a:xfrm>
            <a:off x="815975" y="1831975"/>
            <a:ext cx="2520950"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5" name="Text 3"/>
          <p:cNvSpPr/>
          <p:nvPr/>
        </p:nvSpPr>
        <p:spPr>
          <a:xfrm>
            <a:off x="995680" y="2011685"/>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Regression suites</a:t>
            </a:r>
            <a:endParaRPr lang="en-US" sz="1400" dirty="0"/>
          </a:p>
        </p:txBody>
      </p:sp>
      <p:sp>
        <p:nvSpPr>
          <p:cNvPr id="6" name="Text 4"/>
          <p:cNvSpPr/>
          <p:nvPr/>
        </p:nvSpPr>
        <p:spPr>
          <a:xfrm>
            <a:off x="995680" y="2293627"/>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Rerun coupon and cart tests after every change</a:t>
            </a:r>
            <a:endParaRPr lang="en-US" sz="1200" dirty="0"/>
          </a:p>
        </p:txBody>
      </p:sp>
      <p:sp>
        <p:nvSpPr>
          <p:cNvPr id="7" name="Shape 5"/>
          <p:cNvSpPr/>
          <p:nvPr/>
        </p:nvSpPr>
        <p:spPr>
          <a:xfrm>
            <a:off x="3495675" y="1831975"/>
            <a:ext cx="2520950"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8" name="Text 6"/>
          <p:cNvSpPr/>
          <p:nvPr/>
        </p:nvSpPr>
        <p:spPr>
          <a:xfrm>
            <a:off x="3675380" y="2011685"/>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Smoke checks</a:t>
            </a:r>
            <a:endParaRPr lang="en-US" sz="1400" dirty="0"/>
          </a:p>
        </p:txBody>
      </p:sp>
      <p:sp>
        <p:nvSpPr>
          <p:cNvPr id="9" name="Text 7"/>
          <p:cNvSpPr/>
          <p:nvPr/>
        </p:nvSpPr>
        <p:spPr>
          <a:xfrm>
            <a:off x="3675380" y="2293627"/>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App opens, login works and the menu loads, on every build</a:t>
            </a:r>
            <a:endParaRPr lang="en-US" sz="1200" dirty="0"/>
          </a:p>
        </p:txBody>
      </p:sp>
      <p:sp>
        <p:nvSpPr>
          <p:cNvPr id="10" name="Shape 8"/>
          <p:cNvSpPr/>
          <p:nvPr/>
        </p:nvSpPr>
        <p:spPr>
          <a:xfrm>
            <a:off x="6175375" y="1831975"/>
            <a:ext cx="2520950"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6355080" y="2011685"/>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Data-driven tests</a:t>
            </a:r>
            <a:endParaRPr lang="en-US" sz="1400" dirty="0"/>
          </a:p>
        </p:txBody>
      </p:sp>
      <p:sp>
        <p:nvSpPr>
          <p:cNvPr id="12" name="Text 10"/>
          <p:cNvSpPr/>
          <p:nvPr/>
        </p:nvSpPr>
        <p:spPr>
          <a:xfrm>
            <a:off x="6355080" y="2293627"/>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One test, fifty coupon codes read from a CSV file</a:t>
            </a:r>
            <a:endParaRPr lang="en-US" sz="1200" dirty="0"/>
          </a:p>
        </p:txBody>
      </p:sp>
      <p:sp>
        <p:nvSpPr>
          <p:cNvPr id="13" name="Shape 11"/>
          <p:cNvSpPr/>
          <p:nvPr/>
        </p:nvSpPr>
        <p:spPr>
          <a:xfrm>
            <a:off x="8855075" y="1831975"/>
            <a:ext cx="2520950"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9034780" y="2011685"/>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Cross-browser and device</a:t>
            </a:r>
            <a:endParaRPr lang="en-US" sz="1400" dirty="0"/>
          </a:p>
        </p:txBody>
      </p:sp>
      <p:sp>
        <p:nvSpPr>
          <p:cNvPr id="15" name="Text 13"/>
          <p:cNvSpPr/>
          <p:nvPr/>
        </p:nvSpPr>
        <p:spPr>
          <a:xfrm>
            <a:off x="9034780" y="2293627"/>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Checkout on Chrome, Firefox, Safari and Android</a:t>
            </a:r>
            <a:endParaRPr lang="en-US" sz="1200" dirty="0"/>
          </a:p>
        </p:txBody>
      </p:sp>
      <p:sp>
        <p:nvSpPr>
          <p:cNvPr id="16" name="Shape 14"/>
          <p:cNvSpPr/>
          <p:nvPr/>
        </p:nvSpPr>
        <p:spPr>
          <a:xfrm>
            <a:off x="815975" y="3058802"/>
            <a:ext cx="2520950"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17" name="Text 15"/>
          <p:cNvSpPr/>
          <p:nvPr/>
        </p:nvSpPr>
        <p:spPr>
          <a:xfrm>
            <a:off x="995680" y="3238500"/>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API and contract tests</a:t>
            </a:r>
            <a:endParaRPr lang="en-US" sz="1400" dirty="0"/>
          </a:p>
        </p:txBody>
      </p:sp>
      <p:sp>
        <p:nvSpPr>
          <p:cNvPr id="18" name="Text 16"/>
          <p:cNvSpPr/>
          <p:nvPr/>
        </p:nvSpPr>
        <p:spPr>
          <a:xfrm>
            <a:off x="995680" y="3520442"/>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Adding to the cart returns 201 and the right line total</a:t>
            </a:r>
            <a:endParaRPr lang="en-US" sz="1200" dirty="0"/>
          </a:p>
        </p:txBody>
      </p:sp>
      <p:sp>
        <p:nvSpPr>
          <p:cNvPr id="19" name="Shape 17"/>
          <p:cNvSpPr/>
          <p:nvPr/>
        </p:nvSpPr>
        <p:spPr>
          <a:xfrm>
            <a:off x="3495675" y="3058802"/>
            <a:ext cx="2520950"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20" name="Text 18"/>
          <p:cNvSpPr/>
          <p:nvPr/>
        </p:nvSpPr>
        <p:spPr>
          <a:xfrm>
            <a:off x="3675380" y="3238500"/>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Performance and load</a:t>
            </a:r>
            <a:endParaRPr lang="en-US" sz="1400" dirty="0"/>
          </a:p>
        </p:txBody>
      </p:sp>
      <p:sp>
        <p:nvSpPr>
          <p:cNvPr id="21" name="Text 19"/>
          <p:cNvSpPr/>
          <p:nvPr/>
        </p:nvSpPr>
        <p:spPr>
          <a:xfrm>
            <a:off x="3675380" y="3520442"/>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menu under a simulated lunch-hour rush</a:t>
            </a:r>
            <a:endParaRPr lang="en-US" sz="1200" dirty="0"/>
          </a:p>
        </p:txBody>
      </p:sp>
      <p:sp>
        <p:nvSpPr>
          <p:cNvPr id="22" name="Shape 20"/>
          <p:cNvSpPr/>
          <p:nvPr/>
        </p:nvSpPr>
        <p:spPr>
          <a:xfrm>
            <a:off x="6175375" y="3058802"/>
            <a:ext cx="2520950"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23" name="Text 21"/>
          <p:cNvSpPr/>
          <p:nvPr/>
        </p:nvSpPr>
        <p:spPr>
          <a:xfrm>
            <a:off x="6355080" y="3238500"/>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Security scans</a:t>
            </a:r>
            <a:endParaRPr lang="en-US" sz="1400" dirty="0"/>
          </a:p>
        </p:txBody>
      </p:sp>
      <p:sp>
        <p:nvSpPr>
          <p:cNvPr id="24" name="Text 22"/>
          <p:cNvSpPr/>
          <p:nvPr/>
        </p:nvSpPr>
        <p:spPr>
          <a:xfrm>
            <a:off x="6355080" y="3520442"/>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Nightly dependency check and a scan of the login page</a:t>
            </a:r>
            <a:endParaRPr lang="en-US" sz="1200" dirty="0"/>
          </a:p>
        </p:txBody>
      </p:sp>
      <p:sp>
        <p:nvSpPr>
          <p:cNvPr id="25" name="Shape 23"/>
          <p:cNvSpPr/>
          <p:nvPr/>
        </p:nvSpPr>
        <p:spPr>
          <a:xfrm>
            <a:off x="8855075" y="3058802"/>
            <a:ext cx="2520950"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26" name="Text 24"/>
          <p:cNvSpPr/>
          <p:nvPr/>
        </p:nvSpPr>
        <p:spPr>
          <a:xfrm>
            <a:off x="9034780" y="3238500"/>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Production monitoring</a:t>
            </a:r>
            <a:endParaRPr lang="en-US" sz="1400" dirty="0"/>
          </a:p>
        </p:txBody>
      </p:sp>
      <p:sp>
        <p:nvSpPr>
          <p:cNvPr id="27" name="Text 25"/>
          <p:cNvSpPr/>
          <p:nvPr/>
        </p:nvSpPr>
        <p:spPr>
          <a:xfrm>
            <a:off x="9034780" y="3520442"/>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A scripted test order placed on a schedule, alerting on failure</a:t>
            </a:r>
            <a:endParaRPr lang="en-US" sz="1200" dirty="0"/>
          </a:p>
        </p:txBody>
      </p:sp>
      <p:sp>
        <p:nvSpPr>
          <p:cNvPr id="28" name="Text 26"/>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9" name="Text 27"/>
          <p:cNvSpPr/>
          <p:nvPr/>
        </p:nvSpPr>
        <p:spPr>
          <a:xfrm>
            <a:off x="8892619" y="6238242"/>
            <a:ext cx="256117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Each example uses the Canteen App</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L2 · TEST AUTOMATION USE CASES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Tools you will use in this course</a:t>
            </a:r>
            <a:endParaRPr lang="en-US" sz="3200" dirty="0"/>
          </a:p>
        </p:txBody>
      </p:sp>
      <p:sp>
        <p:nvSpPr>
          <p:cNvPr id="4" name="Shape 2"/>
          <p:cNvSpPr/>
          <p:nvPr/>
        </p:nvSpPr>
        <p:spPr>
          <a:xfrm>
            <a:off x="11376025" y="1828800"/>
            <a:ext cx="0" cy="2316480"/>
          </a:xfrm>
          <a:prstGeom prst="line">
            <a:avLst/>
          </a:prstGeom>
          <a:noFill/>
          <a:ln w="6350">
            <a:solidFill>
              <a:srgbClr val="DDD8CC"/>
            </a:solidFill>
            <a:prstDash val="solid"/>
          </a:ln>
        </p:spPr>
        <p:txBody>
          <a:bodyPr/>
          <a:lstStyle/>
          <a:p>
            <a:endParaRPr lang="en-IN"/>
          </a:p>
        </p:txBody>
      </p:sp>
      <p:sp>
        <p:nvSpPr>
          <p:cNvPr id="5" name="Shape 3"/>
          <p:cNvSpPr/>
          <p:nvPr/>
        </p:nvSpPr>
        <p:spPr>
          <a:xfrm>
            <a:off x="812800" y="4142105"/>
            <a:ext cx="10566400" cy="0"/>
          </a:xfrm>
          <a:prstGeom prst="line">
            <a:avLst/>
          </a:prstGeom>
          <a:noFill/>
          <a:ln w="6350">
            <a:solidFill>
              <a:srgbClr val="DDD8CC"/>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301240"/>
        </p:xfrm>
        <a:graphic>
          <a:graphicData uri="http://schemas.openxmlformats.org/drawingml/2006/table">
            <a:tbl>
              <a:tblPr/>
              <a:tblGrid>
                <a:gridCol w="3587394">
                  <a:extLst>
                    <a:ext uri="{9D8B030D-6E8A-4147-A177-3AD203B41FA5}">
                      <a16:colId xmlns:a16="http://schemas.microsoft.com/office/drawing/2014/main" val="20000"/>
                    </a:ext>
                  </a:extLst>
                </a:gridCol>
                <a:gridCol w="4220464">
                  <a:extLst>
                    <a:ext uri="{9D8B030D-6E8A-4147-A177-3AD203B41FA5}">
                      <a16:colId xmlns:a16="http://schemas.microsoft.com/office/drawing/2014/main" val="20001"/>
                    </a:ext>
                  </a:extLst>
                </a:gridCol>
                <a:gridCol w="2743302">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Job</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Tool</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Labs</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UI automation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Selenium WebDriver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1, 2, 3, 6</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 framework</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pytest, pytest-bdd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4, 7, 12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Cross-browser runs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Selenium Grid on Docker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API testing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Postman, Newman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9, 11</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CI pipeline and reports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Jenkins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13, 14</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5"/>
                  </a:ext>
                </a:extLst>
              </a:tr>
            </a:tbl>
          </a:graphicData>
        </a:graphic>
      </p:graphicFrame>
      <p:sp>
        <p:nvSpPr>
          <p:cNvPr id="7" name="Text 4"/>
          <p:cNvSpPr/>
          <p:nvPr/>
        </p:nvSpPr>
        <p:spPr>
          <a:xfrm>
            <a:off x="812800" y="439928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E6977"/>
                </a:solidFill>
                <a:latin typeface="JetBrains Mono" pitchFamily="34" charset="0"/>
                <a:ea typeface="JetBrains Mono" pitchFamily="34" charset="-122"/>
                <a:cs typeface="JetBrains Mono" pitchFamily="34" charset="-120"/>
              </a:rPr>
              <a:t>ALSO COMMON IN INDUSTRY</a:t>
            </a:r>
            <a:endParaRPr lang="en-US" sz="1200" dirty="0"/>
          </a:p>
        </p:txBody>
      </p:sp>
      <p:sp>
        <p:nvSpPr>
          <p:cNvPr id="8" name="Shape 5"/>
          <p:cNvSpPr/>
          <p:nvPr/>
        </p:nvSpPr>
        <p:spPr>
          <a:xfrm>
            <a:off x="815975" y="4717417"/>
            <a:ext cx="1939449" cy="344170"/>
          </a:xfrm>
          <a:prstGeom prst="roundRect">
            <a:avLst>
              <a:gd name="adj" fmla="val 50000"/>
            </a:avLst>
          </a:prstGeom>
          <a:solidFill>
            <a:srgbClr val="FCFBF7"/>
          </a:solidFill>
          <a:ln w="6350">
            <a:solidFill>
              <a:srgbClr val="DDD8CC"/>
            </a:solidFill>
            <a:prstDash val="solid"/>
          </a:ln>
        </p:spPr>
        <p:txBody>
          <a:bodyPr/>
          <a:lstStyle/>
          <a:p>
            <a:endParaRPr lang="en-IN"/>
          </a:p>
        </p:txBody>
      </p:sp>
      <p:sp>
        <p:nvSpPr>
          <p:cNvPr id="9" name="Text 6"/>
          <p:cNvSpPr/>
          <p:nvPr/>
        </p:nvSpPr>
        <p:spPr>
          <a:xfrm>
            <a:off x="970280" y="4782822"/>
            <a:ext cx="168163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Playwright, Cypress · UI</a:t>
            </a:r>
            <a:endParaRPr lang="en-US" sz="1200" dirty="0"/>
          </a:p>
        </p:txBody>
      </p:sp>
      <p:sp>
        <p:nvSpPr>
          <p:cNvPr id="10" name="Shape 7"/>
          <p:cNvSpPr/>
          <p:nvPr/>
        </p:nvSpPr>
        <p:spPr>
          <a:xfrm>
            <a:off x="2863374" y="4717417"/>
            <a:ext cx="2023904" cy="344170"/>
          </a:xfrm>
          <a:prstGeom prst="roundRect">
            <a:avLst>
              <a:gd name="adj" fmla="val 50000"/>
            </a:avLst>
          </a:prstGeom>
          <a:solidFill>
            <a:srgbClr val="FCFBF7"/>
          </a:solidFill>
          <a:ln w="6350">
            <a:solidFill>
              <a:srgbClr val="DDD8CC"/>
            </a:solidFill>
            <a:prstDash val="solid"/>
          </a:ln>
        </p:spPr>
        <p:txBody>
          <a:bodyPr/>
          <a:lstStyle/>
          <a:p>
            <a:endParaRPr lang="en-IN"/>
          </a:p>
        </p:txBody>
      </p:sp>
      <p:sp>
        <p:nvSpPr>
          <p:cNvPr id="11" name="Text 8"/>
          <p:cNvSpPr/>
          <p:nvPr/>
        </p:nvSpPr>
        <p:spPr>
          <a:xfrm>
            <a:off x="3017679" y="4782822"/>
            <a:ext cx="17667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JMeter, k6 · performance</a:t>
            </a:r>
            <a:endParaRPr lang="en-US" sz="1200" dirty="0"/>
          </a:p>
        </p:txBody>
      </p:sp>
      <p:sp>
        <p:nvSpPr>
          <p:cNvPr id="12" name="Shape 9"/>
          <p:cNvSpPr/>
          <p:nvPr/>
        </p:nvSpPr>
        <p:spPr>
          <a:xfrm>
            <a:off x="4995228" y="4717417"/>
            <a:ext cx="1811020" cy="344170"/>
          </a:xfrm>
          <a:prstGeom prst="roundRect">
            <a:avLst>
              <a:gd name="adj" fmla="val 50000"/>
            </a:avLst>
          </a:prstGeom>
          <a:solidFill>
            <a:srgbClr val="FCFBF7"/>
          </a:solidFill>
          <a:ln w="6350">
            <a:solidFill>
              <a:srgbClr val="DDD8CC"/>
            </a:solidFill>
            <a:prstDash val="solid"/>
          </a:ln>
        </p:spPr>
        <p:txBody>
          <a:bodyPr/>
          <a:lstStyle/>
          <a:p>
            <a:endParaRPr lang="en-IN"/>
          </a:p>
        </p:txBody>
      </p:sp>
      <p:sp>
        <p:nvSpPr>
          <p:cNvPr id="13" name="Text 10"/>
          <p:cNvSpPr/>
          <p:nvPr/>
        </p:nvSpPr>
        <p:spPr>
          <a:xfrm>
            <a:off x="5149533" y="4782822"/>
            <a:ext cx="155321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OWASP ZAP · security</a:t>
            </a:r>
            <a:endParaRPr lang="en-US" sz="1200" dirty="0"/>
          </a:p>
        </p:txBody>
      </p:sp>
      <p:sp>
        <p:nvSpPr>
          <p:cNvPr id="14" name="Shape 11"/>
          <p:cNvSpPr/>
          <p:nvPr/>
        </p:nvSpPr>
        <p:spPr>
          <a:xfrm>
            <a:off x="6914197" y="4717417"/>
            <a:ext cx="2145824" cy="344170"/>
          </a:xfrm>
          <a:prstGeom prst="roundRect">
            <a:avLst>
              <a:gd name="adj" fmla="val 50000"/>
            </a:avLst>
          </a:prstGeom>
          <a:solidFill>
            <a:srgbClr val="FCFBF7"/>
          </a:solidFill>
          <a:ln w="6350">
            <a:solidFill>
              <a:srgbClr val="DDD8CC"/>
            </a:solidFill>
            <a:prstDash val="solid"/>
          </a:ln>
        </p:spPr>
        <p:txBody>
          <a:bodyPr/>
          <a:lstStyle/>
          <a:p>
            <a:endParaRPr lang="en-IN"/>
          </a:p>
        </p:txBody>
      </p:sp>
      <p:sp>
        <p:nvSpPr>
          <p:cNvPr id="15" name="Text 12"/>
          <p:cNvSpPr/>
          <p:nvPr/>
        </p:nvSpPr>
        <p:spPr>
          <a:xfrm>
            <a:off x="7068502" y="4782822"/>
            <a:ext cx="18923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REST Assured · API in Java</a:t>
            </a:r>
            <a:endParaRPr lang="en-US" sz="1200" dirty="0"/>
          </a:p>
        </p:txBody>
      </p:sp>
      <p:sp>
        <p:nvSpPr>
          <p:cNvPr id="16" name="Shape 13"/>
          <p:cNvSpPr/>
          <p:nvPr/>
        </p:nvSpPr>
        <p:spPr>
          <a:xfrm>
            <a:off x="815975" y="5169533"/>
            <a:ext cx="2792730" cy="344170"/>
          </a:xfrm>
          <a:prstGeom prst="roundRect">
            <a:avLst>
              <a:gd name="adj" fmla="val 50000"/>
            </a:avLst>
          </a:prstGeom>
          <a:solidFill>
            <a:srgbClr val="FCFBF7"/>
          </a:solidFill>
          <a:ln w="6350">
            <a:solidFill>
              <a:srgbClr val="DDD8CC"/>
            </a:solidFill>
            <a:prstDash val="solid"/>
          </a:ln>
        </p:spPr>
        <p:txBody>
          <a:bodyPr/>
          <a:lstStyle/>
          <a:p>
            <a:endParaRPr lang="en-IN"/>
          </a:p>
        </p:txBody>
      </p:sp>
      <p:sp>
        <p:nvSpPr>
          <p:cNvPr id="17" name="Text 14"/>
          <p:cNvSpPr/>
          <p:nvPr/>
        </p:nvSpPr>
        <p:spPr>
          <a:xfrm>
            <a:off x="970280" y="5234938"/>
            <a:ext cx="255864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GitHub Actions, GitLab CI · pipelines</a:t>
            </a:r>
            <a:endParaRPr lang="en-US" sz="1200" dirty="0"/>
          </a:p>
        </p:txBody>
      </p:sp>
      <p:sp>
        <p:nvSpPr>
          <p:cNvPr id="18" name="Text 15"/>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9" name="Text 16"/>
          <p:cNvSpPr/>
          <p:nvPr/>
        </p:nvSpPr>
        <p:spPr>
          <a:xfrm>
            <a:off x="8914527" y="6238242"/>
            <a:ext cx="253861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Lab numbers from the lab-wise plan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L2 · TEST AUTOMATION USE CASES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When automation pays off</a:t>
            </a:r>
            <a:endParaRPr lang="en-US" sz="3200" dirty="0"/>
          </a:p>
        </p:txBody>
      </p:sp>
      <p:sp>
        <p:nvSpPr>
          <p:cNvPr id="4" name="Shape 2"/>
          <p:cNvSpPr/>
          <p:nvPr/>
        </p:nvSpPr>
        <p:spPr>
          <a:xfrm>
            <a:off x="812800" y="1922785"/>
            <a:ext cx="254000" cy="25400"/>
          </a:xfrm>
          <a:prstGeom prst="roundRect">
            <a:avLst>
              <a:gd name="adj" fmla="val 50000"/>
            </a:avLst>
          </a:prstGeom>
          <a:solidFill>
            <a:srgbClr val="C2571F"/>
          </a:solidFill>
          <a:ln/>
        </p:spPr>
        <p:txBody>
          <a:bodyPr/>
          <a:lstStyle/>
          <a:p>
            <a:endParaRPr lang="en-IN"/>
          </a:p>
        </p:txBody>
      </p:sp>
      <p:sp>
        <p:nvSpPr>
          <p:cNvPr id="5" name="Text 3"/>
          <p:cNvSpPr/>
          <p:nvPr/>
        </p:nvSpPr>
        <p:spPr>
          <a:xfrm>
            <a:off x="1143000" y="1828800"/>
            <a:ext cx="13035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Manual regression</a:t>
            </a:r>
            <a:endParaRPr lang="en-US" sz="1200" dirty="0"/>
          </a:p>
        </p:txBody>
      </p:sp>
      <p:sp>
        <p:nvSpPr>
          <p:cNvPr id="6" name="Shape 4"/>
          <p:cNvSpPr/>
          <p:nvPr/>
        </p:nvSpPr>
        <p:spPr>
          <a:xfrm>
            <a:off x="2649776" y="1922785"/>
            <a:ext cx="254000" cy="25400"/>
          </a:xfrm>
          <a:prstGeom prst="roundRect">
            <a:avLst>
              <a:gd name="adj" fmla="val 50000"/>
            </a:avLst>
          </a:prstGeom>
          <a:solidFill>
            <a:srgbClr val="245A9C"/>
          </a:solidFill>
          <a:ln/>
        </p:spPr>
        <p:txBody>
          <a:bodyPr/>
          <a:lstStyle/>
          <a:p>
            <a:endParaRPr lang="en-IN"/>
          </a:p>
        </p:txBody>
      </p:sp>
      <p:sp>
        <p:nvSpPr>
          <p:cNvPr id="7" name="Text 5"/>
          <p:cNvSpPr/>
          <p:nvPr/>
        </p:nvSpPr>
        <p:spPr>
          <a:xfrm>
            <a:off x="2979976" y="1828800"/>
            <a:ext cx="11841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Automated suite</a:t>
            </a:r>
            <a:endParaRPr lang="en-US" sz="1200" dirty="0"/>
          </a:p>
        </p:txBody>
      </p:sp>
      <p:pic>
        <p:nvPicPr>
          <p:cNvPr id="8" name="Image 0" descr="Cumulative testing hours over 12 releases. Manual rises from 0 to 192 hours; automated starts at 80 hours and rises to 128. The lines cross near release 7."/>
          <p:cNvPicPr>
            <a:picLocks noChangeAspect="1"/>
          </p:cNvPicPr>
          <p:nvPr/>
        </p:nvPicPr>
        <p:blipFill>
          <a:blip r:embed="rId3"/>
          <a:srcRect t="-6" b="-6"/>
          <a:stretch/>
        </p:blipFill>
        <p:spPr>
          <a:xfrm>
            <a:off x="812800" y="2143758"/>
            <a:ext cx="6604000" cy="3479800"/>
          </a:xfrm>
          <a:prstGeom prst="rect">
            <a:avLst/>
          </a:prstGeom>
        </p:spPr>
      </p:pic>
      <p:sp>
        <p:nvSpPr>
          <p:cNvPr id="9" name="Text 6"/>
          <p:cNvSpPr/>
          <p:nvPr/>
        </p:nvSpPr>
        <p:spPr>
          <a:xfrm>
            <a:off x="762000" y="2162808"/>
            <a:ext cx="4953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IBM Plex Sans" pitchFamily="34" charset="0"/>
                <a:ea typeface="IBM Plex Sans" pitchFamily="34" charset="-122"/>
                <a:cs typeface="IBM Plex Sans" pitchFamily="34" charset="-120"/>
              </a:rPr>
              <a:t>200</a:t>
            </a:r>
            <a:endParaRPr lang="en-US" sz="1200" dirty="0"/>
          </a:p>
        </p:txBody>
      </p:sp>
      <p:sp>
        <p:nvSpPr>
          <p:cNvPr id="10" name="Text 7"/>
          <p:cNvSpPr/>
          <p:nvPr/>
        </p:nvSpPr>
        <p:spPr>
          <a:xfrm>
            <a:off x="762000" y="2861308"/>
            <a:ext cx="4953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IBM Plex Sans" pitchFamily="34" charset="0"/>
                <a:ea typeface="IBM Plex Sans" pitchFamily="34" charset="-122"/>
                <a:cs typeface="IBM Plex Sans" pitchFamily="34" charset="-120"/>
              </a:rPr>
              <a:t>150</a:t>
            </a:r>
            <a:endParaRPr lang="en-US" sz="1200" dirty="0"/>
          </a:p>
        </p:txBody>
      </p:sp>
      <p:sp>
        <p:nvSpPr>
          <p:cNvPr id="11" name="Text 8"/>
          <p:cNvSpPr/>
          <p:nvPr/>
        </p:nvSpPr>
        <p:spPr>
          <a:xfrm>
            <a:off x="762000" y="3559808"/>
            <a:ext cx="4953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IBM Plex Sans" pitchFamily="34" charset="0"/>
                <a:ea typeface="IBM Plex Sans" pitchFamily="34" charset="-122"/>
                <a:cs typeface="IBM Plex Sans" pitchFamily="34" charset="-120"/>
              </a:rPr>
              <a:t>100</a:t>
            </a:r>
            <a:endParaRPr lang="en-US" sz="1200" dirty="0"/>
          </a:p>
        </p:txBody>
      </p:sp>
      <p:sp>
        <p:nvSpPr>
          <p:cNvPr id="12" name="Text 9"/>
          <p:cNvSpPr/>
          <p:nvPr/>
        </p:nvSpPr>
        <p:spPr>
          <a:xfrm>
            <a:off x="762000" y="4258308"/>
            <a:ext cx="4953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IBM Plex Sans" pitchFamily="34" charset="0"/>
                <a:ea typeface="IBM Plex Sans" pitchFamily="34" charset="-122"/>
                <a:cs typeface="IBM Plex Sans" pitchFamily="34" charset="-120"/>
              </a:rPr>
              <a:t>50</a:t>
            </a:r>
            <a:endParaRPr lang="en-US" sz="1200" dirty="0"/>
          </a:p>
        </p:txBody>
      </p:sp>
      <p:sp>
        <p:nvSpPr>
          <p:cNvPr id="13" name="Text 10"/>
          <p:cNvSpPr/>
          <p:nvPr/>
        </p:nvSpPr>
        <p:spPr>
          <a:xfrm>
            <a:off x="762000" y="4956808"/>
            <a:ext cx="4953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977"/>
                </a:solidFill>
                <a:latin typeface="IBM Plex Sans" pitchFamily="34" charset="0"/>
                <a:ea typeface="IBM Plex Sans" pitchFamily="34" charset="-122"/>
                <a:cs typeface="IBM Plex Sans" pitchFamily="34" charset="-120"/>
              </a:rPr>
              <a:t>0</a:t>
            </a:r>
            <a:endParaRPr lang="en-US" sz="1200" dirty="0"/>
          </a:p>
        </p:txBody>
      </p:sp>
      <p:sp>
        <p:nvSpPr>
          <p:cNvPr id="14" name="Text 11"/>
          <p:cNvSpPr/>
          <p:nvPr/>
        </p:nvSpPr>
        <p:spPr>
          <a:xfrm>
            <a:off x="1168400" y="5153658"/>
            <a:ext cx="431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977"/>
                </a:solidFill>
                <a:latin typeface="IBM Plex Sans" pitchFamily="34" charset="0"/>
                <a:ea typeface="IBM Plex Sans" pitchFamily="34" charset="-122"/>
                <a:cs typeface="IBM Plex Sans" pitchFamily="34" charset="-120"/>
              </a:rPr>
              <a:t>0</a:t>
            </a:r>
            <a:endParaRPr lang="en-US" sz="1200" dirty="0"/>
          </a:p>
        </p:txBody>
      </p:sp>
      <p:sp>
        <p:nvSpPr>
          <p:cNvPr id="15" name="Text 12"/>
          <p:cNvSpPr/>
          <p:nvPr/>
        </p:nvSpPr>
        <p:spPr>
          <a:xfrm>
            <a:off x="2260600" y="5153658"/>
            <a:ext cx="431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977"/>
                </a:solidFill>
                <a:latin typeface="IBM Plex Sans" pitchFamily="34" charset="0"/>
                <a:ea typeface="IBM Plex Sans" pitchFamily="34" charset="-122"/>
                <a:cs typeface="IBM Plex Sans" pitchFamily="34" charset="-120"/>
              </a:rPr>
              <a:t>3</a:t>
            </a:r>
            <a:endParaRPr lang="en-US" sz="1200" dirty="0"/>
          </a:p>
        </p:txBody>
      </p:sp>
      <p:sp>
        <p:nvSpPr>
          <p:cNvPr id="16" name="Text 13"/>
          <p:cNvSpPr/>
          <p:nvPr/>
        </p:nvSpPr>
        <p:spPr>
          <a:xfrm>
            <a:off x="3359150" y="5153658"/>
            <a:ext cx="431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977"/>
                </a:solidFill>
                <a:latin typeface="IBM Plex Sans" pitchFamily="34" charset="0"/>
                <a:ea typeface="IBM Plex Sans" pitchFamily="34" charset="-122"/>
                <a:cs typeface="IBM Plex Sans" pitchFamily="34" charset="-120"/>
              </a:rPr>
              <a:t>6</a:t>
            </a:r>
            <a:endParaRPr lang="en-US" sz="1200" dirty="0"/>
          </a:p>
        </p:txBody>
      </p:sp>
      <p:sp>
        <p:nvSpPr>
          <p:cNvPr id="17" name="Text 14"/>
          <p:cNvSpPr/>
          <p:nvPr/>
        </p:nvSpPr>
        <p:spPr>
          <a:xfrm>
            <a:off x="4451350" y="5153658"/>
            <a:ext cx="431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977"/>
                </a:solidFill>
                <a:latin typeface="IBM Plex Sans" pitchFamily="34" charset="0"/>
                <a:ea typeface="IBM Plex Sans" pitchFamily="34" charset="-122"/>
                <a:cs typeface="IBM Plex Sans" pitchFamily="34" charset="-120"/>
              </a:rPr>
              <a:t>9</a:t>
            </a:r>
            <a:endParaRPr lang="en-US" sz="1200" dirty="0"/>
          </a:p>
        </p:txBody>
      </p:sp>
      <p:sp>
        <p:nvSpPr>
          <p:cNvPr id="18" name="Text 15"/>
          <p:cNvSpPr/>
          <p:nvPr/>
        </p:nvSpPr>
        <p:spPr>
          <a:xfrm>
            <a:off x="5549900" y="5153658"/>
            <a:ext cx="431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977"/>
                </a:solidFill>
                <a:latin typeface="IBM Plex Sans" pitchFamily="34" charset="0"/>
                <a:ea typeface="IBM Plex Sans" pitchFamily="34" charset="-122"/>
                <a:cs typeface="IBM Plex Sans" pitchFamily="34" charset="-120"/>
              </a:rPr>
              <a:t>12</a:t>
            </a:r>
            <a:endParaRPr lang="en-US" sz="1200" dirty="0"/>
          </a:p>
        </p:txBody>
      </p:sp>
      <p:sp>
        <p:nvSpPr>
          <p:cNvPr id="19" name="Text 16"/>
          <p:cNvSpPr/>
          <p:nvPr/>
        </p:nvSpPr>
        <p:spPr>
          <a:xfrm>
            <a:off x="2914650" y="5394958"/>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E6977"/>
                </a:solidFill>
                <a:latin typeface="IBM Plex Sans" pitchFamily="34" charset="0"/>
                <a:ea typeface="IBM Plex Sans" pitchFamily="34" charset="-122"/>
                <a:cs typeface="IBM Plex Sans" pitchFamily="34" charset="-120"/>
              </a:rPr>
              <a:t>Releases</a:t>
            </a:r>
            <a:endParaRPr lang="en-US" sz="1200" dirty="0"/>
          </a:p>
        </p:txBody>
      </p:sp>
      <p:sp>
        <p:nvSpPr>
          <p:cNvPr id="20" name="Text 17"/>
          <p:cNvSpPr/>
          <p:nvPr/>
        </p:nvSpPr>
        <p:spPr>
          <a:xfrm>
            <a:off x="1447800" y="2372358"/>
            <a:ext cx="19621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Hours (cumulative)</a:t>
            </a:r>
            <a:endParaRPr lang="en-US" sz="1200" dirty="0"/>
          </a:p>
        </p:txBody>
      </p:sp>
      <p:sp>
        <p:nvSpPr>
          <p:cNvPr id="21" name="Text 18"/>
          <p:cNvSpPr/>
          <p:nvPr/>
        </p:nvSpPr>
        <p:spPr>
          <a:xfrm>
            <a:off x="1447800" y="3401058"/>
            <a:ext cx="1574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80 h build cost</a:t>
            </a:r>
            <a:endParaRPr lang="en-US" sz="1200" dirty="0"/>
          </a:p>
        </p:txBody>
      </p:sp>
      <p:sp>
        <p:nvSpPr>
          <p:cNvPr id="22" name="Text 19"/>
          <p:cNvSpPr/>
          <p:nvPr/>
        </p:nvSpPr>
        <p:spPr>
          <a:xfrm>
            <a:off x="5867400" y="2277108"/>
            <a:ext cx="15748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Manual · 192 h</a:t>
            </a:r>
            <a:endParaRPr lang="en-US" sz="1200" dirty="0"/>
          </a:p>
        </p:txBody>
      </p:sp>
      <p:sp>
        <p:nvSpPr>
          <p:cNvPr id="23" name="Text 20"/>
          <p:cNvSpPr/>
          <p:nvPr/>
        </p:nvSpPr>
        <p:spPr>
          <a:xfrm>
            <a:off x="5867400" y="3166108"/>
            <a:ext cx="15748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Automated · 128 h</a:t>
            </a:r>
            <a:endParaRPr lang="en-US" sz="1200" dirty="0"/>
          </a:p>
        </p:txBody>
      </p:sp>
      <p:sp>
        <p:nvSpPr>
          <p:cNvPr id="24" name="Text 21"/>
          <p:cNvSpPr/>
          <p:nvPr/>
        </p:nvSpPr>
        <p:spPr>
          <a:xfrm>
            <a:off x="3924300" y="3731258"/>
            <a:ext cx="18967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Break-even near release 7</a:t>
            </a:r>
            <a:endParaRPr lang="en-US" sz="1200" dirty="0"/>
          </a:p>
        </p:txBody>
      </p:sp>
      <p:sp>
        <p:nvSpPr>
          <p:cNvPr id="25" name="Text 22"/>
          <p:cNvSpPr/>
          <p:nvPr/>
        </p:nvSpPr>
        <p:spPr>
          <a:xfrm>
            <a:off x="7721600" y="1828800"/>
            <a:ext cx="376732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E6977"/>
                </a:solidFill>
                <a:latin typeface="JetBrains Mono" pitchFamily="34" charset="0"/>
                <a:ea typeface="JetBrains Mono" pitchFamily="34" charset="-122"/>
                <a:cs typeface="JetBrains Mono" pitchFamily="34" charset="-120"/>
              </a:rPr>
              <a:t>THE NUMBERS</a:t>
            </a:r>
            <a:endParaRPr lang="en-US" sz="1200" dirty="0"/>
          </a:p>
        </p:txBody>
      </p:sp>
      <p:sp>
        <p:nvSpPr>
          <p:cNvPr id="26" name="Shape 23"/>
          <p:cNvSpPr/>
          <p:nvPr/>
        </p:nvSpPr>
        <p:spPr>
          <a:xfrm>
            <a:off x="7721600" y="2121533"/>
            <a:ext cx="3657600" cy="0"/>
          </a:xfrm>
          <a:prstGeom prst="line">
            <a:avLst/>
          </a:prstGeom>
          <a:noFill/>
          <a:ln w="6350">
            <a:solidFill>
              <a:srgbClr val="DDD8CC"/>
            </a:solidFill>
            <a:prstDash val="solid"/>
          </a:ln>
        </p:spPr>
        <p:txBody>
          <a:bodyPr/>
          <a:lstStyle/>
          <a:p>
            <a:endParaRPr lang="en-IN"/>
          </a:p>
        </p:txBody>
      </p:sp>
      <p:sp>
        <p:nvSpPr>
          <p:cNvPr id="27" name="Text 24"/>
          <p:cNvSpPr/>
          <p:nvPr/>
        </p:nvSpPr>
        <p:spPr>
          <a:xfrm>
            <a:off x="7721600" y="2301242"/>
            <a:ext cx="31574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Manual regression, per release</a:t>
            </a:r>
            <a:endParaRPr lang="en-US" sz="1200" dirty="0"/>
          </a:p>
        </p:txBody>
      </p:sp>
      <p:sp>
        <p:nvSpPr>
          <p:cNvPr id="28" name="Text 25"/>
          <p:cNvSpPr/>
          <p:nvPr/>
        </p:nvSpPr>
        <p:spPr>
          <a:xfrm>
            <a:off x="10888663" y="2199642"/>
            <a:ext cx="54133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3233A"/>
                </a:solidFill>
                <a:latin typeface="Space Grotesk" pitchFamily="34" charset="0"/>
                <a:ea typeface="Space Grotesk" pitchFamily="34" charset="-122"/>
                <a:cs typeface="Space Grotesk" pitchFamily="34" charset="-120"/>
              </a:rPr>
              <a:t>16 h</a:t>
            </a:r>
            <a:endParaRPr lang="en-US" sz="2000" dirty="0"/>
          </a:p>
        </p:txBody>
      </p:sp>
      <p:sp>
        <p:nvSpPr>
          <p:cNvPr id="29" name="Shape 26"/>
          <p:cNvSpPr/>
          <p:nvPr/>
        </p:nvSpPr>
        <p:spPr>
          <a:xfrm>
            <a:off x="7721600" y="2634617"/>
            <a:ext cx="3657600" cy="0"/>
          </a:xfrm>
          <a:prstGeom prst="line">
            <a:avLst/>
          </a:prstGeom>
          <a:noFill/>
          <a:ln w="6350">
            <a:solidFill>
              <a:srgbClr val="DDD8CC"/>
            </a:solidFill>
            <a:prstDash val="solid"/>
          </a:ln>
        </p:spPr>
        <p:txBody>
          <a:bodyPr/>
          <a:lstStyle/>
          <a:p>
            <a:endParaRPr lang="en-IN"/>
          </a:p>
        </p:txBody>
      </p:sp>
      <p:sp>
        <p:nvSpPr>
          <p:cNvPr id="30" name="Text 27"/>
          <p:cNvSpPr/>
          <p:nvPr/>
        </p:nvSpPr>
        <p:spPr>
          <a:xfrm>
            <a:off x="7721600" y="2814327"/>
            <a:ext cx="310747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Build the automated suite, once</a:t>
            </a:r>
            <a:endParaRPr lang="en-US" sz="1200" dirty="0"/>
          </a:p>
        </p:txBody>
      </p:sp>
      <p:sp>
        <p:nvSpPr>
          <p:cNvPr id="31" name="Text 28"/>
          <p:cNvSpPr/>
          <p:nvPr/>
        </p:nvSpPr>
        <p:spPr>
          <a:xfrm>
            <a:off x="10840165" y="2712727"/>
            <a:ext cx="58983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3233A"/>
                </a:solidFill>
                <a:latin typeface="Space Grotesk" pitchFamily="34" charset="0"/>
                <a:ea typeface="Space Grotesk" pitchFamily="34" charset="-122"/>
                <a:cs typeface="Space Grotesk" pitchFamily="34" charset="-120"/>
              </a:rPr>
              <a:t>80 h</a:t>
            </a:r>
            <a:endParaRPr lang="en-US" sz="2000" dirty="0"/>
          </a:p>
        </p:txBody>
      </p:sp>
      <p:sp>
        <p:nvSpPr>
          <p:cNvPr id="32" name="Shape 29"/>
          <p:cNvSpPr/>
          <p:nvPr/>
        </p:nvSpPr>
        <p:spPr>
          <a:xfrm>
            <a:off x="7721600" y="3147702"/>
            <a:ext cx="3657600" cy="0"/>
          </a:xfrm>
          <a:prstGeom prst="line">
            <a:avLst/>
          </a:prstGeom>
          <a:noFill/>
          <a:ln w="6350">
            <a:solidFill>
              <a:srgbClr val="DDD8CC"/>
            </a:solidFill>
            <a:prstDash val="solid"/>
          </a:ln>
        </p:spPr>
        <p:txBody>
          <a:bodyPr/>
          <a:lstStyle/>
          <a:p>
            <a:endParaRPr lang="en-IN"/>
          </a:p>
        </p:txBody>
      </p:sp>
      <p:sp>
        <p:nvSpPr>
          <p:cNvPr id="33" name="Shape 30"/>
          <p:cNvSpPr/>
          <p:nvPr/>
        </p:nvSpPr>
        <p:spPr>
          <a:xfrm>
            <a:off x="7721600" y="3659512"/>
            <a:ext cx="3657600" cy="0"/>
          </a:xfrm>
          <a:prstGeom prst="line">
            <a:avLst/>
          </a:prstGeom>
          <a:noFill/>
          <a:ln w="6350">
            <a:solidFill>
              <a:srgbClr val="DDD8CC"/>
            </a:solidFill>
            <a:prstDash val="solid"/>
          </a:ln>
        </p:spPr>
        <p:txBody>
          <a:bodyPr/>
          <a:lstStyle/>
          <a:p>
            <a:endParaRPr lang="en-IN"/>
          </a:p>
        </p:txBody>
      </p:sp>
      <p:sp>
        <p:nvSpPr>
          <p:cNvPr id="34" name="Text 31"/>
          <p:cNvSpPr/>
          <p:nvPr/>
        </p:nvSpPr>
        <p:spPr>
          <a:xfrm>
            <a:off x="7721600" y="3327400"/>
            <a:ext cx="326943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Upkeep and review, per release</a:t>
            </a:r>
            <a:endParaRPr lang="en-US" sz="1200" dirty="0"/>
          </a:p>
        </p:txBody>
      </p:sp>
      <p:sp>
        <p:nvSpPr>
          <p:cNvPr id="35" name="Text 32"/>
          <p:cNvSpPr/>
          <p:nvPr/>
        </p:nvSpPr>
        <p:spPr>
          <a:xfrm>
            <a:off x="10997406" y="3225800"/>
            <a:ext cx="432594"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3233A"/>
                </a:solidFill>
                <a:latin typeface="Space Grotesk" pitchFamily="34" charset="0"/>
                <a:ea typeface="Space Grotesk" pitchFamily="34" charset="-122"/>
                <a:cs typeface="Space Grotesk" pitchFamily="34" charset="-120"/>
              </a:rPr>
              <a:t>4 h</a:t>
            </a:r>
            <a:endParaRPr lang="en-US" sz="2000" dirty="0"/>
          </a:p>
        </p:txBody>
      </p:sp>
      <p:sp>
        <p:nvSpPr>
          <p:cNvPr id="36" name="Shape 33"/>
          <p:cNvSpPr/>
          <p:nvPr/>
        </p:nvSpPr>
        <p:spPr>
          <a:xfrm>
            <a:off x="7721600" y="3738885"/>
            <a:ext cx="3657600" cy="1524000"/>
          </a:xfrm>
          <a:prstGeom prst="roundRect">
            <a:avLst>
              <a:gd name="adj" fmla="val 5000"/>
            </a:avLst>
          </a:prstGeom>
          <a:solidFill>
            <a:srgbClr val="13233A"/>
          </a:solidFill>
          <a:ln/>
        </p:spPr>
        <p:txBody>
          <a:bodyPr/>
          <a:lstStyle/>
          <a:p>
            <a:endParaRPr lang="en-IN"/>
          </a:p>
        </p:txBody>
      </p:sp>
      <p:sp>
        <p:nvSpPr>
          <p:cNvPr id="37" name="Text 34"/>
          <p:cNvSpPr/>
          <p:nvPr/>
        </p:nvSpPr>
        <p:spPr>
          <a:xfrm>
            <a:off x="7924800" y="3916685"/>
            <a:ext cx="334873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36B"/>
                </a:solidFill>
                <a:latin typeface="JetBrains Mono" pitchFamily="34" charset="0"/>
                <a:ea typeface="JetBrains Mono" pitchFamily="34" charset="-122"/>
                <a:cs typeface="JetBrains Mono" pitchFamily="34" charset="-120"/>
              </a:rPr>
              <a:t>BREAK-EVEN</a:t>
            </a:r>
            <a:endParaRPr lang="en-US" sz="1200" dirty="0"/>
          </a:p>
        </p:txBody>
      </p:sp>
      <p:sp>
        <p:nvSpPr>
          <p:cNvPr id="38" name="Text 35"/>
          <p:cNvSpPr/>
          <p:nvPr/>
        </p:nvSpPr>
        <p:spPr>
          <a:xfrm>
            <a:off x="7924800" y="4180842"/>
            <a:ext cx="334873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3F1EA"/>
                </a:solidFill>
                <a:latin typeface="Space Grotesk" pitchFamily="34" charset="0"/>
                <a:ea typeface="Space Grotesk" pitchFamily="34" charset="-122"/>
                <a:cs typeface="Space Grotesk" pitchFamily="34" charset="-120"/>
              </a:rPr>
              <a:t>80 ÷ (16 − 4) ≈ 6.7</a:t>
            </a:r>
            <a:endParaRPr lang="en-US" sz="2000" dirty="0"/>
          </a:p>
        </p:txBody>
      </p:sp>
      <p:sp>
        <p:nvSpPr>
          <p:cNvPr id="39" name="Text 36"/>
          <p:cNvSpPr/>
          <p:nvPr/>
        </p:nvSpPr>
        <p:spPr>
          <a:xfrm>
            <a:off x="7924800" y="4587242"/>
            <a:ext cx="334873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5CFDB"/>
                </a:solidFill>
                <a:latin typeface="IBM Plex Sans" pitchFamily="34" charset="0"/>
                <a:ea typeface="IBM Plex Sans" pitchFamily="34" charset="-122"/>
                <a:cs typeface="IBM Plex Sans" pitchFamily="34" charset="-120"/>
              </a:rPr>
              <a:t>Pays off from release 7 and saves 64 h by release 12.</a:t>
            </a:r>
            <a:endParaRPr lang="en-US" sz="1400" dirty="0"/>
          </a:p>
        </p:txBody>
      </p:sp>
      <p:sp>
        <p:nvSpPr>
          <p:cNvPr id="40" name="Text 37"/>
          <p:cNvSpPr/>
          <p:nvPr/>
        </p:nvSpPr>
        <p:spPr>
          <a:xfrm>
            <a:off x="7721600" y="5339085"/>
            <a:ext cx="37673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Illustrative numbers: use your own team's estimates.</a:t>
            </a:r>
            <a:endParaRPr lang="en-US" sz="1200" dirty="0"/>
          </a:p>
        </p:txBody>
      </p:sp>
      <p:sp>
        <p:nvSpPr>
          <p:cNvPr id="41" name="Text 38"/>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42" name="Text 39"/>
          <p:cNvSpPr/>
          <p:nvPr/>
        </p:nvSpPr>
        <p:spPr>
          <a:xfrm>
            <a:off x="8869125" y="6238242"/>
            <a:ext cx="258537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Worked example, not measured data</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L2 · CHECK YOUR UNDERSTANDING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Knowledge check: Lecture 2</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Name two shift-left practices and two shift-right practices.</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Why do static checks and unit tests run before UI tests in the pipeline?</a:t>
            </a:r>
            <a:endParaRPr lang="en-US" sz="1400" dirty="0"/>
          </a:p>
        </p:txBody>
      </p:sp>
      <p:sp>
        <p:nvSpPr>
          <p:cNvPr id="10" name="Shape 8"/>
          <p:cNvSpPr/>
          <p:nvPr/>
        </p:nvSpPr>
        <p:spPr>
          <a:xfrm>
            <a:off x="815975" y="3381375"/>
            <a:ext cx="5175250" cy="1588770"/>
          </a:xfrm>
          <a:prstGeom prst="roundRect">
            <a:avLst>
              <a:gd name="adj" fmla="val 4596"/>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1046480" y="3611885"/>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885"/>
            <a:ext cx="485566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Match a use case to each need: (a) 200 coupon codes to check; (b) the menu under lunch-rush load; (c) basic health of every new build.</a:t>
            </a:r>
            <a:endParaRPr lang="en-US" sz="1400" dirty="0"/>
          </a:p>
        </p:txBody>
      </p:sp>
      <p:sp>
        <p:nvSpPr>
          <p:cNvPr id="13" name="Shape 11"/>
          <p:cNvSpPr/>
          <p:nvPr/>
        </p:nvSpPr>
        <p:spPr>
          <a:xfrm>
            <a:off x="6200775" y="3381375"/>
            <a:ext cx="5175250" cy="1588770"/>
          </a:xfrm>
          <a:prstGeom prst="roundRect">
            <a:avLst>
              <a:gd name="adj" fmla="val 4596"/>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6431280" y="3611885"/>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885"/>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In the break-even example, what happens if upkeep rises from 4 h to 12 h per release?</a:t>
            </a:r>
            <a:endParaRPr lang="en-US" sz="1400" dirty="0"/>
          </a:p>
        </p:txBody>
      </p:sp>
      <p:sp>
        <p:nvSpPr>
          <p:cNvPr id="16" name="Text 14"/>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7" name="Text 15"/>
          <p:cNvSpPr/>
          <p:nvPr/>
        </p:nvSpPr>
        <p:spPr>
          <a:xfrm>
            <a:off x="9372044" y="6238242"/>
            <a:ext cx="20673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marL="0" indent="0" algn="r">
              <a:lnSpc>
                <a:spcPts val="19000"/>
              </a:lnSpc>
              <a:buNone/>
            </a:pPr>
            <a:r>
              <a:rPr lang="en-US" sz="19000" b="1" kern="0" spc="-400" dirty="0">
                <a:solidFill>
                  <a:srgbClr val="000000">
                    <a:alpha val="0"/>
                  </a:srgbClr>
                </a:solidFill>
                <a:latin typeface="Space Grotesk" pitchFamily="34" charset="0"/>
                <a:ea typeface="Space Grotesk" pitchFamily="34" charset="-122"/>
                <a:cs typeface="Space Grotesk" pitchFamily="34" charset="-120"/>
              </a:rPr>
              <a:t>03</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36B"/>
                </a:solidFill>
                <a:latin typeface="JetBrains Mono" pitchFamily="34" charset="0"/>
                <a:ea typeface="JetBrains Mono" pitchFamily="34" charset="-122"/>
                <a:cs typeface="JetBrains Mono" pitchFamily="34" charset="-120"/>
              </a:rPr>
              <a:t>MODULE 1 · LECTURE 3 · 40 MINUTES</a:t>
            </a:r>
            <a:endParaRPr lang="en-US" sz="1200" dirty="0"/>
          </a:p>
        </p:txBody>
      </p:sp>
      <p:sp>
        <p:nvSpPr>
          <p:cNvPr id="4" name="Text 2"/>
          <p:cNvSpPr/>
          <p:nvPr/>
        </p:nvSpPr>
        <p:spPr>
          <a:xfrm>
            <a:off x="812800" y="3134358"/>
            <a:ext cx="10883392" cy="1518920"/>
          </a:xfrm>
          <a:prstGeom prst="rect">
            <a:avLst/>
          </a:prstGeom>
          <a:noFill/>
          <a:ln/>
        </p:spPr>
        <p:txBody>
          <a:bodyPr wrap="square" lIns="0" tIns="0" rIns="0" bIns="0" rtlCol="0" anchor="t">
            <a:normAutofit/>
          </a:bodyPr>
          <a:lstStyle/>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The manifesto, principles</a:t>
            </a:r>
            <a:endParaRPr lang="en-US" sz="5600" dirty="0"/>
          </a:p>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and SDLC vs STLC</a:t>
            </a:r>
            <a:endParaRPr lang="en-US" sz="5600" dirty="0"/>
          </a:p>
        </p:txBody>
      </p:sp>
      <p:sp>
        <p:nvSpPr>
          <p:cNvPr id="5" name="Shape 3"/>
          <p:cNvSpPr/>
          <p:nvPr/>
        </p:nvSpPr>
        <p:spPr>
          <a:xfrm>
            <a:off x="812800" y="4989835"/>
            <a:ext cx="2794000" cy="0"/>
          </a:xfrm>
          <a:prstGeom prst="line">
            <a:avLst/>
          </a:prstGeom>
          <a:noFill/>
          <a:ln w="12700">
            <a:solidFill>
              <a:srgbClr val="3A5476"/>
            </a:solidFill>
            <a:prstDash val="solid"/>
          </a:ln>
        </p:spPr>
        <p:txBody>
          <a:bodyPr/>
          <a:lstStyle/>
          <a:p>
            <a:endParaRPr lang="en-IN"/>
          </a:p>
        </p:txBody>
      </p:sp>
      <p:sp>
        <p:nvSpPr>
          <p:cNvPr id="6" name="Text 4"/>
          <p:cNvSpPr/>
          <p:nvPr/>
        </p:nvSpPr>
        <p:spPr>
          <a:xfrm>
            <a:off x="812800" y="5120642"/>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7" name="Text 5"/>
          <p:cNvSpPr/>
          <p:nvPr/>
        </p:nvSpPr>
        <p:spPr>
          <a:xfrm>
            <a:off x="812800" y="5384800"/>
            <a:ext cx="287782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Test automation manifesto</a:t>
            </a:r>
            <a:endParaRPr lang="en-US" sz="2000" dirty="0"/>
          </a:p>
        </p:txBody>
      </p:sp>
      <p:sp>
        <p:nvSpPr>
          <p:cNvPr id="8" name="Shape 6"/>
          <p:cNvSpPr/>
          <p:nvPr/>
        </p:nvSpPr>
        <p:spPr>
          <a:xfrm>
            <a:off x="3911600" y="4989835"/>
            <a:ext cx="2794000" cy="0"/>
          </a:xfrm>
          <a:prstGeom prst="line">
            <a:avLst/>
          </a:prstGeom>
          <a:noFill/>
          <a:ln w="12700">
            <a:solidFill>
              <a:srgbClr val="3A5476"/>
            </a:solidFill>
            <a:prstDash val="solid"/>
          </a:ln>
        </p:spPr>
        <p:txBody>
          <a:bodyPr/>
          <a:lstStyle/>
          <a:p>
            <a:endParaRPr lang="en-IN"/>
          </a:p>
        </p:txBody>
      </p:sp>
      <p:sp>
        <p:nvSpPr>
          <p:cNvPr id="9" name="Text 7"/>
          <p:cNvSpPr/>
          <p:nvPr/>
        </p:nvSpPr>
        <p:spPr>
          <a:xfrm>
            <a:off x="3911600" y="5120642"/>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10" name="Text 8"/>
          <p:cNvSpPr/>
          <p:nvPr/>
        </p:nvSpPr>
        <p:spPr>
          <a:xfrm>
            <a:off x="3911600" y="5384800"/>
            <a:ext cx="287782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Principles, SDLC vs STLC</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L3 · TEST AUTOMATION MANIFESTO</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The Test Automation Manifesto</a:t>
            </a:r>
            <a:endParaRPr lang="en-US" sz="3200" dirty="0"/>
          </a:p>
        </p:txBody>
      </p:sp>
      <p:sp>
        <p:nvSpPr>
          <p:cNvPr id="4" name="Shape 2"/>
          <p:cNvSpPr/>
          <p:nvPr/>
        </p:nvSpPr>
        <p:spPr>
          <a:xfrm>
            <a:off x="815975" y="1831975"/>
            <a:ext cx="2540000" cy="1004570"/>
          </a:xfrm>
          <a:prstGeom prst="roundRect">
            <a:avLst>
              <a:gd name="adj" fmla="val 7269"/>
            </a:avLst>
          </a:prstGeom>
          <a:solidFill>
            <a:srgbClr val="FCFBF7"/>
          </a:solidFill>
          <a:ln w="6350">
            <a:solidFill>
              <a:srgbClr val="DDD8CC"/>
            </a:solidFill>
            <a:prstDash val="solid"/>
          </a:ln>
        </p:spPr>
        <p:txBody>
          <a:bodyPr/>
          <a:lstStyle/>
          <a:p>
            <a:endParaRPr lang="en-IN"/>
          </a:p>
        </p:txBody>
      </p:sp>
      <p:sp>
        <p:nvSpPr>
          <p:cNvPr id="5" name="Text 3"/>
          <p:cNvSpPr/>
          <p:nvPr/>
        </p:nvSpPr>
        <p:spPr>
          <a:xfrm>
            <a:off x="995680" y="1986285"/>
            <a:ext cx="224600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Concise</a:t>
            </a:r>
            <a:endParaRPr lang="en-US" sz="1400" dirty="0"/>
          </a:p>
        </p:txBody>
      </p:sp>
      <p:sp>
        <p:nvSpPr>
          <p:cNvPr id="6" name="Text 4"/>
          <p:cNvSpPr/>
          <p:nvPr/>
        </p:nvSpPr>
        <p:spPr>
          <a:xfrm>
            <a:off x="995680" y="2255527"/>
            <a:ext cx="224600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As simple as possible, and no simpler</a:t>
            </a:r>
            <a:endParaRPr lang="en-US" sz="1200" dirty="0"/>
          </a:p>
        </p:txBody>
      </p:sp>
      <p:sp>
        <p:nvSpPr>
          <p:cNvPr id="7" name="Shape 5"/>
          <p:cNvSpPr/>
          <p:nvPr/>
        </p:nvSpPr>
        <p:spPr>
          <a:xfrm>
            <a:off x="3489325" y="1831975"/>
            <a:ext cx="2540000" cy="1004570"/>
          </a:xfrm>
          <a:prstGeom prst="roundRect">
            <a:avLst>
              <a:gd name="adj" fmla="val 7269"/>
            </a:avLst>
          </a:prstGeom>
          <a:solidFill>
            <a:srgbClr val="FCFBF7"/>
          </a:solidFill>
          <a:ln w="6350">
            <a:solidFill>
              <a:srgbClr val="DDD8CC"/>
            </a:solidFill>
            <a:prstDash val="solid"/>
          </a:ln>
        </p:spPr>
        <p:txBody>
          <a:bodyPr/>
          <a:lstStyle/>
          <a:p>
            <a:endParaRPr lang="en-IN"/>
          </a:p>
        </p:txBody>
      </p:sp>
      <p:sp>
        <p:nvSpPr>
          <p:cNvPr id="8" name="Text 6"/>
          <p:cNvSpPr/>
          <p:nvPr/>
        </p:nvSpPr>
        <p:spPr>
          <a:xfrm>
            <a:off x="3669030" y="1986285"/>
            <a:ext cx="224600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Self-checking</a:t>
            </a:r>
            <a:endParaRPr lang="en-US" sz="1400" dirty="0"/>
          </a:p>
        </p:txBody>
      </p:sp>
      <p:sp>
        <p:nvSpPr>
          <p:cNvPr id="9" name="Text 7"/>
          <p:cNvSpPr/>
          <p:nvPr/>
        </p:nvSpPr>
        <p:spPr>
          <a:xfrm>
            <a:off x="3669030" y="2255527"/>
            <a:ext cx="224600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Reports its own result; no human interpretation</a:t>
            </a:r>
            <a:endParaRPr lang="en-US" sz="1200" dirty="0"/>
          </a:p>
        </p:txBody>
      </p:sp>
      <p:sp>
        <p:nvSpPr>
          <p:cNvPr id="10" name="Shape 8"/>
          <p:cNvSpPr/>
          <p:nvPr/>
        </p:nvSpPr>
        <p:spPr>
          <a:xfrm>
            <a:off x="6162675" y="1831975"/>
            <a:ext cx="2540000" cy="1004570"/>
          </a:xfrm>
          <a:prstGeom prst="roundRect">
            <a:avLst>
              <a:gd name="adj" fmla="val 7269"/>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6342380" y="1986285"/>
            <a:ext cx="224600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Repeatable</a:t>
            </a:r>
            <a:endParaRPr lang="en-US" sz="1400" dirty="0"/>
          </a:p>
        </p:txBody>
      </p:sp>
      <p:sp>
        <p:nvSpPr>
          <p:cNvPr id="12" name="Text 10"/>
          <p:cNvSpPr/>
          <p:nvPr/>
        </p:nvSpPr>
        <p:spPr>
          <a:xfrm>
            <a:off x="6342380" y="2255527"/>
            <a:ext cx="224600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Runs many times in a row without human help</a:t>
            </a:r>
            <a:endParaRPr lang="en-US" sz="1200" dirty="0"/>
          </a:p>
        </p:txBody>
      </p:sp>
      <p:sp>
        <p:nvSpPr>
          <p:cNvPr id="13" name="Shape 11"/>
          <p:cNvSpPr/>
          <p:nvPr/>
        </p:nvSpPr>
        <p:spPr>
          <a:xfrm>
            <a:off x="8836025" y="1831975"/>
            <a:ext cx="2540000" cy="1004570"/>
          </a:xfrm>
          <a:prstGeom prst="roundRect">
            <a:avLst>
              <a:gd name="adj" fmla="val 7269"/>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9015730" y="1986285"/>
            <a:ext cx="224600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Robust</a:t>
            </a:r>
            <a:endParaRPr lang="en-US" sz="1400" dirty="0"/>
          </a:p>
        </p:txBody>
      </p:sp>
      <p:sp>
        <p:nvSpPr>
          <p:cNvPr id="15" name="Text 13"/>
          <p:cNvSpPr/>
          <p:nvPr/>
        </p:nvSpPr>
        <p:spPr>
          <a:xfrm>
            <a:off x="9015730" y="2255527"/>
            <a:ext cx="224600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Same result now and forever, despite outside changes</a:t>
            </a:r>
            <a:endParaRPr lang="en-US" sz="1200" dirty="0"/>
          </a:p>
        </p:txBody>
      </p:sp>
      <p:sp>
        <p:nvSpPr>
          <p:cNvPr id="16" name="Shape 14"/>
          <p:cNvSpPr/>
          <p:nvPr/>
        </p:nvSpPr>
        <p:spPr>
          <a:xfrm>
            <a:off x="815975" y="2969902"/>
            <a:ext cx="2540000" cy="1004570"/>
          </a:xfrm>
          <a:prstGeom prst="roundRect">
            <a:avLst>
              <a:gd name="adj" fmla="val 7269"/>
            </a:avLst>
          </a:prstGeom>
          <a:solidFill>
            <a:srgbClr val="FCFBF7"/>
          </a:solidFill>
          <a:ln w="6350">
            <a:solidFill>
              <a:srgbClr val="DDD8CC"/>
            </a:solidFill>
            <a:prstDash val="solid"/>
          </a:ln>
        </p:spPr>
        <p:txBody>
          <a:bodyPr/>
          <a:lstStyle/>
          <a:p>
            <a:endParaRPr lang="en-IN"/>
          </a:p>
        </p:txBody>
      </p:sp>
      <p:sp>
        <p:nvSpPr>
          <p:cNvPr id="17" name="Text 15"/>
          <p:cNvSpPr/>
          <p:nvPr/>
        </p:nvSpPr>
        <p:spPr>
          <a:xfrm>
            <a:off x="995680" y="3124200"/>
            <a:ext cx="224600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Sufficient</a:t>
            </a:r>
            <a:endParaRPr lang="en-US" sz="1400" dirty="0"/>
          </a:p>
        </p:txBody>
      </p:sp>
      <p:sp>
        <p:nvSpPr>
          <p:cNvPr id="18" name="Text 16"/>
          <p:cNvSpPr/>
          <p:nvPr/>
        </p:nvSpPr>
        <p:spPr>
          <a:xfrm>
            <a:off x="995680" y="3393442"/>
            <a:ext cx="224600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Together, the tests verify all the requirements</a:t>
            </a:r>
            <a:endParaRPr lang="en-US" sz="1200" dirty="0"/>
          </a:p>
        </p:txBody>
      </p:sp>
      <p:sp>
        <p:nvSpPr>
          <p:cNvPr id="19" name="Shape 17"/>
          <p:cNvSpPr/>
          <p:nvPr/>
        </p:nvSpPr>
        <p:spPr>
          <a:xfrm>
            <a:off x="3489325" y="2969902"/>
            <a:ext cx="2540000" cy="1004570"/>
          </a:xfrm>
          <a:prstGeom prst="roundRect">
            <a:avLst>
              <a:gd name="adj" fmla="val 7269"/>
            </a:avLst>
          </a:prstGeom>
          <a:solidFill>
            <a:srgbClr val="FCFBF7"/>
          </a:solidFill>
          <a:ln w="6350">
            <a:solidFill>
              <a:srgbClr val="DDD8CC"/>
            </a:solidFill>
            <a:prstDash val="solid"/>
          </a:ln>
        </p:spPr>
        <p:txBody>
          <a:bodyPr/>
          <a:lstStyle/>
          <a:p>
            <a:endParaRPr lang="en-IN"/>
          </a:p>
        </p:txBody>
      </p:sp>
      <p:sp>
        <p:nvSpPr>
          <p:cNvPr id="20" name="Text 18"/>
          <p:cNvSpPr/>
          <p:nvPr/>
        </p:nvSpPr>
        <p:spPr>
          <a:xfrm>
            <a:off x="3669030" y="3124200"/>
            <a:ext cx="224600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Necessary</a:t>
            </a:r>
            <a:endParaRPr lang="en-US" sz="1400" dirty="0"/>
          </a:p>
        </p:txBody>
      </p:sp>
      <p:sp>
        <p:nvSpPr>
          <p:cNvPr id="21" name="Text 19"/>
          <p:cNvSpPr/>
          <p:nvPr/>
        </p:nvSpPr>
        <p:spPr>
          <a:xfrm>
            <a:off x="3669030" y="3393442"/>
            <a:ext cx="224600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Everything in the test helps specify the behaviour</a:t>
            </a:r>
            <a:endParaRPr lang="en-US" sz="1200" dirty="0"/>
          </a:p>
        </p:txBody>
      </p:sp>
      <p:sp>
        <p:nvSpPr>
          <p:cNvPr id="22" name="Shape 20"/>
          <p:cNvSpPr/>
          <p:nvPr/>
        </p:nvSpPr>
        <p:spPr>
          <a:xfrm>
            <a:off x="6162675" y="2969902"/>
            <a:ext cx="2540000" cy="1004570"/>
          </a:xfrm>
          <a:prstGeom prst="roundRect">
            <a:avLst>
              <a:gd name="adj" fmla="val 7269"/>
            </a:avLst>
          </a:prstGeom>
          <a:solidFill>
            <a:srgbClr val="FCFBF7"/>
          </a:solidFill>
          <a:ln w="6350">
            <a:solidFill>
              <a:srgbClr val="DDD8CC"/>
            </a:solidFill>
            <a:prstDash val="solid"/>
          </a:ln>
        </p:spPr>
        <p:txBody>
          <a:bodyPr/>
          <a:lstStyle/>
          <a:p>
            <a:endParaRPr lang="en-IN"/>
          </a:p>
        </p:txBody>
      </p:sp>
      <p:sp>
        <p:nvSpPr>
          <p:cNvPr id="23" name="Text 21"/>
          <p:cNvSpPr/>
          <p:nvPr/>
        </p:nvSpPr>
        <p:spPr>
          <a:xfrm>
            <a:off x="6342380" y="3124200"/>
            <a:ext cx="224600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Clear</a:t>
            </a:r>
            <a:endParaRPr lang="en-US" sz="1400" dirty="0"/>
          </a:p>
        </p:txBody>
      </p:sp>
      <p:sp>
        <p:nvSpPr>
          <p:cNvPr id="24" name="Text 22"/>
          <p:cNvSpPr/>
          <p:nvPr/>
        </p:nvSpPr>
        <p:spPr>
          <a:xfrm>
            <a:off x="6342380" y="3393442"/>
            <a:ext cx="224600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 statement is easy to understand</a:t>
            </a:r>
            <a:endParaRPr lang="en-US" sz="1200" dirty="0"/>
          </a:p>
        </p:txBody>
      </p:sp>
      <p:sp>
        <p:nvSpPr>
          <p:cNvPr id="25" name="Shape 23"/>
          <p:cNvSpPr/>
          <p:nvPr/>
        </p:nvSpPr>
        <p:spPr>
          <a:xfrm>
            <a:off x="8836025" y="2969902"/>
            <a:ext cx="2540000" cy="1004570"/>
          </a:xfrm>
          <a:prstGeom prst="roundRect">
            <a:avLst>
              <a:gd name="adj" fmla="val 7269"/>
            </a:avLst>
          </a:prstGeom>
          <a:solidFill>
            <a:srgbClr val="FCFBF7"/>
          </a:solidFill>
          <a:ln w="6350">
            <a:solidFill>
              <a:srgbClr val="DDD8CC"/>
            </a:solidFill>
            <a:prstDash val="solid"/>
          </a:ln>
        </p:spPr>
        <p:txBody>
          <a:bodyPr/>
          <a:lstStyle/>
          <a:p>
            <a:endParaRPr lang="en-IN"/>
          </a:p>
        </p:txBody>
      </p:sp>
      <p:sp>
        <p:nvSpPr>
          <p:cNvPr id="26" name="Text 24"/>
          <p:cNvSpPr/>
          <p:nvPr/>
        </p:nvSpPr>
        <p:spPr>
          <a:xfrm>
            <a:off x="9015730" y="3124200"/>
            <a:ext cx="224600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Efficient</a:t>
            </a:r>
            <a:endParaRPr lang="en-US" sz="1400" dirty="0"/>
          </a:p>
        </p:txBody>
      </p:sp>
      <p:sp>
        <p:nvSpPr>
          <p:cNvPr id="27" name="Text 25"/>
          <p:cNvSpPr/>
          <p:nvPr/>
        </p:nvSpPr>
        <p:spPr>
          <a:xfrm>
            <a:off x="9015730" y="3393442"/>
            <a:ext cx="224600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Runs in a reasonable amount of time</a:t>
            </a:r>
            <a:endParaRPr lang="en-US" sz="1200" dirty="0"/>
          </a:p>
        </p:txBody>
      </p:sp>
      <p:sp>
        <p:nvSpPr>
          <p:cNvPr id="28" name="Shape 26"/>
          <p:cNvSpPr/>
          <p:nvPr/>
        </p:nvSpPr>
        <p:spPr>
          <a:xfrm>
            <a:off x="815975" y="4107817"/>
            <a:ext cx="2540000" cy="1004570"/>
          </a:xfrm>
          <a:prstGeom prst="roundRect">
            <a:avLst>
              <a:gd name="adj" fmla="val 7269"/>
            </a:avLst>
          </a:prstGeom>
          <a:solidFill>
            <a:srgbClr val="FCFBF7"/>
          </a:solidFill>
          <a:ln w="6350">
            <a:solidFill>
              <a:srgbClr val="DDD8CC"/>
            </a:solidFill>
            <a:prstDash val="solid"/>
          </a:ln>
        </p:spPr>
        <p:txBody>
          <a:bodyPr/>
          <a:lstStyle/>
          <a:p>
            <a:endParaRPr lang="en-IN"/>
          </a:p>
        </p:txBody>
      </p:sp>
      <p:sp>
        <p:nvSpPr>
          <p:cNvPr id="29" name="Text 27"/>
          <p:cNvSpPr/>
          <p:nvPr/>
        </p:nvSpPr>
        <p:spPr>
          <a:xfrm>
            <a:off x="995680" y="4262127"/>
            <a:ext cx="224600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Specific</a:t>
            </a:r>
            <a:endParaRPr lang="en-US" sz="1400" dirty="0"/>
          </a:p>
        </p:txBody>
      </p:sp>
      <p:sp>
        <p:nvSpPr>
          <p:cNvPr id="30" name="Text 28"/>
          <p:cNvSpPr/>
          <p:nvPr/>
        </p:nvSpPr>
        <p:spPr>
          <a:xfrm>
            <a:off x="995680" y="4531358"/>
            <a:ext cx="224600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A failure points to one piece of broken behaviour</a:t>
            </a:r>
            <a:endParaRPr lang="en-US" sz="1200" dirty="0"/>
          </a:p>
        </p:txBody>
      </p:sp>
      <p:sp>
        <p:nvSpPr>
          <p:cNvPr id="31" name="Shape 29"/>
          <p:cNvSpPr/>
          <p:nvPr/>
        </p:nvSpPr>
        <p:spPr>
          <a:xfrm>
            <a:off x="3489325" y="4107817"/>
            <a:ext cx="2540000" cy="1004570"/>
          </a:xfrm>
          <a:prstGeom prst="roundRect">
            <a:avLst>
              <a:gd name="adj" fmla="val 7269"/>
            </a:avLst>
          </a:prstGeom>
          <a:solidFill>
            <a:srgbClr val="FCFBF7"/>
          </a:solidFill>
          <a:ln w="6350">
            <a:solidFill>
              <a:srgbClr val="DDD8CC"/>
            </a:solidFill>
            <a:prstDash val="solid"/>
          </a:ln>
        </p:spPr>
        <p:txBody>
          <a:bodyPr/>
          <a:lstStyle/>
          <a:p>
            <a:endParaRPr lang="en-IN"/>
          </a:p>
        </p:txBody>
      </p:sp>
      <p:sp>
        <p:nvSpPr>
          <p:cNvPr id="32" name="Text 30"/>
          <p:cNvSpPr/>
          <p:nvPr/>
        </p:nvSpPr>
        <p:spPr>
          <a:xfrm>
            <a:off x="3669030" y="4262127"/>
            <a:ext cx="224600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Independent</a:t>
            </a:r>
            <a:endParaRPr lang="en-US" sz="1400" dirty="0"/>
          </a:p>
        </p:txBody>
      </p:sp>
      <p:sp>
        <p:nvSpPr>
          <p:cNvPr id="33" name="Text 31"/>
          <p:cNvSpPr/>
          <p:nvPr/>
        </p:nvSpPr>
        <p:spPr>
          <a:xfrm>
            <a:off x="3669030" y="4531358"/>
            <a:ext cx="224600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Runs alone or with any other tests, in any order</a:t>
            </a:r>
            <a:endParaRPr lang="en-US" sz="1200" dirty="0"/>
          </a:p>
        </p:txBody>
      </p:sp>
      <p:sp>
        <p:nvSpPr>
          <p:cNvPr id="34" name="Shape 32"/>
          <p:cNvSpPr/>
          <p:nvPr/>
        </p:nvSpPr>
        <p:spPr>
          <a:xfrm>
            <a:off x="6162675" y="4107817"/>
            <a:ext cx="2540000" cy="1004570"/>
          </a:xfrm>
          <a:prstGeom prst="roundRect">
            <a:avLst>
              <a:gd name="adj" fmla="val 7269"/>
            </a:avLst>
          </a:prstGeom>
          <a:solidFill>
            <a:srgbClr val="FCFBF7"/>
          </a:solidFill>
          <a:ln w="6350">
            <a:solidFill>
              <a:srgbClr val="DDD8CC"/>
            </a:solidFill>
            <a:prstDash val="solid"/>
          </a:ln>
        </p:spPr>
        <p:txBody>
          <a:bodyPr/>
          <a:lstStyle/>
          <a:p>
            <a:endParaRPr lang="en-IN"/>
          </a:p>
        </p:txBody>
      </p:sp>
      <p:sp>
        <p:nvSpPr>
          <p:cNvPr id="35" name="Text 33"/>
          <p:cNvSpPr/>
          <p:nvPr/>
        </p:nvSpPr>
        <p:spPr>
          <a:xfrm>
            <a:off x="6342380" y="4262127"/>
            <a:ext cx="224600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Maintainable</a:t>
            </a:r>
            <a:endParaRPr lang="en-US" sz="1400" dirty="0"/>
          </a:p>
        </p:txBody>
      </p:sp>
      <p:sp>
        <p:nvSpPr>
          <p:cNvPr id="36" name="Text 34"/>
          <p:cNvSpPr/>
          <p:nvPr/>
        </p:nvSpPr>
        <p:spPr>
          <a:xfrm>
            <a:off x="6342380" y="4531358"/>
            <a:ext cx="224600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Easy to understand, modify and extend</a:t>
            </a:r>
            <a:endParaRPr lang="en-US" sz="1200" dirty="0"/>
          </a:p>
        </p:txBody>
      </p:sp>
      <p:sp>
        <p:nvSpPr>
          <p:cNvPr id="37" name="Shape 35"/>
          <p:cNvSpPr/>
          <p:nvPr/>
        </p:nvSpPr>
        <p:spPr>
          <a:xfrm>
            <a:off x="8836025" y="4107817"/>
            <a:ext cx="2540000" cy="1004570"/>
          </a:xfrm>
          <a:prstGeom prst="roundRect">
            <a:avLst>
              <a:gd name="adj" fmla="val 7269"/>
            </a:avLst>
          </a:prstGeom>
          <a:solidFill>
            <a:srgbClr val="FCFBF7"/>
          </a:solidFill>
          <a:ln w="6350">
            <a:solidFill>
              <a:srgbClr val="DDD8CC"/>
            </a:solidFill>
            <a:prstDash val="solid"/>
          </a:ln>
        </p:spPr>
        <p:txBody>
          <a:bodyPr/>
          <a:lstStyle/>
          <a:p>
            <a:endParaRPr lang="en-IN"/>
          </a:p>
        </p:txBody>
      </p:sp>
      <p:sp>
        <p:nvSpPr>
          <p:cNvPr id="38" name="Text 36"/>
          <p:cNvSpPr/>
          <p:nvPr/>
        </p:nvSpPr>
        <p:spPr>
          <a:xfrm>
            <a:off x="9015730" y="4262127"/>
            <a:ext cx="224600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Traceable</a:t>
            </a:r>
            <a:endParaRPr lang="en-US" sz="1400" dirty="0"/>
          </a:p>
        </p:txBody>
      </p:sp>
      <p:sp>
        <p:nvSpPr>
          <p:cNvPr id="39" name="Text 37"/>
          <p:cNvSpPr/>
          <p:nvPr/>
        </p:nvSpPr>
        <p:spPr>
          <a:xfrm>
            <a:off x="9015730" y="4531358"/>
            <a:ext cx="224600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Linked to the code it tests and to the requirements</a:t>
            </a:r>
            <a:endParaRPr lang="en-US" sz="1200" dirty="0"/>
          </a:p>
        </p:txBody>
      </p:sp>
      <p:sp>
        <p:nvSpPr>
          <p:cNvPr id="40" name="Text 38"/>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41" name="Text 39"/>
          <p:cNvSpPr/>
          <p:nvPr/>
        </p:nvSpPr>
        <p:spPr>
          <a:xfrm>
            <a:off x="5410279" y="6238242"/>
            <a:ext cx="614798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Meszaros, Smith and Andrea, “The Test Automation Manifesto”, XP/Agile Universe 2003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L3 · TEST AUTOMATION MANIFESTO</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Applying the manifesto: before and after</a:t>
            </a:r>
            <a:endParaRPr lang="en-US" sz="3200" dirty="0"/>
          </a:p>
        </p:txBody>
      </p:sp>
      <p:sp>
        <p:nvSpPr>
          <p:cNvPr id="4" name="Text 2"/>
          <p:cNvSpPr/>
          <p:nvPr/>
        </p:nvSpPr>
        <p:spPr>
          <a:xfrm>
            <a:off x="812800" y="182880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BEFORE · PASSES, BUT BREAKS FIVE QUALITIES</a:t>
            </a:r>
            <a:endParaRPr lang="en-US" sz="1200" dirty="0"/>
          </a:p>
        </p:txBody>
      </p:sp>
      <p:sp>
        <p:nvSpPr>
          <p:cNvPr id="5" name="Shape 3"/>
          <p:cNvSpPr/>
          <p:nvPr/>
        </p:nvSpPr>
        <p:spPr>
          <a:xfrm>
            <a:off x="812800" y="2118358"/>
            <a:ext cx="5181600" cy="1849120"/>
          </a:xfrm>
          <a:prstGeom prst="roundRect">
            <a:avLst>
              <a:gd name="adj" fmla="val 4121"/>
            </a:avLst>
          </a:prstGeom>
          <a:solidFill>
            <a:srgbClr val="13233A"/>
          </a:solidFill>
          <a:ln/>
        </p:spPr>
        <p:txBody>
          <a:bodyPr/>
          <a:lstStyle/>
          <a:p>
            <a:endParaRPr lang="en-IN"/>
          </a:p>
        </p:txBody>
      </p:sp>
      <p:sp>
        <p:nvSpPr>
          <p:cNvPr id="6" name="Text 4"/>
          <p:cNvSpPr/>
          <p:nvPr/>
        </p:nvSpPr>
        <p:spPr>
          <a:xfrm>
            <a:off x="990600" y="2296158"/>
            <a:ext cx="4970780" cy="15189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time</a:t>
            </a:r>
            <a:endParaRPr lang="en-US" sz="1200" dirty="0"/>
          </a:p>
          <a:p>
            <a:pPr marL="0" indent="0" algn="l">
              <a:lnSpc>
                <a:spcPts val="1680"/>
              </a:lnSpc>
              <a:buNone/>
            </a:pPr>
            <a:endParaRPr lang="en-US" sz="1200" dirty="0"/>
          </a:p>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test_coupon():                            </a:t>
            </a:r>
            <a:r>
              <a:rPr lang="en-US" sz="1200" dirty="0">
                <a:solidFill>
                  <a:srgbClr val="F2A36B"/>
                </a:solidFill>
                <a:latin typeface="JetBrains Mono" pitchFamily="34" charset="0"/>
                <a:ea typeface="JetBrains Mono" pitchFamily="34" charset="-122"/>
                <a:cs typeface="JetBrains Mono" pitchFamily="34" charset="-120"/>
              </a:rPr>
              <a:t># 5</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print(apply_coupon(300, </a:t>
            </a:r>
            <a:r>
              <a:rPr lang="en-US" sz="1200" dirty="0">
                <a:solidFill>
                  <a:srgbClr val="9CC7F0"/>
                </a:solidFill>
                <a:latin typeface="JetBrains Mono" pitchFamily="34" charset="0"/>
                <a:ea typeface="JetBrains Mono" pitchFamily="34" charset="-122"/>
                <a:cs typeface="JetBrains Mono" pitchFamily="34" charset="-120"/>
              </a:rPr>
              <a:t>"SAVE20"</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 1</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time.sleep(2)                             </a:t>
            </a:r>
            <a:r>
              <a:rPr lang="en-US" sz="1200" dirty="0">
                <a:solidFill>
                  <a:srgbClr val="F2A36B"/>
                </a:solidFill>
                <a:latin typeface="JetBrains Mono" pitchFamily="34" charset="0"/>
                <a:ea typeface="JetBrains Mono" pitchFamily="34" charset="-122"/>
                <a:cs typeface="JetBrains Mono" pitchFamily="34" charset="-120"/>
              </a:rPr>
              <a:t># 2</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apply_coupon(800, </a:t>
            </a:r>
            <a:r>
              <a:rPr lang="en-US" sz="1200" dirty="0">
                <a:solidFill>
                  <a:srgbClr val="9CC7F0"/>
                </a:solidFill>
                <a:latin typeface="JetBrains Mono" pitchFamily="34" charset="0"/>
                <a:ea typeface="JetBrains Mono" pitchFamily="34" charset="-122"/>
                <a:cs typeface="JetBrains Mono" pitchFamily="34" charset="-120"/>
              </a:rPr>
              <a:t>"SAVE20"</a:t>
            </a:r>
            <a:r>
              <a:rPr lang="en-US" sz="1200" dirty="0">
                <a:solidFill>
                  <a:srgbClr val="E6EAF0"/>
                </a:solidFill>
                <a:latin typeface="JetBrains Mono" pitchFamily="34" charset="0"/>
                <a:ea typeface="JetBrains Mono" pitchFamily="34" charset="-122"/>
                <a:cs typeface="JetBrains Mono" pitchFamily="34" charset="-120"/>
              </a:rPr>
              <a:t>) &lt; 800  </a:t>
            </a:r>
            <a:r>
              <a:rPr lang="en-US" sz="1200" dirty="0">
                <a:solidFill>
                  <a:srgbClr val="F2A36B"/>
                </a:solidFill>
                <a:latin typeface="JetBrains Mono" pitchFamily="34" charset="0"/>
                <a:ea typeface="JetBrains Mono" pitchFamily="34" charset="-122"/>
                <a:cs typeface="JetBrains Mono" pitchFamily="34" charset="-120"/>
              </a:rPr>
              <a:t># 3</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delivery_fee(250) == 0             </a:t>
            </a:r>
            <a:r>
              <a:rPr lang="en-US" sz="1200" dirty="0">
                <a:solidFill>
                  <a:srgbClr val="F2A36B"/>
                </a:solidFill>
                <a:latin typeface="JetBrains Mono" pitchFamily="34" charset="0"/>
                <a:ea typeface="JetBrains Mono" pitchFamily="34" charset="-122"/>
                <a:cs typeface="JetBrains Mono" pitchFamily="34" charset="-120"/>
              </a:rPr>
              <a:t># 4</a:t>
            </a:r>
            <a:endParaRPr lang="en-US" sz="1200" dirty="0"/>
          </a:p>
        </p:txBody>
      </p:sp>
      <p:sp>
        <p:nvSpPr>
          <p:cNvPr id="7" name="Text 5"/>
          <p:cNvSpPr/>
          <p:nvPr/>
        </p:nvSpPr>
        <p:spPr>
          <a:xfrm>
            <a:off x="6197600" y="182880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AFTER · ONE CLEAR CHECK PER TEST</a:t>
            </a:r>
            <a:endParaRPr lang="en-US" sz="1200" dirty="0"/>
          </a:p>
        </p:txBody>
      </p:sp>
      <p:sp>
        <p:nvSpPr>
          <p:cNvPr id="8" name="Shape 6"/>
          <p:cNvSpPr/>
          <p:nvPr/>
        </p:nvSpPr>
        <p:spPr>
          <a:xfrm>
            <a:off x="6197600" y="2118358"/>
            <a:ext cx="5181600" cy="2062480"/>
          </a:xfrm>
          <a:prstGeom prst="roundRect">
            <a:avLst>
              <a:gd name="adj" fmla="val 3695"/>
            </a:avLst>
          </a:prstGeom>
          <a:solidFill>
            <a:srgbClr val="13233A"/>
          </a:solidFill>
          <a:ln/>
        </p:spPr>
        <p:txBody>
          <a:bodyPr/>
          <a:lstStyle/>
          <a:p>
            <a:endParaRPr lang="en-IN"/>
          </a:p>
        </p:txBody>
      </p:sp>
      <p:sp>
        <p:nvSpPr>
          <p:cNvPr id="9" name="Text 7"/>
          <p:cNvSpPr/>
          <p:nvPr/>
        </p:nvSpPr>
        <p:spPr>
          <a:xfrm>
            <a:off x="6375400" y="2296158"/>
            <a:ext cx="4970780" cy="173228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test_save20_takes_20_percent_off_300():</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apply_coupon(300, </a:t>
            </a:r>
            <a:r>
              <a:rPr lang="en-US" sz="1200" dirty="0">
                <a:solidFill>
                  <a:srgbClr val="9CC7F0"/>
                </a:solidFill>
                <a:latin typeface="JetBrains Mono" pitchFamily="34" charset="0"/>
                <a:ea typeface="JetBrains Mono" pitchFamily="34" charset="-122"/>
                <a:cs typeface="JetBrains Mono" pitchFamily="34" charset="-120"/>
              </a:rPr>
              <a:t>"SAVE20"</a:t>
            </a:r>
            <a:r>
              <a:rPr lang="en-US" sz="1200" dirty="0">
                <a:solidFill>
                  <a:srgbClr val="E6EAF0"/>
                </a:solidFill>
                <a:latin typeface="JetBrains Mono" pitchFamily="34" charset="0"/>
                <a:ea typeface="JetBrains Mono" pitchFamily="34" charset="-122"/>
                <a:cs typeface="JetBrains Mono" pitchFamily="34" charset="-120"/>
              </a:rPr>
              <a:t>) == 240</a:t>
            </a:r>
            <a:endParaRPr lang="en-US" sz="1200" dirty="0"/>
          </a:p>
          <a:p>
            <a:pPr marL="0" indent="0" algn="l">
              <a:lnSpc>
                <a:spcPts val="1680"/>
              </a:lnSpc>
              <a:buNone/>
            </a:pPr>
            <a:endParaRPr lang="en-US" sz="1200" dirty="0"/>
          </a:p>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test_save20_discount_is_capped_at_100():</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apply_coupon(800, </a:t>
            </a:r>
            <a:r>
              <a:rPr lang="en-US" sz="1200" dirty="0">
                <a:solidFill>
                  <a:srgbClr val="9CC7F0"/>
                </a:solidFill>
                <a:latin typeface="JetBrains Mono" pitchFamily="34" charset="0"/>
                <a:ea typeface="JetBrains Mono" pitchFamily="34" charset="-122"/>
                <a:cs typeface="JetBrains Mono" pitchFamily="34" charset="-120"/>
              </a:rPr>
              <a:t>"SAVE20"</a:t>
            </a:r>
            <a:r>
              <a:rPr lang="en-US" sz="1200" dirty="0">
                <a:solidFill>
                  <a:srgbClr val="E6EAF0"/>
                </a:solidFill>
                <a:latin typeface="JetBrains Mono" pitchFamily="34" charset="0"/>
                <a:ea typeface="JetBrains Mono" pitchFamily="34" charset="-122"/>
                <a:cs typeface="JetBrains Mono" pitchFamily="34" charset="-120"/>
              </a:rPr>
              <a:t>) == 700</a:t>
            </a:r>
            <a:endParaRPr lang="en-US" sz="1200" dirty="0"/>
          </a:p>
          <a:p>
            <a:pPr marL="0" indent="0" algn="l">
              <a:lnSpc>
                <a:spcPts val="1680"/>
              </a:lnSpc>
              <a:buNone/>
            </a:pPr>
            <a:endParaRPr lang="en-US" sz="1200" dirty="0"/>
          </a:p>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test_free_delivery_from_200():</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delivery_fee(250) == 0</a:t>
            </a:r>
            <a:endParaRPr lang="en-US" sz="1200" dirty="0"/>
          </a:p>
        </p:txBody>
      </p:sp>
      <p:sp>
        <p:nvSpPr>
          <p:cNvPr id="10" name="Shape 8"/>
          <p:cNvSpPr/>
          <p:nvPr/>
        </p:nvSpPr>
        <p:spPr>
          <a:xfrm>
            <a:off x="815975" y="4438017"/>
            <a:ext cx="2025650" cy="935990"/>
          </a:xfrm>
          <a:prstGeom prst="roundRect">
            <a:avLst>
              <a:gd name="adj" fmla="val 7802"/>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970280" y="4566927"/>
            <a:ext cx="1768551"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1</a:t>
            </a:r>
            <a:r>
              <a:rPr lang="en-US" sz="1200" dirty="0">
                <a:solidFill>
                  <a:srgbClr val="13233A"/>
                </a:solidFill>
                <a:latin typeface="IBM Plex Sans" pitchFamily="34" charset="0"/>
                <a:ea typeface="IBM Plex Sans" pitchFamily="34" charset="-122"/>
                <a:cs typeface="IBM Plex Sans" pitchFamily="34" charset="-120"/>
              </a:rPr>
              <a:t> · print() instead of assert</a:t>
            </a:r>
            <a:endParaRPr lang="en-US" sz="1200" dirty="0"/>
          </a:p>
        </p:txBody>
      </p:sp>
      <p:sp>
        <p:nvSpPr>
          <p:cNvPr id="12" name="Text 10"/>
          <p:cNvSpPr/>
          <p:nvPr/>
        </p:nvSpPr>
        <p:spPr>
          <a:xfrm>
            <a:off x="970280" y="5031742"/>
            <a:ext cx="17685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IBM Plex Sans" pitchFamily="34" charset="0"/>
                <a:ea typeface="IBM Plex Sans" pitchFamily="34" charset="-122"/>
                <a:cs typeface="IBM Plex Sans" pitchFamily="34" charset="-120"/>
              </a:rPr>
              <a:t>Not self-checking</a:t>
            </a:r>
            <a:endParaRPr lang="en-US" sz="1200" dirty="0"/>
          </a:p>
        </p:txBody>
      </p:sp>
      <p:sp>
        <p:nvSpPr>
          <p:cNvPr id="13" name="Shape 11"/>
          <p:cNvSpPr/>
          <p:nvPr/>
        </p:nvSpPr>
        <p:spPr>
          <a:xfrm>
            <a:off x="2949575" y="4438017"/>
            <a:ext cx="2025650" cy="935990"/>
          </a:xfrm>
          <a:prstGeom prst="roundRect">
            <a:avLst>
              <a:gd name="adj" fmla="val 7802"/>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3103880" y="4566927"/>
            <a:ext cx="1768551"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2</a:t>
            </a:r>
            <a:r>
              <a:rPr lang="en-US" sz="1200" dirty="0">
                <a:solidFill>
                  <a:srgbClr val="13233A"/>
                </a:solidFill>
                <a:latin typeface="IBM Plex Sans" pitchFamily="34" charset="0"/>
                <a:ea typeface="IBM Plex Sans" pitchFamily="34" charset="-122"/>
                <a:cs typeface="IBM Plex Sans" pitchFamily="34" charset="-120"/>
              </a:rPr>
              <a:t> · sleep() adds 2 s for nothing</a:t>
            </a:r>
            <a:endParaRPr lang="en-US" sz="1200" dirty="0"/>
          </a:p>
        </p:txBody>
      </p:sp>
      <p:sp>
        <p:nvSpPr>
          <p:cNvPr id="15" name="Text 13"/>
          <p:cNvSpPr/>
          <p:nvPr/>
        </p:nvSpPr>
        <p:spPr>
          <a:xfrm>
            <a:off x="3103880" y="5031742"/>
            <a:ext cx="17685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IBM Plex Sans" pitchFamily="34" charset="0"/>
                <a:ea typeface="IBM Plex Sans" pitchFamily="34" charset="-122"/>
                <a:cs typeface="IBM Plex Sans" pitchFamily="34" charset="-120"/>
              </a:rPr>
              <a:t>Not efficient</a:t>
            </a:r>
            <a:endParaRPr lang="en-US" sz="1200" dirty="0"/>
          </a:p>
        </p:txBody>
      </p:sp>
      <p:sp>
        <p:nvSpPr>
          <p:cNvPr id="16" name="Shape 14"/>
          <p:cNvSpPr/>
          <p:nvPr/>
        </p:nvSpPr>
        <p:spPr>
          <a:xfrm>
            <a:off x="5083175" y="4438017"/>
            <a:ext cx="2025650" cy="935990"/>
          </a:xfrm>
          <a:prstGeom prst="roundRect">
            <a:avLst>
              <a:gd name="adj" fmla="val 7802"/>
            </a:avLst>
          </a:prstGeom>
          <a:solidFill>
            <a:srgbClr val="FCFBF7"/>
          </a:solidFill>
          <a:ln w="6350">
            <a:solidFill>
              <a:srgbClr val="DDD8CC"/>
            </a:solidFill>
            <a:prstDash val="solid"/>
          </a:ln>
        </p:spPr>
        <p:txBody>
          <a:bodyPr/>
          <a:lstStyle/>
          <a:p>
            <a:endParaRPr lang="en-IN"/>
          </a:p>
        </p:txBody>
      </p:sp>
      <p:sp>
        <p:nvSpPr>
          <p:cNvPr id="17" name="Text 15"/>
          <p:cNvSpPr/>
          <p:nvPr/>
        </p:nvSpPr>
        <p:spPr>
          <a:xfrm>
            <a:off x="5237480" y="4566927"/>
            <a:ext cx="1768551"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3</a:t>
            </a:r>
            <a:r>
              <a:rPr lang="en-US" sz="1200" dirty="0">
                <a:solidFill>
                  <a:srgbClr val="13233A"/>
                </a:solidFill>
                <a:latin typeface="IBM Plex Sans" pitchFamily="34" charset="0"/>
                <a:ea typeface="IBM Plex Sans" pitchFamily="34" charset="-122"/>
                <a:cs typeface="IBM Plex Sans" pitchFamily="34" charset="-120"/>
              </a:rPr>
              <a:t> · “&lt; 800” accepts wrong totals</a:t>
            </a:r>
            <a:endParaRPr lang="en-US" sz="1200" dirty="0"/>
          </a:p>
        </p:txBody>
      </p:sp>
      <p:sp>
        <p:nvSpPr>
          <p:cNvPr id="18" name="Text 16"/>
          <p:cNvSpPr/>
          <p:nvPr/>
        </p:nvSpPr>
        <p:spPr>
          <a:xfrm>
            <a:off x="5237480" y="5031742"/>
            <a:ext cx="17685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IBM Plex Sans" pitchFamily="34" charset="0"/>
                <a:ea typeface="IBM Plex Sans" pitchFamily="34" charset="-122"/>
                <a:cs typeface="IBM Plex Sans" pitchFamily="34" charset="-120"/>
              </a:rPr>
              <a:t>Not sufficient</a:t>
            </a:r>
            <a:endParaRPr lang="en-US" sz="1200" dirty="0"/>
          </a:p>
        </p:txBody>
      </p:sp>
      <p:sp>
        <p:nvSpPr>
          <p:cNvPr id="19" name="Shape 17"/>
          <p:cNvSpPr/>
          <p:nvPr/>
        </p:nvSpPr>
        <p:spPr>
          <a:xfrm>
            <a:off x="7216775" y="4438017"/>
            <a:ext cx="2025650" cy="935990"/>
          </a:xfrm>
          <a:prstGeom prst="roundRect">
            <a:avLst>
              <a:gd name="adj" fmla="val 7802"/>
            </a:avLst>
          </a:prstGeom>
          <a:solidFill>
            <a:srgbClr val="FCFBF7"/>
          </a:solidFill>
          <a:ln w="6350">
            <a:solidFill>
              <a:srgbClr val="DDD8CC"/>
            </a:solidFill>
            <a:prstDash val="solid"/>
          </a:ln>
        </p:spPr>
        <p:txBody>
          <a:bodyPr/>
          <a:lstStyle/>
          <a:p>
            <a:endParaRPr lang="en-IN"/>
          </a:p>
        </p:txBody>
      </p:sp>
      <p:sp>
        <p:nvSpPr>
          <p:cNvPr id="20" name="Text 18"/>
          <p:cNvSpPr/>
          <p:nvPr/>
        </p:nvSpPr>
        <p:spPr>
          <a:xfrm>
            <a:off x="7371080" y="4566927"/>
            <a:ext cx="1768551"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4</a:t>
            </a:r>
            <a:r>
              <a:rPr lang="en-US" sz="1200" dirty="0">
                <a:solidFill>
                  <a:srgbClr val="13233A"/>
                </a:solidFill>
                <a:latin typeface="IBM Plex Sans" pitchFamily="34" charset="0"/>
                <a:ea typeface="IBM Plex Sans" pitchFamily="34" charset="-122"/>
                <a:cs typeface="IBM Plex Sans" pitchFamily="34" charset="-120"/>
              </a:rPr>
              <a:t> · unrelated delivery check</a:t>
            </a:r>
            <a:endParaRPr lang="en-US" sz="1200" dirty="0"/>
          </a:p>
        </p:txBody>
      </p:sp>
      <p:sp>
        <p:nvSpPr>
          <p:cNvPr id="21" name="Text 19"/>
          <p:cNvSpPr/>
          <p:nvPr/>
        </p:nvSpPr>
        <p:spPr>
          <a:xfrm>
            <a:off x="7371080" y="5031742"/>
            <a:ext cx="17685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IBM Plex Sans" pitchFamily="34" charset="0"/>
                <a:ea typeface="IBM Plex Sans" pitchFamily="34" charset="-122"/>
                <a:cs typeface="IBM Plex Sans" pitchFamily="34" charset="-120"/>
              </a:rPr>
              <a:t>Not specific</a:t>
            </a:r>
            <a:endParaRPr lang="en-US" sz="1200" dirty="0"/>
          </a:p>
        </p:txBody>
      </p:sp>
      <p:sp>
        <p:nvSpPr>
          <p:cNvPr id="22" name="Shape 20"/>
          <p:cNvSpPr/>
          <p:nvPr/>
        </p:nvSpPr>
        <p:spPr>
          <a:xfrm>
            <a:off x="9350375" y="4438017"/>
            <a:ext cx="2025650" cy="935990"/>
          </a:xfrm>
          <a:prstGeom prst="roundRect">
            <a:avLst>
              <a:gd name="adj" fmla="val 7802"/>
            </a:avLst>
          </a:prstGeom>
          <a:solidFill>
            <a:srgbClr val="FCFBF7"/>
          </a:solidFill>
          <a:ln w="6350">
            <a:solidFill>
              <a:srgbClr val="DDD8CC"/>
            </a:solidFill>
            <a:prstDash val="solid"/>
          </a:ln>
        </p:spPr>
        <p:txBody>
          <a:bodyPr/>
          <a:lstStyle/>
          <a:p>
            <a:endParaRPr lang="en-IN"/>
          </a:p>
        </p:txBody>
      </p:sp>
      <p:sp>
        <p:nvSpPr>
          <p:cNvPr id="23" name="Text 21"/>
          <p:cNvSpPr/>
          <p:nvPr/>
        </p:nvSpPr>
        <p:spPr>
          <a:xfrm>
            <a:off x="9504680" y="4566927"/>
            <a:ext cx="17685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5</a:t>
            </a:r>
            <a:r>
              <a:rPr lang="en-US" sz="1200" dirty="0">
                <a:solidFill>
                  <a:srgbClr val="13233A"/>
                </a:solidFill>
                <a:latin typeface="IBM Plex Sans" pitchFamily="34" charset="0"/>
                <a:ea typeface="IBM Plex Sans" pitchFamily="34" charset="-122"/>
                <a:cs typeface="IBM Plex Sans" pitchFamily="34" charset="-120"/>
              </a:rPr>
              <a:t> · name says nothing</a:t>
            </a:r>
            <a:endParaRPr lang="en-US" sz="1200" dirty="0"/>
          </a:p>
        </p:txBody>
      </p:sp>
      <p:sp>
        <p:nvSpPr>
          <p:cNvPr id="24" name="Text 22"/>
          <p:cNvSpPr/>
          <p:nvPr/>
        </p:nvSpPr>
        <p:spPr>
          <a:xfrm>
            <a:off x="9504680" y="4818385"/>
            <a:ext cx="17685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IBM Plex Sans" pitchFamily="34" charset="0"/>
                <a:ea typeface="IBM Plex Sans" pitchFamily="34" charset="-122"/>
                <a:cs typeface="IBM Plex Sans" pitchFamily="34" charset="-120"/>
              </a:rPr>
              <a:t>Not clear</a:t>
            </a:r>
            <a:endParaRPr lang="en-US" sz="1200" dirty="0"/>
          </a:p>
        </p:txBody>
      </p:sp>
      <p:sp>
        <p:nvSpPr>
          <p:cNvPr id="25" name="Text 23"/>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6" name="Text 24"/>
          <p:cNvSpPr/>
          <p:nvPr/>
        </p:nvSpPr>
        <p:spPr>
          <a:xfrm>
            <a:off x="6338808" y="6238242"/>
            <a:ext cx="519160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Both versions pass today; only the second one will catch a wrong discount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L3 · TESTING PRINCIPLES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Seven testing principles, 1 to 4</a:t>
            </a:r>
            <a:endParaRPr lang="en-US" sz="3200" dirty="0"/>
          </a:p>
        </p:txBody>
      </p:sp>
      <p:sp>
        <p:nvSpPr>
          <p:cNvPr id="4" name="Shape 2"/>
          <p:cNvSpPr/>
          <p:nvPr/>
        </p:nvSpPr>
        <p:spPr>
          <a:xfrm>
            <a:off x="812800" y="1831975"/>
            <a:ext cx="10566400" cy="0"/>
          </a:xfrm>
          <a:prstGeom prst="line">
            <a:avLst/>
          </a:prstGeom>
          <a:noFill/>
          <a:ln w="6350">
            <a:solidFill>
              <a:srgbClr val="DDD8CC"/>
            </a:solidFill>
            <a:prstDash val="solid"/>
          </a:ln>
        </p:spPr>
        <p:txBody>
          <a:bodyPr/>
          <a:lstStyle/>
          <a:p>
            <a:endParaRPr lang="en-IN"/>
          </a:p>
        </p:txBody>
      </p:sp>
      <p:sp>
        <p:nvSpPr>
          <p:cNvPr id="5" name="Text 3"/>
          <p:cNvSpPr/>
          <p:nvPr/>
        </p:nvSpPr>
        <p:spPr>
          <a:xfrm>
            <a:off x="812800" y="1948185"/>
            <a:ext cx="3556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1</a:t>
            </a:r>
            <a:endParaRPr lang="en-US" sz="2000" dirty="0"/>
          </a:p>
        </p:txBody>
      </p:sp>
      <p:sp>
        <p:nvSpPr>
          <p:cNvPr id="6" name="Text 4"/>
          <p:cNvSpPr/>
          <p:nvPr/>
        </p:nvSpPr>
        <p:spPr>
          <a:xfrm>
            <a:off x="1270000" y="2034542"/>
            <a:ext cx="3191764"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Testing shows the presence, not the absence of defects</a:t>
            </a:r>
            <a:endParaRPr lang="en-US" sz="1400" dirty="0"/>
          </a:p>
        </p:txBody>
      </p:sp>
      <p:sp>
        <p:nvSpPr>
          <p:cNvPr id="7" name="Text 5"/>
          <p:cNvSpPr/>
          <p:nvPr/>
        </p:nvSpPr>
        <p:spPr>
          <a:xfrm>
            <a:off x="4572000" y="1948185"/>
            <a:ext cx="701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Passing tests lower the risk; they never prove the software is defect-free.</a:t>
            </a:r>
            <a:endParaRPr lang="en-US" sz="1200" dirty="0"/>
          </a:p>
        </p:txBody>
      </p:sp>
      <p:sp>
        <p:nvSpPr>
          <p:cNvPr id="8" name="Text 6"/>
          <p:cNvSpPr/>
          <p:nvPr/>
        </p:nvSpPr>
        <p:spPr>
          <a:xfrm>
            <a:off x="4572000" y="2186942"/>
            <a:ext cx="701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45A9C"/>
                </a:solidFill>
                <a:latin typeface="IBM Plex Sans" pitchFamily="34" charset="0"/>
                <a:ea typeface="IBM Plex Sans" pitchFamily="34" charset="-122"/>
                <a:cs typeface="IBM Plex Sans" pitchFamily="34" charset="-120"/>
              </a:rPr>
              <a:t>Canteen App:</a:t>
            </a:r>
            <a:r>
              <a:rPr lang="en-US" sz="1200" dirty="0">
                <a:solidFill>
                  <a:srgbClr val="44505F"/>
                </a:solidFill>
                <a:latin typeface="IBM Plex Sans" pitchFamily="34" charset="0"/>
                <a:ea typeface="IBM Plex Sans" pitchFamily="34" charset="-122"/>
                <a:cs typeface="IBM Plex Sans" pitchFamily="34" charset="-120"/>
              </a:rPr>
              <a:t> every coupon test passes, yet a rounding bug can still hide in an untested total.</a:t>
            </a:r>
            <a:endParaRPr lang="en-US" sz="1200" dirty="0"/>
          </a:p>
        </p:txBody>
      </p:sp>
      <p:sp>
        <p:nvSpPr>
          <p:cNvPr id="9" name="Shape 7"/>
          <p:cNvSpPr/>
          <p:nvPr/>
        </p:nvSpPr>
        <p:spPr>
          <a:xfrm>
            <a:off x="812800" y="2614302"/>
            <a:ext cx="10566400" cy="0"/>
          </a:xfrm>
          <a:prstGeom prst="line">
            <a:avLst/>
          </a:prstGeom>
          <a:noFill/>
          <a:ln w="6350">
            <a:solidFill>
              <a:srgbClr val="DDD8CC"/>
            </a:solidFill>
            <a:prstDash val="solid"/>
          </a:ln>
        </p:spPr>
        <p:txBody>
          <a:bodyPr/>
          <a:lstStyle/>
          <a:p>
            <a:endParaRPr lang="en-IN"/>
          </a:p>
        </p:txBody>
      </p:sp>
      <p:sp>
        <p:nvSpPr>
          <p:cNvPr id="10" name="Text 8"/>
          <p:cNvSpPr/>
          <p:nvPr/>
        </p:nvSpPr>
        <p:spPr>
          <a:xfrm>
            <a:off x="812800" y="2730500"/>
            <a:ext cx="3556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2</a:t>
            </a:r>
            <a:endParaRPr lang="en-US" sz="2000" dirty="0"/>
          </a:p>
        </p:txBody>
      </p:sp>
      <p:sp>
        <p:nvSpPr>
          <p:cNvPr id="11" name="Text 9"/>
          <p:cNvSpPr/>
          <p:nvPr/>
        </p:nvSpPr>
        <p:spPr>
          <a:xfrm>
            <a:off x="1270000" y="2816858"/>
            <a:ext cx="3191764"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Exhaustive testing is impossible</a:t>
            </a:r>
            <a:endParaRPr lang="en-US" sz="1400" dirty="0"/>
          </a:p>
        </p:txBody>
      </p:sp>
      <p:sp>
        <p:nvSpPr>
          <p:cNvPr id="12" name="Text 10"/>
          <p:cNvSpPr/>
          <p:nvPr/>
        </p:nvSpPr>
        <p:spPr>
          <a:xfrm>
            <a:off x="4572000" y="2730500"/>
            <a:ext cx="701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Use risk analysis and test techniques to choose what to test.</a:t>
            </a:r>
            <a:endParaRPr lang="en-US" sz="1200" dirty="0"/>
          </a:p>
        </p:txBody>
      </p:sp>
      <p:sp>
        <p:nvSpPr>
          <p:cNvPr id="13" name="Text 11"/>
          <p:cNvSpPr/>
          <p:nvPr/>
        </p:nvSpPr>
        <p:spPr>
          <a:xfrm>
            <a:off x="4572000" y="2969258"/>
            <a:ext cx="701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45A9C"/>
                </a:solidFill>
                <a:latin typeface="IBM Plex Sans" pitchFamily="34" charset="0"/>
                <a:ea typeface="IBM Plex Sans" pitchFamily="34" charset="-122"/>
                <a:cs typeface="IBM Plex Sans" pitchFamily="34" charset="-120"/>
              </a:rPr>
              <a:t>Canteen App:</a:t>
            </a:r>
            <a:r>
              <a:rPr lang="en-US" sz="1200" dirty="0">
                <a:solidFill>
                  <a:srgbClr val="44505F"/>
                </a:solidFill>
                <a:latin typeface="IBM Plex Sans" pitchFamily="34" charset="0"/>
                <a:ea typeface="IBM Plex Sans" pitchFamily="34" charset="-122"/>
                <a:cs typeface="IBM Plex Sans" pitchFamily="34" charset="-120"/>
              </a:rPr>
              <a:t> every item × quantity × coupon × wallet balance is far too many combinations to run.</a:t>
            </a:r>
            <a:endParaRPr lang="en-US" sz="1200" dirty="0"/>
          </a:p>
        </p:txBody>
      </p:sp>
      <p:sp>
        <p:nvSpPr>
          <p:cNvPr id="14" name="Shape 12"/>
          <p:cNvSpPr/>
          <p:nvPr/>
        </p:nvSpPr>
        <p:spPr>
          <a:xfrm>
            <a:off x="812800" y="3300102"/>
            <a:ext cx="10566400" cy="0"/>
          </a:xfrm>
          <a:prstGeom prst="line">
            <a:avLst/>
          </a:prstGeom>
          <a:noFill/>
          <a:ln w="6350">
            <a:solidFill>
              <a:srgbClr val="DDD8CC"/>
            </a:solidFill>
            <a:prstDash val="solid"/>
          </a:ln>
        </p:spPr>
        <p:txBody>
          <a:bodyPr/>
          <a:lstStyle/>
          <a:p>
            <a:endParaRPr lang="en-IN"/>
          </a:p>
        </p:txBody>
      </p:sp>
      <p:sp>
        <p:nvSpPr>
          <p:cNvPr id="15" name="Text 13"/>
          <p:cNvSpPr/>
          <p:nvPr/>
        </p:nvSpPr>
        <p:spPr>
          <a:xfrm>
            <a:off x="812800" y="3416300"/>
            <a:ext cx="3556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3</a:t>
            </a:r>
            <a:endParaRPr lang="en-US" sz="2000" dirty="0"/>
          </a:p>
        </p:txBody>
      </p:sp>
      <p:sp>
        <p:nvSpPr>
          <p:cNvPr id="16" name="Text 14"/>
          <p:cNvSpPr/>
          <p:nvPr/>
        </p:nvSpPr>
        <p:spPr>
          <a:xfrm>
            <a:off x="1270000" y="3502658"/>
            <a:ext cx="3191764"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Early testing saves time and money</a:t>
            </a:r>
            <a:endParaRPr lang="en-US" sz="1400" dirty="0"/>
          </a:p>
        </p:txBody>
      </p:sp>
      <p:sp>
        <p:nvSpPr>
          <p:cNvPr id="17" name="Text 15"/>
          <p:cNvSpPr/>
          <p:nvPr/>
        </p:nvSpPr>
        <p:spPr>
          <a:xfrm>
            <a:off x="4572000" y="3416300"/>
            <a:ext cx="701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Defects removed early do not cause more defects in later work products.</a:t>
            </a:r>
            <a:endParaRPr lang="en-US" sz="1200" dirty="0"/>
          </a:p>
        </p:txBody>
      </p:sp>
      <p:sp>
        <p:nvSpPr>
          <p:cNvPr id="18" name="Text 16"/>
          <p:cNvSpPr/>
          <p:nvPr/>
        </p:nvSpPr>
        <p:spPr>
          <a:xfrm>
            <a:off x="4572000" y="3655058"/>
            <a:ext cx="701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45A9C"/>
                </a:solidFill>
                <a:latin typeface="IBM Plex Sans" pitchFamily="34" charset="0"/>
                <a:ea typeface="IBM Plex Sans" pitchFamily="34" charset="-122"/>
                <a:cs typeface="IBM Plex Sans" pitchFamily="34" charset="-120"/>
              </a:rPr>
              <a:t>Canteen App:</a:t>
            </a:r>
            <a:r>
              <a:rPr lang="en-US" sz="1200" dirty="0">
                <a:solidFill>
                  <a:srgbClr val="44505F"/>
                </a:solidFill>
                <a:latin typeface="IBM Plex Sans" pitchFamily="34" charset="0"/>
                <a:ea typeface="IBM Plex Sans" pitchFamily="34" charset="-122"/>
                <a:cs typeface="IBM Plex Sans" pitchFamily="34" charset="-120"/>
              </a:rPr>
              <a:t> asking “how fast is fast?” in a requirement review, before any code exists.</a:t>
            </a:r>
            <a:endParaRPr lang="en-US" sz="1200" dirty="0"/>
          </a:p>
        </p:txBody>
      </p:sp>
      <p:sp>
        <p:nvSpPr>
          <p:cNvPr id="19" name="Shape 17"/>
          <p:cNvSpPr/>
          <p:nvPr/>
        </p:nvSpPr>
        <p:spPr>
          <a:xfrm>
            <a:off x="812800" y="3985902"/>
            <a:ext cx="10566400" cy="0"/>
          </a:xfrm>
          <a:prstGeom prst="line">
            <a:avLst/>
          </a:prstGeom>
          <a:noFill/>
          <a:ln w="6350">
            <a:solidFill>
              <a:srgbClr val="DDD8CC"/>
            </a:solidFill>
            <a:prstDash val="solid"/>
          </a:ln>
        </p:spPr>
        <p:txBody>
          <a:bodyPr/>
          <a:lstStyle/>
          <a:p>
            <a:endParaRPr lang="en-IN"/>
          </a:p>
        </p:txBody>
      </p:sp>
      <p:sp>
        <p:nvSpPr>
          <p:cNvPr id="20" name="Shape 18"/>
          <p:cNvSpPr/>
          <p:nvPr/>
        </p:nvSpPr>
        <p:spPr>
          <a:xfrm>
            <a:off x="812800" y="4670432"/>
            <a:ext cx="10566400" cy="0"/>
          </a:xfrm>
          <a:prstGeom prst="line">
            <a:avLst/>
          </a:prstGeom>
          <a:noFill/>
          <a:ln w="6350">
            <a:solidFill>
              <a:srgbClr val="DDD8CC"/>
            </a:solidFill>
            <a:prstDash val="solid"/>
          </a:ln>
        </p:spPr>
        <p:txBody>
          <a:bodyPr/>
          <a:lstStyle/>
          <a:p>
            <a:endParaRPr lang="en-IN"/>
          </a:p>
        </p:txBody>
      </p:sp>
      <p:sp>
        <p:nvSpPr>
          <p:cNvPr id="21" name="Text 19"/>
          <p:cNvSpPr/>
          <p:nvPr/>
        </p:nvSpPr>
        <p:spPr>
          <a:xfrm>
            <a:off x="812800" y="4102100"/>
            <a:ext cx="3556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4</a:t>
            </a:r>
            <a:endParaRPr lang="en-US" sz="2000" dirty="0"/>
          </a:p>
        </p:txBody>
      </p:sp>
      <p:sp>
        <p:nvSpPr>
          <p:cNvPr id="22" name="Text 20"/>
          <p:cNvSpPr/>
          <p:nvPr/>
        </p:nvSpPr>
        <p:spPr>
          <a:xfrm>
            <a:off x="1270000" y="4188458"/>
            <a:ext cx="3191764"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Defects cluster together</a:t>
            </a:r>
            <a:endParaRPr lang="en-US" sz="1400" dirty="0"/>
          </a:p>
        </p:txBody>
      </p:sp>
      <p:sp>
        <p:nvSpPr>
          <p:cNvPr id="23" name="Text 21"/>
          <p:cNvSpPr/>
          <p:nvPr/>
        </p:nvSpPr>
        <p:spPr>
          <a:xfrm>
            <a:off x="4572000" y="4102100"/>
            <a:ext cx="701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A few components usually hold most of the defects, so test them harder.</a:t>
            </a:r>
            <a:endParaRPr lang="en-US" sz="1200" dirty="0"/>
          </a:p>
        </p:txBody>
      </p:sp>
      <p:sp>
        <p:nvSpPr>
          <p:cNvPr id="24" name="Text 22"/>
          <p:cNvSpPr/>
          <p:nvPr/>
        </p:nvSpPr>
        <p:spPr>
          <a:xfrm>
            <a:off x="4572000" y="4340858"/>
            <a:ext cx="701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45A9C"/>
                </a:solidFill>
                <a:latin typeface="IBM Plex Sans" pitchFamily="34" charset="0"/>
                <a:ea typeface="IBM Plex Sans" pitchFamily="34" charset="-122"/>
                <a:cs typeface="IBM Plex Sans" pitchFamily="34" charset="-120"/>
              </a:rPr>
              <a:t>Canteen App:</a:t>
            </a:r>
            <a:r>
              <a:rPr lang="en-US" sz="1200" dirty="0">
                <a:solidFill>
                  <a:srgbClr val="44505F"/>
                </a:solidFill>
                <a:latin typeface="IBM Plex Sans" pitchFamily="34" charset="0"/>
                <a:ea typeface="IBM Plex Sans" pitchFamily="34" charset="-122"/>
                <a:cs typeface="IBM Plex Sans" pitchFamily="34" charset="-120"/>
              </a:rPr>
              <a:t> payment and coupon code caused most of last release's bugs.</a:t>
            </a:r>
            <a:endParaRPr lang="en-US" sz="1200" dirty="0"/>
          </a:p>
        </p:txBody>
      </p:sp>
      <p:sp>
        <p:nvSpPr>
          <p:cNvPr id="25" name="Text 23"/>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6" name="Text 24"/>
          <p:cNvSpPr/>
          <p:nvPr/>
        </p:nvSpPr>
        <p:spPr>
          <a:xfrm>
            <a:off x="6976666" y="6238242"/>
            <a:ext cx="453461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Principles as named in the ISTQB Foundation Level syllabus v4.0</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L3 · TESTING PRINCIPLES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Seven testing principles, 5 to 7</a:t>
            </a:r>
            <a:endParaRPr lang="en-US" sz="3200" dirty="0"/>
          </a:p>
        </p:txBody>
      </p:sp>
      <p:sp>
        <p:nvSpPr>
          <p:cNvPr id="4" name="Shape 2"/>
          <p:cNvSpPr/>
          <p:nvPr/>
        </p:nvSpPr>
        <p:spPr>
          <a:xfrm>
            <a:off x="812800" y="1831975"/>
            <a:ext cx="10566400" cy="0"/>
          </a:xfrm>
          <a:prstGeom prst="line">
            <a:avLst/>
          </a:prstGeom>
          <a:noFill/>
          <a:ln w="6350">
            <a:solidFill>
              <a:srgbClr val="DDD8CC"/>
            </a:solidFill>
            <a:prstDash val="solid"/>
          </a:ln>
        </p:spPr>
        <p:txBody>
          <a:bodyPr/>
          <a:lstStyle/>
          <a:p>
            <a:endParaRPr lang="en-IN"/>
          </a:p>
        </p:txBody>
      </p:sp>
      <p:sp>
        <p:nvSpPr>
          <p:cNvPr id="5" name="Text 3"/>
          <p:cNvSpPr/>
          <p:nvPr/>
        </p:nvSpPr>
        <p:spPr>
          <a:xfrm>
            <a:off x="812800" y="1948185"/>
            <a:ext cx="3556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5</a:t>
            </a:r>
            <a:endParaRPr lang="en-US" sz="2000" dirty="0"/>
          </a:p>
        </p:txBody>
      </p:sp>
      <p:sp>
        <p:nvSpPr>
          <p:cNvPr id="6" name="Text 4"/>
          <p:cNvSpPr/>
          <p:nvPr/>
        </p:nvSpPr>
        <p:spPr>
          <a:xfrm>
            <a:off x="1270000" y="2034542"/>
            <a:ext cx="3191764"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Tests wear out</a:t>
            </a:r>
            <a:endParaRPr lang="en-US" sz="1400" dirty="0"/>
          </a:p>
        </p:txBody>
      </p:sp>
      <p:sp>
        <p:nvSpPr>
          <p:cNvPr id="7" name="Text 5"/>
          <p:cNvSpPr/>
          <p:nvPr/>
        </p:nvSpPr>
        <p:spPr>
          <a:xfrm>
            <a:off x="1270000" y="2278385"/>
            <a:ext cx="319176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once called the pesticide paradox</a:t>
            </a:r>
            <a:endParaRPr lang="en-US" sz="1200" dirty="0"/>
          </a:p>
        </p:txBody>
      </p:sp>
      <p:sp>
        <p:nvSpPr>
          <p:cNvPr id="8" name="Text 6"/>
          <p:cNvSpPr/>
          <p:nvPr/>
        </p:nvSpPr>
        <p:spPr>
          <a:xfrm>
            <a:off x="4572000" y="1948185"/>
            <a:ext cx="701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Rerunning the same tests finds fewer new defects; keep revising them.</a:t>
            </a:r>
            <a:endParaRPr lang="en-US" sz="1200" dirty="0"/>
          </a:p>
        </p:txBody>
      </p:sp>
      <p:sp>
        <p:nvSpPr>
          <p:cNvPr id="9" name="Text 7"/>
          <p:cNvSpPr/>
          <p:nvPr/>
        </p:nvSpPr>
        <p:spPr>
          <a:xfrm>
            <a:off x="4572000" y="2186942"/>
            <a:ext cx="701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45A9C"/>
                </a:solidFill>
                <a:latin typeface="IBM Plex Sans" pitchFamily="34" charset="0"/>
                <a:ea typeface="IBM Plex Sans" pitchFamily="34" charset="-122"/>
                <a:cs typeface="IBM Plex Sans" pitchFamily="34" charset="-120"/>
              </a:rPr>
              <a:t>Canteen App:</a:t>
            </a:r>
            <a:r>
              <a:rPr lang="en-US" sz="1200" dirty="0">
                <a:solidFill>
                  <a:srgbClr val="44505F"/>
                </a:solidFill>
                <a:latin typeface="IBM Plex Sans" pitchFamily="34" charset="0"/>
                <a:ea typeface="IBM Plex Sans" pitchFamily="34" charset="-122"/>
                <a:cs typeface="IBM Plex Sans" pitchFamily="34" charset="-120"/>
              </a:rPr>
              <a:t> add new coupon cases when the rules change, not just rerun old ones.</a:t>
            </a:r>
            <a:endParaRPr lang="en-US" sz="1200" dirty="0"/>
          </a:p>
        </p:txBody>
      </p:sp>
      <p:sp>
        <p:nvSpPr>
          <p:cNvPr id="10" name="Shape 8"/>
          <p:cNvSpPr/>
          <p:nvPr/>
        </p:nvSpPr>
        <p:spPr>
          <a:xfrm>
            <a:off x="812800" y="2609217"/>
            <a:ext cx="10566400" cy="0"/>
          </a:xfrm>
          <a:prstGeom prst="line">
            <a:avLst/>
          </a:prstGeom>
          <a:noFill/>
          <a:ln w="6350">
            <a:solidFill>
              <a:srgbClr val="DDD8CC"/>
            </a:solidFill>
            <a:prstDash val="solid"/>
          </a:ln>
        </p:spPr>
        <p:txBody>
          <a:bodyPr/>
          <a:lstStyle/>
          <a:p>
            <a:endParaRPr lang="en-IN"/>
          </a:p>
        </p:txBody>
      </p:sp>
      <p:sp>
        <p:nvSpPr>
          <p:cNvPr id="11" name="Text 9"/>
          <p:cNvSpPr/>
          <p:nvPr/>
        </p:nvSpPr>
        <p:spPr>
          <a:xfrm>
            <a:off x="812800" y="2725427"/>
            <a:ext cx="3556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6</a:t>
            </a:r>
            <a:endParaRPr lang="en-US" sz="2000" dirty="0"/>
          </a:p>
        </p:txBody>
      </p:sp>
      <p:sp>
        <p:nvSpPr>
          <p:cNvPr id="12" name="Text 10"/>
          <p:cNvSpPr/>
          <p:nvPr/>
        </p:nvSpPr>
        <p:spPr>
          <a:xfrm>
            <a:off x="1270000" y="2811785"/>
            <a:ext cx="3191764"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Testing is context dependent</a:t>
            </a:r>
            <a:endParaRPr lang="en-US" sz="1400" dirty="0"/>
          </a:p>
        </p:txBody>
      </p:sp>
      <p:sp>
        <p:nvSpPr>
          <p:cNvPr id="13" name="Text 11"/>
          <p:cNvSpPr/>
          <p:nvPr/>
        </p:nvSpPr>
        <p:spPr>
          <a:xfrm>
            <a:off x="4572000" y="2725427"/>
            <a:ext cx="701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No single approach fits all: a payment system and a game need different testing.</a:t>
            </a:r>
            <a:endParaRPr lang="en-US" sz="1200" dirty="0"/>
          </a:p>
        </p:txBody>
      </p:sp>
      <p:sp>
        <p:nvSpPr>
          <p:cNvPr id="14" name="Text 12"/>
          <p:cNvSpPr/>
          <p:nvPr/>
        </p:nvSpPr>
        <p:spPr>
          <a:xfrm>
            <a:off x="4572000" y="2964185"/>
            <a:ext cx="701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45A9C"/>
                </a:solidFill>
                <a:latin typeface="IBM Plex Sans" pitchFamily="34" charset="0"/>
                <a:ea typeface="IBM Plex Sans" pitchFamily="34" charset="-122"/>
                <a:cs typeface="IBM Plex Sans" pitchFamily="34" charset="-120"/>
              </a:rPr>
              <a:t>Canteen App:</a:t>
            </a:r>
            <a:r>
              <a:rPr lang="en-US" sz="1200" dirty="0">
                <a:solidFill>
                  <a:srgbClr val="44505F"/>
                </a:solidFill>
                <a:latin typeface="IBM Plex Sans" pitchFamily="34" charset="0"/>
                <a:ea typeface="IBM Plex Sans" pitchFamily="34" charset="-122"/>
                <a:cs typeface="IBM Plex Sans" pitchFamily="34" charset="-120"/>
              </a:rPr>
              <a:t> payments need strict security testing; the menu page needs speed.</a:t>
            </a:r>
            <a:endParaRPr lang="en-US" sz="1200" dirty="0"/>
          </a:p>
        </p:txBody>
      </p:sp>
      <p:sp>
        <p:nvSpPr>
          <p:cNvPr id="15" name="Shape 13"/>
          <p:cNvSpPr/>
          <p:nvPr/>
        </p:nvSpPr>
        <p:spPr>
          <a:xfrm>
            <a:off x="812800" y="3295017"/>
            <a:ext cx="10566400" cy="0"/>
          </a:xfrm>
          <a:prstGeom prst="line">
            <a:avLst/>
          </a:prstGeom>
          <a:noFill/>
          <a:ln w="6350">
            <a:solidFill>
              <a:srgbClr val="DDD8CC"/>
            </a:solidFill>
            <a:prstDash val="solid"/>
          </a:ln>
        </p:spPr>
        <p:txBody>
          <a:bodyPr/>
          <a:lstStyle/>
          <a:p>
            <a:endParaRPr lang="en-IN"/>
          </a:p>
        </p:txBody>
      </p:sp>
      <p:sp>
        <p:nvSpPr>
          <p:cNvPr id="16" name="Shape 14"/>
          <p:cNvSpPr/>
          <p:nvPr/>
        </p:nvSpPr>
        <p:spPr>
          <a:xfrm>
            <a:off x="812800" y="3979547"/>
            <a:ext cx="10566400" cy="0"/>
          </a:xfrm>
          <a:prstGeom prst="line">
            <a:avLst/>
          </a:prstGeom>
          <a:noFill/>
          <a:ln w="6350">
            <a:solidFill>
              <a:srgbClr val="DDD8CC"/>
            </a:solidFill>
            <a:prstDash val="solid"/>
          </a:ln>
        </p:spPr>
        <p:txBody>
          <a:bodyPr/>
          <a:lstStyle/>
          <a:p>
            <a:endParaRPr lang="en-IN"/>
          </a:p>
        </p:txBody>
      </p:sp>
      <p:sp>
        <p:nvSpPr>
          <p:cNvPr id="17" name="Text 15"/>
          <p:cNvSpPr/>
          <p:nvPr/>
        </p:nvSpPr>
        <p:spPr>
          <a:xfrm>
            <a:off x="812800" y="3411227"/>
            <a:ext cx="3556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7</a:t>
            </a:r>
            <a:endParaRPr lang="en-US" sz="2000" dirty="0"/>
          </a:p>
        </p:txBody>
      </p:sp>
      <p:sp>
        <p:nvSpPr>
          <p:cNvPr id="18" name="Text 16"/>
          <p:cNvSpPr/>
          <p:nvPr/>
        </p:nvSpPr>
        <p:spPr>
          <a:xfrm>
            <a:off x="1270000" y="3497585"/>
            <a:ext cx="3191764"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Absence-of-defects fallacy</a:t>
            </a:r>
            <a:endParaRPr lang="en-US" sz="1400" dirty="0"/>
          </a:p>
        </p:txBody>
      </p:sp>
      <p:sp>
        <p:nvSpPr>
          <p:cNvPr id="19" name="Text 17"/>
          <p:cNvSpPr/>
          <p:nvPr/>
        </p:nvSpPr>
        <p:spPr>
          <a:xfrm>
            <a:off x="4572000" y="3411227"/>
            <a:ext cx="701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Fixing defects is not enough if the system misses users' real needs.</a:t>
            </a:r>
            <a:endParaRPr lang="en-US" sz="1200" dirty="0"/>
          </a:p>
        </p:txBody>
      </p:sp>
      <p:sp>
        <p:nvSpPr>
          <p:cNvPr id="20" name="Text 18"/>
          <p:cNvSpPr/>
          <p:nvPr/>
        </p:nvSpPr>
        <p:spPr>
          <a:xfrm>
            <a:off x="4572000" y="3649985"/>
            <a:ext cx="701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45A9C"/>
                </a:solidFill>
                <a:latin typeface="IBM Plex Sans" pitchFamily="34" charset="0"/>
                <a:ea typeface="IBM Plex Sans" pitchFamily="34" charset="-122"/>
                <a:cs typeface="IBM Plex Sans" pitchFamily="34" charset="-120"/>
              </a:rPr>
              <a:t>Canteen App:</a:t>
            </a:r>
            <a:r>
              <a:rPr lang="en-US" sz="1200" dirty="0">
                <a:solidFill>
                  <a:srgbClr val="44505F"/>
                </a:solidFill>
                <a:latin typeface="IBM Plex Sans" pitchFamily="34" charset="0"/>
                <a:ea typeface="IBM Plex Sans" pitchFamily="34" charset="-122"/>
                <a:cs typeface="IBM Plex Sans" pitchFamily="34" charset="-120"/>
              </a:rPr>
              <a:t> a bug-free app still fails if ordering is slower than the counter.</a:t>
            </a:r>
            <a:endParaRPr lang="en-US" sz="1200" dirty="0"/>
          </a:p>
        </p:txBody>
      </p:sp>
      <p:sp>
        <p:nvSpPr>
          <p:cNvPr id="21" name="Shape 19"/>
          <p:cNvSpPr/>
          <p:nvPr/>
        </p:nvSpPr>
        <p:spPr>
          <a:xfrm>
            <a:off x="812800" y="4236727"/>
            <a:ext cx="10566400" cy="553720"/>
          </a:xfrm>
          <a:prstGeom prst="roundRect">
            <a:avLst>
              <a:gd name="adj" fmla="val 13761"/>
            </a:avLst>
          </a:prstGeom>
          <a:solidFill>
            <a:srgbClr val="13233A"/>
          </a:solidFill>
          <a:ln/>
        </p:spPr>
        <p:txBody>
          <a:bodyPr/>
          <a:lstStyle/>
          <a:p>
            <a:endParaRPr lang="en-IN"/>
          </a:p>
        </p:txBody>
      </p:sp>
      <p:sp>
        <p:nvSpPr>
          <p:cNvPr id="22" name="Text 20"/>
          <p:cNvSpPr/>
          <p:nvPr/>
        </p:nvSpPr>
        <p:spPr>
          <a:xfrm>
            <a:off x="1016000" y="4406900"/>
            <a:ext cx="150876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36B"/>
                </a:solidFill>
                <a:latin typeface="JetBrains Mono" pitchFamily="34" charset="0"/>
                <a:ea typeface="JetBrains Mono" pitchFamily="34" charset="-122"/>
                <a:cs typeface="JetBrains Mono" pitchFamily="34" charset="-120"/>
              </a:rPr>
              <a:t>FOR AUTOMATION</a:t>
            </a:r>
            <a:endParaRPr lang="en-US" sz="1200" dirty="0"/>
          </a:p>
        </p:txBody>
      </p:sp>
      <p:sp>
        <p:nvSpPr>
          <p:cNvPr id="23" name="Text 21"/>
          <p:cNvSpPr/>
          <p:nvPr/>
        </p:nvSpPr>
        <p:spPr>
          <a:xfrm>
            <a:off x="2626360" y="4389127"/>
            <a:ext cx="880612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3F1EA"/>
                </a:solidFill>
                <a:latin typeface="IBM Plex Sans" pitchFamily="34" charset="0"/>
                <a:ea typeface="IBM Plex Sans" pitchFamily="34" charset="-122"/>
                <a:cs typeface="IBM Plex Sans" pitchFamily="34" charset="-120"/>
              </a:rPr>
              <a:t>Principles 1, 2 and 5 explain why a green suite is not proof of quality, and why suites need regular review.</a:t>
            </a:r>
            <a:endParaRPr lang="en-US" sz="1400" dirty="0"/>
          </a:p>
        </p:txBody>
      </p:sp>
      <p:sp>
        <p:nvSpPr>
          <p:cNvPr id="24" name="Text 22"/>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5" name="Text 23"/>
          <p:cNvSpPr/>
          <p:nvPr/>
        </p:nvSpPr>
        <p:spPr>
          <a:xfrm>
            <a:off x="6976666" y="6238242"/>
            <a:ext cx="453461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Principles as named in the ISTQB Foundation Level syllabus v4.0</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L3 · SDLC VS STLC</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The software development life cycle</a:t>
            </a:r>
            <a:endParaRPr lang="en-US" sz="3200" dirty="0"/>
          </a:p>
        </p:txBody>
      </p:sp>
      <p:sp>
        <p:nvSpPr>
          <p:cNvPr id="4" name="Shape 2"/>
          <p:cNvSpPr/>
          <p:nvPr/>
        </p:nvSpPr>
        <p:spPr>
          <a:xfrm>
            <a:off x="815975" y="1831975"/>
            <a:ext cx="1544717" cy="941070"/>
          </a:xfrm>
          <a:prstGeom prst="roundRect">
            <a:avLst>
              <a:gd name="adj" fmla="val 7760"/>
            </a:avLst>
          </a:prstGeom>
          <a:solidFill>
            <a:srgbClr val="FCFBF7"/>
          </a:solidFill>
          <a:ln w="6350">
            <a:solidFill>
              <a:srgbClr val="DDD8CC"/>
            </a:solidFill>
            <a:prstDash val="solid"/>
          </a:ln>
        </p:spPr>
        <p:txBody>
          <a:bodyPr/>
          <a:lstStyle/>
          <a:p>
            <a:endParaRPr lang="en-IN"/>
          </a:p>
        </p:txBody>
      </p:sp>
      <p:sp>
        <p:nvSpPr>
          <p:cNvPr id="5" name="Text 3"/>
          <p:cNvSpPr/>
          <p:nvPr/>
        </p:nvSpPr>
        <p:spPr>
          <a:xfrm>
            <a:off x="894080" y="1960885"/>
            <a:ext cx="1388507"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Requirements</a:t>
            </a:r>
            <a:endParaRPr lang="en-US" sz="1400" dirty="0"/>
          </a:p>
        </p:txBody>
      </p:sp>
      <p:sp>
        <p:nvSpPr>
          <p:cNvPr id="6" name="Text 4"/>
          <p:cNvSpPr/>
          <p:nvPr/>
        </p:nvSpPr>
        <p:spPr>
          <a:xfrm>
            <a:off x="894080" y="2247900"/>
            <a:ext cx="1388507"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4505F"/>
                </a:solidFill>
                <a:latin typeface="IBM Plex Sans" pitchFamily="34" charset="0"/>
                <a:ea typeface="IBM Plex Sans" pitchFamily="34" charset="-122"/>
                <a:cs typeface="IBM Plex Sans" pitchFamily="34" charset="-120"/>
              </a:rPr>
              <a:t>SRS, user stories</a:t>
            </a:r>
            <a:endParaRPr lang="en-US" sz="1200" dirty="0"/>
          </a:p>
        </p:txBody>
      </p:sp>
      <p:pic>
        <p:nvPicPr>
          <p:cNvPr id="7" name="Image 0" descr="connector"/>
          <p:cNvPicPr>
            <a:picLocks noChangeAspect="1"/>
          </p:cNvPicPr>
          <p:nvPr/>
        </p:nvPicPr>
        <p:blipFill>
          <a:blip r:embed="rId3"/>
          <a:srcRect/>
          <a:stretch/>
        </p:blipFill>
        <p:spPr>
          <a:xfrm>
            <a:off x="2363867" y="2251708"/>
            <a:ext cx="254000" cy="101600"/>
          </a:xfrm>
          <a:prstGeom prst="rect">
            <a:avLst/>
          </a:prstGeom>
        </p:spPr>
      </p:pic>
      <p:sp>
        <p:nvSpPr>
          <p:cNvPr id="8" name="Shape 5"/>
          <p:cNvSpPr/>
          <p:nvPr/>
        </p:nvSpPr>
        <p:spPr>
          <a:xfrm>
            <a:off x="2621042" y="1831975"/>
            <a:ext cx="1544796" cy="941070"/>
          </a:xfrm>
          <a:prstGeom prst="roundRect">
            <a:avLst>
              <a:gd name="adj" fmla="val 7760"/>
            </a:avLst>
          </a:prstGeom>
          <a:solidFill>
            <a:srgbClr val="FCFBF7"/>
          </a:solidFill>
          <a:ln w="6350">
            <a:solidFill>
              <a:srgbClr val="DDD8CC"/>
            </a:solidFill>
            <a:prstDash val="solid"/>
          </a:ln>
        </p:spPr>
        <p:txBody>
          <a:bodyPr/>
          <a:lstStyle/>
          <a:p>
            <a:endParaRPr lang="en-IN"/>
          </a:p>
        </p:txBody>
      </p:sp>
      <p:sp>
        <p:nvSpPr>
          <p:cNvPr id="9" name="Text 6"/>
          <p:cNvSpPr/>
          <p:nvPr/>
        </p:nvSpPr>
        <p:spPr>
          <a:xfrm>
            <a:off x="2699147" y="1960885"/>
            <a:ext cx="1388586"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Design</a:t>
            </a:r>
            <a:endParaRPr lang="en-US" sz="1400" dirty="0"/>
          </a:p>
        </p:txBody>
      </p:sp>
      <p:sp>
        <p:nvSpPr>
          <p:cNvPr id="10" name="Text 7"/>
          <p:cNvSpPr/>
          <p:nvPr/>
        </p:nvSpPr>
        <p:spPr>
          <a:xfrm>
            <a:off x="2699147" y="2247900"/>
            <a:ext cx="1388586" cy="42164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4505F"/>
                </a:solidFill>
                <a:latin typeface="IBM Plex Sans" pitchFamily="34" charset="0"/>
                <a:ea typeface="IBM Plex Sans" pitchFamily="34" charset="-122"/>
                <a:cs typeface="IBM Plex Sans" pitchFamily="34" charset="-120"/>
              </a:rPr>
              <a:t>architecture, designs</a:t>
            </a:r>
            <a:endParaRPr lang="en-US" sz="1200" dirty="0"/>
          </a:p>
        </p:txBody>
      </p:sp>
      <p:pic>
        <p:nvPicPr>
          <p:cNvPr id="11" name="Image 1" descr="connector"/>
          <p:cNvPicPr>
            <a:picLocks noChangeAspect="1"/>
          </p:cNvPicPr>
          <p:nvPr/>
        </p:nvPicPr>
        <p:blipFill>
          <a:blip r:embed="rId3"/>
          <a:srcRect/>
          <a:stretch/>
        </p:blipFill>
        <p:spPr>
          <a:xfrm>
            <a:off x="4169013" y="2251708"/>
            <a:ext cx="254000" cy="101600"/>
          </a:xfrm>
          <a:prstGeom prst="rect">
            <a:avLst/>
          </a:prstGeom>
        </p:spPr>
      </p:pic>
      <p:sp>
        <p:nvSpPr>
          <p:cNvPr id="12" name="Shape 8"/>
          <p:cNvSpPr/>
          <p:nvPr/>
        </p:nvSpPr>
        <p:spPr>
          <a:xfrm>
            <a:off x="4426188" y="1831975"/>
            <a:ext cx="1544717" cy="941070"/>
          </a:xfrm>
          <a:prstGeom prst="roundRect">
            <a:avLst>
              <a:gd name="adj" fmla="val 7760"/>
            </a:avLst>
          </a:prstGeom>
          <a:solidFill>
            <a:srgbClr val="FCFBF7"/>
          </a:solidFill>
          <a:ln w="6350">
            <a:solidFill>
              <a:srgbClr val="DDD8CC"/>
            </a:solidFill>
            <a:prstDash val="solid"/>
          </a:ln>
        </p:spPr>
        <p:txBody>
          <a:bodyPr/>
          <a:lstStyle/>
          <a:p>
            <a:endParaRPr lang="en-IN"/>
          </a:p>
        </p:txBody>
      </p:sp>
      <p:sp>
        <p:nvSpPr>
          <p:cNvPr id="13" name="Text 9"/>
          <p:cNvSpPr/>
          <p:nvPr/>
        </p:nvSpPr>
        <p:spPr>
          <a:xfrm>
            <a:off x="4504293" y="1960885"/>
            <a:ext cx="1388507"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Build</a:t>
            </a:r>
            <a:endParaRPr lang="en-US" sz="1400" dirty="0"/>
          </a:p>
        </p:txBody>
      </p:sp>
      <p:sp>
        <p:nvSpPr>
          <p:cNvPr id="14" name="Text 10"/>
          <p:cNvSpPr/>
          <p:nvPr/>
        </p:nvSpPr>
        <p:spPr>
          <a:xfrm>
            <a:off x="4504293" y="2247900"/>
            <a:ext cx="1388507"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4505F"/>
                </a:solidFill>
                <a:latin typeface="IBM Plex Sans" pitchFamily="34" charset="0"/>
                <a:ea typeface="IBM Plex Sans" pitchFamily="34" charset="-122"/>
                <a:cs typeface="IBM Plex Sans" pitchFamily="34" charset="-120"/>
              </a:rPr>
              <a:t>code and unit tests</a:t>
            </a:r>
            <a:endParaRPr lang="en-US" sz="1200" dirty="0"/>
          </a:p>
        </p:txBody>
      </p:sp>
      <p:pic>
        <p:nvPicPr>
          <p:cNvPr id="15" name="Image 2" descr="connector"/>
          <p:cNvPicPr>
            <a:picLocks noChangeAspect="1"/>
          </p:cNvPicPr>
          <p:nvPr/>
        </p:nvPicPr>
        <p:blipFill>
          <a:blip r:embed="rId3"/>
          <a:srcRect/>
          <a:stretch/>
        </p:blipFill>
        <p:spPr>
          <a:xfrm>
            <a:off x="5974080" y="2251708"/>
            <a:ext cx="254000" cy="101600"/>
          </a:xfrm>
          <a:prstGeom prst="rect">
            <a:avLst/>
          </a:prstGeom>
        </p:spPr>
      </p:pic>
      <p:sp>
        <p:nvSpPr>
          <p:cNvPr id="16" name="Shape 11"/>
          <p:cNvSpPr/>
          <p:nvPr/>
        </p:nvSpPr>
        <p:spPr>
          <a:xfrm>
            <a:off x="6228080" y="1828800"/>
            <a:ext cx="1540986" cy="947420"/>
          </a:xfrm>
          <a:prstGeom prst="roundRect">
            <a:avLst>
              <a:gd name="adj" fmla="val 8043"/>
            </a:avLst>
          </a:prstGeom>
          <a:solidFill>
            <a:srgbClr val="13233A"/>
          </a:solidFill>
          <a:ln/>
        </p:spPr>
        <p:txBody>
          <a:bodyPr/>
          <a:lstStyle/>
          <a:p>
            <a:endParaRPr lang="en-IN"/>
          </a:p>
        </p:txBody>
      </p:sp>
      <p:sp>
        <p:nvSpPr>
          <p:cNvPr id="17" name="Text 12"/>
          <p:cNvSpPr/>
          <p:nvPr/>
        </p:nvSpPr>
        <p:spPr>
          <a:xfrm>
            <a:off x="6304280" y="1955800"/>
            <a:ext cx="1388586"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Test</a:t>
            </a:r>
            <a:endParaRPr lang="en-US" sz="1400" dirty="0"/>
          </a:p>
        </p:txBody>
      </p:sp>
      <p:sp>
        <p:nvSpPr>
          <p:cNvPr id="18" name="Text 13"/>
          <p:cNvSpPr/>
          <p:nvPr/>
        </p:nvSpPr>
        <p:spPr>
          <a:xfrm>
            <a:off x="6304280" y="2242827"/>
            <a:ext cx="1388586"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C5CFDB"/>
                </a:solidFill>
                <a:latin typeface="IBM Plex Sans" pitchFamily="34" charset="0"/>
                <a:ea typeface="IBM Plex Sans" pitchFamily="34" charset="-122"/>
                <a:cs typeface="IBM Plex Sans" pitchFamily="34" charset="-120"/>
              </a:rPr>
              <a:t>reports, defects</a:t>
            </a:r>
            <a:endParaRPr lang="en-US" sz="1200" dirty="0"/>
          </a:p>
        </p:txBody>
      </p:sp>
      <p:pic>
        <p:nvPicPr>
          <p:cNvPr id="19" name="Image 3" descr="connector"/>
          <p:cNvPicPr>
            <a:picLocks noChangeAspect="1"/>
          </p:cNvPicPr>
          <p:nvPr/>
        </p:nvPicPr>
        <p:blipFill>
          <a:blip r:embed="rId3"/>
          <a:srcRect/>
          <a:stretch/>
        </p:blipFill>
        <p:spPr>
          <a:xfrm>
            <a:off x="7769066" y="2251708"/>
            <a:ext cx="254000" cy="101600"/>
          </a:xfrm>
          <a:prstGeom prst="rect">
            <a:avLst/>
          </a:prstGeom>
        </p:spPr>
      </p:pic>
      <p:sp>
        <p:nvSpPr>
          <p:cNvPr id="20" name="Shape 14"/>
          <p:cNvSpPr/>
          <p:nvPr/>
        </p:nvSpPr>
        <p:spPr>
          <a:xfrm>
            <a:off x="8026241" y="1831975"/>
            <a:ext cx="1544717" cy="941070"/>
          </a:xfrm>
          <a:prstGeom prst="roundRect">
            <a:avLst>
              <a:gd name="adj" fmla="val 7760"/>
            </a:avLst>
          </a:prstGeom>
          <a:solidFill>
            <a:srgbClr val="FCFBF7"/>
          </a:solidFill>
          <a:ln w="6350">
            <a:solidFill>
              <a:srgbClr val="DDD8CC"/>
            </a:solidFill>
            <a:prstDash val="solid"/>
          </a:ln>
        </p:spPr>
        <p:txBody>
          <a:bodyPr/>
          <a:lstStyle/>
          <a:p>
            <a:endParaRPr lang="en-IN"/>
          </a:p>
        </p:txBody>
      </p:sp>
      <p:sp>
        <p:nvSpPr>
          <p:cNvPr id="21" name="Text 15"/>
          <p:cNvSpPr/>
          <p:nvPr/>
        </p:nvSpPr>
        <p:spPr>
          <a:xfrm>
            <a:off x="8104346" y="1960885"/>
            <a:ext cx="1388507"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Deploy</a:t>
            </a:r>
            <a:endParaRPr lang="en-US" sz="1400" dirty="0"/>
          </a:p>
        </p:txBody>
      </p:sp>
      <p:sp>
        <p:nvSpPr>
          <p:cNvPr id="22" name="Text 16"/>
          <p:cNvSpPr/>
          <p:nvPr/>
        </p:nvSpPr>
        <p:spPr>
          <a:xfrm>
            <a:off x="8104346" y="2247900"/>
            <a:ext cx="1388507"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4505F"/>
                </a:solidFill>
                <a:latin typeface="IBM Plex Sans" pitchFamily="34" charset="0"/>
                <a:ea typeface="IBM Plex Sans" pitchFamily="34" charset="-122"/>
                <a:cs typeface="IBM Plex Sans" pitchFamily="34" charset="-120"/>
              </a:rPr>
              <a:t>a running release</a:t>
            </a:r>
            <a:endParaRPr lang="en-US" sz="1200" dirty="0"/>
          </a:p>
        </p:txBody>
      </p:sp>
      <p:pic>
        <p:nvPicPr>
          <p:cNvPr id="23" name="Image 4" descr="connector"/>
          <p:cNvPicPr>
            <a:picLocks noChangeAspect="1"/>
          </p:cNvPicPr>
          <p:nvPr/>
        </p:nvPicPr>
        <p:blipFill>
          <a:blip r:embed="rId3"/>
          <a:srcRect/>
          <a:stretch/>
        </p:blipFill>
        <p:spPr>
          <a:xfrm>
            <a:off x="9574133" y="2251708"/>
            <a:ext cx="254000" cy="101600"/>
          </a:xfrm>
          <a:prstGeom prst="rect">
            <a:avLst/>
          </a:prstGeom>
        </p:spPr>
      </p:pic>
      <p:sp>
        <p:nvSpPr>
          <p:cNvPr id="24" name="Shape 17"/>
          <p:cNvSpPr/>
          <p:nvPr/>
        </p:nvSpPr>
        <p:spPr>
          <a:xfrm>
            <a:off x="9831308" y="1831975"/>
            <a:ext cx="1544717" cy="941070"/>
          </a:xfrm>
          <a:prstGeom prst="roundRect">
            <a:avLst>
              <a:gd name="adj" fmla="val 7760"/>
            </a:avLst>
          </a:prstGeom>
          <a:solidFill>
            <a:srgbClr val="FCFBF7"/>
          </a:solidFill>
          <a:ln w="6350">
            <a:solidFill>
              <a:srgbClr val="DDD8CC"/>
            </a:solidFill>
            <a:prstDash val="solid"/>
          </a:ln>
        </p:spPr>
        <p:txBody>
          <a:bodyPr/>
          <a:lstStyle/>
          <a:p>
            <a:endParaRPr lang="en-IN"/>
          </a:p>
        </p:txBody>
      </p:sp>
      <p:sp>
        <p:nvSpPr>
          <p:cNvPr id="25" name="Text 18"/>
          <p:cNvSpPr/>
          <p:nvPr/>
        </p:nvSpPr>
        <p:spPr>
          <a:xfrm>
            <a:off x="9909413" y="1960885"/>
            <a:ext cx="1388507"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Maintain</a:t>
            </a:r>
            <a:endParaRPr lang="en-US" sz="1400" dirty="0"/>
          </a:p>
        </p:txBody>
      </p:sp>
      <p:sp>
        <p:nvSpPr>
          <p:cNvPr id="26" name="Text 19"/>
          <p:cNvSpPr/>
          <p:nvPr/>
        </p:nvSpPr>
        <p:spPr>
          <a:xfrm>
            <a:off x="9909413" y="2247900"/>
            <a:ext cx="1388507"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4505F"/>
                </a:solidFill>
                <a:latin typeface="IBM Plex Sans" pitchFamily="34" charset="0"/>
                <a:ea typeface="IBM Plex Sans" pitchFamily="34" charset="-122"/>
                <a:cs typeface="IBM Plex Sans" pitchFamily="34" charset="-120"/>
              </a:rPr>
              <a:t>fixes, updates</a:t>
            </a:r>
            <a:endParaRPr lang="en-US" sz="1200" dirty="0"/>
          </a:p>
        </p:txBody>
      </p:sp>
      <p:sp>
        <p:nvSpPr>
          <p:cNvPr id="27" name="Text 20"/>
          <p:cNvSpPr/>
          <p:nvPr/>
        </p:nvSpPr>
        <p:spPr>
          <a:xfrm>
            <a:off x="812800" y="3030227"/>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E6977"/>
                </a:solidFill>
                <a:latin typeface="JetBrains Mono" pitchFamily="34" charset="0"/>
                <a:ea typeface="JetBrains Mono" pitchFamily="34" charset="-122"/>
                <a:cs typeface="JetBrains Mono" pitchFamily="34" charset="-120"/>
              </a:rPr>
              <a:t>COMMON SDLC MODELS</a:t>
            </a:r>
            <a:endParaRPr lang="en-US" sz="1200" dirty="0"/>
          </a:p>
        </p:txBody>
      </p:sp>
      <p:sp>
        <p:nvSpPr>
          <p:cNvPr id="28" name="Shape 21"/>
          <p:cNvSpPr/>
          <p:nvPr/>
        </p:nvSpPr>
        <p:spPr>
          <a:xfrm>
            <a:off x="815975" y="3348360"/>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29" name="Text 22"/>
          <p:cNvSpPr/>
          <p:nvPr/>
        </p:nvSpPr>
        <p:spPr>
          <a:xfrm>
            <a:off x="995680" y="3502658"/>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Waterfall</a:t>
            </a:r>
            <a:endParaRPr lang="en-US" sz="1400" dirty="0"/>
          </a:p>
        </p:txBody>
      </p:sp>
      <p:sp>
        <p:nvSpPr>
          <p:cNvPr id="30" name="Text 23"/>
          <p:cNvSpPr/>
          <p:nvPr/>
        </p:nvSpPr>
        <p:spPr>
          <a:xfrm>
            <a:off x="995680" y="378460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Phases run once, in order; testing comes late</a:t>
            </a:r>
            <a:endParaRPr lang="en-US" sz="1200" dirty="0"/>
          </a:p>
        </p:txBody>
      </p:sp>
      <p:sp>
        <p:nvSpPr>
          <p:cNvPr id="31" name="Shape 24"/>
          <p:cNvSpPr/>
          <p:nvPr/>
        </p:nvSpPr>
        <p:spPr>
          <a:xfrm>
            <a:off x="3495675" y="3348360"/>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32" name="Text 25"/>
          <p:cNvSpPr/>
          <p:nvPr/>
        </p:nvSpPr>
        <p:spPr>
          <a:xfrm>
            <a:off x="3675380" y="3502658"/>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V-model</a:t>
            </a:r>
            <a:endParaRPr lang="en-US" sz="1400" dirty="0"/>
          </a:p>
        </p:txBody>
      </p:sp>
      <p:sp>
        <p:nvSpPr>
          <p:cNvPr id="33" name="Text 26"/>
          <p:cNvSpPr/>
          <p:nvPr/>
        </p:nvSpPr>
        <p:spPr>
          <a:xfrm>
            <a:off x="3675380" y="378460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Each development phase has a matching test level</a:t>
            </a:r>
            <a:endParaRPr lang="en-US" sz="1200" dirty="0"/>
          </a:p>
        </p:txBody>
      </p:sp>
      <p:sp>
        <p:nvSpPr>
          <p:cNvPr id="34" name="Shape 27"/>
          <p:cNvSpPr/>
          <p:nvPr/>
        </p:nvSpPr>
        <p:spPr>
          <a:xfrm>
            <a:off x="6175375" y="3348360"/>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35" name="Text 28"/>
          <p:cNvSpPr/>
          <p:nvPr/>
        </p:nvSpPr>
        <p:spPr>
          <a:xfrm>
            <a:off x="6355080" y="3502658"/>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Agile (Scrum)</a:t>
            </a:r>
            <a:endParaRPr lang="en-US" sz="1400" dirty="0"/>
          </a:p>
        </p:txBody>
      </p:sp>
      <p:sp>
        <p:nvSpPr>
          <p:cNvPr id="36" name="Text 29"/>
          <p:cNvSpPr/>
          <p:nvPr/>
        </p:nvSpPr>
        <p:spPr>
          <a:xfrm>
            <a:off x="6355080" y="378460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Short sprints; testing happens inside every sprint</a:t>
            </a:r>
            <a:endParaRPr lang="en-US" sz="1200" dirty="0"/>
          </a:p>
        </p:txBody>
      </p:sp>
      <p:sp>
        <p:nvSpPr>
          <p:cNvPr id="37" name="Shape 30"/>
          <p:cNvSpPr/>
          <p:nvPr/>
        </p:nvSpPr>
        <p:spPr>
          <a:xfrm>
            <a:off x="8855075" y="3348360"/>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38" name="Text 31"/>
          <p:cNvSpPr/>
          <p:nvPr/>
        </p:nvSpPr>
        <p:spPr>
          <a:xfrm>
            <a:off x="9034780" y="3502658"/>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DevOps</a:t>
            </a:r>
            <a:endParaRPr lang="en-US" sz="1400" dirty="0"/>
          </a:p>
        </p:txBody>
      </p:sp>
      <p:sp>
        <p:nvSpPr>
          <p:cNvPr id="39" name="Text 32"/>
          <p:cNvSpPr/>
          <p:nvPr/>
        </p:nvSpPr>
        <p:spPr>
          <a:xfrm>
            <a:off x="9034780" y="378460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Continuous integration and delivery; tests run all the time</a:t>
            </a:r>
            <a:endParaRPr lang="en-US" sz="1200" dirty="0"/>
          </a:p>
        </p:txBody>
      </p:sp>
      <p:sp>
        <p:nvSpPr>
          <p:cNvPr id="40" name="Text 33"/>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41" name="Text 34"/>
          <p:cNvSpPr/>
          <p:nvPr/>
        </p:nvSpPr>
        <p:spPr>
          <a:xfrm>
            <a:off x="8219440" y="6238242"/>
            <a:ext cx="32545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Each box shows the phase and its main output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L3 · SDLC VS STLC</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The software testing life cycle</a:t>
            </a:r>
            <a:endParaRPr lang="en-US" sz="3200" dirty="0"/>
          </a:p>
        </p:txBody>
      </p:sp>
      <p:sp>
        <p:nvSpPr>
          <p:cNvPr id="4" name="Shape 2"/>
          <p:cNvSpPr/>
          <p:nvPr/>
        </p:nvSpPr>
        <p:spPr>
          <a:xfrm>
            <a:off x="812800" y="1828800"/>
            <a:ext cx="1549400" cy="1186180"/>
          </a:xfrm>
          <a:prstGeom prst="roundRect">
            <a:avLst>
              <a:gd name="adj" fmla="val 6424"/>
            </a:avLst>
          </a:prstGeom>
          <a:solidFill>
            <a:srgbClr val="13233A"/>
          </a:solidFill>
          <a:ln/>
        </p:spPr>
        <p:txBody>
          <a:bodyPr/>
          <a:lstStyle/>
          <a:p>
            <a:endParaRPr lang="en-IN"/>
          </a:p>
        </p:txBody>
      </p:sp>
      <p:sp>
        <p:nvSpPr>
          <p:cNvPr id="5" name="Text 3"/>
          <p:cNvSpPr/>
          <p:nvPr/>
        </p:nvSpPr>
        <p:spPr>
          <a:xfrm>
            <a:off x="889000" y="1955800"/>
            <a:ext cx="13970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1</a:t>
            </a:r>
            <a:endParaRPr lang="en-US" sz="1200" dirty="0"/>
          </a:p>
        </p:txBody>
      </p:sp>
      <p:sp>
        <p:nvSpPr>
          <p:cNvPr id="6" name="Text 4"/>
          <p:cNvSpPr/>
          <p:nvPr/>
        </p:nvSpPr>
        <p:spPr>
          <a:xfrm>
            <a:off x="889000" y="2207258"/>
            <a:ext cx="1397000" cy="469900"/>
          </a:xfrm>
          <a:prstGeom prst="rect">
            <a:avLst/>
          </a:prstGeom>
          <a:noFill/>
          <a:ln/>
        </p:spPr>
        <p:txBody>
          <a:bodyPr wrap="square" lIns="0" tIns="0" rIns="0" bIns="0" rtlCol="0" anchor="t">
            <a:normAutofit/>
          </a:bodyPr>
          <a:lstStyle/>
          <a:p>
            <a:pPr marL="0" indent="0" algn="ctr">
              <a:lnSpc>
                <a:spcPts val="1750"/>
              </a:lnSpc>
              <a:buNone/>
            </a:pPr>
            <a:r>
              <a:rPr lang="en-US" sz="1400" b="1" dirty="0">
                <a:solidFill>
                  <a:srgbClr val="F3F1EA"/>
                </a:solidFill>
                <a:latin typeface="IBM Plex Sans" pitchFamily="34" charset="0"/>
                <a:ea typeface="IBM Plex Sans" pitchFamily="34" charset="-122"/>
                <a:cs typeface="IBM Plex Sans" pitchFamily="34" charset="-120"/>
              </a:rPr>
              <a:t>Requirement analysis</a:t>
            </a:r>
            <a:endParaRPr lang="en-US" sz="1400" dirty="0"/>
          </a:p>
        </p:txBody>
      </p:sp>
      <p:sp>
        <p:nvSpPr>
          <p:cNvPr id="7" name="Text 5"/>
          <p:cNvSpPr/>
          <p:nvPr/>
        </p:nvSpPr>
        <p:spPr>
          <a:xfrm>
            <a:off x="889000" y="2689858"/>
            <a:ext cx="1397000"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C5CFDB"/>
                </a:solidFill>
                <a:latin typeface="IBM Plex Sans" pitchFamily="34" charset="0"/>
                <a:ea typeface="IBM Plex Sans" pitchFamily="34" charset="-122"/>
                <a:cs typeface="IBM Plex Sans" pitchFamily="34" charset="-120"/>
              </a:rPr>
              <a:t>testable items</a:t>
            </a:r>
            <a:endParaRPr lang="en-US" sz="1200" dirty="0"/>
          </a:p>
        </p:txBody>
      </p:sp>
      <p:pic>
        <p:nvPicPr>
          <p:cNvPr id="8" name="Image 0" descr="connector"/>
          <p:cNvPicPr>
            <a:picLocks noChangeAspect="1"/>
          </p:cNvPicPr>
          <p:nvPr/>
        </p:nvPicPr>
        <p:blipFill>
          <a:blip r:embed="rId3"/>
          <a:srcRect/>
          <a:stretch/>
        </p:blipFill>
        <p:spPr>
          <a:xfrm>
            <a:off x="2362200" y="2371092"/>
            <a:ext cx="254000" cy="101600"/>
          </a:xfrm>
          <a:prstGeom prst="rect">
            <a:avLst/>
          </a:prstGeom>
        </p:spPr>
      </p:pic>
      <p:sp>
        <p:nvSpPr>
          <p:cNvPr id="9" name="Shape 6"/>
          <p:cNvSpPr/>
          <p:nvPr/>
        </p:nvSpPr>
        <p:spPr>
          <a:xfrm>
            <a:off x="2616200" y="1828800"/>
            <a:ext cx="1549400" cy="1186180"/>
          </a:xfrm>
          <a:prstGeom prst="roundRect">
            <a:avLst>
              <a:gd name="adj" fmla="val 6424"/>
            </a:avLst>
          </a:prstGeom>
          <a:solidFill>
            <a:srgbClr val="13233A"/>
          </a:solidFill>
          <a:ln/>
        </p:spPr>
        <p:txBody>
          <a:bodyPr/>
          <a:lstStyle/>
          <a:p>
            <a:endParaRPr lang="en-IN"/>
          </a:p>
        </p:txBody>
      </p:sp>
      <p:sp>
        <p:nvSpPr>
          <p:cNvPr id="10" name="Text 7"/>
          <p:cNvSpPr/>
          <p:nvPr/>
        </p:nvSpPr>
        <p:spPr>
          <a:xfrm>
            <a:off x="2692400" y="1955800"/>
            <a:ext cx="13970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a:t>
            </a:r>
            <a:endParaRPr lang="en-US" sz="1200" dirty="0"/>
          </a:p>
        </p:txBody>
      </p:sp>
      <p:sp>
        <p:nvSpPr>
          <p:cNvPr id="11" name="Text 8"/>
          <p:cNvSpPr/>
          <p:nvPr/>
        </p:nvSpPr>
        <p:spPr>
          <a:xfrm>
            <a:off x="2692400" y="2207258"/>
            <a:ext cx="1397000" cy="247650"/>
          </a:xfrm>
          <a:prstGeom prst="rect">
            <a:avLst/>
          </a:prstGeom>
          <a:noFill/>
          <a:ln/>
        </p:spPr>
        <p:txBody>
          <a:bodyPr wrap="square" lIns="0" tIns="0" rIns="0" bIns="0" rtlCol="0" anchor="t">
            <a:normAutofit/>
          </a:bodyPr>
          <a:lstStyle/>
          <a:p>
            <a:pPr marL="0" indent="0" algn="ctr">
              <a:lnSpc>
                <a:spcPts val="1750"/>
              </a:lnSpc>
              <a:buNone/>
            </a:pPr>
            <a:r>
              <a:rPr lang="en-US" sz="1400" b="1" dirty="0">
                <a:solidFill>
                  <a:srgbClr val="F3F1EA"/>
                </a:solidFill>
                <a:latin typeface="IBM Plex Sans" pitchFamily="34" charset="0"/>
                <a:ea typeface="IBM Plex Sans" pitchFamily="34" charset="-122"/>
                <a:cs typeface="IBM Plex Sans" pitchFamily="34" charset="-120"/>
              </a:rPr>
              <a:t>Test planning</a:t>
            </a:r>
            <a:endParaRPr lang="en-US" sz="1400" dirty="0"/>
          </a:p>
        </p:txBody>
      </p:sp>
      <p:sp>
        <p:nvSpPr>
          <p:cNvPr id="12" name="Text 9"/>
          <p:cNvSpPr/>
          <p:nvPr/>
        </p:nvSpPr>
        <p:spPr>
          <a:xfrm>
            <a:off x="2692400" y="2467608"/>
            <a:ext cx="1397000"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C5CFDB"/>
                </a:solidFill>
                <a:latin typeface="IBM Plex Sans" pitchFamily="34" charset="0"/>
                <a:ea typeface="IBM Plex Sans" pitchFamily="34" charset="-122"/>
                <a:cs typeface="IBM Plex Sans" pitchFamily="34" charset="-120"/>
              </a:rPr>
              <a:t>test plan</a:t>
            </a:r>
            <a:endParaRPr lang="en-US" sz="1200" dirty="0"/>
          </a:p>
        </p:txBody>
      </p:sp>
      <p:pic>
        <p:nvPicPr>
          <p:cNvPr id="13" name="Image 1" descr="connector"/>
          <p:cNvPicPr>
            <a:picLocks noChangeAspect="1"/>
          </p:cNvPicPr>
          <p:nvPr/>
        </p:nvPicPr>
        <p:blipFill>
          <a:blip r:embed="rId3"/>
          <a:srcRect/>
          <a:stretch/>
        </p:blipFill>
        <p:spPr>
          <a:xfrm>
            <a:off x="4165600" y="2371092"/>
            <a:ext cx="254000" cy="101600"/>
          </a:xfrm>
          <a:prstGeom prst="rect">
            <a:avLst/>
          </a:prstGeom>
        </p:spPr>
      </p:pic>
      <p:sp>
        <p:nvSpPr>
          <p:cNvPr id="14" name="Shape 10"/>
          <p:cNvSpPr/>
          <p:nvPr/>
        </p:nvSpPr>
        <p:spPr>
          <a:xfrm>
            <a:off x="4419600" y="1828800"/>
            <a:ext cx="1549400" cy="1186180"/>
          </a:xfrm>
          <a:prstGeom prst="roundRect">
            <a:avLst>
              <a:gd name="adj" fmla="val 6424"/>
            </a:avLst>
          </a:prstGeom>
          <a:solidFill>
            <a:srgbClr val="13233A"/>
          </a:solidFill>
          <a:ln/>
        </p:spPr>
        <p:txBody>
          <a:bodyPr/>
          <a:lstStyle/>
          <a:p>
            <a:endParaRPr lang="en-IN"/>
          </a:p>
        </p:txBody>
      </p:sp>
      <p:sp>
        <p:nvSpPr>
          <p:cNvPr id="15" name="Text 11"/>
          <p:cNvSpPr/>
          <p:nvPr/>
        </p:nvSpPr>
        <p:spPr>
          <a:xfrm>
            <a:off x="4495800" y="1955800"/>
            <a:ext cx="13970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3</a:t>
            </a:r>
            <a:endParaRPr lang="en-US" sz="1200" dirty="0"/>
          </a:p>
        </p:txBody>
      </p:sp>
      <p:sp>
        <p:nvSpPr>
          <p:cNvPr id="16" name="Text 12"/>
          <p:cNvSpPr/>
          <p:nvPr/>
        </p:nvSpPr>
        <p:spPr>
          <a:xfrm>
            <a:off x="4495800" y="2207258"/>
            <a:ext cx="1397000" cy="469900"/>
          </a:xfrm>
          <a:prstGeom prst="rect">
            <a:avLst/>
          </a:prstGeom>
          <a:noFill/>
          <a:ln/>
        </p:spPr>
        <p:txBody>
          <a:bodyPr wrap="square" lIns="0" tIns="0" rIns="0" bIns="0" rtlCol="0" anchor="t">
            <a:normAutofit/>
          </a:bodyPr>
          <a:lstStyle/>
          <a:p>
            <a:pPr marL="0" indent="0" algn="ctr">
              <a:lnSpc>
                <a:spcPts val="1750"/>
              </a:lnSpc>
              <a:buNone/>
            </a:pPr>
            <a:r>
              <a:rPr lang="en-US" sz="1400" b="1" dirty="0">
                <a:solidFill>
                  <a:srgbClr val="F3F1EA"/>
                </a:solidFill>
                <a:latin typeface="IBM Plex Sans" pitchFamily="34" charset="0"/>
                <a:ea typeface="IBM Plex Sans" pitchFamily="34" charset="-122"/>
                <a:cs typeface="IBM Plex Sans" pitchFamily="34" charset="-120"/>
              </a:rPr>
              <a:t>Test case development</a:t>
            </a:r>
            <a:endParaRPr lang="en-US" sz="1400" dirty="0"/>
          </a:p>
        </p:txBody>
      </p:sp>
      <p:sp>
        <p:nvSpPr>
          <p:cNvPr id="17" name="Text 13"/>
          <p:cNvSpPr/>
          <p:nvPr/>
        </p:nvSpPr>
        <p:spPr>
          <a:xfrm>
            <a:off x="4495800" y="2689858"/>
            <a:ext cx="1397000"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C5CFDB"/>
                </a:solidFill>
                <a:latin typeface="IBM Plex Sans" pitchFamily="34" charset="0"/>
                <a:ea typeface="IBM Plex Sans" pitchFamily="34" charset="-122"/>
                <a:cs typeface="IBM Plex Sans" pitchFamily="34" charset="-120"/>
              </a:rPr>
              <a:t>cases, scripts, data</a:t>
            </a:r>
            <a:endParaRPr lang="en-US" sz="1200" dirty="0"/>
          </a:p>
        </p:txBody>
      </p:sp>
      <p:pic>
        <p:nvPicPr>
          <p:cNvPr id="18" name="Image 2" descr="connector"/>
          <p:cNvPicPr>
            <a:picLocks noChangeAspect="1"/>
          </p:cNvPicPr>
          <p:nvPr/>
        </p:nvPicPr>
        <p:blipFill>
          <a:blip r:embed="rId3"/>
          <a:srcRect/>
          <a:stretch/>
        </p:blipFill>
        <p:spPr>
          <a:xfrm>
            <a:off x="5969000" y="2371092"/>
            <a:ext cx="254000" cy="101600"/>
          </a:xfrm>
          <a:prstGeom prst="rect">
            <a:avLst/>
          </a:prstGeom>
        </p:spPr>
      </p:pic>
      <p:sp>
        <p:nvSpPr>
          <p:cNvPr id="19" name="Shape 14"/>
          <p:cNvSpPr/>
          <p:nvPr/>
        </p:nvSpPr>
        <p:spPr>
          <a:xfrm>
            <a:off x="6223000" y="1828800"/>
            <a:ext cx="1549400" cy="1186180"/>
          </a:xfrm>
          <a:prstGeom prst="roundRect">
            <a:avLst>
              <a:gd name="adj" fmla="val 6424"/>
            </a:avLst>
          </a:prstGeom>
          <a:solidFill>
            <a:srgbClr val="13233A"/>
          </a:solidFill>
          <a:ln/>
        </p:spPr>
        <p:txBody>
          <a:bodyPr/>
          <a:lstStyle/>
          <a:p>
            <a:endParaRPr lang="en-IN"/>
          </a:p>
        </p:txBody>
      </p:sp>
      <p:sp>
        <p:nvSpPr>
          <p:cNvPr id="20" name="Text 15"/>
          <p:cNvSpPr/>
          <p:nvPr/>
        </p:nvSpPr>
        <p:spPr>
          <a:xfrm>
            <a:off x="6299200" y="1955800"/>
            <a:ext cx="13970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4</a:t>
            </a:r>
            <a:endParaRPr lang="en-US" sz="1200" dirty="0"/>
          </a:p>
        </p:txBody>
      </p:sp>
      <p:sp>
        <p:nvSpPr>
          <p:cNvPr id="21" name="Text 16"/>
          <p:cNvSpPr/>
          <p:nvPr/>
        </p:nvSpPr>
        <p:spPr>
          <a:xfrm>
            <a:off x="6299200" y="2207258"/>
            <a:ext cx="1397000" cy="469900"/>
          </a:xfrm>
          <a:prstGeom prst="rect">
            <a:avLst/>
          </a:prstGeom>
          <a:noFill/>
          <a:ln/>
        </p:spPr>
        <p:txBody>
          <a:bodyPr wrap="square" lIns="0" tIns="0" rIns="0" bIns="0" rtlCol="0" anchor="t">
            <a:normAutofit/>
          </a:bodyPr>
          <a:lstStyle/>
          <a:p>
            <a:pPr marL="0" indent="0" algn="ctr">
              <a:lnSpc>
                <a:spcPts val="1750"/>
              </a:lnSpc>
              <a:buNone/>
            </a:pPr>
            <a:r>
              <a:rPr lang="en-US" sz="1400" b="1" dirty="0">
                <a:solidFill>
                  <a:srgbClr val="F3F1EA"/>
                </a:solidFill>
                <a:latin typeface="IBM Plex Sans" pitchFamily="34" charset="0"/>
                <a:ea typeface="IBM Plex Sans" pitchFamily="34" charset="-122"/>
                <a:cs typeface="IBM Plex Sans" pitchFamily="34" charset="-120"/>
              </a:rPr>
              <a:t>Environment setup</a:t>
            </a:r>
            <a:endParaRPr lang="en-US" sz="1400" dirty="0"/>
          </a:p>
        </p:txBody>
      </p:sp>
      <p:sp>
        <p:nvSpPr>
          <p:cNvPr id="22" name="Text 17"/>
          <p:cNvSpPr/>
          <p:nvPr/>
        </p:nvSpPr>
        <p:spPr>
          <a:xfrm>
            <a:off x="6299200" y="2689858"/>
            <a:ext cx="1397000"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C5CFDB"/>
                </a:solidFill>
                <a:latin typeface="IBM Plex Sans" pitchFamily="34" charset="0"/>
                <a:ea typeface="IBM Plex Sans" pitchFamily="34" charset="-122"/>
                <a:cs typeface="IBM Plex Sans" pitchFamily="34" charset="-120"/>
              </a:rPr>
              <a:t>ready test bed</a:t>
            </a:r>
            <a:endParaRPr lang="en-US" sz="1200" dirty="0"/>
          </a:p>
        </p:txBody>
      </p:sp>
      <p:pic>
        <p:nvPicPr>
          <p:cNvPr id="23" name="Image 3" descr="connector"/>
          <p:cNvPicPr>
            <a:picLocks noChangeAspect="1"/>
          </p:cNvPicPr>
          <p:nvPr/>
        </p:nvPicPr>
        <p:blipFill>
          <a:blip r:embed="rId3"/>
          <a:srcRect/>
          <a:stretch/>
        </p:blipFill>
        <p:spPr>
          <a:xfrm>
            <a:off x="7772400" y="2371092"/>
            <a:ext cx="254000" cy="101600"/>
          </a:xfrm>
          <a:prstGeom prst="rect">
            <a:avLst/>
          </a:prstGeom>
        </p:spPr>
      </p:pic>
      <p:sp>
        <p:nvSpPr>
          <p:cNvPr id="24" name="Shape 18"/>
          <p:cNvSpPr/>
          <p:nvPr/>
        </p:nvSpPr>
        <p:spPr>
          <a:xfrm>
            <a:off x="8026400" y="1828800"/>
            <a:ext cx="1549400" cy="1186180"/>
          </a:xfrm>
          <a:prstGeom prst="roundRect">
            <a:avLst>
              <a:gd name="adj" fmla="val 6424"/>
            </a:avLst>
          </a:prstGeom>
          <a:solidFill>
            <a:srgbClr val="13233A"/>
          </a:solidFill>
          <a:ln/>
        </p:spPr>
        <p:txBody>
          <a:bodyPr/>
          <a:lstStyle/>
          <a:p>
            <a:endParaRPr lang="en-IN"/>
          </a:p>
        </p:txBody>
      </p:sp>
      <p:sp>
        <p:nvSpPr>
          <p:cNvPr id="25" name="Text 19"/>
          <p:cNvSpPr/>
          <p:nvPr/>
        </p:nvSpPr>
        <p:spPr>
          <a:xfrm>
            <a:off x="8102600" y="1955800"/>
            <a:ext cx="13970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5</a:t>
            </a:r>
            <a:endParaRPr lang="en-US" sz="1200" dirty="0"/>
          </a:p>
        </p:txBody>
      </p:sp>
      <p:sp>
        <p:nvSpPr>
          <p:cNvPr id="26" name="Text 20"/>
          <p:cNvSpPr/>
          <p:nvPr/>
        </p:nvSpPr>
        <p:spPr>
          <a:xfrm>
            <a:off x="8102600" y="2207258"/>
            <a:ext cx="1397000" cy="247650"/>
          </a:xfrm>
          <a:prstGeom prst="rect">
            <a:avLst/>
          </a:prstGeom>
          <a:noFill/>
          <a:ln/>
        </p:spPr>
        <p:txBody>
          <a:bodyPr wrap="square" lIns="0" tIns="0" rIns="0" bIns="0" rtlCol="0" anchor="t">
            <a:normAutofit/>
          </a:bodyPr>
          <a:lstStyle/>
          <a:p>
            <a:pPr marL="0" indent="0" algn="ctr">
              <a:lnSpc>
                <a:spcPts val="1750"/>
              </a:lnSpc>
              <a:buNone/>
            </a:pPr>
            <a:r>
              <a:rPr lang="en-US" sz="1400" b="1" dirty="0">
                <a:solidFill>
                  <a:srgbClr val="F3F1EA"/>
                </a:solidFill>
                <a:latin typeface="IBM Plex Sans" pitchFamily="34" charset="0"/>
                <a:ea typeface="IBM Plex Sans" pitchFamily="34" charset="-122"/>
                <a:cs typeface="IBM Plex Sans" pitchFamily="34" charset="-120"/>
              </a:rPr>
              <a:t>Test execution</a:t>
            </a:r>
            <a:endParaRPr lang="en-US" sz="1400" dirty="0"/>
          </a:p>
        </p:txBody>
      </p:sp>
      <p:sp>
        <p:nvSpPr>
          <p:cNvPr id="27" name="Text 21"/>
          <p:cNvSpPr/>
          <p:nvPr/>
        </p:nvSpPr>
        <p:spPr>
          <a:xfrm>
            <a:off x="8102600" y="2467608"/>
            <a:ext cx="1397000"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C5CFDB"/>
                </a:solidFill>
                <a:latin typeface="IBM Plex Sans" pitchFamily="34" charset="0"/>
                <a:ea typeface="IBM Plex Sans" pitchFamily="34" charset="-122"/>
                <a:cs typeface="IBM Plex Sans" pitchFamily="34" charset="-120"/>
              </a:rPr>
              <a:t>results, defects</a:t>
            </a:r>
            <a:endParaRPr lang="en-US" sz="1200" dirty="0"/>
          </a:p>
        </p:txBody>
      </p:sp>
      <p:pic>
        <p:nvPicPr>
          <p:cNvPr id="28" name="Image 4" descr="connector"/>
          <p:cNvPicPr>
            <a:picLocks noChangeAspect="1"/>
          </p:cNvPicPr>
          <p:nvPr/>
        </p:nvPicPr>
        <p:blipFill>
          <a:blip r:embed="rId3"/>
          <a:srcRect/>
          <a:stretch/>
        </p:blipFill>
        <p:spPr>
          <a:xfrm>
            <a:off x="9575800" y="2371092"/>
            <a:ext cx="254000" cy="101600"/>
          </a:xfrm>
          <a:prstGeom prst="rect">
            <a:avLst/>
          </a:prstGeom>
        </p:spPr>
      </p:pic>
      <p:sp>
        <p:nvSpPr>
          <p:cNvPr id="29" name="Shape 22"/>
          <p:cNvSpPr/>
          <p:nvPr/>
        </p:nvSpPr>
        <p:spPr>
          <a:xfrm>
            <a:off x="9829800" y="1828800"/>
            <a:ext cx="1549400" cy="1186180"/>
          </a:xfrm>
          <a:prstGeom prst="roundRect">
            <a:avLst>
              <a:gd name="adj" fmla="val 6424"/>
            </a:avLst>
          </a:prstGeom>
          <a:solidFill>
            <a:srgbClr val="13233A"/>
          </a:solidFill>
          <a:ln/>
        </p:spPr>
        <p:txBody>
          <a:bodyPr/>
          <a:lstStyle/>
          <a:p>
            <a:endParaRPr lang="en-IN"/>
          </a:p>
        </p:txBody>
      </p:sp>
      <p:sp>
        <p:nvSpPr>
          <p:cNvPr id="30" name="Text 23"/>
          <p:cNvSpPr/>
          <p:nvPr/>
        </p:nvSpPr>
        <p:spPr>
          <a:xfrm>
            <a:off x="9906000" y="1955800"/>
            <a:ext cx="13970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6</a:t>
            </a:r>
            <a:endParaRPr lang="en-US" sz="1200" dirty="0"/>
          </a:p>
        </p:txBody>
      </p:sp>
      <p:sp>
        <p:nvSpPr>
          <p:cNvPr id="31" name="Text 24"/>
          <p:cNvSpPr/>
          <p:nvPr/>
        </p:nvSpPr>
        <p:spPr>
          <a:xfrm>
            <a:off x="9906000" y="2207258"/>
            <a:ext cx="1397000" cy="469900"/>
          </a:xfrm>
          <a:prstGeom prst="rect">
            <a:avLst/>
          </a:prstGeom>
          <a:noFill/>
          <a:ln/>
        </p:spPr>
        <p:txBody>
          <a:bodyPr wrap="square" lIns="0" tIns="0" rIns="0" bIns="0" rtlCol="0" anchor="t">
            <a:normAutofit/>
          </a:bodyPr>
          <a:lstStyle/>
          <a:p>
            <a:pPr marL="0" indent="0" algn="ctr">
              <a:lnSpc>
                <a:spcPts val="1750"/>
              </a:lnSpc>
              <a:buNone/>
            </a:pPr>
            <a:r>
              <a:rPr lang="en-US" sz="1400" b="1" dirty="0">
                <a:solidFill>
                  <a:srgbClr val="F3F1EA"/>
                </a:solidFill>
                <a:latin typeface="IBM Plex Sans" pitchFamily="34" charset="0"/>
                <a:ea typeface="IBM Plex Sans" pitchFamily="34" charset="-122"/>
                <a:cs typeface="IBM Plex Sans" pitchFamily="34" charset="-120"/>
              </a:rPr>
              <a:t>Test cycle closure</a:t>
            </a:r>
            <a:endParaRPr lang="en-US" sz="1400" dirty="0"/>
          </a:p>
        </p:txBody>
      </p:sp>
      <p:sp>
        <p:nvSpPr>
          <p:cNvPr id="32" name="Text 25"/>
          <p:cNvSpPr/>
          <p:nvPr/>
        </p:nvSpPr>
        <p:spPr>
          <a:xfrm>
            <a:off x="9906000" y="2689858"/>
            <a:ext cx="1397000"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C5CFDB"/>
                </a:solidFill>
                <a:latin typeface="IBM Plex Sans" pitchFamily="34" charset="0"/>
                <a:ea typeface="IBM Plex Sans" pitchFamily="34" charset="-122"/>
                <a:cs typeface="IBM Plex Sans" pitchFamily="34" charset="-120"/>
              </a:rPr>
              <a:t>closure report</a:t>
            </a:r>
            <a:endParaRPr lang="en-US" sz="1200" dirty="0"/>
          </a:p>
        </p:txBody>
      </p:sp>
      <p:sp>
        <p:nvSpPr>
          <p:cNvPr id="33" name="Shape 26"/>
          <p:cNvSpPr/>
          <p:nvPr/>
        </p:nvSpPr>
        <p:spPr>
          <a:xfrm>
            <a:off x="815975" y="3272160"/>
            <a:ext cx="5175250" cy="1134110"/>
          </a:xfrm>
          <a:prstGeom prst="roundRect">
            <a:avLst>
              <a:gd name="adj" fmla="val 6439"/>
            </a:avLst>
          </a:prstGeom>
          <a:solidFill>
            <a:srgbClr val="FCFBF7"/>
          </a:solidFill>
          <a:ln w="6350">
            <a:solidFill>
              <a:srgbClr val="DDD8CC"/>
            </a:solidFill>
            <a:prstDash val="solid"/>
          </a:ln>
        </p:spPr>
        <p:txBody>
          <a:bodyPr/>
          <a:lstStyle/>
          <a:p>
            <a:endParaRPr lang="en-IN"/>
          </a:p>
        </p:txBody>
      </p:sp>
      <p:sp>
        <p:nvSpPr>
          <p:cNvPr id="34" name="Text 27"/>
          <p:cNvSpPr/>
          <p:nvPr/>
        </p:nvSpPr>
        <p:spPr>
          <a:xfrm>
            <a:off x="1021080" y="3451858"/>
            <a:ext cx="490799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SAME WORK, ISTQB NAMES</a:t>
            </a:r>
            <a:endParaRPr lang="en-US" sz="1200" dirty="0"/>
          </a:p>
        </p:txBody>
      </p:sp>
      <p:sp>
        <p:nvSpPr>
          <p:cNvPr id="35" name="Text 28"/>
          <p:cNvSpPr/>
          <p:nvPr/>
        </p:nvSpPr>
        <p:spPr>
          <a:xfrm>
            <a:off x="1021080" y="3728727"/>
            <a:ext cx="490799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Planning; monitoring and control; analysis; design; implementation; execution; completion.</a:t>
            </a:r>
            <a:endParaRPr lang="en-US" sz="1400" dirty="0"/>
          </a:p>
        </p:txBody>
      </p:sp>
      <p:sp>
        <p:nvSpPr>
          <p:cNvPr id="36" name="Shape 29"/>
          <p:cNvSpPr/>
          <p:nvPr/>
        </p:nvSpPr>
        <p:spPr>
          <a:xfrm>
            <a:off x="6200775" y="3272160"/>
            <a:ext cx="5175250" cy="1134110"/>
          </a:xfrm>
          <a:prstGeom prst="roundRect">
            <a:avLst>
              <a:gd name="adj" fmla="val 6439"/>
            </a:avLst>
          </a:prstGeom>
          <a:solidFill>
            <a:srgbClr val="FCFBF7"/>
          </a:solidFill>
          <a:ln w="6350">
            <a:solidFill>
              <a:srgbClr val="DDD8CC"/>
            </a:solidFill>
            <a:prstDash val="solid"/>
          </a:ln>
        </p:spPr>
        <p:txBody>
          <a:bodyPr/>
          <a:lstStyle/>
          <a:p>
            <a:endParaRPr lang="en-IN"/>
          </a:p>
        </p:txBody>
      </p:sp>
      <p:sp>
        <p:nvSpPr>
          <p:cNvPr id="37" name="Text 30"/>
          <p:cNvSpPr/>
          <p:nvPr/>
        </p:nvSpPr>
        <p:spPr>
          <a:xfrm>
            <a:off x="6405880" y="3451858"/>
            <a:ext cx="490799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EVERY PHASE HAS GATES</a:t>
            </a:r>
            <a:endParaRPr lang="en-US" sz="1200" dirty="0"/>
          </a:p>
        </p:txBody>
      </p:sp>
      <p:sp>
        <p:nvSpPr>
          <p:cNvPr id="38" name="Text 31"/>
          <p:cNvSpPr/>
          <p:nvPr/>
        </p:nvSpPr>
        <p:spPr>
          <a:xfrm>
            <a:off x="6405880" y="3728727"/>
            <a:ext cx="490799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Entry criteria say when a phase may start; exit criteria say when it is done. Details in Lecture 4.</a:t>
            </a:r>
            <a:endParaRPr lang="en-US" sz="1400" dirty="0"/>
          </a:p>
        </p:txBody>
      </p:sp>
      <p:sp>
        <p:nvSpPr>
          <p:cNvPr id="39" name="Text 32"/>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40" name="Text 33"/>
          <p:cNvSpPr/>
          <p:nvPr/>
        </p:nvSpPr>
        <p:spPr>
          <a:xfrm>
            <a:off x="7791212" y="6238242"/>
            <a:ext cx="36956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Test activities: ISTQB Foundation Level syllabus v4.0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L3 · SDLC VS STLC</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SDLC vs STLC, side by side</a:t>
            </a:r>
            <a:endParaRPr lang="en-US" sz="3200" dirty="0"/>
          </a:p>
        </p:txBody>
      </p:sp>
      <p:sp>
        <p:nvSpPr>
          <p:cNvPr id="4" name="Shape 2"/>
          <p:cNvSpPr/>
          <p:nvPr/>
        </p:nvSpPr>
        <p:spPr>
          <a:xfrm>
            <a:off x="11376025" y="1828800"/>
            <a:ext cx="0" cy="2700020"/>
          </a:xfrm>
          <a:prstGeom prst="line">
            <a:avLst/>
          </a:prstGeom>
          <a:noFill/>
          <a:ln w="6350">
            <a:solidFill>
              <a:srgbClr val="DDD8CC"/>
            </a:solidFill>
            <a:prstDash val="solid"/>
          </a:ln>
        </p:spPr>
        <p:txBody>
          <a:bodyPr/>
          <a:lstStyle/>
          <a:p>
            <a:endParaRPr lang="en-IN"/>
          </a:p>
        </p:txBody>
      </p:sp>
      <p:sp>
        <p:nvSpPr>
          <p:cNvPr id="5" name="Shape 3"/>
          <p:cNvSpPr/>
          <p:nvPr/>
        </p:nvSpPr>
        <p:spPr>
          <a:xfrm>
            <a:off x="812800" y="4525645"/>
            <a:ext cx="10566400" cy="0"/>
          </a:xfrm>
          <a:prstGeom prst="line">
            <a:avLst/>
          </a:prstGeom>
          <a:noFill/>
          <a:ln w="6350">
            <a:solidFill>
              <a:srgbClr val="DDD8CC"/>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684780"/>
        </p:xfrm>
        <a:graphic>
          <a:graphicData uri="http://schemas.openxmlformats.org/drawingml/2006/table">
            <a:tbl>
              <a:tblPr/>
              <a:tblGrid>
                <a:gridCol w="2110232">
                  <a:extLst>
                    <a:ext uri="{9D8B030D-6E8A-4147-A177-3AD203B41FA5}">
                      <a16:colId xmlns:a16="http://schemas.microsoft.com/office/drawing/2014/main" val="20000"/>
                    </a:ext>
                  </a:extLst>
                </a:gridCol>
                <a:gridCol w="4220464">
                  <a:extLst>
                    <a:ext uri="{9D8B030D-6E8A-4147-A177-3AD203B41FA5}">
                      <a16:colId xmlns:a16="http://schemas.microsoft.com/office/drawing/2014/main" val="20001"/>
                    </a:ext>
                  </a:extLst>
                </a:gridCol>
                <a:gridCol w="4220464">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Aspect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SDLC</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STLC</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Focus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Building the whole product</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Checking the product's quality</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Goal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Deliver working software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Find defects and report on quality</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The whole team</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Testers, working with developers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Starts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With the product idea</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With requirement analysis, in parallel</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Main outputs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Requirements, designs, code, releases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Test plan, test cases, defect and closure reports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Relationship</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Contains the STLC</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Runs inside and alongside the SDLC</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6"/>
                  </a:ext>
                </a:extLst>
              </a:tr>
            </a:tbl>
          </a:graphicData>
        </a:graphic>
      </p:graphicFrame>
      <p:sp>
        <p:nvSpPr>
          <p:cNvPr id="7" name="Text 4"/>
          <p:cNvSpPr/>
          <p:nvPr/>
        </p:nvSpPr>
        <p:spPr>
          <a:xfrm>
            <a:off x="812800" y="4782827"/>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Testing starts when the requirements do, not after the code is written.</a:t>
            </a:r>
            <a:endParaRPr lang="en-US" sz="1400" dirty="0"/>
          </a:p>
        </p:txBody>
      </p:sp>
      <p:sp>
        <p:nvSpPr>
          <p:cNvPr id="8" name="Text 5"/>
          <p:cNvSpPr/>
          <p:nvPr/>
        </p:nvSpPr>
        <p:spPr>
          <a:xfrm>
            <a:off x="812800" y="6238242"/>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L3 · CHECK YOUR UNDERSTANDING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Knowledge check: Lecture 3</a:t>
            </a:r>
            <a:endParaRPr lang="en-US" sz="3200" dirty="0"/>
          </a:p>
        </p:txBody>
      </p:sp>
      <p:sp>
        <p:nvSpPr>
          <p:cNvPr id="4" name="Shape 2"/>
          <p:cNvSpPr/>
          <p:nvPr/>
        </p:nvSpPr>
        <p:spPr>
          <a:xfrm>
            <a:off x="815975" y="1831975"/>
            <a:ext cx="5175250" cy="1588770"/>
          </a:xfrm>
          <a:prstGeom prst="roundRect">
            <a:avLst>
              <a:gd name="adj" fmla="val 4596"/>
            </a:avLst>
          </a:prstGeom>
          <a:solidFill>
            <a:srgbClr val="FCFBF7"/>
          </a:solidFill>
          <a:ln w="6350">
            <a:solidFill>
              <a:srgbClr val="DDD8CC"/>
            </a:solidFill>
            <a:prstDash val="solid"/>
          </a:ln>
        </p:spPr>
        <p:txBody>
          <a:bodyPr/>
          <a:lstStyle/>
          <a:p>
            <a:endParaRPr lang="en-IN"/>
          </a:p>
        </p:txBody>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 test prints the cart total and a tester reads the log to decide pass or fail. Which manifesto quality is missing?</a:t>
            </a:r>
            <a:endParaRPr lang="en-US" sz="1400" dirty="0"/>
          </a:p>
        </p:txBody>
      </p:sp>
      <p:sp>
        <p:nvSpPr>
          <p:cNvPr id="7" name="Shape 5"/>
          <p:cNvSpPr/>
          <p:nvPr/>
        </p:nvSpPr>
        <p:spPr>
          <a:xfrm>
            <a:off x="6200775" y="1831975"/>
            <a:ext cx="5175250" cy="1588770"/>
          </a:xfrm>
          <a:prstGeom prst="roundRect">
            <a:avLst>
              <a:gd name="adj" fmla="val 4596"/>
            </a:avLst>
          </a:prstGeom>
          <a:solidFill>
            <a:srgbClr val="FCFBF7"/>
          </a:solidFill>
          <a:ln w="6350">
            <a:solidFill>
              <a:srgbClr val="DDD8CC"/>
            </a:solidFill>
            <a:prstDash val="solid"/>
          </a:ln>
        </p:spPr>
        <p:txBody>
          <a:bodyPr/>
          <a:lstStyle/>
          <a:p>
            <a:endParaRPr lang="en-IN"/>
          </a:p>
        </p:txBody>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same 50 regression tests have passed for months, yet users keep finding coupon bugs. Which principle explains this?</a:t>
            </a:r>
            <a:endParaRPr lang="en-US" sz="1400" dirty="0"/>
          </a:p>
        </p:txBody>
      </p:sp>
      <p:sp>
        <p:nvSpPr>
          <p:cNvPr id="10" name="Shape 8"/>
          <p:cNvSpPr/>
          <p:nvPr/>
        </p:nvSpPr>
        <p:spPr>
          <a:xfrm>
            <a:off x="815975" y="3630290"/>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1046480" y="3860800"/>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4241800"/>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Which principle warns that a defect-free system can still fail? Give a Canteen App example.</a:t>
            </a:r>
            <a:endParaRPr lang="en-US" sz="1400" dirty="0"/>
          </a:p>
        </p:txBody>
      </p:sp>
      <p:sp>
        <p:nvSpPr>
          <p:cNvPr id="13" name="Shape 11"/>
          <p:cNvSpPr/>
          <p:nvPr/>
        </p:nvSpPr>
        <p:spPr>
          <a:xfrm>
            <a:off x="6200775" y="3630290"/>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6431280" y="3860800"/>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4241800"/>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When does the STLC start relative to the SDLC, and why does that matter?</a:t>
            </a:r>
            <a:endParaRPr lang="en-US" sz="14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7" name="Text 15"/>
          <p:cNvSpPr/>
          <p:nvPr/>
        </p:nvSpPr>
        <p:spPr>
          <a:xfrm>
            <a:off x="9372044" y="6238255"/>
            <a:ext cx="20673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marL="0" indent="0" algn="r">
              <a:lnSpc>
                <a:spcPts val="19000"/>
              </a:lnSpc>
              <a:buNone/>
            </a:pPr>
            <a:r>
              <a:rPr lang="en-US" sz="19000" b="1" kern="0" spc="-400" dirty="0">
                <a:solidFill>
                  <a:srgbClr val="000000">
                    <a:alpha val="0"/>
                  </a:srgbClr>
                </a:solidFill>
                <a:latin typeface="Space Grotesk" pitchFamily="34" charset="0"/>
                <a:ea typeface="Space Grotesk" pitchFamily="34" charset="-122"/>
                <a:cs typeface="Space Grotesk" pitchFamily="34" charset="-120"/>
              </a:rPr>
              <a:t>04</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36B"/>
                </a:solidFill>
                <a:latin typeface="JetBrains Mono" pitchFamily="34" charset="0"/>
                <a:ea typeface="JetBrains Mono" pitchFamily="34" charset="-122"/>
                <a:cs typeface="JetBrains Mono" pitchFamily="34" charset="-120"/>
              </a:rPr>
              <a:t>MODULE 1 · LECTURE 4 · 40 MINUTES</a:t>
            </a:r>
            <a:endParaRPr lang="en-US" sz="1200" dirty="0"/>
          </a:p>
        </p:txBody>
      </p:sp>
      <p:sp>
        <p:nvSpPr>
          <p:cNvPr id="4" name="Text 2"/>
          <p:cNvSpPr/>
          <p:nvPr/>
        </p:nvSpPr>
        <p:spPr>
          <a:xfrm>
            <a:off x="812800" y="3464570"/>
            <a:ext cx="10464800" cy="1518920"/>
          </a:xfrm>
          <a:prstGeom prst="rect">
            <a:avLst/>
          </a:prstGeom>
          <a:noFill/>
          <a:ln/>
        </p:spPr>
        <p:txBody>
          <a:bodyPr wrap="square" lIns="0" tIns="0" rIns="0" bIns="0" rtlCol="0" anchor="t">
            <a:normAutofit/>
          </a:bodyPr>
          <a:lstStyle/>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The testing life cycle</a:t>
            </a:r>
            <a:endParaRPr lang="en-US" sz="5600" dirty="0"/>
          </a:p>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and usability testing</a:t>
            </a:r>
            <a:endParaRPr lang="en-US" sz="5600" dirty="0"/>
          </a:p>
        </p:txBody>
      </p:sp>
      <p:sp>
        <p:nvSpPr>
          <p:cNvPr id="5" name="Shape 3"/>
          <p:cNvSpPr/>
          <p:nvPr/>
        </p:nvSpPr>
        <p:spPr>
          <a:xfrm>
            <a:off x="812800" y="5320035"/>
            <a:ext cx="2794000" cy="0"/>
          </a:xfrm>
          <a:prstGeom prst="line">
            <a:avLst/>
          </a:prstGeom>
          <a:noFill/>
          <a:ln w="12700">
            <a:solidFill>
              <a:srgbClr val="3A5476"/>
            </a:solidFill>
            <a:prstDash val="solid"/>
          </a:ln>
        </p:spPr>
        <p:txBody>
          <a:bodyPr/>
          <a:lstStyle/>
          <a:p>
            <a:endParaRPr lang="en-IN"/>
          </a:p>
        </p:txBody>
      </p:sp>
      <p:sp>
        <p:nvSpPr>
          <p:cNvPr id="6" name="Text 4"/>
          <p:cNvSpPr/>
          <p:nvPr/>
        </p:nvSpPr>
        <p:spPr>
          <a:xfrm>
            <a:off x="812800" y="5450855"/>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25 min</a:t>
            </a:r>
            <a:endParaRPr lang="en-US" sz="1200" dirty="0"/>
          </a:p>
        </p:txBody>
      </p:sp>
      <p:sp>
        <p:nvSpPr>
          <p:cNvPr id="7" name="Text 5"/>
          <p:cNvSpPr/>
          <p:nvPr/>
        </p:nvSpPr>
        <p:spPr>
          <a:xfrm>
            <a:off x="812800" y="5715000"/>
            <a:ext cx="287782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Testing life cycle</a:t>
            </a:r>
            <a:endParaRPr lang="en-US" sz="2000" dirty="0"/>
          </a:p>
        </p:txBody>
      </p:sp>
      <p:sp>
        <p:nvSpPr>
          <p:cNvPr id="8" name="Shape 6"/>
          <p:cNvSpPr/>
          <p:nvPr/>
        </p:nvSpPr>
        <p:spPr>
          <a:xfrm>
            <a:off x="3911600" y="5320035"/>
            <a:ext cx="2794000" cy="0"/>
          </a:xfrm>
          <a:prstGeom prst="line">
            <a:avLst/>
          </a:prstGeom>
          <a:noFill/>
          <a:ln w="12700">
            <a:solidFill>
              <a:srgbClr val="3A5476"/>
            </a:solidFill>
            <a:prstDash val="solid"/>
          </a:ln>
        </p:spPr>
        <p:txBody>
          <a:bodyPr/>
          <a:lstStyle/>
          <a:p>
            <a:endParaRPr lang="en-IN"/>
          </a:p>
        </p:txBody>
      </p:sp>
      <p:sp>
        <p:nvSpPr>
          <p:cNvPr id="9" name="Text 7"/>
          <p:cNvSpPr/>
          <p:nvPr/>
        </p:nvSpPr>
        <p:spPr>
          <a:xfrm>
            <a:off x="3911600" y="5450855"/>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15 min</a:t>
            </a:r>
            <a:endParaRPr lang="en-US" sz="1200" dirty="0"/>
          </a:p>
        </p:txBody>
      </p:sp>
      <p:sp>
        <p:nvSpPr>
          <p:cNvPr id="10" name="Text 8"/>
          <p:cNvSpPr/>
          <p:nvPr/>
        </p:nvSpPr>
        <p:spPr>
          <a:xfrm>
            <a:off x="3911600" y="5715000"/>
            <a:ext cx="287782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Usability testing</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L4 · TESTING LIFE CYCLE</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STLC phases 1 to 3</a:t>
            </a:r>
            <a:endParaRPr lang="en-US" sz="3200" dirty="0"/>
          </a:p>
        </p:txBody>
      </p:sp>
      <p:sp>
        <p:nvSpPr>
          <p:cNvPr id="4" name="Shape 2"/>
          <p:cNvSpPr/>
          <p:nvPr/>
        </p:nvSpPr>
        <p:spPr>
          <a:xfrm>
            <a:off x="11376025" y="1828800"/>
            <a:ext cx="0" cy="1976120"/>
          </a:xfrm>
          <a:prstGeom prst="line">
            <a:avLst/>
          </a:prstGeom>
          <a:noFill/>
          <a:ln w="6350">
            <a:solidFill>
              <a:srgbClr val="DDD8CC"/>
            </a:solidFill>
            <a:prstDash val="solid"/>
          </a:ln>
        </p:spPr>
        <p:txBody>
          <a:bodyPr/>
          <a:lstStyle/>
          <a:p>
            <a:endParaRPr lang="en-IN"/>
          </a:p>
        </p:txBody>
      </p:sp>
      <p:sp>
        <p:nvSpPr>
          <p:cNvPr id="5" name="Shape 3"/>
          <p:cNvSpPr/>
          <p:nvPr/>
        </p:nvSpPr>
        <p:spPr>
          <a:xfrm>
            <a:off x="812800" y="3801745"/>
            <a:ext cx="10566400" cy="0"/>
          </a:xfrm>
          <a:prstGeom prst="line">
            <a:avLst/>
          </a:prstGeom>
          <a:noFill/>
          <a:ln w="6350">
            <a:solidFill>
              <a:srgbClr val="DDD8CC"/>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1960880"/>
        </p:xfrm>
        <a:graphic>
          <a:graphicData uri="http://schemas.openxmlformats.org/drawingml/2006/table">
            <a:tbl>
              <a:tblPr/>
              <a:tblGrid>
                <a:gridCol w="1899209">
                  <a:extLst>
                    <a:ext uri="{9D8B030D-6E8A-4147-A177-3AD203B41FA5}">
                      <a16:colId xmlns:a16="http://schemas.microsoft.com/office/drawing/2014/main" val="20000"/>
                    </a:ext>
                  </a:extLst>
                </a:gridCol>
                <a:gridCol w="2321255">
                  <a:extLst>
                    <a:ext uri="{9D8B030D-6E8A-4147-A177-3AD203B41FA5}">
                      <a16:colId xmlns:a16="http://schemas.microsoft.com/office/drawing/2014/main" val="20001"/>
                    </a:ext>
                  </a:extLst>
                </a:gridCol>
                <a:gridCol w="3798418">
                  <a:extLst>
                    <a:ext uri="{9D8B030D-6E8A-4147-A177-3AD203B41FA5}">
                      <a16:colId xmlns:a16="http://schemas.microsoft.com/office/drawing/2014/main" val="20002"/>
                    </a:ext>
                  </a:extLst>
                </a:gridCol>
                <a:gridCol w="2532278">
                  <a:extLst>
                    <a:ext uri="{9D8B030D-6E8A-4147-A177-3AD203B41FA5}">
                      <a16:colId xmlns:a16="http://schemas.microsoft.com/office/drawing/2014/main" val="20003"/>
                    </a:ext>
                  </a:extLst>
                </a:gridCol>
              </a:tblGrid>
              <a:tr h="330200">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Phase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Entry criteria</a:t>
                      </a:r>
                      <a:endParaRPr lang="en-US" sz="1200" dirty="0">
                        <a:latin typeface="IBM Plex Sans" charset="0"/>
                        <a:ea typeface="IBM Plex Sans" charset="0"/>
                        <a:cs typeface="IBM Plex Sans" charset="0"/>
                      </a:endParaRPr>
                    </a:p>
                  </a:txBody>
                  <a:tcPr marL="53340" marR="53340" marT="53340" marB="5334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Key activities</a:t>
                      </a:r>
                      <a:endParaRPr lang="en-US" sz="1200" dirty="0">
                        <a:latin typeface="IBM Plex Sans" charset="0"/>
                        <a:ea typeface="IBM Plex Sans" charset="0"/>
                        <a:cs typeface="IBM Plex Sans" charset="0"/>
                      </a:endParaRPr>
                    </a:p>
                  </a:txBody>
                  <a:tcPr marL="53340" marR="53340" marT="53340" marB="5334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Exit criteria and outputs</a:t>
                      </a:r>
                      <a:endParaRPr lang="en-US" sz="1200" dirty="0">
                        <a:latin typeface="IBM Plex Sans" charset="0"/>
                        <a:ea typeface="IBM Plex Sans" charset="0"/>
                        <a:cs typeface="IBM Plex Sans" charset="0"/>
                      </a:endParaRPr>
                    </a:p>
                  </a:txBody>
                  <a:tcPr marL="53340" marR="53340" marT="53340" marB="5334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54356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1 · Requirement analysis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Requirement documents available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Study requirements, list testable items, clarify doubts, judge what to automate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Testable items agreed; RTM draft</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54356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2 · Test planning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Requirements analysed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Decide scope, approach, tools, effort, schedule, roles and risks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 plan approved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54356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3 · Test case development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 plan approved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Write and review test cases and scripts; prepare test data</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Cases reviewed; scripts and data ready</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bl>
          </a:graphicData>
        </a:graphic>
      </p:graphicFrame>
      <p:sp>
        <p:nvSpPr>
          <p:cNvPr id="7" name="Shape 4"/>
          <p:cNvSpPr/>
          <p:nvPr/>
        </p:nvSpPr>
        <p:spPr>
          <a:xfrm>
            <a:off x="812800" y="4058915"/>
            <a:ext cx="10566400" cy="802640"/>
          </a:xfrm>
          <a:prstGeom prst="roundRect">
            <a:avLst>
              <a:gd name="adj" fmla="val 9494"/>
            </a:avLst>
          </a:prstGeom>
          <a:solidFill>
            <a:srgbClr val="DCE7F3"/>
          </a:solidFill>
          <a:ln/>
        </p:spPr>
        <p:txBody>
          <a:bodyPr/>
          <a:lstStyle/>
          <a:p>
            <a:endParaRPr lang="en-IN"/>
          </a:p>
        </p:txBody>
      </p:sp>
      <p:sp>
        <p:nvSpPr>
          <p:cNvPr id="8" name="Text 5"/>
          <p:cNvSpPr/>
          <p:nvPr/>
        </p:nvSpPr>
        <p:spPr>
          <a:xfrm>
            <a:off x="1016000" y="4353570"/>
            <a:ext cx="119634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CANTEEN APP</a:t>
            </a:r>
            <a:endParaRPr lang="en-US" sz="1200" dirty="0"/>
          </a:p>
        </p:txBody>
      </p:sp>
      <p:sp>
        <p:nvSpPr>
          <p:cNvPr id="9" name="Text 6"/>
          <p:cNvSpPr/>
          <p:nvPr/>
        </p:nvSpPr>
        <p:spPr>
          <a:xfrm>
            <a:off x="2313940" y="4211315"/>
            <a:ext cx="912792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Phase 1 flags “menu loads fast” as untestable; phase 2 plans API and UI automation for coupons; phase 3 writes the SAVE20 test cases.</a:t>
            </a:r>
            <a:endParaRPr lang="en-US" sz="1400" dirty="0"/>
          </a:p>
        </p:txBody>
      </p:sp>
      <p:sp>
        <p:nvSpPr>
          <p:cNvPr id="10" name="Text 7"/>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1" name="Text 8"/>
          <p:cNvSpPr/>
          <p:nvPr/>
        </p:nvSpPr>
        <p:spPr>
          <a:xfrm>
            <a:off x="8019812" y="6238255"/>
            <a:ext cx="34601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RTM: requirements traceability matrix (Module 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L4 · TESTING LIFE CYCLE</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STLC phases 4 to 6</a:t>
            </a:r>
            <a:endParaRPr lang="en-US" sz="3200" dirty="0"/>
          </a:p>
        </p:txBody>
      </p:sp>
      <p:sp>
        <p:nvSpPr>
          <p:cNvPr id="4" name="Shape 2"/>
          <p:cNvSpPr/>
          <p:nvPr/>
        </p:nvSpPr>
        <p:spPr>
          <a:xfrm>
            <a:off x="11376025" y="1828800"/>
            <a:ext cx="0" cy="1976120"/>
          </a:xfrm>
          <a:prstGeom prst="line">
            <a:avLst/>
          </a:prstGeom>
          <a:noFill/>
          <a:ln w="6350">
            <a:solidFill>
              <a:srgbClr val="DDD8CC"/>
            </a:solidFill>
            <a:prstDash val="solid"/>
          </a:ln>
        </p:spPr>
        <p:txBody>
          <a:bodyPr/>
          <a:lstStyle/>
          <a:p>
            <a:endParaRPr lang="en-IN"/>
          </a:p>
        </p:txBody>
      </p:sp>
      <p:sp>
        <p:nvSpPr>
          <p:cNvPr id="5" name="Shape 3"/>
          <p:cNvSpPr/>
          <p:nvPr/>
        </p:nvSpPr>
        <p:spPr>
          <a:xfrm>
            <a:off x="812800" y="3801745"/>
            <a:ext cx="10566400" cy="0"/>
          </a:xfrm>
          <a:prstGeom prst="line">
            <a:avLst/>
          </a:prstGeom>
          <a:noFill/>
          <a:ln w="6350">
            <a:solidFill>
              <a:srgbClr val="DDD8CC"/>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1960880"/>
        </p:xfrm>
        <a:graphic>
          <a:graphicData uri="http://schemas.openxmlformats.org/drawingml/2006/table">
            <a:tbl>
              <a:tblPr/>
              <a:tblGrid>
                <a:gridCol w="1899209">
                  <a:extLst>
                    <a:ext uri="{9D8B030D-6E8A-4147-A177-3AD203B41FA5}">
                      <a16:colId xmlns:a16="http://schemas.microsoft.com/office/drawing/2014/main" val="20000"/>
                    </a:ext>
                  </a:extLst>
                </a:gridCol>
                <a:gridCol w="2321255">
                  <a:extLst>
                    <a:ext uri="{9D8B030D-6E8A-4147-A177-3AD203B41FA5}">
                      <a16:colId xmlns:a16="http://schemas.microsoft.com/office/drawing/2014/main" val="20001"/>
                    </a:ext>
                  </a:extLst>
                </a:gridCol>
                <a:gridCol w="3798418">
                  <a:extLst>
                    <a:ext uri="{9D8B030D-6E8A-4147-A177-3AD203B41FA5}">
                      <a16:colId xmlns:a16="http://schemas.microsoft.com/office/drawing/2014/main" val="20002"/>
                    </a:ext>
                  </a:extLst>
                </a:gridCol>
                <a:gridCol w="2532278">
                  <a:extLst>
                    <a:ext uri="{9D8B030D-6E8A-4147-A177-3AD203B41FA5}">
                      <a16:colId xmlns:a16="http://schemas.microsoft.com/office/drawing/2014/main" val="20003"/>
                    </a:ext>
                  </a:extLst>
                </a:gridCol>
              </a:tblGrid>
              <a:tr h="330200">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Phase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Entry criteria</a:t>
                      </a:r>
                      <a:endParaRPr lang="en-US" sz="1200" dirty="0">
                        <a:latin typeface="IBM Plex Sans" charset="0"/>
                        <a:ea typeface="IBM Plex Sans" charset="0"/>
                        <a:cs typeface="IBM Plex Sans" charset="0"/>
                      </a:endParaRPr>
                    </a:p>
                  </a:txBody>
                  <a:tcPr marL="53340" marR="53340" marT="53340" marB="5334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Key activities</a:t>
                      </a:r>
                      <a:endParaRPr lang="en-US" sz="1200" dirty="0">
                        <a:latin typeface="IBM Plex Sans" charset="0"/>
                        <a:ea typeface="IBM Plex Sans" charset="0"/>
                        <a:cs typeface="IBM Plex Sans" charset="0"/>
                      </a:endParaRPr>
                    </a:p>
                  </a:txBody>
                  <a:tcPr marL="53340" marR="53340" marT="53340" marB="5334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Exit criteria and outputs</a:t>
                      </a:r>
                      <a:endParaRPr lang="en-US" sz="1200" dirty="0">
                        <a:latin typeface="IBM Plex Sans" charset="0"/>
                        <a:ea typeface="IBM Plex Sans" charset="0"/>
                        <a:cs typeface="IBM Plex Sans" charset="0"/>
                      </a:endParaRPr>
                    </a:p>
                  </a:txBody>
                  <a:tcPr marL="53340" marR="53340" marT="53340" marB="5334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54356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4 · Environment setup</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 plan and architecture known</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Set up servers, software, network and data; smoke-test the environment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Environment ready; smoke test passed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54356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5 · Test execution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Cases ready; build deployed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Run tests, log defects, retest fixes, run regression, update the RTM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Planned tests run; no open critical defects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54356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6 · Test cycle closure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Execution complete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Check exit criteria, report metrics, review lessons, archive testware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Closure report signed off</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bl>
          </a:graphicData>
        </a:graphic>
      </p:graphicFrame>
      <p:sp>
        <p:nvSpPr>
          <p:cNvPr id="7" name="Shape 4"/>
          <p:cNvSpPr/>
          <p:nvPr/>
        </p:nvSpPr>
        <p:spPr>
          <a:xfrm>
            <a:off x="815975" y="4062090"/>
            <a:ext cx="5175250" cy="1070610"/>
          </a:xfrm>
          <a:prstGeom prst="roundRect">
            <a:avLst>
              <a:gd name="adj" fmla="val 6821"/>
            </a:avLst>
          </a:prstGeom>
          <a:solidFill>
            <a:srgbClr val="FCFBF7"/>
          </a:solidFill>
          <a:ln w="6350">
            <a:solidFill>
              <a:srgbClr val="DDD8CC"/>
            </a:solidFill>
            <a:prstDash val="solid"/>
          </a:ln>
        </p:spPr>
        <p:txBody>
          <a:bodyPr/>
          <a:lstStyle/>
          <a:p>
            <a:endParaRPr lang="en-IN"/>
          </a:p>
        </p:txBody>
      </p:sp>
      <p:sp>
        <p:nvSpPr>
          <p:cNvPr id="8" name="Text 5"/>
          <p:cNvSpPr/>
          <p:nvPr/>
        </p:nvSpPr>
        <p:spPr>
          <a:xfrm>
            <a:off x="1021080" y="4216400"/>
            <a:ext cx="490799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ISTQB · ENTRY CRITERIA</a:t>
            </a:r>
            <a:endParaRPr lang="en-US" sz="1200" dirty="0"/>
          </a:p>
        </p:txBody>
      </p:sp>
      <p:sp>
        <p:nvSpPr>
          <p:cNvPr id="9" name="Text 6"/>
          <p:cNvSpPr/>
          <p:nvPr/>
        </p:nvSpPr>
        <p:spPr>
          <a:xfrm>
            <a:off x="1021080" y="4480570"/>
            <a:ext cx="490799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set of conditions for officially starting a defined task.”</a:t>
            </a:r>
            <a:endParaRPr lang="en-US" sz="1400" dirty="0"/>
          </a:p>
        </p:txBody>
      </p:sp>
      <p:sp>
        <p:nvSpPr>
          <p:cNvPr id="10" name="Shape 7"/>
          <p:cNvSpPr/>
          <p:nvPr/>
        </p:nvSpPr>
        <p:spPr>
          <a:xfrm>
            <a:off x="6200775" y="4062090"/>
            <a:ext cx="5175250" cy="1070610"/>
          </a:xfrm>
          <a:prstGeom prst="roundRect">
            <a:avLst>
              <a:gd name="adj" fmla="val 6821"/>
            </a:avLst>
          </a:prstGeom>
          <a:solidFill>
            <a:srgbClr val="FCFBF7"/>
          </a:solidFill>
          <a:ln w="6350">
            <a:solidFill>
              <a:srgbClr val="DDD8CC"/>
            </a:solidFill>
            <a:prstDash val="solid"/>
          </a:ln>
        </p:spPr>
        <p:txBody>
          <a:bodyPr/>
          <a:lstStyle/>
          <a:p>
            <a:endParaRPr lang="en-IN"/>
          </a:p>
        </p:txBody>
      </p:sp>
      <p:sp>
        <p:nvSpPr>
          <p:cNvPr id="11" name="Text 8"/>
          <p:cNvSpPr/>
          <p:nvPr/>
        </p:nvSpPr>
        <p:spPr>
          <a:xfrm>
            <a:off x="6405880" y="4216400"/>
            <a:ext cx="490799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ISTQB · EXIT CRITERIA</a:t>
            </a:r>
            <a:endParaRPr lang="en-US" sz="1200" dirty="0"/>
          </a:p>
        </p:txBody>
      </p:sp>
      <p:sp>
        <p:nvSpPr>
          <p:cNvPr id="12" name="Text 9"/>
          <p:cNvSpPr/>
          <p:nvPr/>
        </p:nvSpPr>
        <p:spPr>
          <a:xfrm>
            <a:off x="6405880" y="4480570"/>
            <a:ext cx="490799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set of conditions for officially completing a defined task.”</a:t>
            </a:r>
            <a:endParaRPr lang="en-US" sz="1400" dirty="0"/>
          </a:p>
        </p:txBody>
      </p:sp>
      <p:sp>
        <p:nvSpPr>
          <p:cNvPr id="13" name="Text 10"/>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4" name="Text 11"/>
          <p:cNvSpPr/>
          <p:nvPr/>
        </p:nvSpPr>
        <p:spPr>
          <a:xfrm>
            <a:off x="7561977" y="6238255"/>
            <a:ext cx="39317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Definitions: ISTQB Glossary · exit criteria vary by project</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L4 · TESTING LIFE CYCLE</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Error, defect and failure</a:t>
            </a:r>
            <a:endParaRPr lang="en-US" sz="3200" dirty="0"/>
          </a:p>
        </p:txBody>
      </p:sp>
      <p:sp>
        <p:nvSpPr>
          <p:cNvPr id="4" name="Shape 2"/>
          <p:cNvSpPr/>
          <p:nvPr/>
        </p:nvSpPr>
        <p:spPr>
          <a:xfrm>
            <a:off x="815975" y="1831975"/>
            <a:ext cx="3282077" cy="1863090"/>
          </a:xfrm>
          <a:prstGeom prst="roundRect">
            <a:avLst>
              <a:gd name="adj" fmla="val 3920"/>
            </a:avLst>
          </a:prstGeom>
          <a:solidFill>
            <a:srgbClr val="FCFBF7"/>
          </a:solidFill>
          <a:ln w="6350">
            <a:solidFill>
              <a:srgbClr val="DDD8CC"/>
            </a:solidFill>
            <a:prstDash val="solid"/>
          </a:ln>
        </p:spPr>
        <p:txBody>
          <a:bodyPr/>
          <a:lstStyle/>
          <a:p>
            <a:endParaRPr lang="en-IN"/>
          </a:p>
        </p:txBody>
      </p:sp>
      <p:sp>
        <p:nvSpPr>
          <p:cNvPr id="5" name="Text 3"/>
          <p:cNvSpPr/>
          <p:nvPr/>
        </p:nvSpPr>
        <p:spPr>
          <a:xfrm>
            <a:off x="1021080" y="2011685"/>
            <a:ext cx="295802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ERROR</a:t>
            </a:r>
            <a:endParaRPr lang="en-US" sz="1200" dirty="0"/>
          </a:p>
        </p:txBody>
      </p:sp>
      <p:sp>
        <p:nvSpPr>
          <p:cNvPr id="6" name="Text 4"/>
          <p:cNvSpPr/>
          <p:nvPr/>
        </p:nvSpPr>
        <p:spPr>
          <a:xfrm>
            <a:off x="1021080" y="2301255"/>
            <a:ext cx="2958023" cy="4521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44505F"/>
                </a:solidFill>
                <a:latin typeface="IBM Plex Sans" pitchFamily="34" charset="0"/>
                <a:ea typeface="IBM Plex Sans" pitchFamily="34" charset="-122"/>
                <a:cs typeface="IBM Plex Sans" pitchFamily="34" charset="-120"/>
              </a:rPr>
              <a:t>“A human action that produces an incorrect result.”</a:t>
            </a:r>
            <a:endParaRPr lang="en-US" sz="1200" dirty="0"/>
          </a:p>
        </p:txBody>
      </p:sp>
      <p:sp>
        <p:nvSpPr>
          <p:cNvPr id="7" name="Text 5"/>
          <p:cNvSpPr/>
          <p:nvPr/>
        </p:nvSpPr>
        <p:spPr>
          <a:xfrm>
            <a:off x="1021080" y="2804170"/>
            <a:ext cx="295802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 developer writes total &gt; 200 instead of total &gt;= 200.</a:t>
            </a:r>
            <a:endParaRPr lang="en-US" sz="1400" dirty="0"/>
          </a:p>
        </p:txBody>
      </p:sp>
      <p:pic>
        <p:nvPicPr>
          <p:cNvPr id="8" name="Image 0" descr="connector"/>
          <p:cNvPicPr>
            <a:picLocks noChangeAspect="1"/>
          </p:cNvPicPr>
          <p:nvPr/>
        </p:nvPicPr>
        <p:blipFill>
          <a:blip r:embed="rId3"/>
          <a:srcRect/>
          <a:stretch/>
        </p:blipFill>
        <p:spPr>
          <a:xfrm>
            <a:off x="4101227" y="2712715"/>
            <a:ext cx="355600" cy="101600"/>
          </a:xfrm>
          <a:prstGeom prst="rect">
            <a:avLst/>
          </a:prstGeom>
        </p:spPr>
      </p:pic>
      <p:sp>
        <p:nvSpPr>
          <p:cNvPr id="9" name="Shape 6"/>
          <p:cNvSpPr/>
          <p:nvPr/>
        </p:nvSpPr>
        <p:spPr>
          <a:xfrm>
            <a:off x="4460002" y="1831975"/>
            <a:ext cx="3282156" cy="1863090"/>
          </a:xfrm>
          <a:prstGeom prst="roundRect">
            <a:avLst>
              <a:gd name="adj" fmla="val 3920"/>
            </a:avLst>
          </a:prstGeom>
          <a:solidFill>
            <a:srgbClr val="FCFBF7"/>
          </a:solidFill>
          <a:ln w="6350">
            <a:solidFill>
              <a:srgbClr val="DDD8CC"/>
            </a:solidFill>
            <a:prstDash val="solid"/>
          </a:ln>
        </p:spPr>
        <p:txBody>
          <a:bodyPr/>
          <a:lstStyle/>
          <a:p>
            <a:endParaRPr lang="en-IN"/>
          </a:p>
        </p:txBody>
      </p:sp>
      <p:sp>
        <p:nvSpPr>
          <p:cNvPr id="10" name="Text 7"/>
          <p:cNvSpPr/>
          <p:nvPr/>
        </p:nvSpPr>
        <p:spPr>
          <a:xfrm>
            <a:off x="4665107" y="2011685"/>
            <a:ext cx="295810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DEFECT</a:t>
            </a:r>
            <a:endParaRPr lang="en-US" sz="1200" dirty="0"/>
          </a:p>
        </p:txBody>
      </p:sp>
      <p:sp>
        <p:nvSpPr>
          <p:cNvPr id="11" name="Text 8"/>
          <p:cNvSpPr/>
          <p:nvPr/>
        </p:nvSpPr>
        <p:spPr>
          <a:xfrm>
            <a:off x="4665107" y="2301255"/>
            <a:ext cx="2958105" cy="66548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44505F"/>
                </a:solidFill>
                <a:latin typeface="IBM Plex Sans" pitchFamily="34" charset="0"/>
                <a:ea typeface="IBM Plex Sans" pitchFamily="34" charset="-122"/>
                <a:cs typeface="IBM Plex Sans" pitchFamily="34" charset="-120"/>
              </a:rPr>
              <a:t>“An imperfection or deficiency in a work product where it does not meet its requirements or specifications.”</a:t>
            </a:r>
            <a:endParaRPr lang="en-US" sz="1200" dirty="0"/>
          </a:p>
        </p:txBody>
      </p:sp>
      <p:sp>
        <p:nvSpPr>
          <p:cNvPr id="12" name="Text 9"/>
          <p:cNvSpPr/>
          <p:nvPr/>
        </p:nvSpPr>
        <p:spPr>
          <a:xfrm>
            <a:off x="4665107" y="3017515"/>
            <a:ext cx="295810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fee code now charges ₹20 on an order of exactly ₹200.</a:t>
            </a:r>
            <a:endParaRPr lang="en-US" sz="1400" dirty="0"/>
          </a:p>
        </p:txBody>
      </p:sp>
      <p:pic>
        <p:nvPicPr>
          <p:cNvPr id="13" name="Image 1" descr="connector"/>
          <p:cNvPicPr>
            <a:picLocks noChangeAspect="1"/>
          </p:cNvPicPr>
          <p:nvPr/>
        </p:nvPicPr>
        <p:blipFill>
          <a:blip r:embed="rId3"/>
          <a:srcRect/>
          <a:stretch/>
        </p:blipFill>
        <p:spPr>
          <a:xfrm>
            <a:off x="7745333" y="2712715"/>
            <a:ext cx="355600" cy="101600"/>
          </a:xfrm>
          <a:prstGeom prst="rect">
            <a:avLst/>
          </a:prstGeom>
        </p:spPr>
      </p:pic>
      <p:sp>
        <p:nvSpPr>
          <p:cNvPr id="14" name="Shape 10"/>
          <p:cNvSpPr/>
          <p:nvPr/>
        </p:nvSpPr>
        <p:spPr>
          <a:xfrm>
            <a:off x="8100933" y="1828800"/>
            <a:ext cx="3278267" cy="1869440"/>
          </a:xfrm>
          <a:prstGeom prst="roundRect">
            <a:avLst>
              <a:gd name="adj" fmla="val 4076"/>
            </a:avLst>
          </a:prstGeom>
          <a:solidFill>
            <a:srgbClr val="13233A"/>
          </a:solidFill>
          <a:ln/>
        </p:spPr>
        <p:txBody>
          <a:bodyPr/>
          <a:lstStyle/>
          <a:p>
            <a:endParaRPr lang="en-IN"/>
          </a:p>
        </p:txBody>
      </p:sp>
      <p:sp>
        <p:nvSpPr>
          <p:cNvPr id="15" name="Text 11"/>
          <p:cNvSpPr/>
          <p:nvPr/>
        </p:nvSpPr>
        <p:spPr>
          <a:xfrm>
            <a:off x="8304133" y="2006600"/>
            <a:ext cx="295802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36B"/>
                </a:solidFill>
                <a:latin typeface="JetBrains Mono" pitchFamily="34" charset="0"/>
                <a:ea typeface="JetBrains Mono" pitchFamily="34" charset="-122"/>
                <a:cs typeface="JetBrains Mono" pitchFamily="34" charset="-120"/>
              </a:rPr>
              <a:t>FAILURE</a:t>
            </a:r>
            <a:endParaRPr lang="en-US" sz="1200" dirty="0"/>
          </a:p>
        </p:txBody>
      </p:sp>
      <p:sp>
        <p:nvSpPr>
          <p:cNvPr id="16" name="Text 12"/>
          <p:cNvSpPr/>
          <p:nvPr/>
        </p:nvSpPr>
        <p:spPr>
          <a:xfrm>
            <a:off x="8304133" y="2296170"/>
            <a:ext cx="2958023" cy="66548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C5CFDB"/>
                </a:solidFill>
                <a:latin typeface="IBM Plex Sans" pitchFamily="34" charset="0"/>
                <a:ea typeface="IBM Plex Sans" pitchFamily="34" charset="-122"/>
                <a:cs typeface="IBM Plex Sans" pitchFamily="34" charset="-120"/>
              </a:rPr>
              <a:t>“An event in which a component or system does not perform a required function within specified limits.”</a:t>
            </a:r>
            <a:endParaRPr lang="en-US" sz="1200" dirty="0"/>
          </a:p>
        </p:txBody>
      </p:sp>
      <p:sp>
        <p:nvSpPr>
          <p:cNvPr id="17" name="Text 13"/>
          <p:cNvSpPr/>
          <p:nvPr/>
        </p:nvSpPr>
        <p:spPr>
          <a:xfrm>
            <a:off x="8304133" y="3012455"/>
            <a:ext cx="295802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3F1EA"/>
                </a:solidFill>
                <a:latin typeface="IBM Plex Sans" pitchFamily="34" charset="0"/>
                <a:ea typeface="IBM Plex Sans" pitchFamily="34" charset="-122"/>
                <a:cs typeface="IBM Plex Sans" pitchFamily="34" charset="-120"/>
              </a:rPr>
              <a:t>A student ordering exactly ₹200 is charged a ₹20 delivery fee.</a:t>
            </a:r>
            <a:endParaRPr lang="en-US" sz="1400" dirty="0"/>
          </a:p>
        </p:txBody>
      </p:sp>
      <p:sp>
        <p:nvSpPr>
          <p:cNvPr id="18" name="Shape 14"/>
          <p:cNvSpPr/>
          <p:nvPr/>
        </p:nvSpPr>
        <p:spPr>
          <a:xfrm>
            <a:off x="812800" y="3958605"/>
            <a:ext cx="5181600" cy="0"/>
          </a:xfrm>
          <a:prstGeom prst="line">
            <a:avLst/>
          </a:prstGeom>
          <a:noFill/>
          <a:ln w="12700">
            <a:solidFill>
              <a:srgbClr val="DDD8CC"/>
            </a:solidFill>
            <a:prstDash val="solid"/>
          </a:ln>
        </p:spPr>
        <p:txBody>
          <a:bodyPr/>
          <a:lstStyle/>
          <a:p>
            <a:endParaRPr lang="en-IN"/>
          </a:p>
        </p:txBody>
      </p:sp>
      <p:sp>
        <p:nvSpPr>
          <p:cNvPr id="19" name="Text 15"/>
          <p:cNvSpPr/>
          <p:nvPr/>
        </p:nvSpPr>
        <p:spPr>
          <a:xfrm>
            <a:off x="812800" y="4089400"/>
            <a:ext cx="533704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Not every defect causes a failure</a:t>
            </a:r>
            <a:endParaRPr lang="en-US" sz="1400" dirty="0"/>
          </a:p>
        </p:txBody>
      </p:sp>
      <p:sp>
        <p:nvSpPr>
          <p:cNvPr id="20" name="Text 16"/>
          <p:cNvSpPr/>
          <p:nvPr/>
        </p:nvSpPr>
        <p:spPr>
          <a:xfrm>
            <a:off x="812800" y="4371355"/>
            <a:ext cx="533704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This one only shows at exactly ₹200, which is why boundary values are tested.</a:t>
            </a:r>
            <a:endParaRPr lang="en-US" sz="1200" dirty="0"/>
          </a:p>
        </p:txBody>
      </p:sp>
      <p:sp>
        <p:nvSpPr>
          <p:cNvPr id="21" name="Shape 17"/>
          <p:cNvSpPr/>
          <p:nvPr/>
        </p:nvSpPr>
        <p:spPr>
          <a:xfrm>
            <a:off x="6197600" y="3958605"/>
            <a:ext cx="5181600" cy="0"/>
          </a:xfrm>
          <a:prstGeom prst="line">
            <a:avLst/>
          </a:prstGeom>
          <a:noFill/>
          <a:ln w="12700">
            <a:solidFill>
              <a:srgbClr val="DDD8CC"/>
            </a:solidFill>
            <a:prstDash val="solid"/>
          </a:ln>
        </p:spPr>
        <p:txBody>
          <a:bodyPr/>
          <a:lstStyle/>
          <a:p>
            <a:endParaRPr lang="en-IN"/>
          </a:p>
        </p:txBody>
      </p:sp>
      <p:sp>
        <p:nvSpPr>
          <p:cNvPr id="22" name="Text 18"/>
          <p:cNvSpPr/>
          <p:nvPr/>
        </p:nvSpPr>
        <p:spPr>
          <a:xfrm>
            <a:off x="6197600" y="4089400"/>
            <a:ext cx="533704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Testing finds, debugging fixes</a:t>
            </a:r>
            <a:endParaRPr lang="en-US" sz="1400" dirty="0"/>
          </a:p>
        </p:txBody>
      </p:sp>
      <p:sp>
        <p:nvSpPr>
          <p:cNvPr id="23" name="Text 19"/>
          <p:cNvSpPr/>
          <p:nvPr/>
        </p:nvSpPr>
        <p:spPr>
          <a:xfrm>
            <a:off x="6197600" y="4371355"/>
            <a:ext cx="533704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Testing shows the failure; debugging is finding, analysing and removing its cause.</a:t>
            </a:r>
            <a:endParaRPr lang="en-US" sz="1200" dirty="0"/>
          </a:p>
        </p:txBody>
      </p:sp>
      <p:sp>
        <p:nvSpPr>
          <p:cNvPr id="24" name="Text 20"/>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5" name="Text 21"/>
          <p:cNvSpPr/>
          <p:nvPr/>
        </p:nvSpPr>
        <p:spPr>
          <a:xfrm>
            <a:off x="7412355" y="6238255"/>
            <a:ext cx="40858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Definitions: ISTQB Glossary · rule: free delivery from ₹200</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L4 · TESTING LIFE CYCLE</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The defect life cycle</a:t>
            </a:r>
            <a:endParaRPr lang="en-US" sz="3200" dirty="0"/>
          </a:p>
        </p:txBody>
      </p:sp>
      <p:sp>
        <p:nvSpPr>
          <p:cNvPr id="4" name="Shape 2"/>
          <p:cNvSpPr/>
          <p:nvPr/>
        </p:nvSpPr>
        <p:spPr>
          <a:xfrm>
            <a:off x="815975" y="2212975"/>
            <a:ext cx="1517650" cy="552450"/>
          </a:xfrm>
          <a:prstGeom prst="roundRect">
            <a:avLst>
              <a:gd name="adj" fmla="val 10920"/>
            </a:avLst>
          </a:prstGeom>
          <a:solidFill>
            <a:srgbClr val="FCFBF7"/>
          </a:solidFill>
          <a:ln w="6350">
            <a:solidFill>
              <a:srgbClr val="C9C2B2"/>
            </a:solidFill>
            <a:prstDash val="solid"/>
          </a:ln>
        </p:spPr>
        <p:txBody>
          <a:bodyPr/>
          <a:lstStyle/>
          <a:p>
            <a:endParaRPr lang="en-IN"/>
          </a:p>
        </p:txBody>
      </p:sp>
      <p:sp>
        <p:nvSpPr>
          <p:cNvPr id="5" name="Text 3"/>
          <p:cNvSpPr/>
          <p:nvPr/>
        </p:nvSpPr>
        <p:spPr>
          <a:xfrm>
            <a:off x="1388904" y="2364755"/>
            <a:ext cx="4225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New</a:t>
            </a:r>
            <a:endParaRPr lang="en-US" sz="1400" dirty="0"/>
          </a:p>
        </p:txBody>
      </p:sp>
      <p:sp>
        <p:nvSpPr>
          <p:cNvPr id="6" name="Shape 4"/>
          <p:cNvSpPr/>
          <p:nvPr/>
        </p:nvSpPr>
        <p:spPr>
          <a:xfrm>
            <a:off x="2625725" y="2212975"/>
            <a:ext cx="1517650" cy="552450"/>
          </a:xfrm>
          <a:prstGeom prst="roundRect">
            <a:avLst>
              <a:gd name="adj" fmla="val 10920"/>
            </a:avLst>
          </a:prstGeom>
          <a:solidFill>
            <a:srgbClr val="FCFBF7"/>
          </a:solidFill>
          <a:ln w="6350">
            <a:solidFill>
              <a:srgbClr val="C9C2B2"/>
            </a:solidFill>
            <a:prstDash val="solid"/>
          </a:ln>
        </p:spPr>
        <p:txBody>
          <a:bodyPr/>
          <a:lstStyle/>
          <a:p>
            <a:endParaRPr lang="en-IN"/>
          </a:p>
        </p:txBody>
      </p:sp>
      <p:sp>
        <p:nvSpPr>
          <p:cNvPr id="7" name="Text 5"/>
          <p:cNvSpPr/>
          <p:nvPr/>
        </p:nvSpPr>
        <p:spPr>
          <a:xfrm>
            <a:off x="3008551" y="2364755"/>
            <a:ext cx="80279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Assigned</a:t>
            </a:r>
            <a:endParaRPr lang="en-US" sz="1400" dirty="0"/>
          </a:p>
        </p:txBody>
      </p:sp>
      <p:sp>
        <p:nvSpPr>
          <p:cNvPr id="8" name="Shape 6"/>
          <p:cNvSpPr/>
          <p:nvPr/>
        </p:nvSpPr>
        <p:spPr>
          <a:xfrm>
            <a:off x="4435475" y="2212975"/>
            <a:ext cx="1517650" cy="552450"/>
          </a:xfrm>
          <a:prstGeom prst="roundRect">
            <a:avLst>
              <a:gd name="adj" fmla="val 10920"/>
            </a:avLst>
          </a:prstGeom>
          <a:solidFill>
            <a:srgbClr val="FCFBF7"/>
          </a:solidFill>
          <a:ln w="6350">
            <a:solidFill>
              <a:srgbClr val="C9C2B2"/>
            </a:solidFill>
            <a:prstDash val="solid"/>
          </a:ln>
        </p:spPr>
        <p:txBody>
          <a:bodyPr/>
          <a:lstStyle/>
          <a:p>
            <a:endParaRPr lang="en-IN"/>
          </a:p>
        </p:txBody>
      </p:sp>
      <p:sp>
        <p:nvSpPr>
          <p:cNvPr id="9" name="Text 7"/>
          <p:cNvSpPr/>
          <p:nvPr/>
        </p:nvSpPr>
        <p:spPr>
          <a:xfrm>
            <a:off x="4975781" y="2364755"/>
            <a:ext cx="48783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Open</a:t>
            </a:r>
            <a:endParaRPr lang="en-US" sz="1400" dirty="0"/>
          </a:p>
        </p:txBody>
      </p:sp>
      <p:sp>
        <p:nvSpPr>
          <p:cNvPr id="10" name="Shape 8"/>
          <p:cNvSpPr/>
          <p:nvPr/>
        </p:nvSpPr>
        <p:spPr>
          <a:xfrm>
            <a:off x="6238875" y="2212975"/>
            <a:ext cx="1517650" cy="552450"/>
          </a:xfrm>
          <a:prstGeom prst="roundRect">
            <a:avLst>
              <a:gd name="adj" fmla="val 10920"/>
            </a:avLst>
          </a:prstGeom>
          <a:solidFill>
            <a:srgbClr val="FCFBF7"/>
          </a:solidFill>
          <a:ln w="6350">
            <a:solidFill>
              <a:srgbClr val="C9C2B2"/>
            </a:solidFill>
            <a:prstDash val="solid"/>
          </a:ln>
        </p:spPr>
        <p:txBody>
          <a:bodyPr/>
          <a:lstStyle/>
          <a:p>
            <a:endParaRPr lang="en-IN"/>
          </a:p>
        </p:txBody>
      </p:sp>
      <p:sp>
        <p:nvSpPr>
          <p:cNvPr id="11" name="Text 9"/>
          <p:cNvSpPr/>
          <p:nvPr/>
        </p:nvSpPr>
        <p:spPr>
          <a:xfrm>
            <a:off x="6771958" y="2364755"/>
            <a:ext cx="50228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Fixed</a:t>
            </a:r>
            <a:endParaRPr lang="en-US" sz="1400" dirty="0"/>
          </a:p>
        </p:txBody>
      </p:sp>
      <p:sp>
        <p:nvSpPr>
          <p:cNvPr id="12" name="Shape 10"/>
          <p:cNvSpPr/>
          <p:nvPr/>
        </p:nvSpPr>
        <p:spPr>
          <a:xfrm>
            <a:off x="8048625" y="2212975"/>
            <a:ext cx="1517650" cy="552450"/>
          </a:xfrm>
          <a:prstGeom prst="roundRect">
            <a:avLst>
              <a:gd name="adj" fmla="val 10920"/>
            </a:avLst>
          </a:prstGeom>
          <a:solidFill>
            <a:srgbClr val="FCFBF7"/>
          </a:solidFill>
          <a:ln w="6350">
            <a:solidFill>
              <a:srgbClr val="C9C2B2"/>
            </a:solidFill>
            <a:prstDash val="solid"/>
          </a:ln>
        </p:spPr>
        <p:txBody>
          <a:bodyPr/>
          <a:lstStyle/>
          <a:p>
            <a:endParaRPr lang="en-IN"/>
          </a:p>
        </p:txBody>
      </p:sp>
      <p:sp>
        <p:nvSpPr>
          <p:cNvPr id="13" name="Text 11"/>
          <p:cNvSpPr/>
          <p:nvPr/>
        </p:nvSpPr>
        <p:spPr>
          <a:xfrm>
            <a:off x="8540671" y="2364755"/>
            <a:ext cx="58427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Retest</a:t>
            </a:r>
            <a:endParaRPr lang="en-US" sz="1400" dirty="0"/>
          </a:p>
        </p:txBody>
      </p:sp>
      <p:sp>
        <p:nvSpPr>
          <p:cNvPr id="14" name="Shape 12"/>
          <p:cNvSpPr/>
          <p:nvPr/>
        </p:nvSpPr>
        <p:spPr>
          <a:xfrm>
            <a:off x="9855200" y="2209800"/>
            <a:ext cx="1524000" cy="558800"/>
          </a:xfrm>
          <a:prstGeom prst="roundRect">
            <a:avLst>
              <a:gd name="adj" fmla="val 11364"/>
            </a:avLst>
          </a:prstGeom>
          <a:solidFill>
            <a:srgbClr val="13233A"/>
          </a:solidFill>
          <a:ln/>
        </p:spPr>
        <p:txBody>
          <a:bodyPr/>
          <a:lstStyle/>
          <a:p>
            <a:endParaRPr lang="en-IN"/>
          </a:p>
        </p:txBody>
      </p:sp>
      <p:sp>
        <p:nvSpPr>
          <p:cNvPr id="15" name="Text 13"/>
          <p:cNvSpPr/>
          <p:nvPr/>
        </p:nvSpPr>
        <p:spPr>
          <a:xfrm>
            <a:off x="10336609" y="2364755"/>
            <a:ext cx="61198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Closed</a:t>
            </a:r>
            <a:endParaRPr lang="en-US" sz="1400" dirty="0"/>
          </a:p>
        </p:txBody>
      </p:sp>
      <p:sp>
        <p:nvSpPr>
          <p:cNvPr id="16" name="Shape 14"/>
          <p:cNvSpPr/>
          <p:nvPr/>
        </p:nvSpPr>
        <p:spPr>
          <a:xfrm>
            <a:off x="812800" y="3924300"/>
            <a:ext cx="1524000" cy="558800"/>
          </a:xfrm>
          <a:prstGeom prst="roundRect">
            <a:avLst>
              <a:gd name="adj" fmla="val 11364"/>
            </a:avLst>
          </a:prstGeom>
          <a:solidFill>
            <a:srgbClr val="ECE8DE"/>
          </a:solidFill>
          <a:ln/>
        </p:spPr>
        <p:txBody>
          <a:bodyPr/>
          <a:lstStyle/>
          <a:p>
            <a:endParaRPr lang="en-IN"/>
          </a:p>
        </p:txBody>
      </p:sp>
      <p:sp>
        <p:nvSpPr>
          <p:cNvPr id="17" name="Text 15"/>
          <p:cNvSpPr/>
          <p:nvPr/>
        </p:nvSpPr>
        <p:spPr>
          <a:xfrm>
            <a:off x="797878" y="4104655"/>
            <a:ext cx="1553766" cy="223520"/>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3233A"/>
                </a:solidFill>
                <a:latin typeface="IBM Plex Sans" pitchFamily="34" charset="0"/>
                <a:ea typeface="IBM Plex Sans" pitchFamily="34" charset="-122"/>
                <a:cs typeface="IBM Plex Sans" pitchFamily="34" charset="-120"/>
              </a:rPr>
              <a:t>Rejected or duplicate</a:t>
            </a:r>
            <a:endParaRPr lang="en-US" sz="1200" dirty="0"/>
          </a:p>
        </p:txBody>
      </p:sp>
      <p:sp>
        <p:nvSpPr>
          <p:cNvPr id="18" name="Shape 16"/>
          <p:cNvSpPr/>
          <p:nvPr/>
        </p:nvSpPr>
        <p:spPr>
          <a:xfrm>
            <a:off x="2622550" y="3924300"/>
            <a:ext cx="1524000" cy="558800"/>
          </a:xfrm>
          <a:prstGeom prst="roundRect">
            <a:avLst>
              <a:gd name="adj" fmla="val 11364"/>
            </a:avLst>
          </a:prstGeom>
          <a:solidFill>
            <a:srgbClr val="ECE8DE"/>
          </a:solidFill>
          <a:ln/>
        </p:spPr>
        <p:txBody>
          <a:bodyPr/>
          <a:lstStyle/>
          <a:p>
            <a:endParaRPr lang="en-IN"/>
          </a:p>
        </p:txBody>
      </p:sp>
      <p:sp>
        <p:nvSpPr>
          <p:cNvPr id="19" name="Text 17"/>
          <p:cNvSpPr/>
          <p:nvPr/>
        </p:nvSpPr>
        <p:spPr>
          <a:xfrm>
            <a:off x="3020933" y="4079255"/>
            <a:ext cx="77803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Deferred</a:t>
            </a:r>
            <a:endParaRPr lang="en-US" sz="1400" dirty="0"/>
          </a:p>
        </p:txBody>
      </p:sp>
      <p:sp>
        <p:nvSpPr>
          <p:cNvPr id="20" name="Shape 18"/>
          <p:cNvSpPr/>
          <p:nvPr/>
        </p:nvSpPr>
        <p:spPr>
          <a:xfrm>
            <a:off x="8048625" y="3927475"/>
            <a:ext cx="1517650" cy="552450"/>
          </a:xfrm>
          <a:prstGeom prst="roundRect">
            <a:avLst>
              <a:gd name="adj" fmla="val 10920"/>
            </a:avLst>
          </a:prstGeom>
          <a:solidFill>
            <a:srgbClr val="F7E3D5"/>
          </a:solidFill>
          <a:ln w="6350">
            <a:solidFill>
              <a:srgbClr val="E9C3A8"/>
            </a:solidFill>
            <a:prstDash val="solid"/>
          </a:ln>
        </p:spPr>
        <p:txBody>
          <a:bodyPr/>
          <a:lstStyle/>
          <a:p>
            <a:endParaRPr lang="en-IN"/>
          </a:p>
        </p:txBody>
      </p:sp>
      <p:sp>
        <p:nvSpPr>
          <p:cNvPr id="21" name="Text 19"/>
          <p:cNvSpPr/>
          <p:nvPr/>
        </p:nvSpPr>
        <p:spPr>
          <a:xfrm>
            <a:off x="8391922" y="4079255"/>
            <a:ext cx="88185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Reopened</a:t>
            </a:r>
            <a:endParaRPr lang="en-US" sz="1400" dirty="0"/>
          </a:p>
        </p:txBody>
      </p:sp>
      <p:pic>
        <p:nvPicPr>
          <p:cNvPr id="22" name="Image 0" descr="connector"/>
          <p:cNvPicPr>
            <a:picLocks noChangeAspect="1"/>
          </p:cNvPicPr>
          <p:nvPr/>
        </p:nvPicPr>
        <p:blipFill>
          <a:blip r:embed="rId3"/>
          <a:srcRect/>
          <a:stretch/>
        </p:blipFill>
        <p:spPr>
          <a:xfrm>
            <a:off x="2286000" y="2438400"/>
            <a:ext cx="387350" cy="101600"/>
          </a:xfrm>
          <a:prstGeom prst="rect">
            <a:avLst/>
          </a:prstGeom>
        </p:spPr>
      </p:pic>
      <p:pic>
        <p:nvPicPr>
          <p:cNvPr id="23" name="Image 1" descr="connector"/>
          <p:cNvPicPr>
            <a:picLocks noChangeAspect="1"/>
          </p:cNvPicPr>
          <p:nvPr/>
        </p:nvPicPr>
        <p:blipFill>
          <a:blip r:embed="rId3"/>
          <a:srcRect/>
          <a:stretch/>
        </p:blipFill>
        <p:spPr>
          <a:xfrm>
            <a:off x="4095750" y="2438400"/>
            <a:ext cx="387350" cy="101600"/>
          </a:xfrm>
          <a:prstGeom prst="rect">
            <a:avLst/>
          </a:prstGeom>
        </p:spPr>
      </p:pic>
      <p:pic>
        <p:nvPicPr>
          <p:cNvPr id="24" name="Image 2" descr="connector"/>
          <p:cNvPicPr>
            <a:picLocks noChangeAspect="1"/>
          </p:cNvPicPr>
          <p:nvPr/>
        </p:nvPicPr>
        <p:blipFill>
          <a:blip r:embed="rId4"/>
          <a:srcRect/>
          <a:stretch/>
        </p:blipFill>
        <p:spPr>
          <a:xfrm>
            <a:off x="5905500" y="2438400"/>
            <a:ext cx="381000" cy="101600"/>
          </a:xfrm>
          <a:prstGeom prst="rect">
            <a:avLst/>
          </a:prstGeom>
        </p:spPr>
      </p:pic>
      <p:pic>
        <p:nvPicPr>
          <p:cNvPr id="25" name="Image 3" descr="connector"/>
          <p:cNvPicPr>
            <a:picLocks noChangeAspect="1"/>
          </p:cNvPicPr>
          <p:nvPr/>
        </p:nvPicPr>
        <p:blipFill>
          <a:blip r:embed="rId3"/>
          <a:srcRect/>
          <a:stretch/>
        </p:blipFill>
        <p:spPr>
          <a:xfrm>
            <a:off x="7708900" y="2438400"/>
            <a:ext cx="387350" cy="101600"/>
          </a:xfrm>
          <a:prstGeom prst="rect">
            <a:avLst/>
          </a:prstGeom>
        </p:spPr>
      </p:pic>
      <p:pic>
        <p:nvPicPr>
          <p:cNvPr id="26" name="Image 4" descr="connector"/>
          <p:cNvPicPr>
            <a:picLocks noChangeAspect="1"/>
          </p:cNvPicPr>
          <p:nvPr/>
        </p:nvPicPr>
        <p:blipFill>
          <a:blip r:embed="rId3"/>
          <a:srcRect/>
          <a:stretch/>
        </p:blipFill>
        <p:spPr>
          <a:xfrm>
            <a:off x="9518650" y="2438400"/>
            <a:ext cx="387350" cy="101600"/>
          </a:xfrm>
          <a:prstGeom prst="rect">
            <a:avLst/>
          </a:prstGeom>
        </p:spPr>
      </p:pic>
      <p:pic>
        <p:nvPicPr>
          <p:cNvPr id="27" name="Image 5" descr="connector"/>
          <p:cNvPicPr>
            <a:picLocks noChangeAspect="1"/>
          </p:cNvPicPr>
          <p:nvPr/>
        </p:nvPicPr>
        <p:blipFill>
          <a:blip r:embed="rId5"/>
          <a:srcRect/>
          <a:stretch/>
        </p:blipFill>
        <p:spPr>
          <a:xfrm>
            <a:off x="1524000" y="2717800"/>
            <a:ext cx="101600" cy="1257300"/>
          </a:xfrm>
          <a:prstGeom prst="rect">
            <a:avLst/>
          </a:prstGeom>
        </p:spPr>
      </p:pic>
      <p:pic>
        <p:nvPicPr>
          <p:cNvPr id="28" name="Image 6" descr="connector"/>
          <p:cNvPicPr>
            <a:picLocks noChangeAspect="1"/>
          </p:cNvPicPr>
          <p:nvPr/>
        </p:nvPicPr>
        <p:blipFill>
          <a:blip r:embed="rId5"/>
          <a:srcRect/>
          <a:stretch/>
        </p:blipFill>
        <p:spPr>
          <a:xfrm>
            <a:off x="3333750" y="2717800"/>
            <a:ext cx="101600" cy="1257300"/>
          </a:xfrm>
          <a:prstGeom prst="rect">
            <a:avLst/>
          </a:prstGeom>
        </p:spPr>
      </p:pic>
      <p:pic>
        <p:nvPicPr>
          <p:cNvPr id="29" name="Image 7" descr="connector"/>
          <p:cNvPicPr>
            <a:picLocks noChangeAspect="1"/>
          </p:cNvPicPr>
          <p:nvPr/>
        </p:nvPicPr>
        <p:blipFill>
          <a:blip r:embed="rId6"/>
          <a:srcRect/>
          <a:stretch/>
        </p:blipFill>
        <p:spPr>
          <a:xfrm>
            <a:off x="8756650" y="2717800"/>
            <a:ext cx="101600" cy="1257300"/>
          </a:xfrm>
          <a:prstGeom prst="rect">
            <a:avLst/>
          </a:prstGeom>
        </p:spPr>
      </p:pic>
      <p:pic>
        <p:nvPicPr>
          <p:cNvPr id="30" name="Image 8" descr="connector"/>
          <p:cNvPicPr>
            <a:picLocks noChangeAspect="1"/>
          </p:cNvPicPr>
          <p:nvPr/>
        </p:nvPicPr>
        <p:blipFill>
          <a:blip r:embed="rId7"/>
          <a:srcRect/>
          <a:stretch/>
        </p:blipFill>
        <p:spPr>
          <a:xfrm>
            <a:off x="5143500" y="2717800"/>
            <a:ext cx="2952750" cy="1536700"/>
          </a:xfrm>
          <a:prstGeom prst="rect">
            <a:avLst/>
          </a:prstGeom>
        </p:spPr>
      </p:pic>
      <p:sp>
        <p:nvSpPr>
          <p:cNvPr id="31" name="Text 20"/>
          <p:cNvSpPr/>
          <p:nvPr/>
        </p:nvSpPr>
        <p:spPr>
          <a:xfrm>
            <a:off x="1676400" y="3130550"/>
            <a:ext cx="16383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not valid, or already reported</a:t>
            </a:r>
            <a:endParaRPr lang="en-US" sz="1200" dirty="0"/>
          </a:p>
        </p:txBody>
      </p:sp>
      <p:sp>
        <p:nvSpPr>
          <p:cNvPr id="32" name="Text 21"/>
          <p:cNvSpPr/>
          <p:nvPr/>
        </p:nvSpPr>
        <p:spPr>
          <a:xfrm>
            <a:off x="3486150" y="3238500"/>
            <a:ext cx="1574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fix postponed</a:t>
            </a:r>
            <a:endParaRPr lang="en-US" sz="1200" dirty="0"/>
          </a:p>
        </p:txBody>
      </p:sp>
      <p:sp>
        <p:nvSpPr>
          <p:cNvPr id="33" name="Text 22"/>
          <p:cNvSpPr/>
          <p:nvPr/>
        </p:nvSpPr>
        <p:spPr>
          <a:xfrm>
            <a:off x="8909050" y="3238500"/>
            <a:ext cx="1574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481A"/>
                </a:solidFill>
                <a:latin typeface="IBM Plex Sans" pitchFamily="34" charset="0"/>
                <a:ea typeface="IBM Plex Sans" pitchFamily="34" charset="-122"/>
                <a:cs typeface="IBM Plex Sans" pitchFamily="34" charset="-120"/>
              </a:rPr>
              <a:t>retest fails</a:t>
            </a:r>
            <a:endParaRPr lang="en-US" sz="1200" dirty="0"/>
          </a:p>
        </p:txBody>
      </p:sp>
      <p:sp>
        <p:nvSpPr>
          <p:cNvPr id="34" name="Text 23"/>
          <p:cNvSpPr/>
          <p:nvPr/>
        </p:nvSpPr>
        <p:spPr>
          <a:xfrm>
            <a:off x="5638800" y="4305300"/>
            <a:ext cx="22237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481A"/>
                </a:solidFill>
                <a:latin typeface="IBM Plex Sans" pitchFamily="34" charset="0"/>
                <a:ea typeface="IBM Plex Sans" pitchFamily="34" charset="-122"/>
                <a:cs typeface="IBM Plex Sans" pitchFamily="34" charset="-120"/>
              </a:rPr>
              <a:t>back to the developer</a:t>
            </a:r>
            <a:endParaRPr lang="en-US" sz="1200" dirty="0"/>
          </a:p>
        </p:txBody>
      </p:sp>
      <p:sp>
        <p:nvSpPr>
          <p:cNvPr id="35" name="Text 24"/>
          <p:cNvSpPr/>
          <p:nvPr/>
        </p:nvSpPr>
        <p:spPr>
          <a:xfrm>
            <a:off x="812800" y="48133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Tester:</a:t>
            </a:r>
            <a:r>
              <a:rPr lang="en-US" sz="1200" dirty="0">
                <a:solidFill>
                  <a:srgbClr val="13233A"/>
                </a:solidFill>
                <a:latin typeface="IBM Plex Sans" pitchFamily="34" charset="0"/>
                <a:ea typeface="IBM Plex Sans" pitchFamily="34" charset="-122"/>
                <a:cs typeface="IBM Plex Sans" pitchFamily="34" charset="-120"/>
              </a:rPr>
              <a:t> raises New, runs Retest, closes or reopens · </a:t>
            </a:r>
            <a:r>
              <a:rPr lang="en-US" sz="1200" b="1" dirty="0">
                <a:solidFill>
                  <a:srgbClr val="13233A"/>
                </a:solidFill>
                <a:latin typeface="IBM Plex Sans" pitchFamily="34" charset="0"/>
                <a:ea typeface="IBM Plex Sans" pitchFamily="34" charset="-122"/>
                <a:cs typeface="IBM Plex Sans" pitchFamily="34" charset="-120"/>
              </a:rPr>
              <a:t>Lead:</a:t>
            </a:r>
            <a:r>
              <a:rPr lang="en-US" sz="1200" dirty="0">
                <a:solidFill>
                  <a:srgbClr val="13233A"/>
                </a:solidFill>
                <a:latin typeface="IBM Plex Sans" pitchFamily="34" charset="0"/>
                <a:ea typeface="IBM Plex Sans" pitchFamily="34" charset="-122"/>
                <a:cs typeface="IBM Plex Sans" pitchFamily="34" charset="-120"/>
              </a:rPr>
              <a:t> assigns, rejects or defers · </a:t>
            </a:r>
            <a:r>
              <a:rPr lang="en-US" sz="1200" b="1" dirty="0">
                <a:solidFill>
                  <a:srgbClr val="13233A"/>
                </a:solidFill>
                <a:latin typeface="IBM Plex Sans" pitchFamily="34" charset="0"/>
                <a:ea typeface="IBM Plex Sans" pitchFamily="34" charset="-122"/>
                <a:cs typeface="IBM Plex Sans" pitchFamily="34" charset="-120"/>
              </a:rPr>
              <a:t>Developer:</a:t>
            </a:r>
            <a:r>
              <a:rPr lang="en-US" sz="1200" dirty="0">
                <a:solidFill>
                  <a:srgbClr val="13233A"/>
                </a:solidFill>
                <a:latin typeface="IBM Plex Sans" pitchFamily="34" charset="0"/>
                <a:ea typeface="IBM Plex Sans" pitchFamily="34" charset="-122"/>
                <a:cs typeface="IBM Plex Sans" pitchFamily="34" charset="-120"/>
              </a:rPr>
              <a:t> opens, fixes</a:t>
            </a:r>
            <a:endParaRPr lang="en-US" sz="1200" dirty="0"/>
          </a:p>
        </p:txBody>
      </p:sp>
      <p:sp>
        <p:nvSpPr>
          <p:cNvPr id="36" name="Text 25"/>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37" name="Text 26"/>
          <p:cNvSpPr/>
          <p:nvPr/>
        </p:nvSpPr>
        <p:spPr>
          <a:xfrm>
            <a:off x="6203791" y="6238255"/>
            <a:ext cx="533067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State names vary by tool (Jira, Azure DevOps, Bugzilla); the flow is the same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L4 · TESTING LIFE CYCLE</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Writing a defect report</a:t>
            </a:r>
            <a:endParaRPr lang="en-US" sz="3200" dirty="0"/>
          </a:p>
        </p:txBody>
      </p:sp>
      <p:sp>
        <p:nvSpPr>
          <p:cNvPr id="4" name="Text 2"/>
          <p:cNvSpPr/>
          <p:nvPr/>
        </p:nvSpPr>
        <p:spPr>
          <a:xfrm>
            <a:off x="812800" y="1828800"/>
            <a:ext cx="60172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ISTQB: “Documentation of the occurrence, nature, and status of a defect.”</a:t>
            </a:r>
            <a:endParaRPr lang="en-US" sz="1200" dirty="0"/>
          </a:p>
        </p:txBody>
      </p:sp>
      <p:sp>
        <p:nvSpPr>
          <p:cNvPr id="5" name="Shape 3"/>
          <p:cNvSpPr/>
          <p:nvPr/>
        </p:nvSpPr>
        <p:spPr>
          <a:xfrm>
            <a:off x="6651625" y="2118370"/>
            <a:ext cx="0" cy="2656840"/>
          </a:xfrm>
          <a:prstGeom prst="line">
            <a:avLst/>
          </a:prstGeom>
          <a:noFill/>
          <a:ln w="6350">
            <a:solidFill>
              <a:srgbClr val="DDD8CC"/>
            </a:solidFill>
            <a:prstDash val="solid"/>
          </a:ln>
        </p:spPr>
        <p:txBody>
          <a:bodyPr/>
          <a:lstStyle/>
          <a:p>
            <a:endParaRPr lang="en-IN"/>
          </a:p>
        </p:txBody>
      </p:sp>
      <p:sp>
        <p:nvSpPr>
          <p:cNvPr id="6" name="Shape 4"/>
          <p:cNvSpPr/>
          <p:nvPr/>
        </p:nvSpPr>
        <p:spPr>
          <a:xfrm>
            <a:off x="812800" y="4772035"/>
            <a:ext cx="5842000" cy="0"/>
          </a:xfrm>
          <a:prstGeom prst="line">
            <a:avLst/>
          </a:prstGeom>
          <a:noFill/>
          <a:ln w="6350">
            <a:solidFill>
              <a:srgbClr val="DDD8CC"/>
            </a:solidFill>
            <a:prstDash val="solid"/>
          </a:ln>
        </p:spPr>
        <p:txBody>
          <a:bodyPr/>
          <a:lstStyle/>
          <a:p>
            <a:endParaRPr lang="en-IN"/>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128530"/>
          <a:ext cx="5826760" cy="2641600"/>
        </p:xfrm>
        <a:graphic>
          <a:graphicData uri="http://schemas.openxmlformats.org/drawingml/2006/table">
            <a:tbl>
              <a:tblPr/>
              <a:tblGrid>
                <a:gridCol w="1514958">
                  <a:extLst>
                    <a:ext uri="{9D8B030D-6E8A-4147-A177-3AD203B41FA5}">
                      <a16:colId xmlns:a16="http://schemas.microsoft.com/office/drawing/2014/main" val="20000"/>
                    </a:ext>
                  </a:extLst>
                </a:gridCol>
                <a:gridCol w="4311802">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dirty="0">
                          <a:solidFill>
                            <a:srgbClr val="5E6977"/>
                          </a:solidFill>
                          <a:latin typeface="IBM Plex Sans" pitchFamily="34" charset="0"/>
                          <a:ea typeface="IBM Plex Sans" pitchFamily="34" charset="-122"/>
                          <a:cs typeface="IBM Plex Sans" pitchFamily="34" charset="-120"/>
                        </a:rPr>
                        <a:t>ID and title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DEF-12 · SAVE20 discount is not capped at ₹100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5E6977"/>
                          </a:solidFill>
                          <a:latin typeface="IBM Plex Sans" pitchFamily="34" charset="0"/>
                          <a:ea typeface="IBM Plex Sans" pitchFamily="34" charset="-122"/>
                          <a:cs typeface="IBM Plex Sans" pitchFamily="34" charset="-120"/>
                        </a:rPr>
                        <a:t>Environment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Staging, build 1.4.2, Chrome on Android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5E6977"/>
                          </a:solidFill>
                          <a:latin typeface="IBM Plex Sans" pitchFamily="34" charset="0"/>
                          <a:ea typeface="IBM Plex Sans" pitchFamily="34" charset="-122"/>
                          <a:cs typeface="IBM Plex Sans" pitchFamily="34" charset="-120"/>
                        </a:rPr>
                        <a:t>Steps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1 Log in as S101 · 2 Add items worth ₹800 · 3 Apply SAVE20</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5E6977"/>
                          </a:solidFill>
                          <a:latin typeface="IBM Plex Sans" pitchFamily="34" charset="0"/>
                          <a:ea typeface="IBM Plex Sans" pitchFamily="34" charset="-122"/>
                          <a:cs typeface="IBM Plex Sans" pitchFamily="34" charset="-120"/>
                        </a:rPr>
                        <a:t>Expected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Discount ₹100; amount payable ₹700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5E6977"/>
                          </a:solidFill>
                          <a:latin typeface="IBM Plex Sans" pitchFamily="34" charset="0"/>
                          <a:ea typeface="IBM Plex Sans" pitchFamily="34" charset="-122"/>
                          <a:cs typeface="IBM Plex Sans" pitchFamily="34" charset="-120"/>
                        </a:rPr>
                        <a:t>Actual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Discount ₹160; amount payable ₹640</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5E6977"/>
                          </a:solidFill>
                          <a:latin typeface="IBM Plex Sans" pitchFamily="34" charset="0"/>
                          <a:ea typeface="IBM Plex Sans" pitchFamily="34" charset="-122"/>
                          <a:cs typeface="IBM Plex Sans" pitchFamily="34" charset="-120"/>
                        </a:rPr>
                        <a:t>Severity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High: money is calculated wrongly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5E6977"/>
                          </a:solidFill>
                          <a:latin typeface="IBM Plex Sans" pitchFamily="34" charset="0"/>
                          <a:ea typeface="IBM Plex Sans" pitchFamily="34" charset="-122"/>
                          <a:cs typeface="IBM Plex Sans" pitchFamily="34" charset="-120"/>
                        </a:rPr>
                        <a:t>Priority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High: fix before the next release</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5E6977"/>
                          </a:solidFill>
                          <a:latin typeface="IBM Plex Sans" pitchFamily="34" charset="0"/>
                          <a:ea typeface="IBM Plex Sans" pitchFamily="34" charset="-122"/>
                          <a:cs typeface="IBM Plex Sans" pitchFamily="34" charset="-120"/>
                        </a:rPr>
                        <a:t>Attachments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Screenshot, API response log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7"/>
                  </a:ext>
                </a:extLst>
              </a:tr>
            </a:tbl>
          </a:graphicData>
        </a:graphic>
      </p:graphicFrame>
      <p:sp>
        <p:nvSpPr>
          <p:cNvPr id="8" name="Text 5"/>
          <p:cNvSpPr/>
          <p:nvPr/>
        </p:nvSpPr>
        <p:spPr>
          <a:xfrm>
            <a:off x="6959600" y="1828800"/>
            <a:ext cx="455218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Severity</a:t>
            </a:r>
            <a:r>
              <a:rPr lang="en-US" sz="1200" dirty="0">
                <a:solidFill>
                  <a:srgbClr val="13233A"/>
                </a:solidFill>
                <a:latin typeface="IBM Plex Sans" pitchFamily="34" charset="0"/>
                <a:ea typeface="IBM Plex Sans" pitchFamily="34" charset="-122"/>
                <a:cs typeface="IBM Plex Sans" pitchFamily="34" charset="-120"/>
              </a:rPr>
              <a:t> = impact on the system · </a:t>
            </a:r>
            <a:r>
              <a:rPr lang="en-US" sz="1200" b="1" dirty="0">
                <a:solidFill>
                  <a:srgbClr val="13233A"/>
                </a:solidFill>
                <a:latin typeface="IBM Plex Sans" pitchFamily="34" charset="0"/>
                <a:ea typeface="IBM Plex Sans" pitchFamily="34" charset="-122"/>
                <a:cs typeface="IBM Plex Sans" pitchFamily="34" charset="-120"/>
              </a:rPr>
              <a:t>Priority</a:t>
            </a:r>
            <a:r>
              <a:rPr lang="en-US" sz="1200" dirty="0">
                <a:solidFill>
                  <a:srgbClr val="13233A"/>
                </a:solidFill>
                <a:latin typeface="IBM Plex Sans" pitchFamily="34" charset="0"/>
                <a:ea typeface="IBM Plex Sans" pitchFamily="34" charset="-122"/>
                <a:cs typeface="IBM Plex Sans" pitchFamily="34" charset="-120"/>
              </a:rPr>
              <a:t> = urgency of the fix</a:t>
            </a:r>
            <a:endParaRPr lang="en-US" sz="1200" dirty="0"/>
          </a:p>
        </p:txBody>
      </p:sp>
      <p:sp>
        <p:nvSpPr>
          <p:cNvPr id="9" name="Shape 6"/>
          <p:cNvSpPr/>
          <p:nvPr/>
        </p:nvSpPr>
        <p:spPr>
          <a:xfrm>
            <a:off x="6959600" y="2118370"/>
            <a:ext cx="2159000" cy="942340"/>
          </a:xfrm>
          <a:prstGeom prst="roundRect">
            <a:avLst>
              <a:gd name="adj" fmla="val 8086"/>
            </a:avLst>
          </a:prstGeom>
          <a:solidFill>
            <a:srgbClr val="F7E3D5"/>
          </a:solidFill>
          <a:ln/>
        </p:spPr>
        <p:txBody>
          <a:bodyPr/>
          <a:lstStyle/>
          <a:p>
            <a:endParaRPr lang="en-IN"/>
          </a:p>
        </p:txBody>
      </p:sp>
      <p:sp>
        <p:nvSpPr>
          <p:cNvPr id="10" name="Text 7"/>
          <p:cNvSpPr/>
          <p:nvPr/>
        </p:nvSpPr>
        <p:spPr>
          <a:xfrm>
            <a:off x="7112000" y="2245370"/>
            <a:ext cx="190982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HIGH · HIGH</a:t>
            </a:r>
            <a:endParaRPr lang="en-US" sz="1200" dirty="0"/>
          </a:p>
        </p:txBody>
      </p:sp>
      <p:sp>
        <p:nvSpPr>
          <p:cNvPr id="11" name="Text 8"/>
          <p:cNvSpPr/>
          <p:nvPr/>
        </p:nvSpPr>
        <p:spPr>
          <a:xfrm>
            <a:off x="7112000" y="2496815"/>
            <a:ext cx="190982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Wallet charged, but no order created</a:t>
            </a:r>
            <a:endParaRPr lang="en-US" sz="1200" dirty="0"/>
          </a:p>
        </p:txBody>
      </p:sp>
      <p:sp>
        <p:nvSpPr>
          <p:cNvPr id="12" name="Shape 9"/>
          <p:cNvSpPr/>
          <p:nvPr/>
        </p:nvSpPr>
        <p:spPr>
          <a:xfrm>
            <a:off x="9223375" y="2121545"/>
            <a:ext cx="2152650" cy="935990"/>
          </a:xfrm>
          <a:prstGeom prst="roundRect">
            <a:avLst>
              <a:gd name="adj" fmla="val 7802"/>
            </a:avLst>
          </a:prstGeom>
          <a:solidFill>
            <a:srgbClr val="FCFBF7"/>
          </a:solidFill>
          <a:ln w="6350">
            <a:solidFill>
              <a:srgbClr val="DDD8CC"/>
            </a:solidFill>
            <a:prstDash val="solid"/>
          </a:ln>
        </p:spPr>
        <p:txBody>
          <a:bodyPr/>
          <a:lstStyle/>
          <a:p>
            <a:endParaRPr lang="en-IN"/>
          </a:p>
        </p:txBody>
      </p:sp>
      <p:sp>
        <p:nvSpPr>
          <p:cNvPr id="13" name="Text 10"/>
          <p:cNvSpPr/>
          <p:nvPr/>
        </p:nvSpPr>
        <p:spPr>
          <a:xfrm>
            <a:off x="9377680" y="2250455"/>
            <a:ext cx="189936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HIGH · LOW</a:t>
            </a:r>
            <a:endParaRPr lang="en-US" sz="1200" dirty="0"/>
          </a:p>
        </p:txBody>
      </p:sp>
      <p:sp>
        <p:nvSpPr>
          <p:cNvPr id="14" name="Text 11"/>
          <p:cNvSpPr/>
          <p:nvPr/>
        </p:nvSpPr>
        <p:spPr>
          <a:xfrm>
            <a:off x="9377680" y="2501900"/>
            <a:ext cx="189936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Crash in a rarely used admin export</a:t>
            </a:r>
            <a:endParaRPr lang="en-US" sz="1200" dirty="0"/>
          </a:p>
        </p:txBody>
      </p:sp>
      <p:sp>
        <p:nvSpPr>
          <p:cNvPr id="15" name="Shape 12"/>
          <p:cNvSpPr/>
          <p:nvPr/>
        </p:nvSpPr>
        <p:spPr>
          <a:xfrm>
            <a:off x="6962775" y="3165475"/>
            <a:ext cx="2152650" cy="935990"/>
          </a:xfrm>
          <a:prstGeom prst="roundRect">
            <a:avLst>
              <a:gd name="adj" fmla="val 7802"/>
            </a:avLst>
          </a:prstGeom>
          <a:solidFill>
            <a:srgbClr val="FCFBF7"/>
          </a:solidFill>
          <a:ln w="6350">
            <a:solidFill>
              <a:srgbClr val="DDD8CC"/>
            </a:solidFill>
            <a:prstDash val="solid"/>
          </a:ln>
        </p:spPr>
        <p:txBody>
          <a:bodyPr/>
          <a:lstStyle/>
          <a:p>
            <a:endParaRPr lang="en-IN"/>
          </a:p>
        </p:txBody>
      </p:sp>
      <p:sp>
        <p:nvSpPr>
          <p:cNvPr id="16" name="Text 13"/>
          <p:cNvSpPr/>
          <p:nvPr/>
        </p:nvSpPr>
        <p:spPr>
          <a:xfrm>
            <a:off x="7117080" y="3294385"/>
            <a:ext cx="189936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LOW · HIGH</a:t>
            </a:r>
            <a:endParaRPr lang="en-US" sz="1200" dirty="0"/>
          </a:p>
        </p:txBody>
      </p:sp>
      <p:sp>
        <p:nvSpPr>
          <p:cNvPr id="17" name="Text 14"/>
          <p:cNvSpPr/>
          <p:nvPr/>
        </p:nvSpPr>
        <p:spPr>
          <a:xfrm>
            <a:off x="7117080" y="3545855"/>
            <a:ext cx="189936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Canteen name misspelt on the home screen</a:t>
            </a:r>
            <a:endParaRPr lang="en-US" sz="1200" dirty="0"/>
          </a:p>
        </p:txBody>
      </p:sp>
      <p:sp>
        <p:nvSpPr>
          <p:cNvPr id="18" name="Shape 15"/>
          <p:cNvSpPr/>
          <p:nvPr/>
        </p:nvSpPr>
        <p:spPr>
          <a:xfrm>
            <a:off x="9223375" y="3165475"/>
            <a:ext cx="2152650" cy="935990"/>
          </a:xfrm>
          <a:prstGeom prst="roundRect">
            <a:avLst>
              <a:gd name="adj" fmla="val 7802"/>
            </a:avLst>
          </a:prstGeom>
          <a:solidFill>
            <a:srgbClr val="FCFBF7"/>
          </a:solidFill>
          <a:ln w="6350">
            <a:solidFill>
              <a:srgbClr val="DDD8CC"/>
            </a:solidFill>
            <a:prstDash val="solid"/>
          </a:ln>
        </p:spPr>
        <p:txBody>
          <a:bodyPr/>
          <a:lstStyle/>
          <a:p>
            <a:endParaRPr lang="en-IN"/>
          </a:p>
        </p:txBody>
      </p:sp>
      <p:sp>
        <p:nvSpPr>
          <p:cNvPr id="19" name="Text 16"/>
          <p:cNvSpPr/>
          <p:nvPr/>
        </p:nvSpPr>
        <p:spPr>
          <a:xfrm>
            <a:off x="9377680" y="3294385"/>
            <a:ext cx="189936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LOW · LOW</a:t>
            </a:r>
            <a:endParaRPr lang="en-US" sz="1200" dirty="0"/>
          </a:p>
        </p:txBody>
      </p:sp>
      <p:sp>
        <p:nvSpPr>
          <p:cNvPr id="20" name="Text 17"/>
          <p:cNvSpPr/>
          <p:nvPr/>
        </p:nvSpPr>
        <p:spPr>
          <a:xfrm>
            <a:off x="9377680" y="3545855"/>
            <a:ext cx="189936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Icon slightly misaligned in settings</a:t>
            </a:r>
            <a:endParaRPr lang="en-US" sz="1200" dirty="0"/>
          </a:p>
        </p:txBody>
      </p:sp>
      <p:sp>
        <p:nvSpPr>
          <p:cNvPr id="21" name="Text 18"/>
          <p:cNvSpPr/>
          <p:nvPr/>
        </p:nvSpPr>
        <p:spPr>
          <a:xfrm>
            <a:off x="6959600" y="4180855"/>
            <a:ext cx="455218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Labels read severity · priority. Testers usually set severity; the product owner sets priority.</a:t>
            </a:r>
            <a:endParaRPr lang="en-US" sz="1200" dirty="0"/>
          </a:p>
        </p:txBody>
      </p:sp>
      <p:sp>
        <p:nvSpPr>
          <p:cNvPr id="22" name="Text 19"/>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3" name="Text 20"/>
          <p:cNvSpPr/>
          <p:nvPr/>
        </p:nvSpPr>
        <p:spPr>
          <a:xfrm>
            <a:off x="8140065" y="6238255"/>
            <a:ext cx="333630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DEF-12 is found by test case TC-08 in Module 2</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L4 · USABILITY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Usability testing</a:t>
            </a:r>
            <a:endParaRPr lang="en-US" sz="3200" dirty="0"/>
          </a:p>
        </p:txBody>
      </p:sp>
      <p:sp>
        <p:nvSpPr>
          <p:cNvPr id="4" name="Text 2"/>
          <p:cNvSpPr/>
          <p:nvPr/>
        </p:nvSpPr>
        <p:spPr>
          <a:xfrm>
            <a:off x="812800" y="1828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ISO 9241-11:2018 · USABILITY</a:t>
            </a:r>
            <a:endParaRPr lang="en-US" sz="1200" dirty="0"/>
          </a:p>
        </p:txBody>
      </p:sp>
      <p:sp>
        <p:nvSpPr>
          <p:cNvPr id="5" name="Text 3"/>
          <p:cNvSpPr/>
          <p:nvPr/>
        </p:nvSpPr>
        <p:spPr>
          <a:xfrm>
            <a:off x="812800" y="2118370"/>
            <a:ext cx="10883392" cy="52324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13233A"/>
                </a:solidFill>
                <a:latin typeface="IBM Plex Sans" pitchFamily="34" charset="0"/>
                <a:ea typeface="IBM Plex Sans" pitchFamily="34" charset="-122"/>
                <a:cs typeface="IBM Plex Sans" pitchFamily="34" charset="-120"/>
              </a:rPr>
              <a:t>“The extent to which a system, product or service can be used by specified users to achieve specified goals with effectiveness, efficiency and satisfaction in a specified context of use.”</a:t>
            </a:r>
            <a:endParaRPr lang="en-US" sz="1400" dirty="0"/>
          </a:p>
        </p:txBody>
      </p:sp>
      <p:sp>
        <p:nvSpPr>
          <p:cNvPr id="6" name="Shape 4"/>
          <p:cNvSpPr/>
          <p:nvPr/>
        </p:nvSpPr>
        <p:spPr>
          <a:xfrm>
            <a:off x="815975" y="2873375"/>
            <a:ext cx="3414157" cy="1634490"/>
          </a:xfrm>
          <a:prstGeom prst="roundRect">
            <a:avLst>
              <a:gd name="adj" fmla="val 4468"/>
            </a:avLst>
          </a:prstGeom>
          <a:solidFill>
            <a:srgbClr val="FCFBF7"/>
          </a:solidFill>
          <a:ln w="6350">
            <a:solidFill>
              <a:srgbClr val="DDD8CC"/>
            </a:solidFill>
            <a:prstDash val="solid"/>
          </a:ln>
        </p:spPr>
        <p:txBody>
          <a:bodyPr/>
          <a:lstStyle/>
          <a:p>
            <a:endParaRPr lang="en-IN"/>
          </a:p>
        </p:txBody>
      </p:sp>
      <p:sp>
        <p:nvSpPr>
          <p:cNvPr id="7" name="Text 5"/>
          <p:cNvSpPr/>
          <p:nvPr/>
        </p:nvSpPr>
        <p:spPr>
          <a:xfrm>
            <a:off x="1021080" y="3053085"/>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Effectiveness</a:t>
            </a:r>
            <a:endParaRPr lang="en-US" sz="1400" dirty="0"/>
          </a:p>
        </p:txBody>
      </p:sp>
      <p:sp>
        <p:nvSpPr>
          <p:cNvPr id="8" name="Text 6"/>
          <p:cNvSpPr/>
          <p:nvPr/>
        </p:nvSpPr>
        <p:spPr>
          <a:xfrm>
            <a:off x="1021080" y="3347715"/>
            <a:ext cx="3094065" cy="23876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245A9C"/>
                </a:solidFill>
                <a:latin typeface="IBM Plex Sans" pitchFamily="34" charset="0"/>
                <a:ea typeface="IBM Plex Sans" pitchFamily="34" charset="-122"/>
                <a:cs typeface="IBM Plex Sans" pitchFamily="34" charset="-120"/>
              </a:rPr>
              <a:t>Can users complete the task?</a:t>
            </a:r>
            <a:endParaRPr lang="en-US" sz="1200" dirty="0"/>
          </a:p>
        </p:txBody>
      </p:sp>
      <p:sp>
        <p:nvSpPr>
          <p:cNvPr id="9" name="Text 7"/>
          <p:cNvSpPr/>
          <p:nvPr/>
        </p:nvSpPr>
        <p:spPr>
          <a:xfrm>
            <a:off x="1021080" y="3624585"/>
            <a:ext cx="30940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Measure: task success rate, errors made</a:t>
            </a:r>
            <a:endParaRPr lang="en-US" sz="1200" dirty="0"/>
          </a:p>
        </p:txBody>
      </p:sp>
      <p:sp>
        <p:nvSpPr>
          <p:cNvPr id="10" name="Text 8"/>
          <p:cNvSpPr/>
          <p:nvPr/>
        </p:nvSpPr>
        <p:spPr>
          <a:xfrm>
            <a:off x="1021080" y="3901455"/>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 a first-time student order and pay without help?</a:t>
            </a:r>
            <a:endParaRPr lang="en-US" sz="1200" dirty="0"/>
          </a:p>
        </p:txBody>
      </p:sp>
      <p:sp>
        <p:nvSpPr>
          <p:cNvPr id="11" name="Shape 9"/>
          <p:cNvSpPr/>
          <p:nvPr/>
        </p:nvSpPr>
        <p:spPr>
          <a:xfrm>
            <a:off x="4388882" y="2873375"/>
            <a:ext cx="3414157" cy="1634490"/>
          </a:xfrm>
          <a:prstGeom prst="roundRect">
            <a:avLst>
              <a:gd name="adj" fmla="val 4468"/>
            </a:avLst>
          </a:prstGeom>
          <a:solidFill>
            <a:srgbClr val="FCFBF7"/>
          </a:solidFill>
          <a:ln w="6350">
            <a:solidFill>
              <a:srgbClr val="DDD8CC"/>
            </a:solidFill>
            <a:prstDash val="solid"/>
          </a:ln>
        </p:spPr>
        <p:txBody>
          <a:bodyPr/>
          <a:lstStyle/>
          <a:p>
            <a:endParaRPr lang="en-IN"/>
          </a:p>
        </p:txBody>
      </p:sp>
      <p:sp>
        <p:nvSpPr>
          <p:cNvPr id="12" name="Text 10"/>
          <p:cNvSpPr/>
          <p:nvPr/>
        </p:nvSpPr>
        <p:spPr>
          <a:xfrm>
            <a:off x="4593987" y="3053085"/>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Efficiency</a:t>
            </a:r>
            <a:endParaRPr lang="en-US" sz="1400" dirty="0"/>
          </a:p>
        </p:txBody>
      </p:sp>
      <p:sp>
        <p:nvSpPr>
          <p:cNvPr id="13" name="Text 11"/>
          <p:cNvSpPr/>
          <p:nvPr/>
        </p:nvSpPr>
        <p:spPr>
          <a:xfrm>
            <a:off x="4593987" y="3347715"/>
            <a:ext cx="3094065" cy="23876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245A9C"/>
                </a:solidFill>
                <a:latin typeface="IBM Plex Sans" pitchFamily="34" charset="0"/>
                <a:ea typeface="IBM Plex Sans" pitchFamily="34" charset="-122"/>
                <a:cs typeface="IBM Plex Sans" pitchFamily="34" charset="-120"/>
              </a:rPr>
              <a:t>How much effort does it take?</a:t>
            </a:r>
            <a:endParaRPr lang="en-US" sz="1200" dirty="0"/>
          </a:p>
        </p:txBody>
      </p:sp>
      <p:sp>
        <p:nvSpPr>
          <p:cNvPr id="14" name="Text 12"/>
          <p:cNvSpPr/>
          <p:nvPr/>
        </p:nvSpPr>
        <p:spPr>
          <a:xfrm>
            <a:off x="4593987" y="3624585"/>
            <a:ext cx="30940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Measure: time on task, number of steps</a:t>
            </a:r>
            <a:endParaRPr lang="en-US" sz="1200" dirty="0"/>
          </a:p>
        </p:txBody>
      </p:sp>
      <p:sp>
        <p:nvSpPr>
          <p:cNvPr id="15" name="Text 13"/>
          <p:cNvSpPr/>
          <p:nvPr/>
        </p:nvSpPr>
        <p:spPr>
          <a:xfrm>
            <a:off x="4593987" y="3901455"/>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Time from opening the app to the order being placed</a:t>
            </a:r>
            <a:endParaRPr lang="en-US" sz="1200" dirty="0"/>
          </a:p>
        </p:txBody>
      </p:sp>
      <p:sp>
        <p:nvSpPr>
          <p:cNvPr id="16" name="Shape 14"/>
          <p:cNvSpPr/>
          <p:nvPr/>
        </p:nvSpPr>
        <p:spPr>
          <a:xfrm>
            <a:off x="7961789" y="2873375"/>
            <a:ext cx="3414157" cy="1634490"/>
          </a:xfrm>
          <a:prstGeom prst="roundRect">
            <a:avLst>
              <a:gd name="adj" fmla="val 4468"/>
            </a:avLst>
          </a:prstGeom>
          <a:solidFill>
            <a:srgbClr val="FCFBF7"/>
          </a:solidFill>
          <a:ln w="6350">
            <a:solidFill>
              <a:srgbClr val="DDD8CC"/>
            </a:solidFill>
            <a:prstDash val="solid"/>
          </a:ln>
        </p:spPr>
        <p:txBody>
          <a:bodyPr/>
          <a:lstStyle/>
          <a:p>
            <a:endParaRPr lang="en-IN"/>
          </a:p>
        </p:txBody>
      </p:sp>
      <p:sp>
        <p:nvSpPr>
          <p:cNvPr id="17" name="Text 15"/>
          <p:cNvSpPr/>
          <p:nvPr/>
        </p:nvSpPr>
        <p:spPr>
          <a:xfrm>
            <a:off x="8166894" y="3053085"/>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Satisfaction</a:t>
            </a:r>
            <a:endParaRPr lang="en-US" sz="1400" dirty="0"/>
          </a:p>
        </p:txBody>
      </p:sp>
      <p:sp>
        <p:nvSpPr>
          <p:cNvPr id="18" name="Text 16"/>
          <p:cNvSpPr/>
          <p:nvPr/>
        </p:nvSpPr>
        <p:spPr>
          <a:xfrm>
            <a:off x="8166894" y="3347715"/>
            <a:ext cx="3094065" cy="23876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245A9C"/>
                </a:solidFill>
                <a:latin typeface="IBM Plex Sans" pitchFamily="34" charset="0"/>
                <a:ea typeface="IBM Plex Sans" pitchFamily="34" charset="-122"/>
                <a:cs typeface="IBM Plex Sans" pitchFamily="34" charset="-120"/>
              </a:rPr>
              <a:t>How do users feel about it?</a:t>
            </a:r>
            <a:endParaRPr lang="en-US" sz="1200" dirty="0"/>
          </a:p>
        </p:txBody>
      </p:sp>
      <p:sp>
        <p:nvSpPr>
          <p:cNvPr id="19" name="Text 17"/>
          <p:cNvSpPr/>
          <p:nvPr/>
        </p:nvSpPr>
        <p:spPr>
          <a:xfrm>
            <a:off x="8166894" y="3624585"/>
            <a:ext cx="30940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Measure: questionnaires such as SUS</a:t>
            </a:r>
            <a:endParaRPr lang="en-US" sz="1200" dirty="0"/>
          </a:p>
        </p:txBody>
      </p:sp>
      <p:sp>
        <p:nvSpPr>
          <p:cNvPr id="20" name="Text 18"/>
          <p:cNvSpPr/>
          <p:nvPr/>
        </p:nvSpPr>
        <p:spPr>
          <a:xfrm>
            <a:off x="8166894" y="3901455"/>
            <a:ext cx="30940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A short survey straight after the first order</a:t>
            </a:r>
            <a:endParaRPr lang="en-US" sz="1200" dirty="0"/>
          </a:p>
        </p:txBody>
      </p:sp>
      <p:sp>
        <p:nvSpPr>
          <p:cNvPr id="21" name="Text 19"/>
          <p:cNvSpPr/>
          <p:nvPr/>
        </p:nvSpPr>
        <p:spPr>
          <a:xfrm>
            <a:off x="812800" y="4765055"/>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Usability testing watches real users do real tasks. Asking for opinions is not the same thing.</a:t>
            </a:r>
            <a:endParaRPr lang="en-US" sz="1400" dirty="0"/>
          </a:p>
        </p:txBody>
      </p:sp>
      <p:sp>
        <p:nvSpPr>
          <p:cNvPr id="22" name="Text 20"/>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3" name="Text 21"/>
          <p:cNvSpPr/>
          <p:nvPr/>
        </p:nvSpPr>
        <p:spPr>
          <a:xfrm>
            <a:off x="6643767" y="6238255"/>
            <a:ext cx="48774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SUS: System Usability Scale, a 10-item questionnaire scored 0 to 100</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L4 · USABILITY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Running a usability test</a:t>
            </a:r>
            <a:endParaRPr lang="en-US" sz="3200" dirty="0"/>
          </a:p>
        </p:txBody>
      </p:sp>
      <p:sp>
        <p:nvSpPr>
          <p:cNvPr id="4" name="Shape 2"/>
          <p:cNvSpPr/>
          <p:nvPr/>
        </p:nvSpPr>
        <p:spPr>
          <a:xfrm>
            <a:off x="812800" y="1831975"/>
            <a:ext cx="5816600" cy="0"/>
          </a:xfrm>
          <a:prstGeom prst="line">
            <a:avLst/>
          </a:prstGeom>
          <a:noFill/>
          <a:ln w="6350">
            <a:solidFill>
              <a:srgbClr val="DDD8CC"/>
            </a:solidFill>
            <a:prstDash val="solid"/>
          </a:ln>
        </p:spPr>
        <p:txBody>
          <a:bodyPr/>
          <a:lstStyle/>
          <a:p>
            <a:endParaRPr lang="en-IN"/>
          </a:p>
        </p:txBody>
      </p:sp>
      <p:sp>
        <p:nvSpPr>
          <p:cNvPr id="5" name="Text 3"/>
          <p:cNvSpPr/>
          <p:nvPr/>
        </p:nvSpPr>
        <p:spPr>
          <a:xfrm>
            <a:off x="812800" y="1922785"/>
            <a:ext cx="599109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Moderated, think-aloud</a:t>
            </a:r>
            <a:endParaRPr lang="en-US" sz="1400" dirty="0"/>
          </a:p>
        </p:txBody>
      </p:sp>
      <p:sp>
        <p:nvSpPr>
          <p:cNvPr id="6" name="Text 4"/>
          <p:cNvSpPr/>
          <p:nvPr/>
        </p:nvSpPr>
        <p:spPr>
          <a:xfrm>
            <a:off x="812800" y="2179315"/>
            <a:ext cx="599109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A facilitator watches users try tasks while they say what they think</a:t>
            </a:r>
            <a:endParaRPr lang="en-US" sz="1200" dirty="0"/>
          </a:p>
        </p:txBody>
      </p:sp>
      <p:sp>
        <p:nvSpPr>
          <p:cNvPr id="7" name="Shape 5"/>
          <p:cNvSpPr/>
          <p:nvPr/>
        </p:nvSpPr>
        <p:spPr>
          <a:xfrm>
            <a:off x="812800" y="2484760"/>
            <a:ext cx="5816600" cy="0"/>
          </a:xfrm>
          <a:prstGeom prst="line">
            <a:avLst/>
          </a:prstGeom>
          <a:noFill/>
          <a:ln w="6350">
            <a:solidFill>
              <a:srgbClr val="DDD8CC"/>
            </a:solidFill>
            <a:prstDash val="solid"/>
          </a:ln>
        </p:spPr>
        <p:txBody>
          <a:bodyPr/>
          <a:lstStyle/>
          <a:p>
            <a:endParaRPr lang="en-IN"/>
          </a:p>
        </p:txBody>
      </p:sp>
      <p:sp>
        <p:nvSpPr>
          <p:cNvPr id="8" name="Text 6"/>
          <p:cNvSpPr/>
          <p:nvPr/>
        </p:nvSpPr>
        <p:spPr>
          <a:xfrm>
            <a:off x="812800" y="2575570"/>
            <a:ext cx="599109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Unmoderated, remote</a:t>
            </a:r>
            <a:endParaRPr lang="en-US" sz="1400" dirty="0"/>
          </a:p>
        </p:txBody>
      </p:sp>
      <p:sp>
        <p:nvSpPr>
          <p:cNvPr id="9" name="Text 7"/>
          <p:cNvSpPr/>
          <p:nvPr/>
        </p:nvSpPr>
        <p:spPr>
          <a:xfrm>
            <a:off x="812800" y="2832100"/>
            <a:ext cx="599109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Users record themselves doing set tasks with an online tool</a:t>
            </a:r>
            <a:endParaRPr lang="en-US" sz="1200" dirty="0"/>
          </a:p>
        </p:txBody>
      </p:sp>
      <p:sp>
        <p:nvSpPr>
          <p:cNvPr id="10" name="Shape 8"/>
          <p:cNvSpPr/>
          <p:nvPr/>
        </p:nvSpPr>
        <p:spPr>
          <a:xfrm>
            <a:off x="812800" y="3137545"/>
            <a:ext cx="5816600" cy="0"/>
          </a:xfrm>
          <a:prstGeom prst="line">
            <a:avLst/>
          </a:prstGeom>
          <a:noFill/>
          <a:ln w="6350">
            <a:solidFill>
              <a:srgbClr val="DDD8CC"/>
            </a:solidFill>
            <a:prstDash val="solid"/>
          </a:ln>
        </p:spPr>
        <p:txBody>
          <a:bodyPr/>
          <a:lstStyle/>
          <a:p>
            <a:endParaRPr lang="en-IN"/>
          </a:p>
        </p:txBody>
      </p:sp>
      <p:sp>
        <p:nvSpPr>
          <p:cNvPr id="11" name="Text 9"/>
          <p:cNvSpPr/>
          <p:nvPr/>
        </p:nvSpPr>
        <p:spPr>
          <a:xfrm>
            <a:off x="812800" y="3228355"/>
            <a:ext cx="599109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Hallway testing</a:t>
            </a:r>
            <a:endParaRPr lang="en-US" sz="1400" dirty="0"/>
          </a:p>
        </p:txBody>
      </p:sp>
      <p:sp>
        <p:nvSpPr>
          <p:cNvPr id="12" name="Text 10"/>
          <p:cNvSpPr/>
          <p:nvPr/>
        </p:nvSpPr>
        <p:spPr>
          <a:xfrm>
            <a:off x="812800" y="3484885"/>
            <a:ext cx="599109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Quick tests with whoever is nearby, early in the design</a:t>
            </a:r>
            <a:endParaRPr lang="en-US" sz="1200" dirty="0"/>
          </a:p>
        </p:txBody>
      </p:sp>
      <p:sp>
        <p:nvSpPr>
          <p:cNvPr id="13" name="Shape 11"/>
          <p:cNvSpPr/>
          <p:nvPr/>
        </p:nvSpPr>
        <p:spPr>
          <a:xfrm>
            <a:off x="812800" y="3790330"/>
            <a:ext cx="5816600" cy="0"/>
          </a:xfrm>
          <a:prstGeom prst="line">
            <a:avLst/>
          </a:prstGeom>
          <a:noFill/>
          <a:ln w="6350">
            <a:solidFill>
              <a:srgbClr val="DDD8CC"/>
            </a:solidFill>
            <a:prstDash val="solid"/>
          </a:ln>
        </p:spPr>
        <p:txBody>
          <a:bodyPr/>
          <a:lstStyle/>
          <a:p>
            <a:endParaRPr lang="en-IN"/>
          </a:p>
        </p:txBody>
      </p:sp>
      <p:sp>
        <p:nvSpPr>
          <p:cNvPr id="14" name="Text 12"/>
          <p:cNvSpPr/>
          <p:nvPr/>
        </p:nvSpPr>
        <p:spPr>
          <a:xfrm>
            <a:off x="812800" y="3881115"/>
            <a:ext cx="599109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A/B testing</a:t>
            </a:r>
            <a:endParaRPr lang="en-US" sz="1400" dirty="0"/>
          </a:p>
        </p:txBody>
      </p:sp>
      <p:sp>
        <p:nvSpPr>
          <p:cNvPr id="15" name="Text 13"/>
          <p:cNvSpPr/>
          <p:nvPr/>
        </p:nvSpPr>
        <p:spPr>
          <a:xfrm>
            <a:off x="812800" y="4137670"/>
            <a:ext cx="599109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Two versions go to real users; data shows which works better</a:t>
            </a:r>
            <a:endParaRPr lang="en-US" sz="1200" dirty="0"/>
          </a:p>
        </p:txBody>
      </p:sp>
      <p:sp>
        <p:nvSpPr>
          <p:cNvPr id="16" name="Shape 14"/>
          <p:cNvSpPr/>
          <p:nvPr/>
        </p:nvSpPr>
        <p:spPr>
          <a:xfrm>
            <a:off x="812800" y="4443090"/>
            <a:ext cx="5816600" cy="0"/>
          </a:xfrm>
          <a:prstGeom prst="line">
            <a:avLst/>
          </a:prstGeom>
          <a:noFill/>
          <a:ln w="6350">
            <a:solidFill>
              <a:srgbClr val="DDD8CC"/>
            </a:solidFill>
            <a:prstDash val="solid"/>
          </a:ln>
        </p:spPr>
        <p:txBody>
          <a:bodyPr/>
          <a:lstStyle/>
          <a:p>
            <a:endParaRPr lang="en-IN"/>
          </a:p>
        </p:txBody>
      </p:sp>
      <p:sp>
        <p:nvSpPr>
          <p:cNvPr id="17" name="Shape 15"/>
          <p:cNvSpPr/>
          <p:nvPr/>
        </p:nvSpPr>
        <p:spPr>
          <a:xfrm>
            <a:off x="812800" y="5094600"/>
            <a:ext cx="5816600" cy="0"/>
          </a:xfrm>
          <a:prstGeom prst="line">
            <a:avLst/>
          </a:prstGeom>
          <a:noFill/>
          <a:ln w="6350">
            <a:solidFill>
              <a:srgbClr val="DDD8CC"/>
            </a:solidFill>
            <a:prstDash val="solid"/>
          </a:ln>
        </p:spPr>
        <p:txBody>
          <a:bodyPr/>
          <a:lstStyle/>
          <a:p>
            <a:endParaRPr lang="en-IN"/>
          </a:p>
        </p:txBody>
      </p:sp>
      <p:sp>
        <p:nvSpPr>
          <p:cNvPr id="18" name="Text 16"/>
          <p:cNvSpPr/>
          <p:nvPr/>
        </p:nvSpPr>
        <p:spPr>
          <a:xfrm>
            <a:off x="812800" y="4533900"/>
            <a:ext cx="599109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Heuristic evaluation</a:t>
            </a:r>
            <a:endParaRPr lang="en-US" sz="1400" dirty="0"/>
          </a:p>
        </p:txBody>
      </p:sp>
      <p:sp>
        <p:nvSpPr>
          <p:cNvPr id="19" name="Text 17"/>
          <p:cNvSpPr/>
          <p:nvPr/>
        </p:nvSpPr>
        <p:spPr>
          <a:xfrm>
            <a:off x="812800" y="4790455"/>
            <a:ext cx="599109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Experts review the screens against usability rules of thumb</a:t>
            </a:r>
            <a:endParaRPr lang="en-US" sz="1200" dirty="0"/>
          </a:p>
        </p:txBody>
      </p:sp>
      <p:sp>
        <p:nvSpPr>
          <p:cNvPr id="20" name="Shape 18"/>
          <p:cNvSpPr/>
          <p:nvPr/>
        </p:nvSpPr>
        <p:spPr>
          <a:xfrm>
            <a:off x="6934200" y="1828800"/>
            <a:ext cx="4445000" cy="1379220"/>
          </a:xfrm>
          <a:prstGeom prst="roundRect">
            <a:avLst>
              <a:gd name="adj" fmla="val 5525"/>
            </a:avLst>
          </a:prstGeom>
          <a:solidFill>
            <a:srgbClr val="DCE7F3"/>
          </a:solidFill>
          <a:ln/>
        </p:spPr>
        <p:txBody>
          <a:bodyPr/>
          <a:lstStyle/>
          <a:p>
            <a:endParaRPr lang="en-IN"/>
          </a:p>
        </p:txBody>
      </p:sp>
      <p:sp>
        <p:nvSpPr>
          <p:cNvPr id="21" name="Text 19"/>
          <p:cNvSpPr/>
          <p:nvPr/>
        </p:nvSpPr>
        <p:spPr>
          <a:xfrm>
            <a:off x="7137400" y="2006600"/>
            <a:ext cx="415975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HOW MANY USERS?</a:t>
            </a:r>
            <a:endParaRPr lang="en-US" sz="1200" dirty="0"/>
          </a:p>
        </p:txBody>
      </p:sp>
      <p:sp>
        <p:nvSpPr>
          <p:cNvPr id="22" name="Text 20"/>
          <p:cNvSpPr/>
          <p:nvPr/>
        </p:nvSpPr>
        <p:spPr>
          <a:xfrm>
            <a:off x="7137400" y="2283470"/>
            <a:ext cx="415975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About five users find most problems, around 85% in Nielsen's analysis. Run several small rounds and fix between them.</a:t>
            </a:r>
            <a:endParaRPr lang="en-US" sz="1400" dirty="0"/>
          </a:p>
        </p:txBody>
      </p:sp>
      <p:sp>
        <p:nvSpPr>
          <p:cNvPr id="23" name="Shape 21"/>
          <p:cNvSpPr/>
          <p:nvPr/>
        </p:nvSpPr>
        <p:spPr>
          <a:xfrm>
            <a:off x="6934200" y="3360415"/>
            <a:ext cx="4445000" cy="1379220"/>
          </a:xfrm>
          <a:prstGeom prst="roundRect">
            <a:avLst>
              <a:gd name="adj" fmla="val 5525"/>
            </a:avLst>
          </a:prstGeom>
          <a:solidFill>
            <a:srgbClr val="F7E3D5"/>
          </a:solidFill>
          <a:ln/>
        </p:spPr>
        <p:txBody>
          <a:bodyPr/>
          <a:lstStyle/>
          <a:p>
            <a:endParaRPr lang="en-IN"/>
          </a:p>
        </p:txBody>
      </p:sp>
      <p:sp>
        <p:nvSpPr>
          <p:cNvPr id="24" name="Text 22"/>
          <p:cNvSpPr/>
          <p:nvPr/>
        </p:nvSpPr>
        <p:spPr>
          <a:xfrm>
            <a:off x="7137400" y="3538215"/>
            <a:ext cx="415975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WHERE AUTOMATION HELPS</a:t>
            </a:r>
            <a:endParaRPr lang="en-US" sz="1200" dirty="0"/>
          </a:p>
        </p:txBody>
      </p:sp>
      <p:sp>
        <p:nvSpPr>
          <p:cNvPr id="25" name="Text 23"/>
          <p:cNvSpPr/>
          <p:nvPr/>
        </p:nvSpPr>
        <p:spPr>
          <a:xfrm>
            <a:off x="7137400" y="3815085"/>
            <a:ext cx="415975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Accessibility scans (axe-core, Lighthouse), drop-off analytics and A/B test set-up. Judging ease of use still needs people.</a:t>
            </a:r>
            <a:endParaRPr lang="en-US" sz="1400" dirty="0"/>
          </a:p>
        </p:txBody>
      </p:sp>
      <p:sp>
        <p:nvSpPr>
          <p:cNvPr id="26" name="Text 24"/>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7" name="Text 25"/>
          <p:cNvSpPr/>
          <p:nvPr/>
        </p:nvSpPr>
        <p:spPr>
          <a:xfrm>
            <a:off x="6907609" y="6238255"/>
            <a:ext cx="460573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J. Nielsen, “Why You Only Need to Test with 5 Users”, NN/g, 2000</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L4 · CHECK YOUR UNDERSTANDING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Knowledge check: Lecture 4</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In which STLC phase is the test plan written, and what must be true before that phase can start?</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wallet is charged but no order is created. Rate its severity and priority, and explain why.</a:t>
            </a:r>
            <a:endParaRPr lang="en-US" sz="1400" dirty="0"/>
          </a:p>
        </p:txBody>
      </p:sp>
      <p:sp>
        <p:nvSpPr>
          <p:cNvPr id="10" name="Shape 8"/>
          <p:cNvSpPr/>
          <p:nvPr/>
        </p:nvSpPr>
        <p:spPr>
          <a:xfrm>
            <a:off x="815975" y="3381375"/>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1046480" y="3611885"/>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885"/>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retest of DEF-12 fails. Which state does the defect move to, and who works on it next?</a:t>
            </a:r>
            <a:endParaRPr lang="en-US" sz="1400" dirty="0"/>
          </a:p>
        </p:txBody>
      </p:sp>
      <p:sp>
        <p:nvSpPr>
          <p:cNvPr id="13" name="Shape 11"/>
          <p:cNvSpPr/>
          <p:nvPr/>
        </p:nvSpPr>
        <p:spPr>
          <a:xfrm>
            <a:off x="6200775" y="3381375"/>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6431280" y="3611885"/>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885"/>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“Average time from opening the app to placing an order” measures which part of usability?</a:t>
            </a:r>
            <a:endParaRPr lang="en-US" sz="14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7" name="Text 15"/>
          <p:cNvSpPr/>
          <p:nvPr/>
        </p:nvSpPr>
        <p:spPr>
          <a:xfrm>
            <a:off x="9372044" y="6238255"/>
            <a:ext cx="20673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marL="0" indent="0" algn="r">
              <a:lnSpc>
                <a:spcPts val="19000"/>
              </a:lnSpc>
              <a:buNone/>
            </a:pPr>
            <a:r>
              <a:rPr lang="en-US" sz="19000" b="1" kern="0" spc="-400" dirty="0">
                <a:solidFill>
                  <a:srgbClr val="000000">
                    <a:alpha val="0"/>
                  </a:srgbClr>
                </a:solidFill>
                <a:latin typeface="Space Grotesk" pitchFamily="34" charset="0"/>
                <a:ea typeface="Space Grotesk" pitchFamily="34" charset="-122"/>
                <a:cs typeface="Space Grotesk" pitchFamily="34" charset="-120"/>
              </a:rPr>
              <a:t>05</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36B"/>
                </a:solidFill>
                <a:latin typeface="JetBrains Mono" pitchFamily="34" charset="0"/>
                <a:ea typeface="JetBrains Mono" pitchFamily="34" charset="-122"/>
                <a:cs typeface="JetBrains Mono" pitchFamily="34" charset="-120"/>
              </a:rPr>
              <a:t>MODULE 1 · LECTURE 5 · 40 MINUTES</a:t>
            </a:r>
            <a:endParaRPr lang="en-US" sz="1200" dirty="0"/>
          </a:p>
        </p:txBody>
      </p:sp>
      <p:sp>
        <p:nvSpPr>
          <p:cNvPr id="4" name="Text 2"/>
          <p:cNvSpPr/>
          <p:nvPr/>
        </p:nvSpPr>
        <p:spPr>
          <a:xfrm>
            <a:off x="812800" y="2717800"/>
            <a:ext cx="9156700" cy="2265680"/>
          </a:xfrm>
          <a:prstGeom prst="rect">
            <a:avLst/>
          </a:prstGeom>
          <a:noFill/>
          <a:ln/>
        </p:spPr>
        <p:txBody>
          <a:bodyPr wrap="square" lIns="0" tIns="0" rIns="0" bIns="0" rtlCol="0" anchor="t">
            <a:normAutofit/>
          </a:bodyPr>
          <a:lstStyle/>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Functional,</a:t>
            </a:r>
            <a:endParaRPr lang="en-US" sz="5600" dirty="0"/>
          </a:p>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non-functional and</a:t>
            </a:r>
            <a:endParaRPr lang="en-US" sz="5600" dirty="0"/>
          </a:p>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end-to-end testing</a:t>
            </a:r>
            <a:endParaRPr lang="en-US" sz="5600" dirty="0"/>
          </a:p>
        </p:txBody>
      </p:sp>
      <p:sp>
        <p:nvSpPr>
          <p:cNvPr id="5" name="Shape 3"/>
          <p:cNvSpPr/>
          <p:nvPr/>
        </p:nvSpPr>
        <p:spPr>
          <a:xfrm>
            <a:off x="812800" y="5320035"/>
            <a:ext cx="2794000" cy="0"/>
          </a:xfrm>
          <a:prstGeom prst="line">
            <a:avLst/>
          </a:prstGeom>
          <a:noFill/>
          <a:ln w="12700">
            <a:solidFill>
              <a:srgbClr val="3A5476"/>
            </a:solidFill>
            <a:prstDash val="solid"/>
          </a:ln>
        </p:spPr>
        <p:txBody>
          <a:bodyPr/>
          <a:lstStyle/>
          <a:p>
            <a:endParaRPr lang="en-IN"/>
          </a:p>
        </p:txBody>
      </p:sp>
      <p:sp>
        <p:nvSpPr>
          <p:cNvPr id="6" name="Text 4"/>
          <p:cNvSpPr/>
          <p:nvPr/>
        </p:nvSpPr>
        <p:spPr>
          <a:xfrm>
            <a:off x="812800" y="5450855"/>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10 min</a:t>
            </a:r>
            <a:endParaRPr lang="en-US" sz="1200" dirty="0"/>
          </a:p>
        </p:txBody>
      </p:sp>
      <p:sp>
        <p:nvSpPr>
          <p:cNvPr id="7" name="Text 5"/>
          <p:cNvSpPr/>
          <p:nvPr/>
        </p:nvSpPr>
        <p:spPr>
          <a:xfrm>
            <a:off x="812800" y="5715000"/>
            <a:ext cx="287782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Functional testing</a:t>
            </a:r>
            <a:endParaRPr lang="en-US" sz="2000" dirty="0"/>
          </a:p>
        </p:txBody>
      </p:sp>
      <p:sp>
        <p:nvSpPr>
          <p:cNvPr id="8" name="Shape 6"/>
          <p:cNvSpPr/>
          <p:nvPr/>
        </p:nvSpPr>
        <p:spPr>
          <a:xfrm>
            <a:off x="3911600" y="5320035"/>
            <a:ext cx="2794000" cy="0"/>
          </a:xfrm>
          <a:prstGeom prst="line">
            <a:avLst/>
          </a:prstGeom>
          <a:noFill/>
          <a:ln w="12700">
            <a:solidFill>
              <a:srgbClr val="3A5476"/>
            </a:solidFill>
            <a:prstDash val="solid"/>
          </a:ln>
        </p:spPr>
        <p:txBody>
          <a:bodyPr/>
          <a:lstStyle/>
          <a:p>
            <a:endParaRPr lang="en-IN"/>
          </a:p>
        </p:txBody>
      </p:sp>
      <p:sp>
        <p:nvSpPr>
          <p:cNvPr id="9" name="Text 7"/>
          <p:cNvSpPr/>
          <p:nvPr/>
        </p:nvSpPr>
        <p:spPr>
          <a:xfrm>
            <a:off x="3911600" y="5450855"/>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10 min</a:t>
            </a:r>
            <a:endParaRPr lang="en-US" sz="1200" dirty="0"/>
          </a:p>
        </p:txBody>
      </p:sp>
      <p:sp>
        <p:nvSpPr>
          <p:cNvPr id="10" name="Text 8"/>
          <p:cNvSpPr/>
          <p:nvPr/>
        </p:nvSpPr>
        <p:spPr>
          <a:xfrm>
            <a:off x="3911600" y="5715000"/>
            <a:ext cx="287782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Non-functional testing</a:t>
            </a:r>
            <a:endParaRPr lang="en-US" sz="2000" dirty="0"/>
          </a:p>
        </p:txBody>
      </p:sp>
      <p:sp>
        <p:nvSpPr>
          <p:cNvPr id="11" name="Shape 9"/>
          <p:cNvSpPr/>
          <p:nvPr/>
        </p:nvSpPr>
        <p:spPr>
          <a:xfrm>
            <a:off x="7010400" y="5320035"/>
            <a:ext cx="2794000" cy="0"/>
          </a:xfrm>
          <a:prstGeom prst="line">
            <a:avLst/>
          </a:prstGeom>
          <a:noFill/>
          <a:ln w="12700">
            <a:solidFill>
              <a:srgbClr val="3A5476"/>
            </a:solidFill>
            <a:prstDash val="solid"/>
          </a:ln>
        </p:spPr>
        <p:txBody>
          <a:bodyPr/>
          <a:lstStyle/>
          <a:p>
            <a:endParaRPr lang="en-IN"/>
          </a:p>
        </p:txBody>
      </p:sp>
      <p:sp>
        <p:nvSpPr>
          <p:cNvPr id="12" name="Text 10"/>
          <p:cNvSpPr/>
          <p:nvPr/>
        </p:nvSpPr>
        <p:spPr>
          <a:xfrm>
            <a:off x="7010400" y="5450855"/>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13" name="Text 11"/>
          <p:cNvSpPr/>
          <p:nvPr/>
        </p:nvSpPr>
        <p:spPr>
          <a:xfrm>
            <a:off x="7010400" y="5715000"/>
            <a:ext cx="287782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End-to-end testing</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L5 · FUNCTIONAL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Functional testing</a:t>
            </a:r>
            <a:endParaRPr lang="en-US" sz="3200" dirty="0"/>
          </a:p>
        </p:txBody>
      </p:sp>
      <p:sp>
        <p:nvSpPr>
          <p:cNvPr id="4" name="Text 2"/>
          <p:cNvSpPr/>
          <p:nvPr/>
        </p:nvSpPr>
        <p:spPr>
          <a:xfrm>
            <a:off x="812800" y="1828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ISTQB · FUNCTIONAL TESTING</a:t>
            </a:r>
            <a:endParaRPr lang="en-US" sz="1200" dirty="0"/>
          </a:p>
        </p:txBody>
      </p:sp>
      <p:sp>
        <p:nvSpPr>
          <p:cNvPr id="5" name="Text 3"/>
          <p:cNvSpPr/>
          <p:nvPr/>
        </p:nvSpPr>
        <p:spPr>
          <a:xfrm>
            <a:off x="812800" y="2118370"/>
            <a:ext cx="10883392" cy="660400"/>
          </a:xfrm>
          <a:prstGeom prst="rect">
            <a:avLst/>
          </a:prstGeom>
          <a:noFill/>
          <a:ln/>
        </p:spPr>
        <p:txBody>
          <a:bodyPr wrap="square" lIns="0" tIns="0" rIns="0" bIns="0" rtlCol="0" anchor="t">
            <a:normAutofit/>
          </a:bodyPr>
          <a:lstStyle/>
          <a:p>
            <a:pPr marL="0" indent="0" algn="l">
              <a:lnSpc>
                <a:spcPts val="2500"/>
              </a:lnSpc>
              <a:buNone/>
            </a:pPr>
            <a:r>
              <a:rPr lang="en-US" sz="2000" dirty="0">
                <a:solidFill>
                  <a:srgbClr val="13233A"/>
                </a:solidFill>
                <a:latin typeface="Space Grotesk" pitchFamily="34" charset="0"/>
                <a:ea typeface="Space Grotesk" pitchFamily="34" charset="-122"/>
                <a:cs typeface="Space Grotesk" pitchFamily="34" charset="-120"/>
              </a:rPr>
              <a:t>“Testing performed to evaluate if a component or system satisfies functional requirements.”</a:t>
            </a:r>
            <a:endParaRPr lang="en-US" sz="2000" dirty="0"/>
          </a:p>
        </p:txBody>
      </p:sp>
      <p:sp>
        <p:nvSpPr>
          <p:cNvPr id="6" name="Text 4"/>
          <p:cNvSpPr/>
          <p:nvPr/>
        </p:nvSpPr>
        <p:spPr>
          <a:xfrm>
            <a:off x="812800" y="3007370"/>
            <a:ext cx="392430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WHAT IT CHECKS</a:t>
            </a:r>
            <a:endParaRPr lang="en-US" sz="1200" dirty="0"/>
          </a:p>
        </p:txBody>
      </p:sp>
      <p:sp>
        <p:nvSpPr>
          <p:cNvPr id="7" name="Text 5"/>
          <p:cNvSpPr/>
          <p:nvPr/>
        </p:nvSpPr>
        <p:spPr>
          <a:xfrm>
            <a:off x="812800" y="3296915"/>
            <a:ext cx="3924300" cy="1358900"/>
          </a:xfrm>
          <a:prstGeom prst="rect">
            <a:avLst/>
          </a:prstGeom>
          <a:noFill/>
          <a:ln/>
        </p:spPr>
        <p:txBody>
          <a:bodyPr wrap="square" lIns="0" tIns="0" rIns="0" bIns="0" rtlCol="0" anchor="t">
            <a:normAutofit/>
          </a:bodyPr>
          <a:lstStyle/>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Business rules and calculations</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Input validation and error messages</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Workflows and navigation</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Data saved and read back correctly</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Roles and permissions</a:t>
            </a:r>
            <a:endParaRPr lang="en-US" sz="1400" dirty="0"/>
          </a:p>
        </p:txBody>
      </p:sp>
      <p:sp>
        <p:nvSpPr>
          <p:cNvPr id="8" name="Text 6"/>
          <p:cNvSpPr/>
          <p:nvPr/>
        </p:nvSpPr>
        <p:spPr>
          <a:xfrm>
            <a:off x="4927600" y="3007370"/>
            <a:ext cx="664514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E6977"/>
                </a:solidFill>
                <a:latin typeface="JetBrains Mono" pitchFamily="34" charset="0"/>
                <a:ea typeface="JetBrains Mono" pitchFamily="34" charset="-122"/>
                <a:cs typeface="JetBrains Mono" pitchFamily="34" charset="-120"/>
              </a:rPr>
              <a:t>CANTEEN APP · BLACK-BOX, FROM THE REQUIREMENTS</a:t>
            </a:r>
            <a:endParaRPr lang="en-US" sz="1200" dirty="0"/>
          </a:p>
        </p:txBody>
      </p:sp>
      <p:sp>
        <p:nvSpPr>
          <p:cNvPr id="9" name="Shape 7"/>
          <p:cNvSpPr/>
          <p:nvPr/>
        </p:nvSpPr>
        <p:spPr>
          <a:xfrm>
            <a:off x="11376025" y="3296915"/>
            <a:ext cx="0" cy="1666240"/>
          </a:xfrm>
          <a:prstGeom prst="line">
            <a:avLst/>
          </a:prstGeom>
          <a:noFill/>
          <a:ln w="6350">
            <a:solidFill>
              <a:srgbClr val="DDD8CC"/>
            </a:solidFill>
            <a:prstDash val="solid"/>
          </a:ln>
        </p:spPr>
        <p:txBody>
          <a:bodyPr/>
          <a:lstStyle/>
          <a:p>
            <a:endParaRPr lang="en-IN"/>
          </a:p>
        </p:txBody>
      </p:sp>
      <p:sp>
        <p:nvSpPr>
          <p:cNvPr id="10" name="Shape 8"/>
          <p:cNvSpPr/>
          <p:nvPr/>
        </p:nvSpPr>
        <p:spPr>
          <a:xfrm>
            <a:off x="4927600" y="4959980"/>
            <a:ext cx="6451600" cy="0"/>
          </a:xfrm>
          <a:prstGeom prst="line">
            <a:avLst/>
          </a:prstGeom>
          <a:noFill/>
          <a:ln w="6350">
            <a:solidFill>
              <a:srgbClr val="DDD8CC"/>
            </a:solidFill>
            <a:prstDash val="solid"/>
          </a:ln>
        </p:spPr>
        <p:txBody>
          <a:bodyPr/>
          <a:lstStyle/>
          <a:p>
            <a:endParaRPr lang="en-IN"/>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937760" y="3307075"/>
          <a:ext cx="6436360" cy="1651000"/>
        </p:xfrm>
        <a:graphic>
          <a:graphicData uri="http://schemas.openxmlformats.org/drawingml/2006/table">
            <a:tbl>
              <a:tblPr/>
              <a:tblGrid>
                <a:gridCol w="3218180">
                  <a:extLst>
                    <a:ext uri="{9D8B030D-6E8A-4147-A177-3AD203B41FA5}">
                      <a16:colId xmlns:a16="http://schemas.microsoft.com/office/drawing/2014/main" val="20000"/>
                    </a:ext>
                  </a:extLst>
                </a:gridCol>
                <a:gridCol w="3218180">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Requirement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Functional test</a:t>
                      </a:r>
                      <a:endParaRPr lang="en-US" sz="1200" dirty="0">
                        <a:latin typeface="IBM Plex Sans" charset="0"/>
                        <a:ea typeface="IBM Plex Sans" charset="0"/>
                        <a:cs typeface="IBM Plex Sans" charset="0"/>
                      </a:endParaRPr>
                    </a:p>
                  </a:txBody>
                  <a:tcPr marL="53340" marR="53340" marT="53340" marB="5334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SAVE20: 20% off, capped at ₹100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₹800 order: amount payable is ₹700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Quantity must be 1 to 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Quantity 11 is rejected with a message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Account locks after 3 failed logins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Fourth attempt shows “account locked”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Cancel only while Placed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Cancel is refused once Preparing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bl>
          </a:graphicData>
        </a:graphic>
      </p:graphicFrame>
      <p:sp>
        <p:nvSpPr>
          <p:cNvPr id="12" name="Text 9"/>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3" name="Text 10"/>
          <p:cNvSpPr/>
          <p:nvPr/>
        </p:nvSpPr>
        <p:spPr>
          <a:xfrm>
            <a:off x="9568021" y="6238255"/>
            <a:ext cx="18655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Definition: ISTQB Glossary</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L5 · NON-FUNCTIONAL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Non-functional testing and ISO/IEC 25010</a:t>
            </a:r>
            <a:endParaRPr lang="en-US" sz="3200" dirty="0"/>
          </a:p>
        </p:txBody>
      </p:sp>
      <p:sp>
        <p:nvSpPr>
          <p:cNvPr id="4" name="Text 2"/>
          <p:cNvSpPr/>
          <p:nvPr/>
        </p:nvSpPr>
        <p:spPr>
          <a:xfrm>
            <a:off x="812800" y="17780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45A9C"/>
                </a:solidFill>
                <a:latin typeface="IBM Plex Sans" pitchFamily="34" charset="0"/>
                <a:ea typeface="IBM Plex Sans" pitchFamily="34" charset="-122"/>
                <a:cs typeface="IBM Plex Sans" pitchFamily="34" charset="-120"/>
              </a:rPr>
              <a:t>ISTQB:</a:t>
            </a:r>
            <a:r>
              <a:rPr lang="en-US" sz="1400" dirty="0">
                <a:solidFill>
                  <a:srgbClr val="13233A"/>
                </a:solidFill>
                <a:latin typeface="IBM Plex Sans" pitchFamily="34" charset="0"/>
                <a:ea typeface="IBM Plex Sans" pitchFamily="34" charset="-122"/>
                <a:cs typeface="IBM Plex Sans" pitchFamily="34" charset="-120"/>
              </a:rPr>
              <a:t> “Testing performed to evaluate that a component or system complies with non-functional requirements.”</a:t>
            </a:r>
            <a:endParaRPr lang="en-US" sz="1400" dirty="0"/>
          </a:p>
        </p:txBody>
      </p:sp>
      <p:sp>
        <p:nvSpPr>
          <p:cNvPr id="5" name="Shape 3"/>
          <p:cNvSpPr/>
          <p:nvPr/>
        </p:nvSpPr>
        <p:spPr>
          <a:xfrm>
            <a:off x="812800" y="2230115"/>
            <a:ext cx="3454400" cy="947420"/>
          </a:xfrm>
          <a:prstGeom prst="roundRect">
            <a:avLst>
              <a:gd name="adj" fmla="val 8043"/>
            </a:avLst>
          </a:prstGeom>
          <a:solidFill>
            <a:srgbClr val="DCE7F3"/>
          </a:solidFill>
          <a:ln/>
        </p:spPr>
        <p:txBody>
          <a:bodyPr/>
          <a:lstStyle/>
          <a:p>
            <a:endParaRPr lang="en-IN"/>
          </a:p>
        </p:txBody>
      </p:sp>
      <p:sp>
        <p:nvSpPr>
          <p:cNvPr id="6" name="Text 4"/>
          <p:cNvSpPr/>
          <p:nvPr/>
        </p:nvSpPr>
        <p:spPr>
          <a:xfrm>
            <a:off x="965200" y="2344415"/>
            <a:ext cx="324408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Functional suitability</a:t>
            </a:r>
            <a:endParaRPr lang="en-US" sz="1400" dirty="0"/>
          </a:p>
        </p:txBody>
      </p:sp>
      <p:sp>
        <p:nvSpPr>
          <p:cNvPr id="7" name="Text 5"/>
          <p:cNvSpPr/>
          <p:nvPr/>
        </p:nvSpPr>
        <p:spPr>
          <a:xfrm>
            <a:off x="965200" y="2600970"/>
            <a:ext cx="3244088" cy="23876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13233A"/>
                </a:solidFill>
                <a:latin typeface="IBM Plex Sans" pitchFamily="34" charset="0"/>
                <a:ea typeface="IBM Plex Sans" pitchFamily="34" charset="-122"/>
                <a:cs typeface="IBM Plex Sans" pitchFamily="34" charset="-120"/>
              </a:rPr>
              <a:t>Does it do the right things?</a:t>
            </a:r>
            <a:endParaRPr lang="en-US" sz="1200" dirty="0"/>
          </a:p>
        </p:txBody>
      </p:sp>
      <p:sp>
        <p:nvSpPr>
          <p:cNvPr id="8" name="Text 6"/>
          <p:cNvSpPr/>
          <p:nvPr/>
        </p:nvSpPr>
        <p:spPr>
          <a:xfrm>
            <a:off x="965200" y="2839715"/>
            <a:ext cx="324408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Covered by functional testing</a:t>
            </a:r>
            <a:endParaRPr lang="en-US" sz="1200" dirty="0"/>
          </a:p>
        </p:txBody>
      </p:sp>
      <p:sp>
        <p:nvSpPr>
          <p:cNvPr id="9" name="Shape 7"/>
          <p:cNvSpPr/>
          <p:nvPr/>
        </p:nvSpPr>
        <p:spPr>
          <a:xfrm>
            <a:off x="4371975" y="2233290"/>
            <a:ext cx="3448050" cy="941070"/>
          </a:xfrm>
          <a:prstGeom prst="roundRect">
            <a:avLst>
              <a:gd name="adj" fmla="val 7760"/>
            </a:avLst>
          </a:prstGeom>
          <a:solidFill>
            <a:srgbClr val="FCFBF7"/>
          </a:solidFill>
          <a:ln w="6350">
            <a:solidFill>
              <a:srgbClr val="DDD8CC"/>
            </a:solidFill>
            <a:prstDash val="solid"/>
          </a:ln>
        </p:spPr>
        <p:txBody>
          <a:bodyPr/>
          <a:lstStyle/>
          <a:p>
            <a:endParaRPr lang="en-IN"/>
          </a:p>
        </p:txBody>
      </p:sp>
      <p:sp>
        <p:nvSpPr>
          <p:cNvPr id="10" name="Text 8"/>
          <p:cNvSpPr/>
          <p:nvPr/>
        </p:nvSpPr>
        <p:spPr>
          <a:xfrm>
            <a:off x="4526280" y="2349500"/>
            <a:ext cx="3233623"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Performance efficiency</a:t>
            </a:r>
            <a:endParaRPr lang="en-US" sz="1400" dirty="0"/>
          </a:p>
        </p:txBody>
      </p:sp>
      <p:sp>
        <p:nvSpPr>
          <p:cNvPr id="11" name="Text 9"/>
          <p:cNvSpPr/>
          <p:nvPr/>
        </p:nvSpPr>
        <p:spPr>
          <a:xfrm>
            <a:off x="4526280" y="2606055"/>
            <a:ext cx="3233623" cy="23876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245A9C"/>
                </a:solidFill>
                <a:latin typeface="IBM Plex Sans" pitchFamily="34" charset="0"/>
                <a:ea typeface="IBM Plex Sans" pitchFamily="34" charset="-122"/>
                <a:cs typeface="IBM Plex Sans" pitchFamily="34" charset="-120"/>
              </a:rPr>
              <a:t>Fast enough, sensible resource use?</a:t>
            </a:r>
            <a:endParaRPr lang="en-US" sz="1200" dirty="0"/>
          </a:p>
        </p:txBody>
      </p:sp>
      <p:sp>
        <p:nvSpPr>
          <p:cNvPr id="12" name="Text 10"/>
          <p:cNvSpPr/>
          <p:nvPr/>
        </p:nvSpPr>
        <p:spPr>
          <a:xfrm>
            <a:off x="4526280" y="2844800"/>
            <a:ext cx="32336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Menu loads within 2 s at the lunch peak</a:t>
            </a:r>
            <a:endParaRPr lang="en-US" sz="1200" dirty="0"/>
          </a:p>
        </p:txBody>
      </p:sp>
      <p:sp>
        <p:nvSpPr>
          <p:cNvPr id="13" name="Shape 11"/>
          <p:cNvSpPr/>
          <p:nvPr/>
        </p:nvSpPr>
        <p:spPr>
          <a:xfrm>
            <a:off x="7927975" y="2233290"/>
            <a:ext cx="3448050" cy="941070"/>
          </a:xfrm>
          <a:prstGeom prst="roundRect">
            <a:avLst>
              <a:gd name="adj" fmla="val 7760"/>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8082280" y="2349500"/>
            <a:ext cx="3233623"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Compatibility</a:t>
            </a:r>
            <a:endParaRPr lang="en-US" sz="1400" dirty="0"/>
          </a:p>
        </p:txBody>
      </p:sp>
      <p:sp>
        <p:nvSpPr>
          <p:cNvPr id="15" name="Text 13"/>
          <p:cNvSpPr/>
          <p:nvPr/>
        </p:nvSpPr>
        <p:spPr>
          <a:xfrm>
            <a:off x="8082280" y="2606055"/>
            <a:ext cx="3233623" cy="23876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245A9C"/>
                </a:solidFill>
                <a:latin typeface="IBM Plex Sans" pitchFamily="34" charset="0"/>
                <a:ea typeface="IBM Plex Sans" pitchFamily="34" charset="-122"/>
                <a:cs typeface="IBM Plex Sans" pitchFamily="34" charset="-120"/>
              </a:rPr>
              <a:t>Works alongside other systems?</a:t>
            </a:r>
            <a:endParaRPr lang="en-US" sz="1200" dirty="0"/>
          </a:p>
        </p:txBody>
      </p:sp>
      <p:sp>
        <p:nvSpPr>
          <p:cNvPr id="16" name="Text 14"/>
          <p:cNvSpPr/>
          <p:nvPr/>
        </p:nvSpPr>
        <p:spPr>
          <a:xfrm>
            <a:off x="8082280" y="2844800"/>
            <a:ext cx="32336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Exchanges data with the campus wallet</a:t>
            </a:r>
            <a:endParaRPr lang="en-US" sz="1200" dirty="0"/>
          </a:p>
        </p:txBody>
      </p:sp>
      <p:sp>
        <p:nvSpPr>
          <p:cNvPr id="17" name="Shape 15"/>
          <p:cNvSpPr/>
          <p:nvPr/>
        </p:nvSpPr>
        <p:spPr>
          <a:xfrm>
            <a:off x="815975" y="3282330"/>
            <a:ext cx="3448050" cy="941070"/>
          </a:xfrm>
          <a:prstGeom prst="roundRect">
            <a:avLst>
              <a:gd name="adj" fmla="val 7760"/>
            </a:avLst>
          </a:prstGeom>
          <a:solidFill>
            <a:srgbClr val="FCFBF7"/>
          </a:solidFill>
          <a:ln w="6350">
            <a:solidFill>
              <a:srgbClr val="DDD8CC"/>
            </a:solidFill>
            <a:prstDash val="solid"/>
          </a:ln>
        </p:spPr>
        <p:txBody>
          <a:bodyPr/>
          <a:lstStyle/>
          <a:p>
            <a:endParaRPr lang="en-IN"/>
          </a:p>
        </p:txBody>
      </p:sp>
      <p:sp>
        <p:nvSpPr>
          <p:cNvPr id="18" name="Text 16"/>
          <p:cNvSpPr/>
          <p:nvPr/>
        </p:nvSpPr>
        <p:spPr>
          <a:xfrm>
            <a:off x="970280" y="3398515"/>
            <a:ext cx="3233623"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Interaction capability</a:t>
            </a:r>
            <a:endParaRPr lang="en-US" sz="1400" dirty="0"/>
          </a:p>
        </p:txBody>
      </p:sp>
      <p:sp>
        <p:nvSpPr>
          <p:cNvPr id="19" name="Text 17"/>
          <p:cNvSpPr/>
          <p:nvPr/>
        </p:nvSpPr>
        <p:spPr>
          <a:xfrm>
            <a:off x="970280" y="3655070"/>
            <a:ext cx="3233623" cy="23876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245A9C"/>
                </a:solidFill>
                <a:latin typeface="IBM Plex Sans" pitchFamily="34" charset="0"/>
                <a:ea typeface="IBM Plex Sans" pitchFamily="34" charset="-122"/>
                <a:cs typeface="IBM Plex Sans" pitchFamily="34" charset="-120"/>
              </a:rPr>
              <a:t>Easy to use? (was usability)</a:t>
            </a:r>
            <a:endParaRPr lang="en-US" sz="1200" dirty="0"/>
          </a:p>
        </p:txBody>
      </p:sp>
      <p:sp>
        <p:nvSpPr>
          <p:cNvPr id="20" name="Text 18"/>
          <p:cNvSpPr/>
          <p:nvPr/>
        </p:nvSpPr>
        <p:spPr>
          <a:xfrm>
            <a:off x="970280" y="3893815"/>
            <a:ext cx="32336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First order placed without help</a:t>
            </a:r>
            <a:endParaRPr lang="en-US" sz="1200" dirty="0"/>
          </a:p>
        </p:txBody>
      </p:sp>
      <p:sp>
        <p:nvSpPr>
          <p:cNvPr id="21" name="Shape 19"/>
          <p:cNvSpPr/>
          <p:nvPr/>
        </p:nvSpPr>
        <p:spPr>
          <a:xfrm>
            <a:off x="4371975" y="3282330"/>
            <a:ext cx="3448050" cy="941070"/>
          </a:xfrm>
          <a:prstGeom prst="roundRect">
            <a:avLst>
              <a:gd name="adj" fmla="val 7760"/>
            </a:avLst>
          </a:prstGeom>
          <a:solidFill>
            <a:srgbClr val="FCFBF7"/>
          </a:solidFill>
          <a:ln w="6350">
            <a:solidFill>
              <a:srgbClr val="DDD8CC"/>
            </a:solidFill>
            <a:prstDash val="solid"/>
          </a:ln>
        </p:spPr>
        <p:txBody>
          <a:bodyPr/>
          <a:lstStyle/>
          <a:p>
            <a:endParaRPr lang="en-IN"/>
          </a:p>
        </p:txBody>
      </p:sp>
      <p:sp>
        <p:nvSpPr>
          <p:cNvPr id="22" name="Text 20"/>
          <p:cNvSpPr/>
          <p:nvPr/>
        </p:nvSpPr>
        <p:spPr>
          <a:xfrm>
            <a:off x="4526280" y="3398515"/>
            <a:ext cx="3233623"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Reliability</a:t>
            </a:r>
            <a:endParaRPr lang="en-US" sz="1400" dirty="0"/>
          </a:p>
        </p:txBody>
      </p:sp>
      <p:sp>
        <p:nvSpPr>
          <p:cNvPr id="23" name="Text 21"/>
          <p:cNvSpPr/>
          <p:nvPr/>
        </p:nvSpPr>
        <p:spPr>
          <a:xfrm>
            <a:off x="4526280" y="3655070"/>
            <a:ext cx="3233623" cy="23876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245A9C"/>
                </a:solidFill>
                <a:latin typeface="IBM Plex Sans" pitchFamily="34" charset="0"/>
                <a:ea typeface="IBM Plex Sans" pitchFamily="34" charset="-122"/>
                <a:cs typeface="IBM Plex Sans" pitchFamily="34" charset="-120"/>
              </a:rPr>
              <a:t>Keeps working without failing?</a:t>
            </a:r>
            <a:endParaRPr lang="en-US" sz="1200" dirty="0"/>
          </a:p>
        </p:txBody>
      </p:sp>
      <p:sp>
        <p:nvSpPr>
          <p:cNvPr id="24" name="Text 22"/>
          <p:cNvSpPr/>
          <p:nvPr/>
        </p:nvSpPr>
        <p:spPr>
          <a:xfrm>
            <a:off x="4526280" y="3893815"/>
            <a:ext cx="32336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No lost orders over a full day of use</a:t>
            </a:r>
            <a:endParaRPr lang="en-US" sz="1200" dirty="0"/>
          </a:p>
        </p:txBody>
      </p:sp>
      <p:sp>
        <p:nvSpPr>
          <p:cNvPr id="25" name="Shape 23"/>
          <p:cNvSpPr/>
          <p:nvPr/>
        </p:nvSpPr>
        <p:spPr>
          <a:xfrm>
            <a:off x="7927975" y="3282330"/>
            <a:ext cx="3448050" cy="941070"/>
          </a:xfrm>
          <a:prstGeom prst="roundRect">
            <a:avLst>
              <a:gd name="adj" fmla="val 7760"/>
            </a:avLst>
          </a:prstGeom>
          <a:solidFill>
            <a:srgbClr val="FCFBF7"/>
          </a:solidFill>
          <a:ln w="6350">
            <a:solidFill>
              <a:srgbClr val="DDD8CC"/>
            </a:solidFill>
            <a:prstDash val="solid"/>
          </a:ln>
        </p:spPr>
        <p:txBody>
          <a:bodyPr/>
          <a:lstStyle/>
          <a:p>
            <a:endParaRPr lang="en-IN"/>
          </a:p>
        </p:txBody>
      </p:sp>
      <p:sp>
        <p:nvSpPr>
          <p:cNvPr id="26" name="Text 24"/>
          <p:cNvSpPr/>
          <p:nvPr/>
        </p:nvSpPr>
        <p:spPr>
          <a:xfrm>
            <a:off x="8082280" y="3398515"/>
            <a:ext cx="3233623"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Security</a:t>
            </a:r>
            <a:endParaRPr lang="en-US" sz="1400" dirty="0"/>
          </a:p>
        </p:txBody>
      </p:sp>
      <p:sp>
        <p:nvSpPr>
          <p:cNvPr id="27" name="Text 25"/>
          <p:cNvSpPr/>
          <p:nvPr/>
        </p:nvSpPr>
        <p:spPr>
          <a:xfrm>
            <a:off x="8082280" y="3655070"/>
            <a:ext cx="3233623" cy="23876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245A9C"/>
                </a:solidFill>
                <a:latin typeface="IBM Plex Sans" pitchFamily="34" charset="0"/>
                <a:ea typeface="IBM Plex Sans" pitchFamily="34" charset="-122"/>
                <a:cs typeface="IBM Plex Sans" pitchFamily="34" charset="-120"/>
              </a:rPr>
              <a:t>Protects data and access?</a:t>
            </a:r>
            <a:endParaRPr lang="en-US" sz="1200" dirty="0"/>
          </a:p>
        </p:txBody>
      </p:sp>
      <p:sp>
        <p:nvSpPr>
          <p:cNvPr id="28" name="Text 26"/>
          <p:cNvSpPr/>
          <p:nvPr/>
        </p:nvSpPr>
        <p:spPr>
          <a:xfrm>
            <a:off x="8082280" y="3893815"/>
            <a:ext cx="32336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One student cannot see another's orders</a:t>
            </a:r>
            <a:endParaRPr lang="en-US" sz="1200" dirty="0"/>
          </a:p>
        </p:txBody>
      </p:sp>
      <p:sp>
        <p:nvSpPr>
          <p:cNvPr id="29" name="Shape 27"/>
          <p:cNvSpPr/>
          <p:nvPr/>
        </p:nvSpPr>
        <p:spPr>
          <a:xfrm>
            <a:off x="815975" y="4331345"/>
            <a:ext cx="3448050" cy="941070"/>
          </a:xfrm>
          <a:prstGeom prst="roundRect">
            <a:avLst>
              <a:gd name="adj" fmla="val 7760"/>
            </a:avLst>
          </a:prstGeom>
          <a:solidFill>
            <a:srgbClr val="FCFBF7"/>
          </a:solidFill>
          <a:ln w="6350">
            <a:solidFill>
              <a:srgbClr val="DDD8CC"/>
            </a:solidFill>
            <a:prstDash val="solid"/>
          </a:ln>
        </p:spPr>
        <p:txBody>
          <a:bodyPr/>
          <a:lstStyle/>
          <a:p>
            <a:endParaRPr lang="en-IN"/>
          </a:p>
        </p:txBody>
      </p:sp>
      <p:sp>
        <p:nvSpPr>
          <p:cNvPr id="30" name="Text 28"/>
          <p:cNvSpPr/>
          <p:nvPr/>
        </p:nvSpPr>
        <p:spPr>
          <a:xfrm>
            <a:off x="970280" y="4447555"/>
            <a:ext cx="3233623"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Maintainability</a:t>
            </a:r>
            <a:endParaRPr lang="en-US" sz="1400" dirty="0"/>
          </a:p>
        </p:txBody>
      </p:sp>
      <p:sp>
        <p:nvSpPr>
          <p:cNvPr id="31" name="Text 29"/>
          <p:cNvSpPr/>
          <p:nvPr/>
        </p:nvSpPr>
        <p:spPr>
          <a:xfrm>
            <a:off x="970280" y="4704085"/>
            <a:ext cx="3233623" cy="23876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245A9C"/>
                </a:solidFill>
                <a:latin typeface="IBM Plex Sans" pitchFamily="34" charset="0"/>
                <a:ea typeface="IBM Plex Sans" pitchFamily="34" charset="-122"/>
                <a:cs typeface="IBM Plex Sans" pitchFamily="34" charset="-120"/>
              </a:rPr>
              <a:t>Easy to change and to test?</a:t>
            </a:r>
            <a:endParaRPr lang="en-US" sz="1200" dirty="0"/>
          </a:p>
        </p:txBody>
      </p:sp>
      <p:sp>
        <p:nvSpPr>
          <p:cNvPr id="32" name="Text 30"/>
          <p:cNvSpPr/>
          <p:nvPr/>
        </p:nvSpPr>
        <p:spPr>
          <a:xfrm>
            <a:off x="970280" y="4942855"/>
            <a:ext cx="32336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Static analysis flags complex code</a:t>
            </a:r>
            <a:endParaRPr lang="en-US" sz="1200" dirty="0"/>
          </a:p>
        </p:txBody>
      </p:sp>
      <p:sp>
        <p:nvSpPr>
          <p:cNvPr id="33" name="Shape 31"/>
          <p:cNvSpPr/>
          <p:nvPr/>
        </p:nvSpPr>
        <p:spPr>
          <a:xfrm>
            <a:off x="4371975" y="4331345"/>
            <a:ext cx="3448050" cy="941070"/>
          </a:xfrm>
          <a:prstGeom prst="roundRect">
            <a:avLst>
              <a:gd name="adj" fmla="val 7760"/>
            </a:avLst>
          </a:prstGeom>
          <a:solidFill>
            <a:srgbClr val="FCFBF7"/>
          </a:solidFill>
          <a:ln w="6350">
            <a:solidFill>
              <a:srgbClr val="DDD8CC"/>
            </a:solidFill>
            <a:prstDash val="solid"/>
          </a:ln>
        </p:spPr>
        <p:txBody>
          <a:bodyPr/>
          <a:lstStyle/>
          <a:p>
            <a:endParaRPr lang="en-IN"/>
          </a:p>
        </p:txBody>
      </p:sp>
      <p:sp>
        <p:nvSpPr>
          <p:cNvPr id="34" name="Text 32"/>
          <p:cNvSpPr/>
          <p:nvPr/>
        </p:nvSpPr>
        <p:spPr>
          <a:xfrm>
            <a:off x="4526280" y="4447555"/>
            <a:ext cx="3233623"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Flexibility</a:t>
            </a:r>
            <a:endParaRPr lang="en-US" sz="1400" dirty="0"/>
          </a:p>
        </p:txBody>
      </p:sp>
      <p:sp>
        <p:nvSpPr>
          <p:cNvPr id="35" name="Text 33"/>
          <p:cNvSpPr/>
          <p:nvPr/>
        </p:nvSpPr>
        <p:spPr>
          <a:xfrm>
            <a:off x="4526280" y="4704085"/>
            <a:ext cx="3233623" cy="23876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245A9C"/>
                </a:solidFill>
                <a:latin typeface="IBM Plex Sans" pitchFamily="34" charset="0"/>
                <a:ea typeface="IBM Plex Sans" pitchFamily="34" charset="-122"/>
                <a:cs typeface="IBM Plex Sans" pitchFamily="34" charset="-120"/>
              </a:rPr>
              <a:t>Adapts, scales? (was portability)</a:t>
            </a:r>
            <a:endParaRPr lang="en-US" sz="1200" dirty="0"/>
          </a:p>
        </p:txBody>
      </p:sp>
      <p:sp>
        <p:nvSpPr>
          <p:cNvPr id="36" name="Text 34"/>
          <p:cNvSpPr/>
          <p:nvPr/>
        </p:nvSpPr>
        <p:spPr>
          <a:xfrm>
            <a:off x="4526280" y="4942855"/>
            <a:ext cx="32336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Runs on each new Android release</a:t>
            </a:r>
            <a:endParaRPr lang="en-US" sz="1200" dirty="0"/>
          </a:p>
        </p:txBody>
      </p:sp>
      <p:sp>
        <p:nvSpPr>
          <p:cNvPr id="37" name="Shape 35"/>
          <p:cNvSpPr/>
          <p:nvPr/>
        </p:nvSpPr>
        <p:spPr>
          <a:xfrm>
            <a:off x="7927975" y="4331345"/>
            <a:ext cx="3448050" cy="941070"/>
          </a:xfrm>
          <a:prstGeom prst="roundRect">
            <a:avLst>
              <a:gd name="adj" fmla="val 7760"/>
            </a:avLst>
          </a:prstGeom>
          <a:solidFill>
            <a:srgbClr val="FCFBF7"/>
          </a:solidFill>
          <a:ln w="6350">
            <a:solidFill>
              <a:srgbClr val="DDD8CC"/>
            </a:solidFill>
            <a:prstDash val="solid"/>
          </a:ln>
        </p:spPr>
        <p:txBody>
          <a:bodyPr/>
          <a:lstStyle/>
          <a:p>
            <a:endParaRPr lang="en-IN"/>
          </a:p>
        </p:txBody>
      </p:sp>
      <p:sp>
        <p:nvSpPr>
          <p:cNvPr id="38" name="Text 36"/>
          <p:cNvSpPr/>
          <p:nvPr/>
        </p:nvSpPr>
        <p:spPr>
          <a:xfrm>
            <a:off x="8082280" y="4447555"/>
            <a:ext cx="3233623"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Safety</a:t>
            </a:r>
            <a:endParaRPr lang="en-US" sz="1400" dirty="0"/>
          </a:p>
        </p:txBody>
      </p:sp>
      <p:sp>
        <p:nvSpPr>
          <p:cNvPr id="39" name="Text 37"/>
          <p:cNvSpPr/>
          <p:nvPr/>
        </p:nvSpPr>
        <p:spPr>
          <a:xfrm>
            <a:off x="8082280" y="4704085"/>
            <a:ext cx="3233623" cy="23876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245A9C"/>
                </a:solidFill>
                <a:latin typeface="IBM Plex Sans" pitchFamily="34" charset="0"/>
                <a:ea typeface="IBM Plex Sans" pitchFamily="34" charset="-122"/>
                <a:cs typeface="IBM Plex Sans" pitchFamily="34" charset="-120"/>
              </a:rPr>
              <a:t>Keeps people safe? (new in 2023)</a:t>
            </a:r>
            <a:endParaRPr lang="en-US" sz="1200" dirty="0"/>
          </a:p>
        </p:txBody>
      </p:sp>
      <p:sp>
        <p:nvSpPr>
          <p:cNvPr id="40" name="Text 38"/>
          <p:cNvSpPr/>
          <p:nvPr/>
        </p:nvSpPr>
        <p:spPr>
          <a:xfrm>
            <a:off x="8082280" y="4942855"/>
            <a:ext cx="32336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Allergen details shown on every dish</a:t>
            </a:r>
            <a:endParaRPr lang="en-US" sz="1200" dirty="0"/>
          </a:p>
        </p:txBody>
      </p:sp>
      <p:sp>
        <p:nvSpPr>
          <p:cNvPr id="41" name="Text 39"/>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42" name="Text 40"/>
          <p:cNvSpPr/>
          <p:nvPr/>
        </p:nvSpPr>
        <p:spPr>
          <a:xfrm>
            <a:off x="6301502" y="6238255"/>
            <a:ext cx="523002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ISO/IEC 25010:2023 product quality model · blue card: the functional one</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L5 · NON-FUNCTIONAL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Types of performance testing</a:t>
            </a:r>
            <a:endParaRPr lang="en-US" sz="3200" dirty="0"/>
          </a:p>
        </p:txBody>
      </p:sp>
      <p:sp>
        <p:nvSpPr>
          <p:cNvPr id="4" name="Shape 2"/>
          <p:cNvSpPr/>
          <p:nvPr/>
        </p:nvSpPr>
        <p:spPr>
          <a:xfrm>
            <a:off x="815975" y="1831975"/>
            <a:ext cx="2520950" cy="2536190"/>
          </a:xfrm>
          <a:prstGeom prst="roundRect">
            <a:avLst>
              <a:gd name="adj" fmla="val 2897"/>
            </a:avLst>
          </a:prstGeom>
          <a:solidFill>
            <a:srgbClr val="FCFBF7"/>
          </a:solidFill>
          <a:ln w="6350">
            <a:solidFill>
              <a:srgbClr val="DDD8CC"/>
            </a:solidFill>
            <a:prstDash val="solid"/>
          </a:ln>
        </p:spPr>
        <p:txBody>
          <a:bodyPr/>
          <a:lstStyle/>
          <a:p>
            <a:endParaRPr lang="en-IN"/>
          </a:p>
        </p:txBody>
      </p:sp>
      <p:sp>
        <p:nvSpPr>
          <p:cNvPr id="5" name="Text 3"/>
          <p:cNvSpPr/>
          <p:nvPr/>
        </p:nvSpPr>
        <p:spPr>
          <a:xfrm>
            <a:off x="970280" y="1986285"/>
            <a:ext cx="227871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Load</a:t>
            </a:r>
            <a:endParaRPr lang="en-US" sz="1400" dirty="0"/>
          </a:p>
        </p:txBody>
      </p:sp>
      <p:pic>
        <p:nvPicPr>
          <p:cNvPr id="6" name="Image 0" descr="Load profile: users ramp up to the expected peak, hold steady, then ramp down"/>
          <p:cNvPicPr>
            <a:picLocks noChangeAspect="1"/>
          </p:cNvPicPr>
          <p:nvPr/>
        </p:nvPicPr>
        <p:blipFill>
          <a:blip r:embed="rId3"/>
          <a:srcRect/>
          <a:stretch/>
        </p:blipFill>
        <p:spPr>
          <a:xfrm>
            <a:off x="970280" y="2280915"/>
            <a:ext cx="2222500" cy="952500"/>
          </a:xfrm>
          <a:prstGeom prst="rect">
            <a:avLst/>
          </a:prstGeom>
        </p:spPr>
      </p:pic>
      <p:sp>
        <p:nvSpPr>
          <p:cNvPr id="7" name="Text 4"/>
          <p:cNvSpPr/>
          <p:nvPr/>
        </p:nvSpPr>
        <p:spPr>
          <a:xfrm>
            <a:off x="970280" y="3296915"/>
            <a:ext cx="227871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Expected peak load, held steady</a:t>
            </a:r>
            <a:endParaRPr lang="en-US" sz="1200" dirty="0"/>
          </a:p>
        </p:txBody>
      </p:sp>
      <p:sp>
        <p:nvSpPr>
          <p:cNvPr id="8" name="Text 5"/>
          <p:cNvSpPr/>
          <p:nvPr/>
        </p:nvSpPr>
        <p:spPr>
          <a:xfrm>
            <a:off x="970280" y="3573785"/>
            <a:ext cx="227871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usual lunch-hour crowd for 30 minutes</a:t>
            </a:r>
            <a:endParaRPr lang="en-US" sz="1200" dirty="0"/>
          </a:p>
        </p:txBody>
      </p:sp>
      <p:sp>
        <p:nvSpPr>
          <p:cNvPr id="9" name="Shape 6"/>
          <p:cNvSpPr/>
          <p:nvPr/>
        </p:nvSpPr>
        <p:spPr>
          <a:xfrm>
            <a:off x="3495675" y="1831975"/>
            <a:ext cx="2520950" cy="2536190"/>
          </a:xfrm>
          <a:prstGeom prst="roundRect">
            <a:avLst>
              <a:gd name="adj" fmla="val 2897"/>
            </a:avLst>
          </a:prstGeom>
          <a:solidFill>
            <a:srgbClr val="FCFBF7"/>
          </a:solidFill>
          <a:ln w="6350">
            <a:solidFill>
              <a:srgbClr val="DDD8CC"/>
            </a:solidFill>
            <a:prstDash val="solid"/>
          </a:ln>
        </p:spPr>
        <p:txBody>
          <a:bodyPr/>
          <a:lstStyle/>
          <a:p>
            <a:endParaRPr lang="en-IN"/>
          </a:p>
        </p:txBody>
      </p:sp>
      <p:sp>
        <p:nvSpPr>
          <p:cNvPr id="10" name="Text 7"/>
          <p:cNvSpPr/>
          <p:nvPr/>
        </p:nvSpPr>
        <p:spPr>
          <a:xfrm>
            <a:off x="3649980" y="1986285"/>
            <a:ext cx="227871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Stress</a:t>
            </a:r>
            <a:endParaRPr lang="en-US" sz="1400" dirty="0"/>
          </a:p>
        </p:txBody>
      </p:sp>
      <p:pic>
        <p:nvPicPr>
          <p:cNvPr id="11" name="Image 1" descr="Stress profile: users rise in steps past the expected peak until the system breaks"/>
          <p:cNvPicPr>
            <a:picLocks noChangeAspect="1"/>
          </p:cNvPicPr>
          <p:nvPr/>
        </p:nvPicPr>
        <p:blipFill>
          <a:blip r:embed="rId4"/>
          <a:srcRect/>
          <a:stretch/>
        </p:blipFill>
        <p:spPr>
          <a:xfrm>
            <a:off x="3649980" y="2280915"/>
            <a:ext cx="2222500" cy="952500"/>
          </a:xfrm>
          <a:prstGeom prst="rect">
            <a:avLst/>
          </a:prstGeom>
        </p:spPr>
      </p:pic>
      <p:sp>
        <p:nvSpPr>
          <p:cNvPr id="12" name="Text 8"/>
          <p:cNvSpPr/>
          <p:nvPr/>
        </p:nvSpPr>
        <p:spPr>
          <a:xfrm>
            <a:off x="3649980" y="3296915"/>
            <a:ext cx="227871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Push past the peak until it breaks</a:t>
            </a:r>
            <a:endParaRPr lang="en-US" sz="1200" dirty="0"/>
          </a:p>
        </p:txBody>
      </p:sp>
      <p:sp>
        <p:nvSpPr>
          <p:cNvPr id="13" name="Text 9"/>
          <p:cNvSpPr/>
          <p:nvPr/>
        </p:nvSpPr>
        <p:spPr>
          <a:xfrm>
            <a:off x="3649980" y="3787155"/>
            <a:ext cx="227871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Keep adding users to find the breaking point</a:t>
            </a:r>
            <a:endParaRPr lang="en-US" sz="1200" dirty="0"/>
          </a:p>
        </p:txBody>
      </p:sp>
      <p:sp>
        <p:nvSpPr>
          <p:cNvPr id="14" name="Shape 10"/>
          <p:cNvSpPr/>
          <p:nvPr/>
        </p:nvSpPr>
        <p:spPr>
          <a:xfrm>
            <a:off x="6175375" y="1831975"/>
            <a:ext cx="2520950" cy="2536190"/>
          </a:xfrm>
          <a:prstGeom prst="roundRect">
            <a:avLst>
              <a:gd name="adj" fmla="val 2897"/>
            </a:avLst>
          </a:prstGeom>
          <a:solidFill>
            <a:srgbClr val="FCFBF7"/>
          </a:solidFill>
          <a:ln w="6350">
            <a:solidFill>
              <a:srgbClr val="DDD8CC"/>
            </a:solidFill>
            <a:prstDash val="solid"/>
          </a:ln>
        </p:spPr>
        <p:txBody>
          <a:bodyPr/>
          <a:lstStyle/>
          <a:p>
            <a:endParaRPr lang="en-IN"/>
          </a:p>
        </p:txBody>
      </p:sp>
      <p:sp>
        <p:nvSpPr>
          <p:cNvPr id="15" name="Text 11"/>
          <p:cNvSpPr/>
          <p:nvPr/>
        </p:nvSpPr>
        <p:spPr>
          <a:xfrm>
            <a:off x="6329680" y="1986285"/>
            <a:ext cx="227871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Spike</a:t>
            </a:r>
            <a:endParaRPr lang="en-US" sz="1400" dirty="0"/>
          </a:p>
        </p:txBody>
      </p:sp>
      <p:pic>
        <p:nvPicPr>
          <p:cNvPr id="16" name="Image 2" descr="Spike profile: low steady load, a sudden jump far above the peak, then back down"/>
          <p:cNvPicPr>
            <a:picLocks noChangeAspect="1"/>
          </p:cNvPicPr>
          <p:nvPr/>
        </p:nvPicPr>
        <p:blipFill>
          <a:blip r:embed="rId5"/>
          <a:srcRect/>
          <a:stretch/>
        </p:blipFill>
        <p:spPr>
          <a:xfrm>
            <a:off x="6329680" y="2280915"/>
            <a:ext cx="2222500" cy="952500"/>
          </a:xfrm>
          <a:prstGeom prst="rect">
            <a:avLst/>
          </a:prstGeom>
        </p:spPr>
      </p:pic>
      <p:sp>
        <p:nvSpPr>
          <p:cNvPr id="17" name="Text 12"/>
          <p:cNvSpPr/>
          <p:nvPr/>
        </p:nvSpPr>
        <p:spPr>
          <a:xfrm>
            <a:off x="6329680" y="3296915"/>
            <a:ext cx="227871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A sudden jump in users</a:t>
            </a:r>
            <a:endParaRPr lang="en-US" sz="1200" dirty="0"/>
          </a:p>
        </p:txBody>
      </p:sp>
      <p:sp>
        <p:nvSpPr>
          <p:cNvPr id="18" name="Text 13"/>
          <p:cNvSpPr/>
          <p:nvPr/>
        </p:nvSpPr>
        <p:spPr>
          <a:xfrm>
            <a:off x="6329680" y="3573785"/>
            <a:ext cx="227871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Everyone orders the moment the lecture ends</a:t>
            </a:r>
            <a:endParaRPr lang="en-US" sz="1200" dirty="0"/>
          </a:p>
        </p:txBody>
      </p:sp>
      <p:sp>
        <p:nvSpPr>
          <p:cNvPr id="19" name="Shape 14"/>
          <p:cNvSpPr/>
          <p:nvPr/>
        </p:nvSpPr>
        <p:spPr>
          <a:xfrm>
            <a:off x="8855075" y="1831975"/>
            <a:ext cx="2520950" cy="2536190"/>
          </a:xfrm>
          <a:prstGeom prst="roundRect">
            <a:avLst>
              <a:gd name="adj" fmla="val 2897"/>
            </a:avLst>
          </a:prstGeom>
          <a:solidFill>
            <a:srgbClr val="FCFBF7"/>
          </a:solidFill>
          <a:ln w="6350">
            <a:solidFill>
              <a:srgbClr val="DDD8CC"/>
            </a:solidFill>
            <a:prstDash val="solid"/>
          </a:ln>
        </p:spPr>
        <p:txBody>
          <a:bodyPr/>
          <a:lstStyle/>
          <a:p>
            <a:endParaRPr lang="en-IN"/>
          </a:p>
        </p:txBody>
      </p:sp>
      <p:sp>
        <p:nvSpPr>
          <p:cNvPr id="20" name="Text 15"/>
          <p:cNvSpPr/>
          <p:nvPr/>
        </p:nvSpPr>
        <p:spPr>
          <a:xfrm>
            <a:off x="9009380" y="1986285"/>
            <a:ext cx="227871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Endurance (soak)</a:t>
            </a:r>
            <a:endParaRPr lang="en-US" sz="1400" dirty="0"/>
          </a:p>
        </p:txBody>
      </p:sp>
      <p:pic>
        <p:nvPicPr>
          <p:cNvPr id="21" name="Image 3" descr="Soak profile: normal load held for a long time"/>
          <p:cNvPicPr>
            <a:picLocks noChangeAspect="1"/>
          </p:cNvPicPr>
          <p:nvPr/>
        </p:nvPicPr>
        <p:blipFill>
          <a:blip r:embed="rId6"/>
          <a:srcRect/>
          <a:stretch/>
        </p:blipFill>
        <p:spPr>
          <a:xfrm>
            <a:off x="9009380" y="2280915"/>
            <a:ext cx="2222500" cy="952500"/>
          </a:xfrm>
          <a:prstGeom prst="rect">
            <a:avLst/>
          </a:prstGeom>
        </p:spPr>
      </p:pic>
      <p:sp>
        <p:nvSpPr>
          <p:cNvPr id="22" name="Text 16"/>
          <p:cNvSpPr/>
          <p:nvPr/>
        </p:nvSpPr>
        <p:spPr>
          <a:xfrm>
            <a:off x="9009380" y="3296915"/>
            <a:ext cx="227871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Normal load for many hours</a:t>
            </a:r>
            <a:endParaRPr lang="en-US" sz="1200" dirty="0"/>
          </a:p>
        </p:txBody>
      </p:sp>
      <p:sp>
        <p:nvSpPr>
          <p:cNvPr id="23" name="Text 17"/>
          <p:cNvSpPr/>
          <p:nvPr/>
        </p:nvSpPr>
        <p:spPr>
          <a:xfrm>
            <a:off x="9009380" y="3573785"/>
            <a:ext cx="227871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A full day of traffic, to expose memory leaks</a:t>
            </a:r>
            <a:endParaRPr lang="en-US" sz="1200" dirty="0"/>
          </a:p>
        </p:txBody>
      </p:sp>
      <p:sp>
        <p:nvSpPr>
          <p:cNvPr id="24" name="Text 18"/>
          <p:cNvSpPr/>
          <p:nvPr/>
        </p:nvSpPr>
        <p:spPr>
          <a:xfrm>
            <a:off x="812800" y="4625355"/>
            <a:ext cx="5337048"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Measure:</a:t>
            </a:r>
            <a:r>
              <a:rPr lang="en-US" sz="1200" dirty="0">
                <a:solidFill>
                  <a:srgbClr val="13233A"/>
                </a:solidFill>
                <a:latin typeface="IBM Plex Sans" pitchFamily="34" charset="0"/>
                <a:ea typeface="IBM Plex Sans" pitchFamily="34" charset="-122"/>
                <a:cs typeface="IBM Plex Sans" pitchFamily="34" charset="-120"/>
              </a:rPr>
              <a:t> response time (for example the 95th percentile), throughput, error rate, CPU and memory</a:t>
            </a:r>
            <a:endParaRPr lang="en-US" sz="1200" dirty="0"/>
          </a:p>
        </p:txBody>
      </p:sp>
      <p:sp>
        <p:nvSpPr>
          <p:cNvPr id="25" name="Text 19"/>
          <p:cNvSpPr/>
          <p:nvPr/>
        </p:nvSpPr>
        <p:spPr>
          <a:xfrm>
            <a:off x="6197600" y="4625355"/>
            <a:ext cx="5337048"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Tools:</a:t>
            </a:r>
            <a:r>
              <a:rPr lang="en-US" sz="1200" dirty="0">
                <a:solidFill>
                  <a:srgbClr val="13233A"/>
                </a:solidFill>
                <a:latin typeface="IBM Plex Sans" pitchFamily="34" charset="0"/>
                <a:ea typeface="IBM Plex Sans" pitchFamily="34" charset="-122"/>
                <a:cs typeface="IBM Plex Sans" pitchFamily="34" charset="-120"/>
              </a:rPr>
              <a:t> JMeter, k6, Locust, Gatling · </a:t>
            </a:r>
            <a:r>
              <a:rPr lang="en-US" sz="1200" b="1" dirty="0">
                <a:solidFill>
                  <a:srgbClr val="13233A"/>
                </a:solidFill>
                <a:latin typeface="IBM Plex Sans" pitchFamily="34" charset="0"/>
                <a:ea typeface="IBM Plex Sans" pitchFamily="34" charset="-122"/>
                <a:cs typeface="IBM Plex Sans" pitchFamily="34" charset="-120"/>
              </a:rPr>
              <a:t>Related:</a:t>
            </a:r>
            <a:r>
              <a:rPr lang="en-US" sz="1200" dirty="0">
                <a:solidFill>
                  <a:srgbClr val="13233A"/>
                </a:solidFill>
                <a:latin typeface="IBM Plex Sans" pitchFamily="34" charset="0"/>
                <a:ea typeface="IBM Plex Sans" pitchFamily="34" charset="-122"/>
                <a:cs typeface="IBM Plex Sans" pitchFamily="34" charset="-120"/>
              </a:rPr>
              <a:t> scalability and volume testing</a:t>
            </a:r>
            <a:endParaRPr lang="en-US" sz="1200" dirty="0"/>
          </a:p>
        </p:txBody>
      </p:sp>
      <p:sp>
        <p:nvSpPr>
          <p:cNvPr id="26" name="Text 20"/>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7" name="Text 21"/>
          <p:cNvSpPr/>
          <p:nvPr/>
        </p:nvSpPr>
        <p:spPr>
          <a:xfrm>
            <a:off x="7196852" y="6238255"/>
            <a:ext cx="430781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Each chart: users over time · dashed line: expected peak load</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L5 · FUNCTIONAL AND NON-FUNCTIONAL</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Functional vs non-functional, side by side</a:t>
            </a:r>
            <a:endParaRPr lang="en-US" sz="3200" dirty="0"/>
          </a:p>
        </p:txBody>
      </p:sp>
      <p:sp>
        <p:nvSpPr>
          <p:cNvPr id="4" name="Shape 2"/>
          <p:cNvSpPr/>
          <p:nvPr/>
        </p:nvSpPr>
        <p:spPr>
          <a:xfrm>
            <a:off x="11376025" y="1828800"/>
            <a:ext cx="0" cy="2700020"/>
          </a:xfrm>
          <a:prstGeom prst="line">
            <a:avLst/>
          </a:prstGeom>
          <a:noFill/>
          <a:ln w="6350">
            <a:solidFill>
              <a:srgbClr val="DDD8CC"/>
            </a:solidFill>
            <a:prstDash val="solid"/>
          </a:ln>
        </p:spPr>
        <p:txBody>
          <a:bodyPr/>
          <a:lstStyle/>
          <a:p>
            <a:endParaRPr lang="en-IN"/>
          </a:p>
        </p:txBody>
      </p:sp>
      <p:sp>
        <p:nvSpPr>
          <p:cNvPr id="5" name="Shape 3"/>
          <p:cNvSpPr/>
          <p:nvPr/>
        </p:nvSpPr>
        <p:spPr>
          <a:xfrm>
            <a:off x="812800" y="4525645"/>
            <a:ext cx="10566400" cy="0"/>
          </a:xfrm>
          <a:prstGeom prst="line">
            <a:avLst/>
          </a:prstGeom>
          <a:noFill/>
          <a:ln w="6350">
            <a:solidFill>
              <a:srgbClr val="DDD8CC"/>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59" cy="2684780"/>
        </p:xfrm>
        <a:graphic>
          <a:graphicData uri="http://schemas.openxmlformats.org/drawingml/2006/table">
            <a:tbl>
              <a:tblPr/>
              <a:tblGrid>
                <a:gridCol w="2321255">
                  <a:extLst>
                    <a:ext uri="{9D8B030D-6E8A-4147-A177-3AD203B41FA5}">
                      <a16:colId xmlns:a16="http://schemas.microsoft.com/office/drawing/2014/main" val="20000"/>
                    </a:ext>
                  </a:extLst>
                </a:gridCol>
                <a:gridCol w="4114952">
                  <a:extLst>
                    <a:ext uri="{9D8B030D-6E8A-4147-A177-3AD203B41FA5}">
                      <a16:colId xmlns:a16="http://schemas.microsoft.com/office/drawing/2014/main" val="20001"/>
                    </a:ext>
                  </a:extLst>
                </a:gridCol>
                <a:gridCol w="4114952">
                  <a:extLst>
                    <a:ext uri="{9D8B030D-6E8A-4147-A177-3AD203B41FA5}">
                      <a16:colId xmlns:a16="http://schemas.microsoft.com/office/drawing/2014/main" val="20002"/>
                    </a:ext>
                  </a:extLst>
                </a:gridCol>
              </a:tblGrid>
              <a:tr h="383540">
                <a:tc>
                  <a:txBody>
                    <a:bodyPr/>
                    <a:lstStyle/>
                    <a:p>
                      <a:pPr marL="0" indent="0">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Functional</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Non-functional</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Question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What does the system do?</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How well does it do it?</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Based 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Functional requirements, use cases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Quality requirements (ISO/IEC 25010)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Example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SAVE20 takes ₹100 off an ₹800 order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Checkout responds within 2 s at peak</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Result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Pass or fail against expected output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Measured against a target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Typical tools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pytest, Selenium, Postman</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JMeter, k6, OWASP ZAP, Lighthouse</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In the pipeline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Every commit and build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Nightly or pre-release; quick checks per build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6"/>
                  </a:ext>
                </a:extLst>
              </a:tr>
            </a:tbl>
          </a:graphicData>
        </a:graphic>
      </p:graphicFrame>
      <p:sp>
        <p:nvSpPr>
          <p:cNvPr id="7" name="Text 4"/>
          <p:cNvSpPr/>
          <p:nvPr/>
        </p:nvSpPr>
        <p:spPr>
          <a:xfrm>
            <a:off x="812800" y="4782815"/>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Both are needed: a correct app that is slow, insecure or confusing still fails its users.</a:t>
            </a:r>
            <a:endParaRPr lang="en-US" sz="1400" dirty="0"/>
          </a:p>
        </p:txBody>
      </p:sp>
      <p:sp>
        <p:nvSpPr>
          <p:cNvPr id="8" name="Text 5"/>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L5 · END-TO-END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End-to-end testing</a:t>
            </a:r>
            <a:endParaRPr lang="en-US" sz="3200" dirty="0"/>
          </a:p>
        </p:txBody>
      </p:sp>
      <p:sp>
        <p:nvSpPr>
          <p:cNvPr id="4" name="Text 2"/>
          <p:cNvSpPr/>
          <p:nvPr/>
        </p:nvSpPr>
        <p:spPr>
          <a:xfrm>
            <a:off x="812800" y="1828800"/>
            <a:ext cx="981075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Tests a complete user journey through every layer and connected system, from the first action to the final outcome, in a production-like environment.</a:t>
            </a:r>
            <a:endParaRPr lang="en-US" sz="1400" dirty="0"/>
          </a:p>
        </p:txBody>
      </p:sp>
      <p:sp>
        <p:nvSpPr>
          <p:cNvPr id="5" name="Shape 3"/>
          <p:cNvSpPr/>
          <p:nvPr/>
        </p:nvSpPr>
        <p:spPr>
          <a:xfrm>
            <a:off x="812800" y="2580655"/>
            <a:ext cx="1549400" cy="716280"/>
          </a:xfrm>
          <a:prstGeom prst="roundRect">
            <a:avLst>
              <a:gd name="adj" fmla="val 10638"/>
            </a:avLst>
          </a:prstGeom>
          <a:solidFill>
            <a:srgbClr val="13233A"/>
          </a:solidFill>
          <a:ln/>
        </p:spPr>
        <p:txBody>
          <a:bodyPr/>
          <a:lstStyle/>
          <a:p>
            <a:endParaRPr lang="en-IN"/>
          </a:p>
        </p:txBody>
      </p:sp>
      <p:sp>
        <p:nvSpPr>
          <p:cNvPr id="6" name="Text 4"/>
          <p:cNvSpPr/>
          <p:nvPr/>
        </p:nvSpPr>
        <p:spPr>
          <a:xfrm>
            <a:off x="1194118" y="2823220"/>
            <a:ext cx="786765" cy="256540"/>
          </a:xfrm>
          <a:prstGeom prst="rect">
            <a:avLst/>
          </a:prstGeom>
          <a:noFill/>
          <a:ln/>
        </p:spPr>
        <p:txBody>
          <a:bodyPr wrap="square" lIns="0" tIns="0" rIns="0" bIns="0" rtlCol="0" anchor="t">
            <a:normAutofit/>
          </a:bodyPr>
          <a:lstStyle/>
          <a:p>
            <a:pPr marL="0" indent="0" algn="ctr">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1 · Log in</a:t>
            </a:r>
            <a:endParaRPr lang="en-US" sz="1400" dirty="0"/>
          </a:p>
        </p:txBody>
      </p:sp>
      <p:pic>
        <p:nvPicPr>
          <p:cNvPr id="7" name="Image 0" descr="connector"/>
          <p:cNvPicPr>
            <a:picLocks noChangeAspect="1"/>
          </p:cNvPicPr>
          <p:nvPr/>
        </p:nvPicPr>
        <p:blipFill>
          <a:blip r:embed="rId3"/>
          <a:srcRect/>
          <a:stretch/>
        </p:blipFill>
        <p:spPr>
          <a:xfrm>
            <a:off x="2362200" y="2887985"/>
            <a:ext cx="254000" cy="101600"/>
          </a:xfrm>
          <a:prstGeom prst="rect">
            <a:avLst/>
          </a:prstGeom>
        </p:spPr>
      </p:pic>
      <p:sp>
        <p:nvSpPr>
          <p:cNvPr id="8" name="Shape 5"/>
          <p:cNvSpPr/>
          <p:nvPr/>
        </p:nvSpPr>
        <p:spPr>
          <a:xfrm>
            <a:off x="2616200" y="2580655"/>
            <a:ext cx="1549400" cy="716280"/>
          </a:xfrm>
          <a:prstGeom prst="roundRect">
            <a:avLst>
              <a:gd name="adj" fmla="val 10638"/>
            </a:avLst>
          </a:prstGeom>
          <a:solidFill>
            <a:srgbClr val="13233A"/>
          </a:solidFill>
          <a:ln/>
        </p:spPr>
        <p:txBody>
          <a:bodyPr/>
          <a:lstStyle/>
          <a:p>
            <a:endParaRPr lang="en-IN"/>
          </a:p>
        </p:txBody>
      </p:sp>
      <p:sp>
        <p:nvSpPr>
          <p:cNvPr id="9" name="Text 6"/>
          <p:cNvSpPr/>
          <p:nvPr/>
        </p:nvSpPr>
        <p:spPr>
          <a:xfrm>
            <a:off x="2692400" y="2707655"/>
            <a:ext cx="1397000" cy="487680"/>
          </a:xfrm>
          <a:prstGeom prst="rect">
            <a:avLst/>
          </a:prstGeom>
          <a:noFill/>
          <a:ln/>
        </p:spPr>
        <p:txBody>
          <a:bodyPr wrap="square" lIns="0" tIns="0" rIns="0" bIns="0" rtlCol="0" anchor="t">
            <a:normAutofit/>
          </a:bodyPr>
          <a:lstStyle/>
          <a:p>
            <a:pPr marL="0" indent="0" algn="ctr">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2 · Browse menu</a:t>
            </a:r>
            <a:endParaRPr lang="en-US" sz="1400" dirty="0"/>
          </a:p>
        </p:txBody>
      </p:sp>
      <p:pic>
        <p:nvPicPr>
          <p:cNvPr id="10" name="Image 1" descr="connector"/>
          <p:cNvPicPr>
            <a:picLocks noChangeAspect="1"/>
          </p:cNvPicPr>
          <p:nvPr/>
        </p:nvPicPr>
        <p:blipFill>
          <a:blip r:embed="rId3"/>
          <a:srcRect/>
          <a:stretch/>
        </p:blipFill>
        <p:spPr>
          <a:xfrm>
            <a:off x="4165600" y="2887985"/>
            <a:ext cx="254000" cy="101600"/>
          </a:xfrm>
          <a:prstGeom prst="rect">
            <a:avLst/>
          </a:prstGeom>
        </p:spPr>
      </p:pic>
      <p:sp>
        <p:nvSpPr>
          <p:cNvPr id="11" name="Shape 7"/>
          <p:cNvSpPr/>
          <p:nvPr/>
        </p:nvSpPr>
        <p:spPr>
          <a:xfrm>
            <a:off x="4419600" y="2580655"/>
            <a:ext cx="1549400" cy="716280"/>
          </a:xfrm>
          <a:prstGeom prst="roundRect">
            <a:avLst>
              <a:gd name="adj" fmla="val 10638"/>
            </a:avLst>
          </a:prstGeom>
          <a:solidFill>
            <a:srgbClr val="13233A"/>
          </a:solidFill>
          <a:ln/>
        </p:spPr>
        <p:txBody>
          <a:bodyPr/>
          <a:lstStyle/>
          <a:p>
            <a:endParaRPr lang="en-IN"/>
          </a:p>
        </p:txBody>
      </p:sp>
      <p:sp>
        <p:nvSpPr>
          <p:cNvPr id="12" name="Text 8"/>
          <p:cNvSpPr/>
          <p:nvPr/>
        </p:nvSpPr>
        <p:spPr>
          <a:xfrm>
            <a:off x="4587399" y="2823220"/>
            <a:ext cx="1213803" cy="256540"/>
          </a:xfrm>
          <a:prstGeom prst="rect">
            <a:avLst/>
          </a:prstGeom>
          <a:noFill/>
          <a:ln/>
        </p:spPr>
        <p:txBody>
          <a:bodyPr wrap="square" lIns="0" tIns="0" rIns="0" bIns="0" rtlCol="0" anchor="t">
            <a:normAutofit/>
          </a:bodyPr>
          <a:lstStyle/>
          <a:p>
            <a:pPr marL="0" indent="0" algn="ctr">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3 · Add to cart</a:t>
            </a:r>
            <a:endParaRPr lang="en-US" sz="1400" dirty="0"/>
          </a:p>
        </p:txBody>
      </p:sp>
      <p:pic>
        <p:nvPicPr>
          <p:cNvPr id="13" name="Image 2" descr="connector"/>
          <p:cNvPicPr>
            <a:picLocks noChangeAspect="1"/>
          </p:cNvPicPr>
          <p:nvPr/>
        </p:nvPicPr>
        <p:blipFill>
          <a:blip r:embed="rId3"/>
          <a:srcRect/>
          <a:stretch/>
        </p:blipFill>
        <p:spPr>
          <a:xfrm>
            <a:off x="5969000" y="2887985"/>
            <a:ext cx="254000" cy="101600"/>
          </a:xfrm>
          <a:prstGeom prst="rect">
            <a:avLst/>
          </a:prstGeom>
        </p:spPr>
      </p:pic>
      <p:sp>
        <p:nvSpPr>
          <p:cNvPr id="14" name="Shape 9"/>
          <p:cNvSpPr/>
          <p:nvPr/>
        </p:nvSpPr>
        <p:spPr>
          <a:xfrm>
            <a:off x="6223000" y="2580655"/>
            <a:ext cx="1549400" cy="716280"/>
          </a:xfrm>
          <a:prstGeom prst="roundRect">
            <a:avLst>
              <a:gd name="adj" fmla="val 10638"/>
            </a:avLst>
          </a:prstGeom>
          <a:solidFill>
            <a:srgbClr val="13233A"/>
          </a:solidFill>
          <a:ln/>
        </p:spPr>
        <p:txBody>
          <a:bodyPr/>
          <a:lstStyle/>
          <a:p>
            <a:endParaRPr lang="en-IN"/>
          </a:p>
        </p:txBody>
      </p:sp>
      <p:sp>
        <p:nvSpPr>
          <p:cNvPr id="15" name="Text 10"/>
          <p:cNvSpPr/>
          <p:nvPr/>
        </p:nvSpPr>
        <p:spPr>
          <a:xfrm>
            <a:off x="6299200" y="2707655"/>
            <a:ext cx="1397000" cy="487680"/>
          </a:xfrm>
          <a:prstGeom prst="rect">
            <a:avLst/>
          </a:prstGeom>
          <a:noFill/>
          <a:ln/>
        </p:spPr>
        <p:txBody>
          <a:bodyPr wrap="square" lIns="0" tIns="0" rIns="0" bIns="0" rtlCol="0" anchor="t">
            <a:normAutofit/>
          </a:bodyPr>
          <a:lstStyle/>
          <a:p>
            <a:pPr marL="0" indent="0" algn="ctr">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4 · Apply SAVE20</a:t>
            </a:r>
            <a:endParaRPr lang="en-US" sz="1400" dirty="0"/>
          </a:p>
        </p:txBody>
      </p:sp>
      <p:pic>
        <p:nvPicPr>
          <p:cNvPr id="16" name="Image 3" descr="connector"/>
          <p:cNvPicPr>
            <a:picLocks noChangeAspect="1"/>
          </p:cNvPicPr>
          <p:nvPr/>
        </p:nvPicPr>
        <p:blipFill>
          <a:blip r:embed="rId3"/>
          <a:srcRect/>
          <a:stretch/>
        </p:blipFill>
        <p:spPr>
          <a:xfrm>
            <a:off x="7772400" y="2887985"/>
            <a:ext cx="254000" cy="101600"/>
          </a:xfrm>
          <a:prstGeom prst="rect">
            <a:avLst/>
          </a:prstGeom>
        </p:spPr>
      </p:pic>
      <p:sp>
        <p:nvSpPr>
          <p:cNvPr id="17" name="Shape 11"/>
          <p:cNvSpPr/>
          <p:nvPr/>
        </p:nvSpPr>
        <p:spPr>
          <a:xfrm>
            <a:off x="8026400" y="2580655"/>
            <a:ext cx="1549400" cy="716280"/>
          </a:xfrm>
          <a:prstGeom prst="roundRect">
            <a:avLst>
              <a:gd name="adj" fmla="val 10638"/>
            </a:avLst>
          </a:prstGeom>
          <a:solidFill>
            <a:srgbClr val="13233A"/>
          </a:solidFill>
          <a:ln/>
        </p:spPr>
        <p:txBody>
          <a:bodyPr/>
          <a:lstStyle/>
          <a:p>
            <a:endParaRPr lang="en-IN"/>
          </a:p>
        </p:txBody>
      </p:sp>
      <p:sp>
        <p:nvSpPr>
          <p:cNvPr id="18" name="Text 12"/>
          <p:cNvSpPr/>
          <p:nvPr/>
        </p:nvSpPr>
        <p:spPr>
          <a:xfrm>
            <a:off x="8102600" y="2707655"/>
            <a:ext cx="1397000" cy="487680"/>
          </a:xfrm>
          <a:prstGeom prst="rect">
            <a:avLst/>
          </a:prstGeom>
          <a:noFill/>
          <a:ln/>
        </p:spPr>
        <p:txBody>
          <a:bodyPr wrap="square" lIns="0" tIns="0" rIns="0" bIns="0" rtlCol="0" anchor="t">
            <a:normAutofit/>
          </a:bodyPr>
          <a:lstStyle/>
          <a:p>
            <a:pPr marL="0" indent="0" algn="ctr">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5 · Pay by wallet</a:t>
            </a:r>
            <a:endParaRPr lang="en-US" sz="1400" dirty="0"/>
          </a:p>
        </p:txBody>
      </p:sp>
      <p:pic>
        <p:nvPicPr>
          <p:cNvPr id="19" name="Image 4" descr="connector"/>
          <p:cNvPicPr>
            <a:picLocks noChangeAspect="1"/>
          </p:cNvPicPr>
          <p:nvPr/>
        </p:nvPicPr>
        <p:blipFill>
          <a:blip r:embed="rId3"/>
          <a:srcRect/>
          <a:stretch/>
        </p:blipFill>
        <p:spPr>
          <a:xfrm>
            <a:off x="9575800" y="2887985"/>
            <a:ext cx="254000" cy="101600"/>
          </a:xfrm>
          <a:prstGeom prst="rect">
            <a:avLst/>
          </a:prstGeom>
        </p:spPr>
      </p:pic>
      <p:sp>
        <p:nvSpPr>
          <p:cNvPr id="20" name="Shape 13"/>
          <p:cNvSpPr/>
          <p:nvPr/>
        </p:nvSpPr>
        <p:spPr>
          <a:xfrm>
            <a:off x="9829800" y="2580655"/>
            <a:ext cx="1549400" cy="716280"/>
          </a:xfrm>
          <a:prstGeom prst="roundRect">
            <a:avLst>
              <a:gd name="adj" fmla="val 10638"/>
            </a:avLst>
          </a:prstGeom>
          <a:solidFill>
            <a:srgbClr val="13233A"/>
          </a:solidFill>
          <a:ln/>
        </p:spPr>
        <p:txBody>
          <a:bodyPr/>
          <a:lstStyle/>
          <a:p>
            <a:endParaRPr lang="en-IN"/>
          </a:p>
        </p:txBody>
      </p:sp>
      <p:sp>
        <p:nvSpPr>
          <p:cNvPr id="21" name="Text 14"/>
          <p:cNvSpPr/>
          <p:nvPr/>
        </p:nvSpPr>
        <p:spPr>
          <a:xfrm>
            <a:off x="9982518" y="2823220"/>
            <a:ext cx="1243965" cy="256540"/>
          </a:xfrm>
          <a:prstGeom prst="rect">
            <a:avLst/>
          </a:prstGeom>
          <a:noFill/>
          <a:ln/>
        </p:spPr>
        <p:txBody>
          <a:bodyPr wrap="square" lIns="0" tIns="0" rIns="0" bIns="0" rtlCol="0" anchor="t">
            <a:normAutofit/>
          </a:bodyPr>
          <a:lstStyle/>
          <a:p>
            <a:pPr marL="0" indent="0" algn="ctr">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6 · Track order</a:t>
            </a:r>
            <a:endParaRPr lang="en-US" sz="1400" dirty="0"/>
          </a:p>
        </p:txBody>
      </p:sp>
      <p:sp>
        <p:nvSpPr>
          <p:cNvPr id="22" name="Text 15"/>
          <p:cNvSpPr/>
          <p:nvPr/>
        </p:nvSpPr>
        <p:spPr>
          <a:xfrm>
            <a:off x="812800" y="3619500"/>
            <a:ext cx="77978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E6977"/>
                </a:solidFill>
                <a:latin typeface="JetBrains Mono" pitchFamily="34" charset="0"/>
                <a:ea typeface="JetBrains Mono" pitchFamily="34" charset="-122"/>
                <a:cs typeface="JetBrains Mono" pitchFamily="34" charset="-120"/>
              </a:rPr>
              <a:t>TOUCHES</a:t>
            </a:r>
            <a:endParaRPr lang="en-US" sz="1200" dirty="0"/>
          </a:p>
        </p:txBody>
      </p:sp>
      <p:sp>
        <p:nvSpPr>
          <p:cNvPr id="23" name="Shape 16"/>
          <p:cNvSpPr/>
          <p:nvPr/>
        </p:nvSpPr>
        <p:spPr>
          <a:xfrm>
            <a:off x="1646555" y="3554090"/>
            <a:ext cx="1587341" cy="344170"/>
          </a:xfrm>
          <a:prstGeom prst="roundRect">
            <a:avLst>
              <a:gd name="adj" fmla="val 50000"/>
            </a:avLst>
          </a:prstGeom>
          <a:solidFill>
            <a:srgbClr val="FCFBF7"/>
          </a:solidFill>
          <a:ln w="6350">
            <a:solidFill>
              <a:srgbClr val="DDD8CC"/>
            </a:solidFill>
            <a:prstDash val="solid"/>
          </a:ln>
        </p:spPr>
        <p:txBody>
          <a:bodyPr/>
          <a:lstStyle/>
          <a:p>
            <a:endParaRPr lang="en-IN"/>
          </a:p>
        </p:txBody>
      </p:sp>
      <p:sp>
        <p:nvSpPr>
          <p:cNvPr id="24" name="Text 17"/>
          <p:cNvSpPr/>
          <p:nvPr/>
        </p:nvSpPr>
        <p:spPr>
          <a:xfrm>
            <a:off x="1788160" y="3619495"/>
            <a:ext cx="135493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Web and mobile UI</a:t>
            </a:r>
            <a:endParaRPr lang="en-US" sz="1200" dirty="0"/>
          </a:p>
        </p:txBody>
      </p:sp>
      <p:sp>
        <p:nvSpPr>
          <p:cNvPr id="25" name="Shape 18"/>
          <p:cNvSpPr/>
          <p:nvPr/>
        </p:nvSpPr>
        <p:spPr>
          <a:xfrm>
            <a:off x="3341846" y="3554090"/>
            <a:ext cx="1139746" cy="344170"/>
          </a:xfrm>
          <a:prstGeom prst="roundRect">
            <a:avLst>
              <a:gd name="adj" fmla="val 50000"/>
            </a:avLst>
          </a:prstGeom>
          <a:solidFill>
            <a:srgbClr val="FCFBF7"/>
          </a:solidFill>
          <a:ln w="6350">
            <a:solidFill>
              <a:srgbClr val="DDD8CC"/>
            </a:solidFill>
            <a:prstDash val="solid"/>
          </a:ln>
        </p:spPr>
        <p:txBody>
          <a:bodyPr/>
          <a:lstStyle/>
          <a:p>
            <a:endParaRPr lang="en-IN"/>
          </a:p>
        </p:txBody>
      </p:sp>
      <p:sp>
        <p:nvSpPr>
          <p:cNvPr id="26" name="Text 19"/>
          <p:cNvSpPr/>
          <p:nvPr/>
        </p:nvSpPr>
        <p:spPr>
          <a:xfrm>
            <a:off x="3483451" y="3619495"/>
            <a:ext cx="90733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API gateway</a:t>
            </a:r>
            <a:endParaRPr lang="en-US" sz="1200" dirty="0"/>
          </a:p>
        </p:txBody>
      </p:sp>
      <p:sp>
        <p:nvSpPr>
          <p:cNvPr id="27" name="Shape 20"/>
          <p:cNvSpPr/>
          <p:nvPr/>
        </p:nvSpPr>
        <p:spPr>
          <a:xfrm>
            <a:off x="4589542" y="3554090"/>
            <a:ext cx="1272143" cy="344170"/>
          </a:xfrm>
          <a:prstGeom prst="roundRect">
            <a:avLst>
              <a:gd name="adj" fmla="val 50000"/>
            </a:avLst>
          </a:prstGeom>
          <a:solidFill>
            <a:srgbClr val="FCFBF7"/>
          </a:solidFill>
          <a:ln w="6350">
            <a:solidFill>
              <a:srgbClr val="DDD8CC"/>
            </a:solidFill>
            <a:prstDash val="solid"/>
          </a:ln>
        </p:spPr>
        <p:txBody>
          <a:bodyPr/>
          <a:lstStyle/>
          <a:p>
            <a:endParaRPr lang="en-IN"/>
          </a:p>
        </p:txBody>
      </p:sp>
      <p:sp>
        <p:nvSpPr>
          <p:cNvPr id="28" name="Text 21"/>
          <p:cNvSpPr/>
          <p:nvPr/>
        </p:nvSpPr>
        <p:spPr>
          <a:xfrm>
            <a:off x="4731147" y="3619495"/>
            <a:ext cx="10397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Order services</a:t>
            </a:r>
            <a:endParaRPr lang="en-US" sz="1200" dirty="0"/>
          </a:p>
        </p:txBody>
      </p:sp>
      <p:sp>
        <p:nvSpPr>
          <p:cNvPr id="29" name="Shape 22"/>
          <p:cNvSpPr/>
          <p:nvPr/>
        </p:nvSpPr>
        <p:spPr>
          <a:xfrm>
            <a:off x="5969635" y="3554090"/>
            <a:ext cx="929402" cy="344170"/>
          </a:xfrm>
          <a:prstGeom prst="roundRect">
            <a:avLst>
              <a:gd name="adj" fmla="val 50000"/>
            </a:avLst>
          </a:prstGeom>
          <a:solidFill>
            <a:srgbClr val="FCFBF7"/>
          </a:solidFill>
          <a:ln w="6350">
            <a:solidFill>
              <a:srgbClr val="DDD8CC"/>
            </a:solidFill>
            <a:prstDash val="solid"/>
          </a:ln>
        </p:spPr>
        <p:txBody>
          <a:bodyPr/>
          <a:lstStyle/>
          <a:p>
            <a:endParaRPr lang="en-IN"/>
          </a:p>
        </p:txBody>
      </p:sp>
      <p:sp>
        <p:nvSpPr>
          <p:cNvPr id="30" name="Text 23"/>
          <p:cNvSpPr/>
          <p:nvPr/>
        </p:nvSpPr>
        <p:spPr>
          <a:xfrm>
            <a:off x="6111240" y="3619495"/>
            <a:ext cx="6969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Database</a:t>
            </a:r>
            <a:endParaRPr lang="en-US" sz="1200" dirty="0"/>
          </a:p>
        </p:txBody>
      </p:sp>
      <p:sp>
        <p:nvSpPr>
          <p:cNvPr id="31" name="Shape 24"/>
          <p:cNvSpPr/>
          <p:nvPr/>
        </p:nvSpPr>
        <p:spPr>
          <a:xfrm>
            <a:off x="7006987" y="3554090"/>
            <a:ext cx="1322943" cy="344170"/>
          </a:xfrm>
          <a:prstGeom prst="roundRect">
            <a:avLst>
              <a:gd name="adj" fmla="val 50000"/>
            </a:avLst>
          </a:prstGeom>
          <a:solidFill>
            <a:srgbClr val="FCFBF7"/>
          </a:solidFill>
          <a:ln w="6350">
            <a:solidFill>
              <a:srgbClr val="DDD8CC"/>
            </a:solidFill>
            <a:prstDash val="solid"/>
          </a:ln>
        </p:spPr>
        <p:txBody>
          <a:bodyPr/>
          <a:lstStyle/>
          <a:p>
            <a:endParaRPr lang="en-IN"/>
          </a:p>
        </p:txBody>
      </p:sp>
      <p:sp>
        <p:nvSpPr>
          <p:cNvPr id="32" name="Text 25"/>
          <p:cNvSpPr/>
          <p:nvPr/>
        </p:nvSpPr>
        <p:spPr>
          <a:xfrm>
            <a:off x="7148592" y="3619495"/>
            <a:ext cx="10905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Wallet provider</a:t>
            </a:r>
            <a:endParaRPr lang="en-US" sz="1200" dirty="0"/>
          </a:p>
        </p:txBody>
      </p:sp>
      <p:sp>
        <p:nvSpPr>
          <p:cNvPr id="33" name="Shape 26"/>
          <p:cNvSpPr/>
          <p:nvPr/>
        </p:nvSpPr>
        <p:spPr>
          <a:xfrm>
            <a:off x="8437880" y="3554090"/>
            <a:ext cx="1150064" cy="344170"/>
          </a:xfrm>
          <a:prstGeom prst="roundRect">
            <a:avLst>
              <a:gd name="adj" fmla="val 50000"/>
            </a:avLst>
          </a:prstGeom>
          <a:solidFill>
            <a:srgbClr val="FCFBF7"/>
          </a:solidFill>
          <a:ln w="6350">
            <a:solidFill>
              <a:srgbClr val="DDD8CC"/>
            </a:solidFill>
            <a:prstDash val="solid"/>
          </a:ln>
        </p:spPr>
        <p:txBody>
          <a:bodyPr/>
          <a:lstStyle/>
          <a:p>
            <a:endParaRPr lang="en-IN"/>
          </a:p>
        </p:txBody>
      </p:sp>
      <p:sp>
        <p:nvSpPr>
          <p:cNvPr id="34" name="Text 27"/>
          <p:cNvSpPr/>
          <p:nvPr/>
        </p:nvSpPr>
        <p:spPr>
          <a:xfrm>
            <a:off x="8579485" y="3619495"/>
            <a:ext cx="91765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Notifications</a:t>
            </a:r>
            <a:endParaRPr lang="en-US" sz="1200" dirty="0"/>
          </a:p>
        </p:txBody>
      </p:sp>
      <p:sp>
        <p:nvSpPr>
          <p:cNvPr id="35" name="Shape 28"/>
          <p:cNvSpPr/>
          <p:nvPr/>
        </p:nvSpPr>
        <p:spPr>
          <a:xfrm>
            <a:off x="815975" y="4158630"/>
            <a:ext cx="5175250" cy="999490"/>
          </a:xfrm>
          <a:prstGeom prst="roundRect">
            <a:avLst>
              <a:gd name="adj" fmla="val 7306"/>
            </a:avLst>
          </a:prstGeom>
          <a:solidFill>
            <a:srgbClr val="FCFBF7"/>
          </a:solidFill>
          <a:ln w="6350">
            <a:solidFill>
              <a:srgbClr val="DDD8CC"/>
            </a:solidFill>
            <a:prstDash val="solid"/>
          </a:ln>
        </p:spPr>
        <p:txBody>
          <a:bodyPr/>
          <a:lstStyle/>
          <a:p>
            <a:endParaRPr lang="en-IN"/>
          </a:p>
        </p:txBody>
      </p:sp>
      <p:sp>
        <p:nvSpPr>
          <p:cNvPr id="36" name="Text 29"/>
          <p:cNvSpPr/>
          <p:nvPr/>
        </p:nvSpPr>
        <p:spPr>
          <a:xfrm>
            <a:off x="1021080" y="4312915"/>
            <a:ext cx="490799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HORIZONTAL E2E</a:t>
            </a:r>
            <a:endParaRPr lang="en-US" sz="1200" dirty="0"/>
          </a:p>
        </p:txBody>
      </p:sp>
      <p:sp>
        <p:nvSpPr>
          <p:cNvPr id="37" name="Text 30"/>
          <p:cNvSpPr/>
          <p:nvPr/>
        </p:nvSpPr>
        <p:spPr>
          <a:xfrm>
            <a:off x="1021080" y="4577085"/>
            <a:ext cx="490799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One user journey across features and systems: order to pickup, as above.</a:t>
            </a:r>
            <a:endParaRPr lang="en-US" sz="1200" dirty="0"/>
          </a:p>
        </p:txBody>
      </p:sp>
      <p:sp>
        <p:nvSpPr>
          <p:cNvPr id="38" name="Shape 31"/>
          <p:cNvSpPr/>
          <p:nvPr/>
        </p:nvSpPr>
        <p:spPr>
          <a:xfrm>
            <a:off x="6200775" y="4158630"/>
            <a:ext cx="5175250" cy="999490"/>
          </a:xfrm>
          <a:prstGeom prst="roundRect">
            <a:avLst>
              <a:gd name="adj" fmla="val 7306"/>
            </a:avLst>
          </a:prstGeom>
          <a:solidFill>
            <a:srgbClr val="FCFBF7"/>
          </a:solidFill>
          <a:ln w="6350">
            <a:solidFill>
              <a:srgbClr val="DDD8CC"/>
            </a:solidFill>
            <a:prstDash val="solid"/>
          </a:ln>
        </p:spPr>
        <p:txBody>
          <a:bodyPr/>
          <a:lstStyle/>
          <a:p>
            <a:endParaRPr lang="en-IN"/>
          </a:p>
        </p:txBody>
      </p:sp>
      <p:sp>
        <p:nvSpPr>
          <p:cNvPr id="39" name="Text 32"/>
          <p:cNvSpPr/>
          <p:nvPr/>
        </p:nvSpPr>
        <p:spPr>
          <a:xfrm>
            <a:off x="6405880" y="4312915"/>
            <a:ext cx="490799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VERTICAL E2E</a:t>
            </a:r>
            <a:endParaRPr lang="en-US" sz="1200" dirty="0"/>
          </a:p>
        </p:txBody>
      </p:sp>
      <p:sp>
        <p:nvSpPr>
          <p:cNvPr id="40" name="Text 33"/>
          <p:cNvSpPr/>
          <p:nvPr/>
        </p:nvSpPr>
        <p:spPr>
          <a:xfrm>
            <a:off x="6405880" y="4577085"/>
            <a:ext cx="490799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One feature down through every layer: SAVE20 in the UI, the API and the database.</a:t>
            </a:r>
            <a:endParaRPr lang="en-US" sz="1200" dirty="0"/>
          </a:p>
        </p:txBody>
      </p:sp>
      <p:sp>
        <p:nvSpPr>
          <p:cNvPr id="41" name="Text 34"/>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42" name="Text 35"/>
          <p:cNvSpPr/>
          <p:nvPr/>
        </p:nvSpPr>
        <p:spPr>
          <a:xfrm>
            <a:off x="7147163" y="6238255"/>
            <a:ext cx="435899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E2E tests sit at the top of the test pyramid: few, slow, valuable</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L5 · END-TO-END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Keeping end-to-end tests reliable</a:t>
            </a:r>
            <a:endParaRPr lang="en-US" sz="3200" dirty="0"/>
          </a:p>
        </p:txBody>
      </p:sp>
      <p:sp>
        <p:nvSpPr>
          <p:cNvPr id="4" name="Shape 2"/>
          <p:cNvSpPr/>
          <p:nvPr/>
        </p:nvSpPr>
        <p:spPr>
          <a:xfrm>
            <a:off x="815975" y="1831975"/>
            <a:ext cx="3414157"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5" name="Text 3"/>
          <p:cNvSpPr/>
          <p:nvPr/>
        </p:nvSpPr>
        <p:spPr>
          <a:xfrm>
            <a:off x="1021080" y="2011685"/>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 only critical journeys</a:t>
            </a:r>
            <a:endParaRPr lang="en-US" sz="1400" dirty="0"/>
          </a:p>
        </p:txBody>
      </p:sp>
      <p:sp>
        <p:nvSpPr>
          <p:cNvPr id="6" name="Text 4"/>
          <p:cNvSpPr/>
          <p:nvPr/>
        </p:nvSpPr>
        <p:spPr>
          <a:xfrm>
            <a:off x="1021080" y="2293615"/>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Keep E2E tests few; push detail down to API and unit tests.</a:t>
            </a:r>
            <a:endParaRPr lang="en-US" sz="1200" dirty="0"/>
          </a:p>
        </p:txBody>
      </p:sp>
      <p:sp>
        <p:nvSpPr>
          <p:cNvPr id="7" name="Shape 5"/>
          <p:cNvSpPr/>
          <p:nvPr/>
        </p:nvSpPr>
        <p:spPr>
          <a:xfrm>
            <a:off x="4388882" y="1831975"/>
            <a:ext cx="3414157"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8" name="Text 6"/>
          <p:cNvSpPr/>
          <p:nvPr/>
        </p:nvSpPr>
        <p:spPr>
          <a:xfrm>
            <a:off x="4593987" y="2011685"/>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Wait for conditions, not time</a:t>
            </a:r>
            <a:endParaRPr lang="en-US" sz="1400" dirty="0"/>
          </a:p>
        </p:txBody>
      </p:sp>
      <p:sp>
        <p:nvSpPr>
          <p:cNvPr id="9" name="Text 7"/>
          <p:cNvSpPr/>
          <p:nvPr/>
        </p:nvSpPr>
        <p:spPr>
          <a:xfrm>
            <a:off x="4593987" y="2293615"/>
            <a:ext cx="30940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Use explicit waits; never fixed sleep() calls.</a:t>
            </a:r>
            <a:endParaRPr lang="en-US" sz="1200" dirty="0"/>
          </a:p>
        </p:txBody>
      </p:sp>
      <p:sp>
        <p:nvSpPr>
          <p:cNvPr id="10" name="Shape 8"/>
          <p:cNvSpPr/>
          <p:nvPr/>
        </p:nvSpPr>
        <p:spPr>
          <a:xfrm>
            <a:off x="7961789" y="1831975"/>
            <a:ext cx="3414157"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8166894" y="2011685"/>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Own your test data</a:t>
            </a:r>
            <a:endParaRPr lang="en-US" sz="1400" dirty="0"/>
          </a:p>
        </p:txBody>
      </p:sp>
      <p:sp>
        <p:nvSpPr>
          <p:cNvPr id="12" name="Text 10"/>
          <p:cNvSpPr/>
          <p:nvPr/>
        </p:nvSpPr>
        <p:spPr>
          <a:xfrm>
            <a:off x="8166894" y="2293615"/>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Create or reset data for every run; never share accounts.</a:t>
            </a:r>
            <a:endParaRPr lang="en-US" sz="1200" dirty="0"/>
          </a:p>
        </p:txBody>
      </p:sp>
      <p:sp>
        <p:nvSpPr>
          <p:cNvPr id="13" name="Shape 11"/>
          <p:cNvSpPr/>
          <p:nvPr/>
        </p:nvSpPr>
        <p:spPr>
          <a:xfrm>
            <a:off x="815975" y="3058790"/>
            <a:ext cx="3414157"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1021080" y="3238500"/>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Keep tests independent</a:t>
            </a:r>
            <a:endParaRPr lang="en-US" sz="1400" dirty="0"/>
          </a:p>
        </p:txBody>
      </p:sp>
      <p:sp>
        <p:nvSpPr>
          <p:cNvPr id="15" name="Text 13"/>
          <p:cNvSpPr/>
          <p:nvPr/>
        </p:nvSpPr>
        <p:spPr>
          <a:xfrm>
            <a:off x="1021080" y="3520455"/>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Each test sets up what it needs and cleans up after itself.</a:t>
            </a:r>
            <a:endParaRPr lang="en-US" sz="1200" dirty="0"/>
          </a:p>
        </p:txBody>
      </p:sp>
      <p:sp>
        <p:nvSpPr>
          <p:cNvPr id="16" name="Shape 14"/>
          <p:cNvSpPr/>
          <p:nvPr/>
        </p:nvSpPr>
        <p:spPr>
          <a:xfrm>
            <a:off x="4388882" y="3058790"/>
            <a:ext cx="3414157"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17" name="Text 15"/>
          <p:cNvSpPr/>
          <p:nvPr/>
        </p:nvSpPr>
        <p:spPr>
          <a:xfrm>
            <a:off x="4593987" y="3238500"/>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Mirror production</a:t>
            </a:r>
            <a:endParaRPr lang="en-US" sz="1400" dirty="0"/>
          </a:p>
        </p:txBody>
      </p:sp>
      <p:sp>
        <p:nvSpPr>
          <p:cNvPr id="18" name="Text 16"/>
          <p:cNvSpPr/>
          <p:nvPr/>
        </p:nvSpPr>
        <p:spPr>
          <a:xfrm>
            <a:off x="4593987" y="3520455"/>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Same configuration, services and kinds of data as production.</a:t>
            </a:r>
            <a:endParaRPr lang="en-US" sz="1200" dirty="0"/>
          </a:p>
        </p:txBody>
      </p:sp>
      <p:sp>
        <p:nvSpPr>
          <p:cNvPr id="19" name="Shape 17"/>
          <p:cNvSpPr/>
          <p:nvPr/>
        </p:nvSpPr>
        <p:spPr>
          <a:xfrm>
            <a:off x="7961789" y="3058790"/>
            <a:ext cx="3414157"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20" name="Text 18"/>
          <p:cNvSpPr/>
          <p:nvPr/>
        </p:nvSpPr>
        <p:spPr>
          <a:xfrm>
            <a:off x="8166894" y="3238500"/>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Quarantine flaky tests fast</a:t>
            </a:r>
            <a:endParaRPr lang="en-US" sz="1400" dirty="0"/>
          </a:p>
        </p:txBody>
      </p:sp>
      <p:sp>
        <p:nvSpPr>
          <p:cNvPr id="21" name="Text 19"/>
          <p:cNvSpPr/>
          <p:nvPr/>
        </p:nvSpPr>
        <p:spPr>
          <a:xfrm>
            <a:off x="8166894" y="3520455"/>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Tag, track and fix them; never let them block everyone or be ignored.</a:t>
            </a:r>
            <a:endParaRPr lang="en-US" sz="1200" dirty="0"/>
          </a:p>
        </p:txBody>
      </p:sp>
      <p:sp>
        <p:nvSpPr>
          <p:cNvPr id="22" name="Shape 20"/>
          <p:cNvSpPr/>
          <p:nvPr/>
        </p:nvSpPr>
        <p:spPr>
          <a:xfrm>
            <a:off x="812800" y="4384055"/>
            <a:ext cx="10566400" cy="553720"/>
          </a:xfrm>
          <a:prstGeom prst="roundRect">
            <a:avLst>
              <a:gd name="adj" fmla="val 13761"/>
            </a:avLst>
          </a:prstGeom>
          <a:solidFill>
            <a:srgbClr val="13233A"/>
          </a:solidFill>
          <a:ln/>
        </p:spPr>
        <p:txBody>
          <a:bodyPr/>
          <a:lstStyle/>
          <a:p>
            <a:endParaRPr lang="en-IN"/>
          </a:p>
        </p:txBody>
      </p:sp>
      <p:sp>
        <p:nvSpPr>
          <p:cNvPr id="23" name="Text 21"/>
          <p:cNvSpPr/>
          <p:nvPr/>
        </p:nvSpPr>
        <p:spPr>
          <a:xfrm>
            <a:off x="1016000" y="4554215"/>
            <a:ext cx="161290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36B"/>
                </a:solidFill>
                <a:latin typeface="JetBrains Mono" pitchFamily="34" charset="0"/>
                <a:ea typeface="JetBrains Mono" pitchFamily="34" charset="-122"/>
                <a:cs typeface="JetBrains Mono" pitchFamily="34" charset="-120"/>
              </a:rPr>
              <a:t>IN THE PIPELINE</a:t>
            </a:r>
            <a:endParaRPr lang="en-US" sz="1200" dirty="0"/>
          </a:p>
        </p:txBody>
      </p:sp>
      <p:sp>
        <p:nvSpPr>
          <p:cNvPr id="24" name="Text 22"/>
          <p:cNvSpPr/>
          <p:nvPr/>
        </p:nvSpPr>
        <p:spPr>
          <a:xfrm>
            <a:off x="2730500" y="4536455"/>
            <a:ext cx="869886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3F1EA"/>
                </a:solidFill>
                <a:latin typeface="IBM Plex Sans" pitchFamily="34" charset="0"/>
                <a:ea typeface="IBM Plex Sans" pitchFamily="34" charset="-122"/>
                <a:cs typeface="IBM Plex Sans" pitchFamily="34" charset="-120"/>
              </a:rPr>
              <a:t>A small E2E smoke set after each deploy to test; the full E2E set nightly or before a release.</a:t>
            </a:r>
            <a:endParaRPr lang="en-US" sz="1400" dirty="0"/>
          </a:p>
        </p:txBody>
      </p:sp>
      <p:sp>
        <p:nvSpPr>
          <p:cNvPr id="25" name="Text 23"/>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6" name="Text 24"/>
          <p:cNvSpPr/>
          <p:nvPr/>
        </p:nvSpPr>
        <p:spPr>
          <a:xfrm>
            <a:off x="6936581" y="6238255"/>
            <a:ext cx="457589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Flaky test: passes and fails on the same code without any change</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L5 · END-TO-END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An end-to-end test with Selenium</a:t>
            </a:r>
            <a:endParaRPr lang="en-US" sz="3200" dirty="0"/>
          </a:p>
        </p:txBody>
      </p:sp>
      <p:sp>
        <p:nvSpPr>
          <p:cNvPr id="4" name="Text 2"/>
          <p:cNvSpPr/>
          <p:nvPr/>
        </p:nvSpPr>
        <p:spPr>
          <a:xfrm>
            <a:off x="812800" y="1828800"/>
            <a:ext cx="81102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tests/test_order_journey.py · driver is a pytest fixture</a:t>
            </a:r>
            <a:endParaRPr lang="en-US" sz="1200" dirty="0"/>
          </a:p>
        </p:txBody>
      </p:sp>
      <p:sp>
        <p:nvSpPr>
          <p:cNvPr id="5" name="Shape 3"/>
          <p:cNvSpPr/>
          <p:nvPr/>
        </p:nvSpPr>
        <p:spPr>
          <a:xfrm>
            <a:off x="812800" y="2118370"/>
            <a:ext cx="7874000" cy="3129280"/>
          </a:xfrm>
          <a:prstGeom prst="roundRect">
            <a:avLst>
              <a:gd name="adj" fmla="val 2435"/>
            </a:avLst>
          </a:prstGeom>
          <a:solidFill>
            <a:srgbClr val="13233A"/>
          </a:solidFill>
          <a:ln/>
        </p:spPr>
        <p:txBody>
          <a:bodyPr/>
          <a:lstStyle/>
          <a:p>
            <a:endParaRPr lang="en-IN"/>
          </a:p>
        </p:txBody>
      </p:sp>
      <p:sp>
        <p:nvSpPr>
          <p:cNvPr id="6" name="Text 4"/>
          <p:cNvSpPr/>
          <p:nvPr/>
        </p:nvSpPr>
        <p:spPr>
          <a:xfrm>
            <a:off x="990600" y="2296170"/>
            <a:ext cx="7743952" cy="279908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test_student_orders_and_pays(driver):</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wait = WebDriverWait(driver, timeout=10)</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driver.get(</a:t>
            </a:r>
            <a:r>
              <a:rPr lang="en-US" sz="1200" dirty="0">
                <a:solidFill>
                  <a:srgbClr val="9CC7F0"/>
                </a:solidFill>
                <a:latin typeface="JetBrains Mono" pitchFamily="34" charset="0"/>
                <a:ea typeface="JetBrains Mono" pitchFamily="34" charset="-122"/>
                <a:cs typeface="JetBrains Mono" pitchFamily="34" charset="-120"/>
              </a:rPr>
              <a:t>"https://staging.canteen.example/login"</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driver.find_element(By.ID, </a:t>
            </a:r>
            <a:r>
              <a:rPr lang="en-US" sz="1200" dirty="0">
                <a:solidFill>
                  <a:srgbClr val="9CC7F0"/>
                </a:solidFill>
                <a:latin typeface="JetBrains Mono" pitchFamily="34" charset="0"/>
                <a:ea typeface="JetBrains Mono" pitchFamily="34" charset="-122"/>
                <a:cs typeface="JetBrains Mono" pitchFamily="34" charset="-120"/>
              </a:rPr>
              <a:t>"student-id"</a:t>
            </a:r>
            <a:r>
              <a:rPr lang="en-US" sz="1200" dirty="0">
                <a:solidFill>
                  <a:srgbClr val="E6EAF0"/>
                </a:solidFill>
                <a:latin typeface="JetBrains Mono" pitchFamily="34" charset="0"/>
                <a:ea typeface="JetBrains Mono" pitchFamily="34" charset="-122"/>
                <a:cs typeface="JetBrains Mono" pitchFamily="34" charset="-120"/>
              </a:rPr>
              <a:t>).send_keys(</a:t>
            </a:r>
            <a:r>
              <a:rPr lang="en-US" sz="1200" dirty="0">
                <a:solidFill>
                  <a:srgbClr val="9CC7F0"/>
                </a:solidFill>
                <a:latin typeface="JetBrains Mono" pitchFamily="34" charset="0"/>
                <a:ea typeface="JetBrains Mono" pitchFamily="34" charset="-122"/>
                <a:cs typeface="JetBrains Mono" pitchFamily="34" charset="-120"/>
              </a:rPr>
              <a:t>"S101"</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driver.find_element(By.ID, </a:t>
            </a:r>
            <a:r>
              <a:rPr lang="en-US" sz="1200" dirty="0">
                <a:solidFill>
                  <a:srgbClr val="9CC7F0"/>
                </a:solidFill>
                <a:latin typeface="JetBrains Mono" pitchFamily="34" charset="0"/>
                <a:ea typeface="JetBrains Mono" pitchFamily="34" charset="-122"/>
                <a:cs typeface="JetBrains Mono" pitchFamily="34" charset="-120"/>
              </a:rPr>
              <a:t>"password"</a:t>
            </a:r>
            <a:r>
              <a:rPr lang="en-US" sz="1200" dirty="0">
                <a:solidFill>
                  <a:srgbClr val="E6EAF0"/>
                </a:solidFill>
                <a:latin typeface="JetBrains Mono" pitchFamily="34" charset="0"/>
                <a:ea typeface="JetBrains Mono" pitchFamily="34" charset="-122"/>
                <a:cs typeface="JetBrains Mono" pitchFamily="34" charset="-120"/>
              </a:rPr>
              <a:t>).send_keys(</a:t>
            </a:r>
            <a:r>
              <a:rPr lang="en-US" sz="1200" dirty="0">
                <a:solidFill>
                  <a:srgbClr val="9CC7F0"/>
                </a:solidFill>
                <a:latin typeface="JetBrains Mono" pitchFamily="34" charset="0"/>
                <a:ea typeface="JetBrains Mono" pitchFamily="34" charset="-122"/>
                <a:cs typeface="JetBrains Mono" pitchFamily="34" charset="-120"/>
              </a:rPr>
              <a:t>"test-pass"</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driver.find_element(By.ID, </a:t>
            </a:r>
            <a:r>
              <a:rPr lang="en-US" sz="1200" dirty="0">
                <a:solidFill>
                  <a:srgbClr val="9CC7F0"/>
                </a:solidFill>
                <a:latin typeface="JetBrains Mono" pitchFamily="34" charset="0"/>
                <a:ea typeface="JetBrains Mono" pitchFamily="34" charset="-122"/>
                <a:cs typeface="JetBrains Mono" pitchFamily="34" charset="-120"/>
              </a:rPr>
              <a:t>"login"</a:t>
            </a:r>
            <a:r>
              <a:rPr lang="en-US" sz="1200" dirty="0">
                <a:solidFill>
                  <a:srgbClr val="E6EAF0"/>
                </a:solidFill>
                <a:latin typeface="JetBrains Mono" pitchFamily="34" charset="0"/>
                <a:ea typeface="JetBrains Mono" pitchFamily="34" charset="-122"/>
                <a:cs typeface="JetBrains Mono" pitchFamily="34" charset="-120"/>
              </a:rPr>
              <a:t>).click()</a:t>
            </a:r>
            <a:endParaRPr lang="en-US" sz="1200" dirty="0"/>
          </a:p>
          <a:p>
            <a:pPr marL="0" indent="0" algn="l">
              <a:lnSpc>
                <a:spcPts val="1680"/>
              </a:lnSpc>
              <a:buNone/>
            </a:pP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wait.until(EC.element_to_be_clickable((By.ID, </a:t>
            </a:r>
            <a:r>
              <a:rPr lang="en-US" sz="1200" dirty="0">
                <a:solidFill>
                  <a:srgbClr val="9CC7F0"/>
                </a:solidFill>
                <a:latin typeface="JetBrains Mono" pitchFamily="34" charset="0"/>
                <a:ea typeface="JetBrains Mono" pitchFamily="34" charset="-122"/>
                <a:cs typeface="JetBrains Mono" pitchFamily="34" charset="-120"/>
              </a:rPr>
              <a:t>"add-dosa"</a:t>
            </a:r>
            <a:r>
              <a:rPr lang="en-US" sz="1200" dirty="0">
                <a:solidFill>
                  <a:srgbClr val="E6EAF0"/>
                </a:solidFill>
                <a:latin typeface="JetBrains Mono" pitchFamily="34" charset="0"/>
                <a:ea typeface="JetBrains Mono" pitchFamily="34" charset="-122"/>
                <a:cs typeface="JetBrains Mono" pitchFamily="34" charset="-120"/>
              </a:rPr>
              <a:t>))).click()</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driver.find_element(By.ID, </a:t>
            </a:r>
            <a:r>
              <a:rPr lang="en-US" sz="1200" dirty="0">
                <a:solidFill>
                  <a:srgbClr val="9CC7F0"/>
                </a:solidFill>
                <a:latin typeface="JetBrains Mono" pitchFamily="34" charset="0"/>
                <a:ea typeface="JetBrains Mono" pitchFamily="34" charset="-122"/>
                <a:cs typeface="JetBrains Mono" pitchFamily="34" charset="-120"/>
              </a:rPr>
              <a:t>"checkout"</a:t>
            </a:r>
            <a:r>
              <a:rPr lang="en-US" sz="1200" dirty="0">
                <a:solidFill>
                  <a:srgbClr val="E6EAF0"/>
                </a:solidFill>
                <a:latin typeface="JetBrains Mono" pitchFamily="34" charset="0"/>
                <a:ea typeface="JetBrains Mono" pitchFamily="34" charset="-122"/>
                <a:cs typeface="JetBrains Mono" pitchFamily="34" charset="-120"/>
              </a:rPr>
              <a:t>).click()</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driver.find_element(By.ID, </a:t>
            </a:r>
            <a:r>
              <a:rPr lang="en-US" sz="1200" dirty="0">
                <a:solidFill>
                  <a:srgbClr val="9CC7F0"/>
                </a:solidFill>
                <a:latin typeface="JetBrains Mono" pitchFamily="34" charset="0"/>
                <a:ea typeface="JetBrains Mono" pitchFamily="34" charset="-122"/>
                <a:cs typeface="JetBrains Mono" pitchFamily="34" charset="-120"/>
              </a:rPr>
              <a:t>"pay-wallet"</a:t>
            </a:r>
            <a:r>
              <a:rPr lang="en-US" sz="1200" dirty="0">
                <a:solidFill>
                  <a:srgbClr val="E6EAF0"/>
                </a:solidFill>
                <a:latin typeface="JetBrains Mono" pitchFamily="34" charset="0"/>
                <a:ea typeface="JetBrains Mono" pitchFamily="34" charset="-122"/>
                <a:cs typeface="JetBrains Mono" pitchFamily="34" charset="-120"/>
              </a:rPr>
              <a:t>).click()</a:t>
            </a:r>
            <a:endParaRPr lang="en-US" sz="1200" dirty="0"/>
          </a:p>
          <a:p>
            <a:pPr marL="0" indent="0" algn="l">
              <a:lnSpc>
                <a:spcPts val="1680"/>
              </a:lnSpc>
              <a:buNone/>
            </a:pP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status = wait.until(EC.visibility_of_element_located((By.ID, </a:t>
            </a:r>
            <a:r>
              <a:rPr lang="en-US" sz="1200" dirty="0">
                <a:solidFill>
                  <a:srgbClr val="9CC7F0"/>
                </a:solidFill>
                <a:latin typeface="JetBrains Mono" pitchFamily="34" charset="0"/>
                <a:ea typeface="JetBrains Mono" pitchFamily="34" charset="-122"/>
                <a:cs typeface="JetBrains Mono" pitchFamily="34" charset="-120"/>
              </a:rPr>
              <a:t>"order-status"</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status.text == </a:t>
            </a:r>
            <a:r>
              <a:rPr lang="en-US" sz="1200" dirty="0">
                <a:solidFill>
                  <a:srgbClr val="9CC7F0"/>
                </a:solidFill>
                <a:latin typeface="JetBrains Mono" pitchFamily="34" charset="0"/>
                <a:ea typeface="JetBrains Mono" pitchFamily="34" charset="-122"/>
                <a:cs typeface="JetBrains Mono" pitchFamily="34" charset="-120"/>
              </a:rPr>
              <a:t>"Placed"</a:t>
            </a:r>
            <a:endParaRPr lang="en-US" sz="1200" dirty="0"/>
          </a:p>
        </p:txBody>
      </p:sp>
      <p:sp>
        <p:nvSpPr>
          <p:cNvPr id="7" name="Shape 5"/>
          <p:cNvSpPr/>
          <p:nvPr/>
        </p:nvSpPr>
        <p:spPr>
          <a:xfrm>
            <a:off x="8940800" y="1835150"/>
            <a:ext cx="2438400" cy="0"/>
          </a:xfrm>
          <a:prstGeom prst="line">
            <a:avLst/>
          </a:prstGeom>
          <a:noFill/>
          <a:ln w="12700">
            <a:solidFill>
              <a:srgbClr val="DDD8CC"/>
            </a:solidFill>
            <a:prstDash val="solid"/>
          </a:ln>
        </p:spPr>
        <p:txBody>
          <a:bodyPr/>
          <a:lstStyle/>
          <a:p>
            <a:endParaRPr lang="en-IN"/>
          </a:p>
        </p:txBody>
      </p:sp>
      <p:sp>
        <p:nvSpPr>
          <p:cNvPr id="8" name="Text 6"/>
          <p:cNvSpPr/>
          <p:nvPr/>
        </p:nvSpPr>
        <p:spPr>
          <a:xfrm>
            <a:off x="8940800" y="1940570"/>
            <a:ext cx="251155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Explicit waits</a:t>
            </a:r>
            <a:endParaRPr lang="en-US" sz="1200" dirty="0"/>
          </a:p>
        </p:txBody>
      </p:sp>
      <p:sp>
        <p:nvSpPr>
          <p:cNvPr id="9" name="Text 7"/>
          <p:cNvSpPr/>
          <p:nvPr/>
        </p:nvSpPr>
        <p:spPr>
          <a:xfrm>
            <a:off x="8940800" y="2192015"/>
            <a:ext cx="251155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WebDriverWait polls until the element is ready. No fixed sleeps.</a:t>
            </a:r>
            <a:endParaRPr lang="en-US" sz="1200" dirty="0"/>
          </a:p>
        </p:txBody>
      </p:sp>
      <p:sp>
        <p:nvSpPr>
          <p:cNvPr id="10" name="Shape 8"/>
          <p:cNvSpPr/>
          <p:nvPr/>
        </p:nvSpPr>
        <p:spPr>
          <a:xfrm>
            <a:off x="8940800" y="2726705"/>
            <a:ext cx="2438400" cy="0"/>
          </a:xfrm>
          <a:prstGeom prst="line">
            <a:avLst/>
          </a:prstGeom>
          <a:noFill/>
          <a:ln w="12700">
            <a:solidFill>
              <a:srgbClr val="DDD8CC"/>
            </a:solidFill>
            <a:prstDash val="solid"/>
          </a:ln>
        </p:spPr>
        <p:txBody>
          <a:bodyPr/>
          <a:lstStyle/>
          <a:p>
            <a:endParaRPr lang="en-IN"/>
          </a:p>
        </p:txBody>
      </p:sp>
      <p:sp>
        <p:nvSpPr>
          <p:cNvPr id="11" name="Text 9"/>
          <p:cNvSpPr/>
          <p:nvPr/>
        </p:nvSpPr>
        <p:spPr>
          <a:xfrm>
            <a:off x="8940800" y="2832100"/>
            <a:ext cx="251155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Stable locators</a:t>
            </a:r>
            <a:endParaRPr lang="en-US" sz="1200" dirty="0"/>
          </a:p>
        </p:txBody>
      </p:sp>
      <p:sp>
        <p:nvSpPr>
          <p:cNvPr id="12" name="Text 10"/>
          <p:cNvSpPr/>
          <p:nvPr/>
        </p:nvSpPr>
        <p:spPr>
          <a:xfrm>
            <a:off x="8940800" y="3083570"/>
            <a:ext cx="251155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IDs agreed with developers survive layout changes.</a:t>
            </a:r>
            <a:endParaRPr lang="en-US" sz="1200" dirty="0"/>
          </a:p>
        </p:txBody>
      </p:sp>
      <p:sp>
        <p:nvSpPr>
          <p:cNvPr id="13" name="Shape 11"/>
          <p:cNvSpPr/>
          <p:nvPr/>
        </p:nvSpPr>
        <p:spPr>
          <a:xfrm>
            <a:off x="8940800" y="3618235"/>
            <a:ext cx="2438400" cy="0"/>
          </a:xfrm>
          <a:prstGeom prst="line">
            <a:avLst/>
          </a:prstGeom>
          <a:noFill/>
          <a:ln w="12700">
            <a:solidFill>
              <a:srgbClr val="DDD8CC"/>
            </a:solidFill>
            <a:prstDash val="solid"/>
          </a:ln>
        </p:spPr>
        <p:txBody>
          <a:bodyPr/>
          <a:lstStyle/>
          <a:p>
            <a:endParaRPr lang="en-IN"/>
          </a:p>
        </p:txBody>
      </p:sp>
      <p:sp>
        <p:nvSpPr>
          <p:cNvPr id="14" name="Text 12"/>
          <p:cNvSpPr/>
          <p:nvPr/>
        </p:nvSpPr>
        <p:spPr>
          <a:xfrm>
            <a:off x="8940800" y="3723655"/>
            <a:ext cx="251155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Own test data</a:t>
            </a:r>
            <a:endParaRPr lang="en-US" sz="1200" dirty="0"/>
          </a:p>
        </p:txBody>
      </p:sp>
      <p:sp>
        <p:nvSpPr>
          <p:cNvPr id="15" name="Text 13"/>
          <p:cNvSpPr/>
          <p:nvPr/>
        </p:nvSpPr>
        <p:spPr>
          <a:xfrm>
            <a:off x="8940800" y="3975100"/>
            <a:ext cx="251155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Student S101 has a funded test wallet, reset before each run.</a:t>
            </a:r>
            <a:endParaRPr lang="en-US" sz="12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7" name="Text 15"/>
          <p:cNvSpPr/>
          <p:nvPr/>
        </p:nvSpPr>
        <p:spPr>
          <a:xfrm>
            <a:off x="5492433" y="6238255"/>
            <a:ext cx="60633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Imports: By, WebDriverWait, expected_conditions as EC · Selenium in depth: Module 3</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L5 · CHECK YOUR UNDERSTANDING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Knowledge check: Lecture 5</a:t>
            </a:r>
            <a:endParaRPr lang="en-US" sz="3200" dirty="0"/>
          </a:p>
        </p:txBody>
      </p:sp>
      <p:sp>
        <p:nvSpPr>
          <p:cNvPr id="4" name="Shape 2"/>
          <p:cNvSpPr/>
          <p:nvPr/>
        </p:nvSpPr>
        <p:spPr>
          <a:xfrm>
            <a:off x="815975" y="1831975"/>
            <a:ext cx="5175250" cy="1588770"/>
          </a:xfrm>
          <a:prstGeom prst="roundRect">
            <a:avLst>
              <a:gd name="adj" fmla="val 4596"/>
            </a:avLst>
          </a:prstGeom>
          <a:solidFill>
            <a:srgbClr val="FCFBF7"/>
          </a:solidFill>
          <a:ln w="6350">
            <a:solidFill>
              <a:srgbClr val="DDD8CC"/>
            </a:solidFill>
            <a:prstDash val="solid"/>
          </a:ln>
        </p:spPr>
        <p:txBody>
          <a:bodyPr/>
          <a:lstStyle/>
          <a:p>
            <a:endParaRPr lang="en-IN"/>
          </a:p>
        </p:txBody>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Is “the menu loads within 2 seconds at the lunch peak” functional or non-functional? Which test type checks it?</a:t>
            </a:r>
            <a:endParaRPr lang="en-US" sz="1400" dirty="0"/>
          </a:p>
        </p:txBody>
      </p:sp>
      <p:sp>
        <p:nvSpPr>
          <p:cNvPr id="7" name="Shape 5"/>
          <p:cNvSpPr/>
          <p:nvPr/>
        </p:nvSpPr>
        <p:spPr>
          <a:xfrm>
            <a:off x="6200775" y="1831975"/>
            <a:ext cx="5175250" cy="1588770"/>
          </a:xfrm>
          <a:prstGeom prst="roundRect">
            <a:avLst>
              <a:gd name="adj" fmla="val 4596"/>
            </a:avLst>
          </a:prstGeom>
          <a:solidFill>
            <a:srgbClr val="FCFBF7"/>
          </a:solidFill>
          <a:ln w="6350">
            <a:solidFill>
              <a:srgbClr val="DDD8CC"/>
            </a:solidFill>
            <a:prstDash val="solid"/>
          </a:ln>
        </p:spPr>
        <p:txBody>
          <a:bodyPr/>
          <a:lstStyle/>
          <a:p>
            <a:endParaRPr lang="en-IN"/>
          </a:p>
        </p:txBody>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Name the performance test: (a) everyone orders when the lecture ends; (b) a full day of normal traffic; (c) adding users until it breaks.</a:t>
            </a:r>
            <a:endParaRPr lang="en-US" sz="1400" dirty="0"/>
          </a:p>
        </p:txBody>
      </p:sp>
      <p:sp>
        <p:nvSpPr>
          <p:cNvPr id="10" name="Shape 8"/>
          <p:cNvSpPr/>
          <p:nvPr/>
        </p:nvSpPr>
        <p:spPr>
          <a:xfrm>
            <a:off x="815975" y="3630290"/>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1046480" y="3860800"/>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4241800"/>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Give one horizontal and one vertical end-to-end test for the Canteen App.</a:t>
            </a:r>
            <a:endParaRPr lang="en-US" sz="1400" dirty="0"/>
          </a:p>
        </p:txBody>
      </p:sp>
      <p:sp>
        <p:nvSpPr>
          <p:cNvPr id="13" name="Shape 11"/>
          <p:cNvSpPr/>
          <p:nvPr/>
        </p:nvSpPr>
        <p:spPr>
          <a:xfrm>
            <a:off x="6200775" y="3630290"/>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6431280" y="3860800"/>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4241800"/>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Why should an end-to-end test use WebDriverWait instead of time.sleep(5)?</a:t>
            </a:r>
            <a:endParaRPr lang="en-US" sz="14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7" name="Text 15"/>
          <p:cNvSpPr/>
          <p:nvPr/>
        </p:nvSpPr>
        <p:spPr>
          <a:xfrm>
            <a:off x="9372044" y="6238255"/>
            <a:ext cx="20673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0">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marL="0" indent="0" algn="r">
              <a:lnSpc>
                <a:spcPts val="19000"/>
              </a:lnSpc>
              <a:buNone/>
            </a:pPr>
            <a:r>
              <a:rPr lang="en-US" sz="19000" b="1" kern="0" spc="-400" dirty="0">
                <a:solidFill>
                  <a:srgbClr val="000000">
                    <a:alpha val="0"/>
                  </a:srgbClr>
                </a:solidFill>
                <a:latin typeface="Space Grotesk" pitchFamily="34" charset="0"/>
                <a:ea typeface="Space Grotesk" pitchFamily="34" charset="-122"/>
                <a:cs typeface="Space Grotesk" pitchFamily="34" charset="-120"/>
              </a:rPr>
              <a:t>06</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36B"/>
                </a:solidFill>
                <a:latin typeface="JetBrains Mono" pitchFamily="34" charset="0"/>
                <a:ea typeface="JetBrains Mono" pitchFamily="34" charset="-122"/>
                <a:cs typeface="JetBrains Mono" pitchFamily="34" charset="-120"/>
              </a:rPr>
              <a:t>MODULE 1 · LECTURE 6 · 40 MINUTES</a:t>
            </a:r>
            <a:endParaRPr lang="en-US" sz="1200" dirty="0"/>
          </a:p>
        </p:txBody>
      </p:sp>
      <p:sp>
        <p:nvSpPr>
          <p:cNvPr id="4" name="Text 2"/>
          <p:cNvSpPr/>
          <p:nvPr/>
        </p:nvSpPr>
        <p:spPr>
          <a:xfrm>
            <a:off x="812800" y="3464570"/>
            <a:ext cx="10464800" cy="1518920"/>
          </a:xfrm>
          <a:prstGeom prst="rect">
            <a:avLst/>
          </a:prstGeom>
          <a:noFill/>
          <a:ln/>
        </p:spPr>
        <p:txBody>
          <a:bodyPr wrap="square" lIns="0" tIns="0" rIns="0" bIns="0" rtlCol="0" anchor="t">
            <a:normAutofit/>
          </a:bodyPr>
          <a:lstStyle/>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Compatibility</a:t>
            </a:r>
            <a:endParaRPr lang="en-US" sz="5600" dirty="0"/>
          </a:p>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and GUI testing</a:t>
            </a:r>
            <a:endParaRPr lang="en-US" sz="5600" dirty="0"/>
          </a:p>
        </p:txBody>
      </p:sp>
      <p:sp>
        <p:nvSpPr>
          <p:cNvPr id="5" name="Shape 3"/>
          <p:cNvSpPr/>
          <p:nvPr/>
        </p:nvSpPr>
        <p:spPr>
          <a:xfrm>
            <a:off x="812800" y="5320035"/>
            <a:ext cx="2794000" cy="0"/>
          </a:xfrm>
          <a:prstGeom prst="line">
            <a:avLst/>
          </a:prstGeom>
          <a:noFill/>
          <a:ln w="12700">
            <a:solidFill>
              <a:srgbClr val="3A5476"/>
            </a:solidFill>
            <a:prstDash val="solid"/>
          </a:ln>
        </p:spPr>
        <p:txBody>
          <a:bodyPr/>
          <a:lstStyle/>
          <a:p>
            <a:endParaRPr lang="en-IN"/>
          </a:p>
        </p:txBody>
      </p:sp>
      <p:sp>
        <p:nvSpPr>
          <p:cNvPr id="6" name="Text 4"/>
          <p:cNvSpPr/>
          <p:nvPr/>
        </p:nvSpPr>
        <p:spPr>
          <a:xfrm>
            <a:off x="812800" y="5450855"/>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7" name="Text 5"/>
          <p:cNvSpPr/>
          <p:nvPr/>
        </p:nvSpPr>
        <p:spPr>
          <a:xfrm>
            <a:off x="812800" y="5715000"/>
            <a:ext cx="287782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Compatibility testing</a:t>
            </a:r>
            <a:endParaRPr lang="en-US" sz="2000" dirty="0"/>
          </a:p>
        </p:txBody>
      </p:sp>
      <p:sp>
        <p:nvSpPr>
          <p:cNvPr id="8" name="Shape 6"/>
          <p:cNvSpPr/>
          <p:nvPr/>
        </p:nvSpPr>
        <p:spPr>
          <a:xfrm>
            <a:off x="3911600" y="5320035"/>
            <a:ext cx="2794000" cy="0"/>
          </a:xfrm>
          <a:prstGeom prst="line">
            <a:avLst/>
          </a:prstGeom>
          <a:noFill/>
          <a:ln w="12700">
            <a:solidFill>
              <a:srgbClr val="3A5476"/>
            </a:solidFill>
            <a:prstDash val="solid"/>
          </a:ln>
        </p:spPr>
        <p:txBody>
          <a:bodyPr/>
          <a:lstStyle/>
          <a:p>
            <a:endParaRPr lang="en-IN"/>
          </a:p>
        </p:txBody>
      </p:sp>
      <p:sp>
        <p:nvSpPr>
          <p:cNvPr id="9" name="Text 7"/>
          <p:cNvSpPr/>
          <p:nvPr/>
        </p:nvSpPr>
        <p:spPr>
          <a:xfrm>
            <a:off x="3911600" y="5450855"/>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10" name="Text 8"/>
          <p:cNvSpPr/>
          <p:nvPr/>
        </p:nvSpPr>
        <p:spPr>
          <a:xfrm>
            <a:off x="3911600" y="5715000"/>
            <a:ext cx="287782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GUI testing</a:t>
            </a:r>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L6 · COMPATIBILITY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Compatibility testing</a:t>
            </a:r>
            <a:endParaRPr lang="en-US" sz="3200" dirty="0"/>
          </a:p>
        </p:txBody>
      </p:sp>
      <p:sp>
        <p:nvSpPr>
          <p:cNvPr id="4" name="Text 2"/>
          <p:cNvSpPr/>
          <p:nvPr/>
        </p:nvSpPr>
        <p:spPr>
          <a:xfrm>
            <a:off x="812800" y="1828800"/>
            <a:ext cx="981075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Checks that the software works as expected on the browsers, operating systems, devices, networks and versions its users actually have.</a:t>
            </a:r>
            <a:endParaRPr lang="en-US" sz="1400" dirty="0"/>
          </a:p>
        </p:txBody>
      </p:sp>
      <p:sp>
        <p:nvSpPr>
          <p:cNvPr id="5" name="Shape 3"/>
          <p:cNvSpPr/>
          <p:nvPr/>
        </p:nvSpPr>
        <p:spPr>
          <a:xfrm>
            <a:off x="815975" y="2583830"/>
            <a:ext cx="3414157"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6" name="Text 4"/>
          <p:cNvSpPr/>
          <p:nvPr/>
        </p:nvSpPr>
        <p:spPr>
          <a:xfrm>
            <a:off x="1021080" y="2763515"/>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Browsers</a:t>
            </a:r>
            <a:endParaRPr lang="en-US" sz="1400" dirty="0"/>
          </a:p>
        </p:txBody>
      </p:sp>
      <p:sp>
        <p:nvSpPr>
          <p:cNvPr id="7" name="Text 5"/>
          <p:cNvSpPr/>
          <p:nvPr/>
        </p:nvSpPr>
        <p:spPr>
          <a:xfrm>
            <a:off x="1021080" y="3045470"/>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Chrome, Firefox, Safari and Edge, in their recent versions</a:t>
            </a:r>
            <a:endParaRPr lang="en-US" sz="1200" dirty="0"/>
          </a:p>
        </p:txBody>
      </p:sp>
      <p:sp>
        <p:nvSpPr>
          <p:cNvPr id="8" name="Shape 6"/>
          <p:cNvSpPr/>
          <p:nvPr/>
        </p:nvSpPr>
        <p:spPr>
          <a:xfrm>
            <a:off x="4388882" y="2583830"/>
            <a:ext cx="3414157"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9" name="Text 7"/>
          <p:cNvSpPr/>
          <p:nvPr/>
        </p:nvSpPr>
        <p:spPr>
          <a:xfrm>
            <a:off x="4593987" y="2763515"/>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Operating systems</a:t>
            </a:r>
            <a:endParaRPr lang="en-US" sz="1400" dirty="0"/>
          </a:p>
        </p:txBody>
      </p:sp>
      <p:sp>
        <p:nvSpPr>
          <p:cNvPr id="10" name="Text 8"/>
          <p:cNvSpPr/>
          <p:nvPr/>
        </p:nvSpPr>
        <p:spPr>
          <a:xfrm>
            <a:off x="4593987" y="3045470"/>
            <a:ext cx="30940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Android, iOS, Windows, macOS and Linux</a:t>
            </a:r>
            <a:endParaRPr lang="en-US" sz="1200" dirty="0"/>
          </a:p>
        </p:txBody>
      </p:sp>
      <p:sp>
        <p:nvSpPr>
          <p:cNvPr id="11" name="Shape 9"/>
          <p:cNvSpPr/>
          <p:nvPr/>
        </p:nvSpPr>
        <p:spPr>
          <a:xfrm>
            <a:off x="7961789" y="2583830"/>
            <a:ext cx="3414157"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12" name="Text 10"/>
          <p:cNvSpPr/>
          <p:nvPr/>
        </p:nvSpPr>
        <p:spPr>
          <a:xfrm>
            <a:off x="8166894" y="2763515"/>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Devices and screens</a:t>
            </a:r>
            <a:endParaRPr lang="en-US" sz="1400" dirty="0"/>
          </a:p>
        </p:txBody>
      </p:sp>
      <p:sp>
        <p:nvSpPr>
          <p:cNvPr id="13" name="Text 11"/>
          <p:cNvSpPr/>
          <p:nvPr/>
        </p:nvSpPr>
        <p:spPr>
          <a:xfrm>
            <a:off x="8166894" y="3045470"/>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Phones, tablets and laptops; small to very wide screens</a:t>
            </a:r>
            <a:endParaRPr lang="en-US" sz="1200" dirty="0"/>
          </a:p>
        </p:txBody>
      </p:sp>
      <p:sp>
        <p:nvSpPr>
          <p:cNvPr id="14" name="Shape 12"/>
          <p:cNvSpPr/>
          <p:nvPr/>
        </p:nvSpPr>
        <p:spPr>
          <a:xfrm>
            <a:off x="815975" y="3810645"/>
            <a:ext cx="3414157"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15" name="Text 13"/>
          <p:cNvSpPr/>
          <p:nvPr/>
        </p:nvSpPr>
        <p:spPr>
          <a:xfrm>
            <a:off x="1021080" y="3990355"/>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Networks</a:t>
            </a:r>
            <a:endParaRPr lang="en-US" sz="1400" dirty="0"/>
          </a:p>
        </p:txBody>
      </p:sp>
      <p:sp>
        <p:nvSpPr>
          <p:cNvPr id="16" name="Text 14"/>
          <p:cNvSpPr/>
          <p:nvPr/>
        </p:nvSpPr>
        <p:spPr>
          <a:xfrm>
            <a:off x="1021080" y="4272285"/>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4G, weak hostel Wi-Fi, going offline in the middle of an order</a:t>
            </a:r>
            <a:endParaRPr lang="en-US" sz="1200" dirty="0"/>
          </a:p>
        </p:txBody>
      </p:sp>
      <p:sp>
        <p:nvSpPr>
          <p:cNvPr id="17" name="Shape 15"/>
          <p:cNvSpPr/>
          <p:nvPr/>
        </p:nvSpPr>
        <p:spPr>
          <a:xfrm>
            <a:off x="4388882" y="3810645"/>
            <a:ext cx="3414157"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18" name="Text 16"/>
          <p:cNvSpPr/>
          <p:nvPr/>
        </p:nvSpPr>
        <p:spPr>
          <a:xfrm>
            <a:off x="4593987" y="3990355"/>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Versions</a:t>
            </a:r>
            <a:endParaRPr lang="en-US" sz="1400" dirty="0"/>
          </a:p>
        </p:txBody>
      </p:sp>
      <p:sp>
        <p:nvSpPr>
          <p:cNvPr id="19" name="Text 17"/>
          <p:cNvSpPr/>
          <p:nvPr/>
        </p:nvSpPr>
        <p:spPr>
          <a:xfrm>
            <a:off x="4593987" y="4272285"/>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Backward: an old app with a new API. Forward: the app on a new OS release</a:t>
            </a:r>
            <a:endParaRPr lang="en-US" sz="1200" dirty="0"/>
          </a:p>
        </p:txBody>
      </p:sp>
      <p:sp>
        <p:nvSpPr>
          <p:cNvPr id="20" name="Shape 18"/>
          <p:cNvSpPr/>
          <p:nvPr/>
        </p:nvSpPr>
        <p:spPr>
          <a:xfrm>
            <a:off x="7961789" y="3810645"/>
            <a:ext cx="3414157" cy="1068070"/>
          </a:xfrm>
          <a:prstGeom prst="roundRect">
            <a:avLst>
              <a:gd name="adj" fmla="val 6837"/>
            </a:avLst>
          </a:prstGeom>
          <a:solidFill>
            <a:srgbClr val="FCFBF7"/>
          </a:solidFill>
          <a:ln w="6350">
            <a:solidFill>
              <a:srgbClr val="DDD8CC"/>
            </a:solidFill>
            <a:prstDash val="solid"/>
          </a:ln>
        </p:spPr>
        <p:txBody>
          <a:bodyPr/>
          <a:lstStyle/>
          <a:p>
            <a:endParaRPr lang="en-IN"/>
          </a:p>
        </p:txBody>
      </p:sp>
      <p:sp>
        <p:nvSpPr>
          <p:cNvPr id="21" name="Text 19"/>
          <p:cNvSpPr/>
          <p:nvPr/>
        </p:nvSpPr>
        <p:spPr>
          <a:xfrm>
            <a:off x="8166894" y="3990355"/>
            <a:ext cx="3094065"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Hardware</a:t>
            </a:r>
            <a:endParaRPr lang="en-US" sz="1400" dirty="0"/>
          </a:p>
        </p:txBody>
      </p:sp>
      <p:sp>
        <p:nvSpPr>
          <p:cNvPr id="22" name="Text 20"/>
          <p:cNvSpPr/>
          <p:nvPr/>
        </p:nvSpPr>
        <p:spPr>
          <a:xfrm>
            <a:off x="8166894" y="4272285"/>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Camera for QR pickup codes, printers at the counter</a:t>
            </a:r>
            <a:endParaRPr lang="en-US" sz="1200" dirty="0"/>
          </a:p>
        </p:txBody>
      </p:sp>
      <p:sp>
        <p:nvSpPr>
          <p:cNvPr id="23" name="Text 21"/>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4" name="Text 22"/>
          <p:cNvSpPr/>
          <p:nvPr/>
        </p:nvSpPr>
        <p:spPr>
          <a:xfrm>
            <a:off x="5925503" y="6238255"/>
            <a:ext cx="561730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ISO/IEC 25010 files cross-platform behaviour under flexibility, not compatibility</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L6 · COMPATIBILITY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A compatibility matrix for the Canteen App</a:t>
            </a:r>
            <a:endParaRPr lang="en-US" sz="3200" dirty="0"/>
          </a:p>
        </p:txBody>
      </p:sp>
      <p:sp>
        <p:nvSpPr>
          <p:cNvPr id="4" name="Shape 2"/>
          <p:cNvSpPr/>
          <p:nvPr/>
        </p:nvSpPr>
        <p:spPr>
          <a:xfrm>
            <a:off x="11376025" y="1828800"/>
            <a:ext cx="0" cy="2700020"/>
          </a:xfrm>
          <a:prstGeom prst="line">
            <a:avLst/>
          </a:prstGeom>
          <a:noFill/>
          <a:ln w="6350">
            <a:solidFill>
              <a:srgbClr val="DDD8CC"/>
            </a:solidFill>
            <a:prstDash val="solid"/>
          </a:ln>
        </p:spPr>
        <p:txBody>
          <a:bodyPr/>
          <a:lstStyle/>
          <a:p>
            <a:endParaRPr lang="en-IN"/>
          </a:p>
        </p:txBody>
      </p:sp>
      <p:sp>
        <p:nvSpPr>
          <p:cNvPr id="5" name="Shape 3"/>
          <p:cNvSpPr/>
          <p:nvPr/>
        </p:nvSpPr>
        <p:spPr>
          <a:xfrm>
            <a:off x="812800" y="4525645"/>
            <a:ext cx="10566400" cy="0"/>
          </a:xfrm>
          <a:prstGeom prst="line">
            <a:avLst/>
          </a:prstGeom>
          <a:noFill/>
          <a:ln w="6350">
            <a:solidFill>
              <a:srgbClr val="DDD8CC"/>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59" cy="2684780"/>
        </p:xfrm>
        <a:graphic>
          <a:graphicData uri="http://schemas.openxmlformats.org/drawingml/2006/table">
            <a:tbl>
              <a:tblPr/>
              <a:tblGrid>
                <a:gridCol w="3587394">
                  <a:extLst>
                    <a:ext uri="{9D8B030D-6E8A-4147-A177-3AD203B41FA5}">
                      <a16:colId xmlns:a16="http://schemas.microsoft.com/office/drawing/2014/main" val="20000"/>
                    </a:ext>
                  </a:extLst>
                </a:gridCol>
                <a:gridCol w="2321255">
                  <a:extLst>
                    <a:ext uri="{9D8B030D-6E8A-4147-A177-3AD203B41FA5}">
                      <a16:colId xmlns:a16="http://schemas.microsoft.com/office/drawing/2014/main" val="20001"/>
                    </a:ext>
                  </a:extLst>
                </a:gridCol>
                <a:gridCol w="1266139">
                  <a:extLst>
                    <a:ext uri="{9D8B030D-6E8A-4147-A177-3AD203B41FA5}">
                      <a16:colId xmlns:a16="http://schemas.microsoft.com/office/drawing/2014/main" val="20002"/>
                    </a:ext>
                  </a:extLst>
                </a:gridCol>
                <a:gridCol w="3376371">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Platform</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Browser or app</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Priority</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Why</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Android phone, last 3 versions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App, Chrome</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A9481A"/>
                          </a:solidFill>
                          <a:latin typeface="IBM Plex Sans" pitchFamily="34" charset="0"/>
                          <a:ea typeface="IBM Plex Sans" pitchFamily="34" charset="-122"/>
                          <a:cs typeface="IBM Plex Sans" pitchFamily="34" charset="-120"/>
                        </a:rPr>
                        <a:t>P1</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Largest group in usage data</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iPhone, last 2 iOS versions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App, Safari</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A9481A"/>
                          </a:solidFill>
                          <a:latin typeface="IBM Plex Sans" pitchFamily="34" charset="0"/>
                          <a:ea typeface="IBM Plex Sans" pitchFamily="34" charset="-122"/>
                          <a:cs typeface="IBM Plex Sans" pitchFamily="34" charset="-120"/>
                        </a:rPr>
                        <a:t>P1</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Second-largest group</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Windows laptop</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Chrome, Edge</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245A9C"/>
                          </a:solidFill>
                          <a:latin typeface="IBM Plex Sans" pitchFamily="34" charset="0"/>
                          <a:ea typeface="IBM Plex Sans" pitchFamily="34" charset="-122"/>
                          <a:cs typeface="IBM Plex Sans" pitchFamily="34" charset="-120"/>
                        </a:rPr>
                        <a:t>P2</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Library and lab PCs</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Low-memory Android phone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App</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245A9C"/>
                          </a:solidFill>
                          <a:latin typeface="IBM Plex Sans" pitchFamily="34" charset="0"/>
                          <a:ea typeface="IBM Plex Sans" pitchFamily="34" charset="-122"/>
                          <a:cs typeface="IBM Plex Sans" pitchFamily="34" charset="-120"/>
                        </a:rPr>
                        <a:t>P2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Budget phones are common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Weak network (3G profile)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App</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245A9C"/>
                          </a:solidFill>
                          <a:latin typeface="IBM Plex Sans" pitchFamily="34" charset="0"/>
                          <a:ea typeface="IBM Plex Sans" pitchFamily="34" charset="-122"/>
                          <a:cs typeface="IBM Plex Sans" pitchFamily="34" charset="-120"/>
                        </a:rPr>
                        <a:t>P2</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Hostel Wi-Fi dead zones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macOS laptop</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Safari, Chrome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5E6977"/>
                          </a:solidFill>
                          <a:latin typeface="IBM Plex Sans" pitchFamily="34" charset="0"/>
                          <a:ea typeface="IBM Plex Sans" pitchFamily="34" charset="-122"/>
                          <a:cs typeface="IBM Plex Sans" pitchFamily="34" charset="-120"/>
                        </a:rPr>
                        <a:t>P3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Few users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6"/>
                  </a:ext>
                </a:extLst>
              </a:tr>
            </a:tbl>
          </a:graphicData>
        </a:graphic>
      </p:graphicFrame>
      <p:sp>
        <p:nvSpPr>
          <p:cNvPr id="7" name="Text 4"/>
          <p:cNvSpPr/>
          <p:nvPr/>
        </p:nvSpPr>
        <p:spPr>
          <a:xfrm>
            <a:off x="812800" y="4782815"/>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Choose rows from usage data and risk, run P1 on every build, and review the matrix each semester.</a:t>
            </a:r>
            <a:endParaRPr lang="en-US" sz="1400" dirty="0"/>
          </a:p>
        </p:txBody>
      </p:sp>
      <p:sp>
        <p:nvSpPr>
          <p:cNvPr id="8" name="Text 5"/>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9" name="Text 6"/>
          <p:cNvSpPr/>
          <p:nvPr/>
        </p:nvSpPr>
        <p:spPr>
          <a:xfrm>
            <a:off x="7568406" y="6238255"/>
            <a:ext cx="392511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Illustrative matrix for a fictional app · P1 highest priority</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L6 · COMPATIBILITY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Running tests on many browsers</a:t>
            </a:r>
            <a:endParaRPr lang="en-US" sz="3200" dirty="0"/>
          </a:p>
        </p:txBody>
      </p:sp>
      <p:sp>
        <p:nvSpPr>
          <p:cNvPr id="4" name="Shape 2"/>
          <p:cNvSpPr/>
          <p:nvPr/>
        </p:nvSpPr>
        <p:spPr>
          <a:xfrm>
            <a:off x="2276475" y="1831975"/>
            <a:ext cx="1898650" cy="565150"/>
          </a:xfrm>
          <a:prstGeom prst="roundRect">
            <a:avLst>
              <a:gd name="adj" fmla="val 10674"/>
            </a:avLst>
          </a:prstGeom>
          <a:solidFill>
            <a:srgbClr val="FCFBF7"/>
          </a:solidFill>
          <a:ln w="6350">
            <a:solidFill>
              <a:srgbClr val="C9C2B2"/>
            </a:solidFill>
            <a:prstDash val="solid"/>
          </a:ln>
        </p:spPr>
        <p:txBody>
          <a:bodyPr/>
          <a:lstStyle/>
          <a:p>
            <a:endParaRPr lang="en-IN"/>
          </a:p>
        </p:txBody>
      </p:sp>
      <p:sp>
        <p:nvSpPr>
          <p:cNvPr id="5" name="Text 3"/>
          <p:cNvSpPr/>
          <p:nvPr/>
        </p:nvSpPr>
        <p:spPr>
          <a:xfrm>
            <a:off x="2866549" y="1901205"/>
            <a:ext cx="76922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pytest run</a:t>
            </a:r>
            <a:endParaRPr lang="en-US" sz="1200" dirty="0"/>
          </a:p>
        </p:txBody>
      </p:sp>
      <p:sp>
        <p:nvSpPr>
          <p:cNvPr id="6" name="Text 4"/>
          <p:cNvSpPr/>
          <p:nvPr/>
        </p:nvSpPr>
        <p:spPr>
          <a:xfrm>
            <a:off x="2538174" y="2114550"/>
            <a:ext cx="142597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tests + driver fixture</a:t>
            </a:r>
            <a:endParaRPr lang="en-US" sz="1200" dirty="0"/>
          </a:p>
        </p:txBody>
      </p:sp>
      <p:sp>
        <p:nvSpPr>
          <p:cNvPr id="7" name="Shape 5"/>
          <p:cNvSpPr/>
          <p:nvPr/>
        </p:nvSpPr>
        <p:spPr>
          <a:xfrm>
            <a:off x="2273300" y="3035300"/>
            <a:ext cx="1905000" cy="571500"/>
          </a:xfrm>
          <a:prstGeom prst="roundRect">
            <a:avLst>
              <a:gd name="adj" fmla="val 11111"/>
            </a:avLst>
          </a:prstGeom>
          <a:solidFill>
            <a:srgbClr val="13233A"/>
          </a:solidFill>
          <a:ln/>
        </p:spPr>
        <p:txBody>
          <a:bodyPr/>
          <a:lstStyle/>
          <a:p>
            <a:endParaRPr lang="en-IN"/>
          </a:p>
        </p:txBody>
      </p:sp>
      <p:sp>
        <p:nvSpPr>
          <p:cNvPr id="8" name="Text 6"/>
          <p:cNvSpPr/>
          <p:nvPr/>
        </p:nvSpPr>
        <p:spPr>
          <a:xfrm>
            <a:off x="2571353" y="3107705"/>
            <a:ext cx="135961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Selenium Grid hub</a:t>
            </a:r>
            <a:endParaRPr lang="en-US" sz="1200" dirty="0"/>
          </a:p>
        </p:txBody>
      </p:sp>
      <p:sp>
        <p:nvSpPr>
          <p:cNvPr id="9" name="Text 7"/>
          <p:cNvSpPr/>
          <p:nvPr/>
        </p:nvSpPr>
        <p:spPr>
          <a:xfrm>
            <a:off x="2882979" y="3321050"/>
            <a:ext cx="73636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FDB"/>
                </a:solidFill>
                <a:latin typeface="IBM Plex Sans" pitchFamily="34" charset="0"/>
                <a:ea typeface="IBM Plex Sans" pitchFamily="34" charset="-122"/>
                <a:cs typeface="IBM Plex Sans" pitchFamily="34" charset="-120"/>
              </a:rPr>
              <a:t>port 4444</a:t>
            </a:r>
            <a:endParaRPr lang="en-US" sz="1200" dirty="0"/>
          </a:p>
        </p:txBody>
      </p:sp>
      <p:sp>
        <p:nvSpPr>
          <p:cNvPr id="10" name="Shape 8"/>
          <p:cNvSpPr/>
          <p:nvPr/>
        </p:nvSpPr>
        <p:spPr>
          <a:xfrm>
            <a:off x="812800" y="4368800"/>
            <a:ext cx="1397000" cy="571500"/>
          </a:xfrm>
          <a:prstGeom prst="roundRect">
            <a:avLst>
              <a:gd name="adj" fmla="val 11111"/>
            </a:avLst>
          </a:prstGeom>
          <a:solidFill>
            <a:srgbClr val="DCE7F3"/>
          </a:solidFill>
          <a:ln/>
        </p:spPr>
        <p:txBody>
          <a:bodyPr/>
          <a:lstStyle/>
          <a:p>
            <a:endParaRPr lang="en-IN"/>
          </a:p>
        </p:txBody>
      </p:sp>
      <p:sp>
        <p:nvSpPr>
          <p:cNvPr id="11" name="Text 9"/>
          <p:cNvSpPr/>
          <p:nvPr/>
        </p:nvSpPr>
        <p:spPr>
          <a:xfrm>
            <a:off x="1040924" y="4547865"/>
            <a:ext cx="99147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Chrome node</a:t>
            </a:r>
            <a:endParaRPr lang="en-US" sz="1200" dirty="0"/>
          </a:p>
        </p:txBody>
      </p:sp>
      <p:sp>
        <p:nvSpPr>
          <p:cNvPr id="12" name="Shape 10"/>
          <p:cNvSpPr/>
          <p:nvPr/>
        </p:nvSpPr>
        <p:spPr>
          <a:xfrm>
            <a:off x="2527300" y="4368800"/>
            <a:ext cx="1397000" cy="571500"/>
          </a:xfrm>
          <a:prstGeom prst="roundRect">
            <a:avLst>
              <a:gd name="adj" fmla="val 11111"/>
            </a:avLst>
          </a:prstGeom>
          <a:solidFill>
            <a:srgbClr val="DCE7F3"/>
          </a:solidFill>
          <a:ln/>
        </p:spPr>
        <p:txBody>
          <a:bodyPr/>
          <a:lstStyle/>
          <a:p>
            <a:endParaRPr lang="en-IN"/>
          </a:p>
        </p:txBody>
      </p:sp>
      <p:sp>
        <p:nvSpPr>
          <p:cNvPr id="13" name="Text 11"/>
          <p:cNvSpPr/>
          <p:nvPr/>
        </p:nvSpPr>
        <p:spPr>
          <a:xfrm>
            <a:off x="2785269" y="4547865"/>
            <a:ext cx="93186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Firefox node</a:t>
            </a:r>
            <a:endParaRPr lang="en-US" sz="1200" dirty="0"/>
          </a:p>
        </p:txBody>
      </p:sp>
      <p:sp>
        <p:nvSpPr>
          <p:cNvPr id="14" name="Shape 12"/>
          <p:cNvSpPr/>
          <p:nvPr/>
        </p:nvSpPr>
        <p:spPr>
          <a:xfrm>
            <a:off x="4241800" y="4368800"/>
            <a:ext cx="1397000" cy="571500"/>
          </a:xfrm>
          <a:prstGeom prst="roundRect">
            <a:avLst>
              <a:gd name="adj" fmla="val 11111"/>
            </a:avLst>
          </a:prstGeom>
          <a:solidFill>
            <a:srgbClr val="DCE7F3"/>
          </a:solidFill>
          <a:ln/>
        </p:spPr>
        <p:txBody>
          <a:bodyPr/>
          <a:lstStyle/>
          <a:p>
            <a:endParaRPr lang="en-IN"/>
          </a:p>
        </p:txBody>
      </p:sp>
      <p:sp>
        <p:nvSpPr>
          <p:cNvPr id="15" name="Text 13"/>
          <p:cNvSpPr/>
          <p:nvPr/>
        </p:nvSpPr>
        <p:spPr>
          <a:xfrm>
            <a:off x="4572079" y="4547865"/>
            <a:ext cx="78724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Edge node</a:t>
            </a:r>
            <a:endParaRPr lang="en-US" sz="1200" dirty="0"/>
          </a:p>
        </p:txBody>
      </p:sp>
      <p:pic>
        <p:nvPicPr>
          <p:cNvPr id="16" name="Image 0" descr="connector"/>
          <p:cNvPicPr>
            <a:picLocks noChangeAspect="1"/>
          </p:cNvPicPr>
          <p:nvPr/>
        </p:nvPicPr>
        <p:blipFill>
          <a:blip r:embed="rId3"/>
          <a:srcRect/>
          <a:stretch/>
        </p:blipFill>
        <p:spPr>
          <a:xfrm>
            <a:off x="3175000" y="2349500"/>
            <a:ext cx="101600" cy="736600"/>
          </a:xfrm>
          <a:prstGeom prst="rect">
            <a:avLst/>
          </a:prstGeom>
        </p:spPr>
      </p:pic>
      <p:pic>
        <p:nvPicPr>
          <p:cNvPr id="17" name="Image 1" descr="connector"/>
          <p:cNvPicPr>
            <a:picLocks noChangeAspect="1"/>
          </p:cNvPicPr>
          <p:nvPr/>
        </p:nvPicPr>
        <p:blipFill>
          <a:blip r:embed="rId4"/>
          <a:srcRect/>
          <a:stretch/>
        </p:blipFill>
        <p:spPr>
          <a:xfrm>
            <a:off x="3175000" y="3556000"/>
            <a:ext cx="101600" cy="711200"/>
          </a:xfrm>
          <a:prstGeom prst="rect">
            <a:avLst/>
          </a:prstGeom>
        </p:spPr>
      </p:pic>
      <p:pic>
        <p:nvPicPr>
          <p:cNvPr id="18" name="Image 2" descr="connector"/>
          <p:cNvPicPr>
            <a:picLocks noChangeAspect="1"/>
          </p:cNvPicPr>
          <p:nvPr/>
        </p:nvPicPr>
        <p:blipFill>
          <a:blip r:embed="rId5"/>
          <a:srcRect/>
          <a:stretch/>
        </p:blipFill>
        <p:spPr>
          <a:xfrm>
            <a:off x="1460500" y="4165600"/>
            <a:ext cx="3530600" cy="101600"/>
          </a:xfrm>
          <a:prstGeom prst="rect">
            <a:avLst/>
          </a:prstGeom>
        </p:spPr>
      </p:pic>
      <p:pic>
        <p:nvPicPr>
          <p:cNvPr id="19" name="Image 3" descr="connector"/>
          <p:cNvPicPr>
            <a:picLocks noChangeAspect="1"/>
          </p:cNvPicPr>
          <p:nvPr/>
        </p:nvPicPr>
        <p:blipFill>
          <a:blip r:embed="rId6"/>
          <a:srcRect/>
          <a:stretch/>
        </p:blipFill>
        <p:spPr>
          <a:xfrm>
            <a:off x="1460500" y="4165600"/>
            <a:ext cx="101600" cy="254000"/>
          </a:xfrm>
          <a:prstGeom prst="rect">
            <a:avLst/>
          </a:prstGeom>
        </p:spPr>
      </p:pic>
      <p:pic>
        <p:nvPicPr>
          <p:cNvPr id="20" name="Image 4" descr="connector"/>
          <p:cNvPicPr>
            <a:picLocks noChangeAspect="1"/>
          </p:cNvPicPr>
          <p:nvPr/>
        </p:nvPicPr>
        <p:blipFill>
          <a:blip r:embed="rId6"/>
          <a:srcRect/>
          <a:stretch/>
        </p:blipFill>
        <p:spPr>
          <a:xfrm>
            <a:off x="3175000" y="4165600"/>
            <a:ext cx="101600" cy="254000"/>
          </a:xfrm>
          <a:prstGeom prst="rect">
            <a:avLst/>
          </a:prstGeom>
        </p:spPr>
      </p:pic>
      <p:pic>
        <p:nvPicPr>
          <p:cNvPr id="21" name="Image 5" descr="connector"/>
          <p:cNvPicPr>
            <a:picLocks noChangeAspect="1"/>
          </p:cNvPicPr>
          <p:nvPr/>
        </p:nvPicPr>
        <p:blipFill>
          <a:blip r:embed="rId6"/>
          <a:srcRect/>
          <a:stretch/>
        </p:blipFill>
        <p:spPr>
          <a:xfrm>
            <a:off x="4889500" y="4165600"/>
            <a:ext cx="101600" cy="254000"/>
          </a:xfrm>
          <a:prstGeom prst="rect">
            <a:avLst/>
          </a:prstGeom>
        </p:spPr>
      </p:pic>
      <p:sp>
        <p:nvSpPr>
          <p:cNvPr id="22" name="Text 14"/>
          <p:cNvSpPr/>
          <p:nvPr/>
        </p:nvSpPr>
        <p:spPr>
          <a:xfrm>
            <a:off x="3327400" y="2603500"/>
            <a:ext cx="22237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WebDriver commands</a:t>
            </a:r>
            <a:endParaRPr lang="en-US" sz="1200" dirty="0"/>
          </a:p>
        </p:txBody>
      </p:sp>
      <p:sp>
        <p:nvSpPr>
          <p:cNvPr id="23" name="Text 15"/>
          <p:cNvSpPr/>
          <p:nvPr/>
        </p:nvSpPr>
        <p:spPr>
          <a:xfrm>
            <a:off x="812800" y="5041900"/>
            <a:ext cx="49707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hub sends each session to a node with that browser, and nodes run in parallel. Lab 8 starts them from Docker images.</a:t>
            </a:r>
            <a:endParaRPr lang="en-US" sz="1200" dirty="0"/>
          </a:p>
        </p:txBody>
      </p:sp>
      <p:sp>
        <p:nvSpPr>
          <p:cNvPr id="24" name="Text 16"/>
          <p:cNvSpPr/>
          <p:nvPr/>
        </p:nvSpPr>
        <p:spPr>
          <a:xfrm>
            <a:off x="5943600" y="1828800"/>
            <a:ext cx="559866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conftest.py · every test runs once per browser</a:t>
            </a:r>
            <a:endParaRPr lang="en-US" sz="1200" dirty="0"/>
          </a:p>
        </p:txBody>
      </p:sp>
      <p:sp>
        <p:nvSpPr>
          <p:cNvPr id="25" name="Shape 17"/>
          <p:cNvSpPr/>
          <p:nvPr/>
        </p:nvSpPr>
        <p:spPr>
          <a:xfrm>
            <a:off x="5943600" y="2118370"/>
            <a:ext cx="5435600" cy="3556000"/>
          </a:xfrm>
          <a:prstGeom prst="roundRect">
            <a:avLst>
              <a:gd name="adj" fmla="val 2143"/>
            </a:avLst>
          </a:prstGeom>
          <a:solidFill>
            <a:srgbClr val="13233A"/>
          </a:solidFill>
          <a:ln/>
        </p:spPr>
        <p:txBody>
          <a:bodyPr/>
          <a:lstStyle/>
          <a:p>
            <a:endParaRPr lang="en-IN"/>
          </a:p>
        </p:txBody>
      </p:sp>
      <p:sp>
        <p:nvSpPr>
          <p:cNvPr id="26" name="Text 18"/>
          <p:cNvSpPr/>
          <p:nvPr/>
        </p:nvSpPr>
        <p:spPr>
          <a:xfrm>
            <a:off x="6121400" y="2296170"/>
            <a:ext cx="5232400" cy="322580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pytest</a:t>
            </a:r>
            <a:endParaRPr lang="en-US" sz="1200" dirty="0"/>
          </a:p>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from</a:t>
            </a:r>
            <a:r>
              <a:rPr lang="en-US" sz="1200" dirty="0">
                <a:solidFill>
                  <a:srgbClr val="E6EAF0"/>
                </a:solidFill>
                <a:latin typeface="JetBrains Mono" pitchFamily="34" charset="0"/>
                <a:ea typeface="JetBrains Mono" pitchFamily="34" charset="-122"/>
                <a:cs typeface="JetBrains Mono" pitchFamily="34" charset="-120"/>
              </a:rPr>
              <a:t> selenium </a:t>
            </a: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webdriver</a:t>
            </a:r>
            <a:endParaRPr lang="en-US" sz="1200" dirty="0"/>
          </a:p>
          <a:p>
            <a:pPr marL="0" indent="0" algn="l">
              <a:lnSpc>
                <a:spcPts val="1680"/>
              </a:lnSpc>
              <a:buNone/>
            </a:pP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GRID = </a:t>
            </a:r>
            <a:r>
              <a:rPr lang="en-US" sz="1200" dirty="0">
                <a:solidFill>
                  <a:srgbClr val="9CC7F0"/>
                </a:solidFill>
                <a:latin typeface="JetBrains Mono" pitchFamily="34" charset="0"/>
                <a:ea typeface="JetBrains Mono" pitchFamily="34" charset="-122"/>
                <a:cs typeface="JetBrains Mono" pitchFamily="34" charset="-120"/>
              </a:rPr>
              <a:t>"http://localhost:4444"</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OPTIONS = {</a:t>
            </a:r>
            <a:r>
              <a:rPr lang="en-US" sz="1200" dirty="0">
                <a:solidFill>
                  <a:srgbClr val="9CC7F0"/>
                </a:solidFill>
                <a:latin typeface="JetBrains Mono" pitchFamily="34" charset="0"/>
                <a:ea typeface="JetBrains Mono" pitchFamily="34" charset="-122"/>
                <a:cs typeface="JetBrains Mono" pitchFamily="34" charset="-120"/>
              </a:rPr>
              <a:t>"chrome"</a:t>
            </a:r>
            <a:r>
              <a:rPr lang="en-US" sz="1200" dirty="0">
                <a:solidFill>
                  <a:srgbClr val="E6EAF0"/>
                </a:solidFill>
                <a:latin typeface="JetBrains Mono" pitchFamily="34" charset="0"/>
                <a:ea typeface="JetBrains Mono" pitchFamily="34" charset="-122"/>
                <a:cs typeface="JetBrains Mono" pitchFamily="34" charset="-120"/>
              </a:rPr>
              <a:t>: webdriver.ChromeOptions,</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"firefox"</a:t>
            </a:r>
            <a:r>
              <a:rPr lang="en-US" sz="1200" dirty="0">
                <a:solidFill>
                  <a:srgbClr val="E6EAF0"/>
                </a:solidFill>
                <a:latin typeface="JetBrains Mono" pitchFamily="34" charset="0"/>
                <a:ea typeface="JetBrains Mono" pitchFamily="34" charset="-122"/>
                <a:cs typeface="JetBrains Mono" pitchFamily="34" charset="-120"/>
              </a:rPr>
              <a:t>: webdriver.FirefoxOptions,</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"edge"</a:t>
            </a:r>
            <a:r>
              <a:rPr lang="en-US" sz="1200" dirty="0">
                <a:solidFill>
                  <a:srgbClr val="E6EAF0"/>
                </a:solidFill>
                <a:latin typeface="JetBrains Mono" pitchFamily="34" charset="0"/>
                <a:ea typeface="JetBrains Mono" pitchFamily="34" charset="-122"/>
                <a:cs typeface="JetBrains Mono" pitchFamily="34" charset="-120"/>
              </a:rPr>
              <a:t>: webdriver.EdgeOptions}</a:t>
            </a:r>
            <a:endParaRPr lang="en-US" sz="1200" dirty="0"/>
          </a:p>
          <a:p>
            <a:pPr marL="0" indent="0" algn="l">
              <a:lnSpc>
                <a:spcPts val="1680"/>
              </a:lnSpc>
              <a:buNone/>
            </a:pP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@pytest.fixture(params=OPTIONS)</a:t>
            </a:r>
            <a:endParaRPr lang="en-US" sz="1200" dirty="0"/>
          </a:p>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driver(request):</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options = OPTIONS[request.param]()</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drv = webdriver.Remote(command_executor=GRID,</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options=options)</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yield</a:t>
            </a:r>
            <a:r>
              <a:rPr lang="en-US" sz="1200" dirty="0">
                <a:solidFill>
                  <a:srgbClr val="E6EAF0"/>
                </a:solidFill>
                <a:latin typeface="JetBrains Mono" pitchFamily="34" charset="0"/>
                <a:ea typeface="JetBrains Mono" pitchFamily="34" charset="-122"/>
                <a:cs typeface="JetBrains Mono" pitchFamily="34" charset="-120"/>
              </a:rPr>
              <a:t> drv</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drv.quit()</a:t>
            </a:r>
            <a:endParaRPr lang="en-US" sz="1200" dirty="0"/>
          </a:p>
        </p:txBody>
      </p:sp>
      <p:sp>
        <p:nvSpPr>
          <p:cNvPr id="27" name="Text 19"/>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8" name="Text 20"/>
          <p:cNvSpPr/>
          <p:nvPr/>
        </p:nvSpPr>
        <p:spPr>
          <a:xfrm>
            <a:off x="6983175" y="6238255"/>
            <a:ext cx="452790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Cloud alternatives: BrowserStack, Sauce Labs, AWS Device Farm</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L6 · GUI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GUI testing</a:t>
            </a:r>
            <a:endParaRPr lang="en-US" sz="3200" dirty="0"/>
          </a:p>
        </p:txBody>
      </p:sp>
      <p:sp>
        <p:nvSpPr>
          <p:cNvPr id="4" name="Text 2"/>
          <p:cNvSpPr/>
          <p:nvPr/>
        </p:nvSpPr>
        <p:spPr>
          <a:xfrm>
            <a:off x="812800" y="1828800"/>
            <a:ext cx="981075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Checks the graphical user interface: every screen element looks right, responds correctly and helps the user reach their goal.</a:t>
            </a:r>
            <a:endParaRPr lang="en-US" sz="1400" dirty="0"/>
          </a:p>
        </p:txBody>
      </p:sp>
      <p:sp>
        <p:nvSpPr>
          <p:cNvPr id="5" name="Shape 3"/>
          <p:cNvSpPr/>
          <p:nvPr/>
        </p:nvSpPr>
        <p:spPr>
          <a:xfrm>
            <a:off x="815975" y="2583830"/>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6" name="Text 4"/>
          <p:cNvSpPr/>
          <p:nvPr/>
        </p:nvSpPr>
        <p:spPr>
          <a:xfrm>
            <a:off x="995680" y="2738115"/>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Layout and alignment</a:t>
            </a:r>
            <a:endParaRPr lang="en-US" sz="1400" dirty="0"/>
          </a:p>
        </p:txBody>
      </p:sp>
      <p:sp>
        <p:nvSpPr>
          <p:cNvPr id="7" name="Text 5"/>
          <p:cNvSpPr/>
          <p:nvPr/>
        </p:nvSpPr>
        <p:spPr>
          <a:xfrm>
            <a:off x="995680" y="302007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Elements line up; nothing overlaps or is cut off</a:t>
            </a:r>
            <a:endParaRPr lang="en-US" sz="1200" dirty="0"/>
          </a:p>
        </p:txBody>
      </p:sp>
      <p:sp>
        <p:nvSpPr>
          <p:cNvPr id="8" name="Shape 6"/>
          <p:cNvSpPr/>
          <p:nvPr/>
        </p:nvSpPr>
        <p:spPr>
          <a:xfrm>
            <a:off x="3495675" y="2583830"/>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9" name="Text 7"/>
          <p:cNvSpPr/>
          <p:nvPr/>
        </p:nvSpPr>
        <p:spPr>
          <a:xfrm>
            <a:off x="3675380" y="2738115"/>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Text and labels</a:t>
            </a:r>
            <a:endParaRPr lang="en-US" sz="1400" dirty="0"/>
          </a:p>
        </p:txBody>
      </p:sp>
      <p:sp>
        <p:nvSpPr>
          <p:cNvPr id="10" name="Text 8"/>
          <p:cNvSpPr/>
          <p:nvPr/>
        </p:nvSpPr>
        <p:spPr>
          <a:xfrm>
            <a:off x="3675380" y="302007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Spelling, currency symbols, truncation, translations</a:t>
            </a:r>
            <a:endParaRPr lang="en-US" sz="1200" dirty="0"/>
          </a:p>
        </p:txBody>
      </p:sp>
      <p:sp>
        <p:nvSpPr>
          <p:cNvPr id="11" name="Shape 9"/>
          <p:cNvSpPr/>
          <p:nvPr/>
        </p:nvSpPr>
        <p:spPr>
          <a:xfrm>
            <a:off x="6175375" y="2583830"/>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12" name="Text 10"/>
          <p:cNvSpPr/>
          <p:nvPr/>
        </p:nvSpPr>
        <p:spPr>
          <a:xfrm>
            <a:off x="6355080" y="2738115"/>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Inputs and validation</a:t>
            </a:r>
            <a:endParaRPr lang="en-US" sz="1400" dirty="0"/>
          </a:p>
        </p:txBody>
      </p:sp>
      <p:sp>
        <p:nvSpPr>
          <p:cNvPr id="13" name="Text 11"/>
          <p:cNvSpPr/>
          <p:nvPr/>
        </p:nvSpPr>
        <p:spPr>
          <a:xfrm>
            <a:off x="6355080" y="302007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Field limits, formats and clear error messages</a:t>
            </a:r>
            <a:endParaRPr lang="en-US" sz="1200" dirty="0"/>
          </a:p>
        </p:txBody>
      </p:sp>
      <p:sp>
        <p:nvSpPr>
          <p:cNvPr id="14" name="Shape 12"/>
          <p:cNvSpPr/>
          <p:nvPr/>
        </p:nvSpPr>
        <p:spPr>
          <a:xfrm>
            <a:off x="8855075" y="2583830"/>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15" name="Text 13"/>
          <p:cNvSpPr/>
          <p:nvPr/>
        </p:nvSpPr>
        <p:spPr>
          <a:xfrm>
            <a:off x="9034780" y="2738115"/>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Buttons and states</a:t>
            </a:r>
            <a:endParaRPr lang="en-US" sz="1400" dirty="0"/>
          </a:p>
        </p:txBody>
      </p:sp>
      <p:sp>
        <p:nvSpPr>
          <p:cNvPr id="16" name="Text 14"/>
          <p:cNvSpPr/>
          <p:nvPr/>
        </p:nvSpPr>
        <p:spPr>
          <a:xfrm>
            <a:off x="9034780" y="302007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Enabled, disabled, loading and pressed states</a:t>
            </a:r>
            <a:endParaRPr lang="en-US" sz="1200" dirty="0"/>
          </a:p>
        </p:txBody>
      </p:sp>
      <p:sp>
        <p:nvSpPr>
          <p:cNvPr id="17" name="Shape 15"/>
          <p:cNvSpPr/>
          <p:nvPr/>
        </p:nvSpPr>
        <p:spPr>
          <a:xfrm>
            <a:off x="815975" y="3759845"/>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18" name="Text 16"/>
          <p:cNvSpPr/>
          <p:nvPr/>
        </p:nvSpPr>
        <p:spPr>
          <a:xfrm>
            <a:off x="995680" y="3914155"/>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Navigation</a:t>
            </a:r>
            <a:endParaRPr lang="en-US" sz="1400" dirty="0"/>
          </a:p>
        </p:txBody>
      </p:sp>
      <p:sp>
        <p:nvSpPr>
          <p:cNvPr id="19" name="Text 17"/>
          <p:cNvSpPr/>
          <p:nvPr/>
        </p:nvSpPr>
        <p:spPr>
          <a:xfrm>
            <a:off x="995680" y="4196085"/>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Back button, links and menus go where expected</a:t>
            </a:r>
            <a:endParaRPr lang="en-US" sz="1200" dirty="0"/>
          </a:p>
        </p:txBody>
      </p:sp>
      <p:sp>
        <p:nvSpPr>
          <p:cNvPr id="20" name="Shape 18"/>
          <p:cNvSpPr/>
          <p:nvPr/>
        </p:nvSpPr>
        <p:spPr>
          <a:xfrm>
            <a:off x="3495675" y="3759845"/>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21" name="Text 19"/>
          <p:cNvSpPr/>
          <p:nvPr/>
        </p:nvSpPr>
        <p:spPr>
          <a:xfrm>
            <a:off x="3675380" y="3914155"/>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Images and icons</a:t>
            </a:r>
            <a:endParaRPr lang="en-US" sz="1400" dirty="0"/>
          </a:p>
        </p:txBody>
      </p:sp>
      <p:sp>
        <p:nvSpPr>
          <p:cNvPr id="22" name="Text 20"/>
          <p:cNvSpPr/>
          <p:nvPr/>
        </p:nvSpPr>
        <p:spPr>
          <a:xfrm>
            <a:off x="3675380" y="4196085"/>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Load correctly and carry alt text for screen readers</a:t>
            </a:r>
            <a:endParaRPr lang="en-US" sz="1200" dirty="0"/>
          </a:p>
        </p:txBody>
      </p:sp>
      <p:sp>
        <p:nvSpPr>
          <p:cNvPr id="23" name="Shape 21"/>
          <p:cNvSpPr/>
          <p:nvPr/>
        </p:nvSpPr>
        <p:spPr>
          <a:xfrm>
            <a:off x="6175375" y="3759845"/>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24" name="Text 22"/>
          <p:cNvSpPr/>
          <p:nvPr/>
        </p:nvSpPr>
        <p:spPr>
          <a:xfrm>
            <a:off x="6355080" y="3914155"/>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Responsive design</a:t>
            </a:r>
            <a:endParaRPr lang="en-US" sz="1400" dirty="0"/>
          </a:p>
        </p:txBody>
      </p:sp>
      <p:sp>
        <p:nvSpPr>
          <p:cNvPr id="25" name="Text 23"/>
          <p:cNvSpPr/>
          <p:nvPr/>
        </p:nvSpPr>
        <p:spPr>
          <a:xfrm>
            <a:off x="6355080" y="4196085"/>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Works from small phones to wide desktop screens</a:t>
            </a:r>
            <a:endParaRPr lang="en-US" sz="1200" dirty="0"/>
          </a:p>
        </p:txBody>
      </p:sp>
      <p:sp>
        <p:nvSpPr>
          <p:cNvPr id="26" name="Shape 24"/>
          <p:cNvSpPr/>
          <p:nvPr/>
        </p:nvSpPr>
        <p:spPr>
          <a:xfrm>
            <a:off x="8855075" y="3759845"/>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27" name="Text 25"/>
          <p:cNvSpPr/>
          <p:nvPr/>
        </p:nvSpPr>
        <p:spPr>
          <a:xfrm>
            <a:off x="9034780" y="3914155"/>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Accessibility basics</a:t>
            </a:r>
            <a:endParaRPr lang="en-US" sz="1400" dirty="0"/>
          </a:p>
        </p:txBody>
      </p:sp>
      <p:sp>
        <p:nvSpPr>
          <p:cNvPr id="28" name="Text 26"/>
          <p:cNvSpPr/>
          <p:nvPr/>
        </p:nvSpPr>
        <p:spPr>
          <a:xfrm>
            <a:off x="9034780" y="4196085"/>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Colour contrast, keyboard access, focus order</a:t>
            </a:r>
            <a:endParaRPr lang="en-US" sz="1200" dirty="0"/>
          </a:p>
        </p:txBody>
      </p:sp>
      <p:sp>
        <p:nvSpPr>
          <p:cNvPr id="29" name="Text 27"/>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30" name="Text 28"/>
          <p:cNvSpPr/>
          <p:nvPr/>
        </p:nvSpPr>
        <p:spPr>
          <a:xfrm>
            <a:off x="6629003" y="6238255"/>
            <a:ext cx="489270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Canteen App check: Apply stays disabled until a coupon code is typed</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L6 · GUI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Ways to test a GUI</a:t>
            </a:r>
            <a:endParaRPr lang="en-US" sz="3200" dirty="0"/>
          </a:p>
        </p:txBody>
      </p:sp>
      <p:sp>
        <p:nvSpPr>
          <p:cNvPr id="4" name="Shape 2"/>
          <p:cNvSpPr/>
          <p:nvPr/>
        </p:nvSpPr>
        <p:spPr>
          <a:xfrm>
            <a:off x="11376025" y="1828800"/>
            <a:ext cx="0" cy="2849880"/>
          </a:xfrm>
          <a:prstGeom prst="line">
            <a:avLst/>
          </a:prstGeom>
          <a:noFill/>
          <a:ln w="6350">
            <a:solidFill>
              <a:srgbClr val="DDD8CC"/>
            </a:solidFill>
            <a:prstDash val="solid"/>
          </a:ln>
        </p:spPr>
        <p:txBody>
          <a:bodyPr/>
          <a:lstStyle/>
          <a:p>
            <a:endParaRPr lang="en-IN"/>
          </a:p>
        </p:txBody>
      </p:sp>
      <p:sp>
        <p:nvSpPr>
          <p:cNvPr id="5" name="Shape 3"/>
          <p:cNvSpPr/>
          <p:nvPr/>
        </p:nvSpPr>
        <p:spPr>
          <a:xfrm>
            <a:off x="812800" y="4675505"/>
            <a:ext cx="10566400" cy="0"/>
          </a:xfrm>
          <a:prstGeom prst="line">
            <a:avLst/>
          </a:prstGeom>
          <a:noFill/>
          <a:ln w="6350">
            <a:solidFill>
              <a:srgbClr val="DDD8CC"/>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834640"/>
        </p:xfrm>
        <a:graphic>
          <a:graphicData uri="http://schemas.openxmlformats.org/drawingml/2006/table">
            <a:tbl>
              <a:tblPr/>
              <a:tblGrid>
                <a:gridCol w="1899209">
                  <a:extLst>
                    <a:ext uri="{9D8B030D-6E8A-4147-A177-3AD203B41FA5}">
                      <a16:colId xmlns:a16="http://schemas.microsoft.com/office/drawing/2014/main" val="20000"/>
                    </a:ext>
                  </a:extLst>
                </a:gridCol>
                <a:gridCol w="3587394">
                  <a:extLst>
                    <a:ext uri="{9D8B030D-6E8A-4147-A177-3AD203B41FA5}">
                      <a16:colId xmlns:a16="http://schemas.microsoft.com/office/drawing/2014/main" val="20001"/>
                    </a:ext>
                  </a:extLst>
                </a:gridCol>
                <a:gridCol w="2321255">
                  <a:extLst>
                    <a:ext uri="{9D8B030D-6E8A-4147-A177-3AD203B41FA5}">
                      <a16:colId xmlns:a16="http://schemas.microsoft.com/office/drawing/2014/main" val="20002"/>
                    </a:ext>
                  </a:extLst>
                </a:gridCol>
                <a:gridCol w="2743302">
                  <a:extLst>
                    <a:ext uri="{9D8B030D-6E8A-4147-A177-3AD203B41FA5}">
                      <a16:colId xmlns:a16="http://schemas.microsoft.com/office/drawing/2014/main" val="20003"/>
                    </a:ext>
                  </a:extLst>
                </a:gridCol>
              </a:tblGrid>
              <a:tr h="330200">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Approach</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How it works</a:t>
                      </a:r>
                      <a:endParaRPr lang="en-US" sz="1200" dirty="0">
                        <a:latin typeface="IBM Plex Sans" charset="0"/>
                        <a:ea typeface="IBM Plex Sans" charset="0"/>
                        <a:cs typeface="IBM Plex Sans" charset="0"/>
                      </a:endParaRPr>
                    </a:p>
                  </a:txBody>
                  <a:tcPr marL="53340" marR="53340" marT="53340" marB="5334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Strength</a:t>
                      </a:r>
                      <a:endParaRPr lang="en-US" sz="1200" dirty="0">
                        <a:latin typeface="IBM Plex Sans" charset="0"/>
                        <a:ea typeface="IBM Plex Sans" charset="0"/>
                        <a:cs typeface="IBM Plex Sans" charset="0"/>
                      </a:endParaRPr>
                    </a:p>
                  </a:txBody>
                  <a:tcPr marL="53340" marR="53340" marT="53340" marB="5334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Weakness</a:t>
                      </a:r>
                      <a:endParaRPr lang="en-US" sz="1200" dirty="0">
                        <a:latin typeface="IBM Plex Sans" charset="0"/>
                        <a:ea typeface="IBM Plex Sans" charset="0"/>
                        <a:cs typeface="IBM Plex Sans" charset="0"/>
                      </a:endParaRPr>
                    </a:p>
                  </a:txBody>
                  <a:tcPr marL="53340" marR="53340" marT="53340" marB="5334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Manual checklist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A tester walks every screen against a checklist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Catches visual oddities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Slow and hard to repeat exactly</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54356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Record and playback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A tool such as Selenium IDE records clicks and replays them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Quick to start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Brittle; hard to maintain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54356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Scripted automation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Code drives the UI through locators, with Selenium WebDriver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Repeatable; runs in CI</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Needs coding skill and upkeep</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r h="54356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Visual regression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Compares screenshots with approved baseline images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Spots layout shifts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Noisy with changing content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r h="54356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Accessibility scans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Tools such as axe-core check rules like contrast and labels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Fast, objective checks</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Finds only rule-based issues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5"/>
                  </a:ext>
                </a:extLst>
              </a:tr>
            </a:tbl>
          </a:graphicData>
        </a:graphic>
      </p:graphicFrame>
      <p:sp>
        <p:nvSpPr>
          <p:cNvPr id="7" name="Text 4"/>
          <p:cNvSpPr/>
          <p:nvPr/>
        </p:nvSpPr>
        <p:spPr>
          <a:xfrm>
            <a:off x="812800" y="4932685"/>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Most teams mix them: scripted checks for key flows, visual checks for layout, people for judgement.</a:t>
            </a:r>
            <a:endParaRPr lang="en-US" sz="1400" dirty="0"/>
          </a:p>
        </p:txBody>
      </p:sp>
      <p:sp>
        <p:nvSpPr>
          <p:cNvPr id="8" name="Text 5"/>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9" name="Text 6"/>
          <p:cNvSpPr/>
          <p:nvPr/>
        </p:nvSpPr>
        <p:spPr>
          <a:xfrm>
            <a:off x="6201251" y="6238255"/>
            <a:ext cx="533328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Visual regression tools include Percy, Applitools and Playwright screenshots</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L6 · GUI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Locating elements reliably</a:t>
            </a:r>
            <a:endParaRPr lang="en-US" sz="3200" dirty="0"/>
          </a:p>
        </p:txBody>
      </p:sp>
      <p:sp>
        <p:nvSpPr>
          <p:cNvPr id="4" name="Shape 2"/>
          <p:cNvSpPr/>
          <p:nvPr/>
        </p:nvSpPr>
        <p:spPr>
          <a:xfrm>
            <a:off x="812800" y="1778000"/>
            <a:ext cx="10566400" cy="1422400"/>
          </a:xfrm>
          <a:prstGeom prst="roundRect">
            <a:avLst>
              <a:gd name="adj" fmla="val 5357"/>
            </a:avLst>
          </a:prstGeom>
          <a:solidFill>
            <a:srgbClr val="13233A"/>
          </a:solidFill>
          <a:ln/>
        </p:spPr>
        <p:txBody>
          <a:bodyPr/>
          <a:lstStyle/>
          <a:p>
            <a:endParaRPr lang="en-IN"/>
          </a:p>
        </p:txBody>
      </p:sp>
      <p:sp>
        <p:nvSpPr>
          <p:cNvPr id="5" name="Text 3"/>
          <p:cNvSpPr/>
          <p:nvPr/>
        </p:nvSpPr>
        <p:spPr>
          <a:xfrm>
            <a:off x="990600" y="1955800"/>
            <a:ext cx="10517124" cy="109220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&lt;form</a:t>
            </a:r>
            <a:r>
              <a:rPr lang="en-US" sz="1200" dirty="0">
                <a:solidFill>
                  <a:srgbClr val="E6EAF0"/>
                </a:solidFill>
                <a:latin typeface="JetBrains Mono" pitchFamily="34" charset="0"/>
                <a:ea typeface="JetBrains Mono" pitchFamily="34" charset="-122"/>
                <a:cs typeface="JetBrains Mono" pitchFamily="34" charset="-120"/>
              </a:rPr>
              <a:t> id=</a:t>
            </a:r>
            <a:r>
              <a:rPr lang="en-US" sz="1200" dirty="0">
                <a:solidFill>
                  <a:srgbClr val="9CC7F0"/>
                </a:solidFill>
                <a:latin typeface="JetBrains Mono" pitchFamily="34" charset="0"/>
                <a:ea typeface="JetBrains Mono" pitchFamily="34" charset="-122"/>
                <a:cs typeface="JetBrains Mono" pitchFamily="34" charset="-120"/>
              </a:rPr>
              <a:t>"login-form"</a:t>
            </a:r>
            <a:r>
              <a:rPr lang="en-US" sz="1200" dirty="0">
                <a:solidFill>
                  <a:srgbClr val="F2A36B"/>
                </a:solidFill>
                <a:latin typeface="JetBrains Mono" pitchFamily="34" charset="0"/>
                <a:ea typeface="JetBrains Mono" pitchFamily="34" charset="-122"/>
                <a:cs typeface="JetBrains Mono" pitchFamily="34" charset="-120"/>
              </a:rPr>
              <a:t>&gt;</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&lt;input</a:t>
            </a:r>
            <a:r>
              <a:rPr lang="en-US" sz="1200" dirty="0">
                <a:solidFill>
                  <a:srgbClr val="E6EAF0"/>
                </a:solidFill>
                <a:latin typeface="JetBrains Mono" pitchFamily="34" charset="0"/>
                <a:ea typeface="JetBrains Mono" pitchFamily="34" charset="-122"/>
                <a:cs typeface="JetBrains Mono" pitchFamily="34" charset="-120"/>
              </a:rPr>
              <a:t> id=</a:t>
            </a:r>
            <a:r>
              <a:rPr lang="en-US" sz="1200" dirty="0">
                <a:solidFill>
                  <a:srgbClr val="9CC7F0"/>
                </a:solidFill>
                <a:latin typeface="JetBrains Mono" pitchFamily="34" charset="0"/>
                <a:ea typeface="JetBrains Mono" pitchFamily="34" charset="-122"/>
                <a:cs typeface="JetBrains Mono" pitchFamily="34" charset="-120"/>
              </a:rPr>
              <a:t>"student-id"</a:t>
            </a:r>
            <a:r>
              <a:rPr lang="en-US" sz="1200" dirty="0">
                <a:solidFill>
                  <a:srgbClr val="E6EAF0"/>
                </a:solidFill>
                <a:latin typeface="JetBrains Mono" pitchFamily="34" charset="0"/>
                <a:ea typeface="JetBrains Mono" pitchFamily="34" charset="-122"/>
                <a:cs typeface="JetBrains Mono" pitchFamily="34" charset="-120"/>
              </a:rPr>
              <a:t> name=</a:t>
            </a:r>
            <a:r>
              <a:rPr lang="en-US" sz="1200" dirty="0">
                <a:solidFill>
                  <a:srgbClr val="9CC7F0"/>
                </a:solidFill>
                <a:latin typeface="JetBrains Mono" pitchFamily="34" charset="0"/>
                <a:ea typeface="JetBrains Mono" pitchFamily="34" charset="-122"/>
                <a:cs typeface="JetBrains Mono" pitchFamily="34" charset="-120"/>
              </a:rPr>
              <a:t>"studentId"</a:t>
            </a:r>
            <a:r>
              <a:rPr lang="en-US" sz="1200" dirty="0">
                <a:solidFill>
                  <a:srgbClr val="E6EAF0"/>
                </a:solidFill>
                <a:latin typeface="JetBrains Mono" pitchFamily="34" charset="0"/>
                <a:ea typeface="JetBrains Mono" pitchFamily="34" charset="-122"/>
                <a:cs typeface="JetBrains Mono" pitchFamily="34" charset="-120"/>
              </a:rPr>
              <a:t> data-testid=</a:t>
            </a:r>
            <a:r>
              <a:rPr lang="en-US" sz="1200" dirty="0">
                <a:solidFill>
                  <a:srgbClr val="9CC7F0"/>
                </a:solidFill>
                <a:latin typeface="JetBrains Mono" pitchFamily="34" charset="0"/>
                <a:ea typeface="JetBrains Mono" pitchFamily="34" charset="-122"/>
                <a:cs typeface="JetBrains Mono" pitchFamily="34" charset="-120"/>
              </a:rPr>
              <a:t>"student-id"</a:t>
            </a:r>
            <a:r>
              <a:rPr lang="en-US" sz="1200" dirty="0">
                <a:solidFill>
                  <a:srgbClr val="F2A36B"/>
                </a:solidFill>
                <a:latin typeface="JetBrains Mono" pitchFamily="34" charset="0"/>
                <a:ea typeface="JetBrains Mono" pitchFamily="34" charset="-122"/>
                <a:cs typeface="JetBrains Mono" pitchFamily="34" charset="-120"/>
              </a:rPr>
              <a:t>&gt;</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&lt;input</a:t>
            </a:r>
            <a:r>
              <a:rPr lang="en-US" sz="1200" dirty="0">
                <a:solidFill>
                  <a:srgbClr val="E6EAF0"/>
                </a:solidFill>
                <a:latin typeface="JetBrains Mono" pitchFamily="34" charset="0"/>
                <a:ea typeface="JetBrains Mono" pitchFamily="34" charset="-122"/>
                <a:cs typeface="JetBrains Mono" pitchFamily="34" charset="-120"/>
              </a:rPr>
              <a:t> id=</a:t>
            </a:r>
            <a:r>
              <a:rPr lang="en-US" sz="1200" dirty="0">
                <a:solidFill>
                  <a:srgbClr val="9CC7F0"/>
                </a:solidFill>
                <a:latin typeface="JetBrains Mono" pitchFamily="34" charset="0"/>
                <a:ea typeface="JetBrains Mono" pitchFamily="34" charset="-122"/>
                <a:cs typeface="JetBrains Mono" pitchFamily="34" charset="-120"/>
              </a:rPr>
              <a:t>"password"</a:t>
            </a:r>
            <a:r>
              <a:rPr lang="en-US" sz="1200" dirty="0">
                <a:solidFill>
                  <a:srgbClr val="E6EAF0"/>
                </a:solidFill>
                <a:latin typeface="JetBrains Mono" pitchFamily="34" charset="0"/>
                <a:ea typeface="JetBrains Mono" pitchFamily="34" charset="-122"/>
                <a:cs typeface="JetBrains Mono" pitchFamily="34" charset="-120"/>
              </a:rPr>
              <a:t> name=</a:t>
            </a:r>
            <a:r>
              <a:rPr lang="en-US" sz="1200" dirty="0">
                <a:solidFill>
                  <a:srgbClr val="9CC7F0"/>
                </a:solidFill>
                <a:latin typeface="JetBrains Mono" pitchFamily="34" charset="0"/>
                <a:ea typeface="JetBrains Mono" pitchFamily="34" charset="-122"/>
                <a:cs typeface="JetBrains Mono" pitchFamily="34" charset="-120"/>
              </a:rPr>
              <a:t>"password"</a:t>
            </a:r>
            <a:r>
              <a:rPr lang="en-US" sz="1200" dirty="0">
                <a:solidFill>
                  <a:srgbClr val="E6EAF0"/>
                </a:solidFill>
                <a:latin typeface="JetBrains Mono" pitchFamily="34" charset="0"/>
                <a:ea typeface="JetBrains Mono" pitchFamily="34" charset="-122"/>
                <a:cs typeface="JetBrains Mono" pitchFamily="34" charset="-120"/>
              </a:rPr>
              <a:t> type=</a:t>
            </a:r>
            <a:r>
              <a:rPr lang="en-US" sz="1200" dirty="0">
                <a:solidFill>
                  <a:srgbClr val="9CC7F0"/>
                </a:solidFill>
                <a:latin typeface="JetBrains Mono" pitchFamily="34" charset="0"/>
                <a:ea typeface="JetBrains Mono" pitchFamily="34" charset="-122"/>
                <a:cs typeface="JetBrains Mono" pitchFamily="34" charset="-120"/>
              </a:rPr>
              <a:t>"password"</a:t>
            </a:r>
            <a:r>
              <a:rPr lang="en-US" sz="1200" dirty="0">
                <a:solidFill>
                  <a:srgbClr val="F2A36B"/>
                </a:solidFill>
                <a:latin typeface="JetBrains Mono" pitchFamily="34" charset="0"/>
                <a:ea typeface="JetBrains Mono" pitchFamily="34" charset="-122"/>
                <a:cs typeface="JetBrains Mono" pitchFamily="34" charset="-120"/>
              </a:rPr>
              <a:t>&gt;</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&lt;button</a:t>
            </a:r>
            <a:r>
              <a:rPr lang="en-US" sz="1200" dirty="0">
                <a:solidFill>
                  <a:srgbClr val="E6EAF0"/>
                </a:solidFill>
                <a:latin typeface="JetBrains Mono" pitchFamily="34" charset="0"/>
                <a:ea typeface="JetBrains Mono" pitchFamily="34" charset="-122"/>
                <a:cs typeface="JetBrains Mono" pitchFamily="34" charset="-120"/>
              </a:rPr>
              <a:t> class=</a:t>
            </a:r>
            <a:r>
              <a:rPr lang="en-US" sz="1200" dirty="0">
                <a:solidFill>
                  <a:srgbClr val="9CC7F0"/>
                </a:solidFill>
                <a:latin typeface="JetBrains Mono" pitchFamily="34" charset="0"/>
                <a:ea typeface="JetBrains Mono" pitchFamily="34" charset="-122"/>
                <a:cs typeface="JetBrains Mono" pitchFamily="34" charset="-120"/>
              </a:rPr>
              <a:t>"btn btn-primary"</a:t>
            </a:r>
            <a:r>
              <a:rPr lang="en-US" sz="1200" dirty="0">
                <a:solidFill>
                  <a:srgbClr val="F2A36B"/>
                </a:solidFill>
                <a:latin typeface="JetBrains Mono" pitchFamily="34" charset="0"/>
                <a:ea typeface="JetBrains Mono" pitchFamily="34" charset="-122"/>
                <a:cs typeface="JetBrains Mono" pitchFamily="34" charset="-120"/>
              </a:rPr>
              <a:t>&gt;</a:t>
            </a:r>
            <a:r>
              <a:rPr lang="en-US" sz="1200" dirty="0">
                <a:solidFill>
                  <a:srgbClr val="E6EAF0"/>
                </a:solidFill>
                <a:latin typeface="JetBrains Mono" pitchFamily="34" charset="0"/>
                <a:ea typeface="JetBrains Mono" pitchFamily="34" charset="-122"/>
                <a:cs typeface="JetBrains Mono" pitchFamily="34" charset="-120"/>
              </a:rPr>
              <a:t>Log in</a:t>
            </a:r>
            <a:r>
              <a:rPr lang="en-US" sz="1200" dirty="0">
                <a:solidFill>
                  <a:srgbClr val="F2A36B"/>
                </a:solidFill>
                <a:latin typeface="JetBrains Mono" pitchFamily="34" charset="0"/>
                <a:ea typeface="JetBrains Mono" pitchFamily="34" charset="-122"/>
                <a:cs typeface="JetBrains Mono" pitchFamily="34" charset="-120"/>
              </a:rPr>
              <a:t>&lt;/button&gt;</a:t>
            </a:r>
            <a:endParaRPr lang="en-US" sz="1200" dirty="0"/>
          </a:p>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&lt;/form&gt;</a:t>
            </a:r>
            <a:endParaRPr lang="en-US" sz="1200" dirty="0"/>
          </a:p>
        </p:txBody>
      </p:sp>
      <p:sp>
        <p:nvSpPr>
          <p:cNvPr id="6" name="Shape 4"/>
          <p:cNvSpPr/>
          <p:nvPr/>
        </p:nvSpPr>
        <p:spPr>
          <a:xfrm>
            <a:off x="812800" y="3406775"/>
            <a:ext cx="10566400" cy="0"/>
          </a:xfrm>
          <a:prstGeom prst="line">
            <a:avLst/>
          </a:prstGeom>
          <a:noFill/>
          <a:ln w="6350">
            <a:solidFill>
              <a:srgbClr val="DDD8CC"/>
            </a:solidFill>
            <a:prstDash val="solid"/>
          </a:ln>
        </p:spPr>
        <p:txBody>
          <a:bodyPr/>
          <a:lstStyle/>
          <a:p>
            <a:endParaRPr lang="en-IN"/>
          </a:p>
        </p:txBody>
      </p:sp>
      <p:sp>
        <p:nvSpPr>
          <p:cNvPr id="7" name="Text 5"/>
          <p:cNvSpPr/>
          <p:nvPr/>
        </p:nvSpPr>
        <p:spPr>
          <a:xfrm>
            <a:off x="812800" y="3472185"/>
            <a:ext cx="18313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ID</a:t>
            </a:r>
            <a:endParaRPr lang="en-US" sz="1200" dirty="0"/>
          </a:p>
        </p:txBody>
      </p:sp>
      <p:sp>
        <p:nvSpPr>
          <p:cNvPr id="8" name="Text 6"/>
          <p:cNvSpPr/>
          <p:nvPr/>
        </p:nvSpPr>
        <p:spPr>
          <a:xfrm>
            <a:off x="2743200" y="3472185"/>
            <a:ext cx="572947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By.ID, "student-id"</a:t>
            </a:r>
            <a:endParaRPr lang="en-US" sz="1200" dirty="0"/>
          </a:p>
        </p:txBody>
      </p:sp>
      <p:sp>
        <p:nvSpPr>
          <p:cNvPr id="9" name="Text 7"/>
          <p:cNvSpPr/>
          <p:nvPr/>
        </p:nvSpPr>
        <p:spPr>
          <a:xfrm>
            <a:off x="8458200" y="3472185"/>
            <a:ext cx="30086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45A9C"/>
                </a:solidFill>
                <a:latin typeface="IBM Plex Sans" pitchFamily="34" charset="0"/>
                <a:ea typeface="IBM Plex Sans" pitchFamily="34" charset="-122"/>
                <a:cs typeface="IBM Plex Sans" pitchFamily="34" charset="-120"/>
              </a:rPr>
              <a:t>Best: unique and stable</a:t>
            </a:r>
            <a:endParaRPr lang="en-US" sz="1200" dirty="0"/>
          </a:p>
        </p:txBody>
      </p:sp>
      <p:sp>
        <p:nvSpPr>
          <p:cNvPr id="10" name="Shape 8"/>
          <p:cNvSpPr/>
          <p:nvPr/>
        </p:nvSpPr>
        <p:spPr>
          <a:xfrm>
            <a:off x="812800" y="3752230"/>
            <a:ext cx="10566400" cy="0"/>
          </a:xfrm>
          <a:prstGeom prst="line">
            <a:avLst/>
          </a:prstGeom>
          <a:noFill/>
          <a:ln w="6350">
            <a:solidFill>
              <a:srgbClr val="DDD8CC"/>
            </a:solidFill>
            <a:prstDash val="solid"/>
          </a:ln>
        </p:spPr>
        <p:txBody>
          <a:bodyPr/>
          <a:lstStyle/>
          <a:p>
            <a:endParaRPr lang="en-IN"/>
          </a:p>
        </p:txBody>
      </p:sp>
      <p:sp>
        <p:nvSpPr>
          <p:cNvPr id="11" name="Text 9"/>
          <p:cNvSpPr/>
          <p:nvPr/>
        </p:nvSpPr>
        <p:spPr>
          <a:xfrm>
            <a:off x="812800" y="3817615"/>
            <a:ext cx="18313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Test attribute</a:t>
            </a:r>
            <a:endParaRPr lang="en-US" sz="1200" dirty="0"/>
          </a:p>
        </p:txBody>
      </p:sp>
      <p:sp>
        <p:nvSpPr>
          <p:cNvPr id="12" name="Text 10"/>
          <p:cNvSpPr/>
          <p:nvPr/>
        </p:nvSpPr>
        <p:spPr>
          <a:xfrm>
            <a:off x="2743200" y="3817615"/>
            <a:ext cx="572947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By.CSS_SELECTOR, "[data-testid='student-id']"</a:t>
            </a:r>
            <a:endParaRPr lang="en-US" sz="1200" dirty="0"/>
          </a:p>
        </p:txBody>
      </p:sp>
      <p:sp>
        <p:nvSpPr>
          <p:cNvPr id="13" name="Text 11"/>
          <p:cNvSpPr/>
          <p:nvPr/>
        </p:nvSpPr>
        <p:spPr>
          <a:xfrm>
            <a:off x="8458200" y="3817615"/>
            <a:ext cx="30086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45A9C"/>
                </a:solidFill>
                <a:latin typeface="IBM Plex Sans" pitchFamily="34" charset="0"/>
                <a:ea typeface="IBM Plex Sans" pitchFamily="34" charset="-122"/>
                <a:cs typeface="IBM Plex Sans" pitchFamily="34" charset="-120"/>
              </a:rPr>
              <a:t>Great: added just for tests</a:t>
            </a:r>
            <a:endParaRPr lang="en-US" sz="1200" dirty="0"/>
          </a:p>
        </p:txBody>
      </p:sp>
      <p:sp>
        <p:nvSpPr>
          <p:cNvPr id="14" name="Shape 12"/>
          <p:cNvSpPr/>
          <p:nvPr/>
        </p:nvSpPr>
        <p:spPr>
          <a:xfrm>
            <a:off x="812800" y="4097660"/>
            <a:ext cx="10566400" cy="0"/>
          </a:xfrm>
          <a:prstGeom prst="line">
            <a:avLst/>
          </a:prstGeom>
          <a:noFill/>
          <a:ln w="6350">
            <a:solidFill>
              <a:srgbClr val="DDD8CC"/>
            </a:solidFill>
            <a:prstDash val="solid"/>
          </a:ln>
        </p:spPr>
        <p:txBody>
          <a:bodyPr/>
          <a:lstStyle/>
          <a:p>
            <a:endParaRPr lang="en-IN"/>
          </a:p>
        </p:txBody>
      </p:sp>
      <p:sp>
        <p:nvSpPr>
          <p:cNvPr id="15" name="Text 13"/>
          <p:cNvSpPr/>
          <p:nvPr/>
        </p:nvSpPr>
        <p:spPr>
          <a:xfrm>
            <a:off x="812800" y="4163070"/>
            <a:ext cx="18313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Name</a:t>
            </a:r>
            <a:endParaRPr lang="en-US" sz="1200" dirty="0"/>
          </a:p>
        </p:txBody>
      </p:sp>
      <p:sp>
        <p:nvSpPr>
          <p:cNvPr id="16" name="Text 14"/>
          <p:cNvSpPr/>
          <p:nvPr/>
        </p:nvSpPr>
        <p:spPr>
          <a:xfrm>
            <a:off x="2743200" y="4163070"/>
            <a:ext cx="572947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By.NAME, "password"</a:t>
            </a:r>
            <a:endParaRPr lang="en-US" sz="1200" dirty="0"/>
          </a:p>
        </p:txBody>
      </p:sp>
      <p:sp>
        <p:nvSpPr>
          <p:cNvPr id="17" name="Text 15"/>
          <p:cNvSpPr/>
          <p:nvPr/>
        </p:nvSpPr>
        <p:spPr>
          <a:xfrm>
            <a:off x="8458200" y="4163070"/>
            <a:ext cx="30086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45A9C"/>
                </a:solidFill>
                <a:latin typeface="IBM Plex Sans" pitchFamily="34" charset="0"/>
                <a:ea typeface="IBM Plex Sans" pitchFamily="34" charset="-122"/>
                <a:cs typeface="IBM Plex Sans" pitchFamily="34" charset="-120"/>
              </a:rPr>
              <a:t>Good, if unique on the page</a:t>
            </a:r>
            <a:endParaRPr lang="en-US" sz="1200" dirty="0"/>
          </a:p>
        </p:txBody>
      </p:sp>
      <p:sp>
        <p:nvSpPr>
          <p:cNvPr id="18" name="Shape 16"/>
          <p:cNvSpPr/>
          <p:nvPr/>
        </p:nvSpPr>
        <p:spPr>
          <a:xfrm>
            <a:off x="812800" y="4443090"/>
            <a:ext cx="10566400" cy="0"/>
          </a:xfrm>
          <a:prstGeom prst="line">
            <a:avLst/>
          </a:prstGeom>
          <a:noFill/>
          <a:ln w="6350">
            <a:solidFill>
              <a:srgbClr val="DDD8CC"/>
            </a:solidFill>
            <a:prstDash val="solid"/>
          </a:ln>
        </p:spPr>
        <p:txBody>
          <a:bodyPr/>
          <a:lstStyle/>
          <a:p>
            <a:endParaRPr lang="en-IN"/>
          </a:p>
        </p:txBody>
      </p:sp>
      <p:sp>
        <p:nvSpPr>
          <p:cNvPr id="19" name="Text 17"/>
          <p:cNvSpPr/>
          <p:nvPr/>
        </p:nvSpPr>
        <p:spPr>
          <a:xfrm>
            <a:off x="812800" y="4508500"/>
            <a:ext cx="18313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Short CSS selector</a:t>
            </a:r>
            <a:endParaRPr lang="en-US" sz="1200" dirty="0"/>
          </a:p>
        </p:txBody>
      </p:sp>
      <p:sp>
        <p:nvSpPr>
          <p:cNvPr id="20" name="Text 18"/>
          <p:cNvSpPr/>
          <p:nvPr/>
        </p:nvSpPr>
        <p:spPr>
          <a:xfrm>
            <a:off x="2743200" y="4508500"/>
            <a:ext cx="572947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By.CSS_SELECTOR, "#login-form button"</a:t>
            </a:r>
            <a:endParaRPr lang="en-US" sz="1200" dirty="0"/>
          </a:p>
        </p:txBody>
      </p:sp>
      <p:sp>
        <p:nvSpPr>
          <p:cNvPr id="21" name="Text 19"/>
          <p:cNvSpPr/>
          <p:nvPr/>
        </p:nvSpPr>
        <p:spPr>
          <a:xfrm>
            <a:off x="8458200" y="4508500"/>
            <a:ext cx="30086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45A9C"/>
                </a:solidFill>
                <a:latin typeface="IBM Plex Sans" pitchFamily="34" charset="0"/>
                <a:ea typeface="IBM Plex Sans" pitchFamily="34" charset="-122"/>
                <a:cs typeface="IBM Plex Sans" pitchFamily="34" charset="-120"/>
              </a:rPr>
              <a:t>Good: readable and fast</a:t>
            </a:r>
            <a:endParaRPr lang="en-US" sz="1200" dirty="0"/>
          </a:p>
        </p:txBody>
      </p:sp>
      <p:sp>
        <p:nvSpPr>
          <p:cNvPr id="22" name="Shape 20"/>
          <p:cNvSpPr/>
          <p:nvPr/>
        </p:nvSpPr>
        <p:spPr>
          <a:xfrm>
            <a:off x="812800" y="4788545"/>
            <a:ext cx="10566400" cy="0"/>
          </a:xfrm>
          <a:prstGeom prst="line">
            <a:avLst/>
          </a:prstGeom>
          <a:noFill/>
          <a:ln w="6350">
            <a:solidFill>
              <a:srgbClr val="DDD8CC"/>
            </a:solidFill>
            <a:prstDash val="solid"/>
          </a:ln>
        </p:spPr>
        <p:txBody>
          <a:bodyPr/>
          <a:lstStyle/>
          <a:p>
            <a:endParaRPr lang="en-IN"/>
          </a:p>
        </p:txBody>
      </p:sp>
      <p:sp>
        <p:nvSpPr>
          <p:cNvPr id="23" name="Text 21"/>
          <p:cNvSpPr/>
          <p:nvPr/>
        </p:nvSpPr>
        <p:spPr>
          <a:xfrm>
            <a:off x="812800" y="4853955"/>
            <a:ext cx="18313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Relative XPath</a:t>
            </a:r>
            <a:endParaRPr lang="en-US" sz="1200" dirty="0"/>
          </a:p>
        </p:txBody>
      </p:sp>
      <p:sp>
        <p:nvSpPr>
          <p:cNvPr id="24" name="Text 22"/>
          <p:cNvSpPr/>
          <p:nvPr/>
        </p:nvSpPr>
        <p:spPr>
          <a:xfrm>
            <a:off x="2743200" y="4853955"/>
            <a:ext cx="572947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By.XPATH, "//button[text()='Log in']"</a:t>
            </a:r>
            <a:endParaRPr lang="en-US" sz="1200" dirty="0"/>
          </a:p>
        </p:txBody>
      </p:sp>
      <p:sp>
        <p:nvSpPr>
          <p:cNvPr id="25" name="Text 23"/>
          <p:cNvSpPr/>
          <p:nvPr/>
        </p:nvSpPr>
        <p:spPr>
          <a:xfrm>
            <a:off x="8458200" y="4853955"/>
            <a:ext cx="30086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Use with care: text can change</a:t>
            </a:r>
            <a:endParaRPr lang="en-US" sz="1200" dirty="0"/>
          </a:p>
        </p:txBody>
      </p:sp>
      <p:sp>
        <p:nvSpPr>
          <p:cNvPr id="26" name="Shape 24"/>
          <p:cNvSpPr/>
          <p:nvPr/>
        </p:nvSpPr>
        <p:spPr>
          <a:xfrm>
            <a:off x="812800" y="5133975"/>
            <a:ext cx="10566400" cy="0"/>
          </a:xfrm>
          <a:prstGeom prst="line">
            <a:avLst/>
          </a:prstGeom>
          <a:noFill/>
          <a:ln w="6350">
            <a:solidFill>
              <a:srgbClr val="DDD8CC"/>
            </a:solidFill>
            <a:prstDash val="solid"/>
          </a:ln>
        </p:spPr>
        <p:txBody>
          <a:bodyPr/>
          <a:lstStyle/>
          <a:p>
            <a:endParaRPr lang="en-IN"/>
          </a:p>
        </p:txBody>
      </p:sp>
      <p:sp>
        <p:nvSpPr>
          <p:cNvPr id="27" name="Shape 25"/>
          <p:cNvSpPr/>
          <p:nvPr/>
        </p:nvSpPr>
        <p:spPr>
          <a:xfrm>
            <a:off x="812800" y="5478145"/>
            <a:ext cx="10566400" cy="0"/>
          </a:xfrm>
          <a:prstGeom prst="line">
            <a:avLst/>
          </a:prstGeom>
          <a:noFill/>
          <a:ln w="6350">
            <a:solidFill>
              <a:srgbClr val="DDD8CC"/>
            </a:solidFill>
            <a:prstDash val="solid"/>
          </a:ln>
        </p:spPr>
        <p:txBody>
          <a:bodyPr/>
          <a:lstStyle/>
          <a:p>
            <a:endParaRPr lang="en-IN"/>
          </a:p>
        </p:txBody>
      </p:sp>
      <p:sp>
        <p:nvSpPr>
          <p:cNvPr id="28" name="Text 26"/>
          <p:cNvSpPr/>
          <p:nvPr/>
        </p:nvSpPr>
        <p:spPr>
          <a:xfrm>
            <a:off x="812800" y="5199385"/>
            <a:ext cx="18313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Absolute XPath</a:t>
            </a:r>
            <a:endParaRPr lang="en-US" sz="1200" dirty="0"/>
          </a:p>
        </p:txBody>
      </p:sp>
      <p:sp>
        <p:nvSpPr>
          <p:cNvPr id="29" name="Text 27"/>
          <p:cNvSpPr/>
          <p:nvPr/>
        </p:nvSpPr>
        <p:spPr>
          <a:xfrm>
            <a:off x="2743200" y="5199385"/>
            <a:ext cx="572947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By.XPATH, "/html/body/div[2]/form/button"</a:t>
            </a:r>
            <a:endParaRPr lang="en-US" sz="1200" dirty="0"/>
          </a:p>
        </p:txBody>
      </p:sp>
      <p:sp>
        <p:nvSpPr>
          <p:cNvPr id="30" name="Text 28"/>
          <p:cNvSpPr/>
          <p:nvPr/>
        </p:nvSpPr>
        <p:spPr>
          <a:xfrm>
            <a:off x="8458200" y="5199385"/>
            <a:ext cx="30086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481A"/>
                </a:solidFill>
                <a:latin typeface="IBM Plex Sans" pitchFamily="34" charset="0"/>
                <a:ea typeface="IBM Plex Sans" pitchFamily="34" charset="-122"/>
                <a:cs typeface="IBM Plex Sans" pitchFamily="34" charset="-120"/>
              </a:rPr>
              <a:t>Avoid: breaks on any layout change</a:t>
            </a:r>
            <a:endParaRPr lang="en-US" sz="1200" dirty="0"/>
          </a:p>
        </p:txBody>
      </p:sp>
      <p:sp>
        <p:nvSpPr>
          <p:cNvPr id="31" name="Text 29"/>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32" name="Text 30"/>
          <p:cNvSpPr/>
          <p:nvPr/>
        </p:nvSpPr>
        <p:spPr>
          <a:xfrm>
            <a:off x="6010989" y="6238255"/>
            <a:ext cx="552925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Ranked most to least reliable · locators and waits in depth: Lab 2 and Module 3</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L6 · CHECK YOUR UNDERSTANDING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Knowledge check: Lecture 6</a:t>
            </a:r>
            <a:endParaRPr lang="en-US" sz="3200" dirty="0"/>
          </a:p>
        </p:txBody>
      </p:sp>
      <p:sp>
        <p:nvSpPr>
          <p:cNvPr id="4" name="Shape 2"/>
          <p:cNvSpPr/>
          <p:nvPr/>
        </p:nvSpPr>
        <p:spPr>
          <a:xfrm>
            <a:off x="815975" y="1831975"/>
            <a:ext cx="5175250" cy="1588770"/>
          </a:xfrm>
          <a:prstGeom prst="roundRect">
            <a:avLst>
              <a:gd name="adj" fmla="val 4596"/>
            </a:avLst>
          </a:prstGeom>
          <a:solidFill>
            <a:srgbClr val="FCFBF7"/>
          </a:solidFill>
          <a:ln w="6350">
            <a:solidFill>
              <a:srgbClr val="DDD8CC"/>
            </a:solidFill>
            <a:prstDash val="solid"/>
          </a:ln>
        </p:spPr>
        <p:txBody>
          <a:bodyPr/>
          <a:lstStyle/>
          <a:p>
            <a:endParaRPr lang="en-IN"/>
          </a:p>
        </p:txBody>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Name four dimensions a compatibility matrix can cover, with one Canteen App example each.</a:t>
            </a:r>
            <a:endParaRPr lang="en-US" sz="1400" dirty="0"/>
          </a:p>
        </p:txBody>
      </p:sp>
      <p:sp>
        <p:nvSpPr>
          <p:cNvPr id="7" name="Shape 5"/>
          <p:cNvSpPr/>
          <p:nvPr/>
        </p:nvSpPr>
        <p:spPr>
          <a:xfrm>
            <a:off x="6200775" y="1831975"/>
            <a:ext cx="5175250" cy="1588770"/>
          </a:xfrm>
          <a:prstGeom prst="roundRect">
            <a:avLst>
              <a:gd name="adj" fmla="val 4596"/>
            </a:avLst>
          </a:prstGeom>
          <a:solidFill>
            <a:srgbClr val="FCFBF7"/>
          </a:solidFill>
          <a:ln w="6350">
            <a:solidFill>
              <a:srgbClr val="DDD8CC"/>
            </a:solidFill>
            <a:prstDash val="solid"/>
          </a:ln>
        </p:spPr>
        <p:txBody>
          <a:bodyPr/>
          <a:lstStyle/>
          <a:p>
            <a:endParaRPr lang="en-IN"/>
          </a:p>
        </p:txBody>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Grid fixture has three browsers and the suite has 40 tests. How many test runs happen, and why run them in parallel?</a:t>
            </a:r>
            <a:endParaRPr lang="en-US" sz="1400" dirty="0"/>
          </a:p>
        </p:txBody>
      </p:sp>
      <p:sp>
        <p:nvSpPr>
          <p:cNvPr id="10" name="Shape 8"/>
          <p:cNvSpPr/>
          <p:nvPr/>
        </p:nvSpPr>
        <p:spPr>
          <a:xfrm>
            <a:off x="815975" y="3630290"/>
            <a:ext cx="5175250" cy="1588770"/>
          </a:xfrm>
          <a:prstGeom prst="roundRect">
            <a:avLst>
              <a:gd name="adj" fmla="val 4596"/>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1046480" y="3860800"/>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4241800"/>
            <a:ext cx="485566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After a CSS change, the coupon banner overlaps the Pay button. Which GUI approach would catch this automatically?</a:t>
            </a:r>
            <a:endParaRPr lang="en-US" sz="1400" dirty="0"/>
          </a:p>
        </p:txBody>
      </p:sp>
      <p:sp>
        <p:nvSpPr>
          <p:cNvPr id="13" name="Shape 11"/>
          <p:cNvSpPr/>
          <p:nvPr/>
        </p:nvSpPr>
        <p:spPr>
          <a:xfrm>
            <a:off x="6200775" y="3630290"/>
            <a:ext cx="5175250" cy="1588770"/>
          </a:xfrm>
          <a:prstGeom prst="roundRect">
            <a:avLst>
              <a:gd name="adj" fmla="val 4596"/>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6431280" y="3860800"/>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4241800"/>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Rank these locators from most to least reliable: absolute XPath, ID, relative XPath, data-testid.</a:t>
            </a:r>
            <a:endParaRPr lang="en-US" sz="14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7" name="Text 15"/>
          <p:cNvSpPr/>
          <p:nvPr/>
        </p:nvSpPr>
        <p:spPr>
          <a:xfrm>
            <a:off x="9372044" y="6238255"/>
            <a:ext cx="20673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8">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marL="0" indent="0" algn="r">
              <a:lnSpc>
                <a:spcPts val="19000"/>
              </a:lnSpc>
              <a:buNone/>
            </a:pPr>
            <a:r>
              <a:rPr lang="en-US" sz="19000" b="1" kern="0" spc="-400" dirty="0">
                <a:solidFill>
                  <a:srgbClr val="000000">
                    <a:alpha val="0"/>
                  </a:srgbClr>
                </a:solidFill>
                <a:latin typeface="Space Grotesk" pitchFamily="34" charset="0"/>
                <a:ea typeface="Space Grotesk" pitchFamily="34" charset="-122"/>
                <a:cs typeface="Space Grotesk" pitchFamily="34" charset="-120"/>
              </a:rPr>
              <a:t>07</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36B"/>
                </a:solidFill>
                <a:latin typeface="JetBrains Mono" pitchFamily="34" charset="0"/>
                <a:ea typeface="JetBrains Mono" pitchFamily="34" charset="-122"/>
                <a:cs typeface="JetBrains Mono" pitchFamily="34" charset="-120"/>
              </a:rPr>
              <a:t>MODULE 1 · LECTURE 7 · 40 MINUTES</a:t>
            </a:r>
            <a:endParaRPr lang="en-US" sz="1200" dirty="0"/>
          </a:p>
        </p:txBody>
      </p:sp>
      <p:sp>
        <p:nvSpPr>
          <p:cNvPr id="4" name="Text 2"/>
          <p:cNvSpPr/>
          <p:nvPr/>
        </p:nvSpPr>
        <p:spPr>
          <a:xfrm>
            <a:off x="812800" y="4211315"/>
            <a:ext cx="10464800" cy="772160"/>
          </a:xfrm>
          <a:prstGeom prst="rect">
            <a:avLst/>
          </a:prstGeom>
          <a:noFill/>
          <a:ln/>
        </p:spPr>
        <p:txBody>
          <a:bodyPr wrap="square" lIns="0" tIns="0" rIns="0" bIns="0" rtlCol="0" anchor="t">
            <a:normAutofit/>
          </a:bodyPr>
          <a:lstStyle/>
          <a:p>
            <a:pPr marL="0" indent="0" algn="l">
              <a:lnSpc>
                <a:spcPts val="5880"/>
              </a:lnSpc>
              <a:buNone/>
            </a:pPr>
            <a:r>
              <a:rPr lang="en-US" sz="5600" b="1" kern="0" spc="-100" dirty="0">
                <a:solidFill>
                  <a:srgbClr val="F3F1EA"/>
                </a:solidFill>
                <a:latin typeface="Space Grotesk" pitchFamily="34" charset="0"/>
                <a:ea typeface="Space Grotesk" pitchFamily="34" charset="-122"/>
                <a:cs typeface="Space Grotesk" pitchFamily="34" charset="-120"/>
              </a:rPr>
              <a:t>API testing</a:t>
            </a:r>
            <a:endParaRPr lang="en-US" sz="5600" dirty="0"/>
          </a:p>
        </p:txBody>
      </p:sp>
      <p:sp>
        <p:nvSpPr>
          <p:cNvPr id="5" name="Shape 3"/>
          <p:cNvSpPr/>
          <p:nvPr/>
        </p:nvSpPr>
        <p:spPr>
          <a:xfrm>
            <a:off x="812800" y="5320035"/>
            <a:ext cx="2794000" cy="0"/>
          </a:xfrm>
          <a:prstGeom prst="line">
            <a:avLst/>
          </a:prstGeom>
          <a:noFill/>
          <a:ln w="12700">
            <a:solidFill>
              <a:srgbClr val="3A5476"/>
            </a:solidFill>
            <a:prstDash val="solid"/>
          </a:ln>
        </p:spPr>
        <p:txBody>
          <a:bodyPr/>
          <a:lstStyle/>
          <a:p>
            <a:endParaRPr lang="en-IN"/>
          </a:p>
        </p:txBody>
      </p:sp>
      <p:sp>
        <p:nvSpPr>
          <p:cNvPr id="6" name="Text 4"/>
          <p:cNvSpPr/>
          <p:nvPr/>
        </p:nvSpPr>
        <p:spPr>
          <a:xfrm>
            <a:off x="812800" y="5450855"/>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Part 1</a:t>
            </a:r>
            <a:endParaRPr lang="en-US" sz="1200" dirty="0"/>
          </a:p>
        </p:txBody>
      </p:sp>
      <p:sp>
        <p:nvSpPr>
          <p:cNvPr id="7" name="Text 5"/>
          <p:cNvSpPr/>
          <p:nvPr/>
        </p:nvSpPr>
        <p:spPr>
          <a:xfrm>
            <a:off x="812800" y="5715000"/>
            <a:ext cx="287782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HTTP basics</a:t>
            </a:r>
            <a:endParaRPr lang="en-US" sz="2000" dirty="0"/>
          </a:p>
        </p:txBody>
      </p:sp>
      <p:sp>
        <p:nvSpPr>
          <p:cNvPr id="8" name="Shape 6"/>
          <p:cNvSpPr/>
          <p:nvPr/>
        </p:nvSpPr>
        <p:spPr>
          <a:xfrm>
            <a:off x="3911600" y="5320035"/>
            <a:ext cx="2794000" cy="0"/>
          </a:xfrm>
          <a:prstGeom prst="line">
            <a:avLst/>
          </a:prstGeom>
          <a:noFill/>
          <a:ln w="12700">
            <a:solidFill>
              <a:srgbClr val="3A5476"/>
            </a:solidFill>
            <a:prstDash val="solid"/>
          </a:ln>
        </p:spPr>
        <p:txBody>
          <a:bodyPr/>
          <a:lstStyle/>
          <a:p>
            <a:endParaRPr lang="en-IN"/>
          </a:p>
        </p:txBody>
      </p:sp>
      <p:sp>
        <p:nvSpPr>
          <p:cNvPr id="9" name="Text 7"/>
          <p:cNvSpPr/>
          <p:nvPr/>
        </p:nvSpPr>
        <p:spPr>
          <a:xfrm>
            <a:off x="3911600" y="5450855"/>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Part 2</a:t>
            </a:r>
            <a:endParaRPr lang="en-US" sz="1200" dirty="0"/>
          </a:p>
        </p:txBody>
      </p:sp>
      <p:sp>
        <p:nvSpPr>
          <p:cNvPr id="10" name="Text 8"/>
          <p:cNvSpPr/>
          <p:nvPr/>
        </p:nvSpPr>
        <p:spPr>
          <a:xfrm>
            <a:off x="3911600" y="5715000"/>
            <a:ext cx="287782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What to verify</a:t>
            </a:r>
            <a:endParaRPr lang="en-US" sz="2000" dirty="0"/>
          </a:p>
        </p:txBody>
      </p:sp>
      <p:sp>
        <p:nvSpPr>
          <p:cNvPr id="11" name="Shape 9"/>
          <p:cNvSpPr/>
          <p:nvPr/>
        </p:nvSpPr>
        <p:spPr>
          <a:xfrm>
            <a:off x="7010400" y="5320035"/>
            <a:ext cx="2794000" cy="0"/>
          </a:xfrm>
          <a:prstGeom prst="line">
            <a:avLst/>
          </a:prstGeom>
          <a:noFill/>
          <a:ln w="12700">
            <a:solidFill>
              <a:srgbClr val="3A5476"/>
            </a:solidFill>
            <a:prstDash val="solid"/>
          </a:ln>
        </p:spPr>
        <p:txBody>
          <a:bodyPr/>
          <a:lstStyle/>
          <a:p>
            <a:endParaRPr lang="en-IN"/>
          </a:p>
        </p:txBody>
      </p:sp>
      <p:sp>
        <p:nvSpPr>
          <p:cNvPr id="12" name="Text 10"/>
          <p:cNvSpPr/>
          <p:nvPr/>
        </p:nvSpPr>
        <p:spPr>
          <a:xfrm>
            <a:off x="7010400" y="5450855"/>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Part 3</a:t>
            </a:r>
            <a:endParaRPr lang="en-US" sz="1200" dirty="0"/>
          </a:p>
        </p:txBody>
      </p:sp>
      <p:sp>
        <p:nvSpPr>
          <p:cNvPr id="13" name="Text 11"/>
          <p:cNvSpPr/>
          <p:nvPr/>
        </p:nvSpPr>
        <p:spPr>
          <a:xfrm>
            <a:off x="7010400" y="5715000"/>
            <a:ext cx="287782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3F1EA"/>
                </a:solidFill>
                <a:latin typeface="IBM Plex Sans" pitchFamily="34" charset="0"/>
                <a:ea typeface="IBM Plex Sans" pitchFamily="34" charset="-122"/>
                <a:cs typeface="IBM Plex Sans" pitchFamily="34" charset="-120"/>
              </a:rPr>
              <a:t>pytest and Postman</a:t>
            </a:r>
            <a:endParaRPr lang="en-US" sz="2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L7 · API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What is API testing?</a:t>
            </a:r>
            <a:endParaRPr lang="en-US" sz="3200" dirty="0"/>
          </a:p>
        </p:txBody>
      </p:sp>
      <p:sp>
        <p:nvSpPr>
          <p:cNvPr id="4" name="Shape 2"/>
          <p:cNvSpPr/>
          <p:nvPr/>
        </p:nvSpPr>
        <p:spPr>
          <a:xfrm>
            <a:off x="815975" y="1831975"/>
            <a:ext cx="3295650" cy="603250"/>
          </a:xfrm>
          <a:prstGeom prst="roundRect">
            <a:avLst>
              <a:gd name="adj" fmla="val 10000"/>
            </a:avLst>
          </a:prstGeom>
          <a:solidFill>
            <a:srgbClr val="FCFBF7"/>
          </a:solidFill>
          <a:ln w="6350">
            <a:solidFill>
              <a:srgbClr val="C9C2B2"/>
            </a:solidFill>
            <a:prstDash val="solid"/>
          </a:ln>
        </p:spPr>
        <p:txBody>
          <a:bodyPr/>
          <a:lstStyle/>
          <a:p>
            <a:endParaRPr lang="en-IN"/>
          </a:p>
        </p:txBody>
      </p:sp>
      <p:sp>
        <p:nvSpPr>
          <p:cNvPr id="5" name="Text 3"/>
          <p:cNvSpPr/>
          <p:nvPr/>
        </p:nvSpPr>
        <p:spPr>
          <a:xfrm>
            <a:off x="1678781" y="2009155"/>
            <a:ext cx="162083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Web and mobile UI</a:t>
            </a:r>
            <a:endParaRPr lang="en-US" sz="1400" dirty="0"/>
          </a:p>
        </p:txBody>
      </p:sp>
      <p:sp>
        <p:nvSpPr>
          <p:cNvPr id="6" name="Shape 4"/>
          <p:cNvSpPr/>
          <p:nvPr/>
        </p:nvSpPr>
        <p:spPr>
          <a:xfrm>
            <a:off x="812800" y="2895600"/>
            <a:ext cx="3302000" cy="609600"/>
          </a:xfrm>
          <a:prstGeom prst="roundRect">
            <a:avLst>
              <a:gd name="adj" fmla="val 10417"/>
            </a:avLst>
          </a:prstGeom>
          <a:solidFill>
            <a:srgbClr val="13233A"/>
          </a:solidFill>
          <a:ln/>
        </p:spPr>
        <p:txBody>
          <a:bodyPr/>
          <a:lstStyle/>
          <a:p>
            <a:endParaRPr lang="en-IN"/>
          </a:p>
        </p:txBody>
      </p:sp>
      <p:sp>
        <p:nvSpPr>
          <p:cNvPr id="7" name="Text 5"/>
          <p:cNvSpPr/>
          <p:nvPr/>
        </p:nvSpPr>
        <p:spPr>
          <a:xfrm>
            <a:off x="1583611" y="3075955"/>
            <a:ext cx="181310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API · HTTP and JSON</a:t>
            </a:r>
            <a:endParaRPr lang="en-US" sz="1400" dirty="0"/>
          </a:p>
        </p:txBody>
      </p:sp>
      <p:sp>
        <p:nvSpPr>
          <p:cNvPr id="8" name="Shape 6"/>
          <p:cNvSpPr/>
          <p:nvPr/>
        </p:nvSpPr>
        <p:spPr>
          <a:xfrm>
            <a:off x="815975" y="3965575"/>
            <a:ext cx="3295650" cy="603250"/>
          </a:xfrm>
          <a:prstGeom prst="roundRect">
            <a:avLst>
              <a:gd name="adj" fmla="val 10000"/>
            </a:avLst>
          </a:prstGeom>
          <a:solidFill>
            <a:srgbClr val="FCFBF7"/>
          </a:solidFill>
          <a:ln w="6350">
            <a:solidFill>
              <a:srgbClr val="C9C2B2"/>
            </a:solidFill>
            <a:prstDash val="solid"/>
          </a:ln>
        </p:spPr>
        <p:txBody>
          <a:bodyPr/>
          <a:lstStyle/>
          <a:p>
            <a:endParaRPr lang="en-IN"/>
          </a:p>
        </p:txBody>
      </p:sp>
      <p:sp>
        <p:nvSpPr>
          <p:cNvPr id="9" name="Text 7"/>
          <p:cNvSpPr/>
          <p:nvPr/>
        </p:nvSpPr>
        <p:spPr>
          <a:xfrm>
            <a:off x="1102757" y="4142755"/>
            <a:ext cx="280366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Order, cart and payment services</a:t>
            </a:r>
            <a:endParaRPr lang="en-US" sz="1400" dirty="0"/>
          </a:p>
        </p:txBody>
      </p:sp>
      <p:sp>
        <p:nvSpPr>
          <p:cNvPr id="10" name="Shape 8"/>
          <p:cNvSpPr/>
          <p:nvPr/>
        </p:nvSpPr>
        <p:spPr>
          <a:xfrm>
            <a:off x="815975" y="5032375"/>
            <a:ext cx="3295650" cy="603250"/>
          </a:xfrm>
          <a:prstGeom prst="roundRect">
            <a:avLst>
              <a:gd name="adj" fmla="val 10000"/>
            </a:avLst>
          </a:prstGeom>
          <a:solidFill>
            <a:srgbClr val="FCFBF7"/>
          </a:solidFill>
          <a:ln w="6350">
            <a:solidFill>
              <a:srgbClr val="C9C2B2"/>
            </a:solidFill>
            <a:prstDash val="solid"/>
          </a:ln>
        </p:spPr>
        <p:txBody>
          <a:bodyPr/>
          <a:lstStyle/>
          <a:p>
            <a:endParaRPr lang="en-IN"/>
          </a:p>
        </p:txBody>
      </p:sp>
      <p:sp>
        <p:nvSpPr>
          <p:cNvPr id="11" name="Text 9"/>
          <p:cNvSpPr/>
          <p:nvPr/>
        </p:nvSpPr>
        <p:spPr>
          <a:xfrm>
            <a:off x="2073275" y="5209555"/>
            <a:ext cx="83185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Database</a:t>
            </a:r>
            <a:endParaRPr lang="en-US" sz="1400" dirty="0"/>
          </a:p>
        </p:txBody>
      </p:sp>
      <p:sp>
        <p:nvSpPr>
          <p:cNvPr id="12" name="Shape 10"/>
          <p:cNvSpPr/>
          <p:nvPr/>
        </p:nvSpPr>
        <p:spPr>
          <a:xfrm>
            <a:off x="4876800" y="1828800"/>
            <a:ext cx="1651000" cy="609600"/>
          </a:xfrm>
          <a:prstGeom prst="roundRect">
            <a:avLst>
              <a:gd name="adj" fmla="val 10417"/>
            </a:avLst>
          </a:prstGeom>
          <a:solidFill>
            <a:srgbClr val="ECE8DE"/>
          </a:solidFill>
          <a:ln/>
        </p:spPr>
        <p:txBody>
          <a:bodyPr/>
          <a:lstStyle/>
          <a:p>
            <a:endParaRPr lang="en-IN"/>
          </a:p>
        </p:txBody>
      </p:sp>
      <p:sp>
        <p:nvSpPr>
          <p:cNvPr id="13" name="Text 11"/>
          <p:cNvSpPr/>
          <p:nvPr/>
        </p:nvSpPr>
        <p:spPr>
          <a:xfrm>
            <a:off x="5378609" y="2009155"/>
            <a:ext cx="69810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UI tests</a:t>
            </a:r>
            <a:endParaRPr lang="en-US" sz="1400" dirty="0"/>
          </a:p>
        </p:txBody>
      </p:sp>
      <p:sp>
        <p:nvSpPr>
          <p:cNvPr id="14" name="Shape 12"/>
          <p:cNvSpPr/>
          <p:nvPr/>
        </p:nvSpPr>
        <p:spPr>
          <a:xfrm>
            <a:off x="4876800" y="2895600"/>
            <a:ext cx="1651000" cy="609600"/>
          </a:xfrm>
          <a:prstGeom prst="roundRect">
            <a:avLst>
              <a:gd name="adj" fmla="val 10417"/>
            </a:avLst>
          </a:prstGeom>
          <a:solidFill>
            <a:srgbClr val="E98B53"/>
          </a:solidFill>
          <a:ln/>
        </p:spPr>
        <p:txBody>
          <a:bodyPr/>
          <a:lstStyle/>
          <a:p>
            <a:endParaRPr lang="en-IN"/>
          </a:p>
        </p:txBody>
      </p:sp>
      <p:sp>
        <p:nvSpPr>
          <p:cNvPr id="15" name="Text 13"/>
          <p:cNvSpPr/>
          <p:nvPr/>
        </p:nvSpPr>
        <p:spPr>
          <a:xfrm>
            <a:off x="5323126" y="3075955"/>
            <a:ext cx="80906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API tests</a:t>
            </a:r>
            <a:endParaRPr lang="en-US" sz="1400" dirty="0"/>
          </a:p>
        </p:txBody>
      </p:sp>
      <p:pic>
        <p:nvPicPr>
          <p:cNvPr id="16" name="Image 0" descr="connector"/>
          <p:cNvPicPr>
            <a:picLocks noChangeAspect="1"/>
          </p:cNvPicPr>
          <p:nvPr/>
        </p:nvPicPr>
        <p:blipFill>
          <a:blip r:embed="rId3"/>
          <a:srcRect/>
          <a:stretch/>
        </p:blipFill>
        <p:spPr>
          <a:xfrm>
            <a:off x="2413000" y="2387600"/>
            <a:ext cx="101600" cy="558800"/>
          </a:xfrm>
          <a:prstGeom prst="rect">
            <a:avLst/>
          </a:prstGeom>
        </p:spPr>
      </p:pic>
      <p:pic>
        <p:nvPicPr>
          <p:cNvPr id="17" name="Image 1" descr="connector"/>
          <p:cNvPicPr>
            <a:picLocks noChangeAspect="1"/>
          </p:cNvPicPr>
          <p:nvPr/>
        </p:nvPicPr>
        <p:blipFill>
          <a:blip r:embed="rId3"/>
          <a:srcRect/>
          <a:stretch/>
        </p:blipFill>
        <p:spPr>
          <a:xfrm>
            <a:off x="2413000" y="3454400"/>
            <a:ext cx="101600" cy="558800"/>
          </a:xfrm>
          <a:prstGeom prst="rect">
            <a:avLst/>
          </a:prstGeom>
        </p:spPr>
      </p:pic>
      <p:pic>
        <p:nvPicPr>
          <p:cNvPr id="18" name="Image 2" descr="connector"/>
          <p:cNvPicPr>
            <a:picLocks noChangeAspect="1"/>
          </p:cNvPicPr>
          <p:nvPr/>
        </p:nvPicPr>
        <p:blipFill>
          <a:blip r:embed="rId3"/>
          <a:srcRect/>
          <a:stretch/>
        </p:blipFill>
        <p:spPr>
          <a:xfrm>
            <a:off x="2413000" y="4521200"/>
            <a:ext cx="101600" cy="558800"/>
          </a:xfrm>
          <a:prstGeom prst="rect">
            <a:avLst/>
          </a:prstGeom>
        </p:spPr>
      </p:pic>
      <p:pic>
        <p:nvPicPr>
          <p:cNvPr id="19" name="Image 3" descr="connector"/>
          <p:cNvPicPr>
            <a:picLocks noChangeAspect="1"/>
          </p:cNvPicPr>
          <p:nvPr/>
        </p:nvPicPr>
        <p:blipFill>
          <a:blip r:embed="rId4"/>
          <a:srcRect/>
          <a:stretch/>
        </p:blipFill>
        <p:spPr>
          <a:xfrm>
            <a:off x="4064000" y="2082800"/>
            <a:ext cx="863600" cy="101600"/>
          </a:xfrm>
          <a:prstGeom prst="rect">
            <a:avLst/>
          </a:prstGeom>
        </p:spPr>
      </p:pic>
      <p:pic>
        <p:nvPicPr>
          <p:cNvPr id="20" name="Image 4" descr="connector"/>
          <p:cNvPicPr>
            <a:picLocks noChangeAspect="1"/>
          </p:cNvPicPr>
          <p:nvPr/>
        </p:nvPicPr>
        <p:blipFill>
          <a:blip r:embed="rId5"/>
          <a:srcRect/>
          <a:stretch/>
        </p:blipFill>
        <p:spPr>
          <a:xfrm>
            <a:off x="4064000" y="3149600"/>
            <a:ext cx="863600" cy="101600"/>
          </a:xfrm>
          <a:prstGeom prst="rect">
            <a:avLst/>
          </a:prstGeom>
        </p:spPr>
      </p:pic>
      <p:sp>
        <p:nvSpPr>
          <p:cNvPr id="21" name="Text 14"/>
          <p:cNvSpPr/>
          <p:nvPr/>
        </p:nvSpPr>
        <p:spPr>
          <a:xfrm>
            <a:off x="6832600" y="1828800"/>
            <a:ext cx="468299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An API lets programs talk to each other. API testing sends requests straight to it and checks the responses, with no browser involved.</a:t>
            </a:r>
            <a:endParaRPr lang="en-US" sz="1400" dirty="0"/>
          </a:p>
        </p:txBody>
      </p:sp>
      <p:sp>
        <p:nvSpPr>
          <p:cNvPr id="22" name="Text 15"/>
          <p:cNvSpPr/>
          <p:nvPr/>
        </p:nvSpPr>
        <p:spPr>
          <a:xfrm>
            <a:off x="6832600" y="2727970"/>
            <a:ext cx="468299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WHY TEST AT THIS LEVEL</a:t>
            </a:r>
            <a:endParaRPr lang="en-US" sz="1200" dirty="0"/>
          </a:p>
        </p:txBody>
      </p:sp>
      <p:sp>
        <p:nvSpPr>
          <p:cNvPr id="23" name="Text 16"/>
          <p:cNvSpPr/>
          <p:nvPr/>
        </p:nvSpPr>
        <p:spPr>
          <a:xfrm>
            <a:off x="6832600" y="3042915"/>
            <a:ext cx="4682998" cy="1358900"/>
          </a:xfrm>
          <a:prstGeom prst="rect">
            <a:avLst/>
          </a:prstGeom>
          <a:noFill/>
          <a:ln/>
        </p:spPr>
        <p:txBody>
          <a:bodyPr wrap="square" lIns="0" tIns="0" rIns="0" bIns="0" rtlCol="0" anchor="t">
            <a:normAutofit/>
          </a:bodyPr>
          <a:lstStyle/>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Faster: no browser, no rendering</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More stable: no layout or locator changes</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Earlier: works before the UI exists</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Hits business rules directly</a:t>
            </a:r>
            <a:endParaRPr lang="en-US" sz="1400" dirty="0"/>
          </a:p>
          <a:p>
            <a:pPr marL="213360" indent="-175768" algn="l">
              <a:lnSpc>
                <a:spcPts val="2100"/>
              </a:lnSpc>
              <a:buSzPct val="100000"/>
              <a:buChar char="•"/>
            </a:pPr>
            <a:r>
              <a:rPr lang="en-US" sz="1400" dirty="0">
                <a:solidFill>
                  <a:srgbClr val="13233A"/>
                </a:solidFill>
                <a:latin typeface="IBM Plex Sans" pitchFamily="34" charset="0"/>
                <a:ea typeface="IBM Plex Sans" pitchFamily="34" charset="-122"/>
                <a:cs typeface="IBM Plex Sans" pitchFamily="34" charset="-120"/>
              </a:rPr>
              <a:t>Easy to run in CI</a:t>
            </a:r>
            <a:endParaRPr lang="en-US" sz="1400" dirty="0"/>
          </a:p>
        </p:txBody>
      </p:sp>
      <p:sp>
        <p:nvSpPr>
          <p:cNvPr id="24" name="Text 17"/>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5" name="Text 18"/>
          <p:cNvSpPr/>
          <p:nvPr/>
        </p:nvSpPr>
        <p:spPr>
          <a:xfrm>
            <a:off x="7524512" y="6238255"/>
            <a:ext cx="397032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API tests sit in the middle of the test pyramid (Module 2)</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L7 · API TESTING · HTTP BASICS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HTTP methods</a:t>
            </a:r>
            <a:endParaRPr lang="en-US" sz="3200" dirty="0"/>
          </a:p>
        </p:txBody>
      </p:sp>
      <p:sp>
        <p:nvSpPr>
          <p:cNvPr id="4" name="Shape 2"/>
          <p:cNvSpPr/>
          <p:nvPr/>
        </p:nvSpPr>
        <p:spPr>
          <a:xfrm>
            <a:off x="11376025" y="1828800"/>
            <a:ext cx="0" cy="2316480"/>
          </a:xfrm>
          <a:prstGeom prst="line">
            <a:avLst/>
          </a:prstGeom>
          <a:noFill/>
          <a:ln w="6350">
            <a:solidFill>
              <a:srgbClr val="DDD8CC"/>
            </a:solidFill>
            <a:prstDash val="solid"/>
          </a:ln>
        </p:spPr>
        <p:txBody>
          <a:bodyPr/>
          <a:lstStyle/>
          <a:p>
            <a:endParaRPr lang="en-IN"/>
          </a:p>
        </p:txBody>
      </p:sp>
      <p:sp>
        <p:nvSpPr>
          <p:cNvPr id="5" name="Shape 3"/>
          <p:cNvSpPr/>
          <p:nvPr/>
        </p:nvSpPr>
        <p:spPr>
          <a:xfrm>
            <a:off x="812800" y="4142105"/>
            <a:ext cx="10566400" cy="0"/>
          </a:xfrm>
          <a:prstGeom prst="line">
            <a:avLst/>
          </a:prstGeom>
          <a:noFill/>
          <a:ln w="6350">
            <a:solidFill>
              <a:srgbClr val="DDD8CC"/>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1" cy="2301240"/>
        </p:xfrm>
        <a:graphic>
          <a:graphicData uri="http://schemas.openxmlformats.org/drawingml/2006/table">
            <a:tbl>
              <a:tblPr/>
              <a:tblGrid>
                <a:gridCol w="1582674">
                  <a:extLst>
                    <a:ext uri="{9D8B030D-6E8A-4147-A177-3AD203B41FA5}">
                      <a16:colId xmlns:a16="http://schemas.microsoft.com/office/drawing/2014/main" val="20000"/>
                    </a:ext>
                  </a:extLst>
                </a:gridCol>
                <a:gridCol w="3270860">
                  <a:extLst>
                    <a:ext uri="{9D8B030D-6E8A-4147-A177-3AD203B41FA5}">
                      <a16:colId xmlns:a16="http://schemas.microsoft.com/office/drawing/2014/main" val="20001"/>
                    </a:ext>
                  </a:extLst>
                </a:gridCol>
                <a:gridCol w="1899209">
                  <a:extLst>
                    <a:ext uri="{9D8B030D-6E8A-4147-A177-3AD203B41FA5}">
                      <a16:colId xmlns:a16="http://schemas.microsoft.com/office/drawing/2014/main" val="20002"/>
                    </a:ext>
                  </a:extLst>
                </a:gridCol>
                <a:gridCol w="3798418">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Method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Purpose</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Idempotent?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Canteen App example</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GET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Read a resource</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GET /api/menu</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POST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Create a resource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POST /api/cart/items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PUT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Replace a resource</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PUT /api/cart/items/1</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PATCH</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Change part of a resource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Not guaranteed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PATCH /api/orders/42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DELETE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Remove a resource</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Yes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DELETE /api/cart/items/1</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5"/>
                  </a:ext>
                </a:extLst>
              </a:tr>
            </a:tbl>
          </a:graphicData>
        </a:graphic>
      </p:graphicFrame>
      <p:sp>
        <p:nvSpPr>
          <p:cNvPr id="7" name="Shape 4"/>
          <p:cNvSpPr/>
          <p:nvPr/>
        </p:nvSpPr>
        <p:spPr>
          <a:xfrm>
            <a:off x="815975" y="4402460"/>
            <a:ext cx="5175250" cy="999490"/>
          </a:xfrm>
          <a:prstGeom prst="roundRect">
            <a:avLst>
              <a:gd name="adj" fmla="val 7306"/>
            </a:avLst>
          </a:prstGeom>
          <a:solidFill>
            <a:srgbClr val="FCFBF7"/>
          </a:solidFill>
          <a:ln w="6350">
            <a:solidFill>
              <a:srgbClr val="DDD8CC"/>
            </a:solidFill>
            <a:prstDash val="solid"/>
          </a:ln>
        </p:spPr>
        <p:txBody>
          <a:bodyPr/>
          <a:lstStyle/>
          <a:p>
            <a:endParaRPr lang="en-IN"/>
          </a:p>
        </p:txBody>
      </p:sp>
      <p:sp>
        <p:nvSpPr>
          <p:cNvPr id="8" name="Text 5"/>
          <p:cNvSpPr/>
          <p:nvPr/>
        </p:nvSpPr>
        <p:spPr>
          <a:xfrm>
            <a:off x="1021080" y="4556770"/>
            <a:ext cx="490799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IDEMPOTENT</a:t>
            </a:r>
            <a:endParaRPr lang="en-US" sz="1200" dirty="0"/>
          </a:p>
        </p:txBody>
      </p:sp>
      <p:sp>
        <p:nvSpPr>
          <p:cNvPr id="9" name="Text 6"/>
          <p:cNvSpPr/>
          <p:nvPr/>
        </p:nvSpPr>
        <p:spPr>
          <a:xfrm>
            <a:off x="1021080" y="4820915"/>
            <a:ext cx="490799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Sending the same request twice leaves the server in the same state as sending it once.</a:t>
            </a:r>
            <a:endParaRPr lang="en-US" sz="1200" dirty="0"/>
          </a:p>
        </p:txBody>
      </p:sp>
      <p:sp>
        <p:nvSpPr>
          <p:cNvPr id="10" name="Shape 7"/>
          <p:cNvSpPr/>
          <p:nvPr/>
        </p:nvSpPr>
        <p:spPr>
          <a:xfrm>
            <a:off x="6200775" y="4402460"/>
            <a:ext cx="5175250" cy="999490"/>
          </a:xfrm>
          <a:prstGeom prst="roundRect">
            <a:avLst>
              <a:gd name="adj" fmla="val 7306"/>
            </a:avLst>
          </a:prstGeom>
          <a:solidFill>
            <a:srgbClr val="FCFBF7"/>
          </a:solidFill>
          <a:ln w="6350">
            <a:solidFill>
              <a:srgbClr val="DDD8CC"/>
            </a:solidFill>
            <a:prstDash val="solid"/>
          </a:ln>
        </p:spPr>
        <p:txBody>
          <a:bodyPr/>
          <a:lstStyle/>
          <a:p>
            <a:endParaRPr lang="en-IN"/>
          </a:p>
        </p:txBody>
      </p:sp>
      <p:sp>
        <p:nvSpPr>
          <p:cNvPr id="11" name="Text 8"/>
          <p:cNvSpPr/>
          <p:nvPr/>
        </p:nvSpPr>
        <p:spPr>
          <a:xfrm>
            <a:off x="6405880" y="4556770"/>
            <a:ext cx="490799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WHY TESTERS CARE</a:t>
            </a:r>
            <a:endParaRPr lang="en-US" sz="1200" dirty="0"/>
          </a:p>
        </p:txBody>
      </p:sp>
      <p:sp>
        <p:nvSpPr>
          <p:cNvPr id="12" name="Text 9"/>
          <p:cNvSpPr/>
          <p:nvPr/>
        </p:nvSpPr>
        <p:spPr>
          <a:xfrm>
            <a:off x="6405880" y="4820915"/>
            <a:ext cx="490799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A retried POST can create two orders; a retried PUT or DELETE should be harmless. Test both.</a:t>
            </a:r>
            <a:endParaRPr lang="en-US" sz="1200" dirty="0"/>
          </a:p>
        </p:txBody>
      </p:sp>
      <p:sp>
        <p:nvSpPr>
          <p:cNvPr id="13" name="Text 10"/>
          <p:cNvSpPr/>
          <p:nvPr/>
        </p:nvSpPr>
        <p:spPr>
          <a:xfrm>
            <a:off x="812800" y="6238255"/>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4" name="Text 11"/>
          <p:cNvSpPr/>
          <p:nvPr/>
        </p:nvSpPr>
        <p:spPr>
          <a:xfrm>
            <a:off x="7652862" y="6238255"/>
            <a:ext cx="383812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Method semantics: RFC 9110, HTTP Semantics (2022)</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L7 · API TESTING · HTTP BASICS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HTTP status codes</a:t>
            </a:r>
            <a:endParaRPr lang="en-US" sz="3200" dirty="0"/>
          </a:p>
        </p:txBody>
      </p:sp>
      <p:sp>
        <p:nvSpPr>
          <p:cNvPr id="4" name="Shape 2"/>
          <p:cNvSpPr/>
          <p:nvPr/>
        </p:nvSpPr>
        <p:spPr>
          <a:xfrm>
            <a:off x="812800" y="1828800"/>
            <a:ext cx="2527300" cy="3175000"/>
          </a:xfrm>
          <a:prstGeom prst="roundRect">
            <a:avLst>
              <a:gd name="adj" fmla="val 3015"/>
            </a:avLst>
          </a:prstGeom>
          <a:solidFill>
            <a:srgbClr val="DCE7F3"/>
          </a:solidFill>
          <a:ln/>
        </p:spPr>
        <p:txBody>
          <a:bodyPr/>
          <a:lstStyle/>
          <a:p>
            <a:endParaRPr lang="en-IN"/>
          </a:p>
        </p:txBody>
      </p:sp>
      <p:sp>
        <p:nvSpPr>
          <p:cNvPr id="5" name="Text 3"/>
          <p:cNvSpPr/>
          <p:nvPr/>
        </p:nvSpPr>
        <p:spPr>
          <a:xfrm>
            <a:off x="990600" y="1981200"/>
            <a:ext cx="2236851"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3233A"/>
                </a:solidFill>
                <a:latin typeface="Space Grotesk" pitchFamily="34" charset="0"/>
                <a:ea typeface="Space Grotesk" pitchFamily="34" charset="-122"/>
                <a:cs typeface="Space Grotesk" pitchFamily="34" charset="-120"/>
              </a:rPr>
              <a:t>2xx · Success</a:t>
            </a:r>
            <a:endParaRPr lang="en-US" sz="2000" dirty="0"/>
          </a:p>
        </p:txBody>
      </p:sp>
      <p:sp>
        <p:nvSpPr>
          <p:cNvPr id="6" name="Text 4"/>
          <p:cNvSpPr/>
          <p:nvPr/>
        </p:nvSpPr>
        <p:spPr>
          <a:xfrm>
            <a:off x="990600" y="2400300"/>
            <a:ext cx="22368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200</a:t>
            </a:r>
            <a:r>
              <a:rPr lang="en-US" sz="1200" dirty="0">
                <a:solidFill>
                  <a:srgbClr val="13233A"/>
                </a:solidFill>
                <a:latin typeface="IBM Plex Sans" pitchFamily="34" charset="0"/>
                <a:ea typeface="IBM Plex Sans" pitchFamily="34" charset="-122"/>
                <a:cs typeface="IBM Plex Sans" pitchFamily="34" charset="-120"/>
              </a:rPr>
              <a:t> OK: the request worked</a:t>
            </a:r>
            <a:endParaRPr lang="en-US" sz="1200" dirty="0"/>
          </a:p>
        </p:txBody>
      </p:sp>
      <p:sp>
        <p:nvSpPr>
          <p:cNvPr id="7" name="Text 5"/>
          <p:cNvSpPr/>
          <p:nvPr/>
        </p:nvSpPr>
        <p:spPr>
          <a:xfrm>
            <a:off x="990600" y="2677170"/>
            <a:ext cx="2236851"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201</a:t>
            </a:r>
            <a:r>
              <a:rPr lang="en-US" sz="1200" dirty="0">
                <a:solidFill>
                  <a:srgbClr val="13233A"/>
                </a:solidFill>
                <a:latin typeface="IBM Plex Sans" pitchFamily="34" charset="0"/>
                <a:ea typeface="IBM Plex Sans" pitchFamily="34" charset="-122"/>
                <a:cs typeface="IBM Plex Sans" pitchFamily="34" charset="-120"/>
              </a:rPr>
              <a:t> Created: a new resource exists</a:t>
            </a:r>
            <a:endParaRPr lang="en-US" sz="1200" dirty="0"/>
          </a:p>
        </p:txBody>
      </p:sp>
      <p:sp>
        <p:nvSpPr>
          <p:cNvPr id="8" name="Text 6"/>
          <p:cNvSpPr/>
          <p:nvPr/>
        </p:nvSpPr>
        <p:spPr>
          <a:xfrm>
            <a:off x="990600" y="3167385"/>
            <a:ext cx="2236851"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204</a:t>
            </a:r>
            <a:r>
              <a:rPr lang="en-US" sz="1200" dirty="0">
                <a:solidFill>
                  <a:srgbClr val="13233A"/>
                </a:solidFill>
                <a:latin typeface="IBM Plex Sans" pitchFamily="34" charset="0"/>
                <a:ea typeface="IBM Plex Sans" pitchFamily="34" charset="-122"/>
                <a:cs typeface="IBM Plex Sans" pitchFamily="34" charset="-120"/>
              </a:rPr>
              <a:t> No Content: worked, empty body</a:t>
            </a:r>
            <a:endParaRPr lang="en-US" sz="1200" dirty="0"/>
          </a:p>
        </p:txBody>
      </p:sp>
      <p:sp>
        <p:nvSpPr>
          <p:cNvPr id="9" name="Shape 7"/>
          <p:cNvSpPr/>
          <p:nvPr/>
        </p:nvSpPr>
        <p:spPr>
          <a:xfrm>
            <a:off x="3495675" y="1831975"/>
            <a:ext cx="2520950" cy="3168650"/>
          </a:xfrm>
          <a:prstGeom prst="roundRect">
            <a:avLst>
              <a:gd name="adj" fmla="val 2897"/>
            </a:avLst>
          </a:prstGeom>
          <a:solidFill>
            <a:srgbClr val="FCFBF7"/>
          </a:solidFill>
          <a:ln w="6350">
            <a:solidFill>
              <a:srgbClr val="DDD8CC"/>
            </a:solidFill>
            <a:prstDash val="solid"/>
          </a:ln>
        </p:spPr>
        <p:txBody>
          <a:bodyPr/>
          <a:lstStyle/>
          <a:p>
            <a:endParaRPr lang="en-IN"/>
          </a:p>
        </p:txBody>
      </p:sp>
      <p:sp>
        <p:nvSpPr>
          <p:cNvPr id="10" name="Text 8"/>
          <p:cNvSpPr/>
          <p:nvPr/>
        </p:nvSpPr>
        <p:spPr>
          <a:xfrm>
            <a:off x="3675380" y="1986285"/>
            <a:ext cx="222638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3233A"/>
                </a:solidFill>
                <a:latin typeface="Space Grotesk" pitchFamily="34" charset="0"/>
                <a:ea typeface="Space Grotesk" pitchFamily="34" charset="-122"/>
                <a:cs typeface="Space Grotesk" pitchFamily="34" charset="-120"/>
              </a:rPr>
              <a:t>3xx · Redirect</a:t>
            </a:r>
            <a:endParaRPr lang="en-US" sz="2000" dirty="0"/>
          </a:p>
        </p:txBody>
      </p:sp>
      <p:sp>
        <p:nvSpPr>
          <p:cNvPr id="11" name="Text 9"/>
          <p:cNvSpPr/>
          <p:nvPr/>
        </p:nvSpPr>
        <p:spPr>
          <a:xfrm>
            <a:off x="3675380" y="2405385"/>
            <a:ext cx="2226386"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301</a:t>
            </a:r>
            <a:r>
              <a:rPr lang="en-US" sz="1200" dirty="0">
                <a:solidFill>
                  <a:srgbClr val="13233A"/>
                </a:solidFill>
                <a:latin typeface="IBM Plex Sans" pitchFamily="34" charset="0"/>
                <a:ea typeface="IBM Plex Sans" pitchFamily="34" charset="-122"/>
                <a:cs typeface="IBM Plex Sans" pitchFamily="34" charset="-120"/>
              </a:rPr>
              <a:t> Moved Permanently: use the new URL</a:t>
            </a:r>
            <a:endParaRPr lang="en-US" sz="1200" dirty="0"/>
          </a:p>
        </p:txBody>
      </p:sp>
      <p:sp>
        <p:nvSpPr>
          <p:cNvPr id="12" name="Text 10"/>
          <p:cNvSpPr/>
          <p:nvPr/>
        </p:nvSpPr>
        <p:spPr>
          <a:xfrm>
            <a:off x="3675380" y="2895600"/>
            <a:ext cx="2226386"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304</a:t>
            </a:r>
            <a:r>
              <a:rPr lang="en-US" sz="1200" dirty="0">
                <a:solidFill>
                  <a:srgbClr val="13233A"/>
                </a:solidFill>
                <a:latin typeface="IBM Plex Sans" pitchFamily="34" charset="0"/>
                <a:ea typeface="IBM Plex Sans" pitchFamily="34" charset="-122"/>
                <a:cs typeface="IBM Plex Sans" pitchFamily="34" charset="-120"/>
              </a:rPr>
              <a:t> Not Modified: use your cached copy</a:t>
            </a:r>
            <a:endParaRPr lang="en-US" sz="1200" dirty="0"/>
          </a:p>
        </p:txBody>
      </p:sp>
      <p:sp>
        <p:nvSpPr>
          <p:cNvPr id="13" name="Shape 11"/>
          <p:cNvSpPr/>
          <p:nvPr/>
        </p:nvSpPr>
        <p:spPr>
          <a:xfrm>
            <a:off x="6172200" y="1828800"/>
            <a:ext cx="2527300" cy="3175000"/>
          </a:xfrm>
          <a:prstGeom prst="roundRect">
            <a:avLst>
              <a:gd name="adj" fmla="val 3015"/>
            </a:avLst>
          </a:prstGeom>
          <a:solidFill>
            <a:srgbClr val="F7E3D5"/>
          </a:solidFill>
          <a:ln/>
        </p:spPr>
        <p:txBody>
          <a:bodyPr/>
          <a:lstStyle/>
          <a:p>
            <a:endParaRPr lang="en-IN"/>
          </a:p>
        </p:txBody>
      </p:sp>
      <p:sp>
        <p:nvSpPr>
          <p:cNvPr id="14" name="Text 12"/>
          <p:cNvSpPr/>
          <p:nvPr/>
        </p:nvSpPr>
        <p:spPr>
          <a:xfrm>
            <a:off x="6350000" y="1981200"/>
            <a:ext cx="2236851"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3233A"/>
                </a:solidFill>
                <a:latin typeface="Space Grotesk" pitchFamily="34" charset="0"/>
                <a:ea typeface="Space Grotesk" pitchFamily="34" charset="-122"/>
                <a:cs typeface="Space Grotesk" pitchFamily="34" charset="-120"/>
              </a:rPr>
              <a:t>4xx · Client</a:t>
            </a:r>
            <a:endParaRPr lang="en-US" sz="2000" dirty="0"/>
          </a:p>
        </p:txBody>
      </p:sp>
      <p:sp>
        <p:nvSpPr>
          <p:cNvPr id="15" name="Text 13"/>
          <p:cNvSpPr/>
          <p:nvPr/>
        </p:nvSpPr>
        <p:spPr>
          <a:xfrm>
            <a:off x="6350000" y="2400300"/>
            <a:ext cx="22368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400</a:t>
            </a:r>
            <a:r>
              <a:rPr lang="en-US" sz="1200" dirty="0">
                <a:solidFill>
                  <a:srgbClr val="13233A"/>
                </a:solidFill>
                <a:latin typeface="IBM Plex Sans" pitchFamily="34" charset="0"/>
                <a:ea typeface="IBM Plex Sans" pitchFamily="34" charset="-122"/>
                <a:cs typeface="IBM Plex Sans" pitchFamily="34" charset="-120"/>
              </a:rPr>
              <a:t> Bad Request: malformed</a:t>
            </a:r>
            <a:endParaRPr lang="en-US" sz="1200" dirty="0"/>
          </a:p>
        </p:txBody>
      </p:sp>
      <p:sp>
        <p:nvSpPr>
          <p:cNvPr id="16" name="Text 14"/>
          <p:cNvSpPr/>
          <p:nvPr/>
        </p:nvSpPr>
        <p:spPr>
          <a:xfrm>
            <a:off x="6350000" y="2677170"/>
            <a:ext cx="2236851"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401</a:t>
            </a:r>
            <a:r>
              <a:rPr lang="en-US" sz="1200" dirty="0">
                <a:solidFill>
                  <a:srgbClr val="13233A"/>
                </a:solidFill>
                <a:latin typeface="IBM Plex Sans" pitchFamily="34" charset="0"/>
                <a:ea typeface="IBM Plex Sans" pitchFamily="34" charset="-122"/>
                <a:cs typeface="IBM Plex Sans" pitchFamily="34" charset="-120"/>
              </a:rPr>
              <a:t> Unauthorized: no valid credentials</a:t>
            </a:r>
            <a:endParaRPr lang="en-US" sz="1200" dirty="0"/>
          </a:p>
        </p:txBody>
      </p:sp>
      <p:sp>
        <p:nvSpPr>
          <p:cNvPr id="17" name="Text 15"/>
          <p:cNvSpPr/>
          <p:nvPr/>
        </p:nvSpPr>
        <p:spPr>
          <a:xfrm>
            <a:off x="6350000" y="3167385"/>
            <a:ext cx="2236851"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403</a:t>
            </a:r>
            <a:r>
              <a:rPr lang="en-US" sz="1200" dirty="0">
                <a:solidFill>
                  <a:srgbClr val="13233A"/>
                </a:solidFill>
                <a:latin typeface="IBM Plex Sans" pitchFamily="34" charset="0"/>
                <a:ea typeface="IBM Plex Sans" pitchFamily="34" charset="-122"/>
                <a:cs typeface="IBM Plex Sans" pitchFamily="34" charset="-120"/>
              </a:rPr>
              <a:t> Forbidden: known, but not allowed</a:t>
            </a:r>
            <a:endParaRPr lang="en-US" sz="1200" dirty="0"/>
          </a:p>
        </p:txBody>
      </p:sp>
      <p:sp>
        <p:nvSpPr>
          <p:cNvPr id="18" name="Text 16"/>
          <p:cNvSpPr/>
          <p:nvPr/>
        </p:nvSpPr>
        <p:spPr>
          <a:xfrm>
            <a:off x="6350000" y="3657600"/>
            <a:ext cx="22368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404</a:t>
            </a:r>
            <a:r>
              <a:rPr lang="en-US" sz="1200" dirty="0">
                <a:solidFill>
                  <a:srgbClr val="13233A"/>
                </a:solidFill>
                <a:latin typeface="IBM Plex Sans" pitchFamily="34" charset="0"/>
                <a:ea typeface="IBM Plex Sans" pitchFamily="34" charset="-122"/>
                <a:cs typeface="IBM Plex Sans" pitchFamily="34" charset="-120"/>
              </a:rPr>
              <a:t> Not Found</a:t>
            </a:r>
            <a:endParaRPr lang="en-US" sz="1200" dirty="0"/>
          </a:p>
        </p:txBody>
      </p:sp>
      <p:sp>
        <p:nvSpPr>
          <p:cNvPr id="19" name="Text 17"/>
          <p:cNvSpPr/>
          <p:nvPr/>
        </p:nvSpPr>
        <p:spPr>
          <a:xfrm>
            <a:off x="6350000" y="3934470"/>
            <a:ext cx="2236851"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409</a:t>
            </a:r>
            <a:r>
              <a:rPr lang="en-US" sz="1200" dirty="0">
                <a:solidFill>
                  <a:srgbClr val="13233A"/>
                </a:solidFill>
                <a:latin typeface="IBM Plex Sans" pitchFamily="34" charset="0"/>
                <a:ea typeface="IBM Plex Sans" pitchFamily="34" charset="-122"/>
                <a:cs typeface="IBM Plex Sans" pitchFamily="34" charset="-120"/>
              </a:rPr>
              <a:t> Conflict: clashes with current state</a:t>
            </a:r>
            <a:endParaRPr lang="en-US" sz="1200" dirty="0"/>
          </a:p>
        </p:txBody>
      </p:sp>
      <p:sp>
        <p:nvSpPr>
          <p:cNvPr id="20" name="Text 18"/>
          <p:cNvSpPr/>
          <p:nvPr/>
        </p:nvSpPr>
        <p:spPr>
          <a:xfrm>
            <a:off x="6350000" y="4424685"/>
            <a:ext cx="2236851"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422</a:t>
            </a:r>
            <a:r>
              <a:rPr lang="en-US" sz="1200" dirty="0">
                <a:solidFill>
                  <a:srgbClr val="13233A"/>
                </a:solidFill>
                <a:latin typeface="IBM Plex Sans" pitchFamily="34" charset="0"/>
                <a:ea typeface="IBM Plex Sans" pitchFamily="34" charset="-122"/>
                <a:cs typeface="IBM Plex Sans" pitchFamily="34" charset="-120"/>
              </a:rPr>
              <a:t> Unprocessable: valid JSON, bad values</a:t>
            </a:r>
            <a:endParaRPr lang="en-US" sz="1200" dirty="0"/>
          </a:p>
        </p:txBody>
      </p:sp>
      <p:sp>
        <p:nvSpPr>
          <p:cNvPr id="21" name="Shape 19"/>
          <p:cNvSpPr/>
          <p:nvPr/>
        </p:nvSpPr>
        <p:spPr>
          <a:xfrm>
            <a:off x="8855075" y="1831975"/>
            <a:ext cx="2520950" cy="3168650"/>
          </a:xfrm>
          <a:prstGeom prst="roundRect">
            <a:avLst>
              <a:gd name="adj" fmla="val 2897"/>
            </a:avLst>
          </a:prstGeom>
          <a:solidFill>
            <a:srgbClr val="FCFBF7"/>
          </a:solidFill>
          <a:ln w="6350">
            <a:solidFill>
              <a:srgbClr val="DDD8CC"/>
            </a:solidFill>
            <a:prstDash val="solid"/>
          </a:ln>
        </p:spPr>
        <p:txBody>
          <a:bodyPr/>
          <a:lstStyle/>
          <a:p>
            <a:endParaRPr lang="en-IN"/>
          </a:p>
        </p:txBody>
      </p:sp>
      <p:sp>
        <p:nvSpPr>
          <p:cNvPr id="22" name="Text 20"/>
          <p:cNvSpPr/>
          <p:nvPr/>
        </p:nvSpPr>
        <p:spPr>
          <a:xfrm>
            <a:off x="9034780" y="1986285"/>
            <a:ext cx="222638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3233A"/>
                </a:solidFill>
                <a:latin typeface="Space Grotesk" pitchFamily="34" charset="0"/>
                <a:ea typeface="Space Grotesk" pitchFamily="34" charset="-122"/>
                <a:cs typeface="Space Grotesk" pitchFamily="34" charset="-120"/>
              </a:rPr>
              <a:t>5xx · Server</a:t>
            </a:r>
            <a:endParaRPr lang="en-US" sz="2000" dirty="0"/>
          </a:p>
        </p:txBody>
      </p:sp>
      <p:sp>
        <p:nvSpPr>
          <p:cNvPr id="23" name="Text 21"/>
          <p:cNvSpPr/>
          <p:nvPr/>
        </p:nvSpPr>
        <p:spPr>
          <a:xfrm>
            <a:off x="9034780" y="2405385"/>
            <a:ext cx="222638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500</a:t>
            </a:r>
            <a:r>
              <a:rPr lang="en-US" sz="1200" dirty="0">
                <a:solidFill>
                  <a:srgbClr val="13233A"/>
                </a:solidFill>
                <a:latin typeface="IBM Plex Sans" pitchFamily="34" charset="0"/>
                <a:ea typeface="IBM Plex Sans" pitchFamily="34" charset="-122"/>
                <a:cs typeface="IBM Plex Sans" pitchFamily="34" charset="-120"/>
              </a:rPr>
              <a:t> Internal Server Error</a:t>
            </a:r>
            <a:endParaRPr lang="en-US" sz="1200" dirty="0"/>
          </a:p>
        </p:txBody>
      </p:sp>
      <p:sp>
        <p:nvSpPr>
          <p:cNvPr id="24" name="Text 22"/>
          <p:cNvSpPr/>
          <p:nvPr/>
        </p:nvSpPr>
        <p:spPr>
          <a:xfrm>
            <a:off x="9034780" y="2682255"/>
            <a:ext cx="2226386"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502</a:t>
            </a:r>
            <a:r>
              <a:rPr lang="en-US" sz="1200" dirty="0">
                <a:solidFill>
                  <a:srgbClr val="13233A"/>
                </a:solidFill>
                <a:latin typeface="IBM Plex Sans" pitchFamily="34" charset="0"/>
                <a:ea typeface="IBM Plex Sans" pitchFamily="34" charset="-122"/>
                <a:cs typeface="IBM Plex Sans" pitchFamily="34" charset="-120"/>
              </a:rPr>
              <a:t> Bad Gateway: upstream failed</a:t>
            </a:r>
            <a:endParaRPr lang="en-US" sz="1200" dirty="0"/>
          </a:p>
        </p:txBody>
      </p:sp>
      <p:sp>
        <p:nvSpPr>
          <p:cNvPr id="25" name="Text 23"/>
          <p:cNvSpPr/>
          <p:nvPr/>
        </p:nvSpPr>
        <p:spPr>
          <a:xfrm>
            <a:off x="9034780" y="3172470"/>
            <a:ext cx="2226386"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503</a:t>
            </a:r>
            <a:r>
              <a:rPr lang="en-US" sz="1200" dirty="0">
                <a:solidFill>
                  <a:srgbClr val="13233A"/>
                </a:solidFill>
                <a:latin typeface="IBM Plex Sans" pitchFamily="34" charset="0"/>
                <a:ea typeface="IBM Plex Sans" pitchFamily="34" charset="-122"/>
                <a:cs typeface="IBM Plex Sans" pitchFamily="34" charset="-120"/>
              </a:rPr>
              <a:t> Service Unavailable: overloaded or down</a:t>
            </a:r>
            <a:endParaRPr lang="en-US" sz="1200" dirty="0"/>
          </a:p>
        </p:txBody>
      </p:sp>
      <p:sp>
        <p:nvSpPr>
          <p:cNvPr id="26" name="Text 24"/>
          <p:cNvSpPr/>
          <p:nvPr/>
        </p:nvSpPr>
        <p:spPr>
          <a:xfrm>
            <a:off x="812800" y="5257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Bad input should get a 4xx with a clear message. A 5xx for bad input is a defect.</a:t>
            </a:r>
            <a:endParaRPr lang="en-US" sz="1400" dirty="0"/>
          </a:p>
        </p:txBody>
      </p:sp>
      <p:sp>
        <p:nvSpPr>
          <p:cNvPr id="27" name="Text 25"/>
          <p:cNvSpPr/>
          <p:nvPr/>
        </p:nvSpPr>
        <p:spPr>
          <a:xfrm>
            <a:off x="812800" y="6238230"/>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8" name="Text 26"/>
          <p:cNvSpPr/>
          <p:nvPr/>
        </p:nvSpPr>
        <p:spPr>
          <a:xfrm>
            <a:off x="5465921" y="6238230"/>
            <a:ext cx="609067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Canteen App: 201 on add to cart · 401 with no token · 409 cancelling a Preparing order</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L7 · API TESTING · HTTP BASICS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Anatomy of a request and a response</a:t>
            </a:r>
            <a:endParaRPr lang="en-US" sz="3200" dirty="0"/>
          </a:p>
        </p:txBody>
      </p:sp>
      <p:sp>
        <p:nvSpPr>
          <p:cNvPr id="4" name="Text 2"/>
          <p:cNvSpPr/>
          <p:nvPr/>
        </p:nvSpPr>
        <p:spPr>
          <a:xfrm>
            <a:off x="812800" y="182880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A9C"/>
                </a:solidFill>
                <a:latin typeface="JetBrains Mono" pitchFamily="34" charset="0"/>
                <a:ea typeface="JetBrains Mono" pitchFamily="34" charset="-122"/>
                <a:cs typeface="JetBrains Mono" pitchFamily="34" charset="-120"/>
              </a:rPr>
              <a:t>REQUEST · ADD AN ITEM TO THE CART</a:t>
            </a:r>
            <a:endParaRPr lang="en-US" sz="1200" dirty="0"/>
          </a:p>
        </p:txBody>
      </p:sp>
      <p:sp>
        <p:nvSpPr>
          <p:cNvPr id="5" name="Shape 3"/>
          <p:cNvSpPr/>
          <p:nvPr/>
        </p:nvSpPr>
        <p:spPr>
          <a:xfrm>
            <a:off x="812800" y="2118370"/>
            <a:ext cx="5181600" cy="1635760"/>
          </a:xfrm>
          <a:prstGeom prst="roundRect">
            <a:avLst>
              <a:gd name="adj" fmla="val 4658"/>
            </a:avLst>
          </a:prstGeom>
          <a:solidFill>
            <a:srgbClr val="13233A"/>
          </a:solidFill>
          <a:ln/>
        </p:spPr>
        <p:txBody>
          <a:bodyPr/>
          <a:lstStyle/>
          <a:p>
            <a:endParaRPr lang="en-IN"/>
          </a:p>
        </p:txBody>
      </p:sp>
      <p:sp>
        <p:nvSpPr>
          <p:cNvPr id="6" name="Text 4"/>
          <p:cNvSpPr/>
          <p:nvPr/>
        </p:nvSpPr>
        <p:spPr>
          <a:xfrm>
            <a:off x="990600" y="2296170"/>
            <a:ext cx="4970780" cy="13055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POST</a:t>
            </a:r>
            <a:r>
              <a:rPr lang="en-US" sz="1200" dirty="0">
                <a:solidFill>
                  <a:srgbClr val="E6EAF0"/>
                </a:solidFill>
                <a:latin typeface="JetBrains Mono" pitchFamily="34" charset="0"/>
                <a:ea typeface="JetBrains Mono" pitchFamily="34" charset="-122"/>
                <a:cs typeface="JetBrains Mono" pitchFamily="34" charset="-120"/>
              </a:rPr>
              <a:t> /api/cart/items HTTP/1.1</a:t>
            </a:r>
            <a:endParaRPr lang="en-US" sz="1200" dirty="0"/>
          </a:p>
          <a:p>
            <a:pPr marL="0" indent="0" algn="l">
              <a:lnSpc>
                <a:spcPts val="1680"/>
              </a:lnSpc>
              <a:buNone/>
            </a:pPr>
            <a:r>
              <a:rPr lang="en-US" sz="1200" dirty="0">
                <a:solidFill>
                  <a:srgbClr val="9CC7F0"/>
                </a:solidFill>
                <a:latin typeface="JetBrains Mono" pitchFamily="34" charset="0"/>
                <a:ea typeface="JetBrains Mono" pitchFamily="34" charset="-122"/>
                <a:cs typeface="JetBrains Mono" pitchFamily="34" charset="-120"/>
              </a:rPr>
              <a:t>Host:</a:t>
            </a:r>
            <a:r>
              <a:rPr lang="en-US" sz="1200" dirty="0">
                <a:solidFill>
                  <a:srgbClr val="E6EAF0"/>
                </a:solidFill>
                <a:latin typeface="JetBrains Mono" pitchFamily="34" charset="0"/>
                <a:ea typeface="JetBrains Mono" pitchFamily="34" charset="-122"/>
                <a:cs typeface="JetBrains Mono" pitchFamily="34" charset="-120"/>
              </a:rPr>
              <a:t> staging.canteen.example</a:t>
            </a:r>
            <a:endParaRPr lang="en-US" sz="1200" dirty="0"/>
          </a:p>
          <a:p>
            <a:pPr marL="0" indent="0" algn="l">
              <a:lnSpc>
                <a:spcPts val="1680"/>
              </a:lnSpc>
              <a:buNone/>
            </a:pPr>
            <a:r>
              <a:rPr lang="en-US" sz="1200" dirty="0">
                <a:solidFill>
                  <a:srgbClr val="9CC7F0"/>
                </a:solidFill>
                <a:latin typeface="JetBrains Mono" pitchFamily="34" charset="0"/>
                <a:ea typeface="JetBrains Mono" pitchFamily="34" charset="-122"/>
                <a:cs typeface="JetBrains Mono" pitchFamily="34" charset="-120"/>
              </a:rPr>
              <a:t>Authorization:</a:t>
            </a:r>
            <a:r>
              <a:rPr lang="en-US" sz="1200" dirty="0">
                <a:solidFill>
                  <a:srgbClr val="E6EAF0"/>
                </a:solidFill>
                <a:latin typeface="JetBrains Mono" pitchFamily="34" charset="0"/>
                <a:ea typeface="JetBrains Mono" pitchFamily="34" charset="-122"/>
                <a:cs typeface="JetBrains Mono" pitchFamily="34" charset="-120"/>
              </a:rPr>
              <a:t> Bearer test-token</a:t>
            </a:r>
            <a:endParaRPr lang="en-US" sz="1200" dirty="0"/>
          </a:p>
          <a:p>
            <a:pPr marL="0" indent="0" algn="l">
              <a:lnSpc>
                <a:spcPts val="1680"/>
              </a:lnSpc>
              <a:buNone/>
            </a:pPr>
            <a:r>
              <a:rPr lang="en-US" sz="1200" dirty="0">
                <a:solidFill>
                  <a:srgbClr val="9CC7F0"/>
                </a:solidFill>
                <a:latin typeface="JetBrains Mono" pitchFamily="34" charset="0"/>
                <a:ea typeface="JetBrains Mono" pitchFamily="34" charset="-122"/>
                <a:cs typeface="JetBrains Mono" pitchFamily="34" charset="-120"/>
              </a:rPr>
              <a:t>Content-Type:</a:t>
            </a:r>
            <a:r>
              <a:rPr lang="en-US" sz="1200" dirty="0">
                <a:solidFill>
                  <a:srgbClr val="E6EAF0"/>
                </a:solidFill>
                <a:latin typeface="JetBrains Mono" pitchFamily="34" charset="0"/>
                <a:ea typeface="JetBrains Mono" pitchFamily="34" charset="-122"/>
                <a:cs typeface="JetBrains Mono" pitchFamily="34" charset="-120"/>
              </a:rPr>
              <a:t> application/json</a:t>
            </a:r>
            <a:endParaRPr lang="en-US" sz="1200" dirty="0"/>
          </a:p>
          <a:p>
            <a:pPr marL="0" indent="0" algn="l">
              <a:lnSpc>
                <a:spcPts val="1680"/>
              </a:lnSpc>
              <a:buNone/>
            </a:pP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{"item_id": 1, "qty": 2}</a:t>
            </a:r>
            <a:endParaRPr lang="en-US" sz="1200" dirty="0"/>
          </a:p>
        </p:txBody>
      </p:sp>
      <p:sp>
        <p:nvSpPr>
          <p:cNvPr id="7" name="Text 5"/>
          <p:cNvSpPr/>
          <p:nvPr/>
        </p:nvSpPr>
        <p:spPr>
          <a:xfrm>
            <a:off x="812800" y="388114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1</a:t>
            </a:r>
            <a:r>
              <a:rPr lang="en-US" sz="1200" dirty="0">
                <a:solidFill>
                  <a:srgbClr val="13233A"/>
                </a:solidFill>
                <a:latin typeface="IBM Plex Sans" pitchFamily="34" charset="0"/>
                <a:ea typeface="IBM Plex Sans" pitchFamily="34" charset="-122"/>
                <a:cs typeface="IBM Plex Sans" pitchFamily="34" charset="-120"/>
              </a:rPr>
              <a:t> · Method, path and HTTP version</a:t>
            </a:r>
            <a:endParaRPr lang="en-US" sz="1200" dirty="0"/>
          </a:p>
        </p:txBody>
      </p:sp>
      <p:sp>
        <p:nvSpPr>
          <p:cNvPr id="8" name="Text 6"/>
          <p:cNvSpPr/>
          <p:nvPr/>
        </p:nvSpPr>
        <p:spPr>
          <a:xfrm>
            <a:off x="812800" y="411991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2</a:t>
            </a:r>
            <a:r>
              <a:rPr lang="en-US" sz="1200" dirty="0">
                <a:solidFill>
                  <a:srgbClr val="13233A"/>
                </a:solidFill>
                <a:latin typeface="IBM Plex Sans" pitchFamily="34" charset="0"/>
                <a:ea typeface="IBM Plex Sans" pitchFamily="34" charset="-122"/>
                <a:cs typeface="IBM Plex Sans" pitchFamily="34" charset="-120"/>
              </a:rPr>
              <a:t> · Headers: host, auth token, body type</a:t>
            </a:r>
            <a:endParaRPr lang="en-US" sz="1200" dirty="0"/>
          </a:p>
        </p:txBody>
      </p:sp>
      <p:sp>
        <p:nvSpPr>
          <p:cNvPr id="9" name="Text 7"/>
          <p:cNvSpPr/>
          <p:nvPr/>
        </p:nvSpPr>
        <p:spPr>
          <a:xfrm>
            <a:off x="812800" y="435863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3</a:t>
            </a:r>
            <a:r>
              <a:rPr lang="en-US" sz="1200" dirty="0">
                <a:solidFill>
                  <a:srgbClr val="13233A"/>
                </a:solidFill>
                <a:latin typeface="IBM Plex Sans" pitchFamily="34" charset="0"/>
                <a:ea typeface="IBM Plex Sans" pitchFamily="34" charset="-122"/>
                <a:cs typeface="IBM Plex Sans" pitchFamily="34" charset="-120"/>
              </a:rPr>
              <a:t> · Body: the data, as JSON</a:t>
            </a:r>
            <a:endParaRPr lang="en-US" sz="1200" dirty="0"/>
          </a:p>
        </p:txBody>
      </p:sp>
      <p:sp>
        <p:nvSpPr>
          <p:cNvPr id="10" name="Text 8"/>
          <p:cNvSpPr/>
          <p:nvPr/>
        </p:nvSpPr>
        <p:spPr>
          <a:xfrm>
            <a:off x="6197600" y="182880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RESPONSE · WHAT THE SERVER RETURNS</a:t>
            </a:r>
            <a:endParaRPr lang="en-US" sz="1200" dirty="0"/>
          </a:p>
        </p:txBody>
      </p:sp>
      <p:sp>
        <p:nvSpPr>
          <p:cNvPr id="11" name="Shape 9"/>
          <p:cNvSpPr/>
          <p:nvPr/>
        </p:nvSpPr>
        <p:spPr>
          <a:xfrm>
            <a:off x="6197600" y="2118370"/>
            <a:ext cx="5181600" cy="1635760"/>
          </a:xfrm>
          <a:prstGeom prst="roundRect">
            <a:avLst>
              <a:gd name="adj" fmla="val 4658"/>
            </a:avLst>
          </a:prstGeom>
          <a:solidFill>
            <a:srgbClr val="13233A"/>
          </a:solidFill>
          <a:ln/>
        </p:spPr>
        <p:txBody>
          <a:bodyPr/>
          <a:lstStyle/>
          <a:p>
            <a:endParaRPr lang="en-IN"/>
          </a:p>
        </p:txBody>
      </p:sp>
      <p:sp>
        <p:nvSpPr>
          <p:cNvPr id="12" name="Text 10"/>
          <p:cNvSpPr/>
          <p:nvPr/>
        </p:nvSpPr>
        <p:spPr>
          <a:xfrm>
            <a:off x="6375400" y="2296170"/>
            <a:ext cx="4970780" cy="13055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HTTP/1.1 </a:t>
            </a:r>
            <a:r>
              <a:rPr lang="en-US" sz="1200" dirty="0">
                <a:solidFill>
                  <a:srgbClr val="F2A36B"/>
                </a:solidFill>
                <a:latin typeface="JetBrains Mono" pitchFamily="34" charset="0"/>
                <a:ea typeface="JetBrains Mono" pitchFamily="34" charset="-122"/>
                <a:cs typeface="JetBrains Mono" pitchFamily="34" charset="-120"/>
              </a:rPr>
              <a:t>201 Created</a:t>
            </a:r>
            <a:endParaRPr lang="en-US" sz="1200" dirty="0"/>
          </a:p>
          <a:p>
            <a:pPr marL="0" indent="0" algn="l">
              <a:lnSpc>
                <a:spcPts val="1680"/>
              </a:lnSpc>
              <a:buNone/>
            </a:pPr>
            <a:r>
              <a:rPr lang="en-US" sz="1200" dirty="0">
                <a:solidFill>
                  <a:srgbClr val="9CC7F0"/>
                </a:solidFill>
                <a:latin typeface="JetBrains Mono" pitchFamily="34" charset="0"/>
                <a:ea typeface="JetBrains Mono" pitchFamily="34" charset="-122"/>
                <a:cs typeface="JetBrains Mono" pitchFamily="34" charset="-120"/>
              </a:rPr>
              <a:t>Content-Type:</a:t>
            </a:r>
            <a:r>
              <a:rPr lang="en-US" sz="1200" dirty="0">
                <a:solidFill>
                  <a:srgbClr val="E6EAF0"/>
                </a:solidFill>
                <a:latin typeface="JetBrains Mono" pitchFamily="34" charset="0"/>
                <a:ea typeface="JetBrains Mono" pitchFamily="34" charset="-122"/>
                <a:cs typeface="JetBrains Mono" pitchFamily="34" charset="-120"/>
              </a:rPr>
              <a:t> application/json</a:t>
            </a:r>
            <a:endParaRPr lang="en-US" sz="1200" dirty="0"/>
          </a:p>
          <a:p>
            <a:pPr marL="0" indent="0" algn="l">
              <a:lnSpc>
                <a:spcPts val="1680"/>
              </a:lnSpc>
              <a:buNone/>
            </a:pP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{"item_id": 1, "qty": 2, "line_total": 120}</a:t>
            </a:r>
            <a:endParaRPr lang="en-US" sz="1200" dirty="0"/>
          </a:p>
          <a:p>
            <a:pPr marL="0" indent="0" algn="l">
              <a:lnSpc>
                <a:spcPts val="1680"/>
              </a:lnSpc>
              <a:buNone/>
            </a:pPr>
            <a:endParaRPr lang="en-US" sz="1200" dirty="0"/>
          </a:p>
          <a:p>
            <a:pPr marL="0" indent="0" algn="l">
              <a:lnSpc>
                <a:spcPts val="1680"/>
              </a:lnSpc>
              <a:buNone/>
            </a:pPr>
            <a:endParaRPr lang="en-US" sz="1200" dirty="0"/>
          </a:p>
          <a:p>
            <a:pPr marL="0" indent="0" algn="l">
              <a:lnSpc>
                <a:spcPts val="1680"/>
              </a:lnSpc>
              <a:buNone/>
            </a:pPr>
            <a:endParaRPr lang="en-US" sz="1200" dirty="0"/>
          </a:p>
        </p:txBody>
      </p:sp>
      <p:sp>
        <p:nvSpPr>
          <p:cNvPr id="13" name="Text 11"/>
          <p:cNvSpPr/>
          <p:nvPr/>
        </p:nvSpPr>
        <p:spPr>
          <a:xfrm>
            <a:off x="6197600" y="388114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1</a:t>
            </a:r>
            <a:r>
              <a:rPr lang="en-US" sz="1200" dirty="0">
                <a:solidFill>
                  <a:srgbClr val="13233A"/>
                </a:solidFill>
                <a:latin typeface="IBM Plex Sans" pitchFamily="34" charset="0"/>
                <a:ea typeface="IBM Plex Sans" pitchFamily="34" charset="-122"/>
                <a:cs typeface="IBM Plex Sans" pitchFamily="34" charset="-120"/>
              </a:rPr>
              <a:t> · Status line: version, code and reason</a:t>
            </a:r>
            <a:endParaRPr lang="en-US" sz="1200" dirty="0"/>
          </a:p>
        </p:txBody>
      </p:sp>
      <p:sp>
        <p:nvSpPr>
          <p:cNvPr id="14" name="Text 12"/>
          <p:cNvSpPr/>
          <p:nvPr/>
        </p:nvSpPr>
        <p:spPr>
          <a:xfrm>
            <a:off x="6197600" y="411991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2</a:t>
            </a:r>
            <a:r>
              <a:rPr lang="en-US" sz="1200" dirty="0">
                <a:solidFill>
                  <a:srgbClr val="13233A"/>
                </a:solidFill>
                <a:latin typeface="IBM Plex Sans" pitchFamily="34" charset="0"/>
                <a:ea typeface="IBM Plex Sans" pitchFamily="34" charset="-122"/>
                <a:cs typeface="IBM Plex Sans" pitchFamily="34" charset="-120"/>
              </a:rPr>
              <a:t> · Headers: what kind of body follows</a:t>
            </a:r>
            <a:endParaRPr lang="en-US" sz="1200" dirty="0"/>
          </a:p>
        </p:txBody>
      </p:sp>
      <p:sp>
        <p:nvSpPr>
          <p:cNvPr id="15" name="Text 13"/>
          <p:cNvSpPr/>
          <p:nvPr/>
        </p:nvSpPr>
        <p:spPr>
          <a:xfrm>
            <a:off x="6197600" y="435863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3</a:t>
            </a:r>
            <a:r>
              <a:rPr lang="en-US" sz="1200" dirty="0">
                <a:solidFill>
                  <a:srgbClr val="13233A"/>
                </a:solidFill>
                <a:latin typeface="IBM Plex Sans" pitchFamily="34" charset="0"/>
                <a:ea typeface="IBM Plex Sans" pitchFamily="34" charset="-122"/>
                <a:cs typeface="IBM Plex Sans" pitchFamily="34" charset="-120"/>
              </a:rPr>
              <a:t> · Body: the created item and its total</a:t>
            </a:r>
            <a:endParaRPr lang="en-US" sz="1200" dirty="0"/>
          </a:p>
        </p:txBody>
      </p:sp>
      <p:sp>
        <p:nvSpPr>
          <p:cNvPr id="16" name="Text 14"/>
          <p:cNvSpPr/>
          <p:nvPr/>
        </p:nvSpPr>
        <p:spPr>
          <a:xfrm>
            <a:off x="812800" y="48260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An API test asserts on all three parts of the response: the status code, the headers and the body.</a:t>
            </a:r>
            <a:endParaRPr lang="en-US" sz="1400" dirty="0"/>
          </a:p>
        </p:txBody>
      </p:sp>
      <p:sp>
        <p:nvSpPr>
          <p:cNvPr id="17" name="Text 15"/>
          <p:cNvSpPr/>
          <p:nvPr/>
        </p:nvSpPr>
        <p:spPr>
          <a:xfrm>
            <a:off x="812800" y="6238230"/>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8" name="Text 16"/>
          <p:cNvSpPr/>
          <p:nvPr/>
        </p:nvSpPr>
        <p:spPr>
          <a:xfrm>
            <a:off x="8615680" y="6238230"/>
            <a:ext cx="28464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Line total 120 = 2 × ₹60 for Masala Dosa</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L7 · API TESTING · WHAT TO VERIFY</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What to verify in an API test</a:t>
            </a:r>
            <a:endParaRPr lang="en-US" sz="3200" dirty="0"/>
          </a:p>
        </p:txBody>
      </p:sp>
      <p:sp>
        <p:nvSpPr>
          <p:cNvPr id="4" name="Shape 2"/>
          <p:cNvSpPr/>
          <p:nvPr/>
        </p:nvSpPr>
        <p:spPr>
          <a:xfrm>
            <a:off x="815975" y="1831975"/>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5" name="Text 3"/>
          <p:cNvSpPr/>
          <p:nvPr/>
        </p:nvSpPr>
        <p:spPr>
          <a:xfrm>
            <a:off x="995680" y="1986310"/>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Status code</a:t>
            </a:r>
            <a:endParaRPr lang="en-US" sz="1400" dirty="0"/>
          </a:p>
        </p:txBody>
      </p:sp>
      <p:sp>
        <p:nvSpPr>
          <p:cNvPr id="6" name="Text 4"/>
          <p:cNvSpPr/>
          <p:nvPr/>
        </p:nvSpPr>
        <p:spPr>
          <a:xfrm>
            <a:off x="995680" y="226824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201 for a new cart item; 401 without a token</a:t>
            </a:r>
            <a:endParaRPr lang="en-US" sz="1200" dirty="0"/>
          </a:p>
        </p:txBody>
      </p:sp>
      <p:sp>
        <p:nvSpPr>
          <p:cNvPr id="7" name="Shape 5"/>
          <p:cNvSpPr/>
          <p:nvPr/>
        </p:nvSpPr>
        <p:spPr>
          <a:xfrm>
            <a:off x="3495675" y="1831975"/>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8" name="Text 6"/>
          <p:cNvSpPr/>
          <p:nvPr/>
        </p:nvSpPr>
        <p:spPr>
          <a:xfrm>
            <a:off x="3675380" y="1986310"/>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Response body</a:t>
            </a:r>
            <a:endParaRPr lang="en-US" sz="1400" dirty="0"/>
          </a:p>
        </p:txBody>
      </p:sp>
      <p:sp>
        <p:nvSpPr>
          <p:cNvPr id="9" name="Text 7"/>
          <p:cNvSpPr/>
          <p:nvPr/>
        </p:nvSpPr>
        <p:spPr>
          <a:xfrm>
            <a:off x="3675380" y="226824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line_total is 120 for two items at ₹60</a:t>
            </a:r>
            <a:endParaRPr lang="en-US" sz="1200" dirty="0"/>
          </a:p>
        </p:txBody>
      </p:sp>
      <p:sp>
        <p:nvSpPr>
          <p:cNvPr id="10" name="Shape 8"/>
          <p:cNvSpPr/>
          <p:nvPr/>
        </p:nvSpPr>
        <p:spPr>
          <a:xfrm>
            <a:off x="6175375" y="1831975"/>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6355080" y="1986310"/>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Schema and contract</a:t>
            </a:r>
            <a:endParaRPr lang="en-US" sz="1400" dirty="0"/>
          </a:p>
        </p:txBody>
      </p:sp>
      <p:sp>
        <p:nvSpPr>
          <p:cNvPr id="12" name="Text 10"/>
          <p:cNvSpPr/>
          <p:nvPr/>
        </p:nvSpPr>
        <p:spPr>
          <a:xfrm>
            <a:off x="6355080" y="226824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Fields and types match the API spec, e.g. OpenAPI</a:t>
            </a:r>
            <a:endParaRPr lang="en-US" sz="1200" dirty="0"/>
          </a:p>
        </p:txBody>
      </p:sp>
      <p:sp>
        <p:nvSpPr>
          <p:cNvPr id="13" name="Shape 11"/>
          <p:cNvSpPr/>
          <p:nvPr/>
        </p:nvSpPr>
        <p:spPr>
          <a:xfrm>
            <a:off x="8855075" y="1831975"/>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9034780" y="1986310"/>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Headers</a:t>
            </a:r>
            <a:endParaRPr lang="en-US" sz="1400" dirty="0"/>
          </a:p>
        </p:txBody>
      </p:sp>
      <p:sp>
        <p:nvSpPr>
          <p:cNvPr id="15" name="Text 13"/>
          <p:cNvSpPr/>
          <p:nvPr/>
        </p:nvSpPr>
        <p:spPr>
          <a:xfrm>
            <a:off x="9034780" y="226824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Content-Type is application/json</a:t>
            </a:r>
            <a:endParaRPr lang="en-US" sz="1200" dirty="0"/>
          </a:p>
        </p:txBody>
      </p:sp>
      <p:sp>
        <p:nvSpPr>
          <p:cNvPr id="16" name="Shape 14"/>
          <p:cNvSpPr/>
          <p:nvPr/>
        </p:nvSpPr>
        <p:spPr>
          <a:xfrm>
            <a:off x="815975" y="3008015"/>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17" name="Text 15"/>
          <p:cNvSpPr/>
          <p:nvPr/>
        </p:nvSpPr>
        <p:spPr>
          <a:xfrm>
            <a:off x="995680" y="3162300"/>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Error handling</a:t>
            </a:r>
            <a:endParaRPr lang="en-US" sz="1400" dirty="0"/>
          </a:p>
        </p:txBody>
      </p:sp>
      <p:sp>
        <p:nvSpPr>
          <p:cNvPr id="18" name="Text 16"/>
          <p:cNvSpPr/>
          <p:nvPr/>
        </p:nvSpPr>
        <p:spPr>
          <a:xfrm>
            <a:off x="995680" y="344423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Bad input gets a clear 4xx error, never a 500</a:t>
            </a:r>
            <a:endParaRPr lang="en-US" sz="1200" dirty="0"/>
          </a:p>
        </p:txBody>
      </p:sp>
      <p:sp>
        <p:nvSpPr>
          <p:cNvPr id="19" name="Shape 17"/>
          <p:cNvSpPr/>
          <p:nvPr/>
        </p:nvSpPr>
        <p:spPr>
          <a:xfrm>
            <a:off x="3495675" y="3008015"/>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20" name="Text 18"/>
          <p:cNvSpPr/>
          <p:nvPr/>
        </p:nvSpPr>
        <p:spPr>
          <a:xfrm>
            <a:off x="3675380" y="3162300"/>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Auth and access</a:t>
            </a:r>
            <a:endParaRPr lang="en-US" sz="1400" dirty="0"/>
          </a:p>
        </p:txBody>
      </p:sp>
      <p:sp>
        <p:nvSpPr>
          <p:cNvPr id="21" name="Text 19"/>
          <p:cNvSpPr/>
          <p:nvPr/>
        </p:nvSpPr>
        <p:spPr>
          <a:xfrm>
            <a:off x="3675380" y="344423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Student A cannot read student B's orders</a:t>
            </a:r>
            <a:endParaRPr lang="en-US" sz="1200" dirty="0"/>
          </a:p>
        </p:txBody>
      </p:sp>
      <p:sp>
        <p:nvSpPr>
          <p:cNvPr id="22" name="Shape 20"/>
          <p:cNvSpPr/>
          <p:nvPr/>
        </p:nvSpPr>
        <p:spPr>
          <a:xfrm>
            <a:off x="6175375" y="3008015"/>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23" name="Text 21"/>
          <p:cNvSpPr/>
          <p:nvPr/>
        </p:nvSpPr>
        <p:spPr>
          <a:xfrm>
            <a:off x="6355080" y="3162300"/>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Response time</a:t>
            </a:r>
            <a:endParaRPr lang="en-US" sz="1400" dirty="0"/>
          </a:p>
        </p:txBody>
      </p:sp>
      <p:sp>
        <p:nvSpPr>
          <p:cNvPr id="24" name="Text 22"/>
          <p:cNvSpPr/>
          <p:nvPr/>
        </p:nvSpPr>
        <p:spPr>
          <a:xfrm>
            <a:off x="6355080" y="344423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menu API answers within its time budget</a:t>
            </a:r>
            <a:endParaRPr lang="en-US" sz="1200" dirty="0"/>
          </a:p>
        </p:txBody>
      </p:sp>
      <p:sp>
        <p:nvSpPr>
          <p:cNvPr id="25" name="Shape 23"/>
          <p:cNvSpPr/>
          <p:nvPr/>
        </p:nvSpPr>
        <p:spPr>
          <a:xfrm>
            <a:off x="8855075" y="3008015"/>
            <a:ext cx="2520950" cy="1017270"/>
          </a:xfrm>
          <a:prstGeom prst="roundRect">
            <a:avLst>
              <a:gd name="adj" fmla="val 7179"/>
            </a:avLst>
          </a:prstGeom>
          <a:solidFill>
            <a:srgbClr val="FCFBF7"/>
          </a:solidFill>
          <a:ln w="6350">
            <a:solidFill>
              <a:srgbClr val="DDD8CC"/>
            </a:solidFill>
            <a:prstDash val="solid"/>
          </a:ln>
        </p:spPr>
        <p:txBody>
          <a:bodyPr/>
          <a:lstStyle/>
          <a:p>
            <a:endParaRPr lang="en-IN"/>
          </a:p>
        </p:txBody>
      </p:sp>
      <p:sp>
        <p:nvSpPr>
          <p:cNvPr id="26" name="Text 24"/>
          <p:cNvSpPr/>
          <p:nvPr/>
        </p:nvSpPr>
        <p:spPr>
          <a:xfrm>
            <a:off x="9034780" y="3162300"/>
            <a:ext cx="222638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Side effects</a:t>
            </a:r>
            <a:endParaRPr lang="en-US" sz="1400" dirty="0"/>
          </a:p>
        </p:txBody>
      </p:sp>
      <p:sp>
        <p:nvSpPr>
          <p:cNvPr id="27" name="Text 25"/>
          <p:cNvSpPr/>
          <p:nvPr/>
        </p:nvSpPr>
        <p:spPr>
          <a:xfrm>
            <a:off x="9034780" y="3444230"/>
            <a:ext cx="222638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After the POST, GET /api/cart shows the item</a:t>
            </a:r>
            <a:endParaRPr lang="en-US" sz="1200" dirty="0"/>
          </a:p>
        </p:txBody>
      </p:sp>
      <p:sp>
        <p:nvSpPr>
          <p:cNvPr id="28" name="Text 26"/>
          <p:cNvSpPr/>
          <p:nvPr/>
        </p:nvSpPr>
        <p:spPr>
          <a:xfrm>
            <a:off x="812800" y="428243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Check the status first, then the body: a 200 with the wrong data is still a failure.</a:t>
            </a:r>
            <a:endParaRPr lang="en-US" sz="1400" dirty="0"/>
          </a:p>
        </p:txBody>
      </p:sp>
      <p:sp>
        <p:nvSpPr>
          <p:cNvPr id="29" name="Text 27"/>
          <p:cNvSpPr/>
          <p:nvPr/>
        </p:nvSpPr>
        <p:spPr>
          <a:xfrm>
            <a:off x="812800" y="6238230"/>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30" name="Text 28"/>
          <p:cNvSpPr/>
          <p:nvPr/>
        </p:nvSpPr>
        <p:spPr>
          <a:xfrm>
            <a:off x="5738098" y="6238230"/>
            <a:ext cx="581033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Schema checks: Postman jsonSchema assertions or the Python jsonschema library</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L7 · API TESTING · WHAT TO VERIFY</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Positive and negative cases for one endpoint</a:t>
            </a:r>
            <a:endParaRPr lang="en-US" sz="3200" dirty="0"/>
          </a:p>
        </p:txBody>
      </p:sp>
      <p:sp>
        <p:nvSpPr>
          <p:cNvPr id="4" name="Text 2"/>
          <p:cNvSpPr/>
          <p:nvPr/>
        </p:nvSpPr>
        <p:spPr>
          <a:xfrm>
            <a:off x="812800" y="1828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POST /api/cart/items</a:t>
            </a:r>
            <a:endParaRPr lang="en-US" sz="1200" dirty="0"/>
          </a:p>
        </p:txBody>
      </p:sp>
      <p:sp>
        <p:nvSpPr>
          <p:cNvPr id="5" name="Shape 3"/>
          <p:cNvSpPr/>
          <p:nvPr/>
        </p:nvSpPr>
        <p:spPr>
          <a:xfrm>
            <a:off x="11376025" y="2118370"/>
            <a:ext cx="0" cy="2700020"/>
          </a:xfrm>
          <a:prstGeom prst="line">
            <a:avLst/>
          </a:prstGeom>
          <a:noFill/>
          <a:ln w="6350">
            <a:solidFill>
              <a:srgbClr val="DDD8CC"/>
            </a:solidFill>
            <a:prstDash val="solid"/>
          </a:ln>
        </p:spPr>
        <p:txBody>
          <a:bodyPr/>
          <a:lstStyle/>
          <a:p>
            <a:endParaRPr lang="en-IN"/>
          </a:p>
        </p:txBody>
      </p:sp>
      <p:sp>
        <p:nvSpPr>
          <p:cNvPr id="6" name="Shape 4"/>
          <p:cNvSpPr/>
          <p:nvPr/>
        </p:nvSpPr>
        <p:spPr>
          <a:xfrm>
            <a:off x="812800" y="4815215"/>
            <a:ext cx="10566400" cy="0"/>
          </a:xfrm>
          <a:prstGeom prst="line">
            <a:avLst/>
          </a:prstGeom>
          <a:noFill/>
          <a:ln w="6350">
            <a:solidFill>
              <a:srgbClr val="DDD8CC"/>
            </a:solidFill>
            <a:prstDash val="solid"/>
          </a:ln>
        </p:spPr>
        <p:txBody>
          <a:bodyPr/>
          <a:lstStyle/>
          <a:p>
            <a:endParaRPr lang="en-IN"/>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128530"/>
          <a:ext cx="10551160" cy="2684780"/>
        </p:xfrm>
        <a:graphic>
          <a:graphicData uri="http://schemas.openxmlformats.org/drawingml/2006/table">
            <a:tbl>
              <a:tblPr/>
              <a:tblGrid>
                <a:gridCol w="1477162">
                  <a:extLst>
                    <a:ext uri="{9D8B030D-6E8A-4147-A177-3AD203B41FA5}">
                      <a16:colId xmlns:a16="http://schemas.microsoft.com/office/drawing/2014/main" val="20000"/>
                    </a:ext>
                  </a:extLst>
                </a:gridCol>
                <a:gridCol w="2743302">
                  <a:extLst>
                    <a:ext uri="{9D8B030D-6E8A-4147-A177-3AD203B41FA5}">
                      <a16:colId xmlns:a16="http://schemas.microsoft.com/office/drawing/2014/main" val="20001"/>
                    </a:ext>
                  </a:extLst>
                </a:gridCol>
                <a:gridCol w="2954325">
                  <a:extLst>
                    <a:ext uri="{9D8B030D-6E8A-4147-A177-3AD203B41FA5}">
                      <a16:colId xmlns:a16="http://schemas.microsoft.com/office/drawing/2014/main" val="20002"/>
                    </a:ext>
                  </a:extLst>
                </a:gridCol>
                <a:gridCol w="3376371">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Type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Case</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Request</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Expected</a:t>
                      </a:r>
                      <a:endParaRPr lang="en-US" sz="1400" dirty="0">
                        <a:latin typeface="IBM Plex Sans" charset="0"/>
                        <a:ea typeface="IBM Plex Sans" charset="0"/>
                        <a:cs typeface="IBM Plex Sans" charset="0"/>
                      </a:endParaRPr>
                    </a:p>
                  </a:txBody>
                  <a:tcPr marL="62230" marR="62230" marT="62230" marB="6223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245A9C"/>
                          </a:solidFill>
                          <a:latin typeface="IBM Plex Sans" pitchFamily="34" charset="0"/>
                          <a:ea typeface="IBM Plex Sans" pitchFamily="34" charset="-122"/>
                          <a:cs typeface="IBM Plex Sans" pitchFamily="34" charset="-120"/>
                        </a:rPr>
                        <a:t>Positive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0B9C2"/>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B0B9C2"/>
                      </a:solidFill>
                      <a:prstDash val="solid"/>
                      <a:round/>
                      <a:headEnd type="none" w="med" len="med"/>
                      <a:tailEnd type="none" w="med" len="med"/>
                    </a:lnB>
                    <a:solidFill>
                      <a:srgbClr val="DCE7F3"/>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Valid item and quantity</a:t>
                      </a:r>
                      <a:endParaRPr lang="en-US" sz="1400" dirty="0">
                        <a:latin typeface="IBM Plex Sans" charset="0"/>
                        <a:ea typeface="IBM Plex Sans" charset="0"/>
                        <a:cs typeface="IBM Plex Sans" charset="0"/>
                      </a:endParaRPr>
                    </a:p>
                  </a:txBody>
                  <a:tcPr marL="62230" marR="62230" marT="62230" marB="62230">
                    <a:lnL w="12700" cap="flat" cmpd="sng" algn="ctr">
                      <a:solidFill>
                        <a:srgbClr val="B0B9C2"/>
                      </a:solidFill>
                      <a:prstDash val="solid"/>
                      <a:round/>
                      <a:headEnd type="none" w="med" len="med"/>
                      <a:tailEnd type="none" w="med" len="med"/>
                    </a:lnL>
                    <a:lnR w="12700" cap="flat" cmpd="sng" algn="ctr">
                      <a:solidFill>
                        <a:srgbClr val="B0B9C2"/>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B0B9C2"/>
                      </a:solidFill>
                      <a:prstDash val="solid"/>
                      <a:round/>
                      <a:headEnd type="none" w="med" len="med"/>
                      <a:tailEnd type="none" w="med" len="med"/>
                    </a:lnB>
                    <a:solidFill>
                      <a:srgbClr val="DCE7F3"/>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item 1, qty 2, valid token</a:t>
                      </a:r>
                      <a:endParaRPr lang="en-US" sz="1400" dirty="0">
                        <a:latin typeface="IBM Plex Sans" charset="0"/>
                        <a:ea typeface="IBM Plex Sans" charset="0"/>
                        <a:cs typeface="IBM Plex Sans" charset="0"/>
                      </a:endParaRPr>
                    </a:p>
                  </a:txBody>
                  <a:tcPr marL="62230" marR="62230" marT="62230" marB="62230">
                    <a:lnL w="12700" cap="flat" cmpd="sng" algn="ctr">
                      <a:solidFill>
                        <a:srgbClr val="B0B9C2"/>
                      </a:solidFill>
                      <a:prstDash val="solid"/>
                      <a:round/>
                      <a:headEnd type="none" w="med" len="med"/>
                      <a:tailEnd type="none" w="med" len="med"/>
                    </a:lnL>
                    <a:lnR w="12700" cap="flat" cmpd="sng" algn="ctr">
                      <a:solidFill>
                        <a:srgbClr val="B0B9C2"/>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B0B9C2"/>
                      </a:solidFill>
                      <a:prstDash val="solid"/>
                      <a:round/>
                      <a:headEnd type="none" w="med" len="med"/>
                      <a:tailEnd type="none" w="med" len="med"/>
                    </a:lnB>
                    <a:solidFill>
                      <a:srgbClr val="DCE7F3"/>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201 Created, line_total 120</a:t>
                      </a:r>
                      <a:endParaRPr lang="en-US" sz="1400" dirty="0">
                        <a:latin typeface="IBM Plex Sans" charset="0"/>
                        <a:ea typeface="IBM Plex Sans" charset="0"/>
                        <a:cs typeface="IBM Plex Sans" charset="0"/>
                      </a:endParaRPr>
                    </a:p>
                  </a:txBody>
                  <a:tcPr marL="62230" marR="62230" marT="62230" marB="62230">
                    <a:lnL w="12700" cap="flat" cmpd="sng" algn="ctr">
                      <a:solidFill>
                        <a:srgbClr val="B0B9C2"/>
                      </a:solidFill>
                      <a:prstDash val="solid"/>
                      <a:round/>
                      <a:headEnd type="none" w="med" len="med"/>
                      <a:tailEnd type="none" w="med" len="med"/>
                    </a:lnL>
                    <a:lnR w="12700" cap="flat" cmpd="sng" algn="ctr">
                      <a:solidFill>
                        <a:srgbClr val="B0B9C2"/>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B0B9C2"/>
                      </a:solidFill>
                      <a:prstDash val="solid"/>
                      <a:round/>
                      <a:headEnd type="none" w="med" len="med"/>
                      <a:tailEnd type="none" w="med" len="med"/>
                    </a:lnB>
                    <a:solidFill>
                      <a:srgbClr val="DCE7F3"/>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A9481A"/>
                          </a:solidFill>
                          <a:latin typeface="IBM Plex Sans" pitchFamily="34" charset="0"/>
                          <a:ea typeface="IBM Plex Sans" pitchFamily="34" charset="-122"/>
                          <a:cs typeface="IBM Plex Sans" pitchFamily="34" charset="-120"/>
                        </a:rPr>
                        <a:t>Negative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0B9C2"/>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Quantity below range</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0B9C2"/>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qty 0</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0B9C2"/>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422, “qty must be 1-10”</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0B9C2"/>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A9481A"/>
                          </a:solidFill>
                          <a:latin typeface="IBM Plex Sans" pitchFamily="34" charset="0"/>
                          <a:ea typeface="IBM Plex Sans" pitchFamily="34" charset="-122"/>
                          <a:cs typeface="IBM Plex Sans" pitchFamily="34" charset="-120"/>
                        </a:rPr>
                        <a:t>Negative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Quantity above range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qty 11</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422, “qty must be 1-10”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A9481A"/>
                          </a:solidFill>
                          <a:latin typeface="IBM Plex Sans" pitchFamily="34" charset="0"/>
                          <a:ea typeface="IBM Plex Sans" pitchFamily="34" charset="-122"/>
                          <a:cs typeface="IBM Plex Sans" pitchFamily="34" charset="-120"/>
                        </a:rPr>
                        <a:t>Negative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Unknown item</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item_id 999</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404 Not Found</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A9481A"/>
                          </a:solidFill>
                          <a:latin typeface="IBM Plex Sans" pitchFamily="34" charset="0"/>
                          <a:ea typeface="IBM Plex Sans" pitchFamily="34" charset="-122"/>
                          <a:cs typeface="IBM Plex Sans" pitchFamily="34" charset="-120"/>
                        </a:rPr>
                        <a:t>Negative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Missing token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no Authorization header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401 Unauthorized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A9481A"/>
                          </a:solidFill>
                          <a:latin typeface="IBM Plex Sans" pitchFamily="34" charset="0"/>
                          <a:ea typeface="IBM Plex Sans" pitchFamily="34" charset="-122"/>
                          <a:cs typeface="IBM Plex Sans" pitchFamily="34" charset="-120"/>
                        </a:rPr>
                        <a:t>Negative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13233A"/>
                          </a:solidFill>
                          <a:latin typeface="IBM Plex Sans" pitchFamily="34" charset="0"/>
                          <a:ea typeface="IBM Plex Sans" pitchFamily="34" charset="-122"/>
                          <a:cs typeface="IBM Plex Sans" pitchFamily="34" charset="-120"/>
                        </a:rPr>
                        <a:t>Malformed JSON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body: {qty:</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960"/>
                        </a:lnSpc>
                        <a:buNone/>
                      </a:pPr>
                      <a:r>
                        <a:rPr lang="en-US" sz="1400" dirty="0">
                          <a:solidFill>
                            <a:srgbClr val="44505F"/>
                          </a:solidFill>
                          <a:latin typeface="IBM Plex Sans" pitchFamily="34" charset="0"/>
                          <a:ea typeface="IBM Plex Sans" pitchFamily="34" charset="-122"/>
                          <a:cs typeface="IBM Plex Sans" pitchFamily="34" charset="-120"/>
                        </a:rPr>
                        <a:t>400 Bad Request</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6"/>
                  </a:ext>
                </a:extLst>
              </a:tr>
            </a:tbl>
          </a:graphicData>
        </a:graphic>
      </p:graphicFrame>
      <p:sp>
        <p:nvSpPr>
          <p:cNvPr id="8" name="Text 5"/>
          <p:cNvSpPr/>
          <p:nvPr/>
        </p:nvSpPr>
        <p:spPr>
          <a:xfrm>
            <a:off x="812800" y="507241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One positive case, five negative ones: many API bugs hide in the error paths.</a:t>
            </a:r>
            <a:endParaRPr lang="en-US" sz="1400" dirty="0"/>
          </a:p>
        </p:txBody>
      </p:sp>
      <p:sp>
        <p:nvSpPr>
          <p:cNvPr id="9" name="Text 6"/>
          <p:cNvSpPr/>
          <p:nvPr/>
        </p:nvSpPr>
        <p:spPr>
          <a:xfrm>
            <a:off x="812800" y="6238230"/>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0" name="Text 7"/>
          <p:cNvSpPr/>
          <p:nvPr/>
        </p:nvSpPr>
        <p:spPr>
          <a:xfrm>
            <a:off x="7507922" y="6238230"/>
            <a:ext cx="3987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Quantity limits reuse the boundary values from Module 2</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L7 · API TESTING · PYTEST AND POSTMAN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An API test in pytest</a:t>
            </a:r>
            <a:endParaRPr lang="en-US" sz="3200" dirty="0"/>
          </a:p>
        </p:txBody>
      </p:sp>
      <p:sp>
        <p:nvSpPr>
          <p:cNvPr id="4" name="Shape 2"/>
          <p:cNvSpPr/>
          <p:nvPr/>
        </p:nvSpPr>
        <p:spPr>
          <a:xfrm>
            <a:off x="812800" y="1831975"/>
            <a:ext cx="3403600" cy="0"/>
          </a:xfrm>
          <a:prstGeom prst="line">
            <a:avLst/>
          </a:prstGeom>
          <a:noFill/>
          <a:ln w="6350">
            <a:solidFill>
              <a:srgbClr val="DDD8CC"/>
            </a:solidFill>
            <a:prstDash val="solid"/>
          </a:ln>
        </p:spPr>
        <p:txBody>
          <a:bodyPr/>
          <a:lstStyle/>
          <a:p>
            <a:endParaRPr lang="en-IN"/>
          </a:p>
        </p:txBody>
      </p:sp>
      <p:sp>
        <p:nvSpPr>
          <p:cNvPr id="5" name="Text 3"/>
          <p:cNvSpPr/>
          <p:nvPr/>
        </p:nvSpPr>
        <p:spPr>
          <a:xfrm>
            <a:off x="812800" y="1922780"/>
            <a:ext cx="350570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requests sends real HTTP calls to the running service.</a:t>
            </a:r>
            <a:endParaRPr lang="en-US" sz="1400" dirty="0"/>
          </a:p>
        </p:txBody>
      </p:sp>
      <p:sp>
        <p:nvSpPr>
          <p:cNvPr id="6" name="Shape 4"/>
          <p:cNvSpPr/>
          <p:nvPr/>
        </p:nvSpPr>
        <p:spPr>
          <a:xfrm>
            <a:off x="812800" y="2525415"/>
            <a:ext cx="3403600" cy="0"/>
          </a:xfrm>
          <a:prstGeom prst="line">
            <a:avLst/>
          </a:prstGeom>
          <a:noFill/>
          <a:ln w="6350">
            <a:solidFill>
              <a:srgbClr val="DDD8CC"/>
            </a:solidFill>
            <a:prstDash val="solid"/>
          </a:ln>
        </p:spPr>
        <p:txBody>
          <a:bodyPr/>
          <a:lstStyle/>
          <a:p>
            <a:endParaRPr lang="en-IN"/>
          </a:p>
        </p:txBody>
      </p:sp>
      <p:sp>
        <p:nvSpPr>
          <p:cNvPr id="7" name="Text 5"/>
          <p:cNvSpPr/>
          <p:nvPr/>
        </p:nvSpPr>
        <p:spPr>
          <a:xfrm>
            <a:off x="812800" y="2616220"/>
            <a:ext cx="350570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Assert on the status code first, then on the body.</a:t>
            </a:r>
            <a:endParaRPr lang="en-US" sz="1400" dirty="0"/>
          </a:p>
        </p:txBody>
      </p:sp>
      <p:sp>
        <p:nvSpPr>
          <p:cNvPr id="8" name="Shape 6"/>
          <p:cNvSpPr/>
          <p:nvPr/>
        </p:nvSpPr>
        <p:spPr>
          <a:xfrm>
            <a:off x="812800" y="3218805"/>
            <a:ext cx="3403600" cy="0"/>
          </a:xfrm>
          <a:prstGeom prst="line">
            <a:avLst/>
          </a:prstGeom>
          <a:noFill/>
          <a:ln w="6350">
            <a:solidFill>
              <a:srgbClr val="DDD8CC"/>
            </a:solidFill>
            <a:prstDash val="solid"/>
          </a:ln>
        </p:spPr>
        <p:txBody>
          <a:bodyPr/>
          <a:lstStyle/>
          <a:p>
            <a:endParaRPr lang="en-IN"/>
          </a:p>
        </p:txBody>
      </p:sp>
      <p:sp>
        <p:nvSpPr>
          <p:cNvPr id="9" name="Text 7"/>
          <p:cNvSpPr/>
          <p:nvPr/>
        </p:nvSpPr>
        <p:spPr>
          <a:xfrm>
            <a:off x="812800" y="3309610"/>
            <a:ext cx="350570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Keep the base URL, token and test data in one place.</a:t>
            </a:r>
            <a:endParaRPr lang="en-US" sz="1400" dirty="0"/>
          </a:p>
        </p:txBody>
      </p:sp>
      <p:sp>
        <p:nvSpPr>
          <p:cNvPr id="10" name="Text 8"/>
          <p:cNvSpPr/>
          <p:nvPr/>
        </p:nvSpPr>
        <p:spPr>
          <a:xfrm>
            <a:off x="812800" y="3959870"/>
            <a:ext cx="350570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 pytest -q tests/test_cart_api.py</a:t>
            </a:r>
            <a:endParaRPr lang="en-US" sz="1200" dirty="0"/>
          </a:p>
          <a:p>
            <a:pPr marL="0" indent="0" algn="l">
              <a:lnSpc>
                <a:spcPts val="1680"/>
              </a:lnSpc>
              <a:buNone/>
            </a:pPr>
            <a:r>
              <a:rPr lang="en-US" sz="1200" dirty="0">
                <a:solidFill>
                  <a:srgbClr val="13233A"/>
                </a:solidFill>
                <a:latin typeface="JetBrains Mono" pitchFamily="34" charset="0"/>
                <a:ea typeface="JetBrains Mono" pitchFamily="34" charset="-122"/>
                <a:cs typeface="JetBrains Mono" pitchFamily="34" charset="-120"/>
              </a:rPr>
              <a:t>2 passed</a:t>
            </a:r>
            <a:endParaRPr lang="en-US" sz="1200" dirty="0"/>
          </a:p>
        </p:txBody>
      </p:sp>
      <p:sp>
        <p:nvSpPr>
          <p:cNvPr id="11" name="Text 9"/>
          <p:cNvSpPr/>
          <p:nvPr/>
        </p:nvSpPr>
        <p:spPr>
          <a:xfrm>
            <a:off x="4521200" y="1828800"/>
            <a:ext cx="70637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tests/test_cart_api.py</a:t>
            </a:r>
            <a:endParaRPr lang="en-US" sz="1200" dirty="0"/>
          </a:p>
        </p:txBody>
      </p:sp>
      <p:sp>
        <p:nvSpPr>
          <p:cNvPr id="12" name="Shape 10"/>
          <p:cNvSpPr/>
          <p:nvPr/>
        </p:nvSpPr>
        <p:spPr>
          <a:xfrm>
            <a:off x="4521200" y="2118370"/>
            <a:ext cx="6858000" cy="3342640"/>
          </a:xfrm>
          <a:prstGeom prst="roundRect">
            <a:avLst>
              <a:gd name="adj" fmla="val 2280"/>
            </a:avLst>
          </a:prstGeom>
          <a:solidFill>
            <a:srgbClr val="13233A"/>
          </a:solidFill>
          <a:ln/>
        </p:spPr>
        <p:txBody>
          <a:bodyPr/>
          <a:lstStyle/>
          <a:p>
            <a:endParaRPr lang="en-IN"/>
          </a:p>
        </p:txBody>
      </p:sp>
      <p:sp>
        <p:nvSpPr>
          <p:cNvPr id="13" name="Text 11"/>
          <p:cNvSpPr/>
          <p:nvPr/>
        </p:nvSpPr>
        <p:spPr>
          <a:xfrm>
            <a:off x="4699000" y="2296170"/>
            <a:ext cx="6697472" cy="301244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import</a:t>
            </a:r>
            <a:r>
              <a:rPr lang="en-US" sz="1200" dirty="0">
                <a:solidFill>
                  <a:srgbClr val="E6EAF0"/>
                </a:solidFill>
                <a:latin typeface="JetBrains Mono" pitchFamily="34" charset="0"/>
                <a:ea typeface="JetBrains Mono" pitchFamily="34" charset="-122"/>
                <a:cs typeface="JetBrains Mono" pitchFamily="34" charset="-120"/>
              </a:rPr>
              <a:t> requests</a:t>
            </a:r>
            <a:endParaRPr lang="en-US" sz="1200" dirty="0"/>
          </a:p>
          <a:p>
            <a:pPr marL="0" indent="0" algn="l">
              <a:lnSpc>
                <a:spcPts val="1680"/>
              </a:lnSpc>
              <a:buNone/>
            </a:pP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BASE = </a:t>
            </a:r>
            <a:r>
              <a:rPr lang="en-US" sz="1200" dirty="0">
                <a:solidFill>
                  <a:srgbClr val="9CC7F0"/>
                </a:solidFill>
                <a:latin typeface="JetBrains Mono" pitchFamily="34" charset="0"/>
                <a:ea typeface="JetBrains Mono" pitchFamily="34" charset="-122"/>
                <a:cs typeface="JetBrains Mono" pitchFamily="34" charset="-120"/>
              </a:rPr>
              <a:t>"http://localhost:8000/api"</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TOKEN = {</a:t>
            </a:r>
            <a:r>
              <a:rPr lang="en-US" sz="1200" dirty="0">
                <a:solidFill>
                  <a:srgbClr val="9CC7F0"/>
                </a:solidFill>
                <a:latin typeface="JetBrains Mono" pitchFamily="34" charset="0"/>
                <a:ea typeface="JetBrains Mono" pitchFamily="34" charset="-122"/>
                <a:cs typeface="JetBrains Mono" pitchFamily="34" charset="-120"/>
              </a:rPr>
              <a:t>"Authorization"</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"Bearer test-token"</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ITEM = {</a:t>
            </a:r>
            <a:r>
              <a:rPr lang="en-US" sz="1200" dirty="0">
                <a:solidFill>
                  <a:srgbClr val="9CC7F0"/>
                </a:solidFill>
                <a:latin typeface="JetBrains Mono" pitchFamily="34" charset="0"/>
                <a:ea typeface="JetBrains Mono" pitchFamily="34" charset="-122"/>
                <a:cs typeface="JetBrains Mono" pitchFamily="34" charset="-120"/>
              </a:rPr>
              <a:t>"item_id"</a:t>
            </a:r>
            <a:r>
              <a:rPr lang="en-US" sz="1200" dirty="0">
                <a:solidFill>
                  <a:srgbClr val="E6EAF0"/>
                </a:solidFill>
                <a:latin typeface="JetBrains Mono" pitchFamily="34" charset="0"/>
                <a:ea typeface="JetBrains Mono" pitchFamily="34" charset="-122"/>
                <a:cs typeface="JetBrains Mono" pitchFamily="34" charset="-120"/>
              </a:rPr>
              <a:t>: 1, </a:t>
            </a:r>
            <a:r>
              <a:rPr lang="en-US" sz="1200" dirty="0">
                <a:solidFill>
                  <a:srgbClr val="9CC7F0"/>
                </a:solidFill>
                <a:latin typeface="JetBrains Mono" pitchFamily="34" charset="0"/>
                <a:ea typeface="JetBrains Mono" pitchFamily="34" charset="-122"/>
                <a:cs typeface="JetBrains Mono" pitchFamily="34" charset="-120"/>
              </a:rPr>
              <a:t>"qty"</a:t>
            </a:r>
            <a:r>
              <a:rPr lang="en-US" sz="1200" dirty="0">
                <a:solidFill>
                  <a:srgbClr val="E6EAF0"/>
                </a:solidFill>
                <a:latin typeface="JetBrains Mono" pitchFamily="34" charset="0"/>
                <a:ea typeface="JetBrains Mono" pitchFamily="34" charset="-122"/>
                <a:cs typeface="JetBrains Mono" pitchFamily="34" charset="-120"/>
              </a:rPr>
              <a:t>: 2}</a:t>
            </a:r>
            <a:endParaRPr lang="en-US" sz="1200" dirty="0"/>
          </a:p>
          <a:p>
            <a:pPr marL="0" indent="0" algn="l">
              <a:lnSpc>
                <a:spcPts val="1680"/>
              </a:lnSpc>
              <a:buNone/>
            </a:pPr>
            <a:endParaRPr lang="en-US" sz="1200" dirty="0"/>
          </a:p>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test_add_item_returns_201_and_line_total():</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r = requests.post(f</a:t>
            </a:r>
            <a:r>
              <a:rPr lang="en-US" sz="1200" dirty="0">
                <a:solidFill>
                  <a:srgbClr val="9CC7F0"/>
                </a:solidFill>
                <a:latin typeface="JetBrains Mono" pitchFamily="34" charset="0"/>
                <a:ea typeface="JetBrains Mono" pitchFamily="34" charset="-122"/>
                <a:cs typeface="JetBrains Mono" pitchFamily="34" charset="-120"/>
              </a:rPr>
              <a:t>"{BASE}/cart/items"</a:t>
            </a:r>
            <a:r>
              <a:rPr lang="en-US" sz="1200" dirty="0">
                <a:solidFill>
                  <a:srgbClr val="E6EAF0"/>
                </a:solidFill>
                <a:latin typeface="JetBrains Mono" pitchFamily="34" charset="0"/>
                <a:ea typeface="JetBrains Mono" pitchFamily="34" charset="-122"/>
                <a:cs typeface="JetBrains Mono" pitchFamily="34" charset="-120"/>
              </a:rPr>
              <a:t>, json=ITEM, headers=TOKEN)</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r.status_code == 201</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r.json()[</a:t>
            </a:r>
            <a:r>
              <a:rPr lang="en-US" sz="1200" dirty="0">
                <a:solidFill>
                  <a:srgbClr val="9CC7F0"/>
                </a:solidFill>
                <a:latin typeface="JetBrains Mono" pitchFamily="34" charset="0"/>
                <a:ea typeface="JetBrains Mono" pitchFamily="34" charset="-122"/>
                <a:cs typeface="JetBrains Mono" pitchFamily="34" charset="-120"/>
              </a:rPr>
              <a:t>"line_total"</a:t>
            </a:r>
            <a:r>
              <a:rPr lang="en-US" sz="1200" dirty="0">
                <a:solidFill>
                  <a:srgbClr val="E6EAF0"/>
                </a:solidFill>
                <a:latin typeface="JetBrains Mono" pitchFamily="34" charset="0"/>
                <a:ea typeface="JetBrains Mono" pitchFamily="34" charset="-122"/>
                <a:cs typeface="JetBrains Mono" pitchFamily="34" charset="-120"/>
              </a:rPr>
              <a:t>] == 120</a:t>
            </a:r>
            <a:endParaRPr lang="en-US" sz="1200" dirty="0"/>
          </a:p>
          <a:p>
            <a:pPr marL="0" indent="0" algn="l">
              <a:lnSpc>
                <a:spcPts val="1680"/>
              </a:lnSpc>
              <a:buNone/>
            </a:pPr>
            <a:endParaRPr lang="en-US" sz="1200" dirty="0"/>
          </a:p>
          <a:p>
            <a:pPr marL="0" indent="0" algn="l">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test_add_item_without_token_returns_401():</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r = requests.post(f</a:t>
            </a:r>
            <a:r>
              <a:rPr lang="en-US" sz="1200" dirty="0">
                <a:solidFill>
                  <a:srgbClr val="9CC7F0"/>
                </a:solidFill>
                <a:latin typeface="JetBrains Mono" pitchFamily="34" charset="0"/>
                <a:ea typeface="JetBrains Mono" pitchFamily="34" charset="-122"/>
                <a:cs typeface="JetBrains Mono" pitchFamily="34" charset="-120"/>
              </a:rPr>
              <a:t>"{BASE}/cart/items"</a:t>
            </a:r>
            <a:r>
              <a:rPr lang="en-US" sz="1200" dirty="0">
                <a:solidFill>
                  <a:srgbClr val="E6EAF0"/>
                </a:solidFill>
                <a:latin typeface="JetBrains Mono" pitchFamily="34" charset="0"/>
                <a:ea typeface="JetBrains Mono" pitchFamily="34" charset="-122"/>
                <a:cs typeface="JetBrains Mono" pitchFamily="34" charset="-120"/>
              </a:rPr>
              <a:t>, json=ITEM)</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r.status_code == 401</a:t>
            </a:r>
            <a:endParaRPr lang="en-US" sz="1200" dirty="0"/>
          </a:p>
        </p:txBody>
      </p:sp>
      <p:sp>
        <p:nvSpPr>
          <p:cNvPr id="14" name="Text 12"/>
          <p:cNvSpPr/>
          <p:nvPr/>
        </p:nvSpPr>
        <p:spPr>
          <a:xfrm>
            <a:off x="812800" y="6238230"/>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5" name="Text 13"/>
          <p:cNvSpPr/>
          <p:nvPr/>
        </p:nvSpPr>
        <p:spPr>
          <a:xfrm>
            <a:off x="7863284" y="6238230"/>
            <a:ext cx="36213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Run against a local test instance of the Canteen API</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L7 · API TESTING · PYTEST AND POSTMAN</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Postman and Newman</a:t>
            </a:r>
            <a:endParaRPr lang="en-US" sz="3200" dirty="0"/>
          </a:p>
        </p:txBody>
      </p:sp>
      <p:sp>
        <p:nvSpPr>
          <p:cNvPr id="4" name="Shape 2"/>
          <p:cNvSpPr/>
          <p:nvPr/>
        </p:nvSpPr>
        <p:spPr>
          <a:xfrm>
            <a:off x="812800" y="1831975"/>
            <a:ext cx="4826000" cy="0"/>
          </a:xfrm>
          <a:prstGeom prst="line">
            <a:avLst/>
          </a:prstGeom>
          <a:noFill/>
          <a:ln w="6350">
            <a:solidFill>
              <a:srgbClr val="DDD8CC"/>
            </a:solidFill>
            <a:prstDash val="solid"/>
          </a:ln>
        </p:spPr>
        <p:txBody>
          <a:bodyPr/>
          <a:lstStyle/>
          <a:p>
            <a:endParaRPr lang="en-IN"/>
          </a:p>
        </p:txBody>
      </p:sp>
      <p:sp>
        <p:nvSpPr>
          <p:cNvPr id="5" name="Text 3"/>
          <p:cNvSpPr/>
          <p:nvPr/>
        </p:nvSpPr>
        <p:spPr>
          <a:xfrm>
            <a:off x="812800" y="1922810"/>
            <a:ext cx="497078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Collection</a:t>
            </a:r>
            <a:endParaRPr lang="en-US" sz="1400" dirty="0"/>
          </a:p>
        </p:txBody>
      </p:sp>
      <p:sp>
        <p:nvSpPr>
          <p:cNvPr id="6" name="Text 4"/>
          <p:cNvSpPr/>
          <p:nvPr/>
        </p:nvSpPr>
        <p:spPr>
          <a:xfrm>
            <a:off x="812800" y="2179340"/>
            <a:ext cx="4970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A saved, ordered set of API requests</a:t>
            </a:r>
            <a:endParaRPr lang="en-US" sz="1200" dirty="0"/>
          </a:p>
        </p:txBody>
      </p:sp>
      <p:sp>
        <p:nvSpPr>
          <p:cNvPr id="7" name="Shape 5"/>
          <p:cNvSpPr/>
          <p:nvPr/>
        </p:nvSpPr>
        <p:spPr>
          <a:xfrm>
            <a:off x="812800" y="2484785"/>
            <a:ext cx="4826000" cy="0"/>
          </a:xfrm>
          <a:prstGeom prst="line">
            <a:avLst/>
          </a:prstGeom>
          <a:noFill/>
          <a:ln w="6350">
            <a:solidFill>
              <a:srgbClr val="DDD8CC"/>
            </a:solidFill>
            <a:prstDash val="solid"/>
          </a:ln>
        </p:spPr>
        <p:txBody>
          <a:bodyPr/>
          <a:lstStyle/>
          <a:p>
            <a:endParaRPr lang="en-IN"/>
          </a:p>
        </p:txBody>
      </p:sp>
      <p:sp>
        <p:nvSpPr>
          <p:cNvPr id="8" name="Text 6"/>
          <p:cNvSpPr/>
          <p:nvPr/>
        </p:nvSpPr>
        <p:spPr>
          <a:xfrm>
            <a:off x="812800" y="2575570"/>
            <a:ext cx="497078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Environment</a:t>
            </a:r>
            <a:endParaRPr lang="en-US" sz="1400" dirty="0"/>
          </a:p>
        </p:txBody>
      </p:sp>
      <p:sp>
        <p:nvSpPr>
          <p:cNvPr id="9" name="Text 7"/>
          <p:cNvSpPr/>
          <p:nvPr/>
        </p:nvSpPr>
        <p:spPr>
          <a:xfrm>
            <a:off x="812800" y="2832100"/>
            <a:ext cx="4970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Variables per stage, such as baseUrl for local or staging</a:t>
            </a:r>
            <a:endParaRPr lang="en-US" sz="1200" dirty="0"/>
          </a:p>
        </p:txBody>
      </p:sp>
      <p:sp>
        <p:nvSpPr>
          <p:cNvPr id="10" name="Shape 8"/>
          <p:cNvSpPr/>
          <p:nvPr/>
        </p:nvSpPr>
        <p:spPr>
          <a:xfrm>
            <a:off x="812800" y="3137545"/>
            <a:ext cx="4826000" cy="0"/>
          </a:xfrm>
          <a:prstGeom prst="line">
            <a:avLst/>
          </a:prstGeom>
          <a:noFill/>
          <a:ln w="6350">
            <a:solidFill>
              <a:srgbClr val="DDD8CC"/>
            </a:solidFill>
            <a:prstDash val="solid"/>
          </a:ln>
        </p:spPr>
        <p:txBody>
          <a:bodyPr/>
          <a:lstStyle/>
          <a:p>
            <a:endParaRPr lang="en-IN"/>
          </a:p>
        </p:txBody>
      </p:sp>
      <p:sp>
        <p:nvSpPr>
          <p:cNvPr id="11" name="Text 9"/>
          <p:cNvSpPr/>
          <p:nvPr/>
        </p:nvSpPr>
        <p:spPr>
          <a:xfrm>
            <a:off x="812800" y="3228330"/>
            <a:ext cx="497078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Pre-request script</a:t>
            </a:r>
            <a:endParaRPr lang="en-US" sz="1400" dirty="0"/>
          </a:p>
        </p:txBody>
      </p:sp>
      <p:sp>
        <p:nvSpPr>
          <p:cNvPr id="12" name="Text 10"/>
          <p:cNvSpPr/>
          <p:nvPr/>
        </p:nvSpPr>
        <p:spPr>
          <a:xfrm>
            <a:off x="812800" y="3484910"/>
            <a:ext cx="4970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JavaScript run before a request, e.g. to fetch a token</a:t>
            </a:r>
            <a:endParaRPr lang="en-US" sz="1200" dirty="0"/>
          </a:p>
        </p:txBody>
      </p:sp>
      <p:sp>
        <p:nvSpPr>
          <p:cNvPr id="13" name="Shape 11"/>
          <p:cNvSpPr/>
          <p:nvPr/>
        </p:nvSpPr>
        <p:spPr>
          <a:xfrm>
            <a:off x="812800" y="3790305"/>
            <a:ext cx="4826000" cy="0"/>
          </a:xfrm>
          <a:prstGeom prst="line">
            <a:avLst/>
          </a:prstGeom>
          <a:noFill/>
          <a:ln w="6350">
            <a:solidFill>
              <a:srgbClr val="DDD8CC"/>
            </a:solidFill>
            <a:prstDash val="solid"/>
          </a:ln>
        </p:spPr>
        <p:txBody>
          <a:bodyPr/>
          <a:lstStyle/>
          <a:p>
            <a:endParaRPr lang="en-IN"/>
          </a:p>
        </p:txBody>
      </p:sp>
      <p:sp>
        <p:nvSpPr>
          <p:cNvPr id="14" name="Text 12"/>
          <p:cNvSpPr/>
          <p:nvPr/>
        </p:nvSpPr>
        <p:spPr>
          <a:xfrm>
            <a:off x="812800" y="3881140"/>
            <a:ext cx="497078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Tests</a:t>
            </a:r>
            <a:endParaRPr lang="en-US" sz="1400" dirty="0"/>
          </a:p>
        </p:txBody>
      </p:sp>
      <p:sp>
        <p:nvSpPr>
          <p:cNvPr id="15" name="Text 13"/>
          <p:cNvSpPr/>
          <p:nvPr/>
        </p:nvSpPr>
        <p:spPr>
          <a:xfrm>
            <a:off x="812800" y="4137670"/>
            <a:ext cx="4970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JavaScript assertions run on every response</a:t>
            </a:r>
            <a:endParaRPr lang="en-US" sz="1200" dirty="0"/>
          </a:p>
        </p:txBody>
      </p:sp>
      <p:sp>
        <p:nvSpPr>
          <p:cNvPr id="16" name="Shape 14"/>
          <p:cNvSpPr/>
          <p:nvPr/>
        </p:nvSpPr>
        <p:spPr>
          <a:xfrm>
            <a:off x="812800" y="4443115"/>
            <a:ext cx="4826000" cy="0"/>
          </a:xfrm>
          <a:prstGeom prst="line">
            <a:avLst/>
          </a:prstGeom>
          <a:noFill/>
          <a:ln w="6350">
            <a:solidFill>
              <a:srgbClr val="DDD8CC"/>
            </a:solidFill>
            <a:prstDash val="solid"/>
          </a:ln>
        </p:spPr>
        <p:txBody>
          <a:bodyPr/>
          <a:lstStyle/>
          <a:p>
            <a:endParaRPr lang="en-IN"/>
          </a:p>
        </p:txBody>
      </p:sp>
      <p:sp>
        <p:nvSpPr>
          <p:cNvPr id="17" name="Shape 15"/>
          <p:cNvSpPr/>
          <p:nvPr/>
        </p:nvSpPr>
        <p:spPr>
          <a:xfrm>
            <a:off x="812800" y="5094625"/>
            <a:ext cx="4826000" cy="0"/>
          </a:xfrm>
          <a:prstGeom prst="line">
            <a:avLst/>
          </a:prstGeom>
          <a:noFill/>
          <a:ln w="6350">
            <a:solidFill>
              <a:srgbClr val="DDD8CC"/>
            </a:solidFill>
            <a:prstDash val="solid"/>
          </a:ln>
        </p:spPr>
        <p:txBody>
          <a:bodyPr/>
          <a:lstStyle/>
          <a:p>
            <a:endParaRPr lang="en-IN"/>
          </a:p>
        </p:txBody>
      </p:sp>
      <p:sp>
        <p:nvSpPr>
          <p:cNvPr id="18" name="Text 16"/>
          <p:cNvSpPr/>
          <p:nvPr/>
        </p:nvSpPr>
        <p:spPr>
          <a:xfrm>
            <a:off x="812800" y="4533900"/>
            <a:ext cx="497078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Newman</a:t>
            </a:r>
            <a:endParaRPr lang="en-US" sz="1400" dirty="0"/>
          </a:p>
        </p:txBody>
      </p:sp>
      <p:sp>
        <p:nvSpPr>
          <p:cNvPr id="19" name="Text 17"/>
          <p:cNvSpPr/>
          <p:nvPr/>
        </p:nvSpPr>
        <p:spPr>
          <a:xfrm>
            <a:off x="812800" y="4790430"/>
            <a:ext cx="4970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Runs a collection from the command line, so Jenkins can run it</a:t>
            </a:r>
            <a:endParaRPr lang="en-US" sz="1200" dirty="0"/>
          </a:p>
        </p:txBody>
      </p:sp>
      <p:sp>
        <p:nvSpPr>
          <p:cNvPr id="20" name="Text 18"/>
          <p:cNvSpPr/>
          <p:nvPr/>
        </p:nvSpPr>
        <p:spPr>
          <a:xfrm>
            <a:off x="5943600" y="1828800"/>
            <a:ext cx="559866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Tests tab of the “Add to cart” request</a:t>
            </a:r>
            <a:endParaRPr lang="en-US" sz="1200" dirty="0"/>
          </a:p>
        </p:txBody>
      </p:sp>
      <p:sp>
        <p:nvSpPr>
          <p:cNvPr id="21" name="Shape 19"/>
          <p:cNvSpPr/>
          <p:nvPr/>
        </p:nvSpPr>
        <p:spPr>
          <a:xfrm>
            <a:off x="5943600" y="2118370"/>
            <a:ext cx="5435600" cy="2062480"/>
          </a:xfrm>
          <a:prstGeom prst="roundRect">
            <a:avLst>
              <a:gd name="adj" fmla="val 3695"/>
            </a:avLst>
          </a:prstGeom>
          <a:solidFill>
            <a:srgbClr val="13233A"/>
          </a:solidFill>
          <a:ln/>
        </p:spPr>
        <p:txBody>
          <a:bodyPr/>
          <a:lstStyle/>
          <a:p>
            <a:endParaRPr lang="en-IN"/>
          </a:p>
        </p:txBody>
      </p:sp>
      <p:sp>
        <p:nvSpPr>
          <p:cNvPr id="22" name="Text 20"/>
          <p:cNvSpPr/>
          <p:nvPr/>
        </p:nvSpPr>
        <p:spPr>
          <a:xfrm>
            <a:off x="6121400" y="2296170"/>
            <a:ext cx="5232400" cy="173228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pm.test(</a:t>
            </a:r>
            <a:r>
              <a:rPr lang="en-US" sz="1200" dirty="0">
                <a:solidFill>
                  <a:srgbClr val="9CC7F0"/>
                </a:solidFill>
                <a:latin typeface="JetBrains Mono" pitchFamily="34" charset="0"/>
                <a:ea typeface="JetBrains Mono" pitchFamily="34" charset="-122"/>
                <a:cs typeface="JetBrains Mono" pitchFamily="34" charset="-120"/>
              </a:rPr>
              <a:t>"status is 201"</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function</a:t>
            </a:r>
            <a:r>
              <a:rPr lang="en-US" sz="1200" dirty="0">
                <a:solidFill>
                  <a:srgbClr val="E6EAF0"/>
                </a:solidFill>
                <a:latin typeface="JetBrains Mono" pitchFamily="34" charset="0"/>
                <a:ea typeface="JetBrains Mono" pitchFamily="34" charset="-122"/>
                <a:cs typeface="JetBrains Mono" pitchFamily="34" charset="-120"/>
              </a:rPr>
              <a:t> () {</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pm.response.to.have.status(201);</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marL="0" indent="0" algn="l">
              <a:lnSpc>
                <a:spcPts val="1680"/>
              </a:lnSpc>
              <a:buNone/>
            </a:pP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pm.test(</a:t>
            </a:r>
            <a:r>
              <a:rPr lang="en-US" sz="1200" dirty="0">
                <a:solidFill>
                  <a:srgbClr val="9CC7F0"/>
                </a:solidFill>
                <a:latin typeface="JetBrains Mono" pitchFamily="34" charset="0"/>
                <a:ea typeface="JetBrains Mono" pitchFamily="34" charset="-122"/>
                <a:cs typeface="JetBrains Mono" pitchFamily="34" charset="-120"/>
              </a:rPr>
              <a:t>"line total is 120"</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function</a:t>
            </a:r>
            <a:r>
              <a:rPr lang="en-US" sz="1200" dirty="0">
                <a:solidFill>
                  <a:srgbClr val="E6EAF0"/>
                </a:solidFill>
                <a:latin typeface="JetBrains Mono" pitchFamily="34" charset="0"/>
                <a:ea typeface="JetBrains Mono" pitchFamily="34" charset="-122"/>
                <a:cs typeface="JetBrains Mono" pitchFamily="34" charset="-120"/>
              </a:rPr>
              <a:t> () {</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const</a:t>
            </a:r>
            <a:r>
              <a:rPr lang="en-US" sz="1200" dirty="0">
                <a:solidFill>
                  <a:srgbClr val="E6EAF0"/>
                </a:solidFill>
                <a:latin typeface="JetBrains Mono" pitchFamily="34" charset="0"/>
                <a:ea typeface="JetBrains Mono" pitchFamily="34" charset="-122"/>
                <a:cs typeface="JetBrains Mono" pitchFamily="34" charset="-120"/>
              </a:rPr>
              <a:t> body = pm.response.json();</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pm.expect(body.line_total).to.eql(120);</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p:txBody>
      </p:sp>
      <p:sp>
        <p:nvSpPr>
          <p:cNvPr id="23" name="Text 21"/>
          <p:cNvSpPr/>
          <p:nvPr/>
        </p:nvSpPr>
        <p:spPr>
          <a:xfrm>
            <a:off x="5943600" y="4307830"/>
            <a:ext cx="559866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In the pipeline</a:t>
            </a:r>
            <a:endParaRPr lang="en-US" sz="1200" dirty="0"/>
          </a:p>
        </p:txBody>
      </p:sp>
      <p:sp>
        <p:nvSpPr>
          <p:cNvPr id="24" name="Shape 22"/>
          <p:cNvSpPr/>
          <p:nvPr/>
        </p:nvSpPr>
        <p:spPr>
          <a:xfrm>
            <a:off x="5943600" y="4597400"/>
            <a:ext cx="5435600" cy="995680"/>
          </a:xfrm>
          <a:prstGeom prst="roundRect">
            <a:avLst>
              <a:gd name="adj" fmla="val 7653"/>
            </a:avLst>
          </a:prstGeom>
          <a:solidFill>
            <a:srgbClr val="13233A"/>
          </a:solidFill>
          <a:ln/>
        </p:spPr>
        <p:txBody>
          <a:bodyPr/>
          <a:lstStyle/>
          <a:p>
            <a:endParaRPr lang="en-IN"/>
          </a:p>
        </p:txBody>
      </p:sp>
      <p:sp>
        <p:nvSpPr>
          <p:cNvPr id="25" name="Text 23"/>
          <p:cNvSpPr/>
          <p:nvPr/>
        </p:nvSpPr>
        <p:spPr>
          <a:xfrm>
            <a:off x="6121400" y="4775200"/>
            <a:ext cx="5232400" cy="66548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newman run canteen.postman_collection.json \</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-e staging.postman_environment.json \</a:t>
            </a:r>
            <a:endParaRPr lang="en-US" sz="1200" dirty="0"/>
          </a:p>
          <a:p>
            <a:pPr marL="0" indent="0" algn="l">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--reporters cli,junit</a:t>
            </a:r>
            <a:endParaRPr lang="en-US" sz="1200" dirty="0"/>
          </a:p>
        </p:txBody>
      </p:sp>
      <p:sp>
        <p:nvSpPr>
          <p:cNvPr id="26" name="Text 24"/>
          <p:cNvSpPr/>
          <p:nvPr/>
        </p:nvSpPr>
        <p:spPr>
          <a:xfrm>
            <a:off x="812800" y="6238230"/>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7" name="Text 25"/>
          <p:cNvSpPr/>
          <p:nvPr/>
        </p:nvSpPr>
        <p:spPr>
          <a:xfrm>
            <a:off x="7582138" y="6238230"/>
            <a:ext cx="39109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Labs 9 and 11 · the JUnit report feeds Jenkins in Lab 13</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L7 · CHECK YOUR UNDERSTANDING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Knowledge check: Lecture 7</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5" name="Text 3"/>
          <p:cNvSpPr/>
          <p:nvPr/>
        </p:nvSpPr>
        <p:spPr>
          <a:xfrm>
            <a:off x="1046480" y="2062510"/>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510"/>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Which HTTP method adds an item to the cart, and which status code should a successful call return?</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8" name="Text 6"/>
          <p:cNvSpPr/>
          <p:nvPr/>
        </p:nvSpPr>
        <p:spPr>
          <a:xfrm>
            <a:off x="6431280" y="2062510"/>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510"/>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A request with qty 0 returns 500 Internal Server Error. Is that a defect? What should it return?</a:t>
            </a:r>
            <a:endParaRPr lang="en-US" sz="1400" dirty="0"/>
          </a:p>
        </p:txBody>
      </p:sp>
      <p:sp>
        <p:nvSpPr>
          <p:cNvPr id="10" name="Shape 8"/>
          <p:cNvSpPr/>
          <p:nvPr/>
        </p:nvSpPr>
        <p:spPr>
          <a:xfrm>
            <a:off x="815975" y="3381375"/>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1046480" y="3611910"/>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910"/>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Besides the status code, name four things to verify in an API response.</a:t>
            </a:r>
            <a:endParaRPr lang="en-US" sz="1400" dirty="0"/>
          </a:p>
        </p:txBody>
      </p:sp>
      <p:sp>
        <p:nvSpPr>
          <p:cNvPr id="13" name="Shape 11"/>
          <p:cNvSpPr/>
          <p:nvPr/>
        </p:nvSpPr>
        <p:spPr>
          <a:xfrm>
            <a:off x="6200775" y="3381375"/>
            <a:ext cx="5175250" cy="1339850"/>
          </a:xfrm>
          <a:prstGeom prst="roundRect">
            <a:avLst>
              <a:gd name="adj" fmla="val 5450"/>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6431280" y="3611910"/>
            <a:ext cx="48556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910"/>
            <a:ext cx="485566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Why are API tests usually faster and more stable than UI tests of the same rule?</a:t>
            </a:r>
            <a:endParaRPr lang="en-US" sz="1400" dirty="0"/>
          </a:p>
        </p:txBody>
      </p:sp>
      <p:sp>
        <p:nvSpPr>
          <p:cNvPr id="16" name="Text 14"/>
          <p:cNvSpPr/>
          <p:nvPr/>
        </p:nvSpPr>
        <p:spPr>
          <a:xfrm>
            <a:off x="812800" y="6238230"/>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7" name="Text 15"/>
          <p:cNvSpPr/>
          <p:nvPr/>
        </p:nvSpPr>
        <p:spPr>
          <a:xfrm>
            <a:off x="9372044" y="6238230"/>
            <a:ext cx="20673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MODULE 1 · SUMMARY</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Module 1 in one page</a:t>
            </a:r>
            <a:endParaRPr lang="en-US" sz="3200" dirty="0"/>
          </a:p>
        </p:txBody>
      </p:sp>
      <p:sp>
        <p:nvSpPr>
          <p:cNvPr id="4" name="Shape 2"/>
          <p:cNvSpPr/>
          <p:nvPr/>
        </p:nvSpPr>
        <p:spPr>
          <a:xfrm>
            <a:off x="815975" y="1831975"/>
            <a:ext cx="2559050" cy="1149350"/>
          </a:xfrm>
          <a:prstGeom prst="roundRect">
            <a:avLst>
              <a:gd name="adj" fmla="val 6354"/>
            </a:avLst>
          </a:prstGeom>
          <a:solidFill>
            <a:srgbClr val="FCFBF7"/>
          </a:solidFill>
          <a:ln w="6350">
            <a:solidFill>
              <a:srgbClr val="DDD8CC"/>
            </a:solidFill>
            <a:prstDash val="solid"/>
          </a:ln>
        </p:spPr>
        <p:txBody>
          <a:bodyPr/>
          <a:lstStyle/>
          <a:p>
            <a:endParaRPr lang="en-IN"/>
          </a:p>
        </p:txBody>
      </p:sp>
      <p:sp>
        <p:nvSpPr>
          <p:cNvPr id="5" name="Text 3"/>
          <p:cNvSpPr/>
          <p:nvPr/>
        </p:nvSpPr>
        <p:spPr>
          <a:xfrm>
            <a:off x="970280" y="1960910"/>
            <a:ext cx="23179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Test automation</a:t>
            </a:r>
            <a:endParaRPr lang="en-US" sz="1200" dirty="0"/>
          </a:p>
        </p:txBody>
      </p:sp>
      <p:sp>
        <p:nvSpPr>
          <p:cNvPr id="6" name="Text 4"/>
          <p:cNvSpPr/>
          <p:nvPr/>
        </p:nvSpPr>
        <p:spPr>
          <a:xfrm>
            <a:off x="970280" y="2212330"/>
            <a:ext cx="2317953"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Software runs and supports tests; people still design and judge</a:t>
            </a:r>
            <a:endParaRPr lang="en-US" sz="1200" dirty="0"/>
          </a:p>
        </p:txBody>
      </p:sp>
      <p:sp>
        <p:nvSpPr>
          <p:cNvPr id="7" name="Shape 5"/>
          <p:cNvSpPr/>
          <p:nvPr/>
        </p:nvSpPr>
        <p:spPr>
          <a:xfrm>
            <a:off x="3482975" y="1831975"/>
            <a:ext cx="2559050" cy="1149350"/>
          </a:xfrm>
          <a:prstGeom prst="roundRect">
            <a:avLst>
              <a:gd name="adj" fmla="val 6354"/>
            </a:avLst>
          </a:prstGeom>
          <a:solidFill>
            <a:srgbClr val="FCFBF7"/>
          </a:solidFill>
          <a:ln w="6350">
            <a:solidFill>
              <a:srgbClr val="DDD8CC"/>
            </a:solidFill>
            <a:prstDash val="solid"/>
          </a:ln>
        </p:spPr>
        <p:txBody>
          <a:bodyPr/>
          <a:lstStyle/>
          <a:p>
            <a:endParaRPr lang="en-IN"/>
          </a:p>
        </p:txBody>
      </p:sp>
      <p:sp>
        <p:nvSpPr>
          <p:cNvPr id="8" name="Text 6"/>
          <p:cNvSpPr/>
          <p:nvPr/>
        </p:nvSpPr>
        <p:spPr>
          <a:xfrm>
            <a:off x="3637280" y="1960910"/>
            <a:ext cx="23179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In DevOps</a:t>
            </a:r>
            <a:endParaRPr lang="en-US" sz="1200" dirty="0"/>
          </a:p>
        </p:txBody>
      </p:sp>
      <p:sp>
        <p:nvSpPr>
          <p:cNvPr id="9" name="Text 7"/>
          <p:cNvSpPr/>
          <p:nvPr/>
        </p:nvSpPr>
        <p:spPr>
          <a:xfrm>
            <a:off x="3637280" y="2212330"/>
            <a:ext cx="23179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Tests run all through the pipeline; shift left and shift right</a:t>
            </a:r>
            <a:endParaRPr lang="en-US" sz="1200" dirty="0"/>
          </a:p>
        </p:txBody>
      </p:sp>
      <p:sp>
        <p:nvSpPr>
          <p:cNvPr id="10" name="Shape 8"/>
          <p:cNvSpPr/>
          <p:nvPr/>
        </p:nvSpPr>
        <p:spPr>
          <a:xfrm>
            <a:off x="6149975" y="1831975"/>
            <a:ext cx="2559050" cy="1149350"/>
          </a:xfrm>
          <a:prstGeom prst="roundRect">
            <a:avLst>
              <a:gd name="adj" fmla="val 6354"/>
            </a:avLst>
          </a:prstGeom>
          <a:solidFill>
            <a:srgbClr val="FCFBF7"/>
          </a:solidFill>
          <a:ln w="6350">
            <a:solidFill>
              <a:srgbClr val="DDD8CC"/>
            </a:solidFill>
            <a:prstDash val="solid"/>
          </a:ln>
        </p:spPr>
        <p:txBody>
          <a:bodyPr/>
          <a:lstStyle/>
          <a:p>
            <a:endParaRPr lang="en-IN"/>
          </a:p>
        </p:txBody>
      </p:sp>
      <p:sp>
        <p:nvSpPr>
          <p:cNvPr id="11" name="Text 9"/>
          <p:cNvSpPr/>
          <p:nvPr/>
        </p:nvSpPr>
        <p:spPr>
          <a:xfrm>
            <a:off x="6304280" y="1960910"/>
            <a:ext cx="23179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Use cases</a:t>
            </a:r>
            <a:endParaRPr lang="en-US" sz="1200" dirty="0"/>
          </a:p>
        </p:txBody>
      </p:sp>
      <p:sp>
        <p:nvSpPr>
          <p:cNvPr id="12" name="Text 10"/>
          <p:cNvSpPr/>
          <p:nvPr/>
        </p:nvSpPr>
        <p:spPr>
          <a:xfrm>
            <a:off x="6304280" y="2212330"/>
            <a:ext cx="2317953"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Regression, smoke, data-driven, cross-browser, API, load, security</a:t>
            </a:r>
            <a:endParaRPr lang="en-US" sz="1200" dirty="0"/>
          </a:p>
        </p:txBody>
      </p:sp>
      <p:sp>
        <p:nvSpPr>
          <p:cNvPr id="13" name="Shape 11"/>
          <p:cNvSpPr/>
          <p:nvPr/>
        </p:nvSpPr>
        <p:spPr>
          <a:xfrm>
            <a:off x="8816975" y="1831975"/>
            <a:ext cx="2559050" cy="1149350"/>
          </a:xfrm>
          <a:prstGeom prst="roundRect">
            <a:avLst>
              <a:gd name="adj" fmla="val 6354"/>
            </a:avLst>
          </a:prstGeom>
          <a:solidFill>
            <a:srgbClr val="FCFBF7"/>
          </a:solidFill>
          <a:ln w="6350">
            <a:solidFill>
              <a:srgbClr val="DDD8CC"/>
            </a:solidFill>
            <a:prstDash val="solid"/>
          </a:ln>
        </p:spPr>
        <p:txBody>
          <a:bodyPr/>
          <a:lstStyle/>
          <a:p>
            <a:endParaRPr lang="en-IN"/>
          </a:p>
        </p:txBody>
      </p:sp>
      <p:sp>
        <p:nvSpPr>
          <p:cNvPr id="14" name="Text 12"/>
          <p:cNvSpPr/>
          <p:nvPr/>
        </p:nvSpPr>
        <p:spPr>
          <a:xfrm>
            <a:off x="8971280" y="1960910"/>
            <a:ext cx="23179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Manifesto</a:t>
            </a:r>
            <a:endParaRPr lang="en-US" sz="1200" dirty="0"/>
          </a:p>
        </p:txBody>
      </p:sp>
      <p:sp>
        <p:nvSpPr>
          <p:cNvPr id="15" name="Text 13"/>
          <p:cNvSpPr/>
          <p:nvPr/>
        </p:nvSpPr>
        <p:spPr>
          <a:xfrm>
            <a:off x="8971280" y="2212330"/>
            <a:ext cx="23179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Twelve qualities, from concise and self-checking to traceable</a:t>
            </a:r>
            <a:endParaRPr lang="en-US" sz="1200" dirty="0"/>
          </a:p>
        </p:txBody>
      </p:sp>
      <p:sp>
        <p:nvSpPr>
          <p:cNvPr id="16" name="Shape 14"/>
          <p:cNvSpPr/>
          <p:nvPr/>
        </p:nvSpPr>
        <p:spPr>
          <a:xfrm>
            <a:off x="815975" y="3089275"/>
            <a:ext cx="2559050" cy="1149350"/>
          </a:xfrm>
          <a:prstGeom prst="roundRect">
            <a:avLst>
              <a:gd name="adj" fmla="val 6354"/>
            </a:avLst>
          </a:prstGeom>
          <a:solidFill>
            <a:srgbClr val="FCFBF7"/>
          </a:solidFill>
          <a:ln w="6350">
            <a:solidFill>
              <a:srgbClr val="DDD8CC"/>
            </a:solidFill>
            <a:prstDash val="solid"/>
          </a:ln>
        </p:spPr>
        <p:txBody>
          <a:bodyPr/>
          <a:lstStyle/>
          <a:p>
            <a:endParaRPr lang="en-IN"/>
          </a:p>
        </p:txBody>
      </p:sp>
      <p:sp>
        <p:nvSpPr>
          <p:cNvPr id="17" name="Text 15"/>
          <p:cNvSpPr/>
          <p:nvPr/>
        </p:nvSpPr>
        <p:spPr>
          <a:xfrm>
            <a:off x="970280" y="3218210"/>
            <a:ext cx="23179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Principles</a:t>
            </a:r>
            <a:endParaRPr lang="en-US" sz="1200" dirty="0"/>
          </a:p>
        </p:txBody>
      </p:sp>
      <p:sp>
        <p:nvSpPr>
          <p:cNvPr id="18" name="Text 16"/>
          <p:cNvSpPr/>
          <p:nvPr/>
        </p:nvSpPr>
        <p:spPr>
          <a:xfrm>
            <a:off x="970280" y="3469630"/>
            <a:ext cx="23179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Seven principles; a green suite is not proof of quality</a:t>
            </a:r>
            <a:endParaRPr lang="en-US" sz="1200" dirty="0"/>
          </a:p>
        </p:txBody>
      </p:sp>
      <p:sp>
        <p:nvSpPr>
          <p:cNvPr id="19" name="Shape 17"/>
          <p:cNvSpPr/>
          <p:nvPr/>
        </p:nvSpPr>
        <p:spPr>
          <a:xfrm>
            <a:off x="3482975" y="3089275"/>
            <a:ext cx="2559050" cy="1149350"/>
          </a:xfrm>
          <a:prstGeom prst="roundRect">
            <a:avLst>
              <a:gd name="adj" fmla="val 6354"/>
            </a:avLst>
          </a:prstGeom>
          <a:solidFill>
            <a:srgbClr val="FCFBF7"/>
          </a:solidFill>
          <a:ln w="6350">
            <a:solidFill>
              <a:srgbClr val="DDD8CC"/>
            </a:solidFill>
            <a:prstDash val="solid"/>
          </a:ln>
        </p:spPr>
        <p:txBody>
          <a:bodyPr/>
          <a:lstStyle/>
          <a:p>
            <a:endParaRPr lang="en-IN"/>
          </a:p>
        </p:txBody>
      </p:sp>
      <p:sp>
        <p:nvSpPr>
          <p:cNvPr id="20" name="Text 18"/>
          <p:cNvSpPr/>
          <p:nvPr/>
        </p:nvSpPr>
        <p:spPr>
          <a:xfrm>
            <a:off x="3637280" y="3218210"/>
            <a:ext cx="23179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SDLC vs STLC</a:t>
            </a:r>
            <a:endParaRPr lang="en-US" sz="1200" dirty="0"/>
          </a:p>
        </p:txBody>
      </p:sp>
      <p:sp>
        <p:nvSpPr>
          <p:cNvPr id="21" name="Text 19"/>
          <p:cNvSpPr/>
          <p:nvPr/>
        </p:nvSpPr>
        <p:spPr>
          <a:xfrm>
            <a:off x="3637280" y="3469630"/>
            <a:ext cx="2317953"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Testing runs alongside development, from requirements on</a:t>
            </a:r>
            <a:endParaRPr lang="en-US" sz="1200" dirty="0"/>
          </a:p>
        </p:txBody>
      </p:sp>
      <p:sp>
        <p:nvSpPr>
          <p:cNvPr id="22" name="Shape 20"/>
          <p:cNvSpPr/>
          <p:nvPr/>
        </p:nvSpPr>
        <p:spPr>
          <a:xfrm>
            <a:off x="6149975" y="3089275"/>
            <a:ext cx="2559050" cy="1149350"/>
          </a:xfrm>
          <a:prstGeom prst="roundRect">
            <a:avLst>
              <a:gd name="adj" fmla="val 6354"/>
            </a:avLst>
          </a:prstGeom>
          <a:solidFill>
            <a:srgbClr val="FCFBF7"/>
          </a:solidFill>
          <a:ln w="6350">
            <a:solidFill>
              <a:srgbClr val="DDD8CC"/>
            </a:solidFill>
            <a:prstDash val="solid"/>
          </a:ln>
        </p:spPr>
        <p:txBody>
          <a:bodyPr/>
          <a:lstStyle/>
          <a:p>
            <a:endParaRPr lang="en-IN"/>
          </a:p>
        </p:txBody>
      </p:sp>
      <p:sp>
        <p:nvSpPr>
          <p:cNvPr id="23" name="Text 21"/>
          <p:cNvSpPr/>
          <p:nvPr/>
        </p:nvSpPr>
        <p:spPr>
          <a:xfrm>
            <a:off x="6304280" y="3218210"/>
            <a:ext cx="23179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Life cycle</a:t>
            </a:r>
            <a:endParaRPr lang="en-US" sz="1200" dirty="0"/>
          </a:p>
        </p:txBody>
      </p:sp>
      <p:sp>
        <p:nvSpPr>
          <p:cNvPr id="24" name="Text 22"/>
          <p:cNvSpPr/>
          <p:nvPr/>
        </p:nvSpPr>
        <p:spPr>
          <a:xfrm>
            <a:off x="6304280" y="3469630"/>
            <a:ext cx="2317953"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Six phases with entry and exit criteria; defects move through states</a:t>
            </a:r>
            <a:endParaRPr lang="en-US" sz="1200" dirty="0"/>
          </a:p>
        </p:txBody>
      </p:sp>
      <p:sp>
        <p:nvSpPr>
          <p:cNvPr id="25" name="Shape 23"/>
          <p:cNvSpPr/>
          <p:nvPr/>
        </p:nvSpPr>
        <p:spPr>
          <a:xfrm>
            <a:off x="8816975" y="3089275"/>
            <a:ext cx="2559050" cy="1149350"/>
          </a:xfrm>
          <a:prstGeom prst="roundRect">
            <a:avLst>
              <a:gd name="adj" fmla="val 6354"/>
            </a:avLst>
          </a:prstGeom>
          <a:solidFill>
            <a:srgbClr val="FCFBF7"/>
          </a:solidFill>
          <a:ln w="6350">
            <a:solidFill>
              <a:srgbClr val="DDD8CC"/>
            </a:solidFill>
            <a:prstDash val="solid"/>
          </a:ln>
        </p:spPr>
        <p:txBody>
          <a:bodyPr/>
          <a:lstStyle/>
          <a:p>
            <a:endParaRPr lang="en-IN"/>
          </a:p>
        </p:txBody>
      </p:sp>
      <p:sp>
        <p:nvSpPr>
          <p:cNvPr id="26" name="Text 24"/>
          <p:cNvSpPr/>
          <p:nvPr/>
        </p:nvSpPr>
        <p:spPr>
          <a:xfrm>
            <a:off x="8971280" y="3218210"/>
            <a:ext cx="23179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Usability</a:t>
            </a:r>
            <a:endParaRPr lang="en-US" sz="1200" dirty="0"/>
          </a:p>
        </p:txBody>
      </p:sp>
      <p:sp>
        <p:nvSpPr>
          <p:cNvPr id="27" name="Text 25"/>
          <p:cNvSpPr/>
          <p:nvPr/>
        </p:nvSpPr>
        <p:spPr>
          <a:xfrm>
            <a:off x="8971280" y="3469630"/>
            <a:ext cx="23179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Effectiveness, efficiency, satisfaction; watch real users</a:t>
            </a:r>
            <a:endParaRPr lang="en-US" sz="1200" dirty="0"/>
          </a:p>
        </p:txBody>
      </p:sp>
      <p:sp>
        <p:nvSpPr>
          <p:cNvPr id="28" name="Shape 26"/>
          <p:cNvSpPr/>
          <p:nvPr/>
        </p:nvSpPr>
        <p:spPr>
          <a:xfrm>
            <a:off x="815975" y="4346575"/>
            <a:ext cx="2559050" cy="935990"/>
          </a:xfrm>
          <a:prstGeom prst="roundRect">
            <a:avLst>
              <a:gd name="adj" fmla="val 7802"/>
            </a:avLst>
          </a:prstGeom>
          <a:solidFill>
            <a:srgbClr val="FCFBF7"/>
          </a:solidFill>
          <a:ln w="6350">
            <a:solidFill>
              <a:srgbClr val="DDD8CC"/>
            </a:solidFill>
            <a:prstDash val="solid"/>
          </a:ln>
        </p:spPr>
        <p:txBody>
          <a:bodyPr/>
          <a:lstStyle/>
          <a:p>
            <a:endParaRPr lang="en-IN"/>
          </a:p>
        </p:txBody>
      </p:sp>
      <p:sp>
        <p:nvSpPr>
          <p:cNvPr id="29" name="Text 27"/>
          <p:cNvSpPr/>
          <p:nvPr/>
        </p:nvSpPr>
        <p:spPr>
          <a:xfrm>
            <a:off x="970280" y="4475510"/>
            <a:ext cx="23179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Functional, NFR</a:t>
            </a:r>
            <a:endParaRPr lang="en-US" sz="1200" dirty="0"/>
          </a:p>
        </p:txBody>
      </p:sp>
      <p:sp>
        <p:nvSpPr>
          <p:cNvPr id="30" name="Text 28"/>
          <p:cNvSpPr/>
          <p:nvPr/>
        </p:nvSpPr>
        <p:spPr>
          <a:xfrm>
            <a:off x="970280" y="4726930"/>
            <a:ext cx="23179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What it does vs how well it does it; ISO/IEC 25010</a:t>
            </a:r>
            <a:endParaRPr lang="en-US" sz="1200" dirty="0"/>
          </a:p>
        </p:txBody>
      </p:sp>
      <p:sp>
        <p:nvSpPr>
          <p:cNvPr id="31" name="Shape 29"/>
          <p:cNvSpPr/>
          <p:nvPr/>
        </p:nvSpPr>
        <p:spPr>
          <a:xfrm>
            <a:off x="3482975" y="4346575"/>
            <a:ext cx="2559050" cy="935990"/>
          </a:xfrm>
          <a:prstGeom prst="roundRect">
            <a:avLst>
              <a:gd name="adj" fmla="val 7802"/>
            </a:avLst>
          </a:prstGeom>
          <a:solidFill>
            <a:srgbClr val="FCFBF7"/>
          </a:solidFill>
          <a:ln w="6350">
            <a:solidFill>
              <a:srgbClr val="DDD8CC"/>
            </a:solidFill>
            <a:prstDash val="solid"/>
          </a:ln>
        </p:spPr>
        <p:txBody>
          <a:bodyPr/>
          <a:lstStyle/>
          <a:p>
            <a:endParaRPr lang="en-IN"/>
          </a:p>
        </p:txBody>
      </p:sp>
      <p:sp>
        <p:nvSpPr>
          <p:cNvPr id="32" name="Text 30"/>
          <p:cNvSpPr/>
          <p:nvPr/>
        </p:nvSpPr>
        <p:spPr>
          <a:xfrm>
            <a:off x="3637280" y="4475510"/>
            <a:ext cx="23179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End-to-end</a:t>
            </a:r>
            <a:endParaRPr lang="en-US" sz="1200" dirty="0"/>
          </a:p>
        </p:txBody>
      </p:sp>
      <p:sp>
        <p:nvSpPr>
          <p:cNvPr id="33" name="Text 31"/>
          <p:cNvSpPr/>
          <p:nvPr/>
        </p:nvSpPr>
        <p:spPr>
          <a:xfrm>
            <a:off x="3637280" y="4726930"/>
            <a:ext cx="23179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Few critical journeys, explicit waits, own test data</a:t>
            </a:r>
            <a:endParaRPr lang="en-US" sz="1200" dirty="0"/>
          </a:p>
        </p:txBody>
      </p:sp>
      <p:sp>
        <p:nvSpPr>
          <p:cNvPr id="34" name="Shape 32"/>
          <p:cNvSpPr/>
          <p:nvPr/>
        </p:nvSpPr>
        <p:spPr>
          <a:xfrm>
            <a:off x="6149975" y="4346575"/>
            <a:ext cx="2559050" cy="935990"/>
          </a:xfrm>
          <a:prstGeom prst="roundRect">
            <a:avLst>
              <a:gd name="adj" fmla="val 7802"/>
            </a:avLst>
          </a:prstGeom>
          <a:solidFill>
            <a:srgbClr val="FCFBF7"/>
          </a:solidFill>
          <a:ln w="6350">
            <a:solidFill>
              <a:srgbClr val="DDD8CC"/>
            </a:solidFill>
            <a:prstDash val="solid"/>
          </a:ln>
        </p:spPr>
        <p:txBody>
          <a:bodyPr/>
          <a:lstStyle/>
          <a:p>
            <a:endParaRPr lang="en-IN"/>
          </a:p>
        </p:txBody>
      </p:sp>
      <p:sp>
        <p:nvSpPr>
          <p:cNvPr id="35" name="Text 33"/>
          <p:cNvSpPr/>
          <p:nvPr/>
        </p:nvSpPr>
        <p:spPr>
          <a:xfrm>
            <a:off x="6304280" y="4475510"/>
            <a:ext cx="23179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Compat and GUI</a:t>
            </a:r>
            <a:endParaRPr lang="en-US" sz="1200" dirty="0"/>
          </a:p>
        </p:txBody>
      </p:sp>
      <p:sp>
        <p:nvSpPr>
          <p:cNvPr id="36" name="Text 34"/>
          <p:cNvSpPr/>
          <p:nvPr/>
        </p:nvSpPr>
        <p:spPr>
          <a:xfrm>
            <a:off x="6304280" y="4726930"/>
            <a:ext cx="23179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Matrix by usage and risk; Grid; stable locators</a:t>
            </a:r>
            <a:endParaRPr lang="en-US" sz="1200" dirty="0"/>
          </a:p>
        </p:txBody>
      </p:sp>
      <p:sp>
        <p:nvSpPr>
          <p:cNvPr id="37" name="Shape 35"/>
          <p:cNvSpPr/>
          <p:nvPr/>
        </p:nvSpPr>
        <p:spPr>
          <a:xfrm>
            <a:off x="8816975" y="4346575"/>
            <a:ext cx="2559050" cy="935990"/>
          </a:xfrm>
          <a:prstGeom prst="roundRect">
            <a:avLst>
              <a:gd name="adj" fmla="val 7802"/>
            </a:avLst>
          </a:prstGeom>
          <a:solidFill>
            <a:srgbClr val="FCFBF7"/>
          </a:solidFill>
          <a:ln w="6350">
            <a:solidFill>
              <a:srgbClr val="DDD8CC"/>
            </a:solidFill>
            <a:prstDash val="solid"/>
          </a:ln>
        </p:spPr>
        <p:txBody>
          <a:bodyPr/>
          <a:lstStyle/>
          <a:p>
            <a:endParaRPr lang="en-IN"/>
          </a:p>
        </p:txBody>
      </p:sp>
      <p:sp>
        <p:nvSpPr>
          <p:cNvPr id="38" name="Text 36"/>
          <p:cNvSpPr/>
          <p:nvPr/>
        </p:nvSpPr>
        <p:spPr>
          <a:xfrm>
            <a:off x="8971280" y="4475510"/>
            <a:ext cx="23179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API testing</a:t>
            </a:r>
            <a:endParaRPr lang="en-US" sz="1200" dirty="0"/>
          </a:p>
        </p:txBody>
      </p:sp>
      <p:sp>
        <p:nvSpPr>
          <p:cNvPr id="39" name="Text 37"/>
          <p:cNvSpPr/>
          <p:nvPr/>
        </p:nvSpPr>
        <p:spPr>
          <a:xfrm>
            <a:off x="8971280" y="4726930"/>
            <a:ext cx="23179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Methods and status codes; verify status, body and schema</a:t>
            </a:r>
            <a:endParaRPr lang="en-US" sz="1200" dirty="0"/>
          </a:p>
        </p:txBody>
      </p:sp>
      <p:sp>
        <p:nvSpPr>
          <p:cNvPr id="40" name="Text 38"/>
          <p:cNvSpPr/>
          <p:nvPr/>
        </p:nvSpPr>
        <p:spPr>
          <a:xfrm>
            <a:off x="812800" y="6238230"/>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41" name="Text 39"/>
          <p:cNvSpPr/>
          <p:nvPr/>
        </p:nvSpPr>
        <p:spPr>
          <a:xfrm>
            <a:off x="9045734" y="6238230"/>
            <a:ext cx="24034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NFR: non-functional requirements</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MODULE 1 · LABS AND NEXT STEPS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Practise it in the lab</a:t>
            </a:r>
            <a:endParaRPr lang="en-US" sz="3200" dirty="0"/>
          </a:p>
        </p:txBody>
      </p:sp>
      <p:sp>
        <p:nvSpPr>
          <p:cNvPr id="4" name="Shape 2"/>
          <p:cNvSpPr/>
          <p:nvPr/>
        </p:nvSpPr>
        <p:spPr>
          <a:xfrm>
            <a:off x="7667625" y="1828800"/>
            <a:ext cx="0" cy="2540000"/>
          </a:xfrm>
          <a:prstGeom prst="line">
            <a:avLst/>
          </a:prstGeom>
          <a:noFill/>
          <a:ln w="6350">
            <a:solidFill>
              <a:srgbClr val="DDD8CC"/>
            </a:solidFill>
            <a:prstDash val="solid"/>
          </a:ln>
        </p:spPr>
        <p:txBody>
          <a:bodyPr/>
          <a:lstStyle/>
          <a:p>
            <a:endParaRPr lang="en-IN"/>
          </a:p>
        </p:txBody>
      </p:sp>
      <p:sp>
        <p:nvSpPr>
          <p:cNvPr id="5" name="Shape 3"/>
          <p:cNvSpPr/>
          <p:nvPr/>
        </p:nvSpPr>
        <p:spPr>
          <a:xfrm>
            <a:off x="812800" y="4365625"/>
            <a:ext cx="6858000" cy="0"/>
          </a:xfrm>
          <a:prstGeom prst="line">
            <a:avLst/>
          </a:prstGeom>
          <a:noFill/>
          <a:ln w="6350">
            <a:solidFill>
              <a:srgbClr val="DDD8CC"/>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6842760" cy="2524760"/>
        </p:xfrm>
        <a:graphic>
          <a:graphicData uri="http://schemas.openxmlformats.org/drawingml/2006/table">
            <a:tbl>
              <a:tblPr/>
              <a:tblGrid>
                <a:gridCol w="957986">
                  <a:extLst>
                    <a:ext uri="{9D8B030D-6E8A-4147-A177-3AD203B41FA5}">
                      <a16:colId xmlns:a16="http://schemas.microsoft.com/office/drawing/2014/main" val="20000"/>
                    </a:ext>
                  </a:extLst>
                </a:gridCol>
                <a:gridCol w="3284525">
                  <a:extLst>
                    <a:ext uri="{9D8B030D-6E8A-4147-A177-3AD203B41FA5}">
                      <a16:colId xmlns:a16="http://schemas.microsoft.com/office/drawing/2014/main" val="20001"/>
                    </a:ext>
                  </a:extLst>
                </a:gridCol>
                <a:gridCol w="2600249">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Lab</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Session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marL="0" indent="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Builds on</a:t>
                      </a:r>
                      <a:endParaRPr lang="en-US" sz="1200" dirty="0">
                        <a:latin typeface="IBM Plex Sans" charset="0"/>
                        <a:ea typeface="IBM Plex Sans" charset="0"/>
                        <a:cs typeface="IBM Plex Sans" charset="0"/>
                      </a:endParaRPr>
                    </a:p>
                  </a:txBody>
                  <a:tcPr marL="53340" marR="53340" marT="53340" marB="53340">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extLst>
                  <a:ext uri="{0D108BD9-81ED-4DB2-BD59-A6C34878D82A}">
                    <a16:rowId xmlns:a16="http://schemas.microsoft.com/office/drawing/2014/main" val="10000"/>
                  </a:ext>
                </a:extLst>
              </a:tr>
              <a:tr h="54356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Environment setup: Python, pytest, Selenium, drivers</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Course tools, Lecture 2</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Selenium basics: browser control, locators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GUI testing and locators, Lecture 6</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Waits, dynamic elements, multiple windows</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Explicit waits, Lecture 5</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pytest: fixtures, assertions, markers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Manifesto qualities, Lecture 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Lab Assessment 1</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Labs 1 to 4</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3233A"/>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API testing with Postman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marL="0" indent="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API testing, Lecture 7</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extLst>
                  <a:ext uri="{0D108BD9-81ED-4DB2-BD59-A6C34878D82A}">
                    <a16:rowId xmlns:a16="http://schemas.microsoft.com/office/drawing/2014/main" val="10006"/>
                  </a:ext>
                </a:extLst>
              </a:tr>
            </a:tbl>
          </a:graphicData>
        </a:graphic>
      </p:graphicFrame>
      <p:sp>
        <p:nvSpPr>
          <p:cNvPr id="7" name="Shape 4"/>
          <p:cNvSpPr/>
          <p:nvPr/>
        </p:nvSpPr>
        <p:spPr>
          <a:xfrm>
            <a:off x="7975600" y="1828800"/>
            <a:ext cx="3403600" cy="2540000"/>
          </a:xfrm>
          <a:prstGeom prst="roundRect">
            <a:avLst>
              <a:gd name="adj" fmla="val 3000"/>
            </a:avLst>
          </a:prstGeom>
          <a:solidFill>
            <a:srgbClr val="13233A"/>
          </a:solidFill>
          <a:ln/>
        </p:spPr>
        <p:txBody>
          <a:bodyPr/>
          <a:lstStyle/>
          <a:p>
            <a:endParaRPr lang="en-IN"/>
          </a:p>
        </p:txBody>
      </p:sp>
      <p:sp>
        <p:nvSpPr>
          <p:cNvPr id="8" name="Text 5"/>
          <p:cNvSpPr/>
          <p:nvPr/>
        </p:nvSpPr>
        <p:spPr>
          <a:xfrm>
            <a:off x="8204200" y="2057400"/>
            <a:ext cx="30347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36B"/>
                </a:solidFill>
                <a:latin typeface="JetBrains Mono" pitchFamily="34" charset="0"/>
                <a:ea typeface="JetBrains Mono" pitchFamily="34" charset="-122"/>
                <a:cs typeface="JetBrains Mono" pitchFamily="34" charset="-120"/>
              </a:rPr>
              <a:t>NEXT: MODULE 2</a:t>
            </a:r>
            <a:endParaRPr lang="en-US" sz="1200" dirty="0"/>
          </a:p>
        </p:txBody>
      </p:sp>
      <p:sp>
        <p:nvSpPr>
          <p:cNvPr id="9" name="Text 6"/>
          <p:cNvSpPr/>
          <p:nvPr/>
        </p:nvSpPr>
        <p:spPr>
          <a:xfrm>
            <a:off x="8204200" y="2359670"/>
            <a:ext cx="3034792"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Testing approaches and test case design</a:t>
            </a:r>
            <a:endParaRPr lang="en-US" sz="1400" dirty="0"/>
          </a:p>
        </p:txBody>
      </p:sp>
      <p:sp>
        <p:nvSpPr>
          <p:cNvPr id="10" name="Text 7"/>
          <p:cNvSpPr/>
          <p:nvPr/>
        </p:nvSpPr>
        <p:spPr>
          <a:xfrm>
            <a:off x="8204200" y="2910830"/>
            <a:ext cx="3034792" cy="10922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FDB"/>
                </a:solidFill>
                <a:latin typeface="IBM Plex Sans" pitchFamily="34" charset="0"/>
                <a:ea typeface="IBM Plex Sans" pitchFamily="34" charset="-122"/>
                <a:cs typeface="IBM Plex Sans" pitchFamily="34" charset="-120"/>
              </a:rPr>
              <a:t>Manual and automated testing; unit, integration, system and acceptance testing; smoke, sanity and regression; scenarios, test case design, test basis and traceability.</a:t>
            </a:r>
            <a:endParaRPr lang="en-US" sz="1200" dirty="0"/>
          </a:p>
        </p:txBody>
      </p:sp>
      <p:sp>
        <p:nvSpPr>
          <p:cNvPr id="11" name="Text 8"/>
          <p:cNvSpPr/>
          <p:nvPr/>
        </p:nvSpPr>
        <p:spPr>
          <a:xfrm>
            <a:off x="812800" y="6238230"/>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12" name="Text 9"/>
          <p:cNvSpPr/>
          <p:nvPr/>
        </p:nvSpPr>
        <p:spPr>
          <a:xfrm>
            <a:off x="8933259" y="6238230"/>
            <a:ext cx="251931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Lab sessions from the lab-wise plan</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7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9481A"/>
                </a:solidFill>
                <a:latin typeface="JetBrains Mono" pitchFamily="34" charset="0"/>
                <a:ea typeface="JetBrains Mono" pitchFamily="34" charset="-122"/>
                <a:cs typeface="JetBrains Mono" pitchFamily="34" charset="-120"/>
              </a:rPr>
              <a:t>MODULE 1 · PRACTICE</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13233A"/>
                </a:solidFill>
                <a:latin typeface="Space Grotesk" pitchFamily="34" charset="0"/>
                <a:ea typeface="Space Grotesk" pitchFamily="34" charset="-122"/>
                <a:cs typeface="Space Grotesk" pitchFamily="34" charset="-120"/>
              </a:rPr>
              <a:t>Take-home practice</a:t>
            </a:r>
            <a:endParaRPr lang="en-US" sz="3200" dirty="0"/>
          </a:p>
        </p:txBody>
      </p:sp>
      <p:sp>
        <p:nvSpPr>
          <p:cNvPr id="4" name="Shape 2"/>
          <p:cNvSpPr/>
          <p:nvPr/>
        </p:nvSpPr>
        <p:spPr>
          <a:xfrm>
            <a:off x="815975" y="1831975"/>
            <a:ext cx="5200650" cy="1118870"/>
          </a:xfrm>
          <a:prstGeom prst="roundRect">
            <a:avLst>
              <a:gd name="adj" fmla="val 6527"/>
            </a:avLst>
          </a:prstGeom>
          <a:solidFill>
            <a:srgbClr val="FCFBF7"/>
          </a:solidFill>
          <a:ln w="6350">
            <a:solidFill>
              <a:srgbClr val="DDD8CC"/>
            </a:solidFill>
            <a:prstDash val="solid"/>
          </a:ln>
        </p:spPr>
        <p:txBody>
          <a:bodyPr/>
          <a:lstStyle/>
          <a:p>
            <a:endParaRPr lang="en-IN"/>
          </a:p>
        </p:txBody>
      </p:sp>
      <p:sp>
        <p:nvSpPr>
          <p:cNvPr id="5" name="Text 3"/>
          <p:cNvSpPr/>
          <p:nvPr/>
        </p:nvSpPr>
        <p:spPr>
          <a:xfrm>
            <a:off x="1021080" y="2037110"/>
            <a:ext cx="163592" cy="73406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1</a:t>
            </a:r>
            <a:endParaRPr lang="en-US" sz="2000" dirty="0"/>
          </a:p>
        </p:txBody>
      </p:sp>
      <p:sp>
        <p:nvSpPr>
          <p:cNvPr id="6" name="Text 4"/>
          <p:cNvSpPr/>
          <p:nvPr/>
        </p:nvSpPr>
        <p:spPr>
          <a:xfrm>
            <a:off x="1286272" y="2037110"/>
            <a:ext cx="4661006"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STLC plan</a:t>
            </a:r>
            <a:endParaRPr lang="en-US" sz="1400" dirty="0"/>
          </a:p>
        </p:txBody>
      </p:sp>
      <p:sp>
        <p:nvSpPr>
          <p:cNvPr id="7" name="Text 5"/>
          <p:cNvSpPr/>
          <p:nvPr/>
        </p:nvSpPr>
        <p:spPr>
          <a:xfrm>
            <a:off x="1286272" y="2319040"/>
            <a:ext cx="466100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Write the entry and exit criteria for each STLC phase of the SAVE20 coupon feature.</a:t>
            </a:r>
            <a:endParaRPr lang="en-US" sz="1200" dirty="0"/>
          </a:p>
        </p:txBody>
      </p:sp>
      <p:sp>
        <p:nvSpPr>
          <p:cNvPr id="8" name="Shape 6"/>
          <p:cNvSpPr/>
          <p:nvPr/>
        </p:nvSpPr>
        <p:spPr>
          <a:xfrm>
            <a:off x="6175375" y="1831975"/>
            <a:ext cx="5200650" cy="1118870"/>
          </a:xfrm>
          <a:prstGeom prst="roundRect">
            <a:avLst>
              <a:gd name="adj" fmla="val 6527"/>
            </a:avLst>
          </a:prstGeom>
          <a:solidFill>
            <a:srgbClr val="FCFBF7"/>
          </a:solidFill>
          <a:ln w="6350">
            <a:solidFill>
              <a:srgbClr val="DDD8CC"/>
            </a:solidFill>
            <a:prstDash val="solid"/>
          </a:ln>
        </p:spPr>
        <p:txBody>
          <a:bodyPr/>
          <a:lstStyle/>
          <a:p>
            <a:endParaRPr lang="en-IN"/>
          </a:p>
        </p:txBody>
      </p:sp>
      <p:sp>
        <p:nvSpPr>
          <p:cNvPr id="9" name="Text 7"/>
          <p:cNvSpPr/>
          <p:nvPr/>
        </p:nvSpPr>
        <p:spPr>
          <a:xfrm>
            <a:off x="6380480" y="2037110"/>
            <a:ext cx="202248" cy="73406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2</a:t>
            </a:r>
            <a:endParaRPr lang="en-US" sz="2000" dirty="0"/>
          </a:p>
        </p:txBody>
      </p:sp>
      <p:sp>
        <p:nvSpPr>
          <p:cNvPr id="10" name="Text 8"/>
          <p:cNvSpPr/>
          <p:nvPr/>
        </p:nvSpPr>
        <p:spPr>
          <a:xfrm>
            <a:off x="6684328" y="2037110"/>
            <a:ext cx="462119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Defect report</a:t>
            </a:r>
            <a:endParaRPr lang="en-US" sz="1400" dirty="0"/>
          </a:p>
        </p:txBody>
      </p:sp>
      <p:sp>
        <p:nvSpPr>
          <p:cNvPr id="11" name="Text 9"/>
          <p:cNvSpPr/>
          <p:nvPr/>
        </p:nvSpPr>
        <p:spPr>
          <a:xfrm>
            <a:off x="6684328" y="2319040"/>
            <a:ext cx="462119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Report the ₹20 fee charged on an order of exactly ₹200, with severity, priority and steps.</a:t>
            </a:r>
            <a:endParaRPr lang="en-US" sz="1200" dirty="0"/>
          </a:p>
        </p:txBody>
      </p:sp>
      <p:sp>
        <p:nvSpPr>
          <p:cNvPr id="12" name="Shape 10"/>
          <p:cNvSpPr/>
          <p:nvPr/>
        </p:nvSpPr>
        <p:spPr>
          <a:xfrm>
            <a:off x="815975" y="3109615"/>
            <a:ext cx="5200650" cy="1118870"/>
          </a:xfrm>
          <a:prstGeom prst="roundRect">
            <a:avLst>
              <a:gd name="adj" fmla="val 6527"/>
            </a:avLst>
          </a:prstGeom>
          <a:solidFill>
            <a:srgbClr val="FCFBF7"/>
          </a:solidFill>
          <a:ln w="6350">
            <a:solidFill>
              <a:srgbClr val="DDD8CC"/>
            </a:solidFill>
            <a:prstDash val="solid"/>
          </a:ln>
        </p:spPr>
        <p:txBody>
          <a:bodyPr/>
          <a:lstStyle/>
          <a:p>
            <a:endParaRPr lang="en-IN"/>
          </a:p>
        </p:txBody>
      </p:sp>
      <p:sp>
        <p:nvSpPr>
          <p:cNvPr id="13" name="Text 11"/>
          <p:cNvSpPr/>
          <p:nvPr/>
        </p:nvSpPr>
        <p:spPr>
          <a:xfrm>
            <a:off x="1021080" y="3314700"/>
            <a:ext cx="205026" cy="73406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3</a:t>
            </a:r>
            <a:endParaRPr lang="en-US" sz="2000" dirty="0"/>
          </a:p>
        </p:txBody>
      </p:sp>
      <p:sp>
        <p:nvSpPr>
          <p:cNvPr id="14" name="Text 12"/>
          <p:cNvSpPr/>
          <p:nvPr/>
        </p:nvSpPr>
        <p:spPr>
          <a:xfrm>
            <a:off x="1327706" y="3314700"/>
            <a:ext cx="4618329"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Compatibility matrix</a:t>
            </a:r>
            <a:endParaRPr lang="en-US" sz="1400" dirty="0"/>
          </a:p>
        </p:txBody>
      </p:sp>
      <p:sp>
        <p:nvSpPr>
          <p:cNvPr id="15" name="Text 13"/>
          <p:cNvSpPr/>
          <p:nvPr/>
        </p:nvSpPr>
        <p:spPr>
          <a:xfrm>
            <a:off x="1327706" y="3596630"/>
            <a:ext cx="461832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Build a six-row matrix for the Canteen App and justify every priority.</a:t>
            </a:r>
            <a:endParaRPr lang="en-US" sz="1200" dirty="0"/>
          </a:p>
        </p:txBody>
      </p:sp>
      <p:sp>
        <p:nvSpPr>
          <p:cNvPr id="16" name="Shape 14"/>
          <p:cNvSpPr/>
          <p:nvPr/>
        </p:nvSpPr>
        <p:spPr>
          <a:xfrm>
            <a:off x="6175375" y="3109615"/>
            <a:ext cx="5200650" cy="1118870"/>
          </a:xfrm>
          <a:prstGeom prst="roundRect">
            <a:avLst>
              <a:gd name="adj" fmla="val 6527"/>
            </a:avLst>
          </a:prstGeom>
          <a:solidFill>
            <a:srgbClr val="FCFBF7"/>
          </a:solidFill>
          <a:ln w="6350">
            <a:solidFill>
              <a:srgbClr val="DDD8CC"/>
            </a:solidFill>
            <a:prstDash val="solid"/>
          </a:ln>
        </p:spPr>
        <p:txBody>
          <a:bodyPr/>
          <a:lstStyle/>
          <a:p>
            <a:endParaRPr lang="en-IN"/>
          </a:p>
        </p:txBody>
      </p:sp>
      <p:sp>
        <p:nvSpPr>
          <p:cNvPr id="17" name="Text 15"/>
          <p:cNvSpPr/>
          <p:nvPr/>
        </p:nvSpPr>
        <p:spPr>
          <a:xfrm>
            <a:off x="6380480" y="3314700"/>
            <a:ext cx="211614" cy="73406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4</a:t>
            </a:r>
            <a:endParaRPr lang="en-US" sz="2000" dirty="0"/>
          </a:p>
        </p:txBody>
      </p:sp>
      <p:sp>
        <p:nvSpPr>
          <p:cNvPr id="18" name="Text 16"/>
          <p:cNvSpPr/>
          <p:nvPr/>
        </p:nvSpPr>
        <p:spPr>
          <a:xfrm>
            <a:off x="6693694" y="3314700"/>
            <a:ext cx="4611543"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API tests</a:t>
            </a:r>
            <a:endParaRPr lang="en-US" sz="1400" dirty="0"/>
          </a:p>
        </p:txBody>
      </p:sp>
      <p:sp>
        <p:nvSpPr>
          <p:cNvPr id="19" name="Text 17"/>
          <p:cNvSpPr/>
          <p:nvPr/>
        </p:nvSpPr>
        <p:spPr>
          <a:xfrm>
            <a:off x="6693694" y="3596630"/>
            <a:ext cx="461154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5F"/>
                </a:solidFill>
                <a:latin typeface="IBM Plex Sans" pitchFamily="34" charset="0"/>
                <a:ea typeface="IBM Plex Sans" pitchFamily="34" charset="-122"/>
                <a:cs typeface="IBM Plex Sans" pitchFamily="34" charset="-120"/>
              </a:rPr>
              <a:t>Write five cases for POST /api/orders, two positive and three negative, and automate two with pytest.</a:t>
            </a:r>
            <a:endParaRPr lang="en-US" sz="1200" dirty="0"/>
          </a:p>
        </p:txBody>
      </p:sp>
      <p:sp>
        <p:nvSpPr>
          <p:cNvPr id="20" name="Text 18"/>
          <p:cNvSpPr/>
          <p:nvPr/>
        </p:nvSpPr>
        <p:spPr>
          <a:xfrm>
            <a:off x="812800" y="448563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33A"/>
                </a:solidFill>
                <a:latin typeface="IBM Plex Sans" pitchFamily="34" charset="0"/>
                <a:ea typeface="IBM Plex Sans" pitchFamily="34" charset="-122"/>
                <a:cs typeface="IBM Plex Sans" pitchFamily="34" charset="-120"/>
              </a:rPr>
              <a:t>Use the templates and examples from the slides; keep every test traceable to a Canteen App rule.</a:t>
            </a:r>
            <a:endParaRPr lang="en-US" sz="1400" dirty="0"/>
          </a:p>
        </p:txBody>
      </p:sp>
      <p:sp>
        <p:nvSpPr>
          <p:cNvPr id="21" name="Text 19"/>
          <p:cNvSpPr/>
          <p:nvPr/>
        </p:nvSpPr>
        <p:spPr>
          <a:xfrm>
            <a:off x="812800" y="6238230"/>
            <a:ext cx="14425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1</a:t>
            </a:r>
            <a:endParaRPr lang="en-US" sz="1200" dirty="0"/>
          </a:p>
        </p:txBody>
      </p:sp>
      <p:sp>
        <p:nvSpPr>
          <p:cNvPr id="22" name="Text 20"/>
          <p:cNvSpPr/>
          <p:nvPr/>
        </p:nvSpPr>
        <p:spPr>
          <a:xfrm>
            <a:off x="8473678" y="6238230"/>
            <a:ext cx="299268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977"/>
                </a:solidFill>
                <a:latin typeface="IBM Plex Sans" pitchFamily="34" charset="0"/>
                <a:ea typeface="IBM Plex Sans" pitchFamily="34" charset="-122"/>
                <a:cs typeface="IBM Plex Sans" pitchFamily="34" charset="-120"/>
              </a:rPr>
              <a:t>Deadline and marks: [set by the instructor]</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1">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36B"/>
                </a:solidFill>
                <a:latin typeface="JetBrains Mono" pitchFamily="34" charset="0"/>
                <a:ea typeface="JetBrains Mono" pitchFamily="34" charset="-122"/>
                <a:cs typeface="JetBrains Mono" pitchFamily="34" charset="-120"/>
              </a:rPr>
              <a:t>MODULE 1 · READINGS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3F1EA"/>
                </a:solidFill>
                <a:latin typeface="Space Grotesk" pitchFamily="34" charset="0"/>
                <a:ea typeface="Space Grotesk" pitchFamily="34" charset="-122"/>
                <a:cs typeface="Space Grotesk" pitchFamily="34" charset="-120"/>
              </a:rPr>
              <a:t>Readings and references</a:t>
            </a:r>
            <a:endParaRPr lang="en-US" sz="3200" dirty="0"/>
          </a:p>
        </p:txBody>
      </p:sp>
      <p:sp>
        <p:nvSpPr>
          <p:cNvPr id="4" name="Text 2"/>
          <p:cNvSpPr/>
          <p:nvPr/>
        </p:nvSpPr>
        <p:spPr>
          <a:xfrm>
            <a:off x="812800" y="1879600"/>
            <a:ext cx="405511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B9E6"/>
                </a:solidFill>
                <a:latin typeface="JetBrains Mono" pitchFamily="34" charset="0"/>
                <a:ea typeface="JetBrains Mono" pitchFamily="34" charset="-122"/>
                <a:cs typeface="JetBrains Mono" pitchFamily="34" charset="-120"/>
              </a:rPr>
              <a:t>COURSE BOOKS</a:t>
            </a:r>
            <a:endParaRPr lang="en-US" sz="1200" dirty="0"/>
          </a:p>
        </p:txBody>
      </p:sp>
      <p:sp>
        <p:nvSpPr>
          <p:cNvPr id="5" name="Shape 3"/>
          <p:cNvSpPr/>
          <p:nvPr/>
        </p:nvSpPr>
        <p:spPr>
          <a:xfrm>
            <a:off x="812800" y="2223145"/>
            <a:ext cx="3937000" cy="0"/>
          </a:xfrm>
          <a:prstGeom prst="line">
            <a:avLst/>
          </a:prstGeom>
          <a:noFill/>
          <a:ln w="6350">
            <a:solidFill>
              <a:srgbClr val="3A5476"/>
            </a:solidFill>
            <a:prstDash val="solid"/>
          </a:ln>
        </p:spPr>
        <p:txBody>
          <a:bodyPr/>
          <a:lstStyle/>
          <a:p>
            <a:endParaRPr lang="en-IN"/>
          </a:p>
        </p:txBody>
      </p:sp>
      <p:sp>
        <p:nvSpPr>
          <p:cNvPr id="6" name="Text 4"/>
          <p:cNvSpPr/>
          <p:nvPr/>
        </p:nvSpPr>
        <p:spPr>
          <a:xfrm>
            <a:off x="812800" y="2326630"/>
            <a:ext cx="4055110" cy="26543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F3F1EA"/>
                </a:solidFill>
                <a:latin typeface="IBM Plex Sans" pitchFamily="34" charset="0"/>
                <a:ea typeface="IBM Plex Sans" pitchFamily="34" charset="-122"/>
                <a:cs typeface="IBM Plex Sans" pitchFamily="34" charset="-120"/>
              </a:rPr>
              <a:t>Enterprise Continuous Testing</a:t>
            </a:r>
            <a:endParaRPr lang="en-US" sz="1400" dirty="0"/>
          </a:p>
        </p:txBody>
      </p:sp>
      <p:sp>
        <p:nvSpPr>
          <p:cNvPr id="7" name="Text 5"/>
          <p:cNvSpPr/>
          <p:nvPr/>
        </p:nvSpPr>
        <p:spPr>
          <a:xfrm>
            <a:off x="812800" y="2604790"/>
            <a:ext cx="405511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FDB"/>
                </a:solidFill>
                <a:latin typeface="IBM Plex Sans" pitchFamily="34" charset="0"/>
                <a:ea typeface="IBM Plex Sans" pitchFamily="34" charset="-122"/>
                <a:cs typeface="IBM Plex Sans" pitchFamily="34" charset="-120"/>
              </a:rPr>
              <a:t>W. Platz and C. Dunlop, 2019 · textbook</a:t>
            </a:r>
            <a:endParaRPr lang="en-US" sz="1200" dirty="0"/>
          </a:p>
        </p:txBody>
      </p:sp>
      <p:sp>
        <p:nvSpPr>
          <p:cNvPr id="8" name="Shape 6"/>
          <p:cNvSpPr/>
          <p:nvPr/>
        </p:nvSpPr>
        <p:spPr>
          <a:xfrm>
            <a:off x="812800" y="2948335"/>
            <a:ext cx="3937000" cy="0"/>
          </a:xfrm>
          <a:prstGeom prst="line">
            <a:avLst/>
          </a:prstGeom>
          <a:noFill/>
          <a:ln w="6350">
            <a:solidFill>
              <a:srgbClr val="3A5476"/>
            </a:solidFill>
            <a:prstDash val="solid"/>
          </a:ln>
        </p:spPr>
        <p:txBody>
          <a:bodyPr/>
          <a:lstStyle/>
          <a:p>
            <a:endParaRPr lang="en-IN"/>
          </a:p>
        </p:txBody>
      </p:sp>
      <p:sp>
        <p:nvSpPr>
          <p:cNvPr id="9" name="Text 7"/>
          <p:cNvSpPr/>
          <p:nvPr/>
        </p:nvSpPr>
        <p:spPr>
          <a:xfrm>
            <a:off x="812800" y="3051820"/>
            <a:ext cx="4055110" cy="26543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F3F1EA"/>
                </a:solidFill>
                <a:latin typeface="IBM Plex Sans" pitchFamily="34" charset="0"/>
                <a:ea typeface="IBM Plex Sans" pitchFamily="34" charset="-122"/>
                <a:cs typeface="IBM Plex Sans" pitchFamily="34" charset="-120"/>
              </a:rPr>
              <a:t>Complete Guide to Test Automation</a:t>
            </a:r>
            <a:endParaRPr lang="en-US" sz="1400" dirty="0"/>
          </a:p>
        </p:txBody>
      </p:sp>
      <p:sp>
        <p:nvSpPr>
          <p:cNvPr id="10" name="Text 8"/>
          <p:cNvSpPr/>
          <p:nvPr/>
        </p:nvSpPr>
        <p:spPr>
          <a:xfrm>
            <a:off x="812800" y="3329930"/>
            <a:ext cx="405511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FDB"/>
                </a:solidFill>
                <a:latin typeface="IBM Plex Sans" pitchFamily="34" charset="0"/>
                <a:ea typeface="IBM Plex Sans" pitchFamily="34" charset="-122"/>
                <a:cs typeface="IBM Plex Sans" pitchFamily="34" charset="-120"/>
              </a:rPr>
              <a:t>A. Axelrod, Apress, 2019 · reference</a:t>
            </a:r>
            <a:endParaRPr lang="en-US" sz="1200" dirty="0"/>
          </a:p>
        </p:txBody>
      </p:sp>
      <p:sp>
        <p:nvSpPr>
          <p:cNvPr id="11" name="Text 9"/>
          <p:cNvSpPr/>
          <p:nvPr/>
        </p:nvSpPr>
        <p:spPr>
          <a:xfrm>
            <a:off x="5054600" y="1879600"/>
            <a:ext cx="651433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B9E6"/>
                </a:solidFill>
                <a:latin typeface="JetBrains Mono" pitchFamily="34" charset="0"/>
                <a:ea typeface="JetBrains Mono" pitchFamily="34" charset="-122"/>
                <a:cs typeface="JetBrains Mono" pitchFamily="34" charset="-120"/>
              </a:rPr>
              <a:t>SOURCES USED IN THIS MODULE</a:t>
            </a:r>
            <a:endParaRPr lang="en-US" sz="1200" dirty="0"/>
          </a:p>
        </p:txBody>
      </p:sp>
      <p:sp>
        <p:nvSpPr>
          <p:cNvPr id="12" name="Text 10"/>
          <p:cNvSpPr/>
          <p:nvPr/>
        </p:nvSpPr>
        <p:spPr>
          <a:xfrm>
            <a:off x="5054600" y="2219970"/>
            <a:ext cx="6514338" cy="1625600"/>
          </a:xfrm>
          <a:prstGeom prst="rect">
            <a:avLst/>
          </a:prstGeom>
          <a:noFill/>
          <a:ln/>
        </p:spPr>
        <p:txBody>
          <a:bodyPr wrap="square" lIns="0" tIns="0" rIns="0" bIns="0" rtlCol="0" anchor="t">
            <a:normAutofit/>
          </a:bodyPr>
          <a:lstStyle/>
          <a:p>
            <a:pPr marL="182880" indent="-155194" algn="l">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ISTQB Certified Tester Foundation Level syllabus v4.0 (2023) and ISTQB Glossary</a:t>
            </a:r>
            <a:endParaRPr lang="en-US" sz="1200" dirty="0"/>
          </a:p>
          <a:p>
            <a:pPr marL="182880" indent="-155194" algn="l">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G. Meszaros, S. Smith, J. Andrea, “The Test Automation Manifesto”, XP/Agile Universe 2003</a:t>
            </a:r>
            <a:endParaRPr lang="en-US" sz="1200" dirty="0"/>
          </a:p>
          <a:p>
            <a:pPr marL="182880" indent="-155194" algn="l">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ISO 9241-11:2018 (usability) and ISO/IEC 25010:2023 (product quality)</a:t>
            </a:r>
            <a:endParaRPr lang="en-US" sz="1200" dirty="0"/>
          </a:p>
          <a:p>
            <a:pPr marL="182880" indent="-155194" algn="l">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J. Nielsen, “Why You Only Need to Test with 5 Users”, Nielsen Norman Group, 2000</a:t>
            </a:r>
            <a:endParaRPr lang="en-US" sz="1200" dirty="0"/>
          </a:p>
          <a:p>
            <a:pPr marL="182880" indent="-155194" algn="l">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RFC 9110, HTTP Semantics, IETF, 2022</a:t>
            </a:r>
            <a:endParaRPr lang="en-US" sz="1200" dirty="0"/>
          </a:p>
          <a:p>
            <a:pPr marL="182880" indent="-155194" algn="l">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Selenium, pytest, Postman and Newman documentation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9967</Words>
  <Application>Microsoft Office PowerPoint</Application>
  <PresentationFormat>Widescreen</PresentationFormat>
  <Paragraphs>1516</Paragraphs>
  <Slides>70</Slides>
  <Notes>70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IBM Plex Sans</vt:lpstr>
      <vt:lpstr>JetBrains Mono</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CSET454 Module 1: Test Automation Manifesto and Testing</dc:title>
  <dc:subject>PptxGenJS Presentation</dc:subject>
  <dc:creator>PptxGenJS</dc:creator>
  <cp:lastModifiedBy>Utkarsh Agarwal</cp:lastModifiedBy>
  <cp:revision>2</cp:revision>
  <dcterms:created xsi:type="dcterms:W3CDTF">2026-09-26T11:46:17Z</dcterms:created>
  <dcterms:modified xsi:type="dcterms:W3CDTF">2026-09-26T11:49:30Z</dcterms:modified>
</cp:coreProperties>
</file>