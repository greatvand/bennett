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Any three of: run tests in parallel; push checks down the pyramid (unit and API tests instead of UI tests); run only the tests a change affects on each push and the full suite later; split CI into a fast commit stage and a slower acceptance stage; stop at the first failure; build test environments from containers so setup is quick. Q2: A flaky test. Quarantine it out of the gating suite and log a ticket, find the cause (timing, shared state, test order, outside services), fix it and put it back. Automatic retries only hide the problem. Q3: It holds real student data, so it is a privacy risk; it is large and slow to copy and reset; tests share and change the same rows, so they interfere with each other; and it may lack the edge cases you need. DORA warns that running tests against a copy of a full production database introduces risk. Use small synthetic data created for each test. Q4: Service virtualization: a virtual UPI service that speaks the real protocol and returns success, failure or a timeout on demand, so the app's handling of each case can be tested repeatably. Stubs are enough inside unit tests, and a contract test keeps the virtual service in line with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 Q4: technology-facing, critiques the product, tool-based. (b) Q3: business-facing, critiques the product, manual. (c) Q1: technology-facing, supports the team, automated. (d) Q2: business-facing, supports the team, automated. Q2: Product owners, business analysts and testers as well as developers. If the business can read the test, it can confirm the examples are the right ones, so the suite checks the behaviour people actually want, and the tests double as living documentation of the rules. Q3: Only the business logic layer: the CartPage page object (its locators and maybe its methods). The test scripts and the core libraries stay the same. Q4: Technical: a unit test that a wallet balance below the total blocks payment, or a contract test for POST /pay. Business: a keyword or BDD test such as "Student with 50 rupees in the wallet cannot pay 192", which the product owner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Set environment.process_exit_code = 1 when the 95th percentile for GET /api/menu is above 2000 ms, for example environment.stats.get("/api/menu", "GET").get_response_time_percentile(0.95) &gt; 2000, or when more than 1% of requests fail. Run it with a realistic lunch-peak user count on a production-like environment. Q2: At least one warning and no failures. Whether it blocks is a team rule: triage each new warning (here missing security headers and no anti-CSRF token), fix it or record it as accepted, and raise the ones you care about to FAIL so they stop the pipeline. Q3: Not necessarily. Automated rules catch only part of the problems (Deque says about 57 percent on average). Also check keyboard-only use and focus order, screen-reader output, meaningful labels and error messages, and test with real users, including people who use assistive technology. Q4: Both the pytest API test (it reads the CSV into parametrize) and the Newman run that uses -d cart-qty.csv. A quantity of 5 is inside 1 to 10, so the API should return 201 and both suites should pass the new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The Python bindings send a W3C WebDriver command to the browser driver: POST /session/{id}/element with the JSON body {"using": "css selector", "value": "[id=\"student-id\"]"}. The driver finds the element in the browser and returns an element reference. Q2: The browser and driver versions do not match, for example Chrome 141 with ChromeDriver 147, often because an old driver sits on the CI machine's PATH. Remove the stale driver and let Selenium Manager fetch the matching one, or pin browser and driver versions in the CI image. Q3: (b) is best: a test attribute agreed with the developers, unique and independent of layout. (a) is next: an absolute XPath works until the page structure changes, then breaks. (c) is worst: it returns whichever button comes first, so it is right only by accident. Q4: Mixed waits give unpredictable timeouts. selenium.dev's own example: a 10 second implicit wait with a 15 second explicit wait could time out after 20 seconds. Keep the implicit wait at 0 and use explicit waits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helpers. find waits until an element is visible; click waits until it is clickable. submit is the interesting one: clicking Log in, Apply or Place order loads a new page, so the old button is kept and the test waits until it has gone stale, which proves the new page has replaced it. Without this wait the lock test sometimes read the previous page's error message and failed at random. page_wait also ignores a transient WebDriverException that Chrome can raise while the page is being swapped; this is a fluent wait with an ignored exception, as in Lecture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Any two: locators copied into every test, so one change means many edits; fixed sleeps that waste time and still fail on a slow machine; hard-coded URLs and data; no named steps, so the test is hard to read and to fix. Q2: No. The page object only reports: total() returns the number, and the test states assert cart.total() == 192. The only check inside a page object is that the page has loaded. Q3: The same action, submitting the login form, has two different results: success moves to the menu, failure stays on the login page with a message. selenium.dev recommends modelling different results as different methods, so each can return the right thing: a MenuPage, or the error text. Q4: Linear suite: every test that clicks the cart link, because each holds its own copy of the locator. POM suite: one file, menu_page.py, where CART_LINK is defined; no test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The environment value. From broadest to narrowest the scopes are global, collection, environment, data and local, and "the value stored in the variable with narrowest scope will be used". Q2: pm.collectionVariables.set("orderId", pm.response.json().order_id); The next request then uses {{orderId}} in its URL. Q3: newman run canteen.postman_collection.json -e staging.postman_environment.json --folder "Cart rules" -d cart-qty.csv -r cli,junit --reporter-junit-export reports/api.xml, adding --env-var for the password from the CI secret store. Q4: The sh step returns a non-zero code, so the stage and the build fail; a post always junit step still publishes the report. Look at the failed assertion names in the JUnit report or the Newman output, see which request and iteration failed, then reproduce that request in Postman.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for marking. 1: login_as("S101", "secret"), add_item(3) for one Veg Thali (120 rupees), open_cart(), apply_coupon("SAVE20"), then assert cart.message() == "Minimum order is ₹200" and cart.total() == 120. This test was run against the teaching app and passes. 2: def message_should_be(self, text): compare self.page.message() with text and raise AssertionError if they differ. Robot test: Log In As S101 secret; Add To Cart Veg Thali 1; Apply Coupon SAVE20; Message Should Be Minimum order is ₹200. 3: Set quantity 1 of item 3, then POST {{baseUrl}}/api/orders with {"coupon": "SAVE20"}. Tests: pm.response.to.have.status(422) and pm.expect(pm.response.json().error).to.eql("Minimum order is ₹200"). The API returns exactly that. Run with -r cli,junit --reporter-junit-export. 4: locust -f locustfile.py --headless -u 50 -r 10 -t 2m --host http://localhost:5000 --csv reports/menu. Exit code 0 means p95 stayed under 2 s and failures under 1 percent; students should read p95 for GET /api/menu from the stats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slideLayout" Target="../slideLayouts/slideLayout1.xml"/><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03</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CSET454 · TEST AUTOMATION IN DEVOPS</a:t>
            </a:r>
            <a:endParaRPr lang="en-US" sz="1200" dirty="0"/>
          </a:p>
        </p:txBody>
      </p:sp>
      <p:sp>
        <p:nvSpPr>
          <p:cNvPr id="4" name="Text 2"/>
          <p:cNvSpPr/>
          <p:nvPr/>
        </p:nvSpPr>
        <p:spPr>
          <a:xfrm>
            <a:off x="812800" y="3489960"/>
            <a:ext cx="981075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Test Automation</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Types and Tools</a:t>
            </a:r>
            <a:endParaRPr lang="en-US" sz="5600" dirty="0"/>
          </a:p>
        </p:txBody>
      </p:sp>
      <p:sp>
        <p:nvSpPr>
          <p:cNvPr id="5" name="Text 3"/>
          <p:cNvSpPr/>
          <p:nvPr/>
        </p:nvSpPr>
        <p:spPr>
          <a:xfrm>
            <a:off x="812800" y="518668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5CFDB"/>
                </a:solidFill>
                <a:latin typeface="IBM Plex Sans" pitchFamily="34" charset="0"/>
                <a:ea typeface="IBM Plex Sans" pitchFamily="34" charset="-122"/>
                <a:cs typeface="IBM Plex Sans" pitchFamily="34" charset="-120"/>
              </a:rPr>
              <a:t>Module 3 · Lectures 14–19 · 6 contact hours</a:t>
            </a:r>
            <a:endParaRPr lang="en-US" sz="2000" dirty="0"/>
          </a:p>
        </p:txBody>
      </p:sp>
      <p:sp>
        <p:nvSpPr>
          <p:cNvPr id="6" name="Shape 4"/>
          <p:cNvSpPr/>
          <p:nvPr/>
        </p:nvSpPr>
        <p:spPr>
          <a:xfrm>
            <a:off x="815975" y="5723255"/>
            <a:ext cx="1172210" cy="318770"/>
          </a:xfrm>
          <a:prstGeom prst="roundRect">
            <a:avLst>
              <a:gd name="adj" fmla="val 50000"/>
            </a:avLst>
          </a:prstGeom>
          <a:noFill/>
          <a:ln w="6350">
            <a:solidFill>
              <a:srgbClr val="3A5476"/>
            </a:solidFill>
            <a:prstDash val="solid"/>
          </a:ln>
        </p:spPr>
      </p:sp>
      <p:sp>
        <p:nvSpPr>
          <p:cNvPr id="7" name="Text 5"/>
          <p:cNvSpPr/>
          <p:nvPr/>
        </p:nvSpPr>
        <p:spPr>
          <a:xfrm>
            <a:off x="944880" y="5775960"/>
            <a:ext cx="965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Semester V</a:t>
            </a:r>
            <a:endParaRPr lang="en-US" sz="1200" dirty="0"/>
          </a:p>
        </p:txBody>
      </p:sp>
      <p:sp>
        <p:nvSpPr>
          <p:cNvPr id="8" name="Shape 6"/>
          <p:cNvSpPr/>
          <p:nvPr/>
        </p:nvSpPr>
        <p:spPr>
          <a:xfrm>
            <a:off x="2096135" y="5723255"/>
            <a:ext cx="2360930" cy="318770"/>
          </a:xfrm>
          <a:prstGeom prst="roundRect">
            <a:avLst>
              <a:gd name="adj" fmla="val 50000"/>
            </a:avLst>
          </a:prstGeom>
          <a:noFill/>
          <a:ln w="6350">
            <a:solidFill>
              <a:srgbClr val="3A5476"/>
            </a:solidFill>
            <a:prstDash val="solid"/>
          </a:ln>
        </p:spPr>
      </p:sp>
      <p:sp>
        <p:nvSpPr>
          <p:cNvPr id="9" name="Text 7"/>
          <p:cNvSpPr/>
          <p:nvPr/>
        </p:nvSpPr>
        <p:spPr>
          <a:xfrm>
            <a:off x="2225040" y="5775960"/>
            <a:ext cx="21662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Specialisation elective</a:t>
            </a:r>
            <a:endParaRPr lang="en-US" sz="1200" dirty="0"/>
          </a:p>
        </p:txBody>
      </p:sp>
      <p:sp>
        <p:nvSpPr>
          <p:cNvPr id="10" name="Shape 8"/>
          <p:cNvSpPr/>
          <p:nvPr/>
        </p:nvSpPr>
        <p:spPr>
          <a:xfrm>
            <a:off x="4565015" y="5723255"/>
            <a:ext cx="1263650" cy="318770"/>
          </a:xfrm>
          <a:prstGeom prst="roundRect">
            <a:avLst>
              <a:gd name="adj" fmla="val 50000"/>
            </a:avLst>
          </a:prstGeom>
          <a:noFill/>
          <a:ln w="6350">
            <a:solidFill>
              <a:srgbClr val="3A5476"/>
            </a:solidFill>
            <a:prstDash val="solid"/>
          </a:ln>
        </p:spPr>
      </p:sp>
      <p:sp>
        <p:nvSpPr>
          <p:cNvPr id="11" name="Text 9"/>
          <p:cNvSpPr/>
          <p:nvPr/>
        </p:nvSpPr>
        <p:spPr>
          <a:xfrm>
            <a:off x="4693920" y="5775960"/>
            <a:ext cx="1056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L-T-P 2-0-2</a:t>
            </a:r>
            <a:endParaRPr lang="en-US" sz="1200" dirty="0"/>
          </a:p>
        </p:txBody>
      </p:sp>
      <p:sp>
        <p:nvSpPr>
          <p:cNvPr id="12" name="Shape 10"/>
          <p:cNvSpPr/>
          <p:nvPr/>
        </p:nvSpPr>
        <p:spPr>
          <a:xfrm>
            <a:off x="5936615" y="5723255"/>
            <a:ext cx="1080770" cy="318770"/>
          </a:xfrm>
          <a:prstGeom prst="roundRect">
            <a:avLst>
              <a:gd name="adj" fmla="val 50000"/>
            </a:avLst>
          </a:prstGeom>
          <a:noFill/>
          <a:ln w="6350">
            <a:solidFill>
              <a:srgbClr val="3A5476"/>
            </a:solidFill>
            <a:prstDash val="solid"/>
          </a:ln>
        </p:spPr>
      </p:sp>
      <p:sp>
        <p:nvSpPr>
          <p:cNvPr id="13" name="Text 11"/>
          <p:cNvSpPr/>
          <p:nvPr/>
        </p:nvSpPr>
        <p:spPr>
          <a:xfrm>
            <a:off x="6065520" y="5775960"/>
            <a:ext cx="8737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3 credits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3 · ROADMAP</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Module 3 at a glance</a:t>
            </a:r>
            <a:endParaRPr lang="en-US" sz="3200" dirty="0"/>
          </a:p>
        </p:txBody>
      </p:sp>
      <p:sp>
        <p:nvSpPr>
          <p:cNvPr id="4" name="Shape 2"/>
          <p:cNvSpPr/>
          <p:nvPr/>
        </p:nvSpPr>
        <p:spPr>
          <a:xfrm>
            <a:off x="812800" y="1831975"/>
            <a:ext cx="1016000" cy="0"/>
          </a:xfrm>
          <a:prstGeom prst="line">
            <a:avLst/>
          </a:prstGeom>
          <a:noFill/>
          <a:ln w="6350">
            <a:solidFill>
              <a:srgbClr val="DDD8CC"/>
            </a:solidFill>
            <a:prstDash val="solid"/>
          </a:ln>
        </p:spPr>
      </p:sp>
      <p:sp>
        <p:nvSpPr>
          <p:cNvPr id="5" name="Text 3"/>
          <p:cNvSpPr/>
          <p:nvPr/>
        </p:nvSpPr>
        <p:spPr>
          <a:xfrm>
            <a:off x="812800" y="18846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L14</a:t>
            </a:r>
            <a:endParaRPr lang="en-US" sz="2000" dirty="0"/>
          </a:p>
        </p:txBody>
      </p:sp>
      <p:sp>
        <p:nvSpPr>
          <p:cNvPr id="6" name="Shape 4"/>
          <p:cNvSpPr/>
          <p:nvPr/>
        </p:nvSpPr>
        <p:spPr>
          <a:xfrm>
            <a:off x="1828800" y="1831975"/>
            <a:ext cx="9550400" cy="0"/>
          </a:xfrm>
          <a:prstGeom prst="line">
            <a:avLst/>
          </a:prstGeom>
          <a:noFill/>
          <a:ln w="6350">
            <a:solidFill>
              <a:srgbClr val="DDD8CC"/>
            </a:solidFill>
            <a:prstDash val="solid"/>
          </a:ln>
        </p:spPr>
      </p:sp>
      <p:sp>
        <p:nvSpPr>
          <p:cNvPr id="7" name="Text 5"/>
          <p:cNvSpPr/>
          <p:nvPr/>
        </p:nvSpPr>
        <p:spPr>
          <a:xfrm>
            <a:off x="1828800" y="1922780"/>
            <a:ext cx="24909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DevOps testing best practices</a:t>
            </a:r>
            <a:endParaRPr lang="en-US" sz="1400" dirty="0"/>
          </a:p>
        </p:txBody>
      </p:sp>
      <p:sp>
        <p:nvSpPr>
          <p:cNvPr id="8" name="Text 6"/>
          <p:cNvSpPr/>
          <p:nvPr/>
        </p:nvSpPr>
        <p:spPr>
          <a:xfrm>
            <a:off x="4323398" y="19481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40 min</a:t>
            </a:r>
            <a:endParaRPr lang="en-US" sz="1200" dirty="0"/>
          </a:p>
        </p:txBody>
      </p:sp>
      <p:sp>
        <p:nvSpPr>
          <p:cNvPr id="9" name="Shape 7"/>
          <p:cNvSpPr/>
          <p:nvPr/>
        </p:nvSpPr>
        <p:spPr>
          <a:xfrm>
            <a:off x="812800" y="2263775"/>
            <a:ext cx="1016000" cy="0"/>
          </a:xfrm>
          <a:prstGeom prst="line">
            <a:avLst/>
          </a:prstGeom>
          <a:noFill/>
          <a:ln w="6350">
            <a:solidFill>
              <a:srgbClr val="DDD8CC"/>
            </a:solidFill>
            <a:prstDash val="solid"/>
          </a:ln>
        </p:spPr>
      </p:sp>
      <p:sp>
        <p:nvSpPr>
          <p:cNvPr id="10" name="Text 8"/>
          <p:cNvSpPr/>
          <p:nvPr/>
        </p:nvSpPr>
        <p:spPr>
          <a:xfrm>
            <a:off x="812800" y="23164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L15</a:t>
            </a:r>
            <a:endParaRPr lang="en-US" sz="2000" dirty="0"/>
          </a:p>
        </p:txBody>
      </p:sp>
      <p:sp>
        <p:nvSpPr>
          <p:cNvPr id="11" name="Shape 9"/>
          <p:cNvSpPr/>
          <p:nvPr/>
        </p:nvSpPr>
        <p:spPr>
          <a:xfrm>
            <a:off x="1828800" y="2263775"/>
            <a:ext cx="4775200" cy="0"/>
          </a:xfrm>
          <a:prstGeom prst="line">
            <a:avLst/>
          </a:prstGeom>
          <a:noFill/>
          <a:ln w="6350">
            <a:solidFill>
              <a:srgbClr val="DDD8CC"/>
            </a:solidFill>
            <a:prstDash val="solid"/>
          </a:ln>
        </p:spPr>
      </p:sp>
      <p:sp>
        <p:nvSpPr>
          <p:cNvPr id="12" name="Text 10"/>
          <p:cNvSpPr/>
          <p:nvPr/>
        </p:nvSpPr>
        <p:spPr>
          <a:xfrm>
            <a:off x="1828800" y="2354580"/>
            <a:ext cx="212558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Business test automation</a:t>
            </a:r>
            <a:endParaRPr lang="en-US" sz="1400" dirty="0"/>
          </a:p>
        </p:txBody>
      </p:sp>
      <p:sp>
        <p:nvSpPr>
          <p:cNvPr id="13" name="Text 11"/>
          <p:cNvSpPr/>
          <p:nvPr/>
        </p:nvSpPr>
        <p:spPr>
          <a:xfrm>
            <a:off x="3968671" y="23799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14" name="Shape 12"/>
          <p:cNvSpPr/>
          <p:nvPr/>
        </p:nvSpPr>
        <p:spPr>
          <a:xfrm>
            <a:off x="6604000" y="2263775"/>
            <a:ext cx="4775200" cy="0"/>
          </a:xfrm>
          <a:prstGeom prst="line">
            <a:avLst/>
          </a:prstGeom>
          <a:noFill/>
          <a:ln w="6350">
            <a:solidFill>
              <a:srgbClr val="DDD8CC"/>
            </a:solidFill>
            <a:prstDash val="solid"/>
          </a:ln>
        </p:spPr>
      </p:sp>
      <p:sp>
        <p:nvSpPr>
          <p:cNvPr id="15" name="Text 13"/>
          <p:cNvSpPr/>
          <p:nvPr/>
        </p:nvSpPr>
        <p:spPr>
          <a:xfrm>
            <a:off x="6604000" y="2354580"/>
            <a:ext cx="216760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Technical test automation</a:t>
            </a:r>
            <a:endParaRPr lang="en-US" sz="1400" dirty="0"/>
          </a:p>
        </p:txBody>
      </p:sp>
      <p:sp>
        <p:nvSpPr>
          <p:cNvPr id="16" name="Text 14"/>
          <p:cNvSpPr/>
          <p:nvPr/>
        </p:nvSpPr>
        <p:spPr>
          <a:xfrm>
            <a:off x="8784669" y="23799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17" name="Shape 15"/>
          <p:cNvSpPr/>
          <p:nvPr/>
        </p:nvSpPr>
        <p:spPr>
          <a:xfrm>
            <a:off x="812800" y="2695575"/>
            <a:ext cx="1016000" cy="0"/>
          </a:xfrm>
          <a:prstGeom prst="line">
            <a:avLst/>
          </a:prstGeom>
          <a:noFill/>
          <a:ln w="6350">
            <a:solidFill>
              <a:srgbClr val="DDD8CC"/>
            </a:solidFill>
            <a:prstDash val="solid"/>
          </a:ln>
        </p:spPr>
      </p:sp>
      <p:sp>
        <p:nvSpPr>
          <p:cNvPr id="18" name="Text 16"/>
          <p:cNvSpPr/>
          <p:nvPr/>
        </p:nvSpPr>
        <p:spPr>
          <a:xfrm>
            <a:off x="812800" y="27482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L16</a:t>
            </a:r>
            <a:endParaRPr lang="en-US" sz="2000" dirty="0"/>
          </a:p>
        </p:txBody>
      </p:sp>
      <p:sp>
        <p:nvSpPr>
          <p:cNvPr id="19" name="Shape 17"/>
          <p:cNvSpPr/>
          <p:nvPr/>
        </p:nvSpPr>
        <p:spPr>
          <a:xfrm>
            <a:off x="1828800" y="2695575"/>
            <a:ext cx="4775200" cy="0"/>
          </a:xfrm>
          <a:prstGeom prst="line">
            <a:avLst/>
          </a:prstGeom>
          <a:noFill/>
          <a:ln w="6350">
            <a:solidFill>
              <a:srgbClr val="DDD8CC"/>
            </a:solidFill>
            <a:prstDash val="solid"/>
          </a:ln>
        </p:spPr>
      </p:sp>
      <p:sp>
        <p:nvSpPr>
          <p:cNvPr id="20" name="Text 18"/>
          <p:cNvSpPr/>
          <p:nvPr/>
        </p:nvSpPr>
        <p:spPr>
          <a:xfrm>
            <a:off x="1828800" y="2786380"/>
            <a:ext cx="2630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Non-functional test automation</a:t>
            </a:r>
            <a:endParaRPr lang="en-US" sz="1400" dirty="0"/>
          </a:p>
        </p:txBody>
      </p:sp>
      <p:sp>
        <p:nvSpPr>
          <p:cNvPr id="21" name="Text 19"/>
          <p:cNvSpPr/>
          <p:nvPr/>
        </p:nvSpPr>
        <p:spPr>
          <a:xfrm>
            <a:off x="4458970" y="2811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22" name="Shape 20"/>
          <p:cNvSpPr/>
          <p:nvPr/>
        </p:nvSpPr>
        <p:spPr>
          <a:xfrm>
            <a:off x="6604000" y="2695575"/>
            <a:ext cx="4775200" cy="0"/>
          </a:xfrm>
          <a:prstGeom prst="line">
            <a:avLst/>
          </a:prstGeom>
          <a:noFill/>
          <a:ln w="6350">
            <a:solidFill>
              <a:srgbClr val="DDD8CC"/>
            </a:solidFill>
            <a:prstDash val="solid"/>
          </a:ln>
        </p:spPr>
      </p:sp>
      <p:sp>
        <p:nvSpPr>
          <p:cNvPr id="23" name="Text 21"/>
          <p:cNvSpPr/>
          <p:nvPr/>
        </p:nvSpPr>
        <p:spPr>
          <a:xfrm>
            <a:off x="6604000" y="2786380"/>
            <a:ext cx="22547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Functional test automation</a:t>
            </a:r>
            <a:endParaRPr lang="en-US" sz="1400" dirty="0"/>
          </a:p>
        </p:txBody>
      </p:sp>
      <p:sp>
        <p:nvSpPr>
          <p:cNvPr id="24" name="Text 22"/>
          <p:cNvSpPr/>
          <p:nvPr/>
        </p:nvSpPr>
        <p:spPr>
          <a:xfrm>
            <a:off x="8869283" y="2811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25" name="Shape 23"/>
          <p:cNvSpPr/>
          <p:nvPr/>
        </p:nvSpPr>
        <p:spPr>
          <a:xfrm>
            <a:off x="812800" y="3127375"/>
            <a:ext cx="1016000" cy="0"/>
          </a:xfrm>
          <a:prstGeom prst="line">
            <a:avLst/>
          </a:prstGeom>
          <a:noFill/>
          <a:ln w="6350">
            <a:solidFill>
              <a:srgbClr val="DDD8CC"/>
            </a:solidFill>
            <a:prstDash val="solid"/>
          </a:ln>
        </p:spPr>
      </p:sp>
      <p:sp>
        <p:nvSpPr>
          <p:cNvPr id="26" name="Text 24"/>
          <p:cNvSpPr/>
          <p:nvPr/>
        </p:nvSpPr>
        <p:spPr>
          <a:xfrm>
            <a:off x="812800" y="31800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L17</a:t>
            </a:r>
            <a:endParaRPr lang="en-US" sz="2000" dirty="0"/>
          </a:p>
        </p:txBody>
      </p:sp>
      <p:sp>
        <p:nvSpPr>
          <p:cNvPr id="27" name="Shape 25"/>
          <p:cNvSpPr/>
          <p:nvPr/>
        </p:nvSpPr>
        <p:spPr>
          <a:xfrm>
            <a:off x="1828800" y="3127375"/>
            <a:ext cx="9550400" cy="0"/>
          </a:xfrm>
          <a:prstGeom prst="line">
            <a:avLst/>
          </a:prstGeom>
          <a:noFill/>
          <a:ln w="6350">
            <a:solidFill>
              <a:srgbClr val="DDD8CC"/>
            </a:solidFill>
            <a:prstDash val="solid"/>
          </a:ln>
        </p:spPr>
      </p:sp>
      <p:sp>
        <p:nvSpPr>
          <p:cNvPr id="28" name="Text 26"/>
          <p:cNvSpPr/>
          <p:nvPr/>
        </p:nvSpPr>
        <p:spPr>
          <a:xfrm>
            <a:off x="1828800" y="3218180"/>
            <a:ext cx="44599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Selenium WebDriver: architecture, locators and waits</a:t>
            </a:r>
            <a:endParaRPr lang="en-US" sz="1400" dirty="0"/>
          </a:p>
        </p:txBody>
      </p:sp>
      <p:sp>
        <p:nvSpPr>
          <p:cNvPr id="29" name="Text 27"/>
          <p:cNvSpPr/>
          <p:nvPr/>
        </p:nvSpPr>
        <p:spPr>
          <a:xfrm>
            <a:off x="6235065" y="32435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40 min</a:t>
            </a:r>
            <a:endParaRPr lang="en-US" sz="1200" dirty="0"/>
          </a:p>
        </p:txBody>
      </p:sp>
      <p:sp>
        <p:nvSpPr>
          <p:cNvPr id="30" name="Shape 28"/>
          <p:cNvSpPr/>
          <p:nvPr/>
        </p:nvSpPr>
        <p:spPr>
          <a:xfrm>
            <a:off x="812800" y="3559175"/>
            <a:ext cx="1016000" cy="0"/>
          </a:xfrm>
          <a:prstGeom prst="line">
            <a:avLst/>
          </a:prstGeom>
          <a:noFill/>
          <a:ln w="6350">
            <a:solidFill>
              <a:srgbClr val="DDD8CC"/>
            </a:solidFill>
            <a:prstDash val="solid"/>
          </a:ln>
        </p:spPr>
      </p:sp>
      <p:sp>
        <p:nvSpPr>
          <p:cNvPr id="31" name="Text 29"/>
          <p:cNvSpPr/>
          <p:nvPr/>
        </p:nvSpPr>
        <p:spPr>
          <a:xfrm>
            <a:off x="812800" y="36118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L18</a:t>
            </a:r>
            <a:endParaRPr lang="en-US" sz="2000" dirty="0"/>
          </a:p>
        </p:txBody>
      </p:sp>
      <p:sp>
        <p:nvSpPr>
          <p:cNvPr id="32" name="Shape 30"/>
          <p:cNvSpPr/>
          <p:nvPr/>
        </p:nvSpPr>
        <p:spPr>
          <a:xfrm>
            <a:off x="1828800" y="3559175"/>
            <a:ext cx="9550400" cy="0"/>
          </a:xfrm>
          <a:prstGeom prst="line">
            <a:avLst/>
          </a:prstGeom>
          <a:noFill/>
          <a:ln w="6350">
            <a:solidFill>
              <a:srgbClr val="DDD8CC"/>
            </a:solidFill>
            <a:prstDash val="solid"/>
          </a:ln>
        </p:spPr>
      </p:sp>
      <p:sp>
        <p:nvSpPr>
          <p:cNvPr id="33" name="Text 31"/>
          <p:cNvSpPr/>
          <p:nvPr/>
        </p:nvSpPr>
        <p:spPr>
          <a:xfrm>
            <a:off x="1828800" y="3649980"/>
            <a:ext cx="374958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script design and the Page Object Model</a:t>
            </a:r>
            <a:endParaRPr lang="en-US" sz="1400" dirty="0"/>
          </a:p>
        </p:txBody>
      </p:sp>
      <p:sp>
        <p:nvSpPr>
          <p:cNvPr id="34" name="Text 32"/>
          <p:cNvSpPr/>
          <p:nvPr/>
        </p:nvSpPr>
        <p:spPr>
          <a:xfrm>
            <a:off x="5545376" y="36753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40 min</a:t>
            </a:r>
            <a:endParaRPr lang="en-US" sz="1200" dirty="0"/>
          </a:p>
        </p:txBody>
      </p:sp>
      <p:sp>
        <p:nvSpPr>
          <p:cNvPr id="35" name="Shape 33"/>
          <p:cNvSpPr/>
          <p:nvPr/>
        </p:nvSpPr>
        <p:spPr>
          <a:xfrm>
            <a:off x="812800" y="3990975"/>
            <a:ext cx="1016000" cy="0"/>
          </a:xfrm>
          <a:prstGeom prst="line">
            <a:avLst/>
          </a:prstGeom>
          <a:noFill/>
          <a:ln w="6350">
            <a:solidFill>
              <a:srgbClr val="DDD8CC"/>
            </a:solidFill>
            <a:prstDash val="solid"/>
          </a:ln>
        </p:spPr>
      </p:sp>
      <p:sp>
        <p:nvSpPr>
          <p:cNvPr id="36" name="Text 34"/>
          <p:cNvSpPr/>
          <p:nvPr/>
        </p:nvSpPr>
        <p:spPr>
          <a:xfrm>
            <a:off x="812800" y="40436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L19</a:t>
            </a:r>
            <a:endParaRPr lang="en-US" sz="2000" dirty="0"/>
          </a:p>
        </p:txBody>
      </p:sp>
      <p:sp>
        <p:nvSpPr>
          <p:cNvPr id="37" name="Shape 35"/>
          <p:cNvSpPr/>
          <p:nvPr/>
        </p:nvSpPr>
        <p:spPr>
          <a:xfrm>
            <a:off x="1828800" y="3990975"/>
            <a:ext cx="9550400" cy="0"/>
          </a:xfrm>
          <a:prstGeom prst="line">
            <a:avLst/>
          </a:prstGeom>
          <a:noFill/>
          <a:ln w="6350">
            <a:solidFill>
              <a:srgbClr val="DDD8CC"/>
            </a:solidFill>
            <a:prstDash val="solid"/>
          </a:ln>
        </p:spPr>
      </p:sp>
      <p:sp>
        <p:nvSpPr>
          <p:cNvPr id="38" name="Text 36"/>
          <p:cNvSpPr/>
          <p:nvPr/>
        </p:nvSpPr>
        <p:spPr>
          <a:xfrm>
            <a:off x="1828800" y="4081780"/>
            <a:ext cx="609525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API test automation with Postman: collections, environments, assertions</a:t>
            </a:r>
            <a:endParaRPr lang="en-US" sz="1400" dirty="0"/>
          </a:p>
        </p:txBody>
      </p:sp>
      <p:sp>
        <p:nvSpPr>
          <p:cNvPr id="39" name="Text 37"/>
          <p:cNvSpPr/>
          <p:nvPr/>
        </p:nvSpPr>
        <p:spPr>
          <a:xfrm>
            <a:off x="7822724" y="41071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40 min</a:t>
            </a:r>
            <a:endParaRPr lang="en-US" sz="1200" dirty="0"/>
          </a:p>
        </p:txBody>
      </p:sp>
      <p:sp>
        <p:nvSpPr>
          <p:cNvPr id="40" name="Shape 38"/>
          <p:cNvSpPr/>
          <p:nvPr/>
        </p:nvSpPr>
        <p:spPr>
          <a:xfrm>
            <a:off x="812800" y="4422775"/>
            <a:ext cx="10566400" cy="0"/>
          </a:xfrm>
          <a:prstGeom prst="line">
            <a:avLst/>
          </a:prstGeom>
          <a:noFill/>
          <a:ln w="6350">
            <a:solidFill>
              <a:srgbClr val="DDD8CC"/>
            </a:solidFill>
            <a:prstDash val="solid"/>
          </a:ln>
        </p:spPr>
      </p:sp>
      <p:sp>
        <p:nvSpPr>
          <p:cNvPr id="41" name="Shape 39"/>
          <p:cNvSpPr/>
          <p:nvPr/>
        </p:nvSpPr>
        <p:spPr>
          <a:xfrm>
            <a:off x="815975" y="4681855"/>
            <a:ext cx="5175250" cy="872490"/>
          </a:xfrm>
          <a:prstGeom prst="roundRect">
            <a:avLst>
              <a:gd name="adj" fmla="val 8370"/>
            </a:avLst>
          </a:prstGeom>
          <a:solidFill>
            <a:srgbClr val="FCFBF7"/>
          </a:solidFill>
          <a:ln w="6350">
            <a:solidFill>
              <a:srgbClr val="DDD8CC"/>
            </a:solidFill>
            <a:prstDash val="solid"/>
          </a:ln>
        </p:spPr>
      </p:sp>
      <p:sp>
        <p:nvSpPr>
          <p:cNvPr id="42" name="Text 40"/>
          <p:cNvSpPr/>
          <p:nvPr/>
        </p:nvSpPr>
        <p:spPr>
          <a:xfrm>
            <a:off x="1021080" y="486156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BUILDS ON MODULE 2</a:t>
            </a:r>
            <a:endParaRPr lang="en-US" sz="1200" dirty="0"/>
          </a:p>
        </p:txBody>
      </p:sp>
      <p:sp>
        <p:nvSpPr>
          <p:cNvPr id="43" name="Text 41"/>
          <p:cNvSpPr/>
          <p:nvPr/>
        </p:nvSpPr>
        <p:spPr>
          <a:xfrm>
            <a:off x="1021080" y="5125720"/>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levels, test design and traceability</a:t>
            </a:r>
            <a:endParaRPr lang="en-US" sz="1400" dirty="0"/>
          </a:p>
        </p:txBody>
      </p:sp>
      <p:sp>
        <p:nvSpPr>
          <p:cNvPr id="44" name="Shape 42"/>
          <p:cNvSpPr/>
          <p:nvPr/>
        </p:nvSpPr>
        <p:spPr>
          <a:xfrm>
            <a:off x="6200775" y="4681855"/>
            <a:ext cx="5175250" cy="872490"/>
          </a:xfrm>
          <a:prstGeom prst="roundRect">
            <a:avLst>
              <a:gd name="adj" fmla="val 8370"/>
            </a:avLst>
          </a:prstGeom>
          <a:solidFill>
            <a:srgbClr val="FCFBF7"/>
          </a:solidFill>
          <a:ln w="6350">
            <a:solidFill>
              <a:srgbClr val="DDD8CC"/>
            </a:solidFill>
            <a:prstDash val="solid"/>
          </a:ln>
        </p:spPr>
      </p:sp>
      <p:sp>
        <p:nvSpPr>
          <p:cNvPr id="45" name="Text 43"/>
          <p:cNvSpPr/>
          <p:nvPr/>
        </p:nvSpPr>
        <p:spPr>
          <a:xfrm>
            <a:off x="6405880" y="486156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LEADS INTO MODULE 4</a:t>
            </a:r>
            <a:endParaRPr lang="en-US" sz="1200" dirty="0"/>
          </a:p>
        </p:txBody>
      </p:sp>
      <p:sp>
        <p:nvSpPr>
          <p:cNvPr id="46" name="Text 44"/>
          <p:cNvSpPr/>
          <p:nvPr/>
        </p:nvSpPr>
        <p:spPr>
          <a:xfrm>
            <a:off x="6405880" y="5125720"/>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Mobile, cloud and continuous testing</a:t>
            </a:r>
            <a:endParaRPr lang="en-US" sz="1400" dirty="0"/>
          </a:p>
        </p:txBody>
      </p:sp>
      <p:sp>
        <p:nvSpPr>
          <p:cNvPr id="47" name="Text 45"/>
          <p:cNvSpPr/>
          <p:nvPr/>
        </p:nvSpPr>
        <p:spPr>
          <a:xfrm>
            <a:off x="812800" y="6238241"/>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48" name="Text 46"/>
          <p:cNvSpPr/>
          <p:nvPr/>
        </p:nvSpPr>
        <p:spPr>
          <a:xfrm>
            <a:off x="8989695" y="6238241"/>
            <a:ext cx="24611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Minutes from the lecture-wise plan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3 · LEARNING OUTCOMES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Learning outcomes</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sp>
      <p:sp>
        <p:nvSpPr>
          <p:cNvPr id="5" name="Text 3"/>
          <p:cNvSpPr/>
          <p:nvPr/>
        </p:nvSpPr>
        <p:spPr>
          <a:xfrm>
            <a:off x="812800" y="192278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01</a:t>
            </a:r>
            <a:endParaRPr lang="en-US" sz="2000" dirty="0"/>
          </a:p>
        </p:txBody>
      </p:sp>
      <p:sp>
        <p:nvSpPr>
          <p:cNvPr id="6" name="Text 4"/>
          <p:cNvSpPr/>
          <p:nvPr/>
        </p:nvSpPr>
        <p:spPr>
          <a:xfrm>
            <a:off x="1473200" y="195072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Apply DevOps testing practices: fast and reliable suites, managed test data, controlled dependencies.</a:t>
            </a:r>
            <a:endParaRPr lang="en-US" sz="1400" dirty="0"/>
          </a:p>
        </p:txBody>
      </p:sp>
      <p:sp>
        <p:nvSpPr>
          <p:cNvPr id="7" name="Shape 5"/>
          <p:cNvSpPr/>
          <p:nvPr/>
        </p:nvSpPr>
        <p:spPr>
          <a:xfrm>
            <a:off x="10876280" y="1930400"/>
            <a:ext cx="502920" cy="289560"/>
          </a:xfrm>
          <a:prstGeom prst="roundRect">
            <a:avLst>
              <a:gd name="adj" fmla="val 50000"/>
            </a:avLst>
          </a:prstGeom>
          <a:solidFill>
            <a:srgbClr val="DCE7F3"/>
          </a:solidFill>
          <a:ln/>
        </p:spPr>
      </p:sp>
      <p:sp>
        <p:nvSpPr>
          <p:cNvPr id="8" name="Text 6"/>
          <p:cNvSpPr/>
          <p:nvPr/>
        </p:nvSpPr>
        <p:spPr>
          <a:xfrm>
            <a:off x="10990580" y="1968500"/>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CO3</a:t>
            </a:r>
            <a:endParaRPr lang="en-US" sz="1200" dirty="0"/>
          </a:p>
        </p:txBody>
      </p:sp>
      <p:sp>
        <p:nvSpPr>
          <p:cNvPr id="9" name="Shape 7"/>
          <p:cNvSpPr/>
          <p:nvPr/>
        </p:nvSpPr>
        <p:spPr>
          <a:xfrm>
            <a:off x="812800" y="2319655"/>
            <a:ext cx="10566400" cy="0"/>
          </a:xfrm>
          <a:prstGeom prst="line">
            <a:avLst/>
          </a:prstGeom>
          <a:noFill/>
          <a:ln w="6350">
            <a:solidFill>
              <a:srgbClr val="DDD8CC"/>
            </a:solidFill>
            <a:prstDash val="solid"/>
          </a:ln>
        </p:spPr>
      </p:sp>
      <p:sp>
        <p:nvSpPr>
          <p:cNvPr id="10" name="Text 8"/>
          <p:cNvSpPr/>
          <p:nvPr/>
        </p:nvSpPr>
        <p:spPr>
          <a:xfrm>
            <a:off x="812800" y="2410461"/>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02</a:t>
            </a:r>
            <a:endParaRPr lang="en-US" sz="2000" dirty="0"/>
          </a:p>
        </p:txBody>
      </p:sp>
      <p:sp>
        <p:nvSpPr>
          <p:cNvPr id="11" name="Text 9"/>
          <p:cNvSpPr/>
          <p:nvPr/>
        </p:nvSpPr>
        <p:spPr>
          <a:xfrm>
            <a:off x="1473200" y="243840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Classify automated tests as business-facing or technology-facing, and as functional or non-functional.</a:t>
            </a:r>
            <a:endParaRPr lang="en-US" sz="1400" dirty="0"/>
          </a:p>
        </p:txBody>
      </p:sp>
      <p:sp>
        <p:nvSpPr>
          <p:cNvPr id="12" name="Shape 10"/>
          <p:cNvSpPr/>
          <p:nvPr/>
        </p:nvSpPr>
        <p:spPr>
          <a:xfrm>
            <a:off x="10876280" y="2418080"/>
            <a:ext cx="502920" cy="289560"/>
          </a:xfrm>
          <a:prstGeom prst="roundRect">
            <a:avLst>
              <a:gd name="adj" fmla="val 50000"/>
            </a:avLst>
          </a:prstGeom>
          <a:solidFill>
            <a:srgbClr val="DCE7F3"/>
          </a:solidFill>
          <a:ln/>
        </p:spPr>
      </p:sp>
      <p:sp>
        <p:nvSpPr>
          <p:cNvPr id="13" name="Text 11"/>
          <p:cNvSpPr/>
          <p:nvPr/>
        </p:nvSpPr>
        <p:spPr>
          <a:xfrm>
            <a:off x="10990580" y="2456180"/>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14" name="Shape 12"/>
          <p:cNvSpPr/>
          <p:nvPr/>
        </p:nvSpPr>
        <p:spPr>
          <a:xfrm>
            <a:off x="812800" y="2807336"/>
            <a:ext cx="10566400" cy="0"/>
          </a:xfrm>
          <a:prstGeom prst="line">
            <a:avLst/>
          </a:prstGeom>
          <a:noFill/>
          <a:ln w="6350">
            <a:solidFill>
              <a:srgbClr val="DDD8CC"/>
            </a:solidFill>
            <a:prstDash val="solid"/>
          </a:ln>
        </p:spPr>
      </p:sp>
      <p:sp>
        <p:nvSpPr>
          <p:cNvPr id="15" name="Text 13"/>
          <p:cNvSpPr/>
          <p:nvPr/>
        </p:nvSpPr>
        <p:spPr>
          <a:xfrm>
            <a:off x="812800" y="2898141"/>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03</a:t>
            </a:r>
            <a:endParaRPr lang="en-US" sz="2000" dirty="0"/>
          </a:p>
        </p:txBody>
      </p:sp>
      <p:sp>
        <p:nvSpPr>
          <p:cNvPr id="16" name="Text 14"/>
          <p:cNvSpPr/>
          <p:nvPr/>
        </p:nvSpPr>
        <p:spPr>
          <a:xfrm>
            <a:off x="1473200" y="292608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Automate browser checks with Selenium WebDriver, using stable locators and explicit waits.</a:t>
            </a:r>
            <a:endParaRPr lang="en-US" sz="1400" dirty="0"/>
          </a:p>
        </p:txBody>
      </p:sp>
      <p:sp>
        <p:nvSpPr>
          <p:cNvPr id="17" name="Shape 15"/>
          <p:cNvSpPr/>
          <p:nvPr/>
        </p:nvSpPr>
        <p:spPr>
          <a:xfrm>
            <a:off x="10876280" y="2905761"/>
            <a:ext cx="502920" cy="289560"/>
          </a:xfrm>
          <a:prstGeom prst="roundRect">
            <a:avLst>
              <a:gd name="adj" fmla="val 50000"/>
            </a:avLst>
          </a:prstGeom>
          <a:solidFill>
            <a:srgbClr val="DCE7F3"/>
          </a:solidFill>
          <a:ln/>
        </p:spPr>
      </p:sp>
      <p:sp>
        <p:nvSpPr>
          <p:cNvPr id="18" name="Text 16"/>
          <p:cNvSpPr/>
          <p:nvPr/>
        </p:nvSpPr>
        <p:spPr>
          <a:xfrm>
            <a:off x="10990580" y="2943861"/>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CO2</a:t>
            </a:r>
            <a:endParaRPr lang="en-US" sz="1200" dirty="0"/>
          </a:p>
        </p:txBody>
      </p:sp>
      <p:sp>
        <p:nvSpPr>
          <p:cNvPr id="19" name="Shape 17"/>
          <p:cNvSpPr/>
          <p:nvPr/>
        </p:nvSpPr>
        <p:spPr>
          <a:xfrm>
            <a:off x="812800" y="3295016"/>
            <a:ext cx="10566400" cy="0"/>
          </a:xfrm>
          <a:prstGeom prst="line">
            <a:avLst/>
          </a:prstGeom>
          <a:noFill/>
          <a:ln w="6350">
            <a:solidFill>
              <a:srgbClr val="DDD8CC"/>
            </a:solidFill>
            <a:prstDash val="solid"/>
          </a:ln>
        </p:spPr>
      </p:sp>
      <p:sp>
        <p:nvSpPr>
          <p:cNvPr id="20" name="Text 18"/>
          <p:cNvSpPr/>
          <p:nvPr/>
        </p:nvSpPr>
        <p:spPr>
          <a:xfrm>
            <a:off x="812800" y="338582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04</a:t>
            </a:r>
            <a:endParaRPr lang="en-US" sz="2000" dirty="0"/>
          </a:p>
        </p:txBody>
      </p:sp>
      <p:sp>
        <p:nvSpPr>
          <p:cNvPr id="21" name="Text 19"/>
          <p:cNvSpPr/>
          <p:nvPr/>
        </p:nvSpPr>
        <p:spPr>
          <a:xfrm>
            <a:off x="1473200" y="3413761"/>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Structure UI test code with the Page Object Model, keywords and data-driven tests.</a:t>
            </a:r>
            <a:endParaRPr lang="en-US" sz="1400" dirty="0"/>
          </a:p>
        </p:txBody>
      </p:sp>
      <p:sp>
        <p:nvSpPr>
          <p:cNvPr id="22" name="Shape 20"/>
          <p:cNvSpPr/>
          <p:nvPr/>
        </p:nvSpPr>
        <p:spPr>
          <a:xfrm>
            <a:off x="10876280" y="3393441"/>
            <a:ext cx="502920" cy="289560"/>
          </a:xfrm>
          <a:prstGeom prst="roundRect">
            <a:avLst>
              <a:gd name="adj" fmla="val 50000"/>
            </a:avLst>
          </a:prstGeom>
          <a:solidFill>
            <a:srgbClr val="DCE7F3"/>
          </a:solidFill>
          <a:ln/>
        </p:spPr>
      </p:sp>
      <p:sp>
        <p:nvSpPr>
          <p:cNvPr id="23" name="Text 21"/>
          <p:cNvSpPr/>
          <p:nvPr/>
        </p:nvSpPr>
        <p:spPr>
          <a:xfrm>
            <a:off x="10990580" y="3431541"/>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CO2</a:t>
            </a:r>
            <a:endParaRPr lang="en-US" sz="1200" dirty="0"/>
          </a:p>
        </p:txBody>
      </p:sp>
      <p:sp>
        <p:nvSpPr>
          <p:cNvPr id="24" name="Shape 22"/>
          <p:cNvSpPr/>
          <p:nvPr/>
        </p:nvSpPr>
        <p:spPr>
          <a:xfrm>
            <a:off x="812800" y="3782695"/>
            <a:ext cx="10566400" cy="0"/>
          </a:xfrm>
          <a:prstGeom prst="line">
            <a:avLst/>
          </a:prstGeom>
          <a:noFill/>
          <a:ln w="6350">
            <a:solidFill>
              <a:srgbClr val="DDD8CC"/>
            </a:solidFill>
            <a:prstDash val="solid"/>
          </a:ln>
        </p:spPr>
      </p:sp>
      <p:sp>
        <p:nvSpPr>
          <p:cNvPr id="25" name="Shape 23"/>
          <p:cNvSpPr/>
          <p:nvPr/>
        </p:nvSpPr>
        <p:spPr>
          <a:xfrm>
            <a:off x="812800" y="4269105"/>
            <a:ext cx="10566400" cy="0"/>
          </a:xfrm>
          <a:prstGeom prst="line">
            <a:avLst/>
          </a:prstGeom>
          <a:noFill/>
          <a:ln w="6350">
            <a:solidFill>
              <a:srgbClr val="DDD8CC"/>
            </a:solidFill>
            <a:prstDash val="solid"/>
          </a:ln>
        </p:spPr>
      </p:sp>
      <p:sp>
        <p:nvSpPr>
          <p:cNvPr id="26" name="Text 24"/>
          <p:cNvSpPr/>
          <p:nvPr/>
        </p:nvSpPr>
        <p:spPr>
          <a:xfrm>
            <a:off x="812800" y="387350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05</a:t>
            </a:r>
            <a:endParaRPr lang="en-US" sz="2000" dirty="0"/>
          </a:p>
        </p:txBody>
      </p:sp>
      <p:sp>
        <p:nvSpPr>
          <p:cNvPr id="27" name="Text 25"/>
          <p:cNvSpPr/>
          <p:nvPr/>
        </p:nvSpPr>
        <p:spPr>
          <a:xfrm>
            <a:off x="1473200" y="3901441"/>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Automate API tests in Postman with environments and assertions, and run them in CI with Newman.</a:t>
            </a:r>
            <a:endParaRPr lang="en-US" sz="1400" dirty="0"/>
          </a:p>
        </p:txBody>
      </p:sp>
      <p:sp>
        <p:nvSpPr>
          <p:cNvPr id="28" name="Shape 26"/>
          <p:cNvSpPr/>
          <p:nvPr/>
        </p:nvSpPr>
        <p:spPr>
          <a:xfrm>
            <a:off x="10876280" y="3881120"/>
            <a:ext cx="502920" cy="289560"/>
          </a:xfrm>
          <a:prstGeom prst="roundRect">
            <a:avLst>
              <a:gd name="adj" fmla="val 50000"/>
            </a:avLst>
          </a:prstGeom>
          <a:solidFill>
            <a:srgbClr val="DCE7F3"/>
          </a:solidFill>
          <a:ln/>
        </p:spPr>
      </p:sp>
      <p:sp>
        <p:nvSpPr>
          <p:cNvPr id="29" name="Text 27"/>
          <p:cNvSpPr/>
          <p:nvPr/>
        </p:nvSpPr>
        <p:spPr>
          <a:xfrm>
            <a:off x="10990580" y="3919220"/>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CO3</a:t>
            </a:r>
            <a:endParaRPr lang="en-US" sz="1200" dirty="0"/>
          </a:p>
        </p:txBody>
      </p:sp>
      <p:sp>
        <p:nvSpPr>
          <p:cNvPr id="30" name="Text 28"/>
          <p:cNvSpPr/>
          <p:nvPr/>
        </p:nvSpPr>
        <p:spPr>
          <a:xfrm>
            <a:off x="812800" y="4526280"/>
            <a:ext cx="98107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Course outcomes: CO1 understand the various testing approaches · CO2 apply automation testing technologies through tools · CO3 test and evaluate automation test cases in DevOps environments</a:t>
            </a:r>
            <a:endParaRPr lang="en-US" sz="1200" dirty="0"/>
          </a:p>
        </p:txBody>
      </p:sp>
      <p:sp>
        <p:nvSpPr>
          <p:cNvPr id="31" name="Text 29"/>
          <p:cNvSpPr/>
          <p:nvPr/>
        </p:nvSpPr>
        <p:spPr>
          <a:xfrm>
            <a:off x="812800" y="6238241"/>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3 · RUNNING EXAMPLE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Canteen App under test</a:t>
            </a:r>
            <a:endParaRPr lang="en-US" sz="3200" dirty="0"/>
          </a:p>
        </p:txBody>
      </p:sp>
      <p:sp>
        <p:nvSpPr>
          <p:cNvPr id="4" name="Text 2"/>
          <p:cNvSpPr/>
          <p:nvPr/>
        </p:nvSpPr>
        <p:spPr>
          <a:xfrm>
            <a:off x="812800" y="1828800"/>
            <a:ext cx="9810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same campus ordering app as Modules 1 and 2, now a small web app and JSON API. Every code example in this module ran against it.</a:t>
            </a:r>
            <a:endParaRPr lang="en-US" sz="1400" dirty="0"/>
          </a:p>
        </p:txBody>
      </p:sp>
      <p:sp>
        <p:nvSpPr>
          <p:cNvPr id="5" name="Shape 3"/>
          <p:cNvSpPr/>
          <p:nvPr/>
        </p:nvSpPr>
        <p:spPr>
          <a:xfrm>
            <a:off x="815975" y="2583816"/>
            <a:ext cx="3905250" cy="659130"/>
          </a:xfrm>
          <a:prstGeom prst="roundRect">
            <a:avLst>
              <a:gd name="adj" fmla="val 11079"/>
            </a:avLst>
          </a:prstGeom>
          <a:solidFill>
            <a:srgbClr val="FCFBF7"/>
          </a:solidFill>
          <a:ln w="6350">
            <a:solidFill>
              <a:srgbClr val="DDD8CC"/>
            </a:solidFill>
            <a:prstDash val="solid"/>
          </a:ln>
        </p:spPr>
      </p:sp>
      <p:sp>
        <p:nvSpPr>
          <p:cNvPr id="6" name="Text 4"/>
          <p:cNvSpPr/>
          <p:nvPr/>
        </p:nvSpPr>
        <p:spPr>
          <a:xfrm>
            <a:off x="970280" y="2687320"/>
            <a:ext cx="37045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/login</a:t>
            </a:r>
            <a:endParaRPr lang="en-US" sz="1200" dirty="0"/>
          </a:p>
        </p:txBody>
      </p:sp>
      <p:sp>
        <p:nvSpPr>
          <p:cNvPr id="7" name="Text 5"/>
          <p:cNvSpPr/>
          <p:nvPr/>
        </p:nvSpPr>
        <p:spPr>
          <a:xfrm>
            <a:off x="970280" y="2926080"/>
            <a:ext cx="37045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University ID, password, Log in · F1</a:t>
            </a:r>
            <a:endParaRPr lang="en-US" sz="1200" dirty="0"/>
          </a:p>
        </p:txBody>
      </p:sp>
      <p:sp>
        <p:nvSpPr>
          <p:cNvPr id="8" name="Shape 6"/>
          <p:cNvSpPr/>
          <p:nvPr/>
        </p:nvSpPr>
        <p:spPr>
          <a:xfrm>
            <a:off x="815975" y="3325495"/>
            <a:ext cx="3905250" cy="659130"/>
          </a:xfrm>
          <a:prstGeom prst="roundRect">
            <a:avLst>
              <a:gd name="adj" fmla="val 11079"/>
            </a:avLst>
          </a:prstGeom>
          <a:solidFill>
            <a:srgbClr val="FCFBF7"/>
          </a:solidFill>
          <a:ln w="6350">
            <a:solidFill>
              <a:srgbClr val="DDD8CC"/>
            </a:solidFill>
            <a:prstDash val="solid"/>
          </a:ln>
        </p:spPr>
      </p:sp>
      <p:sp>
        <p:nvSpPr>
          <p:cNvPr id="9" name="Text 7"/>
          <p:cNvSpPr/>
          <p:nvPr/>
        </p:nvSpPr>
        <p:spPr>
          <a:xfrm>
            <a:off x="970280" y="3429000"/>
            <a:ext cx="37045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/menu</a:t>
            </a:r>
            <a:endParaRPr lang="en-US" sz="1200" dirty="0"/>
          </a:p>
        </p:txBody>
      </p:sp>
      <p:sp>
        <p:nvSpPr>
          <p:cNvPr id="10" name="Text 8"/>
          <p:cNvSpPr/>
          <p:nvPr/>
        </p:nvSpPr>
        <p:spPr>
          <a:xfrm>
            <a:off x="970280" y="3667761"/>
            <a:ext cx="37045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Items, Add buttons, cart badge · F2, F3</a:t>
            </a:r>
            <a:endParaRPr lang="en-US" sz="1200" dirty="0"/>
          </a:p>
        </p:txBody>
      </p:sp>
      <p:sp>
        <p:nvSpPr>
          <p:cNvPr id="11" name="Shape 9"/>
          <p:cNvSpPr/>
          <p:nvPr/>
        </p:nvSpPr>
        <p:spPr>
          <a:xfrm>
            <a:off x="815975" y="4067175"/>
            <a:ext cx="3905250" cy="659130"/>
          </a:xfrm>
          <a:prstGeom prst="roundRect">
            <a:avLst>
              <a:gd name="adj" fmla="val 11079"/>
            </a:avLst>
          </a:prstGeom>
          <a:solidFill>
            <a:srgbClr val="FCFBF7"/>
          </a:solidFill>
          <a:ln w="6350">
            <a:solidFill>
              <a:srgbClr val="DDD8CC"/>
            </a:solidFill>
            <a:prstDash val="solid"/>
          </a:ln>
        </p:spPr>
      </p:sp>
      <p:sp>
        <p:nvSpPr>
          <p:cNvPr id="12" name="Text 10"/>
          <p:cNvSpPr/>
          <p:nvPr/>
        </p:nvSpPr>
        <p:spPr>
          <a:xfrm>
            <a:off x="970280" y="4170680"/>
            <a:ext cx="37045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/cart</a:t>
            </a:r>
            <a:endParaRPr lang="en-US" sz="1200" dirty="0"/>
          </a:p>
        </p:txBody>
      </p:sp>
      <p:sp>
        <p:nvSpPr>
          <p:cNvPr id="13" name="Text 11"/>
          <p:cNvSpPr/>
          <p:nvPr/>
        </p:nvSpPr>
        <p:spPr>
          <a:xfrm>
            <a:off x="970280" y="4409441"/>
            <a:ext cx="37045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Lines, coupon, discount, total · F3, F4</a:t>
            </a:r>
            <a:endParaRPr lang="en-US" sz="1200" dirty="0"/>
          </a:p>
        </p:txBody>
      </p:sp>
      <p:sp>
        <p:nvSpPr>
          <p:cNvPr id="14" name="Shape 12"/>
          <p:cNvSpPr/>
          <p:nvPr/>
        </p:nvSpPr>
        <p:spPr>
          <a:xfrm>
            <a:off x="815975" y="4808855"/>
            <a:ext cx="3905250" cy="659130"/>
          </a:xfrm>
          <a:prstGeom prst="roundRect">
            <a:avLst>
              <a:gd name="adj" fmla="val 11079"/>
            </a:avLst>
          </a:prstGeom>
          <a:solidFill>
            <a:srgbClr val="FCFBF7"/>
          </a:solidFill>
          <a:ln w="6350">
            <a:solidFill>
              <a:srgbClr val="DDD8CC"/>
            </a:solidFill>
            <a:prstDash val="solid"/>
          </a:ln>
        </p:spPr>
      </p:sp>
      <p:sp>
        <p:nvSpPr>
          <p:cNvPr id="15" name="Text 13"/>
          <p:cNvSpPr/>
          <p:nvPr/>
        </p:nvSpPr>
        <p:spPr>
          <a:xfrm>
            <a:off x="970280" y="4912361"/>
            <a:ext cx="37045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/orders/{id}</a:t>
            </a:r>
            <a:endParaRPr lang="en-US" sz="1200" dirty="0"/>
          </a:p>
        </p:txBody>
      </p:sp>
      <p:sp>
        <p:nvSpPr>
          <p:cNvPr id="16" name="Text 14"/>
          <p:cNvSpPr/>
          <p:nvPr/>
        </p:nvSpPr>
        <p:spPr>
          <a:xfrm>
            <a:off x="970280" y="5151120"/>
            <a:ext cx="37045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Order number and status · F6</a:t>
            </a:r>
            <a:endParaRPr lang="en-US" sz="1200" dirty="0"/>
          </a:p>
        </p:txBody>
      </p:sp>
      <p:sp>
        <p:nvSpPr>
          <p:cNvPr id="17" name="Text 15"/>
          <p:cNvSpPr/>
          <p:nvPr/>
        </p:nvSpPr>
        <p:spPr>
          <a:xfrm>
            <a:off x="5029200" y="25806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JSON API</a:t>
            </a:r>
            <a:endParaRPr lang="en-US" sz="1200" dirty="0"/>
          </a:p>
        </p:txBody>
      </p:sp>
      <p:sp>
        <p:nvSpPr>
          <p:cNvPr id="18" name="Shape 16"/>
          <p:cNvSpPr/>
          <p:nvPr/>
        </p:nvSpPr>
        <p:spPr>
          <a:xfrm>
            <a:off x="11376025" y="2895600"/>
            <a:ext cx="0" cy="1996440"/>
          </a:xfrm>
          <a:prstGeom prst="line">
            <a:avLst/>
          </a:prstGeom>
          <a:noFill/>
          <a:ln w="6350">
            <a:solidFill>
              <a:srgbClr val="DDD8CC"/>
            </a:solidFill>
            <a:prstDash val="solid"/>
          </a:ln>
        </p:spPr>
      </p:sp>
      <p:sp>
        <p:nvSpPr>
          <p:cNvPr id="19" name="Shape 17"/>
          <p:cNvSpPr/>
          <p:nvPr/>
        </p:nvSpPr>
        <p:spPr>
          <a:xfrm>
            <a:off x="5029200" y="4888865"/>
            <a:ext cx="6350000" cy="0"/>
          </a:xfrm>
          <a:prstGeom prst="line">
            <a:avLst/>
          </a:prstGeom>
          <a:noFill/>
          <a:ln w="6350">
            <a:solidFill>
              <a:srgbClr val="DDD8CC"/>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39360" y="2905760"/>
          <a:ext cx="6334760" cy="1981200"/>
        </p:xfrm>
        <a:graphic>
          <a:graphicData uri="http://schemas.openxmlformats.org/drawingml/2006/table">
            <a:tbl>
              <a:tblPr/>
              <a:tblGrid>
                <a:gridCol w="823519"/>
                <a:gridCol w="2343861"/>
                <a:gridCol w="3167380"/>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Verb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Returns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/api/login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200 token · 401 · 423 locked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/api/menu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200 list of items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/api/cart/items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201 line total · 401 · 404 · 422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/api/orders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201 order and discount · 422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/api/orders/{id}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200 order status · 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21" name="Text 18"/>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2" name="Text 19"/>
          <p:cNvSpPr/>
          <p:nvPr/>
        </p:nvSpPr>
        <p:spPr>
          <a:xfrm>
            <a:off x="5148104" y="6238239"/>
            <a:ext cx="64180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Teaching version: python web/app.py serves http://localhost:5000 · payment (F5) is left out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14</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3 · LECTURE 14 · 40 MINUTES</a:t>
            </a:r>
            <a:endParaRPr lang="en-US" sz="1200" dirty="0"/>
          </a:p>
        </p:txBody>
      </p:sp>
      <p:sp>
        <p:nvSpPr>
          <p:cNvPr id="4" name="Text 2"/>
          <p:cNvSpPr/>
          <p:nvPr/>
        </p:nvSpPr>
        <p:spPr>
          <a:xfrm>
            <a:off x="812800" y="3134361"/>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DevOps testing</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best practices</a:t>
            </a:r>
            <a:endParaRPr lang="en-US" sz="5600" dirty="0"/>
          </a:p>
        </p:txBody>
      </p:sp>
      <p:sp>
        <p:nvSpPr>
          <p:cNvPr id="5" name="Shape 3"/>
          <p:cNvSpPr/>
          <p:nvPr/>
        </p:nvSpPr>
        <p:spPr>
          <a:xfrm>
            <a:off x="812800" y="4989832"/>
            <a:ext cx="5892800" cy="0"/>
          </a:xfrm>
          <a:prstGeom prst="line">
            <a:avLst/>
          </a:prstGeom>
          <a:noFill/>
          <a:ln w="12700">
            <a:solidFill>
              <a:srgbClr val="3A5476"/>
            </a:solidFill>
            <a:prstDash val="solid"/>
          </a:ln>
        </p:spPr>
      </p:sp>
      <p:sp>
        <p:nvSpPr>
          <p:cNvPr id="6" name="Text 4"/>
          <p:cNvSpPr/>
          <p:nvPr/>
        </p:nvSpPr>
        <p:spPr>
          <a:xfrm>
            <a:off x="812800" y="5120639"/>
            <a:ext cx="60695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40 min</a:t>
            </a:r>
            <a:endParaRPr lang="en-US" sz="1200" dirty="0"/>
          </a:p>
        </p:txBody>
      </p:sp>
      <p:sp>
        <p:nvSpPr>
          <p:cNvPr id="7" name="Text 5"/>
          <p:cNvSpPr/>
          <p:nvPr/>
        </p:nvSpPr>
        <p:spPr>
          <a:xfrm>
            <a:off x="812800" y="5384800"/>
            <a:ext cx="6069584"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Fast feedback, reliable suites, test data and dependencies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DEVOPS TESTING BEST PRACTICES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changes when testing moves into DevOps</a:t>
            </a:r>
            <a:endParaRPr lang="en-US" sz="3200" dirty="0"/>
          </a:p>
        </p:txBody>
      </p:sp>
      <p:sp>
        <p:nvSpPr>
          <p:cNvPr id="4" name="Shape 2"/>
          <p:cNvSpPr/>
          <p:nvPr/>
        </p:nvSpPr>
        <p:spPr>
          <a:xfrm>
            <a:off x="11376025" y="1828800"/>
            <a:ext cx="0" cy="2656840"/>
          </a:xfrm>
          <a:prstGeom prst="line">
            <a:avLst/>
          </a:prstGeom>
          <a:noFill/>
          <a:ln w="6350">
            <a:solidFill>
              <a:srgbClr val="DDD8CC"/>
            </a:solidFill>
            <a:prstDash val="solid"/>
          </a:ln>
        </p:spPr>
      </p:sp>
      <p:sp>
        <p:nvSpPr>
          <p:cNvPr id="5" name="Shape 3"/>
          <p:cNvSpPr/>
          <p:nvPr/>
        </p:nvSpPr>
        <p:spPr>
          <a:xfrm>
            <a:off x="812800" y="44824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41600"/>
        </p:xfrm>
        <a:graphic>
          <a:graphicData uri="http://schemas.openxmlformats.org/drawingml/2006/table">
            <a:tbl>
              <a:tblPr/>
              <a:tblGrid>
                <a:gridCol w="2321255"/>
                <a:gridCol w="4114952"/>
                <a:gridCol w="4114952"/>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Aspect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Release-cycle testing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DevOps testing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When tests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 a phase after development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On every change, all the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Who owns quality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separate QA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whole team; developers write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Regression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Manual, before each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Automated, on every commit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Feedback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Days or weeks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Minutes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Release 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Large, every few months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Small and frequent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Shared and built by hand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Created from code on demand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After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Testing stops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Monitoring and tests in production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739639"/>
            <a:ext cx="10566400" cy="802640"/>
          </a:xfrm>
          <a:prstGeom prst="roundRect">
            <a:avLst>
              <a:gd name="adj" fmla="val 9494"/>
            </a:avLst>
          </a:prstGeom>
          <a:solidFill>
            <a:srgbClr val="13233A"/>
          </a:solidFill>
          <a:ln/>
        </p:spPr>
      </p:sp>
      <p:sp>
        <p:nvSpPr>
          <p:cNvPr id="8" name="Text 5"/>
          <p:cNvSpPr/>
          <p:nvPr/>
        </p:nvSpPr>
        <p:spPr>
          <a:xfrm>
            <a:off x="1016000" y="5034282"/>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DORA</a:t>
            </a:r>
            <a:endParaRPr lang="en-US" sz="1200" dirty="0"/>
          </a:p>
        </p:txBody>
      </p:sp>
      <p:sp>
        <p:nvSpPr>
          <p:cNvPr id="9" name="Text 6"/>
          <p:cNvSpPr/>
          <p:nvPr/>
        </p:nvSpPr>
        <p:spPr>
          <a:xfrm>
            <a:off x="1584960" y="4892039"/>
            <a:ext cx="98787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“When developers are primarily responsible for creating and maintaining suites of automated tests, and when it is easy for developers to fix acceptance test failures, this drives improved performance.”</a:t>
            </a:r>
            <a:endParaRPr lang="en-US" sz="1400" dirty="0"/>
          </a:p>
        </p:txBody>
      </p:sp>
      <p:sp>
        <p:nvSpPr>
          <p:cNvPr id="10" name="Text 7"/>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7473156" y="6238239"/>
            <a:ext cx="40232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 DORA capability guide, test automation (dora.dev)</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DEVOPS TESTING BEST PRACTICES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Ten practices at a glance</a:t>
            </a:r>
            <a:endParaRPr lang="en-US" sz="3200" dirty="0"/>
          </a:p>
        </p:txBody>
      </p:sp>
      <p:sp>
        <p:nvSpPr>
          <p:cNvPr id="4" name="Shape 2"/>
          <p:cNvSpPr/>
          <p:nvPr/>
        </p:nvSpPr>
        <p:spPr>
          <a:xfrm>
            <a:off x="815975" y="1831975"/>
            <a:ext cx="5226050" cy="676910"/>
          </a:xfrm>
          <a:prstGeom prst="roundRect">
            <a:avLst>
              <a:gd name="adj" fmla="val 10788"/>
            </a:avLst>
          </a:prstGeom>
          <a:solidFill>
            <a:srgbClr val="FCFBF7"/>
          </a:solidFill>
          <a:ln w="6350">
            <a:solidFill>
              <a:srgbClr val="DDD8CC"/>
            </a:solidFill>
            <a:prstDash val="solid"/>
          </a:ln>
        </p:spPr>
      </p:sp>
      <p:sp>
        <p:nvSpPr>
          <p:cNvPr id="5" name="Text 3"/>
          <p:cNvSpPr/>
          <p:nvPr/>
        </p:nvSpPr>
        <p:spPr>
          <a:xfrm>
            <a:off x="970280" y="1935482"/>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452880" y="1935482"/>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Shift left</a:t>
            </a:r>
            <a:endParaRPr lang="en-US" sz="1400" dirty="0"/>
          </a:p>
        </p:txBody>
      </p:sp>
      <p:sp>
        <p:nvSpPr>
          <p:cNvPr id="7" name="Text 5"/>
          <p:cNvSpPr/>
          <p:nvPr/>
        </p:nvSpPr>
        <p:spPr>
          <a:xfrm>
            <a:off x="1452880" y="2192021"/>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Review stories and write tests from day one</a:t>
            </a:r>
            <a:endParaRPr lang="en-US" sz="1200" dirty="0"/>
          </a:p>
        </p:txBody>
      </p:sp>
      <p:sp>
        <p:nvSpPr>
          <p:cNvPr id="8" name="Shape 6"/>
          <p:cNvSpPr/>
          <p:nvPr/>
        </p:nvSpPr>
        <p:spPr>
          <a:xfrm>
            <a:off x="6149975" y="1831975"/>
            <a:ext cx="5226050" cy="676910"/>
          </a:xfrm>
          <a:prstGeom prst="roundRect">
            <a:avLst>
              <a:gd name="adj" fmla="val 10788"/>
            </a:avLst>
          </a:prstGeom>
          <a:solidFill>
            <a:srgbClr val="FCFBF7"/>
          </a:solidFill>
          <a:ln w="6350">
            <a:solidFill>
              <a:srgbClr val="DDD8CC"/>
            </a:solidFill>
            <a:prstDash val="solid"/>
          </a:ln>
        </p:spPr>
      </p:sp>
      <p:sp>
        <p:nvSpPr>
          <p:cNvPr id="9" name="Text 7"/>
          <p:cNvSpPr/>
          <p:nvPr/>
        </p:nvSpPr>
        <p:spPr>
          <a:xfrm>
            <a:off x="6304280" y="1935482"/>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0" name="Text 8"/>
          <p:cNvSpPr/>
          <p:nvPr/>
        </p:nvSpPr>
        <p:spPr>
          <a:xfrm>
            <a:off x="6786880" y="1935482"/>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Follow the test pyramid</a:t>
            </a:r>
            <a:endParaRPr lang="en-US" sz="1400" dirty="0"/>
          </a:p>
        </p:txBody>
      </p:sp>
      <p:sp>
        <p:nvSpPr>
          <p:cNvPr id="11" name="Text 9"/>
          <p:cNvSpPr/>
          <p:nvPr/>
        </p:nvSpPr>
        <p:spPr>
          <a:xfrm>
            <a:off x="6786880" y="2192021"/>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Most checks at unit and API level; few UI tests</a:t>
            </a:r>
            <a:endParaRPr lang="en-US" sz="1200" dirty="0"/>
          </a:p>
        </p:txBody>
      </p:sp>
      <p:sp>
        <p:nvSpPr>
          <p:cNvPr id="12" name="Shape 10"/>
          <p:cNvSpPr/>
          <p:nvPr/>
        </p:nvSpPr>
        <p:spPr>
          <a:xfrm>
            <a:off x="815975" y="2616836"/>
            <a:ext cx="5226050" cy="676910"/>
          </a:xfrm>
          <a:prstGeom prst="roundRect">
            <a:avLst>
              <a:gd name="adj" fmla="val 10788"/>
            </a:avLst>
          </a:prstGeom>
          <a:solidFill>
            <a:srgbClr val="FCFBF7"/>
          </a:solidFill>
          <a:ln w="6350">
            <a:solidFill>
              <a:srgbClr val="DDD8CC"/>
            </a:solidFill>
            <a:prstDash val="solid"/>
          </a:ln>
        </p:spPr>
      </p:sp>
      <p:sp>
        <p:nvSpPr>
          <p:cNvPr id="13" name="Text 11"/>
          <p:cNvSpPr/>
          <p:nvPr/>
        </p:nvSpPr>
        <p:spPr>
          <a:xfrm>
            <a:off x="970280" y="2720339"/>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1452880" y="2720339"/>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every change</a:t>
            </a:r>
            <a:endParaRPr lang="en-US" sz="1400" dirty="0"/>
          </a:p>
        </p:txBody>
      </p:sp>
      <p:sp>
        <p:nvSpPr>
          <p:cNvPr id="15" name="Text 13"/>
          <p:cNvSpPr/>
          <p:nvPr/>
        </p:nvSpPr>
        <p:spPr>
          <a:xfrm>
            <a:off x="1452880" y="2976882"/>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CI tests every commit and every pull request</a:t>
            </a:r>
            <a:endParaRPr lang="en-US" sz="1200" dirty="0"/>
          </a:p>
        </p:txBody>
      </p:sp>
      <p:sp>
        <p:nvSpPr>
          <p:cNvPr id="16" name="Shape 14"/>
          <p:cNvSpPr/>
          <p:nvPr/>
        </p:nvSpPr>
        <p:spPr>
          <a:xfrm>
            <a:off x="6149975" y="2616836"/>
            <a:ext cx="5226050" cy="676910"/>
          </a:xfrm>
          <a:prstGeom prst="roundRect">
            <a:avLst>
              <a:gd name="adj" fmla="val 10788"/>
            </a:avLst>
          </a:prstGeom>
          <a:solidFill>
            <a:srgbClr val="FCFBF7"/>
          </a:solidFill>
          <a:ln w="6350">
            <a:solidFill>
              <a:srgbClr val="DDD8CC"/>
            </a:solidFill>
            <a:prstDash val="solid"/>
          </a:ln>
        </p:spPr>
      </p:sp>
      <p:sp>
        <p:nvSpPr>
          <p:cNvPr id="17" name="Text 15"/>
          <p:cNvSpPr/>
          <p:nvPr/>
        </p:nvSpPr>
        <p:spPr>
          <a:xfrm>
            <a:off x="6304280" y="2720339"/>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8" name="Text 16"/>
          <p:cNvSpPr/>
          <p:nvPr/>
        </p:nvSpPr>
        <p:spPr>
          <a:xfrm>
            <a:off x="6786880" y="2720339"/>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Keep feedback fast</a:t>
            </a:r>
            <a:endParaRPr lang="en-US" sz="1400" dirty="0"/>
          </a:p>
        </p:txBody>
      </p:sp>
      <p:sp>
        <p:nvSpPr>
          <p:cNvPr id="19" name="Text 17"/>
          <p:cNvSpPr/>
          <p:nvPr/>
        </p:nvSpPr>
        <p:spPr>
          <a:xfrm>
            <a:off x="6786880" y="2976882"/>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Results in under ten minutes, locally and in CI</a:t>
            </a:r>
            <a:endParaRPr lang="en-US" sz="1200" dirty="0"/>
          </a:p>
        </p:txBody>
      </p:sp>
      <p:sp>
        <p:nvSpPr>
          <p:cNvPr id="20" name="Shape 18"/>
          <p:cNvSpPr/>
          <p:nvPr/>
        </p:nvSpPr>
        <p:spPr>
          <a:xfrm>
            <a:off x="815975" y="3401696"/>
            <a:ext cx="5226050" cy="676910"/>
          </a:xfrm>
          <a:prstGeom prst="roundRect">
            <a:avLst>
              <a:gd name="adj" fmla="val 10788"/>
            </a:avLst>
          </a:prstGeom>
          <a:solidFill>
            <a:srgbClr val="FCFBF7"/>
          </a:solidFill>
          <a:ln w="6350">
            <a:solidFill>
              <a:srgbClr val="DDD8CC"/>
            </a:solidFill>
            <a:prstDash val="solid"/>
          </a:ln>
        </p:spPr>
      </p:sp>
      <p:sp>
        <p:nvSpPr>
          <p:cNvPr id="21" name="Text 19"/>
          <p:cNvSpPr/>
          <p:nvPr/>
        </p:nvSpPr>
        <p:spPr>
          <a:xfrm>
            <a:off x="970280" y="3505200"/>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5</a:t>
            </a:r>
            <a:endParaRPr lang="en-US" sz="2000" dirty="0"/>
          </a:p>
        </p:txBody>
      </p:sp>
      <p:sp>
        <p:nvSpPr>
          <p:cNvPr id="22" name="Text 20"/>
          <p:cNvSpPr/>
          <p:nvPr/>
        </p:nvSpPr>
        <p:spPr>
          <a:xfrm>
            <a:off x="1452880" y="3505200"/>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Keep tests reliable</a:t>
            </a:r>
            <a:endParaRPr lang="en-US" sz="1400" dirty="0"/>
          </a:p>
        </p:txBody>
      </p:sp>
      <p:sp>
        <p:nvSpPr>
          <p:cNvPr id="23" name="Text 21"/>
          <p:cNvSpPr/>
          <p:nvPr/>
        </p:nvSpPr>
        <p:spPr>
          <a:xfrm>
            <a:off x="1452880" y="3761739"/>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Fix or quarantine a flaky test straight away</a:t>
            </a:r>
            <a:endParaRPr lang="en-US" sz="1200" dirty="0"/>
          </a:p>
        </p:txBody>
      </p:sp>
      <p:sp>
        <p:nvSpPr>
          <p:cNvPr id="24" name="Shape 22"/>
          <p:cNvSpPr/>
          <p:nvPr/>
        </p:nvSpPr>
        <p:spPr>
          <a:xfrm>
            <a:off x="6149975" y="3401696"/>
            <a:ext cx="5226050" cy="676910"/>
          </a:xfrm>
          <a:prstGeom prst="roundRect">
            <a:avLst>
              <a:gd name="adj" fmla="val 10788"/>
            </a:avLst>
          </a:prstGeom>
          <a:solidFill>
            <a:srgbClr val="FCFBF7"/>
          </a:solidFill>
          <a:ln w="6350">
            <a:solidFill>
              <a:srgbClr val="DDD8CC"/>
            </a:solidFill>
            <a:prstDash val="solid"/>
          </a:ln>
        </p:spPr>
      </p:sp>
      <p:sp>
        <p:nvSpPr>
          <p:cNvPr id="25" name="Text 23"/>
          <p:cNvSpPr/>
          <p:nvPr/>
        </p:nvSpPr>
        <p:spPr>
          <a:xfrm>
            <a:off x="6304280" y="3505200"/>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6</a:t>
            </a:r>
            <a:endParaRPr lang="en-US" sz="2000" dirty="0"/>
          </a:p>
        </p:txBody>
      </p:sp>
      <p:sp>
        <p:nvSpPr>
          <p:cNvPr id="26" name="Text 24"/>
          <p:cNvSpPr/>
          <p:nvPr/>
        </p:nvSpPr>
        <p:spPr>
          <a:xfrm>
            <a:off x="6786880" y="3505200"/>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Own the test data</a:t>
            </a:r>
            <a:endParaRPr lang="en-US" sz="1400" dirty="0"/>
          </a:p>
        </p:txBody>
      </p:sp>
      <p:sp>
        <p:nvSpPr>
          <p:cNvPr id="27" name="Text 25"/>
          <p:cNvSpPr/>
          <p:nvPr/>
        </p:nvSpPr>
        <p:spPr>
          <a:xfrm>
            <a:off x="6786880" y="3761739"/>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Create, isolate and reset data for each test</a:t>
            </a:r>
            <a:endParaRPr lang="en-US" sz="1200" dirty="0"/>
          </a:p>
        </p:txBody>
      </p:sp>
      <p:sp>
        <p:nvSpPr>
          <p:cNvPr id="28" name="Shape 26"/>
          <p:cNvSpPr/>
          <p:nvPr/>
        </p:nvSpPr>
        <p:spPr>
          <a:xfrm>
            <a:off x="815975" y="4186557"/>
            <a:ext cx="5226050" cy="676910"/>
          </a:xfrm>
          <a:prstGeom prst="roundRect">
            <a:avLst>
              <a:gd name="adj" fmla="val 10788"/>
            </a:avLst>
          </a:prstGeom>
          <a:solidFill>
            <a:srgbClr val="FCFBF7"/>
          </a:solidFill>
          <a:ln w="6350">
            <a:solidFill>
              <a:srgbClr val="DDD8CC"/>
            </a:solidFill>
            <a:prstDash val="solid"/>
          </a:ln>
        </p:spPr>
      </p:sp>
      <p:sp>
        <p:nvSpPr>
          <p:cNvPr id="29" name="Text 27"/>
          <p:cNvSpPr/>
          <p:nvPr/>
        </p:nvSpPr>
        <p:spPr>
          <a:xfrm>
            <a:off x="970280" y="4290061"/>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7</a:t>
            </a:r>
            <a:endParaRPr lang="en-US" sz="2000" dirty="0"/>
          </a:p>
        </p:txBody>
      </p:sp>
      <p:sp>
        <p:nvSpPr>
          <p:cNvPr id="30" name="Text 28"/>
          <p:cNvSpPr/>
          <p:nvPr/>
        </p:nvSpPr>
        <p:spPr>
          <a:xfrm>
            <a:off x="1452880" y="4290061"/>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Environments as code</a:t>
            </a:r>
            <a:endParaRPr lang="en-US" sz="1400" dirty="0"/>
          </a:p>
        </p:txBody>
      </p:sp>
      <p:sp>
        <p:nvSpPr>
          <p:cNvPr id="31" name="Text 29"/>
          <p:cNvSpPr/>
          <p:nvPr/>
        </p:nvSpPr>
        <p:spPr>
          <a:xfrm>
            <a:off x="1452880" y="4546600"/>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Containers build the same test setup every time</a:t>
            </a:r>
            <a:endParaRPr lang="en-US" sz="1200" dirty="0"/>
          </a:p>
        </p:txBody>
      </p:sp>
      <p:sp>
        <p:nvSpPr>
          <p:cNvPr id="32" name="Shape 30"/>
          <p:cNvSpPr/>
          <p:nvPr/>
        </p:nvSpPr>
        <p:spPr>
          <a:xfrm>
            <a:off x="6149975" y="4186557"/>
            <a:ext cx="5226050" cy="676910"/>
          </a:xfrm>
          <a:prstGeom prst="roundRect">
            <a:avLst>
              <a:gd name="adj" fmla="val 10788"/>
            </a:avLst>
          </a:prstGeom>
          <a:solidFill>
            <a:srgbClr val="FCFBF7"/>
          </a:solidFill>
          <a:ln w="6350">
            <a:solidFill>
              <a:srgbClr val="DDD8CC"/>
            </a:solidFill>
            <a:prstDash val="solid"/>
          </a:ln>
        </p:spPr>
      </p:sp>
      <p:sp>
        <p:nvSpPr>
          <p:cNvPr id="33" name="Text 31"/>
          <p:cNvSpPr/>
          <p:nvPr/>
        </p:nvSpPr>
        <p:spPr>
          <a:xfrm>
            <a:off x="6304280" y="4290061"/>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8</a:t>
            </a:r>
            <a:endParaRPr lang="en-US" sz="2000" dirty="0"/>
          </a:p>
        </p:txBody>
      </p:sp>
      <p:sp>
        <p:nvSpPr>
          <p:cNvPr id="34" name="Text 32"/>
          <p:cNvSpPr/>
          <p:nvPr/>
        </p:nvSpPr>
        <p:spPr>
          <a:xfrm>
            <a:off x="6786880" y="4290061"/>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Control dependencies</a:t>
            </a:r>
            <a:endParaRPr lang="en-US" sz="1400" dirty="0"/>
          </a:p>
        </p:txBody>
      </p:sp>
      <p:sp>
        <p:nvSpPr>
          <p:cNvPr id="35" name="Text 33"/>
          <p:cNvSpPr/>
          <p:nvPr/>
        </p:nvSpPr>
        <p:spPr>
          <a:xfrm>
            <a:off x="6786880" y="4546600"/>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Stubs, virtual services and contract tests</a:t>
            </a:r>
            <a:endParaRPr lang="en-US" sz="1200" dirty="0"/>
          </a:p>
        </p:txBody>
      </p:sp>
      <p:sp>
        <p:nvSpPr>
          <p:cNvPr id="36" name="Shape 34"/>
          <p:cNvSpPr/>
          <p:nvPr/>
        </p:nvSpPr>
        <p:spPr>
          <a:xfrm>
            <a:off x="815975" y="4971414"/>
            <a:ext cx="5226050" cy="676910"/>
          </a:xfrm>
          <a:prstGeom prst="roundRect">
            <a:avLst>
              <a:gd name="adj" fmla="val 10788"/>
            </a:avLst>
          </a:prstGeom>
          <a:solidFill>
            <a:srgbClr val="FCFBF7"/>
          </a:solidFill>
          <a:ln w="6350">
            <a:solidFill>
              <a:srgbClr val="DDD8CC"/>
            </a:solidFill>
            <a:prstDash val="solid"/>
          </a:ln>
        </p:spPr>
      </p:sp>
      <p:sp>
        <p:nvSpPr>
          <p:cNvPr id="37" name="Text 35"/>
          <p:cNvSpPr/>
          <p:nvPr/>
        </p:nvSpPr>
        <p:spPr>
          <a:xfrm>
            <a:off x="970280" y="5074921"/>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9</a:t>
            </a:r>
            <a:endParaRPr lang="en-US" sz="2000" dirty="0"/>
          </a:p>
        </p:txBody>
      </p:sp>
      <p:sp>
        <p:nvSpPr>
          <p:cNvPr id="38" name="Text 36"/>
          <p:cNvSpPr/>
          <p:nvPr/>
        </p:nvSpPr>
        <p:spPr>
          <a:xfrm>
            <a:off x="1452880" y="5074921"/>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in production safely</a:t>
            </a:r>
            <a:endParaRPr lang="en-US" sz="1400" dirty="0"/>
          </a:p>
        </p:txBody>
      </p:sp>
      <p:sp>
        <p:nvSpPr>
          <p:cNvPr id="39" name="Text 37"/>
          <p:cNvSpPr/>
          <p:nvPr/>
        </p:nvSpPr>
        <p:spPr>
          <a:xfrm>
            <a:off x="1452880" y="5331461"/>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Canary releases, feature flags, monitoring</a:t>
            </a:r>
            <a:endParaRPr lang="en-US" sz="1200" dirty="0"/>
          </a:p>
        </p:txBody>
      </p:sp>
      <p:sp>
        <p:nvSpPr>
          <p:cNvPr id="40" name="Shape 38"/>
          <p:cNvSpPr/>
          <p:nvPr/>
        </p:nvSpPr>
        <p:spPr>
          <a:xfrm>
            <a:off x="6149975" y="4971414"/>
            <a:ext cx="5226050" cy="676910"/>
          </a:xfrm>
          <a:prstGeom prst="roundRect">
            <a:avLst>
              <a:gd name="adj" fmla="val 10788"/>
            </a:avLst>
          </a:prstGeom>
          <a:solidFill>
            <a:srgbClr val="FCFBF7"/>
          </a:solidFill>
          <a:ln w="6350">
            <a:solidFill>
              <a:srgbClr val="DDD8CC"/>
            </a:solidFill>
            <a:prstDash val="solid"/>
          </a:ln>
        </p:spPr>
      </p:sp>
      <p:sp>
        <p:nvSpPr>
          <p:cNvPr id="41" name="Text 39"/>
          <p:cNvSpPr/>
          <p:nvPr/>
        </p:nvSpPr>
        <p:spPr>
          <a:xfrm>
            <a:off x="6304280" y="5074921"/>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10</a:t>
            </a:r>
            <a:endParaRPr lang="en-US" sz="2000" dirty="0"/>
          </a:p>
        </p:txBody>
      </p:sp>
      <p:sp>
        <p:nvSpPr>
          <p:cNvPr id="42" name="Text 40"/>
          <p:cNvSpPr/>
          <p:nvPr/>
        </p:nvSpPr>
        <p:spPr>
          <a:xfrm>
            <a:off x="6786880" y="5074921"/>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Make quality visible</a:t>
            </a:r>
            <a:endParaRPr lang="en-US" sz="1400" dirty="0"/>
          </a:p>
        </p:txBody>
      </p:sp>
      <p:sp>
        <p:nvSpPr>
          <p:cNvPr id="43" name="Text 41"/>
          <p:cNvSpPr/>
          <p:nvPr/>
        </p:nvSpPr>
        <p:spPr>
          <a:xfrm>
            <a:off x="6786880" y="5331461"/>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Reports and quality gates the whole team sees</a:t>
            </a:r>
            <a:endParaRPr lang="en-US" sz="1200" dirty="0"/>
          </a:p>
        </p:txBody>
      </p:sp>
      <p:sp>
        <p:nvSpPr>
          <p:cNvPr id="44" name="Text 42"/>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45" name="Text 43"/>
          <p:cNvSpPr/>
          <p:nvPr/>
        </p:nvSpPr>
        <p:spPr>
          <a:xfrm>
            <a:off x="6226334" y="6238239"/>
            <a:ext cx="53074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Practices 9 and 10 return in Module 4: mobile, cloud and continuous testing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DEVOPS TESTING BEST PRACTICES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Testing across the whole life cycle</a:t>
            </a:r>
            <a:endParaRPr lang="en-US" sz="3200" dirty="0"/>
          </a:p>
        </p:txBody>
      </p:sp>
      <p:sp>
        <p:nvSpPr>
          <p:cNvPr id="4" name="Text 2"/>
          <p:cNvSpPr/>
          <p:nvPr/>
        </p:nvSpPr>
        <p:spPr>
          <a:xfrm>
            <a:off x="812800" y="18288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SHIFT LEFT: FIND IT EARLIER</a:t>
            </a:r>
            <a:endParaRPr lang="en-US" sz="1200" dirty="0"/>
          </a:p>
        </p:txBody>
      </p:sp>
      <p:pic>
        <p:nvPicPr>
          <p:cNvPr id="5" name="Image 0" descr="connector">    </p:cNvPr>
          <p:cNvPicPr>
            <a:picLocks noChangeAspect="1"/>
          </p:cNvPicPr>
          <p:nvPr/>
        </p:nvPicPr>
        <p:blipFill>
          <a:blip r:embed="rId1"/>
          <a:srcRect l="0" r="0" t="0" b="0"/>
          <a:stretch/>
        </p:blipFill>
        <p:spPr>
          <a:xfrm>
            <a:off x="4521200" y="1884682"/>
            <a:ext cx="3149600" cy="101600"/>
          </a:xfrm>
          <a:prstGeom prst="rect">
            <a:avLst/>
          </a:prstGeom>
        </p:spPr>
      </p:pic>
      <p:sp>
        <p:nvSpPr>
          <p:cNvPr id="6" name="Text 3"/>
          <p:cNvSpPr/>
          <p:nvPr/>
        </p:nvSpPr>
        <p:spPr>
          <a:xfrm>
            <a:off x="7716520" y="1828800"/>
            <a:ext cx="3662680" cy="23876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SHIFT RIGHT: LEARN FROM USE</a:t>
            </a:r>
            <a:endParaRPr lang="en-US" sz="1200" dirty="0"/>
          </a:p>
        </p:txBody>
      </p:sp>
      <p:sp>
        <p:nvSpPr>
          <p:cNvPr id="7" name="Shape 4"/>
          <p:cNvSpPr/>
          <p:nvPr/>
        </p:nvSpPr>
        <p:spPr>
          <a:xfrm>
            <a:off x="812800" y="2143761"/>
            <a:ext cx="1676400" cy="1158240"/>
          </a:xfrm>
          <a:prstGeom prst="roundRect">
            <a:avLst>
              <a:gd name="adj" fmla="val 6579"/>
            </a:avLst>
          </a:prstGeom>
          <a:solidFill>
            <a:srgbClr val="DCE7F3"/>
          </a:solidFill>
          <a:ln/>
        </p:spPr>
      </p:sp>
      <p:sp>
        <p:nvSpPr>
          <p:cNvPr id="8" name="Text 5"/>
          <p:cNvSpPr/>
          <p:nvPr/>
        </p:nvSpPr>
        <p:spPr>
          <a:xfrm>
            <a:off x="939800" y="2270761"/>
            <a:ext cx="1473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Plan</a:t>
            </a:r>
            <a:endParaRPr lang="en-US" sz="1200" dirty="0"/>
          </a:p>
        </p:txBody>
      </p:sp>
      <p:sp>
        <p:nvSpPr>
          <p:cNvPr id="9" name="Text 6"/>
          <p:cNvSpPr/>
          <p:nvPr/>
        </p:nvSpPr>
        <p:spPr>
          <a:xfrm>
            <a:off x="939800" y="2534921"/>
            <a:ext cx="14732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Agree SAVE20 examples before coding</a:t>
            </a:r>
            <a:endParaRPr lang="en-US" sz="1200" dirty="0"/>
          </a:p>
        </p:txBody>
      </p:sp>
      <p:sp>
        <p:nvSpPr>
          <p:cNvPr id="10" name="Shape 7"/>
          <p:cNvSpPr/>
          <p:nvPr/>
        </p:nvSpPr>
        <p:spPr>
          <a:xfrm>
            <a:off x="2590800" y="2143761"/>
            <a:ext cx="1676400" cy="1158240"/>
          </a:xfrm>
          <a:prstGeom prst="roundRect">
            <a:avLst>
              <a:gd name="adj" fmla="val 6579"/>
            </a:avLst>
          </a:prstGeom>
          <a:solidFill>
            <a:srgbClr val="DCE7F3"/>
          </a:solidFill>
          <a:ln/>
        </p:spPr>
      </p:sp>
      <p:sp>
        <p:nvSpPr>
          <p:cNvPr id="11" name="Text 8"/>
          <p:cNvSpPr/>
          <p:nvPr/>
        </p:nvSpPr>
        <p:spPr>
          <a:xfrm>
            <a:off x="2717800" y="2270761"/>
            <a:ext cx="1473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Code</a:t>
            </a:r>
            <a:endParaRPr lang="en-US" sz="1200" dirty="0"/>
          </a:p>
        </p:txBody>
      </p:sp>
      <p:sp>
        <p:nvSpPr>
          <p:cNvPr id="12" name="Text 9"/>
          <p:cNvSpPr/>
          <p:nvPr/>
        </p:nvSpPr>
        <p:spPr>
          <a:xfrm>
            <a:off x="2717800" y="2534921"/>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TDD unit tests for apply_coupon()</a:t>
            </a:r>
            <a:endParaRPr lang="en-US" sz="1200" dirty="0"/>
          </a:p>
        </p:txBody>
      </p:sp>
      <p:sp>
        <p:nvSpPr>
          <p:cNvPr id="13" name="Shape 10"/>
          <p:cNvSpPr/>
          <p:nvPr/>
        </p:nvSpPr>
        <p:spPr>
          <a:xfrm>
            <a:off x="4368800" y="2143761"/>
            <a:ext cx="1676400" cy="1158240"/>
          </a:xfrm>
          <a:prstGeom prst="roundRect">
            <a:avLst>
              <a:gd name="adj" fmla="val 6579"/>
            </a:avLst>
          </a:prstGeom>
          <a:solidFill>
            <a:srgbClr val="DCE7F3"/>
          </a:solidFill>
          <a:ln/>
        </p:spPr>
      </p:sp>
      <p:sp>
        <p:nvSpPr>
          <p:cNvPr id="14" name="Text 11"/>
          <p:cNvSpPr/>
          <p:nvPr/>
        </p:nvSpPr>
        <p:spPr>
          <a:xfrm>
            <a:off x="4495800" y="2270761"/>
            <a:ext cx="1473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Build</a:t>
            </a:r>
            <a:endParaRPr lang="en-US" sz="1200" dirty="0"/>
          </a:p>
        </p:txBody>
      </p:sp>
      <p:sp>
        <p:nvSpPr>
          <p:cNvPr id="15" name="Text 12"/>
          <p:cNvSpPr/>
          <p:nvPr/>
        </p:nvSpPr>
        <p:spPr>
          <a:xfrm>
            <a:off x="4495800" y="2534921"/>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Unit, API and contract tests in CI</a:t>
            </a:r>
            <a:endParaRPr lang="en-US" sz="1200" dirty="0"/>
          </a:p>
        </p:txBody>
      </p:sp>
      <p:sp>
        <p:nvSpPr>
          <p:cNvPr id="16" name="Shape 13"/>
          <p:cNvSpPr/>
          <p:nvPr/>
        </p:nvSpPr>
        <p:spPr>
          <a:xfrm>
            <a:off x="6146800" y="2143761"/>
            <a:ext cx="1676400" cy="1158240"/>
          </a:xfrm>
          <a:prstGeom prst="roundRect">
            <a:avLst>
              <a:gd name="adj" fmla="val 6579"/>
            </a:avLst>
          </a:prstGeom>
          <a:solidFill>
            <a:srgbClr val="ECE8DE"/>
          </a:solidFill>
          <a:ln/>
        </p:spPr>
      </p:sp>
      <p:sp>
        <p:nvSpPr>
          <p:cNvPr id="17" name="Text 14"/>
          <p:cNvSpPr/>
          <p:nvPr/>
        </p:nvSpPr>
        <p:spPr>
          <a:xfrm>
            <a:off x="6273800" y="2270761"/>
            <a:ext cx="1473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Test</a:t>
            </a:r>
            <a:endParaRPr lang="en-US" sz="1200" dirty="0"/>
          </a:p>
        </p:txBody>
      </p:sp>
      <p:sp>
        <p:nvSpPr>
          <p:cNvPr id="18" name="Text 15"/>
          <p:cNvSpPr/>
          <p:nvPr/>
        </p:nvSpPr>
        <p:spPr>
          <a:xfrm>
            <a:off x="6273800" y="2534921"/>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Smoke, regression, load and security</a:t>
            </a:r>
            <a:endParaRPr lang="en-US" sz="1200" dirty="0"/>
          </a:p>
        </p:txBody>
      </p:sp>
      <p:sp>
        <p:nvSpPr>
          <p:cNvPr id="19" name="Shape 16"/>
          <p:cNvSpPr/>
          <p:nvPr/>
        </p:nvSpPr>
        <p:spPr>
          <a:xfrm>
            <a:off x="7924800" y="2143761"/>
            <a:ext cx="1676400" cy="1158240"/>
          </a:xfrm>
          <a:prstGeom prst="roundRect">
            <a:avLst>
              <a:gd name="adj" fmla="val 6579"/>
            </a:avLst>
          </a:prstGeom>
          <a:solidFill>
            <a:srgbClr val="F7E3D5"/>
          </a:solidFill>
          <a:ln/>
        </p:spPr>
      </p:sp>
      <p:sp>
        <p:nvSpPr>
          <p:cNvPr id="20" name="Text 17"/>
          <p:cNvSpPr/>
          <p:nvPr/>
        </p:nvSpPr>
        <p:spPr>
          <a:xfrm>
            <a:off x="8051800" y="2270761"/>
            <a:ext cx="1473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Release</a:t>
            </a:r>
            <a:endParaRPr lang="en-US" sz="1200" dirty="0"/>
          </a:p>
        </p:txBody>
      </p:sp>
      <p:sp>
        <p:nvSpPr>
          <p:cNvPr id="21" name="Text 18"/>
          <p:cNvSpPr/>
          <p:nvPr/>
        </p:nvSpPr>
        <p:spPr>
          <a:xfrm>
            <a:off x="8051800" y="2534921"/>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Canary to 5% of students, then all</a:t>
            </a:r>
            <a:endParaRPr lang="en-US" sz="1200" dirty="0"/>
          </a:p>
        </p:txBody>
      </p:sp>
      <p:sp>
        <p:nvSpPr>
          <p:cNvPr id="22" name="Shape 19"/>
          <p:cNvSpPr/>
          <p:nvPr/>
        </p:nvSpPr>
        <p:spPr>
          <a:xfrm>
            <a:off x="9702800" y="2143761"/>
            <a:ext cx="1676400" cy="1158240"/>
          </a:xfrm>
          <a:prstGeom prst="roundRect">
            <a:avLst>
              <a:gd name="adj" fmla="val 6579"/>
            </a:avLst>
          </a:prstGeom>
          <a:solidFill>
            <a:srgbClr val="F7E3D5"/>
          </a:solidFill>
          <a:ln/>
        </p:spPr>
      </p:sp>
      <p:sp>
        <p:nvSpPr>
          <p:cNvPr id="23" name="Text 20"/>
          <p:cNvSpPr/>
          <p:nvPr/>
        </p:nvSpPr>
        <p:spPr>
          <a:xfrm>
            <a:off x="9829800" y="2270761"/>
            <a:ext cx="1473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Operate</a:t>
            </a:r>
            <a:endParaRPr lang="en-US" sz="1200" dirty="0"/>
          </a:p>
        </p:txBody>
      </p:sp>
      <p:sp>
        <p:nvSpPr>
          <p:cNvPr id="24" name="Text 21"/>
          <p:cNvSpPr/>
          <p:nvPr/>
        </p:nvSpPr>
        <p:spPr>
          <a:xfrm>
            <a:off x="9829800" y="2534921"/>
            <a:ext cx="1473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Monitor errors and menu load time</a:t>
            </a:r>
            <a:endParaRPr lang="en-US" sz="1200" dirty="0"/>
          </a:p>
        </p:txBody>
      </p:sp>
      <p:sp>
        <p:nvSpPr>
          <p:cNvPr id="25" name="Shape 22"/>
          <p:cNvSpPr/>
          <p:nvPr/>
        </p:nvSpPr>
        <p:spPr>
          <a:xfrm>
            <a:off x="815975" y="3559175"/>
            <a:ext cx="5124450" cy="999490"/>
          </a:xfrm>
          <a:prstGeom prst="roundRect">
            <a:avLst>
              <a:gd name="adj" fmla="val 7306"/>
            </a:avLst>
          </a:prstGeom>
          <a:solidFill>
            <a:srgbClr val="FCFBF7"/>
          </a:solidFill>
          <a:ln w="6350">
            <a:solidFill>
              <a:srgbClr val="DDD8CC"/>
            </a:solidFill>
            <a:prstDash val="solid"/>
          </a:ln>
        </p:spPr>
      </p:sp>
      <p:sp>
        <p:nvSpPr>
          <p:cNvPr id="26" name="Text 23"/>
          <p:cNvSpPr/>
          <p:nvPr/>
        </p:nvSpPr>
        <p:spPr>
          <a:xfrm>
            <a:off x="995680" y="3713482"/>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ISTQB · SHIFT LEFT</a:t>
            </a:r>
            <a:endParaRPr lang="en-US" sz="1200" dirty="0"/>
          </a:p>
        </p:txBody>
      </p:sp>
      <p:sp>
        <p:nvSpPr>
          <p:cNvPr id="27" name="Text 24"/>
          <p:cNvSpPr/>
          <p:nvPr/>
        </p:nvSpPr>
        <p:spPr>
          <a:xfrm>
            <a:off x="995680" y="3977639"/>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 approach to performing testing and quality assurance activities as early as possible in the software development lifecycle.”</a:t>
            </a:r>
            <a:endParaRPr lang="en-US" sz="1200" dirty="0"/>
          </a:p>
        </p:txBody>
      </p:sp>
      <p:sp>
        <p:nvSpPr>
          <p:cNvPr id="28" name="Shape 25"/>
          <p:cNvSpPr/>
          <p:nvPr/>
        </p:nvSpPr>
        <p:spPr>
          <a:xfrm>
            <a:off x="6251575" y="3559175"/>
            <a:ext cx="5124450" cy="999490"/>
          </a:xfrm>
          <a:prstGeom prst="roundRect">
            <a:avLst>
              <a:gd name="adj" fmla="val 7306"/>
            </a:avLst>
          </a:prstGeom>
          <a:solidFill>
            <a:srgbClr val="FCFBF7"/>
          </a:solidFill>
          <a:ln w="6350">
            <a:solidFill>
              <a:srgbClr val="DDD8CC"/>
            </a:solidFill>
            <a:prstDash val="solid"/>
          </a:ln>
        </p:spPr>
      </p:sp>
      <p:sp>
        <p:nvSpPr>
          <p:cNvPr id="29" name="Text 26"/>
          <p:cNvSpPr/>
          <p:nvPr/>
        </p:nvSpPr>
        <p:spPr>
          <a:xfrm>
            <a:off x="6431280" y="3713482"/>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MICROSOFT · SHIFT RIGHT</a:t>
            </a:r>
            <a:endParaRPr lang="en-US" sz="1200" dirty="0"/>
          </a:p>
        </p:txBody>
      </p:sp>
      <p:sp>
        <p:nvSpPr>
          <p:cNvPr id="30" name="Text 27"/>
          <p:cNvSpPr/>
          <p:nvPr/>
        </p:nvSpPr>
        <p:spPr>
          <a:xfrm>
            <a:off x="6431280" y="3977639"/>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“Shift right is the practice of moving some testing later in the DevOps process to test in production.”</a:t>
            </a:r>
            <a:endParaRPr lang="en-US" sz="1200" dirty="0"/>
          </a:p>
        </p:txBody>
      </p:sp>
      <p:sp>
        <p:nvSpPr>
          <p:cNvPr id="31" name="Text 28"/>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32" name="Text 29"/>
          <p:cNvSpPr/>
          <p:nvPr/>
        </p:nvSpPr>
        <p:spPr>
          <a:xfrm>
            <a:off x="5003245" y="6238242"/>
            <a:ext cx="65672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ISTQB Glossary · Microsoft Learn, “Shift right to test in production” · 5% canary is an example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DEVOPS TESTING BEST PRACTICES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DORA’s research recommends</a:t>
            </a:r>
            <a:endParaRPr lang="en-US" sz="3200" dirty="0"/>
          </a:p>
        </p:txBody>
      </p:sp>
      <p:sp>
        <p:nvSpPr>
          <p:cNvPr id="4" name="Shape 2"/>
          <p:cNvSpPr/>
          <p:nvPr/>
        </p:nvSpPr>
        <p:spPr>
          <a:xfrm>
            <a:off x="815975" y="1831975"/>
            <a:ext cx="3414157" cy="1212850"/>
          </a:xfrm>
          <a:prstGeom prst="roundRect">
            <a:avLst>
              <a:gd name="adj" fmla="val 6021"/>
            </a:avLst>
          </a:prstGeom>
          <a:solidFill>
            <a:srgbClr val="FCFBF7"/>
          </a:solidFill>
          <a:ln w="6350">
            <a:solidFill>
              <a:srgbClr val="DDD8CC"/>
            </a:solidFill>
            <a:prstDash val="solid"/>
          </a:ln>
        </p:spPr>
      </p:sp>
      <p:sp>
        <p:nvSpPr>
          <p:cNvPr id="5" name="Text 3"/>
          <p:cNvSpPr/>
          <p:nvPr/>
        </p:nvSpPr>
        <p:spPr>
          <a:xfrm>
            <a:off x="995680" y="19862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Test continuously</a:t>
            </a:r>
            <a:endParaRPr lang="en-US" sz="1200" dirty="0"/>
          </a:p>
        </p:txBody>
      </p:sp>
      <p:sp>
        <p:nvSpPr>
          <p:cNvPr id="6" name="Text 4"/>
          <p:cNvSpPr/>
          <p:nvPr/>
        </p:nvSpPr>
        <p:spPr>
          <a:xfrm>
            <a:off x="995680" y="2250442"/>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“Perform all types of testing continuously throughout the software delivery lifecycle.”</a:t>
            </a:r>
            <a:endParaRPr lang="en-US" sz="1200" dirty="0"/>
          </a:p>
        </p:txBody>
      </p:sp>
      <p:sp>
        <p:nvSpPr>
          <p:cNvPr id="7" name="Shape 5"/>
          <p:cNvSpPr/>
          <p:nvPr/>
        </p:nvSpPr>
        <p:spPr>
          <a:xfrm>
            <a:off x="4388882" y="1831975"/>
            <a:ext cx="3414157" cy="1212850"/>
          </a:xfrm>
          <a:prstGeom prst="roundRect">
            <a:avLst>
              <a:gd name="adj" fmla="val 6021"/>
            </a:avLst>
          </a:prstGeom>
          <a:solidFill>
            <a:srgbClr val="FCFBF7"/>
          </a:solidFill>
          <a:ln w="6350">
            <a:solidFill>
              <a:srgbClr val="DDD8CC"/>
            </a:solidFill>
            <a:prstDash val="solid"/>
          </a:ln>
        </p:spPr>
      </p:sp>
      <p:sp>
        <p:nvSpPr>
          <p:cNvPr id="8" name="Text 6"/>
          <p:cNvSpPr/>
          <p:nvPr/>
        </p:nvSpPr>
        <p:spPr>
          <a:xfrm>
            <a:off x="4568587" y="19862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Curate the suites</a:t>
            </a:r>
            <a:endParaRPr lang="en-US" sz="1200" dirty="0"/>
          </a:p>
        </p:txBody>
      </p:sp>
      <p:sp>
        <p:nvSpPr>
          <p:cNvPr id="9" name="Text 7"/>
          <p:cNvSpPr/>
          <p:nvPr/>
        </p:nvSpPr>
        <p:spPr>
          <a:xfrm>
            <a:off x="4568587" y="2250442"/>
            <a:ext cx="31463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“Create and curate fast, reliable suites of automated tests which are run as part of your continuous delivery pipelines.”</a:t>
            </a:r>
            <a:endParaRPr lang="en-US" sz="1200" dirty="0"/>
          </a:p>
        </p:txBody>
      </p:sp>
      <p:sp>
        <p:nvSpPr>
          <p:cNvPr id="10" name="Shape 8"/>
          <p:cNvSpPr/>
          <p:nvPr/>
        </p:nvSpPr>
        <p:spPr>
          <a:xfrm>
            <a:off x="7961789" y="1831975"/>
            <a:ext cx="3414157" cy="1212850"/>
          </a:xfrm>
          <a:prstGeom prst="roundRect">
            <a:avLst>
              <a:gd name="adj" fmla="val 6021"/>
            </a:avLst>
          </a:prstGeom>
          <a:solidFill>
            <a:srgbClr val="FCFBF7"/>
          </a:solidFill>
          <a:ln w="6350">
            <a:solidFill>
              <a:srgbClr val="DDD8CC"/>
            </a:solidFill>
            <a:prstDash val="solid"/>
          </a:ln>
        </p:spPr>
      </p:sp>
      <p:sp>
        <p:nvSpPr>
          <p:cNvPr id="11" name="Text 9"/>
          <p:cNvSpPr/>
          <p:nvPr/>
        </p:nvSpPr>
        <p:spPr>
          <a:xfrm>
            <a:off x="8141494" y="19862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Trust the result</a:t>
            </a:r>
            <a:endParaRPr lang="en-US" sz="1200" dirty="0"/>
          </a:p>
        </p:txBody>
      </p:sp>
      <p:sp>
        <p:nvSpPr>
          <p:cNvPr id="12" name="Text 10"/>
          <p:cNvSpPr/>
          <p:nvPr/>
        </p:nvSpPr>
        <p:spPr>
          <a:xfrm>
            <a:off x="8141494" y="2250442"/>
            <a:ext cx="31463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“When the tests pass we should be confident the software is releasable, and test failures should indicate a real defect.”</a:t>
            </a:r>
            <a:endParaRPr lang="en-US" sz="1200" dirty="0"/>
          </a:p>
        </p:txBody>
      </p:sp>
      <p:sp>
        <p:nvSpPr>
          <p:cNvPr id="13" name="Shape 11"/>
          <p:cNvSpPr/>
          <p:nvPr/>
        </p:nvSpPr>
        <p:spPr>
          <a:xfrm>
            <a:off x="815975" y="3203575"/>
            <a:ext cx="3414157" cy="1426210"/>
          </a:xfrm>
          <a:prstGeom prst="roundRect">
            <a:avLst>
              <a:gd name="adj" fmla="val 5120"/>
            </a:avLst>
          </a:prstGeom>
          <a:solidFill>
            <a:srgbClr val="FCFBF7"/>
          </a:solidFill>
          <a:ln w="6350">
            <a:solidFill>
              <a:srgbClr val="DDD8CC"/>
            </a:solidFill>
            <a:prstDash val="solid"/>
          </a:ln>
        </p:spPr>
      </p:sp>
      <p:sp>
        <p:nvSpPr>
          <p:cNvPr id="14" name="Text 12"/>
          <p:cNvSpPr/>
          <p:nvPr/>
        </p:nvSpPr>
        <p:spPr>
          <a:xfrm>
            <a:off x="995680" y="33578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Fast feedback</a:t>
            </a:r>
            <a:endParaRPr lang="en-US" sz="1200" dirty="0"/>
          </a:p>
        </p:txBody>
      </p:sp>
      <p:sp>
        <p:nvSpPr>
          <p:cNvPr id="15" name="Text 13"/>
          <p:cNvSpPr/>
          <p:nvPr/>
        </p:nvSpPr>
        <p:spPr>
          <a:xfrm>
            <a:off x="995680" y="3622042"/>
            <a:ext cx="314638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“Developers should be able to get feedback from automated tests in less than ten minutes both on local workstations and from the continuous integration system.”</a:t>
            </a:r>
            <a:endParaRPr lang="en-US" sz="1200" dirty="0"/>
          </a:p>
        </p:txBody>
      </p:sp>
      <p:sp>
        <p:nvSpPr>
          <p:cNvPr id="16" name="Shape 14"/>
          <p:cNvSpPr/>
          <p:nvPr/>
        </p:nvSpPr>
        <p:spPr>
          <a:xfrm>
            <a:off x="4388882" y="3203575"/>
            <a:ext cx="3414157" cy="1426210"/>
          </a:xfrm>
          <a:prstGeom prst="roundRect">
            <a:avLst>
              <a:gd name="adj" fmla="val 5120"/>
            </a:avLst>
          </a:prstGeom>
          <a:solidFill>
            <a:srgbClr val="FCFBF7"/>
          </a:solidFill>
          <a:ln w="6350">
            <a:solidFill>
              <a:srgbClr val="DDD8CC"/>
            </a:solidFill>
            <a:prstDash val="solid"/>
          </a:ln>
        </p:spPr>
      </p:sp>
      <p:sp>
        <p:nvSpPr>
          <p:cNvPr id="17" name="Text 15"/>
          <p:cNvSpPr/>
          <p:nvPr/>
        </p:nvSpPr>
        <p:spPr>
          <a:xfrm>
            <a:off x="4568587" y="33578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Stop and fix</a:t>
            </a:r>
            <a:endParaRPr lang="en-US" sz="1200" dirty="0"/>
          </a:p>
        </p:txBody>
      </p:sp>
      <p:sp>
        <p:nvSpPr>
          <p:cNvPr id="18" name="Text 16"/>
          <p:cNvSpPr/>
          <p:nvPr/>
        </p:nvSpPr>
        <p:spPr>
          <a:xfrm>
            <a:off x="4568587" y="3622042"/>
            <a:ext cx="31463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“If these automated tests fail, the team stops what they are doing to fix the problem immediately.”</a:t>
            </a:r>
            <a:endParaRPr lang="en-US" sz="1200" dirty="0"/>
          </a:p>
        </p:txBody>
      </p:sp>
      <p:sp>
        <p:nvSpPr>
          <p:cNvPr id="19" name="Shape 17"/>
          <p:cNvSpPr/>
          <p:nvPr/>
        </p:nvSpPr>
        <p:spPr>
          <a:xfrm>
            <a:off x="7961789" y="3203575"/>
            <a:ext cx="3414157" cy="1426210"/>
          </a:xfrm>
          <a:prstGeom prst="roundRect">
            <a:avLst>
              <a:gd name="adj" fmla="val 5120"/>
            </a:avLst>
          </a:prstGeom>
          <a:solidFill>
            <a:srgbClr val="F7E3D5"/>
          </a:solidFill>
          <a:ln w="6350">
            <a:solidFill>
              <a:srgbClr val="E9C3A8"/>
            </a:solidFill>
            <a:prstDash val="solid"/>
          </a:ln>
        </p:spPr>
      </p:sp>
      <p:sp>
        <p:nvSpPr>
          <p:cNvPr id="20" name="Text 18"/>
          <p:cNvSpPr/>
          <p:nvPr/>
        </p:nvSpPr>
        <p:spPr>
          <a:xfrm>
            <a:off x="8141494" y="33578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Pitfalls DORA lists</a:t>
            </a:r>
            <a:endParaRPr lang="en-US" sz="1200" dirty="0"/>
          </a:p>
        </p:txBody>
      </p:sp>
      <p:sp>
        <p:nvSpPr>
          <p:cNvPr id="21" name="Text 19"/>
          <p:cNvSpPr/>
          <p:nvPr/>
        </p:nvSpPr>
        <p:spPr>
          <a:xfrm>
            <a:off x="8141494" y="3622042"/>
            <a:ext cx="314638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Developers not involved in testing · suites nobody curates · the wrong mix of unit and acceptance tests · “tolerating unreliable tests”</a:t>
            </a:r>
            <a:endParaRPr lang="en-US" sz="1200" dirty="0"/>
          </a:p>
        </p:txBody>
      </p:sp>
      <p:sp>
        <p:nvSpPr>
          <p:cNvPr id="22" name="Text 2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3" name="Text 21"/>
          <p:cNvSpPr/>
          <p:nvPr/>
        </p:nvSpPr>
        <p:spPr>
          <a:xfrm>
            <a:off x="5915025" y="6238242"/>
            <a:ext cx="56281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DORA capability guides: test automation; continuous integration (“Stop and fix”)</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DEVOPS TESTING BEST PRACTICES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Keep feedback fast: a time budget per stage</a:t>
            </a:r>
            <a:endParaRPr lang="en-US" sz="3200" dirty="0"/>
          </a:p>
        </p:txBody>
      </p:sp>
      <p:sp>
        <p:nvSpPr>
          <p:cNvPr id="4" name="Shape 2"/>
          <p:cNvSpPr/>
          <p:nvPr/>
        </p:nvSpPr>
        <p:spPr>
          <a:xfrm>
            <a:off x="11376025" y="1828800"/>
            <a:ext cx="0" cy="1996440"/>
          </a:xfrm>
          <a:prstGeom prst="line">
            <a:avLst/>
          </a:prstGeom>
          <a:noFill/>
          <a:ln w="6350">
            <a:solidFill>
              <a:srgbClr val="DDD8CC"/>
            </a:solidFill>
            <a:prstDash val="solid"/>
          </a:ln>
        </p:spPr>
      </p:sp>
      <p:sp>
        <p:nvSpPr>
          <p:cNvPr id="5" name="Shape 3"/>
          <p:cNvSpPr/>
          <p:nvPr/>
        </p:nvSpPr>
        <p:spPr>
          <a:xfrm>
            <a:off x="812800" y="38220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981200"/>
        </p:xfrm>
        <a:graphic>
          <a:graphicData uri="http://schemas.openxmlformats.org/drawingml/2006/table">
            <a:tbl>
              <a:tblPr/>
              <a:tblGrid>
                <a:gridCol w="2110232"/>
                <a:gridCol w="4642510"/>
                <a:gridCol w="1688186"/>
                <a:gridCol w="2110232"/>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What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Budget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Developer machine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 tests for the code you changed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Seconds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Before each commit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Commit stage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All unit tests, static analysis, fast API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Under 10 minutes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push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Acceptance stage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regression, UI smoke, contract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Under 30 minutes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merge to main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Nightly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Full UI regression, performance, security scans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few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Once a night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Production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Post-deploy smoke, synthetic journeys, alerts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Always 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079242"/>
            <a:ext cx="10566400" cy="553720"/>
          </a:xfrm>
          <a:prstGeom prst="roundRect">
            <a:avLst>
              <a:gd name="adj" fmla="val 13761"/>
            </a:avLst>
          </a:prstGeom>
          <a:solidFill>
            <a:srgbClr val="13233A"/>
          </a:solidFill>
          <a:ln/>
        </p:spPr>
      </p:sp>
      <p:sp>
        <p:nvSpPr>
          <p:cNvPr id="8" name="Text 5"/>
          <p:cNvSpPr/>
          <p:nvPr/>
        </p:nvSpPr>
        <p:spPr>
          <a:xfrm>
            <a:off x="1016000" y="4249421"/>
            <a:ext cx="988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SPEED-UPS</a:t>
            </a:r>
            <a:endParaRPr lang="en-US" sz="1200" dirty="0"/>
          </a:p>
        </p:txBody>
      </p:sp>
      <p:sp>
        <p:nvSpPr>
          <p:cNvPr id="9" name="Text 6"/>
          <p:cNvSpPr/>
          <p:nvPr/>
        </p:nvSpPr>
        <p:spPr>
          <a:xfrm>
            <a:off x="2105660" y="4231642"/>
            <a:ext cx="93424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Run tests in parallel · push checks down the pyramid · run only the tests a change affects · stop at the first failure</a:t>
            </a:r>
            <a:endParaRPr lang="en-US" sz="1400" dirty="0"/>
          </a:p>
        </p:txBody>
      </p:sp>
      <p:sp>
        <p:nvSpPr>
          <p:cNvPr id="10" name="Text 7"/>
          <p:cNvSpPr/>
          <p:nvPr/>
        </p:nvSpPr>
        <p:spPr>
          <a:xfrm>
            <a:off x="812800" y="4886964"/>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Slow suites get skipped or batched, so feedback arrives after the developer has moved on.</a:t>
            </a:r>
            <a:endParaRPr lang="en-US" sz="1400" dirty="0"/>
          </a:p>
        </p:txBody>
      </p:sp>
      <p:sp>
        <p:nvSpPr>
          <p:cNvPr id="11" name="Text 8"/>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2" name="Text 9"/>
          <p:cNvSpPr/>
          <p:nvPr/>
        </p:nvSpPr>
        <p:spPr>
          <a:xfrm>
            <a:off x="6391989" y="6238242"/>
            <a:ext cx="51368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Blue: DORA’s ten-minute guidance · other budgets are examples to adapt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DEVOPS TESTING BEST PRACTICES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Flaky tests destroy trust</a:t>
            </a:r>
            <a:endParaRPr lang="en-US" sz="3200" dirty="0"/>
          </a:p>
        </p:txBody>
      </p:sp>
      <p:sp>
        <p:nvSpPr>
          <p:cNvPr id="4" name="Shape 2"/>
          <p:cNvSpPr/>
          <p:nvPr/>
        </p:nvSpPr>
        <p:spPr>
          <a:xfrm>
            <a:off x="815975" y="1831975"/>
            <a:ext cx="3414157" cy="1220470"/>
          </a:xfrm>
          <a:prstGeom prst="roundRect">
            <a:avLst>
              <a:gd name="adj" fmla="val 5983"/>
            </a:avLst>
          </a:prstGeom>
          <a:solidFill>
            <a:srgbClr val="FCFBF7"/>
          </a:solidFill>
          <a:ln w="6350">
            <a:solidFill>
              <a:srgbClr val="DDD8CC"/>
            </a:solidFill>
            <a:prstDash val="solid"/>
          </a:ln>
        </p:spPr>
      </p:sp>
      <p:sp>
        <p:nvSpPr>
          <p:cNvPr id="5" name="Text 3"/>
          <p:cNvSpPr/>
          <p:nvPr/>
        </p:nvSpPr>
        <p:spPr>
          <a:xfrm>
            <a:off x="995680" y="1986279"/>
            <a:ext cx="31463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9481A"/>
                </a:solidFill>
                <a:latin typeface="Space Grotesk" pitchFamily="34" charset="0"/>
                <a:ea typeface="Space Grotesk" pitchFamily="34" charset="-122"/>
                <a:cs typeface="Space Grotesk" pitchFamily="34" charset="-120"/>
              </a:rPr>
              <a:t>1.5%</a:t>
            </a:r>
            <a:endParaRPr lang="en-US" sz="3200" dirty="0"/>
          </a:p>
        </p:txBody>
      </p:sp>
      <p:sp>
        <p:nvSpPr>
          <p:cNvPr id="6" name="Text 4"/>
          <p:cNvSpPr/>
          <p:nvPr/>
        </p:nvSpPr>
        <p:spPr>
          <a:xfrm>
            <a:off x="995680" y="2471421"/>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of all test runs at Google reported a flaky result</a:t>
            </a:r>
            <a:endParaRPr lang="en-US" sz="1200" dirty="0"/>
          </a:p>
        </p:txBody>
      </p:sp>
      <p:sp>
        <p:nvSpPr>
          <p:cNvPr id="7" name="Shape 5"/>
          <p:cNvSpPr/>
          <p:nvPr/>
        </p:nvSpPr>
        <p:spPr>
          <a:xfrm>
            <a:off x="4388882" y="1831975"/>
            <a:ext cx="3414157" cy="1220470"/>
          </a:xfrm>
          <a:prstGeom prst="roundRect">
            <a:avLst>
              <a:gd name="adj" fmla="val 5983"/>
            </a:avLst>
          </a:prstGeom>
          <a:solidFill>
            <a:srgbClr val="FCFBF7"/>
          </a:solidFill>
          <a:ln w="6350">
            <a:solidFill>
              <a:srgbClr val="DDD8CC"/>
            </a:solidFill>
            <a:prstDash val="solid"/>
          </a:ln>
        </p:spPr>
      </p:sp>
      <p:sp>
        <p:nvSpPr>
          <p:cNvPr id="8" name="Text 6"/>
          <p:cNvSpPr/>
          <p:nvPr/>
        </p:nvSpPr>
        <p:spPr>
          <a:xfrm>
            <a:off x="4568587" y="1986279"/>
            <a:ext cx="31463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9481A"/>
                </a:solidFill>
                <a:latin typeface="Space Grotesk" pitchFamily="34" charset="0"/>
                <a:ea typeface="Space Grotesk" pitchFamily="34" charset="-122"/>
                <a:cs typeface="Space Grotesk" pitchFamily="34" charset="-120"/>
              </a:rPr>
              <a:t>16%</a:t>
            </a:r>
            <a:endParaRPr lang="en-US" sz="3200" dirty="0"/>
          </a:p>
        </p:txBody>
      </p:sp>
      <p:sp>
        <p:nvSpPr>
          <p:cNvPr id="9" name="Text 7"/>
          <p:cNvSpPr/>
          <p:nvPr/>
        </p:nvSpPr>
        <p:spPr>
          <a:xfrm>
            <a:off x="4568587" y="2471421"/>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of Google’s tests showed some level of flakiness</a:t>
            </a:r>
            <a:endParaRPr lang="en-US" sz="1200" dirty="0"/>
          </a:p>
        </p:txBody>
      </p:sp>
      <p:sp>
        <p:nvSpPr>
          <p:cNvPr id="10" name="Shape 8"/>
          <p:cNvSpPr/>
          <p:nvPr/>
        </p:nvSpPr>
        <p:spPr>
          <a:xfrm>
            <a:off x="7961789" y="1831975"/>
            <a:ext cx="3414157" cy="1220470"/>
          </a:xfrm>
          <a:prstGeom prst="roundRect">
            <a:avLst>
              <a:gd name="adj" fmla="val 5983"/>
            </a:avLst>
          </a:prstGeom>
          <a:solidFill>
            <a:srgbClr val="FCFBF7"/>
          </a:solidFill>
          <a:ln w="6350">
            <a:solidFill>
              <a:srgbClr val="DDD8CC"/>
            </a:solidFill>
            <a:prstDash val="solid"/>
          </a:ln>
        </p:spPr>
      </p:sp>
      <p:sp>
        <p:nvSpPr>
          <p:cNvPr id="11" name="Text 9"/>
          <p:cNvSpPr/>
          <p:nvPr/>
        </p:nvSpPr>
        <p:spPr>
          <a:xfrm>
            <a:off x="8141494" y="1986279"/>
            <a:ext cx="3146389"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9481A"/>
                </a:solidFill>
                <a:latin typeface="Space Grotesk" pitchFamily="34" charset="0"/>
                <a:ea typeface="Space Grotesk" pitchFamily="34" charset="-122"/>
                <a:cs typeface="Space Grotesk" pitchFamily="34" charset="-120"/>
              </a:rPr>
              <a:t>84%</a:t>
            </a:r>
            <a:endParaRPr lang="en-US" sz="3200" dirty="0"/>
          </a:p>
        </p:txBody>
      </p:sp>
      <p:sp>
        <p:nvSpPr>
          <p:cNvPr id="12" name="Text 10"/>
          <p:cNvSpPr/>
          <p:nvPr/>
        </p:nvSpPr>
        <p:spPr>
          <a:xfrm>
            <a:off x="8141494" y="2471421"/>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of pass-to-fail transitions involved a flaky test</a:t>
            </a:r>
            <a:endParaRPr lang="en-US" sz="1200" dirty="0"/>
          </a:p>
        </p:txBody>
      </p:sp>
      <p:sp>
        <p:nvSpPr>
          <p:cNvPr id="13" name="Shape 11"/>
          <p:cNvSpPr/>
          <p:nvPr/>
        </p:nvSpPr>
        <p:spPr>
          <a:xfrm>
            <a:off x="812800" y="3309621"/>
            <a:ext cx="5125720" cy="1432560"/>
          </a:xfrm>
          <a:prstGeom prst="roundRect">
            <a:avLst>
              <a:gd name="adj" fmla="val 5319"/>
            </a:avLst>
          </a:prstGeom>
          <a:solidFill>
            <a:srgbClr val="13233A"/>
          </a:solidFill>
          <a:ln/>
        </p:spPr>
      </p:sp>
      <p:sp>
        <p:nvSpPr>
          <p:cNvPr id="14" name="Text 12"/>
          <p:cNvSpPr/>
          <p:nvPr/>
        </p:nvSpPr>
        <p:spPr>
          <a:xfrm>
            <a:off x="990600" y="3462021"/>
            <a:ext cx="49132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IT HAPPENED TO US</a:t>
            </a:r>
            <a:endParaRPr lang="en-US" sz="1200" dirty="0"/>
          </a:p>
        </p:txBody>
      </p:sp>
      <p:sp>
        <p:nvSpPr>
          <p:cNvPr id="15" name="Text 13"/>
          <p:cNvSpPr/>
          <p:nvPr/>
        </p:nvSpPr>
        <p:spPr>
          <a:xfrm>
            <a:off x="990600" y="3726179"/>
            <a:ext cx="491322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While building this module, the lock test passed in most full runs and failed in some, with no code change. It read the page before the next page had loaded. The fix, a wait for the old page to go stale, is in Lecture 18.</a:t>
            </a:r>
            <a:endParaRPr lang="en-US" sz="1200" dirty="0"/>
          </a:p>
        </p:txBody>
      </p:sp>
      <p:sp>
        <p:nvSpPr>
          <p:cNvPr id="16" name="Shape 14"/>
          <p:cNvSpPr/>
          <p:nvPr/>
        </p:nvSpPr>
        <p:spPr>
          <a:xfrm>
            <a:off x="6246495" y="3312796"/>
            <a:ext cx="5129530" cy="1426210"/>
          </a:xfrm>
          <a:prstGeom prst="roundRect">
            <a:avLst>
              <a:gd name="adj" fmla="val 5120"/>
            </a:avLst>
          </a:prstGeom>
          <a:solidFill>
            <a:srgbClr val="FCFBF7"/>
          </a:solidFill>
          <a:ln w="6350">
            <a:solidFill>
              <a:srgbClr val="DDD8CC"/>
            </a:solidFill>
            <a:prstDash val="solid"/>
          </a:ln>
        </p:spPr>
      </p:sp>
      <p:sp>
        <p:nvSpPr>
          <p:cNvPr id="17" name="Text 15"/>
          <p:cNvSpPr/>
          <p:nvPr/>
        </p:nvSpPr>
        <p:spPr>
          <a:xfrm>
            <a:off x="6426200" y="3467100"/>
            <a:ext cx="49132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 FLAKY-TEST POLICY</a:t>
            </a:r>
            <a:endParaRPr lang="en-US" sz="1200" dirty="0"/>
          </a:p>
        </p:txBody>
      </p:sp>
      <p:sp>
        <p:nvSpPr>
          <p:cNvPr id="18" name="Text 16"/>
          <p:cNvSpPr/>
          <p:nvPr/>
        </p:nvSpPr>
        <p:spPr>
          <a:xfrm>
            <a:off x="6426200" y="3731264"/>
            <a:ext cx="491322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 · Quarantine it out of the gating suite and log a ticket</a:t>
            </a:r>
            <a:endParaRPr lang="en-US" sz="1200" dirty="0"/>
          </a:p>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 · Find the cause: timing, shared state, test order, outside services</a:t>
            </a:r>
            <a:endParaRPr lang="en-US" sz="1200" dirty="0"/>
          </a:p>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 · Fix it, then return it to the suite</a:t>
            </a:r>
            <a:endParaRPr lang="en-US" sz="1200" dirty="0"/>
          </a:p>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Automatic retries only hide the problem.</a:t>
            </a:r>
            <a:endParaRPr lang="en-US" sz="1200" dirty="0"/>
          </a:p>
        </p:txBody>
      </p:sp>
      <p:sp>
        <p:nvSpPr>
          <p:cNvPr id="19" name="Text 1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0" name="Text 18"/>
          <p:cNvSpPr/>
          <p:nvPr/>
        </p:nvSpPr>
        <p:spPr>
          <a:xfrm>
            <a:off x="4586367" y="6238242"/>
            <a:ext cx="6996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Figures: John Micco, “Flaky Tests at Google and How We Mitigate Them”, Google Testing Blog, 2016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DEVOPS TESTING BEST PRACTICES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 data you can trust</a:t>
            </a:r>
            <a:endParaRPr lang="en-US" sz="3200" dirty="0"/>
          </a:p>
        </p:txBody>
      </p:sp>
      <p:sp>
        <p:nvSpPr>
          <p:cNvPr id="4" name="Shape 2"/>
          <p:cNvSpPr/>
          <p:nvPr/>
        </p:nvSpPr>
        <p:spPr>
          <a:xfrm>
            <a:off x="11376025" y="1828800"/>
            <a:ext cx="0" cy="1996440"/>
          </a:xfrm>
          <a:prstGeom prst="line">
            <a:avLst/>
          </a:prstGeom>
          <a:noFill/>
          <a:ln w="6350">
            <a:solidFill>
              <a:srgbClr val="DDD8CC"/>
            </a:solidFill>
            <a:prstDash val="solid"/>
          </a:ln>
        </p:spPr>
      </p:sp>
      <p:sp>
        <p:nvSpPr>
          <p:cNvPr id="5" name="Shape 3"/>
          <p:cNvSpPr/>
          <p:nvPr/>
        </p:nvSpPr>
        <p:spPr>
          <a:xfrm>
            <a:off x="812800" y="38220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981200"/>
        </p:xfrm>
        <a:graphic>
          <a:graphicData uri="http://schemas.openxmlformats.org/drawingml/2006/table">
            <a:tbl>
              <a:tblPr/>
              <a:tblGrid>
                <a:gridCol w="4853534"/>
                <a:gridCol w="5697626"/>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DORA practice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In the Canteen App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Favor unit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apply_coupon() needs no database or test data at 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Minimize reliance on test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Each test creates only what it needs: one student, one cart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Isolate your test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test logs in fresh and builds its own cart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Minimize reliance on test data stored in databases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Set up data through the API or fixtures, not shared tables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Make test data readily available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One command resets the test environment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079242"/>
            <a:ext cx="10566400" cy="802640"/>
          </a:xfrm>
          <a:prstGeom prst="roundRect">
            <a:avLst>
              <a:gd name="adj" fmla="val 9494"/>
            </a:avLst>
          </a:prstGeom>
          <a:solidFill>
            <a:srgbClr val="13233A"/>
          </a:solidFill>
          <a:ln/>
        </p:spPr>
      </p:sp>
      <p:sp>
        <p:nvSpPr>
          <p:cNvPr id="8" name="Text 5"/>
          <p:cNvSpPr/>
          <p:nvPr/>
        </p:nvSpPr>
        <p:spPr>
          <a:xfrm>
            <a:off x="1016000" y="4373879"/>
            <a:ext cx="779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WARNING</a:t>
            </a:r>
            <a:endParaRPr lang="en-US" sz="1200" dirty="0"/>
          </a:p>
        </p:txBody>
      </p:sp>
      <p:sp>
        <p:nvSpPr>
          <p:cNvPr id="9" name="Text 6"/>
          <p:cNvSpPr/>
          <p:nvPr/>
        </p:nvSpPr>
        <p:spPr>
          <a:xfrm>
            <a:off x="1897380" y="4231642"/>
            <a:ext cx="955697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“Running tests against a copy of a full production database introduces risk.” Use synthetic students such as S101, never real student records.</a:t>
            </a:r>
            <a:endParaRPr lang="en-US" sz="1400" dirty="0"/>
          </a:p>
        </p:txBody>
      </p:sp>
      <p:sp>
        <p:nvSpPr>
          <p:cNvPr id="10" name="Shape 7"/>
          <p:cNvSpPr/>
          <p:nvPr/>
        </p:nvSpPr>
        <p:spPr>
          <a:xfrm>
            <a:off x="812800" y="5135879"/>
            <a:ext cx="10566400" cy="553720"/>
          </a:xfrm>
          <a:prstGeom prst="roundRect">
            <a:avLst>
              <a:gd name="adj" fmla="val 13761"/>
            </a:avLst>
          </a:prstGeom>
          <a:solidFill>
            <a:srgbClr val="DCE7F3"/>
          </a:solidFill>
          <a:ln/>
        </p:spPr>
      </p:sp>
      <p:sp>
        <p:nvSpPr>
          <p:cNvPr id="11" name="Text 8"/>
          <p:cNvSpPr/>
          <p:nvPr/>
        </p:nvSpPr>
        <p:spPr>
          <a:xfrm>
            <a:off x="1016000" y="5306064"/>
            <a:ext cx="19307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SUCCESS LOOKS LIKE</a:t>
            </a:r>
            <a:endParaRPr lang="en-US" sz="1200" dirty="0"/>
          </a:p>
        </p:txBody>
      </p:sp>
      <p:sp>
        <p:nvSpPr>
          <p:cNvPr id="12" name="Text 9"/>
          <p:cNvSpPr/>
          <p:nvPr/>
        </p:nvSpPr>
        <p:spPr>
          <a:xfrm>
            <a:off x="3042920" y="5288279"/>
            <a:ext cx="837707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“Adequate test data is available to run full automated test suites.”</a:t>
            </a:r>
            <a:endParaRPr lang="en-US" sz="1400" dirty="0"/>
          </a:p>
        </p:txBody>
      </p:sp>
      <p:sp>
        <p:nvSpPr>
          <p:cNvPr id="13" name="Text 1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4" name="Text 11"/>
          <p:cNvSpPr/>
          <p:nvPr/>
        </p:nvSpPr>
        <p:spPr>
          <a:xfrm>
            <a:off x="6736159" y="6238242"/>
            <a:ext cx="47823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Practices and quotes: DORA capability guide, test data management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DEVOPS TESTING BEST PRACTICES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Controlling dependencies in tests</a:t>
            </a:r>
            <a:endParaRPr lang="en-US" sz="3200" dirty="0"/>
          </a:p>
        </p:txBody>
      </p:sp>
      <p:sp>
        <p:nvSpPr>
          <p:cNvPr id="4" name="Shape 2"/>
          <p:cNvSpPr/>
          <p:nvPr/>
        </p:nvSpPr>
        <p:spPr>
          <a:xfrm>
            <a:off x="815975" y="1831975"/>
            <a:ext cx="3414157" cy="2053590"/>
          </a:xfrm>
          <a:prstGeom prst="roundRect">
            <a:avLst>
              <a:gd name="adj" fmla="val 3556"/>
            </a:avLst>
          </a:prstGeom>
          <a:solidFill>
            <a:srgbClr val="FCFBF7"/>
          </a:solidFill>
          <a:ln w="6350">
            <a:solidFill>
              <a:srgbClr val="DDD8CC"/>
            </a:solidFill>
            <a:prstDash val="solid"/>
          </a:ln>
        </p:spPr>
      </p:sp>
      <p:sp>
        <p:nvSpPr>
          <p:cNvPr id="5" name="Text 3"/>
          <p:cNvSpPr/>
          <p:nvPr/>
        </p:nvSpPr>
        <p:spPr>
          <a:xfrm>
            <a:off x="995680" y="19862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Test doubles</a:t>
            </a:r>
            <a:endParaRPr lang="en-US" sz="1200" dirty="0"/>
          </a:p>
        </p:txBody>
      </p:sp>
      <p:sp>
        <p:nvSpPr>
          <p:cNvPr id="6" name="Text 4"/>
          <p:cNvSpPr/>
          <p:nvPr/>
        </p:nvSpPr>
        <p:spPr>
          <a:xfrm>
            <a:off x="995680" y="2250442"/>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Stubs and mocks</a:t>
            </a:r>
            <a:endParaRPr lang="en-US" sz="1400" dirty="0"/>
          </a:p>
        </p:txBody>
      </p:sp>
      <p:sp>
        <p:nvSpPr>
          <p:cNvPr id="7" name="Text 5"/>
          <p:cNvSpPr/>
          <p:nvPr/>
        </p:nvSpPr>
        <p:spPr>
          <a:xfrm>
            <a:off x="995680" y="2532379"/>
            <a:ext cx="31463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“Stubs provide canned answers to calls made during the test.” “Mocks are pre-programmed with expectations.”</a:t>
            </a:r>
            <a:endParaRPr lang="en-US" sz="1200" dirty="0"/>
          </a:p>
        </p:txBody>
      </p:sp>
      <p:sp>
        <p:nvSpPr>
          <p:cNvPr id="8" name="Shape 6"/>
          <p:cNvSpPr/>
          <p:nvPr/>
        </p:nvSpPr>
        <p:spPr>
          <a:xfrm>
            <a:off x="995680" y="3226439"/>
            <a:ext cx="3054747" cy="0"/>
          </a:xfrm>
          <a:prstGeom prst="line">
            <a:avLst/>
          </a:prstGeom>
          <a:noFill/>
          <a:ln w="6350">
            <a:solidFill>
              <a:srgbClr val="DDD8CC"/>
            </a:solidFill>
            <a:prstDash val="solid"/>
          </a:ln>
        </p:spPr>
      </p:sp>
      <p:sp>
        <p:nvSpPr>
          <p:cNvPr id="9" name="Text 7"/>
          <p:cNvSpPr/>
          <p:nvPr/>
        </p:nvSpPr>
        <p:spPr>
          <a:xfrm>
            <a:off x="995680" y="3304544"/>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stub wallet answers “paid” in a unit test of checkout.</a:t>
            </a:r>
            <a:endParaRPr lang="en-US" sz="1200" dirty="0"/>
          </a:p>
        </p:txBody>
      </p:sp>
      <p:sp>
        <p:nvSpPr>
          <p:cNvPr id="10" name="Shape 8"/>
          <p:cNvSpPr/>
          <p:nvPr/>
        </p:nvSpPr>
        <p:spPr>
          <a:xfrm>
            <a:off x="4388882" y="1831975"/>
            <a:ext cx="3414157" cy="2053590"/>
          </a:xfrm>
          <a:prstGeom prst="roundRect">
            <a:avLst>
              <a:gd name="adj" fmla="val 3556"/>
            </a:avLst>
          </a:prstGeom>
          <a:solidFill>
            <a:srgbClr val="FCFBF7"/>
          </a:solidFill>
          <a:ln w="6350">
            <a:solidFill>
              <a:srgbClr val="DDD8CC"/>
            </a:solidFill>
            <a:prstDash val="solid"/>
          </a:ln>
        </p:spPr>
      </p:sp>
      <p:sp>
        <p:nvSpPr>
          <p:cNvPr id="11" name="Text 9"/>
          <p:cNvSpPr/>
          <p:nvPr/>
        </p:nvSpPr>
        <p:spPr>
          <a:xfrm>
            <a:off x="4568587" y="19862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Service virtualization</a:t>
            </a:r>
            <a:endParaRPr lang="en-US" sz="1200" dirty="0"/>
          </a:p>
        </p:txBody>
      </p:sp>
      <p:sp>
        <p:nvSpPr>
          <p:cNvPr id="12" name="Text 10"/>
          <p:cNvSpPr/>
          <p:nvPr/>
        </p:nvSpPr>
        <p:spPr>
          <a:xfrm>
            <a:off x="4568587" y="2250442"/>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Virtual services</a:t>
            </a:r>
            <a:endParaRPr lang="en-US" sz="1400" dirty="0"/>
          </a:p>
        </p:txBody>
      </p:sp>
      <p:sp>
        <p:nvSpPr>
          <p:cNvPr id="13" name="Text 11"/>
          <p:cNvSpPr/>
          <p:nvPr/>
        </p:nvSpPr>
        <p:spPr>
          <a:xfrm>
            <a:off x="4568587" y="2532379"/>
            <a:ext cx="31463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Stands in for a whole dependency over its real protocol, with realistic data, errors and delays.</a:t>
            </a:r>
            <a:endParaRPr lang="en-US" sz="1200" dirty="0"/>
          </a:p>
        </p:txBody>
      </p:sp>
      <p:sp>
        <p:nvSpPr>
          <p:cNvPr id="14" name="Shape 12"/>
          <p:cNvSpPr/>
          <p:nvPr/>
        </p:nvSpPr>
        <p:spPr>
          <a:xfrm>
            <a:off x="4568587" y="3226439"/>
            <a:ext cx="3054747" cy="0"/>
          </a:xfrm>
          <a:prstGeom prst="line">
            <a:avLst/>
          </a:prstGeom>
          <a:noFill/>
          <a:ln w="6350">
            <a:solidFill>
              <a:srgbClr val="DDD8CC"/>
            </a:solidFill>
            <a:prstDash val="solid"/>
          </a:ln>
        </p:spPr>
      </p:sp>
      <p:sp>
        <p:nvSpPr>
          <p:cNvPr id="15" name="Text 13"/>
          <p:cNvSpPr/>
          <p:nvPr/>
        </p:nvSpPr>
        <p:spPr>
          <a:xfrm>
            <a:off x="4568587" y="3304544"/>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virtual UPI gateway returns success, failure or a timeout on demand.</a:t>
            </a:r>
            <a:endParaRPr lang="en-US" sz="1200" dirty="0"/>
          </a:p>
        </p:txBody>
      </p:sp>
      <p:sp>
        <p:nvSpPr>
          <p:cNvPr id="16" name="Shape 14"/>
          <p:cNvSpPr/>
          <p:nvPr/>
        </p:nvSpPr>
        <p:spPr>
          <a:xfrm>
            <a:off x="7961789" y="1831975"/>
            <a:ext cx="3414157" cy="2053590"/>
          </a:xfrm>
          <a:prstGeom prst="roundRect">
            <a:avLst>
              <a:gd name="adj" fmla="val 3556"/>
            </a:avLst>
          </a:prstGeom>
          <a:solidFill>
            <a:srgbClr val="FCFBF7"/>
          </a:solidFill>
          <a:ln w="6350">
            <a:solidFill>
              <a:srgbClr val="DDD8CC"/>
            </a:solidFill>
            <a:prstDash val="solid"/>
          </a:ln>
        </p:spPr>
      </p:sp>
      <p:sp>
        <p:nvSpPr>
          <p:cNvPr id="17" name="Text 15"/>
          <p:cNvSpPr/>
          <p:nvPr/>
        </p:nvSpPr>
        <p:spPr>
          <a:xfrm>
            <a:off x="8141494" y="1986279"/>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Contract testing</a:t>
            </a:r>
            <a:endParaRPr lang="en-US" sz="1200" dirty="0"/>
          </a:p>
        </p:txBody>
      </p:sp>
      <p:sp>
        <p:nvSpPr>
          <p:cNvPr id="18" name="Text 16"/>
          <p:cNvSpPr/>
          <p:nvPr/>
        </p:nvSpPr>
        <p:spPr>
          <a:xfrm>
            <a:off x="8141494" y="2250442"/>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Consumer-driven contracts</a:t>
            </a:r>
            <a:endParaRPr lang="en-US" sz="1400" dirty="0"/>
          </a:p>
        </p:txBody>
      </p:sp>
      <p:sp>
        <p:nvSpPr>
          <p:cNvPr id="19" name="Text 17"/>
          <p:cNvSpPr/>
          <p:nvPr/>
        </p:nvSpPr>
        <p:spPr>
          <a:xfrm>
            <a:off x="8141494" y="2532379"/>
            <a:ext cx="31463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Checks “each application in isolation to ensure the messages it sends or receives conform to a shared understanding” (Pact).</a:t>
            </a:r>
            <a:endParaRPr lang="en-US" sz="1200" dirty="0"/>
          </a:p>
        </p:txBody>
      </p:sp>
      <p:sp>
        <p:nvSpPr>
          <p:cNvPr id="20" name="Shape 18"/>
          <p:cNvSpPr/>
          <p:nvPr/>
        </p:nvSpPr>
        <p:spPr>
          <a:xfrm>
            <a:off x="8141494" y="3226439"/>
            <a:ext cx="3054747" cy="0"/>
          </a:xfrm>
          <a:prstGeom prst="line">
            <a:avLst/>
          </a:prstGeom>
          <a:noFill/>
          <a:ln w="6350">
            <a:solidFill>
              <a:srgbClr val="DDD8CC"/>
            </a:solidFill>
            <a:prstDash val="solid"/>
          </a:ln>
        </p:spPr>
      </p:sp>
      <p:sp>
        <p:nvSpPr>
          <p:cNvPr id="21" name="Text 19"/>
          <p:cNvSpPr/>
          <p:nvPr/>
        </p:nvSpPr>
        <p:spPr>
          <a:xfrm>
            <a:off x="8141494" y="3304544"/>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 and wallet service each test against the agreed POST /pay contract.</a:t>
            </a:r>
            <a:endParaRPr lang="en-US" sz="1200" dirty="0"/>
          </a:p>
        </p:txBody>
      </p:sp>
      <p:sp>
        <p:nvSpPr>
          <p:cNvPr id="22" name="Shape 20"/>
          <p:cNvSpPr/>
          <p:nvPr/>
        </p:nvSpPr>
        <p:spPr>
          <a:xfrm>
            <a:off x="812800" y="4142742"/>
            <a:ext cx="10566400" cy="802640"/>
          </a:xfrm>
          <a:prstGeom prst="roundRect">
            <a:avLst>
              <a:gd name="adj" fmla="val 9494"/>
            </a:avLst>
          </a:prstGeom>
          <a:solidFill>
            <a:srgbClr val="13233A"/>
          </a:solidFill>
          <a:ln/>
        </p:spPr>
      </p:sp>
      <p:sp>
        <p:nvSpPr>
          <p:cNvPr id="23" name="Text 21"/>
          <p:cNvSpPr/>
          <p:nvPr/>
        </p:nvSpPr>
        <p:spPr>
          <a:xfrm>
            <a:off x="1016000" y="4437379"/>
            <a:ext cx="14046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RULE OF THUMB</a:t>
            </a:r>
            <a:endParaRPr lang="en-US" sz="1200" dirty="0"/>
          </a:p>
        </p:txBody>
      </p:sp>
      <p:sp>
        <p:nvSpPr>
          <p:cNvPr id="24" name="Text 22"/>
          <p:cNvSpPr/>
          <p:nvPr/>
        </p:nvSpPr>
        <p:spPr>
          <a:xfrm>
            <a:off x="2522220" y="4295142"/>
            <a:ext cx="89133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Use the cheapest double that answers the question, and keep a few end-to-end journeys against the real services before release.</a:t>
            </a:r>
            <a:endParaRPr lang="en-US" sz="1400" dirty="0"/>
          </a:p>
        </p:txBody>
      </p:sp>
      <p:sp>
        <p:nvSpPr>
          <p:cNvPr id="25" name="Text 23"/>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6" name="Text 24"/>
          <p:cNvSpPr/>
          <p:nvPr/>
        </p:nvSpPr>
        <p:spPr>
          <a:xfrm>
            <a:off x="5422186" y="6238242"/>
            <a:ext cx="61357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 Fowler, “TestDouble” (2006) · Pact documentation · the wallet contract is illustrative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L14 · CHECK YOUR UNDERSTANDING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14</a:t>
            </a:r>
            <a:endParaRPr lang="en-US" sz="3200" dirty="0"/>
          </a:p>
        </p:txBody>
      </p:sp>
      <p:sp>
        <p:nvSpPr>
          <p:cNvPr id="4" name="Shape 2"/>
          <p:cNvSpPr/>
          <p:nvPr/>
        </p:nvSpPr>
        <p:spPr>
          <a:xfrm>
            <a:off x="815975" y="1831975"/>
            <a:ext cx="5175250" cy="1588770"/>
          </a:xfrm>
          <a:prstGeom prst="roundRect">
            <a:avLst>
              <a:gd name="adj" fmla="val 4596"/>
            </a:avLst>
          </a:prstGeom>
          <a:solidFill>
            <a:srgbClr val="FCFBF7"/>
          </a:solidFill>
          <a:ln w="6350">
            <a:solidFill>
              <a:srgbClr val="DDD8CC"/>
            </a:solidFill>
            <a:prstDash val="solid"/>
          </a:ln>
        </p:spPr>
      </p:sp>
      <p:sp>
        <p:nvSpPr>
          <p:cNvPr id="5" name="Text 3"/>
          <p:cNvSpPr/>
          <p:nvPr/>
        </p:nvSpPr>
        <p:spPr>
          <a:xfrm>
            <a:off x="1046480" y="2062479"/>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79"/>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CI takes 45 minutes, so developers push once a day. Name three ways to get commit-stage feedback in under ten minutes.</a:t>
            </a:r>
            <a:endParaRPr lang="en-US" sz="1400" dirty="0"/>
          </a:p>
        </p:txBody>
      </p:sp>
      <p:sp>
        <p:nvSpPr>
          <p:cNvPr id="7" name="Shape 5"/>
          <p:cNvSpPr/>
          <p:nvPr/>
        </p:nvSpPr>
        <p:spPr>
          <a:xfrm>
            <a:off x="6200775" y="1831975"/>
            <a:ext cx="5175250" cy="1588770"/>
          </a:xfrm>
          <a:prstGeom prst="roundRect">
            <a:avLst>
              <a:gd name="adj" fmla="val 4596"/>
            </a:avLst>
          </a:prstGeom>
          <a:solidFill>
            <a:srgbClr val="FCFBF7"/>
          </a:solidFill>
          <a:ln w="6350">
            <a:solidFill>
              <a:srgbClr val="DDD8CC"/>
            </a:solidFill>
            <a:prstDash val="solid"/>
          </a:ln>
        </p:spPr>
      </p:sp>
      <p:sp>
        <p:nvSpPr>
          <p:cNvPr id="8" name="Text 6"/>
          <p:cNvSpPr/>
          <p:nvPr/>
        </p:nvSpPr>
        <p:spPr>
          <a:xfrm>
            <a:off x="6431280" y="2062479"/>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79"/>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UI test fails about once in twenty runs with no code change. What is it called, and what should the team do this week?</a:t>
            </a:r>
            <a:endParaRPr lang="en-US" sz="1400" dirty="0"/>
          </a:p>
        </p:txBody>
      </p:sp>
      <p:sp>
        <p:nvSpPr>
          <p:cNvPr id="10" name="Shape 8"/>
          <p:cNvSpPr/>
          <p:nvPr/>
        </p:nvSpPr>
        <p:spPr>
          <a:xfrm>
            <a:off x="815975" y="3630296"/>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86080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42418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is a copy of the production database a poor source of test data for the Canteen App?</a:t>
            </a:r>
            <a:endParaRPr lang="en-US" sz="1400" dirty="0"/>
          </a:p>
        </p:txBody>
      </p:sp>
      <p:sp>
        <p:nvSpPr>
          <p:cNvPr id="13" name="Shape 11"/>
          <p:cNvSpPr/>
          <p:nvPr/>
        </p:nvSpPr>
        <p:spPr>
          <a:xfrm>
            <a:off x="6200775" y="3630296"/>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86080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42418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UPI gateway has no test environment. Which technique lets you test payment failures and timeouts?</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9372044" y="6238242"/>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15</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3 · LECTURE 15 · 40 MINUTES</a:t>
            </a:r>
            <a:endParaRPr lang="en-US" sz="1200" dirty="0"/>
          </a:p>
        </p:txBody>
      </p:sp>
      <p:sp>
        <p:nvSpPr>
          <p:cNvPr id="4" name="Text 2"/>
          <p:cNvSpPr/>
          <p:nvPr/>
        </p:nvSpPr>
        <p:spPr>
          <a:xfrm>
            <a:off x="812800" y="3134364"/>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Business and technical</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test automation</a:t>
            </a:r>
            <a:endParaRPr lang="en-US" sz="5600" dirty="0"/>
          </a:p>
        </p:txBody>
      </p:sp>
      <p:sp>
        <p:nvSpPr>
          <p:cNvPr id="5" name="Shape 3"/>
          <p:cNvSpPr/>
          <p:nvPr/>
        </p:nvSpPr>
        <p:spPr>
          <a:xfrm>
            <a:off x="812800" y="4989829"/>
            <a:ext cx="2794000" cy="0"/>
          </a:xfrm>
          <a:prstGeom prst="line">
            <a:avLst/>
          </a:prstGeom>
          <a:noFill/>
          <a:ln w="12700">
            <a:solidFill>
              <a:srgbClr val="3A5476"/>
            </a:solidFill>
            <a:prstDash val="solid"/>
          </a:ln>
        </p:spPr>
      </p:sp>
      <p:sp>
        <p:nvSpPr>
          <p:cNvPr id="6" name="Text 4"/>
          <p:cNvSpPr/>
          <p:nvPr/>
        </p:nvSpPr>
        <p:spPr>
          <a:xfrm>
            <a:off x="812800" y="51206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Business test automation</a:t>
            </a:r>
            <a:endParaRPr lang="en-US" sz="2000" dirty="0"/>
          </a:p>
        </p:txBody>
      </p:sp>
      <p:sp>
        <p:nvSpPr>
          <p:cNvPr id="8" name="Shape 6"/>
          <p:cNvSpPr/>
          <p:nvPr/>
        </p:nvSpPr>
        <p:spPr>
          <a:xfrm>
            <a:off x="3911600" y="4989829"/>
            <a:ext cx="2794000" cy="0"/>
          </a:xfrm>
          <a:prstGeom prst="line">
            <a:avLst/>
          </a:prstGeom>
          <a:noFill/>
          <a:ln w="12700">
            <a:solidFill>
              <a:srgbClr val="3A5476"/>
            </a:solidFill>
            <a:prstDash val="solid"/>
          </a:ln>
        </p:spPr>
      </p:sp>
      <p:sp>
        <p:nvSpPr>
          <p:cNvPr id="9" name="Text 7"/>
          <p:cNvSpPr/>
          <p:nvPr/>
        </p:nvSpPr>
        <p:spPr>
          <a:xfrm>
            <a:off x="3911600" y="51206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Technical test automation</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129699"/>
          </a:xfrm>
          <a:prstGeom prst="rect">
            <a:avLst/>
          </a:prstGeom>
          <a:noFill/>
          <a:ln/>
        </p:spPr>
        <p:txBody>
          <a:bodyPr wrap="square" lIns="0" tIns="0" rIns="0" bIns="0" rtlCol="0" anchor="t">
            <a:normAutofit/>
          </a:bodyPr>
          <a:lstStyle/>
          <a:p>
            <a:pPr algn="l" indent="0" marL="0">
              <a:lnSpc>
                <a:spcPts val="1008"/>
              </a:lnSpc>
              <a:buNone/>
            </a:pPr>
            <a:r>
              <a:rPr lang="en-US" sz="720" b="1" spc="100" kern="0" dirty="0">
                <a:solidFill>
                  <a:srgbClr val="A9481A"/>
                </a:solidFill>
                <a:latin typeface="JetBrains Mono" pitchFamily="34" charset="0"/>
                <a:ea typeface="JetBrains Mono" pitchFamily="34" charset="-122"/>
                <a:cs typeface="JetBrains Mono" pitchFamily="34" charset="-120"/>
              </a:rPr>
              <a:t>L15 · BUSINESS AND TECHNICAL AUTOMATION</a:t>
            </a:r>
            <a:endParaRPr lang="en-US" sz="720" dirty="0"/>
          </a:p>
        </p:txBody>
      </p:sp>
      <p:sp>
        <p:nvSpPr>
          <p:cNvPr id="3" name="Text 1"/>
          <p:cNvSpPr/>
          <p:nvPr/>
        </p:nvSpPr>
        <p:spPr>
          <a:xfrm>
            <a:off x="812800" y="1018698"/>
            <a:ext cx="10883392" cy="243840"/>
          </a:xfrm>
          <a:prstGeom prst="rect">
            <a:avLst/>
          </a:prstGeom>
          <a:noFill/>
          <a:ln/>
        </p:spPr>
        <p:txBody>
          <a:bodyPr wrap="square" lIns="0" tIns="0" rIns="0" bIns="0" rtlCol="0" anchor="t">
            <a:normAutofit/>
          </a:bodyPr>
          <a:lstStyle/>
          <a:p>
            <a:pPr algn="l" indent="0" marL="0">
              <a:lnSpc>
                <a:spcPts val="2112"/>
              </a:lnSpc>
              <a:buNone/>
            </a:pPr>
            <a:r>
              <a:rPr lang="en-US" sz="1920" b="1" spc="-50" kern="0" dirty="0">
                <a:solidFill>
                  <a:srgbClr val="13233A"/>
                </a:solidFill>
                <a:latin typeface="Space Grotesk" pitchFamily="34" charset="0"/>
                <a:ea typeface="Space Grotesk" pitchFamily="34" charset="-122"/>
                <a:cs typeface="Space Grotesk" pitchFamily="34" charset="-120"/>
              </a:rPr>
              <a:t>The agile testing quadrants</a:t>
            </a:r>
            <a:endParaRPr lang="en-US" sz="1920" dirty="0"/>
          </a:p>
        </p:txBody>
      </p:sp>
      <p:sp>
        <p:nvSpPr>
          <p:cNvPr id="4" name="Text 2"/>
          <p:cNvSpPr/>
          <p:nvPr/>
        </p:nvSpPr>
        <p:spPr>
          <a:xfrm>
            <a:off x="812800" y="1491146"/>
            <a:ext cx="1320800" cy="5689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SUPPORT THE TEAM</a:t>
            </a:r>
            <a:endParaRPr lang="en-US" sz="1200" dirty="0"/>
          </a:p>
        </p:txBody>
      </p:sp>
      <p:sp>
        <p:nvSpPr>
          <p:cNvPr id="5" name="Text 3"/>
          <p:cNvSpPr/>
          <p:nvPr/>
        </p:nvSpPr>
        <p:spPr>
          <a:xfrm>
            <a:off x="2235200" y="1491146"/>
            <a:ext cx="4630674" cy="5689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CRITIQUE THE PRODUCT</a:t>
            </a:r>
            <a:endParaRPr lang="en-US" sz="1200" dirty="0"/>
          </a:p>
        </p:txBody>
      </p:sp>
      <p:sp>
        <p:nvSpPr>
          <p:cNvPr id="6" name="Shape 4"/>
          <p:cNvSpPr/>
          <p:nvPr/>
        </p:nvSpPr>
        <p:spPr>
          <a:xfrm>
            <a:off x="6883400" y="1500671"/>
            <a:ext cx="4495800" cy="0"/>
          </a:xfrm>
          <a:prstGeom prst="line">
            <a:avLst/>
          </a:prstGeom>
          <a:noFill/>
          <a:ln w="19050">
            <a:solidFill>
              <a:srgbClr val="13233A"/>
            </a:solidFill>
            <a:prstDash val="solid"/>
          </a:ln>
        </p:spPr>
      </p:sp>
      <p:sp>
        <p:nvSpPr>
          <p:cNvPr id="7" name="Text 5"/>
          <p:cNvSpPr/>
          <p:nvPr/>
        </p:nvSpPr>
        <p:spPr>
          <a:xfrm>
            <a:off x="6883400" y="1607976"/>
            <a:ext cx="4630674"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Space Grotesk" pitchFamily="34" charset="0"/>
                <a:ea typeface="Space Grotesk" pitchFamily="34" charset="-122"/>
                <a:cs typeface="Space Grotesk" pitchFamily="34" charset="-120"/>
              </a:rPr>
              <a:t>Business-</a:t>
            </a:r>
            <a:endParaRPr lang="en-US" sz="1400" dirty="0"/>
          </a:p>
          <a:p>
            <a:pPr algn="l" indent="0" marL="0">
              <a:lnSpc>
                <a:spcPts val="1680"/>
              </a:lnSpc>
              <a:buNone/>
            </a:pPr>
            <a:r>
              <a:rPr lang="en-US" sz="1400" b="1" dirty="0">
                <a:solidFill>
                  <a:srgbClr val="13233A"/>
                </a:solidFill>
                <a:latin typeface="Space Grotesk" pitchFamily="34" charset="0"/>
                <a:ea typeface="Space Grotesk" pitchFamily="34" charset="-122"/>
                <a:cs typeface="Space Grotesk" pitchFamily="34" charset="-120"/>
              </a:rPr>
              <a:t>facing</a:t>
            </a:r>
            <a:endParaRPr lang="en-US" sz="1400" dirty="0"/>
          </a:p>
        </p:txBody>
      </p:sp>
      <p:sp>
        <p:nvSpPr>
          <p:cNvPr id="8" name="Shape 6"/>
          <p:cNvSpPr/>
          <p:nvPr/>
        </p:nvSpPr>
        <p:spPr>
          <a:xfrm>
            <a:off x="812800" y="2187104"/>
            <a:ext cx="1270000" cy="1751251"/>
          </a:xfrm>
          <a:prstGeom prst="roundRect">
            <a:avLst>
              <a:gd name="adj" fmla="val 6000"/>
            </a:avLst>
          </a:prstGeom>
          <a:solidFill>
            <a:srgbClr val="DCE7F3"/>
          </a:solidFill>
          <a:ln/>
        </p:spPr>
      </p:sp>
      <p:sp>
        <p:nvSpPr>
          <p:cNvPr id="9" name="Text 7"/>
          <p:cNvSpPr/>
          <p:nvPr/>
        </p:nvSpPr>
        <p:spPr>
          <a:xfrm>
            <a:off x="990600" y="2339504"/>
            <a:ext cx="965200" cy="260429"/>
          </a:xfrm>
          <a:prstGeom prst="rect">
            <a:avLst/>
          </a:prstGeom>
          <a:noFill/>
          <a:ln/>
        </p:spPr>
        <p:txBody>
          <a:bodyPr wrap="square" lIns="0" tIns="0" rIns="0" bIns="0" rtlCol="0" anchor="t">
            <a:normAutofit/>
          </a:bodyPr>
          <a:lstStyle/>
          <a:p>
            <a:pPr algn="l" indent="0" marL="0">
              <a:lnSpc>
                <a:spcPts val="1008"/>
              </a:lnSpc>
              <a:buNone/>
            </a:pPr>
            <a:r>
              <a:rPr lang="en-US" sz="720" b="1" dirty="0">
                <a:solidFill>
                  <a:srgbClr val="245A9C"/>
                </a:solidFill>
                <a:latin typeface="JetBrains Mono" pitchFamily="34" charset="0"/>
                <a:ea typeface="JetBrains Mono" pitchFamily="34" charset="-122"/>
                <a:cs typeface="JetBrains Mono" pitchFamily="34" charset="-120"/>
              </a:rPr>
              <a:t>Q2 · Automated and manual</a:t>
            </a:r>
            <a:endParaRPr lang="en-US" sz="720" dirty="0"/>
          </a:p>
        </p:txBody>
      </p:sp>
      <p:sp>
        <p:nvSpPr>
          <p:cNvPr id="10" name="Text 8"/>
          <p:cNvSpPr/>
          <p:nvPr/>
        </p:nvSpPr>
        <p:spPr>
          <a:xfrm>
            <a:off x="990600" y="2625328"/>
            <a:ext cx="965200" cy="665163"/>
          </a:xfrm>
          <a:prstGeom prst="rect">
            <a:avLst/>
          </a:prstGeom>
          <a:noFill/>
          <a:ln/>
        </p:spPr>
        <p:txBody>
          <a:bodyPr wrap="square" lIns="0" tIns="0" rIns="0" bIns="0" rtlCol="0" anchor="t">
            <a:normAutofit/>
          </a:bodyPr>
          <a:lstStyle/>
          <a:p>
            <a:pPr algn="l" indent="0" marL="0">
              <a:lnSpc>
                <a:spcPts val="1268"/>
              </a:lnSpc>
              <a:buNone/>
            </a:pPr>
            <a:r>
              <a:rPr lang="en-US" sz="906" dirty="0">
                <a:solidFill>
                  <a:srgbClr val="13233A"/>
                </a:solidFill>
                <a:latin typeface="IBM Plex Sans" pitchFamily="34" charset="0"/>
                <a:ea typeface="IBM Plex Sans" pitchFamily="34" charset="-122"/>
                <a:cs typeface="IBM Plex Sans" pitchFamily="34" charset="-120"/>
              </a:rPr>
              <a:t>Functional tests, examples, story tests, prototypes, simulations</a:t>
            </a:r>
            <a:endParaRPr lang="en-US" sz="906" dirty="0"/>
          </a:p>
        </p:txBody>
      </p:sp>
      <p:sp>
        <p:nvSpPr>
          <p:cNvPr id="11" name="Text 9"/>
          <p:cNvSpPr/>
          <p:nvPr/>
        </p:nvSpPr>
        <p:spPr>
          <a:xfrm>
            <a:off x="990600" y="3315891"/>
            <a:ext cx="965200" cy="495459"/>
          </a:xfrm>
          <a:prstGeom prst="rect">
            <a:avLst/>
          </a:prstGeom>
          <a:noFill/>
          <a:ln/>
        </p:spPr>
        <p:txBody>
          <a:bodyPr wrap="square" lIns="0" tIns="0" rIns="0" bIns="0" rtlCol="0" anchor="t">
            <a:normAutofit/>
          </a:bodyPr>
          <a:lstStyle/>
          <a:p>
            <a:pPr algn="l" indent="0" marL="0">
              <a:lnSpc>
                <a:spcPts val="1087"/>
              </a:lnSpc>
              <a:buNone/>
            </a:pPr>
            <a:r>
              <a:rPr lang="en-US" sz="776" dirty="0">
                <a:solidFill>
                  <a:srgbClr val="44505F"/>
                </a:solidFill>
                <a:latin typeface="IBM Plex Sans" pitchFamily="34" charset="0"/>
                <a:ea typeface="IBM Plex Sans" pitchFamily="34" charset="-122"/>
                <a:cs typeface="IBM Plex Sans" pitchFamily="34" charset="-120"/>
              </a:rPr>
              <a:t>Canteen: SAVE20 examples as a Robot Framework test</a:t>
            </a:r>
            <a:endParaRPr lang="en-US" sz="776" dirty="0"/>
          </a:p>
        </p:txBody>
      </p:sp>
      <p:sp>
        <p:nvSpPr>
          <p:cNvPr id="12" name="Shape 10"/>
          <p:cNvSpPr/>
          <p:nvPr/>
        </p:nvSpPr>
        <p:spPr>
          <a:xfrm>
            <a:off x="2235200" y="2187104"/>
            <a:ext cx="4495800" cy="1751251"/>
          </a:xfrm>
          <a:prstGeom prst="roundRect">
            <a:avLst>
              <a:gd name="adj" fmla="val 4351"/>
            </a:avLst>
          </a:prstGeom>
          <a:solidFill>
            <a:srgbClr val="F7E3D5"/>
          </a:solidFill>
          <a:ln/>
        </p:spPr>
      </p:sp>
      <p:sp>
        <p:nvSpPr>
          <p:cNvPr id="13" name="Text 11"/>
          <p:cNvSpPr/>
          <p:nvPr/>
        </p:nvSpPr>
        <p:spPr>
          <a:xfrm>
            <a:off x="2413000" y="2339504"/>
            <a:ext cx="426440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Q3 · Manual</a:t>
            </a:r>
            <a:endParaRPr lang="en-US" sz="1200" dirty="0"/>
          </a:p>
        </p:txBody>
      </p:sp>
      <p:sp>
        <p:nvSpPr>
          <p:cNvPr id="14" name="Text 12"/>
          <p:cNvSpPr/>
          <p:nvPr/>
        </p:nvSpPr>
        <p:spPr>
          <a:xfrm>
            <a:off x="2413000" y="2603661"/>
            <a:ext cx="42644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Exploratory testing, scenarios, usability testing, UAT, alpha and beta</a:t>
            </a:r>
            <a:endParaRPr lang="en-US" sz="1400" dirty="0"/>
          </a:p>
        </p:txBody>
      </p:sp>
      <p:sp>
        <p:nvSpPr>
          <p:cNvPr id="15" name="Text 13"/>
          <p:cNvSpPr/>
          <p:nvPr/>
        </p:nvSpPr>
        <p:spPr>
          <a:xfrm>
            <a:off x="2413000" y="3152304"/>
            <a:ext cx="42644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Canteen: students try the new cart for a week</a:t>
            </a:r>
            <a:endParaRPr lang="en-US" sz="1200" dirty="0"/>
          </a:p>
        </p:txBody>
      </p:sp>
      <p:sp>
        <p:nvSpPr>
          <p:cNvPr id="16" name="Shape 14"/>
          <p:cNvSpPr/>
          <p:nvPr/>
        </p:nvSpPr>
        <p:spPr>
          <a:xfrm>
            <a:off x="6883400" y="2196629"/>
            <a:ext cx="4495800" cy="0"/>
          </a:xfrm>
          <a:prstGeom prst="line">
            <a:avLst/>
          </a:prstGeom>
          <a:noFill/>
          <a:ln w="19050">
            <a:solidFill>
              <a:srgbClr val="13233A"/>
            </a:solidFill>
            <a:prstDash val="solid"/>
          </a:ln>
        </p:spPr>
      </p:sp>
      <p:sp>
        <p:nvSpPr>
          <p:cNvPr id="17" name="Text 15"/>
          <p:cNvSpPr/>
          <p:nvPr/>
        </p:nvSpPr>
        <p:spPr>
          <a:xfrm>
            <a:off x="6883400" y="2907742"/>
            <a:ext cx="4630674"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Space Grotesk" pitchFamily="34" charset="0"/>
                <a:ea typeface="Space Grotesk" pitchFamily="34" charset="-122"/>
                <a:cs typeface="Space Grotesk" pitchFamily="34" charset="-120"/>
              </a:rPr>
              <a:t>Technology-</a:t>
            </a:r>
            <a:endParaRPr lang="en-US" sz="1400" dirty="0"/>
          </a:p>
          <a:p>
            <a:pPr algn="l" indent="0" marL="0">
              <a:lnSpc>
                <a:spcPts val="1680"/>
              </a:lnSpc>
              <a:buNone/>
            </a:pPr>
            <a:r>
              <a:rPr lang="en-US" sz="1400" b="1" dirty="0">
                <a:solidFill>
                  <a:srgbClr val="13233A"/>
                </a:solidFill>
                <a:latin typeface="Space Grotesk" pitchFamily="34" charset="0"/>
                <a:ea typeface="Space Grotesk" pitchFamily="34" charset="-122"/>
                <a:cs typeface="Space Grotesk" pitchFamily="34" charset="-120"/>
              </a:rPr>
              <a:t>facing</a:t>
            </a:r>
            <a:endParaRPr lang="en-US" sz="1400" dirty="0"/>
          </a:p>
        </p:txBody>
      </p:sp>
      <p:sp>
        <p:nvSpPr>
          <p:cNvPr id="18" name="Shape 16"/>
          <p:cNvSpPr/>
          <p:nvPr/>
        </p:nvSpPr>
        <p:spPr>
          <a:xfrm>
            <a:off x="812800" y="4090752"/>
            <a:ext cx="1270000" cy="1751251"/>
          </a:xfrm>
          <a:prstGeom prst="roundRect">
            <a:avLst>
              <a:gd name="adj" fmla="val 6000"/>
            </a:avLst>
          </a:prstGeom>
          <a:solidFill>
            <a:srgbClr val="DCE7F3"/>
          </a:solidFill>
          <a:ln/>
        </p:spPr>
      </p:sp>
      <p:sp>
        <p:nvSpPr>
          <p:cNvPr id="19" name="Text 17"/>
          <p:cNvSpPr/>
          <p:nvPr/>
        </p:nvSpPr>
        <p:spPr>
          <a:xfrm>
            <a:off x="990600" y="4243152"/>
            <a:ext cx="965200" cy="255984"/>
          </a:xfrm>
          <a:prstGeom prst="rect">
            <a:avLst/>
          </a:prstGeom>
          <a:noFill/>
          <a:ln/>
        </p:spPr>
        <p:txBody>
          <a:bodyPr wrap="square" lIns="0" tIns="0" rIns="0" bIns="0" rtlCol="0" anchor="t">
            <a:normAutofit/>
          </a:bodyPr>
          <a:lstStyle/>
          <a:p>
            <a:pPr algn="l" indent="0" marL="0">
              <a:lnSpc>
                <a:spcPts val="1197"/>
              </a:lnSpc>
              <a:buNone/>
            </a:pPr>
            <a:r>
              <a:rPr lang="en-US" sz="855" b="1" dirty="0">
                <a:solidFill>
                  <a:srgbClr val="245A9C"/>
                </a:solidFill>
                <a:latin typeface="JetBrains Mono" pitchFamily="34" charset="0"/>
                <a:ea typeface="JetBrains Mono" pitchFamily="34" charset="-122"/>
                <a:cs typeface="JetBrains Mono" pitchFamily="34" charset="-120"/>
              </a:rPr>
              <a:t>Q1 · Automated</a:t>
            </a:r>
            <a:endParaRPr lang="en-US" sz="855" dirty="0"/>
          </a:p>
        </p:txBody>
      </p:sp>
      <p:sp>
        <p:nvSpPr>
          <p:cNvPr id="20" name="Text 18"/>
          <p:cNvSpPr/>
          <p:nvPr/>
        </p:nvSpPr>
        <p:spPr>
          <a:xfrm>
            <a:off x="990600" y="4524536"/>
            <a:ext cx="965200" cy="563324"/>
          </a:xfrm>
          <a:prstGeom prst="rect">
            <a:avLst/>
          </a:prstGeom>
          <a:noFill/>
          <a:ln/>
        </p:spPr>
        <p:txBody>
          <a:bodyPr wrap="square" lIns="0" tIns="0" rIns="0" bIns="0" rtlCol="0" anchor="t">
            <a:normAutofit/>
          </a:bodyPr>
          <a:lstStyle/>
          <a:p>
            <a:pPr algn="l" indent="0" marL="0">
              <a:lnSpc>
                <a:spcPts val="1421"/>
              </a:lnSpc>
              <a:buNone/>
            </a:pPr>
            <a:r>
              <a:rPr lang="en-US" sz="1015" dirty="0">
                <a:solidFill>
                  <a:srgbClr val="13233A"/>
                </a:solidFill>
                <a:latin typeface="IBM Plex Sans" pitchFamily="34" charset="0"/>
                <a:ea typeface="IBM Plex Sans" pitchFamily="34" charset="-122"/>
                <a:cs typeface="IBM Plex Sans" pitchFamily="34" charset="-120"/>
              </a:rPr>
              <a:t>Unit tests and component tests</a:t>
            </a:r>
            <a:endParaRPr lang="en-US" sz="1015" dirty="0"/>
          </a:p>
        </p:txBody>
      </p:sp>
      <p:sp>
        <p:nvSpPr>
          <p:cNvPr id="21" name="Text 19"/>
          <p:cNvSpPr/>
          <p:nvPr/>
        </p:nvSpPr>
        <p:spPr>
          <a:xfrm>
            <a:off x="990600" y="5113263"/>
            <a:ext cx="965200" cy="601742"/>
          </a:xfrm>
          <a:prstGeom prst="rect">
            <a:avLst/>
          </a:prstGeom>
          <a:noFill/>
          <a:ln/>
        </p:spPr>
        <p:txBody>
          <a:bodyPr wrap="square" lIns="0" tIns="0" rIns="0" bIns="0" rtlCol="0" anchor="t">
            <a:normAutofit/>
          </a:bodyPr>
          <a:lstStyle/>
          <a:p>
            <a:pPr algn="l" indent="0" marL="0">
              <a:lnSpc>
                <a:spcPts val="1465"/>
              </a:lnSpc>
              <a:buNone/>
            </a:pPr>
            <a:r>
              <a:rPr lang="en-US" sz="1046" dirty="0">
                <a:solidFill>
                  <a:srgbClr val="44505F"/>
                </a:solidFill>
                <a:latin typeface="IBM Plex Sans" pitchFamily="34" charset="0"/>
                <a:ea typeface="IBM Plex Sans" pitchFamily="34" charset="-122"/>
                <a:cs typeface="IBM Plex Sans" pitchFamily="34" charset="-120"/>
              </a:rPr>
              <a:t>Canteen: pytest tests of apply_coupon()</a:t>
            </a:r>
            <a:endParaRPr lang="en-US" sz="1046" dirty="0"/>
          </a:p>
        </p:txBody>
      </p:sp>
      <p:sp>
        <p:nvSpPr>
          <p:cNvPr id="22" name="Shape 20"/>
          <p:cNvSpPr/>
          <p:nvPr/>
        </p:nvSpPr>
        <p:spPr>
          <a:xfrm>
            <a:off x="2235200" y="4090752"/>
            <a:ext cx="4495800" cy="1751251"/>
          </a:xfrm>
          <a:prstGeom prst="roundRect">
            <a:avLst>
              <a:gd name="adj" fmla="val 4351"/>
            </a:avLst>
          </a:prstGeom>
          <a:solidFill>
            <a:srgbClr val="F7E3D5"/>
          </a:solidFill>
          <a:ln/>
        </p:spPr>
      </p:sp>
      <p:sp>
        <p:nvSpPr>
          <p:cNvPr id="23" name="Text 21"/>
          <p:cNvSpPr/>
          <p:nvPr/>
        </p:nvSpPr>
        <p:spPr>
          <a:xfrm>
            <a:off x="2413000" y="4243152"/>
            <a:ext cx="426440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Q4 · Tools</a:t>
            </a:r>
            <a:endParaRPr lang="en-US" sz="1200" dirty="0"/>
          </a:p>
        </p:txBody>
      </p:sp>
      <p:sp>
        <p:nvSpPr>
          <p:cNvPr id="24" name="Text 22"/>
          <p:cNvSpPr/>
          <p:nvPr/>
        </p:nvSpPr>
        <p:spPr>
          <a:xfrm>
            <a:off x="2413000" y="4507309"/>
            <a:ext cx="42644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Performance and load, security and other “-ility” testing</a:t>
            </a:r>
            <a:endParaRPr lang="en-US" sz="1400" dirty="0"/>
          </a:p>
        </p:txBody>
      </p:sp>
      <p:sp>
        <p:nvSpPr>
          <p:cNvPr id="25" name="Text 23"/>
          <p:cNvSpPr/>
          <p:nvPr/>
        </p:nvSpPr>
        <p:spPr>
          <a:xfrm>
            <a:off x="2413000" y="5055952"/>
            <a:ext cx="42644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Canteen: a Locust load test of the menu API</a:t>
            </a:r>
            <a:endParaRPr lang="en-US" sz="1200" dirty="0"/>
          </a:p>
        </p:txBody>
      </p:sp>
      <p:sp>
        <p:nvSpPr>
          <p:cNvPr id="26" name="Text 2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7" name="Text 25"/>
          <p:cNvSpPr/>
          <p:nvPr/>
        </p:nvSpPr>
        <p:spPr>
          <a:xfrm>
            <a:off x="4583668" y="6238242"/>
            <a:ext cx="69993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B. Marick (2003); L. Crispin and J. Gregory, Agile Testing (2009) · the numbers do not imply an order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L15 · BUSINESS AND TECHNICAL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Business and technical test automation</a:t>
            </a:r>
            <a:endParaRPr lang="en-US" sz="3200" dirty="0"/>
          </a:p>
        </p:txBody>
      </p:sp>
      <p:sp>
        <p:nvSpPr>
          <p:cNvPr id="4" name="Shape 2"/>
          <p:cNvSpPr/>
          <p:nvPr/>
        </p:nvSpPr>
        <p:spPr>
          <a:xfrm>
            <a:off x="11376025" y="1828800"/>
            <a:ext cx="0" cy="2656840"/>
          </a:xfrm>
          <a:prstGeom prst="line">
            <a:avLst/>
          </a:prstGeom>
          <a:noFill/>
          <a:ln w="6350">
            <a:solidFill>
              <a:srgbClr val="DDD8CC"/>
            </a:solidFill>
            <a:prstDash val="solid"/>
          </a:ln>
        </p:spPr>
      </p:sp>
      <p:sp>
        <p:nvSpPr>
          <p:cNvPr id="5" name="Shape 3"/>
          <p:cNvSpPr/>
          <p:nvPr/>
        </p:nvSpPr>
        <p:spPr>
          <a:xfrm>
            <a:off x="812800" y="44824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41600"/>
        </p:xfrm>
        <a:graphic>
          <a:graphicData uri="http://schemas.openxmlformats.org/drawingml/2006/table">
            <a:tbl>
              <a:tblPr/>
              <a:tblGrid>
                <a:gridCol w="2110232"/>
                <a:gridCol w="4220464"/>
                <a:gridCol w="4220464"/>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Aspect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Business test automation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Technical test automation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Checks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Business rules, user journeys, processes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Code units, components, interfaces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Written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language of the business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language of the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Read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Product owners, testers, developers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Developers and SDETs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Typical levels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Acceptance, system, end-to-end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 component, API, contract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Course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Robot Framework, pytest-bdd, Selenium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 requests, Postman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Canteen 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“Student gets 20% off with SAVE20”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apply_coupon(800, "SAVE20") == 700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Main 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Slow and brittle if it all runs in the UI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Misses whether the feature is right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739642"/>
            <a:ext cx="10566400" cy="553720"/>
          </a:xfrm>
          <a:prstGeom prst="roundRect">
            <a:avLst>
              <a:gd name="adj" fmla="val 13761"/>
            </a:avLst>
          </a:prstGeom>
          <a:solidFill>
            <a:srgbClr val="13233A"/>
          </a:solidFill>
          <a:ln/>
        </p:spPr>
      </p:sp>
      <p:sp>
        <p:nvSpPr>
          <p:cNvPr id="8" name="Text 5"/>
          <p:cNvSpPr/>
          <p:nvPr/>
        </p:nvSpPr>
        <p:spPr>
          <a:xfrm>
            <a:off x="1016000" y="4909827"/>
            <a:ext cx="10922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BUILD BOTH</a:t>
            </a:r>
            <a:endParaRPr lang="en-US" sz="1200" dirty="0"/>
          </a:p>
        </p:txBody>
      </p:sp>
      <p:sp>
        <p:nvSpPr>
          <p:cNvPr id="9" name="Text 6"/>
          <p:cNvSpPr/>
          <p:nvPr/>
        </p:nvSpPr>
        <p:spPr>
          <a:xfrm>
            <a:off x="2209800" y="4892042"/>
            <a:ext cx="923518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Put both on one shared technical layer, so business tests stay readable and cheap to change.</a:t>
            </a:r>
            <a:endParaRPr lang="en-US" sz="1400" dirty="0"/>
          </a:p>
        </p:txBody>
      </p:sp>
      <p:sp>
        <p:nvSpPr>
          <p:cNvPr id="10" name="Text 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4778454" y="6238242"/>
            <a:ext cx="67987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No standard definitions: these labels follow Marick’s business-facing and technology-facing tests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L15 · BUSINESS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keyword-driven business test</a:t>
            </a:r>
            <a:endParaRPr lang="en-US" sz="3200" dirty="0"/>
          </a:p>
        </p:txBody>
      </p:sp>
      <p:sp>
        <p:nvSpPr>
          <p:cNvPr id="4" name="Text 2"/>
          <p:cNvSpPr/>
          <p:nvPr/>
        </p:nvSpPr>
        <p:spPr>
          <a:xfrm>
            <a:off x="812800" y="1828800"/>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robot/order.robot</a:t>
            </a:r>
            <a:endParaRPr lang="en-US" sz="1200" dirty="0"/>
          </a:p>
        </p:txBody>
      </p:sp>
      <p:sp>
        <p:nvSpPr>
          <p:cNvPr id="5" name="Shape 3"/>
          <p:cNvSpPr/>
          <p:nvPr/>
        </p:nvSpPr>
        <p:spPr>
          <a:xfrm>
            <a:off x="812800" y="2118358"/>
            <a:ext cx="4826000" cy="2702560"/>
          </a:xfrm>
          <a:prstGeom prst="roundRect">
            <a:avLst>
              <a:gd name="adj" fmla="val 2820"/>
            </a:avLst>
          </a:prstGeom>
          <a:solidFill>
            <a:srgbClr val="13233A"/>
          </a:solidFill>
          <a:ln/>
        </p:spPr>
      </p:sp>
      <p:sp>
        <p:nvSpPr>
          <p:cNvPr id="6" name="Text 4"/>
          <p:cNvSpPr/>
          <p:nvPr/>
        </p:nvSpPr>
        <p:spPr>
          <a:xfrm>
            <a:off x="990600" y="2296158"/>
            <a:ext cx="4604512" cy="23723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Settings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Library           CanteenLibrary.py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Test Setup        Open Canteen App</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Test Teardown     Close Canteen App</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Test Cases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Student gets 20 percent off with SAVE20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Log In As          S101           secret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Add To Cart        Masala Dosa    4</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Apply Coupon       SAVE20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Total Should Be    192</a:t>
            </a:r>
            <a:endParaRPr lang="en-US" sz="1200" dirty="0"/>
          </a:p>
        </p:txBody>
      </p:sp>
      <p:sp>
        <p:nvSpPr>
          <p:cNvPr id="7" name="Shape 5"/>
          <p:cNvSpPr/>
          <p:nvPr/>
        </p:nvSpPr>
        <p:spPr>
          <a:xfrm>
            <a:off x="5946775" y="1831975"/>
            <a:ext cx="5429250" cy="1212850"/>
          </a:xfrm>
          <a:prstGeom prst="roundRect">
            <a:avLst>
              <a:gd name="adj" fmla="val 6021"/>
            </a:avLst>
          </a:prstGeom>
          <a:solidFill>
            <a:srgbClr val="FCFBF7"/>
          </a:solidFill>
          <a:ln w="6350">
            <a:solidFill>
              <a:srgbClr val="DDD8CC"/>
            </a:solidFill>
            <a:prstDash val="solid"/>
          </a:ln>
        </p:spPr>
      </p:sp>
      <p:sp>
        <p:nvSpPr>
          <p:cNvPr id="8" name="Text 6"/>
          <p:cNvSpPr/>
          <p:nvPr/>
        </p:nvSpPr>
        <p:spPr>
          <a:xfrm>
            <a:off x="6126480" y="1986285"/>
            <a:ext cx="522193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ROBOT FRAMEWORK</a:t>
            </a:r>
            <a:endParaRPr lang="en-US" sz="1200" dirty="0"/>
          </a:p>
        </p:txBody>
      </p:sp>
      <p:sp>
        <p:nvSpPr>
          <p:cNvPr id="9" name="Text 7"/>
          <p:cNvSpPr/>
          <p:nvPr/>
        </p:nvSpPr>
        <p:spPr>
          <a:xfrm>
            <a:off x="6126480" y="2250442"/>
            <a:ext cx="522193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 open source automation framework for test automation and robotic process automation (RPA).” Its “human-friendly and versatile syntax uses keywords”.</a:t>
            </a:r>
            <a:endParaRPr lang="en-US" sz="1200" dirty="0"/>
          </a:p>
        </p:txBody>
      </p:sp>
      <p:sp>
        <p:nvSpPr>
          <p:cNvPr id="10" name="Shape 8"/>
          <p:cNvSpPr/>
          <p:nvPr/>
        </p:nvSpPr>
        <p:spPr>
          <a:xfrm>
            <a:off x="5943600" y="3149600"/>
            <a:ext cx="5435600" cy="1209040"/>
          </a:xfrm>
          <a:prstGeom prst="roundRect">
            <a:avLst>
              <a:gd name="adj" fmla="val 6303"/>
            </a:avLst>
          </a:prstGeom>
          <a:solidFill>
            <a:srgbClr val="13233A"/>
          </a:solidFill>
          <a:ln/>
        </p:spPr>
      </p:sp>
      <p:sp>
        <p:nvSpPr>
          <p:cNvPr id="11" name="Text 9"/>
          <p:cNvSpPr/>
          <p:nvPr/>
        </p:nvSpPr>
        <p:spPr>
          <a:xfrm>
            <a:off x="6121400" y="3327400"/>
            <a:ext cx="5232400"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robot robot/order.robot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Student gets 20 percent off with SAVE20      | PASS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Discount is capped at 100 rupees             | PASS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2 tests, 2 passed, 0 failed</a:t>
            </a:r>
            <a:endParaRPr lang="en-US" sz="1200" dirty="0"/>
          </a:p>
        </p:txBody>
      </p:sp>
      <p:sp>
        <p:nvSpPr>
          <p:cNvPr id="12" name="Text 10"/>
          <p:cNvSpPr/>
          <p:nvPr/>
        </p:nvSpPr>
        <p:spPr>
          <a:xfrm>
            <a:off x="5943600" y="4460242"/>
            <a:ext cx="55986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product owner can read and review every step. The code behind each keyword is on the next slide.</a:t>
            </a:r>
            <a:endParaRPr lang="en-US" sz="1400" dirty="0"/>
          </a:p>
        </p:txBody>
      </p:sp>
      <p:sp>
        <p:nvSpPr>
          <p:cNvPr id="13" name="Text 11"/>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4" name="Text 12"/>
          <p:cNvSpPr/>
          <p:nvPr/>
        </p:nvSpPr>
        <p:spPr>
          <a:xfrm>
            <a:off x="4586050" y="6238242"/>
            <a:ext cx="69969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Quotes: robotframework.org · output trimmed · the second test adds Veg Thali × 5: ₹600 pays ₹500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L15 · BUSINESS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Behind each keyword: a thin layer of code</a:t>
            </a:r>
            <a:endParaRPr lang="en-US" sz="3200" dirty="0"/>
          </a:p>
        </p:txBody>
      </p:sp>
      <p:sp>
        <p:nvSpPr>
          <p:cNvPr id="4" name="Text 2"/>
          <p:cNvSpPr/>
          <p:nvPr/>
        </p:nvSpPr>
        <p:spPr>
          <a:xfrm>
            <a:off x="812800" y="1828800"/>
            <a:ext cx="72599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robot/CanteenLibrary.py · excerpt</a:t>
            </a:r>
            <a:endParaRPr lang="en-US" sz="1200" dirty="0"/>
          </a:p>
        </p:txBody>
      </p:sp>
      <p:sp>
        <p:nvSpPr>
          <p:cNvPr id="5" name="Shape 3"/>
          <p:cNvSpPr/>
          <p:nvPr/>
        </p:nvSpPr>
        <p:spPr>
          <a:xfrm>
            <a:off x="812800" y="2118358"/>
            <a:ext cx="7048500" cy="3342640"/>
          </a:xfrm>
          <a:prstGeom prst="roundRect">
            <a:avLst>
              <a:gd name="adj" fmla="val 2280"/>
            </a:avLst>
          </a:prstGeom>
          <a:solidFill>
            <a:srgbClr val="13233A"/>
          </a:solidFill>
          <a:ln/>
        </p:spPr>
      </p:sp>
      <p:sp>
        <p:nvSpPr>
          <p:cNvPr id="6" name="Text 4"/>
          <p:cNvSpPr/>
          <p:nvPr/>
        </p:nvSpPr>
        <p:spPr>
          <a:xfrm>
            <a:off x="990600" y="2296158"/>
            <a:ext cx="6893687" cy="30124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class</a:t>
            </a:r>
            <a:r>
              <a:rPr lang="en-US" sz="1200" dirty="0">
                <a:solidFill>
                  <a:srgbClr val="E6EAF0"/>
                </a:solidFill>
                <a:latin typeface="JetBrains Mono" pitchFamily="34" charset="0"/>
                <a:ea typeface="JetBrains Mono" pitchFamily="34" charset="-122"/>
                <a:cs typeface="JetBrains Mono" pitchFamily="34" charset="-120"/>
              </a:rPr>
              <a:t> CanteenLibrary: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log_in_as(self, student_id, password):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self.page = self.page.login_as(student_id, password)</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add_to_cart(self, item, quantity):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self.page = self.page.add_item(ITEMS[item], times=int(quantity))</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apply_coupon(self, code):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self.page = self.page.open_cart().apply_coupon(code)</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total_should_be(self, amount):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total = self.page.total()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if</a:t>
            </a:r>
            <a:r>
              <a:rPr lang="en-US" sz="1200" dirty="0">
                <a:solidFill>
                  <a:srgbClr val="E6EAF0"/>
                </a:solidFill>
                <a:latin typeface="JetBrains Mono" pitchFamily="34" charset="0"/>
                <a:ea typeface="JetBrains Mono" pitchFamily="34" charset="-122"/>
                <a:cs typeface="JetBrains Mono" pitchFamily="34" charset="-120"/>
              </a:rPr>
              <a:t> total != int(amount):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raise</a:t>
            </a:r>
            <a:r>
              <a:rPr lang="en-US" sz="1200" dirty="0">
                <a:solidFill>
                  <a:srgbClr val="E6EAF0"/>
                </a:solidFill>
                <a:latin typeface="JetBrains Mono" pitchFamily="34" charset="0"/>
                <a:ea typeface="JetBrains Mono" pitchFamily="34" charset="-122"/>
                <a:cs typeface="JetBrains Mono" pitchFamily="34" charset="-120"/>
              </a:rPr>
              <a:t> AssertionError(</a:t>
            </a:r>
            <a:r>
              <a:rPr lang="en-US" sz="1200" dirty="0">
                <a:solidFill>
                  <a:srgbClr val="9CC7F0"/>
                </a:solidFill>
                <a:latin typeface="JetBrains Mono" pitchFamily="34" charset="0"/>
                <a:ea typeface="JetBrains Mono" pitchFamily="34" charset="-122"/>
                <a:cs typeface="JetBrains Mono" pitchFamily="34" charset="-120"/>
              </a:rPr>
              <a:t>f"Expected total {amount}, got {total}"</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7" name="Shape 5"/>
          <p:cNvSpPr/>
          <p:nvPr/>
        </p:nvSpPr>
        <p:spPr>
          <a:xfrm>
            <a:off x="8169275" y="1831975"/>
            <a:ext cx="3206750" cy="999490"/>
          </a:xfrm>
          <a:prstGeom prst="roundRect">
            <a:avLst>
              <a:gd name="adj" fmla="val 7306"/>
            </a:avLst>
          </a:prstGeom>
          <a:solidFill>
            <a:srgbClr val="FCFBF7"/>
          </a:solidFill>
          <a:ln w="6350">
            <a:solidFill>
              <a:srgbClr val="DDD8CC"/>
            </a:solidFill>
            <a:prstDash val="solid"/>
          </a:ln>
        </p:spPr>
      </p:sp>
      <p:sp>
        <p:nvSpPr>
          <p:cNvPr id="8" name="Text 6"/>
          <p:cNvSpPr/>
          <p:nvPr/>
        </p:nvSpPr>
        <p:spPr>
          <a:xfrm>
            <a:off x="8348980" y="1986285"/>
            <a:ext cx="29327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Name matching</a:t>
            </a:r>
            <a:endParaRPr lang="en-US" sz="1200" dirty="0"/>
          </a:p>
        </p:txBody>
      </p:sp>
      <p:sp>
        <p:nvSpPr>
          <p:cNvPr id="9" name="Text 7"/>
          <p:cNvSpPr/>
          <p:nvPr/>
        </p:nvSpPr>
        <p:spPr>
          <a:xfrm>
            <a:off x="8348980" y="2250442"/>
            <a:ext cx="29327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Case, spaces and underscores are ignored: Log In As calls log_in_as().</a:t>
            </a:r>
            <a:endParaRPr lang="en-US" sz="1200" dirty="0"/>
          </a:p>
        </p:txBody>
      </p:sp>
      <p:sp>
        <p:nvSpPr>
          <p:cNvPr id="10" name="Shape 8"/>
          <p:cNvSpPr/>
          <p:nvPr/>
        </p:nvSpPr>
        <p:spPr>
          <a:xfrm>
            <a:off x="8169275" y="2939417"/>
            <a:ext cx="3206750" cy="999490"/>
          </a:xfrm>
          <a:prstGeom prst="roundRect">
            <a:avLst>
              <a:gd name="adj" fmla="val 7306"/>
            </a:avLst>
          </a:prstGeom>
          <a:solidFill>
            <a:srgbClr val="FCFBF7"/>
          </a:solidFill>
          <a:ln w="6350">
            <a:solidFill>
              <a:srgbClr val="DDD8CC"/>
            </a:solidFill>
            <a:prstDash val="solid"/>
          </a:ln>
        </p:spPr>
      </p:sp>
      <p:sp>
        <p:nvSpPr>
          <p:cNvPr id="11" name="Text 9"/>
          <p:cNvSpPr/>
          <p:nvPr/>
        </p:nvSpPr>
        <p:spPr>
          <a:xfrm>
            <a:off x="8348980" y="3093727"/>
            <a:ext cx="29327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No locators here</a:t>
            </a:r>
            <a:endParaRPr lang="en-US" sz="1200" dirty="0"/>
          </a:p>
        </p:txBody>
      </p:sp>
      <p:sp>
        <p:nvSpPr>
          <p:cNvPr id="12" name="Text 10"/>
          <p:cNvSpPr/>
          <p:nvPr/>
        </p:nvSpPr>
        <p:spPr>
          <a:xfrm>
            <a:off x="8348980" y="3357885"/>
            <a:ext cx="29327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Keywords call page objects (Lecture 18), so a new layout never touches them.</a:t>
            </a:r>
            <a:endParaRPr lang="en-US" sz="1200" dirty="0"/>
          </a:p>
        </p:txBody>
      </p:sp>
      <p:sp>
        <p:nvSpPr>
          <p:cNvPr id="13" name="Shape 11"/>
          <p:cNvSpPr/>
          <p:nvPr/>
        </p:nvSpPr>
        <p:spPr>
          <a:xfrm>
            <a:off x="8166100" y="4043685"/>
            <a:ext cx="3213100" cy="995680"/>
          </a:xfrm>
          <a:prstGeom prst="roundRect">
            <a:avLst>
              <a:gd name="adj" fmla="val 7653"/>
            </a:avLst>
          </a:prstGeom>
          <a:solidFill>
            <a:srgbClr val="DCE7F3"/>
          </a:solidFill>
          <a:ln/>
        </p:spPr>
      </p:sp>
      <p:sp>
        <p:nvSpPr>
          <p:cNvPr id="14" name="Text 12"/>
          <p:cNvSpPr/>
          <p:nvPr/>
        </p:nvSpPr>
        <p:spPr>
          <a:xfrm>
            <a:off x="8343900" y="4196085"/>
            <a:ext cx="294322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Who writes what</a:t>
            </a:r>
            <a:endParaRPr lang="en-US" sz="1200" dirty="0"/>
          </a:p>
        </p:txBody>
      </p:sp>
      <p:sp>
        <p:nvSpPr>
          <p:cNvPr id="15" name="Text 13"/>
          <p:cNvSpPr/>
          <p:nvPr/>
        </p:nvSpPr>
        <p:spPr>
          <a:xfrm>
            <a:off x="8343900" y="4460242"/>
            <a:ext cx="29432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Testers write tests; engineers keep the keywords working.</a:t>
            </a:r>
            <a:endParaRPr lang="en-US" sz="12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4875530" y="6238242"/>
            <a:ext cx="66987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Setup and teardown keywords omitted · ITEMS maps names such as “Masala Dosa” to item IDs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L15 · TECHNICAL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Technical automation: unit, API, contract</a:t>
            </a:r>
            <a:endParaRPr lang="en-US" sz="3200" dirty="0"/>
          </a:p>
        </p:txBody>
      </p:sp>
      <p:sp>
        <p:nvSpPr>
          <p:cNvPr id="4" name="Text 2"/>
          <p:cNvSpPr/>
          <p:nvPr/>
        </p:nvSpPr>
        <p:spPr>
          <a:xfrm>
            <a:off x="812800" y="1828800"/>
            <a:ext cx="52978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tests/test_pricing.py · milliseconds per test</a:t>
            </a:r>
            <a:endParaRPr lang="en-US" sz="1200" dirty="0"/>
          </a:p>
        </p:txBody>
      </p:sp>
      <p:sp>
        <p:nvSpPr>
          <p:cNvPr id="5" name="Shape 3"/>
          <p:cNvSpPr/>
          <p:nvPr/>
        </p:nvSpPr>
        <p:spPr>
          <a:xfrm>
            <a:off x="812800" y="2118358"/>
            <a:ext cx="5143500" cy="1849120"/>
          </a:xfrm>
          <a:prstGeom prst="roundRect">
            <a:avLst>
              <a:gd name="adj" fmla="val 4121"/>
            </a:avLst>
          </a:prstGeom>
          <a:solidFill>
            <a:srgbClr val="13233A"/>
          </a:solidFill>
          <a:ln/>
        </p:spPr>
      </p:sp>
      <p:sp>
        <p:nvSpPr>
          <p:cNvPr id="6" name="Text 4"/>
          <p:cNvSpPr/>
          <p:nvPr/>
        </p:nvSpPr>
        <p:spPr>
          <a:xfrm>
            <a:off x="990600" y="2296158"/>
            <a:ext cx="4931537" cy="15189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test_discount_is_capped_at_100():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apply_coupon(800,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 700</a:t>
            </a:r>
            <a:endParaRPr lang="en-US" sz="1200" dirty="0"/>
          </a:p>
          <a:p>
            <a:pPr algn="l" indent="0" marL="0">
              <a:lnSpc>
                <a:spcPts val="1680"/>
              </a:lnSpc>
              <a:buNone/>
            </a:pP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test_unknown_code_is_rejected():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with</a:t>
            </a:r>
            <a:r>
              <a:rPr lang="en-US" sz="1200" dirty="0">
                <a:solidFill>
                  <a:srgbClr val="E6EAF0"/>
                </a:solidFill>
                <a:latin typeface="JetBrains Mono" pitchFamily="34" charset="0"/>
                <a:ea typeface="JetBrains Mono" pitchFamily="34" charset="-122"/>
                <a:cs typeface="JetBrains Mono" pitchFamily="34" charset="-120"/>
              </a:rPr>
              <a:t> pytest.raises(ValueError, match=</a:t>
            </a:r>
            <a:r>
              <a:rPr lang="en-US" sz="1200" dirty="0">
                <a:solidFill>
                  <a:srgbClr val="9CC7F0"/>
                </a:solidFill>
                <a:latin typeface="JetBrains Mono" pitchFamily="34" charset="0"/>
                <a:ea typeface="JetBrains Mono" pitchFamily="34" charset="-122"/>
                <a:cs typeface="JetBrains Mono" pitchFamily="34" charset="-120"/>
              </a:rPr>
              <a:t>"invalid"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apply_coupon(300, </a:t>
            </a:r>
            <a:r>
              <a:rPr lang="en-US" sz="1200" dirty="0">
                <a:solidFill>
                  <a:srgbClr val="9CC7F0"/>
                </a:solidFill>
                <a:latin typeface="JetBrains Mono" pitchFamily="34" charset="0"/>
                <a:ea typeface="JetBrains Mono" pitchFamily="34" charset="-122"/>
                <a:cs typeface="JetBrains Mono" pitchFamily="34" charset="-120"/>
              </a:rPr>
              <a:t>"FREE100"</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7" name="Shape 5"/>
          <p:cNvSpPr/>
          <p:nvPr/>
        </p:nvSpPr>
        <p:spPr>
          <a:xfrm>
            <a:off x="6264275" y="1831975"/>
            <a:ext cx="5111750" cy="2132330"/>
          </a:xfrm>
          <a:prstGeom prst="roundRect">
            <a:avLst>
              <a:gd name="adj" fmla="val 3425"/>
            </a:avLst>
          </a:prstGeom>
          <a:solidFill>
            <a:srgbClr val="FCFBF7"/>
          </a:solidFill>
          <a:ln w="6350">
            <a:solidFill>
              <a:srgbClr val="DDD8CC"/>
            </a:solidFill>
            <a:prstDash val="solid"/>
          </a:ln>
        </p:spPr>
      </p:sp>
      <p:sp>
        <p:nvSpPr>
          <p:cNvPr id="8" name="Text 6"/>
          <p:cNvSpPr/>
          <p:nvPr/>
        </p:nvSpPr>
        <p:spPr>
          <a:xfrm>
            <a:off x="6443980" y="1986285"/>
            <a:ext cx="48949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Contract tests</a:t>
            </a:r>
            <a:endParaRPr lang="en-US" sz="1200" dirty="0"/>
          </a:p>
        </p:txBody>
      </p:sp>
      <p:sp>
        <p:nvSpPr>
          <p:cNvPr id="9" name="Text 7"/>
          <p:cNvSpPr/>
          <p:nvPr/>
        </p:nvSpPr>
        <p:spPr>
          <a:xfrm>
            <a:off x="6443980" y="2250442"/>
            <a:ext cx="48949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Check that two services still agree on an interface, testing each side on its own. Tool: Pact.</a:t>
            </a:r>
            <a:endParaRPr lang="en-US" sz="1200" dirty="0"/>
          </a:p>
        </p:txBody>
      </p:sp>
      <p:sp>
        <p:nvSpPr>
          <p:cNvPr id="10" name="Shape 8"/>
          <p:cNvSpPr/>
          <p:nvPr/>
        </p:nvSpPr>
        <p:spPr>
          <a:xfrm>
            <a:off x="6443980" y="2731133"/>
            <a:ext cx="4752340" cy="0"/>
          </a:xfrm>
          <a:prstGeom prst="line">
            <a:avLst/>
          </a:prstGeom>
          <a:noFill/>
          <a:ln w="6350">
            <a:solidFill>
              <a:srgbClr val="DDD8CC"/>
            </a:solidFill>
            <a:prstDash val="solid"/>
          </a:ln>
        </p:spPr>
      </p:sp>
      <p:sp>
        <p:nvSpPr>
          <p:cNvPr id="11" name="Text 9"/>
          <p:cNvSpPr/>
          <p:nvPr/>
        </p:nvSpPr>
        <p:spPr>
          <a:xfrm>
            <a:off x="6443980" y="2809238"/>
            <a:ext cx="48949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Also technical: component tests, static analysis and code security scans.</a:t>
            </a:r>
            <a:endParaRPr lang="en-US" sz="1200" dirty="0"/>
          </a:p>
        </p:txBody>
      </p:sp>
      <p:sp>
        <p:nvSpPr>
          <p:cNvPr id="12" name="Text 10"/>
          <p:cNvSpPr/>
          <p:nvPr/>
        </p:nvSpPr>
        <p:spPr>
          <a:xfrm>
            <a:off x="812800" y="422148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tests/api/test_cart_rules.py · the cart rule through the API, cases read from cart-qty.csv</a:t>
            </a:r>
            <a:endParaRPr lang="en-US" sz="1200" dirty="0"/>
          </a:p>
        </p:txBody>
      </p:sp>
      <p:sp>
        <p:nvSpPr>
          <p:cNvPr id="13" name="Shape 11"/>
          <p:cNvSpPr/>
          <p:nvPr/>
        </p:nvSpPr>
        <p:spPr>
          <a:xfrm>
            <a:off x="812800" y="4511042"/>
            <a:ext cx="10566400" cy="1209040"/>
          </a:xfrm>
          <a:prstGeom prst="roundRect">
            <a:avLst>
              <a:gd name="adj" fmla="val 6303"/>
            </a:avLst>
          </a:prstGeom>
          <a:solidFill>
            <a:srgbClr val="13233A"/>
          </a:solidFill>
          <a:ln/>
        </p:spPr>
      </p:sp>
      <p:sp>
        <p:nvSpPr>
          <p:cNvPr id="14" name="Text 12"/>
          <p:cNvSpPr/>
          <p:nvPr/>
        </p:nvSpPr>
        <p:spPr>
          <a:xfrm>
            <a:off x="990600" y="4688842"/>
            <a:ext cx="10517124"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@pytest.mark.parametrize(</a:t>
            </a:r>
            <a:r>
              <a:rPr lang="en-US" sz="1200" dirty="0">
                <a:solidFill>
                  <a:srgbClr val="9CC7F0"/>
                </a:solidFill>
                <a:latin typeface="JetBrains Mono" pitchFamily="34" charset="0"/>
                <a:ea typeface="JetBrains Mono" pitchFamily="34" charset="-122"/>
                <a:cs typeface="JetBrains Mono" pitchFamily="34" charset="-120"/>
              </a:rPr>
              <a:t>"qty, expected"</a:t>
            </a:r>
            <a:r>
              <a:rPr lang="en-US" sz="1200" dirty="0">
                <a:solidFill>
                  <a:srgbClr val="E6EAF0"/>
                </a:solidFill>
                <a:latin typeface="JetBrains Mono" pitchFamily="34" charset="0"/>
                <a:ea typeface="JetBrains Mono" pitchFamily="34" charset="-122"/>
                <a:cs typeface="JetBrains Mono" pitchFamily="34" charset="-120"/>
              </a:rPr>
              <a:t>, CASES)</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test_cart_quantity_rule(api, qty, expected):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 = api.post(</a:t>
            </a:r>
            <a:r>
              <a:rPr lang="en-US" sz="1200" dirty="0">
                <a:solidFill>
                  <a:srgbClr val="9CC7F0"/>
                </a:solidFill>
                <a:latin typeface="JetBrains Mono" pitchFamily="34" charset="0"/>
                <a:ea typeface="JetBrains Mono" pitchFamily="34" charset="-122"/>
                <a:cs typeface="JetBrains Mono" pitchFamily="34" charset="-120"/>
              </a:rPr>
              <a:t>f"{BASE_URL}/api/cart/items"</a:t>
            </a:r>
            <a:r>
              <a:rPr lang="en-US" sz="1200" dirty="0">
                <a:solidFill>
                  <a:srgbClr val="E6EAF0"/>
                </a:solidFill>
                <a:latin typeface="JetBrains Mono" pitchFamily="34" charset="0"/>
                <a:ea typeface="JetBrains Mono" pitchFamily="34" charset="-122"/>
                <a:cs typeface="JetBrains Mono" pitchFamily="34" charset="-120"/>
              </a:rPr>
              <a:t>, json={</a:t>
            </a:r>
            <a:r>
              <a:rPr lang="en-US" sz="1200" dirty="0">
                <a:solidFill>
                  <a:srgbClr val="9CC7F0"/>
                </a:solidFill>
                <a:latin typeface="JetBrains Mono" pitchFamily="34" charset="0"/>
                <a:ea typeface="JetBrains Mono" pitchFamily="34" charset="-122"/>
                <a:cs typeface="JetBrains Mono" pitchFamily="34" charset="-120"/>
              </a:rPr>
              <a:t>"item_id"</a:t>
            </a:r>
            <a:r>
              <a:rPr lang="en-US" sz="1200" dirty="0">
                <a:solidFill>
                  <a:srgbClr val="E6EAF0"/>
                </a:solidFill>
                <a:latin typeface="JetBrains Mono" pitchFamily="34" charset="0"/>
                <a:ea typeface="JetBrains Mono" pitchFamily="34" charset="-122"/>
                <a:cs typeface="JetBrains Mono" pitchFamily="34" charset="-120"/>
              </a:rPr>
              <a:t>: 1, </a:t>
            </a:r>
            <a:r>
              <a:rPr lang="en-US" sz="1200" dirty="0">
                <a:solidFill>
                  <a:srgbClr val="9CC7F0"/>
                </a:solidFill>
                <a:latin typeface="JetBrains Mono" pitchFamily="34" charset="0"/>
                <a:ea typeface="JetBrains Mono" pitchFamily="34" charset="-122"/>
                <a:cs typeface="JetBrains Mono" pitchFamily="34" charset="-120"/>
              </a:rPr>
              <a:t>"qty"</a:t>
            </a:r>
            <a:r>
              <a:rPr lang="en-US" sz="1200" dirty="0">
                <a:solidFill>
                  <a:srgbClr val="E6EAF0"/>
                </a:solidFill>
                <a:latin typeface="JetBrains Mono" pitchFamily="34" charset="0"/>
                <a:ea typeface="JetBrains Mono" pitchFamily="34" charset="-122"/>
                <a:cs typeface="JetBrains Mono" pitchFamily="34" charset="-120"/>
              </a:rPr>
              <a:t>: qty})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r.status_code == expected</a:t>
            </a:r>
            <a:endParaRPr lang="en-US" sz="1200" dirty="0"/>
          </a:p>
        </p:txBody>
      </p:sp>
      <p:sp>
        <p:nvSpPr>
          <p:cNvPr id="15" name="Text 13"/>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6" name="Text 14"/>
          <p:cNvSpPr/>
          <p:nvPr/>
        </p:nvSpPr>
        <p:spPr>
          <a:xfrm>
            <a:off x="5844461" y="6238242"/>
            <a:ext cx="57007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Both files ran green: 3 unit tests, 4 API cases · the api fixture logs in once per test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L15 · BUSINESS AND TECHNICAL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One framework, three layers</a:t>
            </a:r>
            <a:endParaRPr lang="en-US" sz="3200" dirty="0"/>
          </a:p>
        </p:txBody>
      </p:sp>
      <p:sp>
        <p:nvSpPr>
          <p:cNvPr id="4" name="Shape 2"/>
          <p:cNvSpPr/>
          <p:nvPr/>
        </p:nvSpPr>
        <p:spPr>
          <a:xfrm>
            <a:off x="812800" y="1828800"/>
            <a:ext cx="6350000" cy="723900"/>
          </a:xfrm>
          <a:prstGeom prst="roundRect">
            <a:avLst>
              <a:gd name="adj" fmla="val 10526"/>
            </a:avLst>
          </a:prstGeom>
          <a:solidFill>
            <a:srgbClr val="DCE7F3"/>
          </a:solidFill>
          <a:ln/>
        </p:spPr>
      </p:sp>
      <p:sp>
        <p:nvSpPr>
          <p:cNvPr id="5" name="Text 3"/>
          <p:cNvSpPr/>
          <p:nvPr/>
        </p:nvSpPr>
        <p:spPr>
          <a:xfrm>
            <a:off x="990600" y="1955800"/>
            <a:ext cx="617423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scripts</a:t>
            </a:r>
            <a:endParaRPr lang="en-US" sz="1400" dirty="0"/>
          </a:p>
        </p:txBody>
      </p:sp>
      <p:sp>
        <p:nvSpPr>
          <p:cNvPr id="6" name="Text 4"/>
          <p:cNvSpPr/>
          <p:nvPr/>
        </p:nvSpPr>
        <p:spPr>
          <a:xfrm>
            <a:off x="990600" y="2212342"/>
            <a:ext cx="61742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order.robot · test_order_ui.py · the Postman collection</a:t>
            </a:r>
            <a:endParaRPr lang="en-US" sz="1200" dirty="0"/>
          </a:p>
        </p:txBody>
      </p:sp>
      <p:sp>
        <p:nvSpPr>
          <p:cNvPr id="7" name="Shape 5"/>
          <p:cNvSpPr/>
          <p:nvPr/>
        </p:nvSpPr>
        <p:spPr>
          <a:xfrm>
            <a:off x="812800" y="2628900"/>
            <a:ext cx="6350000" cy="723900"/>
          </a:xfrm>
          <a:prstGeom prst="roundRect">
            <a:avLst>
              <a:gd name="adj" fmla="val 10526"/>
            </a:avLst>
          </a:prstGeom>
          <a:solidFill>
            <a:srgbClr val="ECE8DE"/>
          </a:solidFill>
          <a:ln/>
        </p:spPr>
      </p:sp>
      <p:sp>
        <p:nvSpPr>
          <p:cNvPr id="8" name="Text 6"/>
          <p:cNvSpPr/>
          <p:nvPr/>
        </p:nvSpPr>
        <p:spPr>
          <a:xfrm>
            <a:off x="990600" y="2755900"/>
            <a:ext cx="617423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Business logic</a:t>
            </a:r>
            <a:endParaRPr lang="en-US" sz="1400" dirty="0"/>
          </a:p>
        </p:txBody>
      </p:sp>
      <p:sp>
        <p:nvSpPr>
          <p:cNvPr id="9" name="Text 7"/>
          <p:cNvSpPr/>
          <p:nvPr/>
        </p:nvSpPr>
        <p:spPr>
          <a:xfrm>
            <a:off x="990600" y="3012442"/>
            <a:ext cx="61742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CanteenLibrary keywords · page objects · the api fixture</a:t>
            </a:r>
            <a:endParaRPr lang="en-US" sz="1200" dirty="0"/>
          </a:p>
        </p:txBody>
      </p:sp>
      <p:sp>
        <p:nvSpPr>
          <p:cNvPr id="10" name="Shape 8"/>
          <p:cNvSpPr/>
          <p:nvPr/>
        </p:nvSpPr>
        <p:spPr>
          <a:xfrm>
            <a:off x="812800" y="3429000"/>
            <a:ext cx="6350000" cy="723900"/>
          </a:xfrm>
          <a:prstGeom prst="roundRect">
            <a:avLst>
              <a:gd name="adj" fmla="val 10526"/>
            </a:avLst>
          </a:prstGeom>
          <a:solidFill>
            <a:srgbClr val="13233A"/>
          </a:solidFill>
          <a:ln/>
        </p:spPr>
      </p:sp>
      <p:sp>
        <p:nvSpPr>
          <p:cNvPr id="11" name="Text 9"/>
          <p:cNvSpPr/>
          <p:nvPr/>
        </p:nvSpPr>
        <p:spPr>
          <a:xfrm>
            <a:off x="990600" y="3556000"/>
            <a:ext cx="617423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Core libraries</a:t>
            </a:r>
            <a:endParaRPr lang="en-US" sz="1400" dirty="0"/>
          </a:p>
        </p:txBody>
      </p:sp>
      <p:sp>
        <p:nvSpPr>
          <p:cNvPr id="12" name="Text 10"/>
          <p:cNvSpPr/>
          <p:nvPr/>
        </p:nvSpPr>
        <p:spPr>
          <a:xfrm>
            <a:off x="990600" y="3812542"/>
            <a:ext cx="61742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Robot Framework · pytest · Selenium WebDriver · requests</a:t>
            </a:r>
            <a:endParaRPr lang="en-US" sz="1200" dirty="0"/>
          </a:p>
        </p:txBody>
      </p:sp>
      <p:pic>
        <p:nvPicPr>
          <p:cNvPr id="13" name="Image 0" descr="connector">    </p:cNvPr>
          <p:cNvPicPr>
            <a:picLocks noChangeAspect="1"/>
          </p:cNvPicPr>
          <p:nvPr/>
        </p:nvPicPr>
        <p:blipFill>
          <a:blip r:embed="rId1"/>
          <a:srcRect l="0" r="0" t="0" b="0"/>
          <a:stretch/>
        </p:blipFill>
        <p:spPr>
          <a:xfrm>
            <a:off x="812800" y="4229100"/>
            <a:ext cx="101600" cy="254000"/>
          </a:xfrm>
          <a:prstGeom prst="rect">
            <a:avLst/>
          </a:prstGeom>
        </p:spPr>
      </p:pic>
      <p:sp>
        <p:nvSpPr>
          <p:cNvPr id="14" name="Shape 11"/>
          <p:cNvSpPr/>
          <p:nvPr/>
        </p:nvSpPr>
        <p:spPr>
          <a:xfrm>
            <a:off x="812800" y="4559300"/>
            <a:ext cx="6350000" cy="723900"/>
          </a:xfrm>
          <a:prstGeom prst="roundRect">
            <a:avLst>
              <a:gd name="adj" fmla="val 10526"/>
            </a:avLst>
          </a:prstGeom>
          <a:solidFill>
            <a:srgbClr val="E98B53"/>
          </a:solidFill>
          <a:ln/>
        </p:spPr>
      </p:sp>
      <p:sp>
        <p:nvSpPr>
          <p:cNvPr id="15" name="Text 12"/>
          <p:cNvSpPr/>
          <p:nvPr/>
        </p:nvSpPr>
        <p:spPr>
          <a:xfrm>
            <a:off x="990600" y="4686300"/>
            <a:ext cx="6174232"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System under test</a:t>
            </a:r>
            <a:endParaRPr lang="en-US" sz="1400" dirty="0"/>
          </a:p>
        </p:txBody>
      </p:sp>
      <p:sp>
        <p:nvSpPr>
          <p:cNvPr id="16" name="Text 13"/>
          <p:cNvSpPr/>
          <p:nvPr/>
        </p:nvSpPr>
        <p:spPr>
          <a:xfrm>
            <a:off x="990600" y="4942842"/>
            <a:ext cx="61742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Canteen web UI and JSON API</a:t>
            </a:r>
            <a:endParaRPr lang="en-US" sz="1200" dirty="0"/>
          </a:p>
        </p:txBody>
      </p:sp>
      <p:sp>
        <p:nvSpPr>
          <p:cNvPr id="17" name="Shape 14"/>
          <p:cNvSpPr/>
          <p:nvPr/>
        </p:nvSpPr>
        <p:spPr>
          <a:xfrm>
            <a:off x="7467600" y="1835150"/>
            <a:ext cx="3911600" cy="0"/>
          </a:xfrm>
          <a:prstGeom prst="line">
            <a:avLst/>
          </a:prstGeom>
          <a:noFill/>
          <a:ln w="12700">
            <a:solidFill>
              <a:srgbClr val="13233A"/>
            </a:solidFill>
            <a:prstDash val="solid"/>
          </a:ln>
        </p:spPr>
      </p:sp>
      <p:sp>
        <p:nvSpPr>
          <p:cNvPr id="18" name="Text 15"/>
          <p:cNvSpPr/>
          <p:nvPr/>
        </p:nvSpPr>
        <p:spPr>
          <a:xfrm>
            <a:off x="7467600" y="1915158"/>
            <a:ext cx="40289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New cart layout</a:t>
            </a:r>
            <a:endParaRPr lang="en-US" sz="1200" dirty="0"/>
          </a:p>
        </p:txBody>
      </p:sp>
      <p:sp>
        <p:nvSpPr>
          <p:cNvPr id="19" name="Text 16"/>
          <p:cNvSpPr/>
          <p:nvPr/>
        </p:nvSpPr>
        <p:spPr>
          <a:xfrm>
            <a:off x="7467600" y="2166627"/>
            <a:ext cx="40289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Only CartPage changes</a:t>
            </a:r>
            <a:endParaRPr lang="en-US" sz="1200" dirty="0"/>
          </a:p>
        </p:txBody>
      </p:sp>
      <p:sp>
        <p:nvSpPr>
          <p:cNvPr id="20" name="Shape 17"/>
          <p:cNvSpPr/>
          <p:nvPr/>
        </p:nvSpPr>
        <p:spPr>
          <a:xfrm>
            <a:off x="7467600" y="2487935"/>
            <a:ext cx="3911600" cy="0"/>
          </a:xfrm>
          <a:prstGeom prst="line">
            <a:avLst/>
          </a:prstGeom>
          <a:noFill/>
          <a:ln w="12700">
            <a:solidFill>
              <a:srgbClr val="13233A"/>
            </a:solidFill>
            <a:prstDash val="solid"/>
          </a:ln>
        </p:spPr>
      </p:sp>
      <p:sp>
        <p:nvSpPr>
          <p:cNvPr id="21" name="Text 18"/>
          <p:cNvSpPr/>
          <p:nvPr/>
        </p:nvSpPr>
        <p:spPr>
          <a:xfrm>
            <a:off x="7467600" y="2567942"/>
            <a:ext cx="40289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New coupon rule</a:t>
            </a:r>
            <a:endParaRPr lang="en-US" sz="1200" dirty="0"/>
          </a:p>
        </p:txBody>
      </p:sp>
      <p:sp>
        <p:nvSpPr>
          <p:cNvPr id="22" name="Text 19"/>
          <p:cNvSpPr/>
          <p:nvPr/>
        </p:nvSpPr>
        <p:spPr>
          <a:xfrm>
            <a:off x="7467600" y="2819400"/>
            <a:ext cx="40289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scripts and their data change</a:t>
            </a:r>
            <a:endParaRPr lang="en-US" sz="1200" dirty="0"/>
          </a:p>
        </p:txBody>
      </p:sp>
      <p:sp>
        <p:nvSpPr>
          <p:cNvPr id="23" name="Shape 20"/>
          <p:cNvSpPr/>
          <p:nvPr/>
        </p:nvSpPr>
        <p:spPr>
          <a:xfrm>
            <a:off x="7467600" y="3140708"/>
            <a:ext cx="3911600" cy="0"/>
          </a:xfrm>
          <a:prstGeom prst="line">
            <a:avLst/>
          </a:prstGeom>
          <a:noFill/>
          <a:ln w="12700">
            <a:solidFill>
              <a:srgbClr val="13233A"/>
            </a:solidFill>
            <a:prstDash val="solid"/>
          </a:ln>
        </p:spPr>
      </p:sp>
      <p:sp>
        <p:nvSpPr>
          <p:cNvPr id="24" name="Text 21"/>
          <p:cNvSpPr/>
          <p:nvPr/>
        </p:nvSpPr>
        <p:spPr>
          <a:xfrm>
            <a:off x="7467600" y="3220727"/>
            <a:ext cx="40289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New tool</a:t>
            </a:r>
            <a:endParaRPr lang="en-US" sz="1200" dirty="0"/>
          </a:p>
        </p:txBody>
      </p:sp>
      <p:sp>
        <p:nvSpPr>
          <p:cNvPr id="25" name="Text 22"/>
          <p:cNvSpPr/>
          <p:nvPr/>
        </p:nvSpPr>
        <p:spPr>
          <a:xfrm>
            <a:off x="7467600" y="3472185"/>
            <a:ext cx="40289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Swap a core library; tests stay</a:t>
            </a:r>
            <a:endParaRPr lang="en-US" sz="1200" dirty="0"/>
          </a:p>
        </p:txBody>
      </p:sp>
      <p:sp>
        <p:nvSpPr>
          <p:cNvPr id="26" name="Text 23"/>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7" name="Text 24"/>
          <p:cNvSpPr/>
          <p:nvPr/>
        </p:nvSpPr>
        <p:spPr>
          <a:xfrm>
            <a:off x="6552962" y="6238242"/>
            <a:ext cx="49710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Layer names: ISTQB Test Automation Engineering syllabus v2.0 (2024)</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L15 · BUSINESS AND TECHNICAL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Where should each check live?</a:t>
            </a:r>
            <a:endParaRPr lang="en-US" sz="3200" dirty="0"/>
          </a:p>
        </p:txBody>
      </p:sp>
      <p:sp>
        <p:nvSpPr>
          <p:cNvPr id="4" name="Shape 2"/>
          <p:cNvSpPr/>
          <p:nvPr/>
        </p:nvSpPr>
        <p:spPr>
          <a:xfrm>
            <a:off x="11376025" y="1828800"/>
            <a:ext cx="0" cy="2656840"/>
          </a:xfrm>
          <a:prstGeom prst="line">
            <a:avLst/>
          </a:prstGeom>
          <a:noFill/>
          <a:ln w="6350">
            <a:solidFill>
              <a:srgbClr val="DDD8CC"/>
            </a:solidFill>
            <a:prstDash val="solid"/>
          </a:ln>
        </p:spPr>
      </p:sp>
      <p:sp>
        <p:nvSpPr>
          <p:cNvPr id="5" name="Shape 3"/>
          <p:cNvSpPr/>
          <p:nvPr/>
        </p:nvSpPr>
        <p:spPr>
          <a:xfrm>
            <a:off x="812800" y="44824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41600"/>
        </p:xfrm>
        <a:graphic>
          <a:graphicData uri="http://schemas.openxmlformats.org/drawingml/2006/table">
            <a:tbl>
              <a:tblPr/>
              <a:tblGrid>
                <a:gridCol w="3587394"/>
                <a:gridCol w="2321255"/>
                <a:gridCol w="1688186"/>
                <a:gridCol w="2954325"/>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Check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Best 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Kind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SAVE20 caps the discount at ₹100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Technical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Pure calculation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Cart rejects a quantity of 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Technical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rule behind one endpoint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Account locks after 3 failures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plus one UI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Both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Rule in API; UI shows message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student can order and see Placed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UI end-to-end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Business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journey across pages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Wallet service accepts our calls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Contract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Technical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Two teams, one interface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Menu loads in 2 s at lunch peak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Performance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Technical (Q4)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Needs many users, not 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SAVE20 rules readable by the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BDD over the 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Business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Owner reviews the examples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739642"/>
            <a:ext cx="10566400" cy="553720"/>
          </a:xfrm>
          <a:prstGeom prst="roundRect">
            <a:avLst>
              <a:gd name="adj" fmla="val 13761"/>
            </a:avLst>
          </a:prstGeom>
          <a:solidFill>
            <a:srgbClr val="13233A"/>
          </a:solidFill>
          <a:ln/>
        </p:spPr>
      </p:sp>
      <p:sp>
        <p:nvSpPr>
          <p:cNvPr id="8" name="Text 5"/>
          <p:cNvSpPr/>
          <p:nvPr/>
        </p:nvSpPr>
        <p:spPr>
          <a:xfrm>
            <a:off x="1016000" y="4909827"/>
            <a:ext cx="14046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RULE OF THUMB</a:t>
            </a:r>
            <a:endParaRPr lang="en-US" sz="1200" dirty="0"/>
          </a:p>
        </p:txBody>
      </p:sp>
      <p:sp>
        <p:nvSpPr>
          <p:cNvPr id="9" name="Text 6"/>
          <p:cNvSpPr/>
          <p:nvPr/>
        </p:nvSpPr>
        <p:spPr>
          <a:xfrm>
            <a:off x="2522220" y="4892042"/>
            <a:ext cx="89133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Automate each rule at the lowest level that can prove it, and keep a few UI journeys for confidence.</a:t>
            </a:r>
            <a:endParaRPr lang="en-US" sz="1400" dirty="0"/>
          </a:p>
        </p:txBody>
      </p:sp>
      <p:sp>
        <p:nvSpPr>
          <p:cNvPr id="10" name="Text 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5078651" y="6238242"/>
            <a:ext cx="64895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Blue: technical · orange: business · the API and contract rows can also be business-readable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L15 · CHECK YOUR UNDERSTANDING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15</a:t>
            </a:r>
            <a:endParaRPr lang="en-US" sz="3200" dirty="0"/>
          </a:p>
        </p:txBody>
      </p:sp>
      <p:sp>
        <p:nvSpPr>
          <p:cNvPr id="4" name="Shape 2"/>
          <p:cNvSpPr/>
          <p:nvPr/>
        </p:nvSpPr>
        <p:spPr>
          <a:xfrm>
            <a:off x="815975" y="1831975"/>
            <a:ext cx="5175250" cy="1588770"/>
          </a:xfrm>
          <a:prstGeom prst="roundRect">
            <a:avLst>
              <a:gd name="adj" fmla="val 4596"/>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the quadrant: (a) a Locust load test (b) an exploratory session on the new cart (c) a pytest test of delivery_fee() (d) a Robot test for SAVE20.</a:t>
            </a:r>
            <a:endParaRPr lang="en-US" sz="1400" dirty="0"/>
          </a:p>
        </p:txBody>
      </p:sp>
      <p:sp>
        <p:nvSpPr>
          <p:cNvPr id="7" name="Shape 5"/>
          <p:cNvSpPr/>
          <p:nvPr/>
        </p:nvSpPr>
        <p:spPr>
          <a:xfrm>
            <a:off x="6200775" y="1831975"/>
            <a:ext cx="5175250" cy="1588770"/>
          </a:xfrm>
          <a:prstGeom prst="roundRect">
            <a:avLst>
              <a:gd name="adj" fmla="val 4596"/>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Who should be able to read a business-facing test, and why does that matter?</a:t>
            </a:r>
            <a:endParaRPr lang="en-US" sz="1400" dirty="0"/>
          </a:p>
        </p:txBody>
      </p:sp>
      <p:sp>
        <p:nvSpPr>
          <p:cNvPr id="10" name="Shape 8"/>
          <p:cNvSpPr/>
          <p:nvPr/>
        </p:nvSpPr>
        <p:spPr>
          <a:xfrm>
            <a:off x="815975" y="3630302"/>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86080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42418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cart page gets a new layout. Which layer of the framework changes, and which layers stay the same?</a:t>
            </a:r>
            <a:endParaRPr lang="en-US" sz="1400" dirty="0"/>
          </a:p>
        </p:txBody>
      </p:sp>
      <p:sp>
        <p:nvSpPr>
          <p:cNvPr id="13" name="Shape 11"/>
          <p:cNvSpPr/>
          <p:nvPr/>
        </p:nvSpPr>
        <p:spPr>
          <a:xfrm>
            <a:off x="6200775" y="3630302"/>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86080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42418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For the Payment feature, give one check for technical automation and one for business automation.</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9372044" y="6238242"/>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16</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3 · LECTURE 16 · 40 MINUTES</a:t>
            </a:r>
            <a:endParaRPr lang="en-US" sz="1200" dirty="0"/>
          </a:p>
        </p:txBody>
      </p:sp>
      <p:sp>
        <p:nvSpPr>
          <p:cNvPr id="4" name="Text 2"/>
          <p:cNvSpPr/>
          <p:nvPr/>
        </p:nvSpPr>
        <p:spPr>
          <a:xfrm>
            <a:off x="812800" y="3134358"/>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Non-functional and</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functional automation</a:t>
            </a:r>
            <a:endParaRPr lang="en-US" sz="5600" dirty="0"/>
          </a:p>
        </p:txBody>
      </p:sp>
      <p:sp>
        <p:nvSpPr>
          <p:cNvPr id="5" name="Shape 3"/>
          <p:cNvSpPr/>
          <p:nvPr/>
        </p:nvSpPr>
        <p:spPr>
          <a:xfrm>
            <a:off x="812800" y="4989835"/>
            <a:ext cx="2794000" cy="0"/>
          </a:xfrm>
          <a:prstGeom prst="line">
            <a:avLst/>
          </a:prstGeom>
          <a:noFill/>
          <a:ln w="12700">
            <a:solidFill>
              <a:srgbClr val="3A5476"/>
            </a:solidFill>
            <a:prstDash val="solid"/>
          </a:ln>
        </p:spPr>
      </p:sp>
      <p:sp>
        <p:nvSpPr>
          <p:cNvPr id="6" name="Text 4"/>
          <p:cNvSpPr/>
          <p:nvPr/>
        </p:nvSpPr>
        <p:spPr>
          <a:xfrm>
            <a:off x="812800" y="51206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Non-functional test automation</a:t>
            </a:r>
            <a:endParaRPr lang="en-US" sz="2000" dirty="0"/>
          </a:p>
        </p:txBody>
      </p:sp>
      <p:sp>
        <p:nvSpPr>
          <p:cNvPr id="8" name="Shape 6"/>
          <p:cNvSpPr/>
          <p:nvPr/>
        </p:nvSpPr>
        <p:spPr>
          <a:xfrm>
            <a:off x="3911600" y="4989835"/>
            <a:ext cx="2794000" cy="0"/>
          </a:xfrm>
          <a:prstGeom prst="line">
            <a:avLst/>
          </a:prstGeom>
          <a:noFill/>
          <a:ln w="12700">
            <a:solidFill>
              <a:srgbClr val="3A5476"/>
            </a:solidFill>
            <a:prstDash val="solid"/>
          </a:ln>
        </p:spPr>
      </p:sp>
      <p:sp>
        <p:nvSpPr>
          <p:cNvPr id="9" name="Text 7"/>
          <p:cNvSpPr/>
          <p:nvPr/>
        </p:nvSpPr>
        <p:spPr>
          <a:xfrm>
            <a:off x="3911600" y="51206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Functional test automation</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NON-FUNCTIONAL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non-functional automation covers</a:t>
            </a:r>
            <a:endParaRPr lang="en-US" sz="3200" dirty="0"/>
          </a:p>
        </p:txBody>
      </p:sp>
      <p:sp>
        <p:nvSpPr>
          <p:cNvPr id="4" name="Shape 2"/>
          <p:cNvSpPr/>
          <p:nvPr/>
        </p:nvSpPr>
        <p:spPr>
          <a:xfrm>
            <a:off x="11376025" y="1828800"/>
            <a:ext cx="0" cy="2326640"/>
          </a:xfrm>
          <a:prstGeom prst="line">
            <a:avLst/>
          </a:prstGeom>
          <a:noFill/>
          <a:ln w="6350">
            <a:solidFill>
              <a:srgbClr val="DDD8CC"/>
            </a:solidFill>
            <a:prstDash val="solid"/>
          </a:ln>
        </p:spPr>
      </p:sp>
      <p:sp>
        <p:nvSpPr>
          <p:cNvPr id="5" name="Shape 3"/>
          <p:cNvSpPr/>
          <p:nvPr/>
        </p:nvSpPr>
        <p:spPr>
          <a:xfrm>
            <a:off x="812800" y="41522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11400"/>
        </p:xfrm>
        <a:graphic>
          <a:graphicData uri="http://schemas.openxmlformats.org/drawingml/2006/table">
            <a:tbl>
              <a:tblPr/>
              <a:tblGrid>
                <a:gridCol w="2743302"/>
                <a:gridCol w="3587394"/>
                <a:gridCol w="2004720"/>
                <a:gridCol w="2215744"/>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Quality characteristic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What we automate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Example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When it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Performance efficiency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Load, stress, spike and soak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Locust, JMeter, k6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Nightly, pre-release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Dynamic, code and dependency scans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ZAP, SonarQube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Nightly and per commit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Interaction capability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Accessibility rules (WCAG 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axe-core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UI build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Compatibility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Cross-browser and cross-device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Grid, device clouds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Nightly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Reliability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Long soak runs, failure injection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Locust, chaos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Before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Maintainability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Static analysis, duplication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SonarQube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commit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4409442"/>
            <a:ext cx="10566400" cy="802640"/>
          </a:xfrm>
          <a:prstGeom prst="roundRect">
            <a:avLst>
              <a:gd name="adj" fmla="val 9494"/>
            </a:avLst>
          </a:prstGeom>
          <a:solidFill>
            <a:srgbClr val="13233A"/>
          </a:solidFill>
          <a:ln/>
        </p:spPr>
      </p:sp>
      <p:sp>
        <p:nvSpPr>
          <p:cNvPr id="8" name="Text 5"/>
          <p:cNvSpPr/>
          <p:nvPr/>
        </p:nvSpPr>
        <p:spPr>
          <a:xfrm>
            <a:off x="1016000" y="4704085"/>
            <a:ext cx="13004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PASS OR FAIL</a:t>
            </a:r>
            <a:endParaRPr lang="en-US" sz="1200" dirty="0"/>
          </a:p>
        </p:txBody>
      </p:sp>
      <p:sp>
        <p:nvSpPr>
          <p:cNvPr id="9" name="Text 6"/>
          <p:cNvSpPr/>
          <p:nvPr/>
        </p:nvSpPr>
        <p:spPr>
          <a:xfrm>
            <a:off x="2418080" y="4561842"/>
            <a:ext cx="902065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These checks pass against a threshold, such as p95 under 2 s or no high-risk alerts, not against one exact value.</a:t>
            </a:r>
            <a:endParaRPr lang="en-US" sz="1400" dirty="0"/>
          </a:p>
        </p:txBody>
      </p:sp>
      <p:sp>
        <p:nvSpPr>
          <p:cNvPr id="10" name="Text 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5422900" y="6238242"/>
            <a:ext cx="61349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Characteristics: ISO/IEC 25010:2023, which renamed usability to interaction capability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NON-FUNCTIONAL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Performance tests as code: Locust</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perf/locustfile.py · imports: HttpUser, between, events, task</a:t>
            </a:r>
            <a:endParaRPr lang="en-US" sz="1200" dirty="0"/>
          </a:p>
        </p:txBody>
      </p:sp>
      <p:sp>
        <p:nvSpPr>
          <p:cNvPr id="5" name="Shape 3"/>
          <p:cNvSpPr/>
          <p:nvPr/>
        </p:nvSpPr>
        <p:spPr>
          <a:xfrm>
            <a:off x="812800" y="2118358"/>
            <a:ext cx="10566400" cy="3342640"/>
          </a:xfrm>
          <a:prstGeom prst="roundRect">
            <a:avLst>
              <a:gd name="adj" fmla="val 2280"/>
            </a:avLst>
          </a:prstGeom>
          <a:solidFill>
            <a:srgbClr val="13233A"/>
          </a:solidFill>
          <a:ln/>
        </p:spPr>
      </p:sp>
      <p:sp>
        <p:nvSpPr>
          <p:cNvPr id="6" name="Text 4"/>
          <p:cNvSpPr/>
          <p:nvPr/>
        </p:nvSpPr>
        <p:spPr>
          <a:xfrm>
            <a:off x="990600" y="2296158"/>
            <a:ext cx="10517124" cy="30124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class</a:t>
            </a:r>
            <a:r>
              <a:rPr lang="en-US" sz="1200" dirty="0">
                <a:solidFill>
                  <a:srgbClr val="E6EAF0"/>
                </a:solidFill>
                <a:latin typeface="JetBrains Mono" pitchFamily="34" charset="0"/>
                <a:ea typeface="JetBrains Mono" pitchFamily="34" charset="-122"/>
                <a:cs typeface="JetBrains Mono" pitchFamily="34" charset="-120"/>
              </a:rPr>
              <a:t> Student(HttpUser):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wait_time = between(1, 3)</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on_start(self):</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 = self.client.post(</a:t>
            </a:r>
            <a:r>
              <a:rPr lang="en-US" sz="1200" dirty="0">
                <a:solidFill>
                  <a:srgbClr val="9CC7F0"/>
                </a:solidFill>
                <a:latin typeface="JetBrains Mono" pitchFamily="34" charset="0"/>
                <a:ea typeface="JetBrains Mono" pitchFamily="34" charset="-122"/>
                <a:cs typeface="JetBrains Mono" pitchFamily="34" charset="-120"/>
              </a:rPr>
              <a:t>"/api/login"</a:t>
            </a:r>
            <a:r>
              <a:rPr lang="en-US" sz="1200" dirty="0">
                <a:solidFill>
                  <a:srgbClr val="E6EAF0"/>
                </a:solidFill>
                <a:latin typeface="JetBrains Mono" pitchFamily="34" charset="0"/>
                <a:ea typeface="JetBrains Mono" pitchFamily="34" charset="-122"/>
                <a:cs typeface="JetBrains Mono" pitchFamily="34" charset="-120"/>
              </a:rPr>
              <a:t>, json={</a:t>
            </a:r>
            <a:r>
              <a:rPr lang="en-US" sz="1200" dirty="0">
                <a:solidFill>
                  <a:srgbClr val="9CC7F0"/>
                </a:solidFill>
                <a:latin typeface="JetBrains Mono" pitchFamily="34" charset="0"/>
                <a:ea typeface="JetBrains Mono" pitchFamily="34" charset="-122"/>
                <a:cs typeface="JetBrains Mono" pitchFamily="34" charset="-120"/>
              </a:rPr>
              <a:t>"student_id"</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"S101"</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"secret"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self.auth = {</a:t>
            </a:r>
            <a:r>
              <a:rPr lang="en-US" sz="1200" dirty="0">
                <a:solidFill>
                  <a:srgbClr val="9CC7F0"/>
                </a:solidFill>
                <a:latin typeface="JetBrains Mono" pitchFamily="34" charset="0"/>
                <a:ea typeface="JetBrains Mono" pitchFamily="34" charset="-122"/>
                <a:cs typeface="JetBrains Mono" pitchFamily="34" charset="-120"/>
              </a:rPr>
              <a:t>"Authorization"</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"Bearer "</a:t>
            </a:r>
            <a:r>
              <a:rPr lang="en-US" sz="1200" dirty="0">
                <a:solidFill>
                  <a:srgbClr val="E6EAF0"/>
                </a:solidFill>
                <a:latin typeface="JetBrains Mono" pitchFamily="34" charset="0"/>
                <a:ea typeface="JetBrains Mono" pitchFamily="34" charset="-122"/>
                <a:cs typeface="JetBrains Mono" pitchFamily="34" charset="-120"/>
              </a:rPr>
              <a:t> + r.json()[</a:t>
            </a:r>
            <a:r>
              <a:rPr lang="en-US" sz="1200" dirty="0">
                <a:solidFill>
                  <a:srgbClr val="9CC7F0"/>
                </a:solidFill>
                <a:latin typeface="JetBrains Mono" pitchFamily="34" charset="0"/>
                <a:ea typeface="JetBrains Mono" pitchFamily="34" charset="-122"/>
                <a:cs typeface="JetBrains Mono" pitchFamily="34" charset="-120"/>
              </a:rPr>
              <a:t>"token"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@task(3)</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browse_menu(self):</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self.client.get(</a:t>
            </a:r>
            <a:r>
              <a:rPr lang="en-US" sz="1200" dirty="0">
                <a:solidFill>
                  <a:srgbClr val="9CC7F0"/>
                </a:solidFill>
                <a:latin typeface="JetBrains Mono" pitchFamily="34" charset="0"/>
                <a:ea typeface="JetBrains Mono" pitchFamily="34" charset="-122"/>
                <a:cs typeface="JetBrains Mono" pitchFamily="34" charset="-120"/>
              </a:rPr>
              <a:t>"/api/menu"</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@task(1)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add_to_cart(self):</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self.client.post(</a:t>
            </a:r>
            <a:r>
              <a:rPr lang="en-US" sz="1200" dirty="0">
                <a:solidFill>
                  <a:srgbClr val="9CC7F0"/>
                </a:solidFill>
                <a:latin typeface="JetBrains Mono" pitchFamily="34" charset="0"/>
                <a:ea typeface="JetBrains Mono" pitchFamily="34" charset="-122"/>
                <a:cs typeface="JetBrains Mono" pitchFamily="34" charset="-120"/>
              </a:rPr>
              <a:t>"/api/cart/items"</a:t>
            </a:r>
            <a:r>
              <a:rPr lang="en-US" sz="1200" dirty="0">
                <a:solidFill>
                  <a:srgbClr val="E6EAF0"/>
                </a:solidFill>
                <a:latin typeface="JetBrains Mono" pitchFamily="34" charset="0"/>
                <a:ea typeface="JetBrains Mono" pitchFamily="34" charset="-122"/>
                <a:cs typeface="JetBrains Mono" pitchFamily="34" charset="-120"/>
              </a:rPr>
              <a:t>, json={</a:t>
            </a:r>
            <a:r>
              <a:rPr lang="en-US" sz="1200" dirty="0">
                <a:solidFill>
                  <a:srgbClr val="9CC7F0"/>
                </a:solidFill>
                <a:latin typeface="JetBrains Mono" pitchFamily="34" charset="0"/>
                <a:ea typeface="JetBrains Mono" pitchFamily="34" charset="-122"/>
                <a:cs typeface="JetBrains Mono" pitchFamily="34" charset="-120"/>
              </a:rPr>
              <a:t>"item_id"</a:t>
            </a:r>
            <a:r>
              <a:rPr lang="en-US" sz="1200" dirty="0">
                <a:solidFill>
                  <a:srgbClr val="E6EAF0"/>
                </a:solidFill>
                <a:latin typeface="JetBrains Mono" pitchFamily="34" charset="0"/>
                <a:ea typeface="JetBrains Mono" pitchFamily="34" charset="-122"/>
                <a:cs typeface="JetBrains Mono" pitchFamily="34" charset="-120"/>
              </a:rPr>
              <a:t>: 1, </a:t>
            </a:r>
            <a:r>
              <a:rPr lang="en-US" sz="1200" dirty="0">
                <a:solidFill>
                  <a:srgbClr val="9CC7F0"/>
                </a:solidFill>
                <a:latin typeface="JetBrains Mono" pitchFamily="34" charset="0"/>
                <a:ea typeface="JetBrains Mono" pitchFamily="34" charset="-122"/>
                <a:cs typeface="JetBrains Mono" pitchFamily="34" charset="-120"/>
              </a:rPr>
              <a:t>"qty"</a:t>
            </a:r>
            <a:r>
              <a:rPr lang="en-US" sz="1200" dirty="0">
                <a:solidFill>
                  <a:srgbClr val="E6EAF0"/>
                </a:solidFill>
                <a:latin typeface="JetBrains Mono" pitchFamily="34" charset="0"/>
                <a:ea typeface="JetBrains Mono" pitchFamily="34" charset="-122"/>
                <a:cs typeface="JetBrains Mono" pitchFamily="34" charset="-120"/>
              </a:rPr>
              <a:t>: 2}, headers=self.auth)</a:t>
            </a:r>
            <a:endParaRPr lang="en-US" sz="1200" dirty="0"/>
          </a:p>
        </p:txBody>
      </p:sp>
      <p:sp>
        <p:nvSpPr>
          <p:cNvPr id="7" name="Text 5"/>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8" name="Text 6"/>
          <p:cNvSpPr/>
          <p:nvPr/>
        </p:nvSpPr>
        <p:spPr>
          <a:xfrm>
            <a:off x="3947954" y="6238242"/>
            <a:ext cx="76541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Each simulated student logs in once, thinks 1–3 s between tasks, and browses three times as often as it adds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NON-FUNCTIONAL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Run it headless and read the numbers</a:t>
            </a:r>
            <a:endParaRPr lang="en-US" sz="3200" dirty="0"/>
          </a:p>
        </p:txBody>
      </p:sp>
      <p:sp>
        <p:nvSpPr>
          <p:cNvPr id="4" name="Shape 2"/>
          <p:cNvSpPr/>
          <p:nvPr/>
        </p:nvSpPr>
        <p:spPr>
          <a:xfrm>
            <a:off x="812800" y="1828800"/>
            <a:ext cx="5715000" cy="782320"/>
          </a:xfrm>
          <a:prstGeom prst="roundRect">
            <a:avLst>
              <a:gd name="adj" fmla="val 9740"/>
            </a:avLst>
          </a:prstGeom>
          <a:solidFill>
            <a:srgbClr val="13233A"/>
          </a:solidFill>
          <a:ln/>
        </p:spPr>
      </p:sp>
      <p:sp>
        <p:nvSpPr>
          <p:cNvPr id="5" name="Text 3"/>
          <p:cNvSpPr/>
          <p:nvPr/>
        </p:nvSpPr>
        <p:spPr>
          <a:xfrm>
            <a:off x="990600" y="2006600"/>
            <a:ext cx="5520182" cy="4521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locust -f locustfile.py --headless -u 30 -r 10 -t 20s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--host http://localhost:5000 --csv reports/menu</a:t>
            </a:r>
            <a:endParaRPr lang="en-US" sz="1200" dirty="0"/>
          </a:p>
        </p:txBody>
      </p:sp>
      <p:sp>
        <p:nvSpPr>
          <p:cNvPr id="6" name="Text 4"/>
          <p:cNvSpPr/>
          <p:nvPr/>
        </p:nvSpPr>
        <p:spPr>
          <a:xfrm>
            <a:off x="6832600" y="1828800"/>
            <a:ext cx="4682998" cy="807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30 users, 10 new users a second, a 20-second run; --csv saves the statistics for the pipeline.</a:t>
            </a:r>
            <a:endParaRPr lang="en-US" sz="1200" dirty="0"/>
          </a:p>
        </p:txBody>
      </p:sp>
      <p:sp>
        <p:nvSpPr>
          <p:cNvPr id="7" name="Shape 5"/>
          <p:cNvSpPr/>
          <p:nvPr/>
        </p:nvSpPr>
        <p:spPr>
          <a:xfrm>
            <a:off x="11376025" y="2865127"/>
            <a:ext cx="0" cy="1666240"/>
          </a:xfrm>
          <a:prstGeom prst="line">
            <a:avLst/>
          </a:prstGeom>
          <a:noFill/>
          <a:ln w="6350">
            <a:solidFill>
              <a:srgbClr val="DDD8CC"/>
            </a:solidFill>
            <a:prstDash val="solid"/>
          </a:ln>
        </p:spPr>
      </p:sp>
      <p:sp>
        <p:nvSpPr>
          <p:cNvPr id="8" name="Shape 6"/>
          <p:cNvSpPr/>
          <p:nvPr/>
        </p:nvSpPr>
        <p:spPr>
          <a:xfrm>
            <a:off x="812800" y="4528192"/>
            <a:ext cx="10566400" cy="0"/>
          </a:xfrm>
          <a:prstGeom prst="line">
            <a:avLst/>
          </a:prstGeom>
          <a:noFill/>
          <a:ln w="6350">
            <a:solidFill>
              <a:srgbClr val="DDD8CC"/>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2875287"/>
          <a:ext cx="10551160" cy="1651000"/>
        </p:xfrm>
        <a:graphic>
          <a:graphicData uri="http://schemas.openxmlformats.org/drawingml/2006/table">
            <a:tbl>
              <a:tblPr/>
              <a:tblGrid>
                <a:gridCol w="3587394"/>
                <a:gridCol w="1688186"/>
                <a:gridCol w="1688186"/>
                <a:gridCol w="1688186"/>
                <a:gridCol w="1899209"/>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Request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Requests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Failures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Median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95th percentile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GET /api/menu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213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3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10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POST /api/cart/items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89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3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13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POST /api/login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13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20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All requests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B9C2"/>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B9C2"/>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B9C2"/>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15 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B9C2"/>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r>
            </a:tbl>
          </a:graphicData>
        </a:graphic>
      </p:graphicFrame>
      <p:sp>
        <p:nvSpPr>
          <p:cNvPr id="10" name="Shape 7"/>
          <p:cNvSpPr/>
          <p:nvPr/>
        </p:nvSpPr>
        <p:spPr>
          <a:xfrm>
            <a:off x="812800" y="4785358"/>
            <a:ext cx="10566400" cy="553720"/>
          </a:xfrm>
          <a:prstGeom prst="roundRect">
            <a:avLst>
              <a:gd name="adj" fmla="val 13761"/>
            </a:avLst>
          </a:prstGeom>
          <a:solidFill>
            <a:srgbClr val="F7E3D5"/>
          </a:solidFill>
          <a:ln/>
        </p:spPr>
      </p:sp>
      <p:sp>
        <p:nvSpPr>
          <p:cNvPr id="11" name="Text 8"/>
          <p:cNvSpPr/>
          <p:nvPr/>
        </p:nvSpPr>
        <p:spPr>
          <a:xfrm>
            <a:off x="1016000" y="4955542"/>
            <a:ext cx="15087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READ WITH CARE</a:t>
            </a:r>
            <a:endParaRPr lang="en-US" sz="1200" dirty="0"/>
          </a:p>
        </p:txBody>
      </p:sp>
      <p:sp>
        <p:nvSpPr>
          <p:cNvPr id="12" name="Text 9"/>
          <p:cNvSpPr/>
          <p:nvPr/>
        </p:nvSpPr>
        <p:spPr>
          <a:xfrm>
            <a:off x="2626360" y="4937758"/>
            <a:ext cx="880612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20 seconds on a small test VM. Real targets need production-like servers, data and longer runs.</a:t>
            </a:r>
            <a:endParaRPr lang="en-US" sz="1400" dirty="0"/>
          </a:p>
        </p:txBody>
      </p:sp>
      <p:sp>
        <p:nvSpPr>
          <p:cNvPr id="13" name="Text 1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4" name="Text 11"/>
          <p:cNvSpPr/>
          <p:nvPr/>
        </p:nvSpPr>
        <p:spPr>
          <a:xfrm>
            <a:off x="7138035" y="6238242"/>
            <a:ext cx="4368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Real run of the locustfile against the teaching app, Locust 2.46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NON-FUNCTIONAL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Turn the numbers into a pass or fail</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perf/locustfile.py · the quitting hook</a:t>
            </a:r>
            <a:endParaRPr lang="en-US" sz="1200" dirty="0"/>
          </a:p>
        </p:txBody>
      </p:sp>
      <p:sp>
        <p:nvSpPr>
          <p:cNvPr id="5" name="Shape 3"/>
          <p:cNvSpPr/>
          <p:nvPr/>
        </p:nvSpPr>
        <p:spPr>
          <a:xfrm>
            <a:off x="812800" y="2118358"/>
            <a:ext cx="10566400" cy="1422400"/>
          </a:xfrm>
          <a:prstGeom prst="roundRect">
            <a:avLst>
              <a:gd name="adj" fmla="val 5357"/>
            </a:avLst>
          </a:prstGeom>
          <a:solidFill>
            <a:srgbClr val="13233A"/>
          </a:solidFill>
          <a:ln/>
        </p:spPr>
      </p:sp>
      <p:sp>
        <p:nvSpPr>
          <p:cNvPr id="6" name="Text 4"/>
          <p:cNvSpPr/>
          <p:nvPr/>
        </p:nvSpPr>
        <p:spPr>
          <a:xfrm>
            <a:off x="990600" y="2296158"/>
            <a:ext cx="10517124" cy="10922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@events.quitting.add_listener</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check_targets(environment, **kw):</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stats = environment.stats.total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if</a:t>
            </a:r>
            <a:r>
              <a:rPr lang="en-US" sz="1200" dirty="0">
                <a:solidFill>
                  <a:srgbClr val="E6EAF0"/>
                </a:solidFill>
                <a:latin typeface="JetBrains Mono" pitchFamily="34" charset="0"/>
                <a:ea typeface="JetBrains Mono" pitchFamily="34" charset="-122"/>
                <a:cs typeface="JetBrains Mono" pitchFamily="34" charset="-120"/>
              </a:rPr>
              <a:t> stats.fail_ratio &gt; 0.01 </a:t>
            </a:r>
            <a:r>
              <a:rPr lang="en-US" sz="1200" dirty="0">
                <a:solidFill>
                  <a:srgbClr val="F2A36B"/>
                </a:solidFill>
                <a:latin typeface="JetBrains Mono" pitchFamily="34" charset="0"/>
                <a:ea typeface="JetBrains Mono" pitchFamily="34" charset="-122"/>
                <a:cs typeface="JetBrains Mono" pitchFamily="34" charset="-120"/>
              </a:rPr>
              <a:t>or</a:t>
            </a:r>
            <a:r>
              <a:rPr lang="en-US" sz="1200" dirty="0">
                <a:solidFill>
                  <a:srgbClr val="E6EAF0"/>
                </a:solidFill>
                <a:latin typeface="JetBrains Mono" pitchFamily="34" charset="0"/>
                <a:ea typeface="JetBrains Mono" pitchFamily="34" charset="-122"/>
                <a:cs typeface="JetBrains Mono" pitchFamily="34" charset="-120"/>
              </a:rPr>
              <a:t> stats.get_response_time_percentile(0.95) &gt; 2000: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environment.process_exit_code = 1</a:t>
            </a:r>
            <a:endParaRPr lang="en-US" sz="1200" dirty="0"/>
          </a:p>
        </p:txBody>
      </p:sp>
      <p:sp>
        <p:nvSpPr>
          <p:cNvPr id="7" name="Shape 5"/>
          <p:cNvSpPr/>
          <p:nvPr/>
        </p:nvSpPr>
        <p:spPr>
          <a:xfrm>
            <a:off x="815975" y="3797933"/>
            <a:ext cx="3414157" cy="999490"/>
          </a:xfrm>
          <a:prstGeom prst="roundRect">
            <a:avLst>
              <a:gd name="adj" fmla="val 7306"/>
            </a:avLst>
          </a:prstGeom>
          <a:solidFill>
            <a:srgbClr val="FCFBF7"/>
          </a:solidFill>
          <a:ln w="6350">
            <a:solidFill>
              <a:srgbClr val="DDD8CC"/>
            </a:solidFill>
            <a:prstDash val="solid"/>
          </a:ln>
        </p:spPr>
      </p:sp>
      <p:sp>
        <p:nvSpPr>
          <p:cNvPr id="8" name="Text 6"/>
          <p:cNvSpPr/>
          <p:nvPr/>
        </p:nvSpPr>
        <p:spPr>
          <a:xfrm>
            <a:off x="995680" y="3952242"/>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Locust’s default</a:t>
            </a:r>
            <a:endParaRPr lang="en-US" sz="1200" dirty="0"/>
          </a:p>
        </p:txBody>
      </p:sp>
      <p:sp>
        <p:nvSpPr>
          <p:cNvPr id="9" name="Text 7"/>
          <p:cNvSpPr/>
          <p:nvPr/>
        </p:nvSpPr>
        <p:spPr>
          <a:xfrm>
            <a:off x="995680" y="4216400"/>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 exit code of 1 if there were any failed samples.”</a:t>
            </a:r>
            <a:endParaRPr lang="en-US" sz="1200" dirty="0"/>
          </a:p>
        </p:txBody>
      </p:sp>
      <p:sp>
        <p:nvSpPr>
          <p:cNvPr id="10" name="Shape 8"/>
          <p:cNvSpPr/>
          <p:nvPr/>
        </p:nvSpPr>
        <p:spPr>
          <a:xfrm>
            <a:off x="4388882" y="3797933"/>
            <a:ext cx="3414157" cy="999490"/>
          </a:xfrm>
          <a:prstGeom prst="roundRect">
            <a:avLst>
              <a:gd name="adj" fmla="val 7306"/>
            </a:avLst>
          </a:prstGeom>
          <a:solidFill>
            <a:srgbClr val="FCFBF7"/>
          </a:solidFill>
          <a:ln w="6350">
            <a:solidFill>
              <a:srgbClr val="DDD8CC"/>
            </a:solidFill>
            <a:prstDash val="solid"/>
          </a:ln>
        </p:spPr>
      </p:sp>
      <p:sp>
        <p:nvSpPr>
          <p:cNvPr id="11" name="Text 9"/>
          <p:cNvSpPr/>
          <p:nvPr/>
        </p:nvSpPr>
        <p:spPr>
          <a:xfrm>
            <a:off x="4568587" y="3952242"/>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Our targets</a:t>
            </a:r>
            <a:endParaRPr lang="en-US" sz="1200" dirty="0"/>
          </a:p>
        </p:txBody>
      </p:sp>
      <p:sp>
        <p:nvSpPr>
          <p:cNvPr id="12" name="Text 10"/>
          <p:cNvSpPr/>
          <p:nvPr/>
        </p:nvSpPr>
        <p:spPr>
          <a:xfrm>
            <a:off x="4568587" y="4216400"/>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Fail above 1% errors, or when p95 passes 2 s (REQ-06)</a:t>
            </a:r>
            <a:endParaRPr lang="en-US" sz="1200" dirty="0"/>
          </a:p>
        </p:txBody>
      </p:sp>
      <p:sp>
        <p:nvSpPr>
          <p:cNvPr id="13" name="Shape 11"/>
          <p:cNvSpPr/>
          <p:nvPr/>
        </p:nvSpPr>
        <p:spPr>
          <a:xfrm>
            <a:off x="7958614" y="3794758"/>
            <a:ext cx="3420507" cy="1005840"/>
          </a:xfrm>
          <a:prstGeom prst="roundRect">
            <a:avLst>
              <a:gd name="adj" fmla="val 7576"/>
            </a:avLst>
          </a:prstGeom>
          <a:solidFill>
            <a:srgbClr val="DCE7F3"/>
          </a:solidFill>
          <a:ln/>
        </p:spPr>
      </p:sp>
      <p:sp>
        <p:nvSpPr>
          <p:cNvPr id="14" name="Text 12"/>
          <p:cNvSpPr/>
          <p:nvPr/>
        </p:nvSpPr>
        <p:spPr>
          <a:xfrm>
            <a:off x="8136414" y="3947158"/>
            <a:ext cx="31568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Tried it</a:t>
            </a:r>
            <a:endParaRPr lang="en-US" sz="1200" dirty="0"/>
          </a:p>
        </p:txBody>
      </p:sp>
      <p:sp>
        <p:nvSpPr>
          <p:cNvPr id="15" name="Text 13"/>
          <p:cNvSpPr/>
          <p:nvPr/>
        </p:nvSpPr>
        <p:spPr>
          <a:xfrm>
            <a:off x="8136414" y="4211327"/>
            <a:ext cx="31568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With a 1 ms limit, Locust exited with code 1, so CI would stop</a:t>
            </a:r>
            <a:endParaRPr lang="en-US" sz="12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6435725" y="6238242"/>
            <a:ext cx="50917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Default behaviour: Locust documentation, “Running without the web UI”</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NON-FUNCTIONAL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security scan in the pipeline: ZAP baseline</a:t>
            </a:r>
            <a:endParaRPr lang="en-US" sz="3200" dirty="0"/>
          </a:p>
        </p:txBody>
      </p:sp>
      <p:sp>
        <p:nvSpPr>
          <p:cNvPr id="4" name="Shape 2"/>
          <p:cNvSpPr/>
          <p:nvPr/>
        </p:nvSpPr>
        <p:spPr>
          <a:xfrm>
            <a:off x="812800" y="1828800"/>
            <a:ext cx="10566400" cy="782320"/>
          </a:xfrm>
          <a:prstGeom prst="roundRect">
            <a:avLst>
              <a:gd name="adj" fmla="val 9740"/>
            </a:avLst>
          </a:prstGeom>
          <a:solidFill>
            <a:srgbClr val="13233A"/>
          </a:solidFill>
          <a:ln/>
        </p:spPr>
      </p:sp>
      <p:sp>
        <p:nvSpPr>
          <p:cNvPr id="5" name="Text 3"/>
          <p:cNvSpPr/>
          <p:nvPr/>
        </p:nvSpPr>
        <p:spPr>
          <a:xfrm>
            <a:off x="990600" y="2006600"/>
            <a:ext cx="10517124" cy="4521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docker run --rm --network host -t ghcr.io/zaproxy/zaproxy:stable zap-baseline.py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 http://localhost:5000/login</a:t>
            </a:r>
            <a:endParaRPr lang="en-US" sz="1200" dirty="0"/>
          </a:p>
        </p:txBody>
      </p:sp>
      <p:sp>
        <p:nvSpPr>
          <p:cNvPr id="6" name="Shape 4"/>
          <p:cNvSpPr/>
          <p:nvPr/>
        </p:nvSpPr>
        <p:spPr>
          <a:xfrm>
            <a:off x="812800" y="2865127"/>
            <a:ext cx="6413500" cy="1635760"/>
          </a:xfrm>
          <a:prstGeom prst="roundRect">
            <a:avLst>
              <a:gd name="adj" fmla="val 4658"/>
            </a:avLst>
          </a:prstGeom>
          <a:solidFill>
            <a:srgbClr val="13233A"/>
          </a:solidFill>
          <a:ln/>
        </p:spPr>
      </p:sp>
      <p:sp>
        <p:nvSpPr>
          <p:cNvPr id="7" name="Text 5"/>
          <p:cNvSpPr/>
          <p:nvPr/>
        </p:nvSpPr>
        <p:spPr>
          <a:xfrm>
            <a:off x="990600" y="3042927"/>
            <a:ext cx="6239637" cy="13055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WARN-NEW: Missing Anti-clickjacking Header [10020] x 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WARN-NEW: X-Content-Type-Options Header Missing [10021] x 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WARN-NEW: Server Leaks Version Information via ... [10036] x 5</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WARN-NEW: Content Security Policy (CSP) Header Not Set [10038] x 5</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WARN-NEW: Absence of Anti-CSRF Tokens [10202] x 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FAIL-NEW: 0   WARN-NEW: 5   PASS: 56   exit code 2</a:t>
            </a:r>
            <a:endParaRPr lang="en-US" sz="1200" dirty="0"/>
          </a:p>
        </p:txBody>
      </p:sp>
      <p:sp>
        <p:nvSpPr>
          <p:cNvPr id="8" name="Shape 6"/>
          <p:cNvSpPr/>
          <p:nvPr/>
        </p:nvSpPr>
        <p:spPr>
          <a:xfrm>
            <a:off x="7534275" y="2868302"/>
            <a:ext cx="3841750" cy="1629410"/>
          </a:xfrm>
          <a:prstGeom prst="roundRect">
            <a:avLst>
              <a:gd name="adj" fmla="val 4482"/>
            </a:avLst>
          </a:prstGeom>
          <a:solidFill>
            <a:srgbClr val="FCFBF7"/>
          </a:solidFill>
          <a:ln w="6350">
            <a:solidFill>
              <a:srgbClr val="DDD8CC"/>
            </a:solidFill>
            <a:prstDash val="solid"/>
          </a:ln>
        </p:spPr>
      </p:sp>
      <p:sp>
        <p:nvSpPr>
          <p:cNvPr id="9" name="Text 7"/>
          <p:cNvSpPr/>
          <p:nvPr/>
        </p:nvSpPr>
        <p:spPr>
          <a:xfrm>
            <a:off x="7713980" y="3022600"/>
            <a:ext cx="35868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Exit codes</a:t>
            </a:r>
            <a:endParaRPr lang="en-US" sz="1200" dirty="0"/>
          </a:p>
        </p:txBody>
      </p:sp>
      <p:sp>
        <p:nvSpPr>
          <p:cNvPr id="10" name="Text 8"/>
          <p:cNvSpPr/>
          <p:nvPr/>
        </p:nvSpPr>
        <p:spPr>
          <a:xfrm>
            <a:off x="7713980" y="3286758"/>
            <a:ext cx="358681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0 success</a:t>
            </a:r>
            <a:endParaRPr lang="en-US" sz="1200" dirty="0"/>
          </a:p>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 at least one FAIL</a:t>
            </a:r>
            <a:endParaRPr lang="en-US" sz="1200" dirty="0"/>
          </a:p>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 at least one WARN, no FAILs</a:t>
            </a:r>
            <a:endParaRPr lang="en-US" sz="1200" dirty="0"/>
          </a:p>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 any other failure</a:t>
            </a:r>
            <a:endParaRPr lang="en-US" sz="1200" dirty="0"/>
          </a:p>
        </p:txBody>
      </p:sp>
      <p:sp>
        <p:nvSpPr>
          <p:cNvPr id="11" name="Text 9"/>
          <p:cNvSpPr/>
          <p:nvPr/>
        </p:nvSpPr>
        <p:spPr>
          <a:xfrm>
            <a:off x="812800" y="47548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It spiders the app for about a minute, then only watches the traffic: it “doesn't perform any actual ‘attacks’”.</a:t>
            </a:r>
            <a:endParaRPr lang="en-US" sz="1400" dirty="0"/>
          </a:p>
        </p:txBody>
      </p:sp>
      <p:sp>
        <p:nvSpPr>
          <p:cNvPr id="12" name="Text 1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3" name="Text 11"/>
          <p:cNvSpPr/>
          <p:nvPr/>
        </p:nvSpPr>
        <p:spPr>
          <a:xfrm>
            <a:off x="4368800" y="6238242"/>
            <a:ext cx="72207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Real run against the teaching app, output trimmed · ZAP by Checkmarx, open source · zaproxy.org docs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NON-FUNCTIONAL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Accessibility checks with axe-core</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tests/a11y/test_accessibility.py · AXE holds axe.min.js from the axe-core npm package</a:t>
            </a:r>
            <a:endParaRPr lang="en-US" sz="1200" dirty="0"/>
          </a:p>
        </p:txBody>
      </p:sp>
      <p:sp>
        <p:nvSpPr>
          <p:cNvPr id="5" name="Shape 3"/>
          <p:cNvSpPr/>
          <p:nvPr/>
        </p:nvSpPr>
        <p:spPr>
          <a:xfrm>
            <a:off x="812800" y="2118358"/>
            <a:ext cx="10566400" cy="2062480"/>
          </a:xfrm>
          <a:prstGeom prst="roundRect">
            <a:avLst>
              <a:gd name="adj" fmla="val 3695"/>
            </a:avLst>
          </a:prstGeom>
          <a:solidFill>
            <a:srgbClr val="13233A"/>
          </a:solidFill>
          <a:ln/>
        </p:spPr>
      </p:sp>
      <p:sp>
        <p:nvSpPr>
          <p:cNvPr id="6" name="Text 4"/>
          <p:cNvSpPr/>
          <p:nvPr/>
        </p:nvSpPr>
        <p:spPr>
          <a:xfrm>
            <a:off x="990600" y="2296158"/>
            <a:ext cx="10517124" cy="17322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test_login_page_has_no_axe_violations(driver, base_url):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driver.get(base_url + </a:t>
            </a:r>
            <a:r>
              <a:rPr lang="en-US" sz="1200" dirty="0">
                <a:solidFill>
                  <a:srgbClr val="9CC7F0"/>
                </a:solidFill>
                <a:latin typeface="JetBrains Mono" pitchFamily="34" charset="0"/>
                <a:ea typeface="JetBrains Mono" pitchFamily="34" charset="-122"/>
                <a:cs typeface="JetBrains Mono" pitchFamily="34" charset="-120"/>
              </a:rPr>
              <a:t>"/login"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driver.execute_script(AXE)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results = driver.execute_async_script(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"const done = arguments[arguments.length - 1];"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"axe.run().then(done);"</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problems = [(v[</a:t>
            </a:r>
            <a:r>
              <a:rPr lang="en-US" sz="1200" dirty="0">
                <a:solidFill>
                  <a:srgbClr val="9CC7F0"/>
                </a:solidFill>
                <a:latin typeface="JetBrains Mono" pitchFamily="34" charset="0"/>
                <a:ea typeface="JetBrains Mono" pitchFamily="34" charset="-122"/>
                <a:cs typeface="JetBrains Mono" pitchFamily="34" charset="-120"/>
              </a:rPr>
              <a:t>"id"</a:t>
            </a:r>
            <a:r>
              <a:rPr lang="en-US" sz="1200" dirty="0">
                <a:solidFill>
                  <a:srgbClr val="E6EAF0"/>
                </a:solidFill>
                <a:latin typeface="JetBrains Mono" pitchFamily="34" charset="0"/>
                <a:ea typeface="JetBrains Mono" pitchFamily="34" charset="-122"/>
                <a:cs typeface="JetBrains Mono" pitchFamily="34" charset="-120"/>
              </a:rPr>
              <a:t>], v[</a:t>
            </a:r>
            <a:r>
              <a:rPr lang="en-US" sz="1200" dirty="0">
                <a:solidFill>
                  <a:srgbClr val="9CC7F0"/>
                </a:solidFill>
                <a:latin typeface="JetBrains Mono" pitchFamily="34" charset="0"/>
                <a:ea typeface="JetBrains Mono" pitchFamily="34" charset="-122"/>
                <a:cs typeface="JetBrains Mono" pitchFamily="34" charset="-120"/>
              </a:rPr>
              <a:t>"impact"</a:t>
            </a:r>
            <a:r>
              <a:rPr lang="en-US" sz="1200" dirty="0">
                <a:solidFill>
                  <a:srgbClr val="E6EAF0"/>
                </a:solidFill>
                <a:latin typeface="JetBrains Mono" pitchFamily="34" charset="0"/>
                <a:ea typeface="JetBrains Mono" pitchFamily="34" charset="-122"/>
                <a:cs typeface="JetBrains Mono" pitchFamily="34" charset="-120"/>
              </a:rPr>
              <a:t>], len(v[</a:t>
            </a:r>
            <a:r>
              <a:rPr lang="en-US" sz="1200" dirty="0">
                <a:solidFill>
                  <a:srgbClr val="9CC7F0"/>
                </a:solidFill>
                <a:latin typeface="JetBrains Mono" pitchFamily="34" charset="0"/>
                <a:ea typeface="JetBrains Mono" pitchFamily="34" charset="-122"/>
                <a:cs typeface="JetBrains Mono" pitchFamily="34" charset="-120"/>
              </a:rPr>
              <a:t>"nodes"</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for</a:t>
            </a:r>
            <a:r>
              <a:rPr lang="en-US" sz="1200" dirty="0">
                <a:solidFill>
                  <a:srgbClr val="E6EAF0"/>
                </a:solidFill>
                <a:latin typeface="JetBrains Mono" pitchFamily="34" charset="0"/>
                <a:ea typeface="JetBrains Mono" pitchFamily="34" charset="-122"/>
                <a:cs typeface="JetBrains Mono" pitchFamily="34" charset="-120"/>
              </a:rPr>
              <a:t> v </a:t>
            </a:r>
            <a:r>
              <a:rPr lang="en-US" sz="1200" dirty="0">
                <a:solidFill>
                  <a:srgbClr val="F2A36B"/>
                </a:solidFill>
                <a:latin typeface="JetBrains Mono" pitchFamily="34" charset="0"/>
                <a:ea typeface="JetBrains Mono" pitchFamily="34" charset="-122"/>
                <a:cs typeface="JetBrains Mono" pitchFamily="34" charset="-120"/>
              </a:rPr>
              <a:t>in</a:t>
            </a:r>
            <a:r>
              <a:rPr lang="en-US" sz="1200" dirty="0">
                <a:solidFill>
                  <a:srgbClr val="E6EAF0"/>
                </a:solidFill>
                <a:latin typeface="JetBrains Mono" pitchFamily="34" charset="0"/>
                <a:ea typeface="JetBrains Mono" pitchFamily="34" charset="-122"/>
                <a:cs typeface="JetBrains Mono" pitchFamily="34" charset="-120"/>
              </a:rPr>
              <a:t> results[</a:t>
            </a:r>
            <a:r>
              <a:rPr lang="en-US" sz="1200" dirty="0">
                <a:solidFill>
                  <a:srgbClr val="9CC7F0"/>
                </a:solidFill>
                <a:latin typeface="JetBrains Mono" pitchFamily="34" charset="0"/>
                <a:ea typeface="JetBrains Mono" pitchFamily="34" charset="-122"/>
                <a:cs typeface="JetBrains Mono" pitchFamily="34" charset="-120"/>
              </a:rPr>
              <a:t>"violations"</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problems == []</a:t>
            </a:r>
            <a:endParaRPr lang="en-US" sz="1200" dirty="0"/>
          </a:p>
        </p:txBody>
      </p:sp>
      <p:sp>
        <p:nvSpPr>
          <p:cNvPr id="7" name="Shape 5"/>
          <p:cNvSpPr/>
          <p:nvPr/>
        </p:nvSpPr>
        <p:spPr>
          <a:xfrm>
            <a:off x="815975" y="4438017"/>
            <a:ext cx="3414157" cy="1212850"/>
          </a:xfrm>
          <a:prstGeom prst="roundRect">
            <a:avLst>
              <a:gd name="adj" fmla="val 6021"/>
            </a:avLst>
          </a:prstGeom>
          <a:solidFill>
            <a:srgbClr val="FCFBF7"/>
          </a:solidFill>
          <a:ln w="6350">
            <a:solidFill>
              <a:srgbClr val="DDD8CC"/>
            </a:solidFill>
            <a:prstDash val="solid"/>
          </a:ln>
        </p:spPr>
      </p:sp>
      <p:sp>
        <p:nvSpPr>
          <p:cNvPr id="8" name="Text 6"/>
          <p:cNvSpPr/>
          <p:nvPr/>
        </p:nvSpPr>
        <p:spPr>
          <a:xfrm>
            <a:off x="995680" y="4592327"/>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axe-core</a:t>
            </a:r>
            <a:endParaRPr lang="en-US" sz="1200" dirty="0"/>
          </a:p>
        </p:txBody>
      </p:sp>
      <p:sp>
        <p:nvSpPr>
          <p:cNvPr id="9" name="Text 7"/>
          <p:cNvSpPr/>
          <p:nvPr/>
        </p:nvSpPr>
        <p:spPr>
          <a:xfrm>
            <a:off x="995680" y="485648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 accessibility testing engine for websites and other HTML-based user interfaces.”</a:t>
            </a:r>
            <a:endParaRPr lang="en-US" sz="1200" dirty="0"/>
          </a:p>
        </p:txBody>
      </p:sp>
      <p:sp>
        <p:nvSpPr>
          <p:cNvPr id="10" name="Shape 8"/>
          <p:cNvSpPr/>
          <p:nvPr/>
        </p:nvSpPr>
        <p:spPr>
          <a:xfrm>
            <a:off x="4388882" y="4438017"/>
            <a:ext cx="3414157" cy="1212850"/>
          </a:xfrm>
          <a:prstGeom prst="roundRect">
            <a:avLst>
              <a:gd name="adj" fmla="val 6021"/>
            </a:avLst>
          </a:prstGeom>
          <a:solidFill>
            <a:srgbClr val="FCFBF7"/>
          </a:solidFill>
          <a:ln w="6350">
            <a:solidFill>
              <a:srgbClr val="DDD8CC"/>
            </a:solidFill>
            <a:prstDash val="solid"/>
          </a:ln>
        </p:spPr>
      </p:sp>
      <p:sp>
        <p:nvSpPr>
          <p:cNvPr id="11" name="Text 9"/>
          <p:cNvSpPr/>
          <p:nvPr/>
        </p:nvSpPr>
        <p:spPr>
          <a:xfrm>
            <a:off x="4568587" y="4592327"/>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Standards</a:t>
            </a:r>
            <a:endParaRPr lang="en-US" sz="1200" dirty="0"/>
          </a:p>
        </p:txBody>
      </p:sp>
      <p:sp>
        <p:nvSpPr>
          <p:cNvPr id="12" name="Text 10"/>
          <p:cNvSpPr/>
          <p:nvPr/>
        </p:nvSpPr>
        <p:spPr>
          <a:xfrm>
            <a:off x="4568587" y="4856485"/>
            <a:ext cx="31463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WCAG 2.0, 2.1 and 2.2 rules, levels A to AAA. WCAG 2.2: W3C Recommendation, October 2023.</a:t>
            </a:r>
            <a:endParaRPr lang="en-US" sz="1200" dirty="0"/>
          </a:p>
        </p:txBody>
      </p:sp>
      <p:sp>
        <p:nvSpPr>
          <p:cNvPr id="13" name="Shape 11"/>
          <p:cNvSpPr/>
          <p:nvPr/>
        </p:nvSpPr>
        <p:spPr>
          <a:xfrm>
            <a:off x="7961789" y="4438017"/>
            <a:ext cx="3414157" cy="1212850"/>
          </a:xfrm>
          <a:prstGeom prst="roundRect">
            <a:avLst>
              <a:gd name="adj" fmla="val 6021"/>
            </a:avLst>
          </a:prstGeom>
          <a:solidFill>
            <a:srgbClr val="F7E3D5"/>
          </a:solidFill>
          <a:ln w="6350">
            <a:solidFill>
              <a:srgbClr val="E9C3A8"/>
            </a:solidFill>
            <a:prstDash val="solid"/>
          </a:ln>
        </p:spPr>
      </p:sp>
      <p:sp>
        <p:nvSpPr>
          <p:cNvPr id="14" name="Text 12"/>
          <p:cNvSpPr/>
          <p:nvPr/>
        </p:nvSpPr>
        <p:spPr>
          <a:xfrm>
            <a:off x="8141494" y="4592327"/>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Limits</a:t>
            </a:r>
            <a:endParaRPr lang="en-US" sz="1200" dirty="0"/>
          </a:p>
        </p:txBody>
      </p:sp>
      <p:sp>
        <p:nvSpPr>
          <p:cNvPr id="15" name="Text 13"/>
          <p:cNvSpPr/>
          <p:nvPr/>
        </p:nvSpPr>
        <p:spPr>
          <a:xfrm>
            <a:off x="8141494" y="485648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Deque: “on average 57% of WCAG issues automatically”; the rest needs people.</a:t>
            </a:r>
            <a:endParaRPr lang="en-US" sz="12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5433457" y="6238242"/>
            <a:ext cx="61241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Quotes: axe-core README (Deque) · the test injects axe and waits for axe.run() to finish</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NON-FUNCTIONAL TEST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axe found on our login page</a:t>
            </a:r>
            <a:endParaRPr lang="en-US" sz="3200" dirty="0"/>
          </a:p>
        </p:txBody>
      </p:sp>
      <p:sp>
        <p:nvSpPr>
          <p:cNvPr id="4" name="Shape 2"/>
          <p:cNvSpPr/>
          <p:nvPr/>
        </p:nvSpPr>
        <p:spPr>
          <a:xfrm>
            <a:off x="11376025" y="1828800"/>
            <a:ext cx="0" cy="1336040"/>
          </a:xfrm>
          <a:prstGeom prst="line">
            <a:avLst/>
          </a:prstGeom>
          <a:noFill/>
          <a:ln w="6350">
            <a:solidFill>
              <a:srgbClr val="DDD8CC"/>
            </a:solidFill>
            <a:prstDash val="solid"/>
          </a:ln>
        </p:spPr>
      </p:sp>
      <p:sp>
        <p:nvSpPr>
          <p:cNvPr id="5" name="Shape 3"/>
          <p:cNvSpPr/>
          <p:nvPr/>
        </p:nvSpPr>
        <p:spPr>
          <a:xfrm>
            <a:off x="812800" y="31616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320800"/>
        </p:xfrm>
        <a:graphic>
          <a:graphicData uri="http://schemas.openxmlformats.org/drawingml/2006/table">
            <a:tbl>
              <a:tblPr/>
              <a:tblGrid>
                <a:gridCol w="2532278"/>
                <a:gridCol w="2743302"/>
                <a:gridCol w="1266139"/>
                <a:gridCol w="4009441"/>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Impact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Elements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Fix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html-has-lang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Serious · WCAG 2 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Add lang="en" to the html element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landmark-one-main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Moderate · best practice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Wrap the page content in main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Moderate · best practice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Fixed by the same main element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Text 4"/>
          <p:cNvSpPr/>
          <p:nvPr/>
        </p:nvSpPr>
        <p:spPr>
          <a:xfrm>
            <a:off x="812800" y="3418855"/>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BEFORE</a:t>
            </a:r>
            <a:endParaRPr lang="en-US" sz="1200" dirty="0"/>
          </a:p>
        </p:txBody>
      </p:sp>
      <p:sp>
        <p:nvSpPr>
          <p:cNvPr id="8" name="Shape 5"/>
          <p:cNvSpPr/>
          <p:nvPr/>
        </p:nvSpPr>
        <p:spPr>
          <a:xfrm>
            <a:off x="812800" y="3708400"/>
            <a:ext cx="5130800" cy="1209040"/>
          </a:xfrm>
          <a:prstGeom prst="roundRect">
            <a:avLst>
              <a:gd name="adj" fmla="val 6303"/>
            </a:avLst>
          </a:prstGeom>
          <a:solidFill>
            <a:srgbClr val="13233A"/>
          </a:solidFill>
          <a:ln/>
        </p:spPr>
      </p:sp>
      <p:sp>
        <p:nvSpPr>
          <p:cNvPr id="9" name="Text 6"/>
          <p:cNvSpPr/>
          <p:nvPr/>
        </p:nvSpPr>
        <p:spPr>
          <a:xfrm>
            <a:off x="990600" y="3886200"/>
            <a:ext cx="4918456"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&lt;html&gt;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&lt;body&gt;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...page content...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&lt;/body&gt;</a:t>
            </a:r>
            <a:endParaRPr lang="en-US" sz="1200" dirty="0"/>
          </a:p>
        </p:txBody>
      </p:sp>
      <p:sp>
        <p:nvSpPr>
          <p:cNvPr id="10" name="Text 7"/>
          <p:cNvSpPr/>
          <p:nvPr/>
        </p:nvSpPr>
        <p:spPr>
          <a:xfrm>
            <a:off x="6248400" y="3418855"/>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AFTER</a:t>
            </a:r>
            <a:endParaRPr lang="en-US" sz="1200" dirty="0"/>
          </a:p>
        </p:txBody>
      </p:sp>
      <p:sp>
        <p:nvSpPr>
          <p:cNvPr id="11" name="Shape 8"/>
          <p:cNvSpPr/>
          <p:nvPr/>
        </p:nvSpPr>
        <p:spPr>
          <a:xfrm>
            <a:off x="6248400" y="3708400"/>
            <a:ext cx="5130800" cy="1209040"/>
          </a:xfrm>
          <a:prstGeom prst="roundRect">
            <a:avLst>
              <a:gd name="adj" fmla="val 6303"/>
            </a:avLst>
          </a:prstGeom>
          <a:solidFill>
            <a:srgbClr val="13233A"/>
          </a:solidFill>
          <a:ln/>
        </p:spPr>
      </p:sp>
      <p:sp>
        <p:nvSpPr>
          <p:cNvPr id="12" name="Text 9"/>
          <p:cNvSpPr/>
          <p:nvPr/>
        </p:nvSpPr>
        <p:spPr>
          <a:xfrm>
            <a:off x="6426200" y="3886200"/>
            <a:ext cx="4918456"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&lt;html </a:t>
            </a:r>
            <a:r>
              <a:rPr lang="en-US" sz="1200" dirty="0">
                <a:solidFill>
                  <a:srgbClr val="9CC7F0"/>
                </a:solidFill>
                <a:latin typeface="JetBrains Mono" pitchFamily="34" charset="0"/>
                <a:ea typeface="JetBrains Mono" pitchFamily="34" charset="-122"/>
                <a:cs typeface="JetBrains Mono" pitchFamily="34" charset="-120"/>
              </a:rPr>
              <a:t>lang="en"</a:t>
            </a:r>
            <a:r>
              <a:rPr lang="en-US" sz="1200" dirty="0">
                <a:solidFill>
                  <a:srgbClr val="E6EAF0"/>
                </a:solidFill>
                <a:latin typeface="JetBrains Mono" pitchFamily="34" charset="0"/>
                <a:ea typeface="JetBrains Mono" pitchFamily="34" charset="-122"/>
                <a:cs typeface="JetBrains Mono" pitchFamily="34" charset="-120"/>
              </a:rPr>
              <a:t>&gt;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&lt;body&gt;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&lt;main&gt;</a:t>
            </a:r>
            <a:r>
              <a:rPr lang="en-US" sz="1200" dirty="0">
                <a:solidFill>
                  <a:srgbClr val="E6EAF0"/>
                </a:solidFill>
                <a:latin typeface="JetBrains Mono" pitchFamily="34" charset="0"/>
                <a:ea typeface="JetBrains Mono" pitchFamily="34" charset="-122"/>
                <a:cs typeface="JetBrains Mono" pitchFamily="34" charset="-120"/>
              </a:rPr>
              <a:t>...page content...</a:t>
            </a:r>
            <a:r>
              <a:rPr lang="en-US" sz="1200" dirty="0">
                <a:solidFill>
                  <a:srgbClr val="9CC7F0"/>
                </a:solidFill>
                <a:latin typeface="JetBrains Mono" pitchFamily="34" charset="0"/>
                <a:ea typeface="JetBrains Mono" pitchFamily="34" charset="-122"/>
                <a:cs typeface="JetBrains Mono" pitchFamily="34" charset="-120"/>
              </a:rPr>
              <a:t>&lt;/main&gt;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&lt;/body&gt;</a:t>
            </a:r>
            <a:endParaRPr lang="en-US" sz="1200" dirty="0"/>
          </a:p>
        </p:txBody>
      </p:sp>
      <p:sp>
        <p:nvSpPr>
          <p:cNvPr id="13" name="Text 10"/>
          <p:cNvSpPr/>
          <p:nvPr/>
        </p:nvSpPr>
        <p:spPr>
          <a:xfrm>
            <a:off x="812800" y="517145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After the fix the test passes. Keep it in CI so a new violation fails the build.</a:t>
            </a:r>
            <a:endParaRPr lang="en-US" sz="1400" dirty="0"/>
          </a:p>
        </p:txBody>
      </p:sp>
      <p:sp>
        <p:nvSpPr>
          <p:cNvPr id="14" name="Text 11"/>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5" name="Text 12"/>
          <p:cNvSpPr/>
          <p:nvPr/>
        </p:nvSpPr>
        <p:spPr>
          <a:xfrm>
            <a:off x="6221016" y="6238255"/>
            <a:ext cx="53129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Real first run of the test above · the page template in web/app.py, simplified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FUNCTIONAL TEST AUTOMATION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Functional automation at the right level</a:t>
            </a:r>
            <a:endParaRPr lang="en-US" sz="3200" dirty="0"/>
          </a:p>
        </p:txBody>
      </p:sp>
      <p:sp>
        <p:nvSpPr>
          <p:cNvPr id="4" name="Shape 2"/>
          <p:cNvSpPr/>
          <p:nvPr/>
        </p:nvSpPr>
        <p:spPr>
          <a:xfrm>
            <a:off x="11376025" y="1828800"/>
            <a:ext cx="0" cy="1666240"/>
          </a:xfrm>
          <a:prstGeom prst="line">
            <a:avLst/>
          </a:prstGeom>
          <a:noFill/>
          <a:ln w="6350">
            <a:solidFill>
              <a:srgbClr val="DDD8CC"/>
            </a:solidFill>
            <a:prstDash val="solid"/>
          </a:ln>
        </p:spPr>
      </p:sp>
      <p:sp>
        <p:nvSpPr>
          <p:cNvPr id="5" name="Shape 3"/>
          <p:cNvSpPr/>
          <p:nvPr/>
        </p:nvSpPr>
        <p:spPr>
          <a:xfrm>
            <a:off x="812800" y="34918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651000"/>
        </p:xfrm>
        <a:graphic>
          <a:graphicData uri="http://schemas.openxmlformats.org/drawingml/2006/table">
            <a:tbl>
              <a:tblPr/>
              <a:tblGrid>
                <a:gridCol w="2321255"/>
                <a:gridCol w="2743302"/>
                <a:gridCol w="2743302"/>
                <a:gridCol w="2743302"/>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Feature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Unit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UI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F1 Login lock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check_login() counts tries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423 after 3 wrong passwords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Error message shown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F3 Cart quantity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is_valid_quantity()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422 for 0 and for 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Add updates the badge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F4 SAVE20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Discount maths, ₹100 cap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Order total and discount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Total on the cart page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F6 Order 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Status transitions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GET /api/orders/{id}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Status page shows Placed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3749055"/>
            <a:ext cx="10566400" cy="553720"/>
          </a:xfrm>
          <a:prstGeom prst="roundRect">
            <a:avLst>
              <a:gd name="adj" fmla="val 13761"/>
            </a:avLst>
          </a:prstGeom>
          <a:solidFill>
            <a:srgbClr val="13233A"/>
          </a:solidFill>
          <a:ln/>
        </p:spPr>
      </p:sp>
      <p:sp>
        <p:nvSpPr>
          <p:cNvPr id="8" name="Text 5"/>
          <p:cNvSpPr/>
          <p:nvPr/>
        </p:nvSpPr>
        <p:spPr>
          <a:xfrm>
            <a:off x="1016000" y="3919215"/>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RULE</a:t>
            </a:r>
            <a:endParaRPr lang="en-US" sz="1200" dirty="0"/>
          </a:p>
        </p:txBody>
      </p:sp>
      <p:sp>
        <p:nvSpPr>
          <p:cNvPr id="9" name="Text 6"/>
          <p:cNvSpPr/>
          <p:nvPr/>
        </p:nvSpPr>
        <p:spPr>
          <a:xfrm>
            <a:off x="1584960" y="3901455"/>
            <a:ext cx="98787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Automate each rule once, at the lowest level that proves it. UI tests prove that the pieces work together.</a:t>
            </a:r>
            <a:endParaRPr lang="en-US" sz="1400" dirty="0"/>
          </a:p>
        </p:txBody>
      </p:sp>
      <p:sp>
        <p:nvSpPr>
          <p:cNvPr id="10" name="Shape 7"/>
          <p:cNvSpPr/>
          <p:nvPr/>
        </p:nvSpPr>
        <p:spPr>
          <a:xfrm>
            <a:off x="812800" y="4556770"/>
            <a:ext cx="10566400" cy="553720"/>
          </a:xfrm>
          <a:prstGeom prst="roundRect">
            <a:avLst>
              <a:gd name="adj" fmla="val 13761"/>
            </a:avLst>
          </a:prstGeom>
          <a:solidFill>
            <a:srgbClr val="DCE7F3"/>
          </a:solidFill>
          <a:ln/>
        </p:spPr>
      </p:sp>
      <p:sp>
        <p:nvSpPr>
          <p:cNvPr id="11" name="Text 8"/>
          <p:cNvSpPr/>
          <p:nvPr/>
        </p:nvSpPr>
        <p:spPr>
          <a:xfrm>
            <a:off x="1016000" y="4726955"/>
            <a:ext cx="883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TRACE IT</a:t>
            </a:r>
            <a:endParaRPr lang="en-US" sz="1200" dirty="0"/>
          </a:p>
        </p:txBody>
      </p:sp>
      <p:sp>
        <p:nvSpPr>
          <p:cNvPr id="12" name="Text 9"/>
          <p:cNvSpPr/>
          <p:nvPr/>
        </p:nvSpPr>
        <p:spPr>
          <a:xfrm>
            <a:off x="2001520" y="4709170"/>
            <a:ext cx="94497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Tag every test with its requirement, for example @pytest.mark.req("REQ-03"), so the RTM stays current.</a:t>
            </a:r>
            <a:endParaRPr lang="en-US" sz="1400" dirty="0"/>
          </a:p>
        </p:txBody>
      </p:sp>
      <p:sp>
        <p:nvSpPr>
          <p:cNvPr id="13" name="Text 10"/>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4" name="Text 11"/>
          <p:cNvSpPr/>
          <p:nvPr/>
        </p:nvSpPr>
        <p:spPr>
          <a:xfrm>
            <a:off x="7745968" y="6238255"/>
            <a:ext cx="37422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Requirement tags and the RTM: Module 2, Lecture 13</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FUNCTIONAL TEST AUTOMATION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Data-driven tests: one data file, two tools</a:t>
            </a:r>
            <a:endParaRPr lang="en-US" sz="3200" dirty="0"/>
          </a:p>
        </p:txBody>
      </p:sp>
      <p:sp>
        <p:nvSpPr>
          <p:cNvPr id="4" name="Text 2"/>
          <p:cNvSpPr/>
          <p:nvPr/>
        </p:nvSpPr>
        <p:spPr>
          <a:xfrm>
            <a:off x="812800" y="1828800"/>
            <a:ext cx="21583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api/cart-qty.csv</a:t>
            </a:r>
            <a:endParaRPr lang="en-US" sz="1200" dirty="0"/>
          </a:p>
        </p:txBody>
      </p:sp>
      <p:sp>
        <p:nvSpPr>
          <p:cNvPr id="5" name="Shape 3"/>
          <p:cNvSpPr/>
          <p:nvPr/>
        </p:nvSpPr>
        <p:spPr>
          <a:xfrm>
            <a:off x="812800" y="2118370"/>
            <a:ext cx="2095500" cy="1422400"/>
          </a:xfrm>
          <a:prstGeom prst="roundRect">
            <a:avLst>
              <a:gd name="adj" fmla="val 5357"/>
            </a:avLst>
          </a:prstGeom>
          <a:solidFill>
            <a:srgbClr val="13233A"/>
          </a:solidFill>
          <a:ln/>
        </p:spPr>
      </p:sp>
      <p:sp>
        <p:nvSpPr>
          <p:cNvPr id="6" name="Text 4"/>
          <p:cNvSpPr/>
          <p:nvPr/>
        </p:nvSpPr>
        <p:spPr>
          <a:xfrm>
            <a:off x="990600" y="2296170"/>
            <a:ext cx="1792097" cy="10922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qty,expected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1,201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10,201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0,422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11,422</a:t>
            </a:r>
            <a:endParaRPr lang="en-US" sz="1200" dirty="0"/>
          </a:p>
        </p:txBody>
      </p:sp>
      <p:sp>
        <p:nvSpPr>
          <p:cNvPr id="7" name="Text 5"/>
          <p:cNvSpPr/>
          <p:nvPr/>
        </p:nvSpPr>
        <p:spPr>
          <a:xfrm>
            <a:off x="3213100" y="1828800"/>
            <a:ext cx="84110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pytest · tests/api/test_cart_rules.py · 4 passed</a:t>
            </a:r>
            <a:endParaRPr lang="en-US" sz="1200" dirty="0"/>
          </a:p>
        </p:txBody>
      </p:sp>
      <p:sp>
        <p:nvSpPr>
          <p:cNvPr id="8" name="Shape 6"/>
          <p:cNvSpPr/>
          <p:nvPr/>
        </p:nvSpPr>
        <p:spPr>
          <a:xfrm>
            <a:off x="3213100" y="2118370"/>
            <a:ext cx="8166100" cy="1849120"/>
          </a:xfrm>
          <a:prstGeom prst="roundRect">
            <a:avLst>
              <a:gd name="adj" fmla="val 4121"/>
            </a:avLst>
          </a:prstGeom>
          <a:solidFill>
            <a:srgbClr val="13233A"/>
          </a:solidFill>
          <a:ln/>
        </p:spPr>
      </p:sp>
      <p:sp>
        <p:nvSpPr>
          <p:cNvPr id="9" name="Text 7"/>
          <p:cNvSpPr/>
          <p:nvPr/>
        </p:nvSpPr>
        <p:spPr>
          <a:xfrm>
            <a:off x="3390900" y="2296170"/>
            <a:ext cx="8044815" cy="15189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with</a:t>
            </a:r>
            <a:r>
              <a:rPr lang="en-US" sz="1200" dirty="0">
                <a:solidFill>
                  <a:srgbClr val="E6EAF0"/>
                </a:solidFill>
                <a:latin typeface="JetBrains Mono" pitchFamily="34" charset="0"/>
                <a:ea typeface="JetBrains Mono" pitchFamily="34" charset="-122"/>
                <a:cs typeface="JetBrains Mono" pitchFamily="34" charset="-120"/>
              </a:rPr>
              <a:t> open(</a:t>
            </a:r>
            <a:r>
              <a:rPr lang="en-US" sz="1200" dirty="0">
                <a:solidFill>
                  <a:srgbClr val="9CC7F0"/>
                </a:solidFill>
                <a:latin typeface="JetBrains Mono" pitchFamily="34" charset="0"/>
                <a:ea typeface="JetBrains Mono" pitchFamily="34" charset="-122"/>
                <a:cs typeface="JetBrains Mono" pitchFamily="34" charset="-120"/>
              </a:rPr>
              <a:t>"api/cart-qty.csv"</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a:t>
            </a:r>
            <a:r>
              <a:rPr lang="en-US" sz="1200" dirty="0">
                <a:solidFill>
                  <a:srgbClr val="E6EAF0"/>
                </a:solidFill>
                <a:latin typeface="JetBrains Mono" pitchFamily="34" charset="0"/>
                <a:ea typeface="JetBrains Mono" pitchFamily="34" charset="-122"/>
                <a:cs typeface="JetBrains Mono" pitchFamily="34" charset="-120"/>
              </a:rPr>
              <a:t> f:</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CASES = [(int(row[</a:t>
            </a:r>
            <a:r>
              <a:rPr lang="en-US" sz="1200" dirty="0">
                <a:solidFill>
                  <a:srgbClr val="9CC7F0"/>
                </a:solidFill>
                <a:latin typeface="JetBrains Mono" pitchFamily="34" charset="0"/>
                <a:ea typeface="JetBrains Mono" pitchFamily="34" charset="-122"/>
                <a:cs typeface="JetBrains Mono" pitchFamily="34" charset="-120"/>
              </a:rPr>
              <a:t>"qty"</a:t>
            </a:r>
            <a:r>
              <a:rPr lang="en-US" sz="1200" dirty="0">
                <a:solidFill>
                  <a:srgbClr val="E6EAF0"/>
                </a:solidFill>
                <a:latin typeface="JetBrains Mono" pitchFamily="34" charset="0"/>
                <a:ea typeface="JetBrains Mono" pitchFamily="34" charset="-122"/>
                <a:cs typeface="JetBrains Mono" pitchFamily="34" charset="-120"/>
              </a:rPr>
              <a:t>]), int(row[</a:t>
            </a:r>
            <a:r>
              <a:rPr lang="en-US" sz="1200" dirty="0">
                <a:solidFill>
                  <a:srgbClr val="9CC7F0"/>
                </a:solidFill>
                <a:latin typeface="JetBrains Mono" pitchFamily="34" charset="0"/>
                <a:ea typeface="JetBrains Mono" pitchFamily="34" charset="-122"/>
                <a:cs typeface="JetBrains Mono" pitchFamily="34" charset="-120"/>
              </a:rPr>
              <a:t>"expected"</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for</a:t>
            </a:r>
            <a:r>
              <a:rPr lang="en-US" sz="1200" dirty="0">
                <a:solidFill>
                  <a:srgbClr val="E6EAF0"/>
                </a:solidFill>
                <a:latin typeface="JetBrains Mono" pitchFamily="34" charset="0"/>
                <a:ea typeface="JetBrains Mono" pitchFamily="34" charset="-122"/>
                <a:cs typeface="JetBrains Mono" pitchFamily="34" charset="-120"/>
              </a:rPr>
              <a:t> row </a:t>
            </a:r>
            <a:r>
              <a:rPr lang="en-US" sz="1200" dirty="0">
                <a:solidFill>
                  <a:srgbClr val="F2A36B"/>
                </a:solidFill>
                <a:latin typeface="JetBrains Mono" pitchFamily="34" charset="0"/>
                <a:ea typeface="JetBrains Mono" pitchFamily="34" charset="-122"/>
                <a:cs typeface="JetBrains Mono" pitchFamily="34" charset="-120"/>
              </a:rPr>
              <a:t>in</a:t>
            </a:r>
            <a:r>
              <a:rPr lang="en-US" sz="1200" dirty="0">
                <a:solidFill>
                  <a:srgbClr val="E6EAF0"/>
                </a:solidFill>
                <a:latin typeface="JetBrains Mono" pitchFamily="34" charset="0"/>
                <a:ea typeface="JetBrains Mono" pitchFamily="34" charset="-122"/>
                <a:cs typeface="JetBrains Mono" pitchFamily="34" charset="-120"/>
              </a:rPr>
              <a:t> csv.DictReader(f)]</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@pytest.mark.parametrize(</a:t>
            </a:r>
            <a:r>
              <a:rPr lang="en-US" sz="1200" dirty="0">
                <a:solidFill>
                  <a:srgbClr val="9CC7F0"/>
                </a:solidFill>
                <a:latin typeface="JetBrains Mono" pitchFamily="34" charset="0"/>
                <a:ea typeface="JetBrains Mono" pitchFamily="34" charset="-122"/>
                <a:cs typeface="JetBrains Mono" pitchFamily="34" charset="-120"/>
              </a:rPr>
              <a:t>"qty, expected"</a:t>
            </a:r>
            <a:r>
              <a:rPr lang="en-US" sz="1200" dirty="0">
                <a:solidFill>
                  <a:srgbClr val="E6EAF0"/>
                </a:solidFill>
                <a:latin typeface="JetBrains Mono" pitchFamily="34" charset="0"/>
                <a:ea typeface="JetBrains Mono" pitchFamily="34" charset="-122"/>
                <a:cs typeface="JetBrains Mono" pitchFamily="34" charset="-120"/>
              </a:rPr>
              <a:t>, CASES)</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test_cart_quantity_rule(api, qty, expected):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 = api.post(</a:t>
            </a:r>
            <a:r>
              <a:rPr lang="en-US" sz="1200" dirty="0">
                <a:solidFill>
                  <a:srgbClr val="9CC7F0"/>
                </a:solidFill>
                <a:latin typeface="JetBrains Mono" pitchFamily="34" charset="0"/>
                <a:ea typeface="JetBrains Mono" pitchFamily="34" charset="-122"/>
                <a:cs typeface="JetBrains Mono" pitchFamily="34" charset="-120"/>
              </a:rPr>
              <a:t>f"{BASE_URL}/api/cart/items"</a:t>
            </a:r>
            <a:r>
              <a:rPr lang="en-US" sz="1200" dirty="0">
                <a:solidFill>
                  <a:srgbClr val="E6EAF0"/>
                </a:solidFill>
                <a:latin typeface="JetBrains Mono" pitchFamily="34" charset="0"/>
                <a:ea typeface="JetBrains Mono" pitchFamily="34" charset="-122"/>
                <a:cs typeface="JetBrains Mono" pitchFamily="34" charset="-120"/>
              </a:rPr>
              <a:t>, json={</a:t>
            </a:r>
            <a:r>
              <a:rPr lang="en-US" sz="1200" dirty="0">
                <a:solidFill>
                  <a:srgbClr val="9CC7F0"/>
                </a:solidFill>
                <a:latin typeface="JetBrains Mono" pitchFamily="34" charset="0"/>
                <a:ea typeface="JetBrains Mono" pitchFamily="34" charset="-122"/>
                <a:cs typeface="JetBrains Mono" pitchFamily="34" charset="-120"/>
              </a:rPr>
              <a:t>"item_id"</a:t>
            </a:r>
            <a:r>
              <a:rPr lang="en-US" sz="1200" dirty="0">
                <a:solidFill>
                  <a:srgbClr val="E6EAF0"/>
                </a:solidFill>
                <a:latin typeface="JetBrains Mono" pitchFamily="34" charset="0"/>
                <a:ea typeface="JetBrains Mono" pitchFamily="34" charset="-122"/>
                <a:cs typeface="JetBrains Mono" pitchFamily="34" charset="-120"/>
              </a:rPr>
              <a:t>: 1, </a:t>
            </a:r>
            <a:r>
              <a:rPr lang="en-US" sz="1200" dirty="0">
                <a:solidFill>
                  <a:srgbClr val="9CC7F0"/>
                </a:solidFill>
                <a:latin typeface="JetBrains Mono" pitchFamily="34" charset="0"/>
                <a:ea typeface="JetBrains Mono" pitchFamily="34" charset="-122"/>
                <a:cs typeface="JetBrains Mono" pitchFamily="34" charset="-120"/>
              </a:rPr>
              <a:t>"qty"</a:t>
            </a:r>
            <a:r>
              <a:rPr lang="en-US" sz="1200" dirty="0">
                <a:solidFill>
                  <a:srgbClr val="E6EAF0"/>
                </a:solidFill>
                <a:latin typeface="JetBrains Mono" pitchFamily="34" charset="0"/>
                <a:ea typeface="JetBrains Mono" pitchFamily="34" charset="-122"/>
                <a:cs typeface="JetBrains Mono" pitchFamily="34" charset="-120"/>
              </a:rPr>
              <a:t>: qty})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r.status_code == expected</a:t>
            </a:r>
            <a:endParaRPr lang="en-US" sz="1200" dirty="0"/>
          </a:p>
        </p:txBody>
      </p:sp>
      <p:sp>
        <p:nvSpPr>
          <p:cNvPr id="10" name="Text 8"/>
          <p:cNvSpPr/>
          <p:nvPr/>
        </p:nvSpPr>
        <p:spPr>
          <a:xfrm>
            <a:off x="812800" y="422148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Newman · the same file drives four iterations, 0 failures (Lecture 19)</a:t>
            </a:r>
            <a:endParaRPr lang="en-US" sz="1200" dirty="0"/>
          </a:p>
        </p:txBody>
      </p:sp>
      <p:sp>
        <p:nvSpPr>
          <p:cNvPr id="11" name="Shape 9"/>
          <p:cNvSpPr/>
          <p:nvPr/>
        </p:nvSpPr>
        <p:spPr>
          <a:xfrm>
            <a:off x="812800" y="4511055"/>
            <a:ext cx="10566400" cy="782320"/>
          </a:xfrm>
          <a:prstGeom prst="roundRect">
            <a:avLst>
              <a:gd name="adj" fmla="val 9740"/>
            </a:avLst>
          </a:prstGeom>
          <a:solidFill>
            <a:srgbClr val="13233A"/>
          </a:solidFill>
          <a:ln/>
        </p:spPr>
      </p:sp>
      <p:sp>
        <p:nvSpPr>
          <p:cNvPr id="12" name="Text 10"/>
          <p:cNvSpPr/>
          <p:nvPr/>
        </p:nvSpPr>
        <p:spPr>
          <a:xfrm>
            <a:off x="990600" y="4688855"/>
            <a:ext cx="10517124" cy="4521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newman run canteen.postman_collection.json -e staging.postman_environment.json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--env-var </a:t>
            </a:r>
            <a:r>
              <a:rPr lang="en-US" sz="1200" dirty="0">
                <a:solidFill>
                  <a:srgbClr val="9CC7F0"/>
                </a:solidFill>
                <a:latin typeface="JetBrains Mono" pitchFamily="34" charset="0"/>
                <a:ea typeface="JetBrains Mono" pitchFamily="34" charset="-122"/>
                <a:cs typeface="JetBrains Mono" pitchFamily="34" charset="-120"/>
              </a:rPr>
              <a:t>"password=$CANTEEN_PASSWORD"</a:t>
            </a:r>
            <a:r>
              <a:rPr lang="en-US" sz="1200" dirty="0">
                <a:solidFill>
                  <a:srgbClr val="E6EAF0"/>
                </a:solidFill>
                <a:latin typeface="JetBrains Mono" pitchFamily="34" charset="0"/>
                <a:ea typeface="JetBrains Mono" pitchFamily="34" charset="-122"/>
                <a:cs typeface="JetBrains Mono" pitchFamily="34" charset="-120"/>
              </a:rPr>
              <a:t> --folder </a:t>
            </a:r>
            <a:r>
              <a:rPr lang="en-US" sz="1200" dirty="0">
                <a:solidFill>
                  <a:srgbClr val="9CC7F0"/>
                </a:solidFill>
                <a:latin typeface="JetBrains Mono" pitchFamily="34" charset="0"/>
                <a:ea typeface="JetBrains Mono" pitchFamily="34" charset="-122"/>
                <a:cs typeface="JetBrains Mono" pitchFamily="34" charset="-120"/>
              </a:rPr>
              <a:t>"Cart rules"</a:t>
            </a:r>
            <a:r>
              <a:rPr lang="en-US" sz="1200" dirty="0">
                <a:solidFill>
                  <a:srgbClr val="E6EAF0"/>
                </a:solidFill>
                <a:latin typeface="JetBrains Mono" pitchFamily="34" charset="0"/>
                <a:ea typeface="JetBrains Mono" pitchFamily="34" charset="-122"/>
                <a:cs typeface="JetBrains Mono" pitchFamily="34" charset="-120"/>
              </a:rPr>
              <a:t> -d cart-qty.csv</a:t>
            </a:r>
            <a:endParaRPr lang="en-US" sz="1200" dirty="0"/>
          </a:p>
        </p:txBody>
      </p:sp>
      <p:sp>
        <p:nvSpPr>
          <p:cNvPr id="13" name="Text 11"/>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4" name="Text 12"/>
          <p:cNvSpPr/>
          <p:nvPr/>
        </p:nvSpPr>
        <p:spPr>
          <a:xfrm>
            <a:off x="5772388" y="6238255"/>
            <a:ext cx="57750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Add a row to the CSV and both suites test the new case · data-driven design: Lab 7</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FUNCTIONAL AND NON-FUNCTIONAL</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Functional vs non-functional automation</a:t>
            </a:r>
            <a:endParaRPr lang="en-US" sz="3200" dirty="0"/>
          </a:p>
        </p:txBody>
      </p:sp>
      <p:sp>
        <p:nvSpPr>
          <p:cNvPr id="4" name="Shape 2"/>
          <p:cNvSpPr/>
          <p:nvPr/>
        </p:nvSpPr>
        <p:spPr>
          <a:xfrm>
            <a:off x="11376025" y="1828800"/>
            <a:ext cx="0" cy="2656840"/>
          </a:xfrm>
          <a:prstGeom prst="line">
            <a:avLst/>
          </a:prstGeom>
          <a:noFill/>
          <a:ln w="6350">
            <a:solidFill>
              <a:srgbClr val="DDD8CC"/>
            </a:solidFill>
            <a:prstDash val="solid"/>
          </a:ln>
        </p:spPr>
      </p:sp>
      <p:sp>
        <p:nvSpPr>
          <p:cNvPr id="5" name="Shape 3"/>
          <p:cNvSpPr/>
          <p:nvPr/>
        </p:nvSpPr>
        <p:spPr>
          <a:xfrm>
            <a:off x="812800" y="44824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41600"/>
        </p:xfrm>
        <a:graphic>
          <a:graphicData uri="http://schemas.openxmlformats.org/drawingml/2006/table">
            <a:tbl>
              <a:tblPr/>
              <a:tblGrid>
                <a:gridCol w="2110232"/>
                <a:gridCol w="4220464"/>
                <a:gridCol w="4220464"/>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Aspect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Functional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Non-functional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Does it do the right thing?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Does it do it well enough?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Pass or fail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An exact expected 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threshold, such as p95 under 2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Environment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Any stable test environment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Production-like servers and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commit and merge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Nightly or before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Run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Seconds to minutes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Minutes to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Small, precise cases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Realistic volumes and user mixes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Tools 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 Selenium, Robot, Postman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Locust, ZAP, axe-core, SonarQube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739655"/>
            <a:ext cx="10566400" cy="802640"/>
          </a:xfrm>
          <a:prstGeom prst="roundRect">
            <a:avLst>
              <a:gd name="adj" fmla="val 9494"/>
            </a:avLst>
          </a:prstGeom>
          <a:solidFill>
            <a:srgbClr val="13233A"/>
          </a:solidFill>
          <a:ln/>
        </p:spPr>
      </p:sp>
      <p:sp>
        <p:nvSpPr>
          <p:cNvPr id="8" name="Text 5"/>
          <p:cNvSpPr/>
          <p:nvPr/>
        </p:nvSpPr>
        <p:spPr>
          <a:xfrm>
            <a:off x="1016000" y="5034285"/>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BOTH</a:t>
            </a:r>
            <a:endParaRPr lang="en-US" sz="1200" dirty="0"/>
          </a:p>
        </p:txBody>
      </p:sp>
      <p:sp>
        <p:nvSpPr>
          <p:cNvPr id="9" name="Text 6"/>
          <p:cNvSpPr/>
          <p:nvPr/>
        </p:nvSpPr>
        <p:spPr>
          <a:xfrm>
            <a:off x="1584960" y="4892055"/>
            <a:ext cx="98787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Functional checks gate every change; non-functional checks gate the release. Fast ones, like axe, can run on every commit.</a:t>
            </a:r>
            <a:endParaRPr lang="en-US" sz="14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7291625" y="6238255"/>
            <a:ext cx="42102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Where each stage runs in the pipeline: Module 4, Lecture 23</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L16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16</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REQ-06: the menu loads within 2 s at the lunch peak. What rule would you put in the Locust quitting hook?</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ZAP returns exit code 2 on the nightly run. What does that mean, and should it block the release?</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axe reports zero violations on every page. Is the app accessible? What else would you check?</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You add the row 5,201 to cart-qty.csv. Which suites pick it up, and what should happen?</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17</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3 · LECTURE 17 · 40 MINUTES</a:t>
            </a:r>
            <a:endParaRPr lang="en-US" sz="1200" dirty="0"/>
          </a:p>
        </p:txBody>
      </p:sp>
      <p:sp>
        <p:nvSpPr>
          <p:cNvPr id="4" name="Text 2"/>
          <p:cNvSpPr/>
          <p:nvPr/>
        </p:nvSpPr>
        <p:spPr>
          <a:xfrm>
            <a:off x="812800" y="4211315"/>
            <a:ext cx="10464800" cy="77216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Selenium WebDriver</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sp>
      <p:sp>
        <p:nvSpPr>
          <p:cNvPr id="6" name="Text 4"/>
          <p:cNvSpPr/>
          <p:nvPr/>
        </p:nvSpPr>
        <p:spPr>
          <a:xfrm>
            <a:off x="8128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1</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Architecture</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sp>
      <p:sp>
        <p:nvSpPr>
          <p:cNvPr id="9" name="Text 7"/>
          <p:cNvSpPr/>
          <p:nvPr/>
        </p:nvSpPr>
        <p:spPr>
          <a:xfrm>
            <a:off x="39116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2</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Locators</a:t>
            </a:r>
            <a:endParaRPr lang="en-US" sz="2000" dirty="0"/>
          </a:p>
        </p:txBody>
      </p:sp>
      <p:sp>
        <p:nvSpPr>
          <p:cNvPr id="11" name="Shape 9"/>
          <p:cNvSpPr/>
          <p:nvPr/>
        </p:nvSpPr>
        <p:spPr>
          <a:xfrm>
            <a:off x="7010400" y="5320035"/>
            <a:ext cx="2794000" cy="0"/>
          </a:xfrm>
          <a:prstGeom prst="line">
            <a:avLst/>
          </a:prstGeom>
          <a:noFill/>
          <a:ln w="12700">
            <a:solidFill>
              <a:srgbClr val="3A5476"/>
            </a:solidFill>
            <a:prstDash val="solid"/>
          </a:ln>
        </p:spPr>
      </p:sp>
      <p:sp>
        <p:nvSpPr>
          <p:cNvPr id="12" name="Text 10"/>
          <p:cNvSpPr/>
          <p:nvPr/>
        </p:nvSpPr>
        <p:spPr>
          <a:xfrm>
            <a:off x="70104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3</a:t>
            </a:r>
            <a:endParaRPr lang="en-US" sz="1200" dirty="0"/>
          </a:p>
        </p:txBody>
      </p:sp>
      <p:sp>
        <p:nvSpPr>
          <p:cNvPr id="13" name="Text 11"/>
          <p:cNvSpPr/>
          <p:nvPr/>
        </p:nvSpPr>
        <p:spPr>
          <a:xfrm>
            <a:off x="70104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Waits</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SELENIUM WEBDRIVER</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Selenium project today</a:t>
            </a:r>
            <a:endParaRPr lang="en-US" sz="3200" dirty="0"/>
          </a:p>
        </p:txBody>
      </p:sp>
      <p:sp>
        <p:nvSpPr>
          <p:cNvPr id="4" name="Shape 2"/>
          <p:cNvSpPr/>
          <p:nvPr/>
        </p:nvSpPr>
        <p:spPr>
          <a:xfrm>
            <a:off x="812800" y="1828800"/>
            <a:ext cx="3420507" cy="1338580"/>
          </a:xfrm>
          <a:prstGeom prst="roundRect">
            <a:avLst>
              <a:gd name="adj" fmla="val 5693"/>
            </a:avLst>
          </a:prstGeom>
          <a:solidFill>
            <a:srgbClr val="13233A"/>
          </a:solidFill>
          <a:ln/>
        </p:spPr>
      </p:sp>
      <p:sp>
        <p:nvSpPr>
          <p:cNvPr id="5" name="Text 3"/>
          <p:cNvSpPr/>
          <p:nvPr/>
        </p:nvSpPr>
        <p:spPr>
          <a:xfrm>
            <a:off x="1016000" y="2006600"/>
            <a:ext cx="31045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36B"/>
                </a:solidFill>
                <a:latin typeface="JetBrains Mono" pitchFamily="34" charset="0"/>
                <a:ea typeface="JetBrains Mono" pitchFamily="34" charset="-122"/>
                <a:cs typeface="JetBrains Mono" pitchFamily="34" charset="-120"/>
              </a:rPr>
              <a:t>This lecture</a:t>
            </a:r>
            <a:endParaRPr lang="en-US" sz="1200" dirty="0"/>
          </a:p>
        </p:txBody>
      </p:sp>
      <p:sp>
        <p:nvSpPr>
          <p:cNvPr id="6" name="Text 4"/>
          <p:cNvSpPr/>
          <p:nvPr/>
        </p:nvSpPr>
        <p:spPr>
          <a:xfrm>
            <a:off x="1016000" y="2270770"/>
            <a:ext cx="310453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WebDriver</a:t>
            </a:r>
            <a:endParaRPr lang="en-US" sz="1400" dirty="0"/>
          </a:p>
        </p:txBody>
      </p:sp>
      <p:sp>
        <p:nvSpPr>
          <p:cNvPr id="7" name="Text 5"/>
          <p:cNvSpPr/>
          <p:nvPr/>
        </p:nvSpPr>
        <p:spPr>
          <a:xfrm>
            <a:off x="1016000" y="25527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Drives a real browser from code through the W3C WebDriver standard</a:t>
            </a:r>
            <a:endParaRPr lang="en-US" sz="1200" dirty="0"/>
          </a:p>
        </p:txBody>
      </p:sp>
      <p:sp>
        <p:nvSpPr>
          <p:cNvPr id="8" name="Shape 6"/>
          <p:cNvSpPr/>
          <p:nvPr/>
        </p:nvSpPr>
        <p:spPr>
          <a:xfrm>
            <a:off x="4388882" y="1831975"/>
            <a:ext cx="3414157" cy="1332230"/>
          </a:xfrm>
          <a:prstGeom prst="roundRect">
            <a:avLst>
              <a:gd name="adj" fmla="val 5481"/>
            </a:avLst>
          </a:prstGeom>
          <a:solidFill>
            <a:srgbClr val="FCFBF7"/>
          </a:solidFill>
          <a:ln w="6350">
            <a:solidFill>
              <a:srgbClr val="DDD8CC"/>
            </a:solidFill>
            <a:prstDash val="solid"/>
          </a:ln>
        </p:spPr>
      </p:sp>
      <p:sp>
        <p:nvSpPr>
          <p:cNvPr id="9" name="Text 7"/>
          <p:cNvSpPr/>
          <p:nvPr/>
        </p:nvSpPr>
        <p:spPr>
          <a:xfrm>
            <a:off x="4593987" y="20116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Lab 8 · Module 4</a:t>
            </a:r>
            <a:endParaRPr lang="en-US" sz="1200" dirty="0"/>
          </a:p>
        </p:txBody>
      </p:sp>
      <p:sp>
        <p:nvSpPr>
          <p:cNvPr id="10" name="Text 8"/>
          <p:cNvSpPr/>
          <p:nvPr/>
        </p:nvSpPr>
        <p:spPr>
          <a:xfrm>
            <a:off x="4593987" y="2275855"/>
            <a:ext cx="309406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Grid</a:t>
            </a:r>
            <a:endParaRPr lang="en-US" sz="1400" dirty="0"/>
          </a:p>
        </p:txBody>
      </p:sp>
      <p:sp>
        <p:nvSpPr>
          <p:cNvPr id="11" name="Text 9"/>
          <p:cNvSpPr/>
          <p:nvPr/>
        </p:nvSpPr>
        <p:spPr>
          <a:xfrm>
            <a:off x="4593987" y="2557785"/>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Runs WebDriver sessions on many machines and browsers in parallel</a:t>
            </a:r>
            <a:endParaRPr lang="en-US" sz="1200" dirty="0"/>
          </a:p>
        </p:txBody>
      </p:sp>
      <p:sp>
        <p:nvSpPr>
          <p:cNvPr id="12" name="Shape 10"/>
          <p:cNvSpPr/>
          <p:nvPr/>
        </p:nvSpPr>
        <p:spPr>
          <a:xfrm>
            <a:off x="7961789" y="1831975"/>
            <a:ext cx="3414157" cy="1332230"/>
          </a:xfrm>
          <a:prstGeom prst="roundRect">
            <a:avLst>
              <a:gd name="adj" fmla="val 5481"/>
            </a:avLst>
          </a:prstGeom>
          <a:solidFill>
            <a:srgbClr val="FCFBF7"/>
          </a:solidFill>
          <a:ln w="6350">
            <a:solidFill>
              <a:srgbClr val="DDD8CC"/>
            </a:solidFill>
            <a:prstDash val="solid"/>
          </a:ln>
        </p:spPr>
      </p:sp>
      <p:sp>
        <p:nvSpPr>
          <p:cNvPr id="13" name="Text 11"/>
          <p:cNvSpPr/>
          <p:nvPr/>
        </p:nvSpPr>
        <p:spPr>
          <a:xfrm>
            <a:off x="8166894" y="20116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Module 1</a:t>
            </a:r>
            <a:endParaRPr lang="en-US" sz="1200" dirty="0"/>
          </a:p>
        </p:txBody>
      </p:sp>
      <p:sp>
        <p:nvSpPr>
          <p:cNvPr id="14" name="Text 12"/>
          <p:cNvSpPr/>
          <p:nvPr/>
        </p:nvSpPr>
        <p:spPr>
          <a:xfrm>
            <a:off x="8166894" y="2275855"/>
            <a:ext cx="309406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IDE</a:t>
            </a:r>
            <a:endParaRPr lang="en-US" sz="1400" dirty="0"/>
          </a:p>
        </p:txBody>
      </p:sp>
      <p:sp>
        <p:nvSpPr>
          <p:cNvPr id="15" name="Text 13"/>
          <p:cNvSpPr/>
          <p:nvPr/>
        </p:nvSpPr>
        <p:spPr>
          <a:xfrm>
            <a:off x="8166894" y="2557785"/>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browser extension that records and plays back clicks</a:t>
            </a:r>
            <a:endParaRPr lang="en-US" sz="1200" dirty="0"/>
          </a:p>
        </p:txBody>
      </p:sp>
      <p:sp>
        <p:nvSpPr>
          <p:cNvPr id="16" name="Shape 14"/>
          <p:cNvSpPr/>
          <p:nvPr/>
        </p:nvSpPr>
        <p:spPr>
          <a:xfrm>
            <a:off x="812800" y="3427735"/>
            <a:ext cx="2527300" cy="0"/>
          </a:xfrm>
          <a:prstGeom prst="line">
            <a:avLst/>
          </a:prstGeom>
          <a:noFill/>
          <a:ln w="12700">
            <a:solidFill>
              <a:srgbClr val="13233A"/>
            </a:solidFill>
            <a:prstDash val="solid"/>
          </a:ln>
        </p:spPr>
      </p:sp>
      <p:sp>
        <p:nvSpPr>
          <p:cNvPr id="17" name="Text 15"/>
          <p:cNvSpPr/>
          <p:nvPr/>
        </p:nvSpPr>
        <p:spPr>
          <a:xfrm>
            <a:off x="812800" y="3520455"/>
            <a:ext cx="2603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5 June 2018</a:t>
            </a:r>
            <a:endParaRPr lang="en-US" sz="1200" dirty="0"/>
          </a:p>
        </p:txBody>
      </p:sp>
      <p:sp>
        <p:nvSpPr>
          <p:cNvPr id="18" name="Text 16"/>
          <p:cNvSpPr/>
          <p:nvPr/>
        </p:nvSpPr>
        <p:spPr>
          <a:xfrm>
            <a:off x="812800" y="3771900"/>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W3C WebDriver becomes a W3C Recommendation</a:t>
            </a:r>
            <a:endParaRPr lang="en-US" sz="1200" dirty="0"/>
          </a:p>
        </p:txBody>
      </p:sp>
      <p:sp>
        <p:nvSpPr>
          <p:cNvPr id="19" name="Shape 17"/>
          <p:cNvSpPr/>
          <p:nvPr/>
        </p:nvSpPr>
        <p:spPr>
          <a:xfrm>
            <a:off x="3492500" y="3427735"/>
            <a:ext cx="2527300" cy="0"/>
          </a:xfrm>
          <a:prstGeom prst="line">
            <a:avLst/>
          </a:prstGeom>
          <a:noFill/>
          <a:ln w="12700">
            <a:solidFill>
              <a:srgbClr val="13233A"/>
            </a:solidFill>
            <a:prstDash val="solid"/>
          </a:ln>
        </p:spPr>
      </p:sp>
      <p:sp>
        <p:nvSpPr>
          <p:cNvPr id="20" name="Text 18"/>
          <p:cNvSpPr/>
          <p:nvPr/>
        </p:nvSpPr>
        <p:spPr>
          <a:xfrm>
            <a:off x="3492500" y="3520455"/>
            <a:ext cx="2603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WebDriver BiDi</a:t>
            </a:r>
            <a:endParaRPr lang="en-US" sz="1200" dirty="0"/>
          </a:p>
        </p:txBody>
      </p:sp>
      <p:sp>
        <p:nvSpPr>
          <p:cNvPr id="21" name="Text 19"/>
          <p:cNvSpPr/>
          <p:nvPr/>
        </p:nvSpPr>
        <p:spPr>
          <a:xfrm>
            <a:off x="3492500" y="3771900"/>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Two-way protocol, still a W3C draft; Selenium is moving to it</a:t>
            </a:r>
            <a:endParaRPr lang="en-US" sz="1200" dirty="0"/>
          </a:p>
        </p:txBody>
      </p:sp>
      <p:sp>
        <p:nvSpPr>
          <p:cNvPr id="22" name="Shape 20"/>
          <p:cNvSpPr/>
          <p:nvPr/>
        </p:nvSpPr>
        <p:spPr>
          <a:xfrm>
            <a:off x="6172200" y="3427735"/>
            <a:ext cx="2527300" cy="0"/>
          </a:xfrm>
          <a:prstGeom prst="line">
            <a:avLst/>
          </a:prstGeom>
          <a:noFill/>
          <a:ln w="12700">
            <a:solidFill>
              <a:srgbClr val="13233A"/>
            </a:solidFill>
            <a:prstDash val="solid"/>
          </a:ln>
        </p:spPr>
      </p:sp>
      <p:sp>
        <p:nvSpPr>
          <p:cNvPr id="23" name="Text 21"/>
          <p:cNvSpPr/>
          <p:nvPr/>
        </p:nvSpPr>
        <p:spPr>
          <a:xfrm>
            <a:off x="6172200" y="3520455"/>
            <a:ext cx="2603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Selenium 4.49.0</a:t>
            </a:r>
            <a:endParaRPr lang="en-US" sz="1200" dirty="0"/>
          </a:p>
        </p:txBody>
      </p:sp>
      <p:sp>
        <p:nvSpPr>
          <p:cNvPr id="24" name="Text 22"/>
          <p:cNvSpPr/>
          <p:nvPr/>
        </p:nvSpPr>
        <p:spPr>
          <a:xfrm>
            <a:off x="6172200" y="3771900"/>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Released 9 September 2026; used for this module</a:t>
            </a:r>
            <a:endParaRPr lang="en-US" sz="1200" dirty="0"/>
          </a:p>
        </p:txBody>
      </p:sp>
      <p:sp>
        <p:nvSpPr>
          <p:cNvPr id="25" name="Shape 23"/>
          <p:cNvSpPr/>
          <p:nvPr/>
        </p:nvSpPr>
        <p:spPr>
          <a:xfrm>
            <a:off x="8851900" y="3427735"/>
            <a:ext cx="2527300" cy="0"/>
          </a:xfrm>
          <a:prstGeom prst="line">
            <a:avLst/>
          </a:prstGeom>
          <a:noFill/>
          <a:ln w="12700">
            <a:solidFill>
              <a:srgbClr val="13233A"/>
            </a:solidFill>
            <a:prstDash val="solid"/>
          </a:ln>
        </p:spPr>
      </p:sp>
      <p:sp>
        <p:nvSpPr>
          <p:cNvPr id="26" name="Text 24"/>
          <p:cNvSpPr/>
          <p:nvPr/>
        </p:nvSpPr>
        <p:spPr>
          <a:xfrm>
            <a:off x="8851900" y="3520455"/>
            <a:ext cx="2603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Five bindings</a:t>
            </a:r>
            <a:endParaRPr lang="en-US" sz="1200" dirty="0"/>
          </a:p>
        </p:txBody>
      </p:sp>
      <p:sp>
        <p:nvSpPr>
          <p:cNvPr id="27" name="Text 25"/>
          <p:cNvSpPr/>
          <p:nvPr/>
        </p:nvSpPr>
        <p:spPr>
          <a:xfrm>
            <a:off x="8851900" y="3771900"/>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Java, Python, C#, Ruby and JavaScript</a:t>
            </a:r>
            <a:endParaRPr lang="en-US" sz="1200" dirty="0"/>
          </a:p>
        </p:txBody>
      </p:sp>
      <p:sp>
        <p:nvSpPr>
          <p:cNvPr id="28" name="Text 26"/>
          <p:cNvSpPr/>
          <p:nvPr/>
        </p:nvSpPr>
        <p:spPr>
          <a:xfrm>
            <a:off x="812800" y="445261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This course writes Selenium tests in Python and runs them with pytest.</a:t>
            </a:r>
            <a:endParaRPr lang="en-US" sz="1400" dirty="0"/>
          </a:p>
        </p:txBody>
      </p:sp>
      <p:sp>
        <p:nvSpPr>
          <p:cNvPr id="29" name="Text 2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30" name="Text 28"/>
          <p:cNvSpPr/>
          <p:nvPr/>
        </p:nvSpPr>
        <p:spPr>
          <a:xfrm>
            <a:off x="4125675" y="6238255"/>
            <a:ext cx="74711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Sources: selenium.dev documentation and downloads · w3.org/TR/webdriver1 · w3.org/TR/webdriver-bidi</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ARCHITECTURE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From your test to the browser</a:t>
            </a:r>
            <a:endParaRPr lang="en-US" sz="3200" dirty="0"/>
          </a:p>
        </p:txBody>
      </p:sp>
      <p:sp>
        <p:nvSpPr>
          <p:cNvPr id="4" name="Shape 2"/>
          <p:cNvSpPr/>
          <p:nvPr/>
        </p:nvSpPr>
        <p:spPr>
          <a:xfrm>
            <a:off x="812800" y="2273300"/>
            <a:ext cx="2540000" cy="1206500"/>
          </a:xfrm>
          <a:prstGeom prst="roundRect">
            <a:avLst>
              <a:gd name="adj" fmla="val 6316"/>
            </a:avLst>
          </a:prstGeom>
          <a:solidFill>
            <a:srgbClr val="13233A"/>
          </a:solidFill>
          <a:ln/>
        </p:spPr>
      </p:sp>
      <p:sp>
        <p:nvSpPr>
          <p:cNvPr id="5" name="Text 3"/>
          <p:cNvSpPr/>
          <p:nvPr/>
        </p:nvSpPr>
        <p:spPr>
          <a:xfrm>
            <a:off x="965200" y="2400300"/>
            <a:ext cx="230225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Your test</a:t>
            </a:r>
            <a:endParaRPr lang="en-US" sz="1400" dirty="0"/>
          </a:p>
        </p:txBody>
      </p:sp>
      <p:sp>
        <p:nvSpPr>
          <p:cNvPr id="6" name="Text 4"/>
          <p:cNvSpPr/>
          <p:nvPr/>
        </p:nvSpPr>
        <p:spPr>
          <a:xfrm>
            <a:off x="965200" y="2656855"/>
            <a:ext cx="23022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pytest and the Selenium Python bindings</a:t>
            </a:r>
            <a:endParaRPr lang="en-US" sz="1200" dirty="0"/>
          </a:p>
        </p:txBody>
      </p:sp>
      <p:sp>
        <p:nvSpPr>
          <p:cNvPr id="7" name="Shape 5"/>
          <p:cNvSpPr/>
          <p:nvPr/>
        </p:nvSpPr>
        <p:spPr>
          <a:xfrm>
            <a:off x="4371975" y="2276475"/>
            <a:ext cx="2533650" cy="1200150"/>
          </a:xfrm>
          <a:prstGeom prst="roundRect">
            <a:avLst>
              <a:gd name="adj" fmla="val 6085"/>
            </a:avLst>
          </a:prstGeom>
          <a:solidFill>
            <a:srgbClr val="FCFBF7"/>
          </a:solidFill>
          <a:ln w="6350">
            <a:solidFill>
              <a:srgbClr val="C9C2B2"/>
            </a:solidFill>
            <a:prstDash val="solid"/>
          </a:ln>
        </p:spPr>
      </p:sp>
      <p:sp>
        <p:nvSpPr>
          <p:cNvPr id="8" name="Text 6"/>
          <p:cNvSpPr/>
          <p:nvPr/>
        </p:nvSpPr>
        <p:spPr>
          <a:xfrm>
            <a:off x="4526280" y="2405385"/>
            <a:ext cx="229179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Browser driver</a:t>
            </a:r>
            <a:endParaRPr lang="en-US" sz="1400" dirty="0"/>
          </a:p>
        </p:txBody>
      </p:sp>
      <p:sp>
        <p:nvSpPr>
          <p:cNvPr id="9" name="Text 7"/>
          <p:cNvSpPr/>
          <p:nvPr/>
        </p:nvSpPr>
        <p:spPr>
          <a:xfrm>
            <a:off x="4526280" y="2661915"/>
            <a:ext cx="22917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chromedriver, geckodriver, msedgedriver, safaridriver</a:t>
            </a:r>
            <a:endParaRPr lang="en-US" sz="1200" dirty="0"/>
          </a:p>
        </p:txBody>
      </p:sp>
      <p:sp>
        <p:nvSpPr>
          <p:cNvPr id="10" name="Shape 8"/>
          <p:cNvSpPr/>
          <p:nvPr/>
        </p:nvSpPr>
        <p:spPr>
          <a:xfrm>
            <a:off x="7924800" y="2273300"/>
            <a:ext cx="2540000" cy="1206500"/>
          </a:xfrm>
          <a:prstGeom prst="roundRect">
            <a:avLst>
              <a:gd name="adj" fmla="val 6316"/>
            </a:avLst>
          </a:prstGeom>
          <a:solidFill>
            <a:srgbClr val="E98B53"/>
          </a:solidFill>
          <a:ln/>
        </p:spPr>
      </p:sp>
      <p:sp>
        <p:nvSpPr>
          <p:cNvPr id="11" name="Text 9"/>
          <p:cNvSpPr/>
          <p:nvPr/>
        </p:nvSpPr>
        <p:spPr>
          <a:xfrm>
            <a:off x="8077200" y="2400300"/>
            <a:ext cx="230225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Browser</a:t>
            </a:r>
            <a:endParaRPr lang="en-US" sz="1400" dirty="0"/>
          </a:p>
        </p:txBody>
      </p:sp>
      <p:sp>
        <p:nvSpPr>
          <p:cNvPr id="12" name="Text 10"/>
          <p:cNvSpPr/>
          <p:nvPr/>
        </p:nvSpPr>
        <p:spPr>
          <a:xfrm>
            <a:off x="8077200" y="2656855"/>
            <a:ext cx="23022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Chrome, Firefox, Edge, Safari</a:t>
            </a:r>
            <a:endParaRPr lang="en-US" sz="1200" dirty="0"/>
          </a:p>
        </p:txBody>
      </p:sp>
      <p:sp>
        <p:nvSpPr>
          <p:cNvPr id="13" name="Shape 11"/>
          <p:cNvSpPr/>
          <p:nvPr/>
        </p:nvSpPr>
        <p:spPr>
          <a:xfrm>
            <a:off x="812800" y="3924300"/>
            <a:ext cx="2540000" cy="952500"/>
          </a:xfrm>
          <a:prstGeom prst="roundRect">
            <a:avLst>
              <a:gd name="adj" fmla="val 8000"/>
            </a:avLst>
          </a:prstGeom>
          <a:solidFill>
            <a:srgbClr val="DCE7F3"/>
          </a:solidFill>
          <a:ln/>
        </p:spPr>
      </p:sp>
      <p:sp>
        <p:nvSpPr>
          <p:cNvPr id="14" name="Text 12"/>
          <p:cNvSpPr/>
          <p:nvPr/>
        </p:nvSpPr>
        <p:spPr>
          <a:xfrm>
            <a:off x="965200" y="4051300"/>
            <a:ext cx="230225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Selenium Grid</a:t>
            </a:r>
            <a:endParaRPr lang="en-US" sz="1400" dirty="0"/>
          </a:p>
        </p:txBody>
      </p:sp>
      <p:sp>
        <p:nvSpPr>
          <p:cNvPr id="15" name="Text 13"/>
          <p:cNvSpPr/>
          <p:nvPr/>
        </p:nvSpPr>
        <p:spPr>
          <a:xfrm>
            <a:off x="965200" y="4307855"/>
            <a:ext cx="23022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Remote runs on port 4444: the Grid picks a node</a:t>
            </a:r>
            <a:endParaRPr lang="en-US" sz="1200" dirty="0"/>
          </a:p>
        </p:txBody>
      </p:sp>
      <p:sp>
        <p:nvSpPr>
          <p:cNvPr id="16" name="Shape 14"/>
          <p:cNvSpPr/>
          <p:nvPr/>
        </p:nvSpPr>
        <p:spPr>
          <a:xfrm>
            <a:off x="4368800" y="3924300"/>
            <a:ext cx="2540000" cy="952500"/>
          </a:xfrm>
          <a:prstGeom prst="roundRect">
            <a:avLst>
              <a:gd name="adj" fmla="val 8000"/>
            </a:avLst>
          </a:prstGeom>
          <a:solidFill>
            <a:srgbClr val="DCE7F3"/>
          </a:solidFill>
          <a:ln/>
        </p:spPr>
      </p:sp>
      <p:sp>
        <p:nvSpPr>
          <p:cNvPr id="17" name="Text 15"/>
          <p:cNvSpPr/>
          <p:nvPr/>
        </p:nvSpPr>
        <p:spPr>
          <a:xfrm>
            <a:off x="4521200" y="4051300"/>
            <a:ext cx="230225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Selenium Manager</a:t>
            </a:r>
            <a:endParaRPr lang="en-US" sz="1400" dirty="0"/>
          </a:p>
        </p:txBody>
      </p:sp>
      <p:sp>
        <p:nvSpPr>
          <p:cNvPr id="18" name="Text 16"/>
          <p:cNvSpPr/>
          <p:nvPr/>
        </p:nvSpPr>
        <p:spPr>
          <a:xfrm>
            <a:off x="4521200" y="4307855"/>
            <a:ext cx="23022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Finds, downloads and caches the right driver</a:t>
            </a:r>
            <a:endParaRPr lang="en-US" sz="1200" dirty="0"/>
          </a:p>
        </p:txBody>
      </p:sp>
      <p:sp>
        <p:nvSpPr>
          <p:cNvPr id="19" name="Text 17"/>
          <p:cNvSpPr/>
          <p:nvPr/>
        </p:nvSpPr>
        <p:spPr>
          <a:xfrm>
            <a:off x="3200400" y="1917700"/>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HTTP + JSON</a:t>
            </a:r>
            <a:endParaRPr lang="en-US" sz="1200" dirty="0"/>
          </a:p>
        </p:txBody>
      </p:sp>
      <p:sp>
        <p:nvSpPr>
          <p:cNvPr id="20" name="Text 18"/>
          <p:cNvSpPr/>
          <p:nvPr/>
        </p:nvSpPr>
        <p:spPr>
          <a:xfrm>
            <a:off x="6629400" y="19177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own protocol</a:t>
            </a:r>
            <a:endParaRPr lang="en-US" sz="1200" dirty="0"/>
          </a:p>
        </p:txBody>
      </p:sp>
      <p:sp>
        <p:nvSpPr>
          <p:cNvPr id="21" name="Text 19"/>
          <p:cNvSpPr/>
          <p:nvPr/>
        </p:nvSpPr>
        <p:spPr>
          <a:xfrm>
            <a:off x="2184400" y="3594100"/>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or remotely</a:t>
            </a:r>
            <a:endParaRPr lang="en-US" sz="1200" dirty="0"/>
          </a:p>
        </p:txBody>
      </p:sp>
      <p:pic>
        <p:nvPicPr>
          <p:cNvPr id="22" name="Image 0" descr="connector">    </p:cNvPr>
          <p:cNvPicPr>
            <a:picLocks noChangeAspect="1"/>
          </p:cNvPicPr>
          <p:nvPr/>
        </p:nvPicPr>
        <p:blipFill>
          <a:blip r:embed="rId1"/>
          <a:srcRect l="0" r="0" t="0" b="0"/>
          <a:stretch/>
        </p:blipFill>
        <p:spPr>
          <a:xfrm>
            <a:off x="3302000" y="2825750"/>
            <a:ext cx="1117600" cy="101600"/>
          </a:xfrm>
          <a:prstGeom prst="rect">
            <a:avLst/>
          </a:prstGeom>
        </p:spPr>
      </p:pic>
      <p:pic>
        <p:nvPicPr>
          <p:cNvPr id="23" name="Image 1" descr="connector">    </p:cNvPr>
          <p:cNvPicPr>
            <a:picLocks noChangeAspect="1"/>
          </p:cNvPicPr>
          <p:nvPr/>
        </p:nvPicPr>
        <p:blipFill>
          <a:blip r:embed="rId2"/>
          <a:srcRect l="0" r="0" t="0" b="0"/>
          <a:stretch/>
        </p:blipFill>
        <p:spPr>
          <a:xfrm>
            <a:off x="6858000" y="2825750"/>
            <a:ext cx="1117600" cy="101600"/>
          </a:xfrm>
          <a:prstGeom prst="rect">
            <a:avLst/>
          </a:prstGeom>
        </p:spPr>
      </p:pic>
      <p:pic>
        <p:nvPicPr>
          <p:cNvPr id="24" name="Image 2" descr="connector">    </p:cNvPr>
          <p:cNvPicPr>
            <a:picLocks noChangeAspect="1"/>
          </p:cNvPicPr>
          <p:nvPr/>
        </p:nvPicPr>
        <p:blipFill>
          <a:blip r:embed="rId3"/>
          <a:srcRect l="0" r="0" t="0" b="0"/>
          <a:stretch/>
        </p:blipFill>
        <p:spPr>
          <a:xfrm>
            <a:off x="2032000" y="3429000"/>
            <a:ext cx="101600" cy="546100"/>
          </a:xfrm>
          <a:prstGeom prst="rect">
            <a:avLst/>
          </a:prstGeom>
        </p:spPr>
      </p:pic>
      <p:pic>
        <p:nvPicPr>
          <p:cNvPr id="25" name="Image 3" descr="connector">    </p:cNvPr>
          <p:cNvPicPr>
            <a:picLocks noChangeAspect="1"/>
          </p:cNvPicPr>
          <p:nvPr/>
        </p:nvPicPr>
        <p:blipFill>
          <a:blip r:embed="rId4"/>
          <a:srcRect l="0" r="0" t="0" b="0"/>
          <a:stretch/>
        </p:blipFill>
        <p:spPr>
          <a:xfrm>
            <a:off x="5588000" y="3429000"/>
            <a:ext cx="101600" cy="546100"/>
          </a:xfrm>
          <a:prstGeom prst="rect">
            <a:avLst/>
          </a:prstGeom>
        </p:spPr>
      </p:pic>
      <p:sp>
        <p:nvSpPr>
          <p:cNvPr id="26" name="Text 20"/>
          <p:cNvSpPr/>
          <p:nvPr/>
        </p:nvSpPr>
        <p:spPr>
          <a:xfrm>
            <a:off x="812800" y="51943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Every Selenium call is an HTTP request to the driver. The driver then controls its browser through that browser’s own interface.</a:t>
            </a:r>
            <a:endParaRPr lang="en-US" sz="1400" dirty="0"/>
          </a:p>
        </p:txBody>
      </p:sp>
      <p:sp>
        <p:nvSpPr>
          <p:cNvPr id="27" name="Text 21"/>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8" name="Text 22"/>
          <p:cNvSpPr/>
          <p:nvPr/>
        </p:nvSpPr>
        <p:spPr>
          <a:xfrm>
            <a:off x="4847749" y="6238255"/>
            <a:ext cx="67273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W3C WebDriver defines the HTTP commands · Selenium Manager ships with Selenium since 4.6</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ARCHITECTURE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actually goes over the wire</a:t>
            </a:r>
            <a:endParaRPr lang="en-US" sz="3200" dirty="0"/>
          </a:p>
        </p:txBody>
      </p:sp>
      <p:sp>
        <p:nvSpPr>
          <p:cNvPr id="4" name="Shape 2"/>
          <p:cNvSpPr/>
          <p:nvPr/>
        </p:nvSpPr>
        <p:spPr>
          <a:xfrm>
            <a:off x="11376025" y="1828800"/>
            <a:ext cx="0" cy="2423160"/>
          </a:xfrm>
          <a:prstGeom prst="line">
            <a:avLst/>
          </a:prstGeom>
          <a:noFill/>
          <a:ln w="6350">
            <a:solidFill>
              <a:srgbClr val="DDD8CC"/>
            </a:solidFill>
            <a:prstDash val="solid"/>
          </a:ln>
        </p:spPr>
      </p:sp>
      <p:sp>
        <p:nvSpPr>
          <p:cNvPr id="5" name="Shape 3"/>
          <p:cNvSpPr/>
          <p:nvPr/>
        </p:nvSpPr>
        <p:spPr>
          <a:xfrm>
            <a:off x="812800" y="424878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407920"/>
        </p:xfrm>
        <a:graphic>
          <a:graphicData uri="http://schemas.openxmlformats.org/drawingml/2006/table">
            <a:tbl>
              <a:tblPr/>
              <a:tblGrid>
                <a:gridCol w="3165348"/>
                <a:gridCol w="3376371"/>
                <a:gridCol w="4009441"/>
              </a:tblGrid>
              <a:tr h="330200">
                <a:tc>
                  <a:txBody>
                    <a:bodyPr/>
                    <a:lstStyle/>
                    <a:p>
                      <a:pPr indent="0" marL="0">
                        <a:lnSpc>
                          <a:spcPts val="1680"/>
                        </a:lnSpc>
                        <a:buNone/>
                      </a:pPr>
                      <a:r>
                        <a:rPr lang="en-US" sz="1200" b="1" dirty="0">
                          <a:solidFill>
                            <a:srgbClr val="F3F1EA"/>
                          </a:solidFill>
                          <a:latin typeface="JetBrains Mono" pitchFamily="34" charset="0"/>
                          <a:ea typeface="JetBrains Mono" pitchFamily="34" charset="-122"/>
                          <a:cs typeface="JetBrains Mono" pitchFamily="34" charset="-120"/>
                        </a:rPr>
                        <a:t>Python call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JetBrains Mono" pitchFamily="34" charset="0"/>
                          <a:ea typeface="JetBrains Mono" pitchFamily="34" charset="-122"/>
                          <a:cs typeface="JetBrains Mono" pitchFamily="34" charset="-120"/>
                        </a:rPr>
                        <a:t>HTTP request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JetBrains Mono" pitchFamily="34" charset="0"/>
                          <a:ea typeface="JetBrains Mono" pitchFamily="34" charset="-122"/>
                          <a:cs typeface="JetBrains Mono" pitchFamily="34" charset="-120"/>
                        </a:rPr>
                        <a:t>JSON body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webdriver.Chrome(options=o)</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POST /session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JetBrains Mono" pitchFamily="34" charset="0"/>
                          <a:ea typeface="JetBrains Mono" pitchFamily="34" charset="-122"/>
                          <a:cs typeface="JetBrains Mono" pitchFamily="34" charset="-120"/>
                        </a:rPr>
                        <a:t>{"capabilities":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driver.get(url)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POST /session/{id}/url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JetBrains Mono" pitchFamily="34" charset="0"/>
                          <a:ea typeface="JetBrains Mono" pitchFamily="34" charset="-122"/>
                          <a:cs typeface="JetBrains Mono" pitchFamily="34" charset="-120"/>
                        </a:rPr>
                        <a:t>{"url": "http://localhost:5000/login"}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543560">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find_element(By.ID, "student-id")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POST /session/{id}/element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{"using": "css selector", "value": "[id=\"student-id\"]"}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3560">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element.send_keys("S101")</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POST /session/{id}/element/{eid}/value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JetBrains Mono" pitchFamily="34" charset="0"/>
                          <a:ea typeface="JetBrains Mono" pitchFamily="34" charset="-122"/>
                          <a:cs typeface="JetBrains Mono" pitchFamily="34" charset="-120"/>
                        </a:rPr>
                        <a:t>{"text": "S101",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driver.quit()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DELETE /session/{id}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JetBrains Mono" pitchFamily="34" charset="0"/>
                          <a:ea typeface="JetBrains Mono" pitchFamily="34" charset="-122"/>
                          <a:cs typeface="JetBrains Mono" pitchFamily="34" charset="-120"/>
                        </a:rPr>
                        <a:t>(no body)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5975" y="4509145"/>
            <a:ext cx="5124450" cy="999490"/>
          </a:xfrm>
          <a:prstGeom prst="roundRect">
            <a:avLst>
              <a:gd name="adj" fmla="val 7306"/>
            </a:avLst>
          </a:prstGeom>
          <a:solidFill>
            <a:srgbClr val="FCFBF7"/>
          </a:solidFill>
          <a:ln w="6350">
            <a:solidFill>
              <a:srgbClr val="DDD8CC"/>
            </a:solidFill>
            <a:prstDash val="solid"/>
          </a:ln>
        </p:spPr>
      </p:sp>
      <p:sp>
        <p:nvSpPr>
          <p:cNvPr id="8" name="Text 5"/>
          <p:cNvSpPr/>
          <p:nvPr/>
        </p:nvSpPr>
        <p:spPr>
          <a:xfrm>
            <a:off x="995680" y="4663455"/>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By.ID becomes CSS</a:t>
            </a:r>
            <a:endParaRPr lang="en-US" sz="1200" dirty="0"/>
          </a:p>
        </p:txBody>
      </p:sp>
      <p:sp>
        <p:nvSpPr>
          <p:cNvPr id="9" name="Text 6"/>
          <p:cNvSpPr/>
          <p:nvPr/>
        </p:nvSpPr>
        <p:spPr>
          <a:xfrm>
            <a:off x="995680" y="4927600"/>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W3C standard has five strategies; the bindings turn ID, name and class name into CSS selectors.</a:t>
            </a:r>
            <a:endParaRPr lang="en-US" sz="1200" dirty="0"/>
          </a:p>
        </p:txBody>
      </p:sp>
      <p:sp>
        <p:nvSpPr>
          <p:cNvPr id="10" name="Shape 7"/>
          <p:cNvSpPr/>
          <p:nvPr/>
        </p:nvSpPr>
        <p:spPr>
          <a:xfrm>
            <a:off x="6251575" y="4509145"/>
            <a:ext cx="5124450" cy="999490"/>
          </a:xfrm>
          <a:prstGeom prst="roundRect">
            <a:avLst>
              <a:gd name="adj" fmla="val 7306"/>
            </a:avLst>
          </a:prstGeom>
          <a:solidFill>
            <a:srgbClr val="FCFBF7"/>
          </a:solidFill>
          <a:ln w="6350">
            <a:solidFill>
              <a:srgbClr val="DDD8CC"/>
            </a:solidFill>
            <a:prstDash val="solid"/>
          </a:ln>
        </p:spPr>
      </p:sp>
      <p:sp>
        <p:nvSpPr>
          <p:cNvPr id="11" name="Text 8"/>
          <p:cNvSpPr/>
          <p:nvPr/>
        </p:nvSpPr>
        <p:spPr>
          <a:xfrm>
            <a:off x="6431280" y="4663455"/>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One call, one round trip</a:t>
            </a:r>
            <a:endParaRPr lang="en-US" sz="1200" dirty="0"/>
          </a:p>
        </p:txBody>
      </p:sp>
      <p:sp>
        <p:nvSpPr>
          <p:cNvPr id="12" name="Text 9"/>
          <p:cNvSpPr/>
          <p:nvPr/>
        </p:nvSpPr>
        <p:spPr>
          <a:xfrm>
            <a:off x="6431280" y="4927600"/>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Every command is a separate HTTP request, so needless calls slow a suite down.</a:t>
            </a:r>
            <a:endParaRPr lang="en-US" sz="1200" dirty="0"/>
          </a:p>
        </p:txBody>
      </p:sp>
      <p:sp>
        <p:nvSpPr>
          <p:cNvPr id="13" name="Text 10"/>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4" name="Text 11"/>
          <p:cNvSpPr/>
          <p:nvPr/>
        </p:nvSpPr>
        <p:spPr>
          <a:xfrm>
            <a:off x="5254387" y="6238255"/>
            <a:ext cx="63085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Captured from Selenium’s debug log while logging in to the teaching app · bodies trimmed</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ARCHITECTURE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Drivers and Selenium Manager</a:t>
            </a:r>
            <a:endParaRPr lang="en-US" sz="3200" dirty="0"/>
          </a:p>
        </p:txBody>
      </p:sp>
      <p:sp>
        <p:nvSpPr>
          <p:cNvPr id="4" name="Text 2"/>
          <p:cNvSpPr/>
          <p:nvPr/>
        </p:nvSpPr>
        <p:spPr>
          <a:xfrm>
            <a:off x="812800" y="1828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WHAT WE HIT FIRST</a:t>
            </a:r>
            <a:endParaRPr lang="en-US" sz="1200" dirty="0"/>
          </a:p>
        </p:txBody>
      </p:sp>
      <p:sp>
        <p:nvSpPr>
          <p:cNvPr id="5" name="Shape 3"/>
          <p:cNvSpPr/>
          <p:nvPr/>
        </p:nvSpPr>
        <p:spPr>
          <a:xfrm>
            <a:off x="812800" y="2118370"/>
            <a:ext cx="5715000" cy="1209040"/>
          </a:xfrm>
          <a:prstGeom prst="roundRect">
            <a:avLst>
              <a:gd name="adj" fmla="val 6303"/>
            </a:avLst>
          </a:prstGeom>
          <a:solidFill>
            <a:srgbClr val="13233A"/>
          </a:solidFill>
          <a:ln/>
        </p:spPr>
      </p:sp>
      <p:sp>
        <p:nvSpPr>
          <p:cNvPr id="6" name="Text 4"/>
          <p:cNvSpPr/>
          <p:nvPr/>
        </p:nvSpPr>
        <p:spPr>
          <a:xfrm>
            <a:off x="990600" y="2296170"/>
            <a:ext cx="5520182"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SessionNotCreatedException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session not created: This version of</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ChromeDriver only supports Chrome version 147</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Current browser version is 141.0.7390.37</a:t>
            </a:r>
            <a:endParaRPr lang="en-US" sz="1200" dirty="0"/>
          </a:p>
        </p:txBody>
      </p:sp>
      <p:sp>
        <p:nvSpPr>
          <p:cNvPr id="7" name="Text 5"/>
          <p:cNvSpPr/>
          <p:nvPr/>
        </p:nvSpPr>
        <p:spPr>
          <a:xfrm>
            <a:off x="812800" y="34036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 old chromedriver 147 on the PATH could not drive Chromium 141.</a:t>
            </a:r>
            <a:endParaRPr lang="en-US" sz="1200" dirty="0"/>
          </a:p>
        </p:txBody>
      </p:sp>
      <p:sp>
        <p:nvSpPr>
          <p:cNvPr id="8" name="Text 6"/>
          <p:cNvSpPr/>
          <p:nvPr/>
        </p:nvSpPr>
        <p:spPr>
          <a:xfrm>
            <a:off x="6832600" y="1828800"/>
            <a:ext cx="468299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WHAT FIXED IT</a:t>
            </a:r>
            <a:endParaRPr lang="en-US" sz="1200" dirty="0"/>
          </a:p>
        </p:txBody>
      </p:sp>
      <p:sp>
        <p:nvSpPr>
          <p:cNvPr id="9" name="Shape 7"/>
          <p:cNvSpPr/>
          <p:nvPr/>
        </p:nvSpPr>
        <p:spPr>
          <a:xfrm>
            <a:off x="6832600" y="2118370"/>
            <a:ext cx="4546600" cy="568960"/>
          </a:xfrm>
          <a:prstGeom prst="roundRect">
            <a:avLst>
              <a:gd name="adj" fmla="val 13393"/>
            </a:avLst>
          </a:prstGeom>
          <a:solidFill>
            <a:srgbClr val="13233A"/>
          </a:solidFill>
          <a:ln/>
        </p:spPr>
      </p:sp>
      <p:sp>
        <p:nvSpPr>
          <p:cNvPr id="10" name="Text 8"/>
          <p:cNvSpPr/>
          <p:nvPr/>
        </p:nvSpPr>
        <p:spPr>
          <a:xfrm>
            <a:off x="7010400" y="2296170"/>
            <a:ext cx="431673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driver = webdriver.Chrome(options=options)</a:t>
            </a:r>
            <a:endParaRPr lang="en-US" sz="1200" dirty="0"/>
          </a:p>
        </p:txBody>
      </p:sp>
      <p:sp>
        <p:nvSpPr>
          <p:cNvPr id="11" name="Text 9"/>
          <p:cNvSpPr/>
          <p:nvPr/>
        </p:nvSpPr>
        <p:spPr>
          <a:xfrm>
            <a:off x="6832600" y="2763515"/>
            <a:ext cx="46829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With the stale driver off the PATH, Selenium Manager fetched chromedriver 141.0.7390.122 and cached it in ~/.cache/selenium.</a:t>
            </a:r>
            <a:endParaRPr lang="en-US" sz="1200" dirty="0"/>
          </a:p>
        </p:txBody>
      </p:sp>
      <p:sp>
        <p:nvSpPr>
          <p:cNvPr id="12" name="Shape 10"/>
          <p:cNvSpPr/>
          <p:nvPr/>
        </p:nvSpPr>
        <p:spPr>
          <a:xfrm>
            <a:off x="812800" y="3870970"/>
            <a:ext cx="10566400" cy="731520"/>
          </a:xfrm>
          <a:prstGeom prst="roundRect">
            <a:avLst>
              <a:gd name="adj" fmla="val 10417"/>
            </a:avLst>
          </a:prstGeom>
          <a:solidFill>
            <a:srgbClr val="13233A"/>
          </a:solidFill>
          <a:ln/>
        </p:spPr>
      </p:sp>
      <p:sp>
        <p:nvSpPr>
          <p:cNvPr id="13" name="Text 11"/>
          <p:cNvSpPr/>
          <p:nvPr/>
        </p:nvSpPr>
        <p:spPr>
          <a:xfrm>
            <a:off x="1016000" y="4130055"/>
            <a:ext cx="988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SINCE 4.6</a:t>
            </a:r>
            <a:endParaRPr lang="en-US" sz="1200" dirty="0"/>
          </a:p>
        </p:txBody>
      </p:sp>
      <p:sp>
        <p:nvSpPr>
          <p:cNvPr id="14" name="Text 12"/>
          <p:cNvSpPr/>
          <p:nvPr/>
        </p:nvSpPr>
        <p:spPr>
          <a:xfrm>
            <a:off x="2105660" y="4023370"/>
            <a:ext cx="93424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Selenium Manager “automatically discovers, downloads, and caches the drivers required by Selenium when these drivers are unavailable.” It can also fetch browsers: Chrome from 4.11, Firefox from 4.12, Edge from 4.14.</a:t>
            </a:r>
            <a:endParaRPr lang="en-US" sz="1200" dirty="0"/>
          </a:p>
        </p:txBody>
      </p:sp>
      <p:sp>
        <p:nvSpPr>
          <p:cNvPr id="15" name="Text 13"/>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6" name="Text 14"/>
          <p:cNvSpPr/>
          <p:nvPr/>
        </p:nvSpPr>
        <p:spPr>
          <a:xfrm>
            <a:off x="4887992" y="6238255"/>
            <a:ext cx="66859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Real error while preparing this module, wrapped to fit · quote: selenium.dev, Selenium Manager</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LOCATORS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Eight locator strategies on the Canteen App</a:t>
            </a:r>
            <a:endParaRPr lang="en-US" sz="3200" dirty="0"/>
          </a:p>
        </p:txBody>
      </p:sp>
      <p:sp>
        <p:nvSpPr>
          <p:cNvPr id="4" name="Shape 2"/>
          <p:cNvSpPr/>
          <p:nvPr/>
        </p:nvSpPr>
        <p:spPr>
          <a:xfrm>
            <a:off x="11376025" y="1828800"/>
            <a:ext cx="0" cy="2987040"/>
          </a:xfrm>
          <a:prstGeom prst="line">
            <a:avLst/>
          </a:prstGeom>
          <a:noFill/>
          <a:ln w="6350">
            <a:solidFill>
              <a:srgbClr val="DDD8CC"/>
            </a:solidFill>
            <a:prstDash val="solid"/>
          </a:ln>
        </p:spPr>
      </p:sp>
      <p:sp>
        <p:nvSpPr>
          <p:cNvPr id="5" name="Shape 3"/>
          <p:cNvSpPr/>
          <p:nvPr/>
        </p:nvSpPr>
        <p:spPr>
          <a:xfrm>
            <a:off x="812800" y="48126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971800"/>
        </p:xfrm>
        <a:graphic>
          <a:graphicData uri="http://schemas.openxmlformats.org/drawingml/2006/table">
            <a:tbl>
              <a:tblPr/>
              <a:tblGrid>
                <a:gridCol w="2110232"/>
                <a:gridCol w="5064557"/>
                <a:gridCol w="3376371"/>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Strategy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Python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Found on our pages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By.ID, "student-id"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University ID 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By.NAME, "password"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password 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Class name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By.CLASS_NAME, "menu-item"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all 3 menu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Tag name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By.TAG_NAME, "li"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all 3 list items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Link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By.LINK_TEXT, "Cart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cart link, while it shows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Partial link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By.PARTIAL_LINK_TEXT, "Cart"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cart link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CSS selector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By.CSS_SELECTOR, "button[data-testid='add-1']"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Add button for Masala Dosa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XPath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By.XPATH, "//li[@data-id='1']//button"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same Add button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5069855"/>
            <a:ext cx="10566400" cy="731520"/>
          </a:xfrm>
          <a:prstGeom prst="roundRect">
            <a:avLst>
              <a:gd name="adj" fmla="val 10417"/>
            </a:avLst>
          </a:prstGeom>
          <a:solidFill>
            <a:srgbClr val="13233A"/>
          </a:solidFill>
          <a:ln/>
        </p:spPr>
      </p:sp>
      <p:sp>
        <p:nvSpPr>
          <p:cNvPr id="8" name="Text 5"/>
          <p:cNvSpPr/>
          <p:nvPr/>
        </p:nvSpPr>
        <p:spPr>
          <a:xfrm>
            <a:off x="1016000" y="5328915"/>
            <a:ext cx="13004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SELENIUM.DEV</a:t>
            </a:r>
            <a:endParaRPr lang="en-US" sz="1200" dirty="0"/>
          </a:p>
        </p:txBody>
      </p:sp>
      <p:sp>
        <p:nvSpPr>
          <p:cNvPr id="9" name="Text 6"/>
          <p:cNvSpPr/>
          <p:nvPr/>
        </p:nvSpPr>
        <p:spPr>
          <a:xfrm>
            <a:off x="2418080" y="5222255"/>
            <a:ext cx="902065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“If HTML IDs are available, unique, and consistently predictable, they are the preferred method for locating an element on a page.” Next best: “a well-written CSS selector”.</a:t>
            </a:r>
            <a:endParaRPr lang="en-US" sz="12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5645150" y="6238255"/>
            <a:ext cx="59060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Every row ran against the teaching app · “Cart (0)” stops matching after the first Add</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LOCATORS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Relative locators and other tips</a:t>
            </a:r>
            <a:endParaRPr lang="en-US" sz="3200" dirty="0"/>
          </a:p>
        </p:txBody>
      </p:sp>
      <p:sp>
        <p:nvSpPr>
          <p:cNvPr id="4" name="Text 2"/>
          <p:cNvSpPr/>
          <p:nvPr/>
        </p:nvSpPr>
        <p:spPr>
          <a:xfrm>
            <a:off x="812800" y="1828800"/>
            <a:ext cx="67367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Selenium 4 · on the login page these found #password and #login</a:t>
            </a:r>
            <a:endParaRPr lang="en-US" sz="1200" dirty="0"/>
          </a:p>
        </p:txBody>
      </p:sp>
      <p:sp>
        <p:nvSpPr>
          <p:cNvPr id="5" name="Shape 3"/>
          <p:cNvSpPr/>
          <p:nvPr/>
        </p:nvSpPr>
        <p:spPr>
          <a:xfrm>
            <a:off x="812800" y="2118370"/>
            <a:ext cx="6540500" cy="1635760"/>
          </a:xfrm>
          <a:prstGeom prst="roundRect">
            <a:avLst>
              <a:gd name="adj" fmla="val 4658"/>
            </a:avLst>
          </a:prstGeom>
          <a:solidFill>
            <a:srgbClr val="13233A"/>
          </a:solidFill>
          <a:ln/>
        </p:spPr>
      </p:sp>
      <p:sp>
        <p:nvSpPr>
          <p:cNvPr id="6" name="Text 4"/>
          <p:cNvSpPr/>
          <p:nvPr/>
        </p:nvSpPr>
        <p:spPr>
          <a:xfrm>
            <a:off x="990600" y="2296170"/>
            <a:ext cx="6370447" cy="13055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from</a:t>
            </a:r>
            <a:r>
              <a:rPr lang="en-US" sz="1200" dirty="0">
                <a:solidFill>
                  <a:srgbClr val="E6EAF0"/>
                </a:solidFill>
                <a:latin typeface="JetBrains Mono" pitchFamily="34" charset="0"/>
                <a:ea typeface="JetBrains Mono" pitchFamily="34" charset="-122"/>
                <a:cs typeface="JetBrains Mono" pitchFamily="34" charset="-120"/>
              </a:rPr>
              <a:t> selenium.webdriver.support.relative_locator </a:t>
            </a: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locate_with</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password = driver.find_element(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locate_with(By.TAG_NAME, </a:t>
            </a:r>
            <a:r>
              <a:rPr lang="en-US" sz="1200" dirty="0">
                <a:solidFill>
                  <a:srgbClr val="9CC7F0"/>
                </a:solidFill>
                <a:latin typeface="JetBrains Mono" pitchFamily="34" charset="0"/>
                <a:ea typeface="JetBrains Mono" pitchFamily="34" charset="-122"/>
                <a:cs typeface="JetBrains Mono" pitchFamily="34" charset="-120"/>
              </a:rPr>
              <a:t>"input"</a:t>
            </a:r>
            <a:r>
              <a:rPr lang="en-US" sz="1200" dirty="0">
                <a:solidFill>
                  <a:srgbClr val="E6EAF0"/>
                </a:solidFill>
                <a:latin typeface="JetBrains Mono" pitchFamily="34" charset="0"/>
                <a:ea typeface="JetBrains Mono" pitchFamily="34" charset="-122"/>
                <a:cs typeface="JetBrains Mono" pitchFamily="34" charset="-120"/>
              </a:rPr>
              <a:t>).below({By.ID: </a:t>
            </a:r>
            <a:r>
              <a:rPr lang="en-US" sz="1200" dirty="0">
                <a:solidFill>
                  <a:srgbClr val="9CC7F0"/>
                </a:solidFill>
                <a:latin typeface="JetBrains Mono" pitchFamily="34" charset="0"/>
                <a:ea typeface="JetBrains Mono" pitchFamily="34" charset="-122"/>
                <a:cs typeface="JetBrains Mono" pitchFamily="34" charset="-120"/>
              </a:rPr>
              <a:t>"student-id"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log_in = driver.find_element(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locate_with(By.TAG_NAME, </a:t>
            </a:r>
            <a:r>
              <a:rPr lang="en-US" sz="1200" dirty="0">
                <a:solidFill>
                  <a:srgbClr val="9CC7F0"/>
                </a:solidFill>
                <a:latin typeface="JetBrains Mono" pitchFamily="34" charset="0"/>
                <a:ea typeface="JetBrains Mono" pitchFamily="34" charset="-122"/>
                <a:cs typeface="JetBrains Mono" pitchFamily="34" charset="-120"/>
              </a:rPr>
              <a:t>"button"</a:t>
            </a:r>
            <a:r>
              <a:rPr lang="en-US" sz="1200" dirty="0">
                <a:solidFill>
                  <a:srgbClr val="E6EAF0"/>
                </a:solidFill>
                <a:latin typeface="JetBrains Mono" pitchFamily="34" charset="0"/>
                <a:ea typeface="JetBrains Mono" pitchFamily="34" charset="-122"/>
                <a:cs typeface="JetBrains Mono" pitchFamily="34" charset="-120"/>
              </a:rPr>
              <a:t>).below({By.ID: </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7" name="Shape 5"/>
          <p:cNvSpPr/>
          <p:nvPr/>
        </p:nvSpPr>
        <p:spPr>
          <a:xfrm>
            <a:off x="7661275" y="1831975"/>
            <a:ext cx="3714750" cy="1212850"/>
          </a:xfrm>
          <a:prstGeom prst="roundRect">
            <a:avLst>
              <a:gd name="adj" fmla="val 6021"/>
            </a:avLst>
          </a:prstGeom>
          <a:solidFill>
            <a:srgbClr val="FCFBF7"/>
          </a:solidFill>
          <a:ln w="6350">
            <a:solidFill>
              <a:srgbClr val="DDD8CC"/>
            </a:solidFill>
            <a:prstDash val="solid"/>
          </a:ln>
        </p:spPr>
      </p:sp>
      <p:sp>
        <p:nvSpPr>
          <p:cNvPr id="8" name="Text 6"/>
          <p:cNvSpPr/>
          <p:nvPr/>
        </p:nvSpPr>
        <p:spPr>
          <a:xfrm>
            <a:off x="7840980" y="1986285"/>
            <a:ext cx="3456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How it works</a:t>
            </a:r>
            <a:endParaRPr lang="en-US" sz="1200" dirty="0"/>
          </a:p>
        </p:txBody>
      </p:sp>
      <p:sp>
        <p:nvSpPr>
          <p:cNvPr id="9" name="Text 7"/>
          <p:cNvSpPr/>
          <p:nvPr/>
        </p:nvSpPr>
        <p:spPr>
          <a:xfrm>
            <a:off x="7840980" y="2250455"/>
            <a:ext cx="34560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above, below, to_left_of, to_right_of and near (within 50 px), measured with getBoundingClientRect()</a:t>
            </a:r>
            <a:endParaRPr lang="en-US" sz="1200" dirty="0"/>
          </a:p>
        </p:txBody>
      </p:sp>
      <p:sp>
        <p:nvSpPr>
          <p:cNvPr id="10" name="Shape 8"/>
          <p:cNvSpPr/>
          <p:nvPr/>
        </p:nvSpPr>
        <p:spPr>
          <a:xfrm>
            <a:off x="7661275" y="3152775"/>
            <a:ext cx="3714750" cy="999490"/>
          </a:xfrm>
          <a:prstGeom prst="roundRect">
            <a:avLst>
              <a:gd name="adj" fmla="val 7306"/>
            </a:avLst>
          </a:prstGeom>
          <a:solidFill>
            <a:srgbClr val="F7E3D5"/>
          </a:solidFill>
          <a:ln w="6350">
            <a:solidFill>
              <a:srgbClr val="E9C3A8"/>
            </a:solidFill>
            <a:prstDash val="solid"/>
          </a:ln>
        </p:spPr>
      </p:sp>
      <p:sp>
        <p:nvSpPr>
          <p:cNvPr id="11" name="Text 9"/>
          <p:cNvSpPr/>
          <p:nvPr/>
        </p:nvSpPr>
        <p:spPr>
          <a:xfrm>
            <a:off x="7840980" y="3307085"/>
            <a:ext cx="3456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Use with care</a:t>
            </a:r>
            <a:endParaRPr lang="en-US" sz="1200" dirty="0"/>
          </a:p>
        </p:txBody>
      </p:sp>
      <p:sp>
        <p:nvSpPr>
          <p:cNvPr id="12" name="Text 10"/>
          <p:cNvSpPr/>
          <p:nvPr/>
        </p:nvSpPr>
        <p:spPr>
          <a:xfrm>
            <a:off x="7840980" y="3571255"/>
            <a:ext cx="34560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Positions shift with screen size, so prefer IDs or test attributes</a:t>
            </a:r>
            <a:endParaRPr lang="en-US" sz="1200" dirty="0"/>
          </a:p>
        </p:txBody>
      </p:sp>
      <p:sp>
        <p:nvSpPr>
          <p:cNvPr id="13" name="Shape 11"/>
          <p:cNvSpPr/>
          <p:nvPr/>
        </p:nvSpPr>
        <p:spPr>
          <a:xfrm>
            <a:off x="812800" y="4415805"/>
            <a:ext cx="3420507" cy="0"/>
          </a:xfrm>
          <a:prstGeom prst="line">
            <a:avLst/>
          </a:prstGeom>
          <a:noFill/>
          <a:ln w="12700">
            <a:solidFill>
              <a:srgbClr val="13233A"/>
            </a:solidFill>
            <a:prstDash val="solid"/>
          </a:ln>
        </p:spPr>
      </p:sp>
      <p:sp>
        <p:nvSpPr>
          <p:cNvPr id="14" name="Text 12"/>
          <p:cNvSpPr/>
          <p:nvPr/>
        </p:nvSpPr>
        <p:spPr>
          <a:xfrm>
            <a:off x="812800" y="4508500"/>
            <a:ext cx="35231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Ask for test IDs</a:t>
            </a:r>
            <a:endParaRPr lang="en-US" sz="1200" dirty="0"/>
          </a:p>
        </p:txBody>
      </p:sp>
      <p:sp>
        <p:nvSpPr>
          <p:cNvPr id="15" name="Text 13"/>
          <p:cNvSpPr/>
          <p:nvPr/>
        </p:nvSpPr>
        <p:spPr>
          <a:xfrm>
            <a:off x="812800" y="4772670"/>
            <a:ext cx="35231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data-testid attributes survive redesigns</a:t>
            </a:r>
            <a:endParaRPr lang="en-US" sz="1200" dirty="0"/>
          </a:p>
        </p:txBody>
      </p:sp>
      <p:sp>
        <p:nvSpPr>
          <p:cNvPr id="16" name="Shape 14"/>
          <p:cNvSpPr/>
          <p:nvPr/>
        </p:nvSpPr>
        <p:spPr>
          <a:xfrm>
            <a:off x="4385707" y="4415805"/>
            <a:ext cx="3420507" cy="0"/>
          </a:xfrm>
          <a:prstGeom prst="line">
            <a:avLst/>
          </a:prstGeom>
          <a:noFill/>
          <a:ln w="12700">
            <a:solidFill>
              <a:srgbClr val="13233A"/>
            </a:solidFill>
            <a:prstDash val="solid"/>
          </a:ln>
        </p:spPr>
      </p:sp>
      <p:sp>
        <p:nvSpPr>
          <p:cNvPr id="17" name="Text 15"/>
          <p:cNvSpPr/>
          <p:nvPr/>
        </p:nvSpPr>
        <p:spPr>
          <a:xfrm>
            <a:off x="4385707" y="4508500"/>
            <a:ext cx="35231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CSS for structure</a:t>
            </a:r>
            <a:endParaRPr lang="en-US" sz="1200" dirty="0"/>
          </a:p>
        </p:txBody>
      </p:sp>
      <p:sp>
        <p:nvSpPr>
          <p:cNvPr id="18" name="Text 16"/>
          <p:cNvSpPr/>
          <p:nvPr/>
        </p:nvSpPr>
        <p:spPr>
          <a:xfrm>
            <a:off x="4385707" y="4772670"/>
            <a:ext cx="35231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#menu li &gt; button, [name='coupon']</a:t>
            </a:r>
            <a:endParaRPr lang="en-US" sz="1200" dirty="0"/>
          </a:p>
        </p:txBody>
      </p:sp>
      <p:sp>
        <p:nvSpPr>
          <p:cNvPr id="19" name="Shape 17"/>
          <p:cNvSpPr/>
          <p:nvPr/>
        </p:nvSpPr>
        <p:spPr>
          <a:xfrm>
            <a:off x="7958614" y="4415805"/>
            <a:ext cx="3420507" cy="0"/>
          </a:xfrm>
          <a:prstGeom prst="line">
            <a:avLst/>
          </a:prstGeom>
          <a:noFill/>
          <a:ln w="12700">
            <a:solidFill>
              <a:srgbClr val="13233A"/>
            </a:solidFill>
            <a:prstDash val="solid"/>
          </a:ln>
        </p:spPr>
      </p:sp>
      <p:sp>
        <p:nvSpPr>
          <p:cNvPr id="20" name="Text 18"/>
          <p:cNvSpPr/>
          <p:nvPr/>
        </p:nvSpPr>
        <p:spPr>
          <a:xfrm>
            <a:off x="7958614" y="4508500"/>
            <a:ext cx="35231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XPath for text</a:t>
            </a:r>
            <a:endParaRPr lang="en-US" sz="1200" dirty="0"/>
          </a:p>
        </p:txBody>
      </p:sp>
      <p:sp>
        <p:nvSpPr>
          <p:cNvPr id="21" name="Text 19"/>
          <p:cNvSpPr/>
          <p:nvPr/>
        </p:nvSpPr>
        <p:spPr>
          <a:xfrm>
            <a:off x="7958614" y="4772670"/>
            <a:ext cx="352312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//button[text()='Apply'], slower and harder to debug</a:t>
            </a:r>
            <a:endParaRPr lang="en-US" sz="1200" dirty="0"/>
          </a:p>
        </p:txBody>
      </p:sp>
      <p:sp>
        <p:nvSpPr>
          <p:cNvPr id="22" name="Text 20"/>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3" name="Text 21"/>
          <p:cNvSpPr/>
          <p:nvPr/>
        </p:nvSpPr>
        <p:spPr>
          <a:xfrm>
            <a:off x="5763975" y="6238255"/>
            <a:ext cx="57836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selenium.dev: XPath is “frequently difficult to debug” and tends “to be quite slow”</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WAITS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Why tests need waits</a:t>
            </a:r>
            <a:endParaRPr lang="en-US" sz="3200" dirty="0"/>
          </a:p>
        </p:txBody>
      </p:sp>
      <p:sp>
        <p:nvSpPr>
          <p:cNvPr id="4" name="Text 2"/>
          <p:cNvSpPr/>
          <p:nvPr/>
        </p:nvSpPr>
        <p:spPr>
          <a:xfrm>
            <a:off x="812800" y="1828800"/>
            <a:ext cx="74561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Condensed from a real run on the menu page</a:t>
            </a:r>
            <a:endParaRPr lang="en-US" sz="1200" dirty="0"/>
          </a:p>
        </p:txBody>
      </p:sp>
      <p:sp>
        <p:nvSpPr>
          <p:cNvPr id="5" name="Shape 3"/>
          <p:cNvSpPr/>
          <p:nvPr/>
        </p:nvSpPr>
        <p:spPr>
          <a:xfrm>
            <a:off x="812800" y="2118370"/>
            <a:ext cx="7239000" cy="1635760"/>
          </a:xfrm>
          <a:prstGeom prst="roundRect">
            <a:avLst>
              <a:gd name="adj" fmla="val 4658"/>
            </a:avLst>
          </a:prstGeom>
          <a:solidFill>
            <a:srgbClr val="13233A"/>
          </a:solidFill>
          <a:ln/>
        </p:spPr>
      </p:sp>
      <p:sp>
        <p:nvSpPr>
          <p:cNvPr id="6" name="Text 4"/>
          <p:cNvSpPr/>
          <p:nvPr/>
        </p:nvSpPr>
        <p:spPr>
          <a:xfrm>
            <a:off x="990600" y="2296170"/>
            <a:ext cx="7089902" cy="13055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driver.find_element(By.CSS_SELECTOR, </a:t>
            </a:r>
            <a:r>
              <a:rPr lang="en-US" sz="1200" dirty="0">
                <a:solidFill>
                  <a:srgbClr val="9CC7F0"/>
                </a:solidFill>
                <a:latin typeface="JetBrains Mono" pitchFamily="34" charset="0"/>
                <a:ea typeface="JetBrains Mono" pitchFamily="34" charset="-122"/>
                <a:cs typeface="JetBrains Mono" pitchFamily="34" charset="-120"/>
              </a:rPr>
              <a:t>"button[data-testid='add-1']"</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print(driver.find_element(By.ID, </a:t>
            </a:r>
            <a:r>
              <a:rPr lang="en-US" sz="1200" dirty="0">
                <a:solidFill>
                  <a:srgbClr val="9CC7F0"/>
                </a:solidFill>
                <a:latin typeface="JetBrains Mono" pitchFamily="34" charset="0"/>
                <a:ea typeface="JetBrains Mono" pitchFamily="34" charset="-122"/>
                <a:cs typeface="JetBrains Mono" pitchFamily="34" charset="-120"/>
              </a:rPr>
              <a:t>"cart-count"</a:t>
            </a:r>
            <a:r>
              <a:rPr lang="en-US" sz="1200" dirty="0">
                <a:solidFill>
                  <a:srgbClr val="E6EAF0"/>
                </a:solidFill>
                <a:latin typeface="JetBrains Mono" pitchFamily="34" charset="0"/>
                <a:ea typeface="JetBrains Mono" pitchFamily="34" charset="-122"/>
                <a:cs typeface="JetBrains Mono" pitchFamily="34" charset="-120"/>
              </a:rPr>
              <a:t>).text)       </a:t>
            </a:r>
            <a:r>
              <a:rPr lang="en-US" sz="1200" dirty="0">
                <a:solidFill>
                  <a:srgbClr val="8C9AAD"/>
                </a:solidFill>
                <a:latin typeface="JetBrains Mono" pitchFamily="34" charset="0"/>
                <a:ea typeface="JetBrains Mono" pitchFamily="34" charset="-122"/>
                <a:cs typeface="JetBrains Mono" pitchFamily="34" charset="-120"/>
              </a:rPr>
              <a:t># prints 0</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wait = WebDriverWait(driver, timeout=5)</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wait.until(EC.text_to_be_present_in_element((By.ID, </a:t>
            </a:r>
            <a:r>
              <a:rPr lang="en-US" sz="1200" dirty="0">
                <a:solidFill>
                  <a:srgbClr val="9CC7F0"/>
                </a:solidFill>
                <a:latin typeface="JetBrains Mono" pitchFamily="34" charset="0"/>
                <a:ea typeface="JetBrains Mono" pitchFamily="34" charset="-122"/>
                <a:cs typeface="JetBrains Mono" pitchFamily="34" charset="-120"/>
              </a:rPr>
              <a:t>"cart-count"</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"1"</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print(driver.find_element(By.ID, </a:t>
            </a:r>
            <a:r>
              <a:rPr lang="en-US" sz="1200" dirty="0">
                <a:solidFill>
                  <a:srgbClr val="9CC7F0"/>
                </a:solidFill>
                <a:latin typeface="JetBrains Mono" pitchFamily="34" charset="0"/>
                <a:ea typeface="JetBrains Mono" pitchFamily="34" charset="-122"/>
                <a:cs typeface="JetBrains Mono" pitchFamily="34" charset="-120"/>
              </a:rPr>
              <a:t>"cart-count"</a:t>
            </a:r>
            <a:r>
              <a:rPr lang="en-US" sz="1200" dirty="0">
                <a:solidFill>
                  <a:srgbClr val="E6EAF0"/>
                </a:solidFill>
                <a:latin typeface="JetBrains Mono" pitchFamily="34" charset="0"/>
                <a:ea typeface="JetBrains Mono" pitchFamily="34" charset="-122"/>
                <a:cs typeface="JetBrains Mono" pitchFamily="34" charset="-120"/>
              </a:rPr>
              <a:t>).text)       </a:t>
            </a:r>
            <a:r>
              <a:rPr lang="en-US" sz="1200" dirty="0">
                <a:solidFill>
                  <a:srgbClr val="8C9AAD"/>
                </a:solidFill>
                <a:latin typeface="JetBrains Mono" pitchFamily="34" charset="0"/>
                <a:ea typeface="JetBrains Mono" pitchFamily="34" charset="-122"/>
                <a:cs typeface="JetBrains Mono" pitchFamily="34" charset="-120"/>
              </a:rPr>
              <a:t># prints 1</a:t>
            </a:r>
            <a:endParaRPr lang="en-US" sz="1200" dirty="0"/>
          </a:p>
        </p:txBody>
      </p:sp>
      <p:sp>
        <p:nvSpPr>
          <p:cNvPr id="7" name="Shape 5"/>
          <p:cNvSpPr/>
          <p:nvPr/>
        </p:nvSpPr>
        <p:spPr>
          <a:xfrm>
            <a:off x="8369300" y="1828800"/>
            <a:ext cx="0" cy="716280"/>
          </a:xfrm>
          <a:prstGeom prst="line">
            <a:avLst/>
          </a:prstGeom>
          <a:noFill/>
          <a:ln w="25400">
            <a:solidFill>
              <a:srgbClr val="245A9C"/>
            </a:solidFill>
            <a:prstDash val="solid"/>
          </a:ln>
        </p:spPr>
      </p:sp>
      <p:sp>
        <p:nvSpPr>
          <p:cNvPr id="8" name="Text 6"/>
          <p:cNvSpPr/>
          <p:nvPr/>
        </p:nvSpPr>
        <p:spPr>
          <a:xfrm>
            <a:off x="8509000" y="1854200"/>
            <a:ext cx="295630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0 ms</a:t>
            </a:r>
            <a:endParaRPr lang="en-US" sz="1200" dirty="0"/>
          </a:p>
        </p:txBody>
      </p:sp>
      <p:sp>
        <p:nvSpPr>
          <p:cNvPr id="9" name="Text 7"/>
          <p:cNvSpPr/>
          <p:nvPr/>
        </p:nvSpPr>
        <p:spPr>
          <a:xfrm>
            <a:off x="8509000" y="2092970"/>
            <a:ext cx="295630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click reaches the page; Selenium reads the badge at once</a:t>
            </a:r>
            <a:endParaRPr lang="en-US" sz="1200" dirty="0"/>
          </a:p>
        </p:txBody>
      </p:sp>
      <p:sp>
        <p:nvSpPr>
          <p:cNvPr id="10" name="Shape 8"/>
          <p:cNvSpPr/>
          <p:nvPr/>
        </p:nvSpPr>
        <p:spPr>
          <a:xfrm>
            <a:off x="8369300" y="2621285"/>
            <a:ext cx="0" cy="502920"/>
          </a:xfrm>
          <a:prstGeom prst="line">
            <a:avLst/>
          </a:prstGeom>
          <a:noFill/>
          <a:ln w="25400">
            <a:solidFill>
              <a:srgbClr val="5E6977"/>
            </a:solidFill>
            <a:prstDash val="solid"/>
          </a:ln>
        </p:spPr>
      </p:sp>
      <p:sp>
        <p:nvSpPr>
          <p:cNvPr id="11" name="Text 9"/>
          <p:cNvSpPr/>
          <p:nvPr/>
        </p:nvSpPr>
        <p:spPr>
          <a:xfrm>
            <a:off x="8509000" y="2646685"/>
            <a:ext cx="295630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977"/>
                </a:solidFill>
                <a:latin typeface="JetBrains Mono" pitchFamily="34" charset="0"/>
                <a:ea typeface="JetBrains Mono" pitchFamily="34" charset="-122"/>
                <a:cs typeface="JetBrains Mono" pitchFamily="34" charset="-120"/>
              </a:rPr>
              <a:t>a few ms</a:t>
            </a:r>
            <a:endParaRPr lang="en-US" sz="1200" dirty="0"/>
          </a:p>
        </p:txBody>
      </p:sp>
      <p:sp>
        <p:nvSpPr>
          <p:cNvPr id="12" name="Text 10"/>
          <p:cNvSpPr/>
          <p:nvPr/>
        </p:nvSpPr>
        <p:spPr>
          <a:xfrm>
            <a:off x="8509000" y="2885455"/>
            <a:ext cx="29563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API call to add the item returns</a:t>
            </a:r>
            <a:endParaRPr lang="en-US" sz="1200" dirty="0"/>
          </a:p>
        </p:txBody>
      </p:sp>
      <p:sp>
        <p:nvSpPr>
          <p:cNvPr id="13" name="Shape 11"/>
          <p:cNvSpPr/>
          <p:nvPr/>
        </p:nvSpPr>
        <p:spPr>
          <a:xfrm>
            <a:off x="8369300" y="3200400"/>
            <a:ext cx="0" cy="502920"/>
          </a:xfrm>
          <a:prstGeom prst="line">
            <a:avLst/>
          </a:prstGeom>
          <a:noFill/>
          <a:ln w="25400">
            <a:solidFill>
              <a:srgbClr val="A9481A"/>
            </a:solidFill>
            <a:prstDash val="solid"/>
          </a:ln>
        </p:spPr>
      </p:sp>
      <p:sp>
        <p:nvSpPr>
          <p:cNvPr id="14" name="Text 12"/>
          <p:cNvSpPr/>
          <p:nvPr/>
        </p:nvSpPr>
        <p:spPr>
          <a:xfrm>
            <a:off x="8509000" y="3225800"/>
            <a:ext cx="295630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+600 ms</a:t>
            </a:r>
            <a:endParaRPr lang="en-US" sz="1200" dirty="0"/>
          </a:p>
        </p:txBody>
      </p:sp>
      <p:sp>
        <p:nvSpPr>
          <p:cNvPr id="15" name="Text 13"/>
          <p:cNvSpPr/>
          <p:nvPr/>
        </p:nvSpPr>
        <p:spPr>
          <a:xfrm>
            <a:off x="8509000" y="3464570"/>
            <a:ext cx="29563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badge changes to 1</a:t>
            </a:r>
            <a:endParaRPr lang="en-US" sz="1200" dirty="0"/>
          </a:p>
        </p:txBody>
      </p:sp>
      <p:sp>
        <p:nvSpPr>
          <p:cNvPr id="16" name="Shape 14"/>
          <p:cNvSpPr/>
          <p:nvPr/>
        </p:nvSpPr>
        <p:spPr>
          <a:xfrm>
            <a:off x="812800" y="4008115"/>
            <a:ext cx="10566400" cy="553720"/>
          </a:xfrm>
          <a:prstGeom prst="roundRect">
            <a:avLst>
              <a:gd name="adj" fmla="val 13761"/>
            </a:avLst>
          </a:prstGeom>
          <a:solidFill>
            <a:srgbClr val="13233A"/>
          </a:solidFill>
          <a:ln/>
        </p:spPr>
      </p:sp>
      <p:sp>
        <p:nvSpPr>
          <p:cNvPr id="17" name="Text 15"/>
          <p:cNvSpPr/>
          <p:nvPr/>
        </p:nvSpPr>
        <p:spPr>
          <a:xfrm>
            <a:off x="1016000" y="4178300"/>
            <a:ext cx="10922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TAKES TIME</a:t>
            </a:r>
            <a:endParaRPr lang="en-US" sz="1200" dirty="0"/>
          </a:p>
        </p:txBody>
      </p:sp>
      <p:sp>
        <p:nvSpPr>
          <p:cNvPr id="18" name="Text 16"/>
          <p:cNvSpPr/>
          <p:nvPr/>
        </p:nvSpPr>
        <p:spPr>
          <a:xfrm>
            <a:off x="2209800" y="4160515"/>
            <a:ext cx="923518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Page loads, API calls, animations, slow networks and busy CI machines. The test must wait for the state it needs.</a:t>
            </a:r>
            <a:endParaRPr lang="en-US" sz="1400" dirty="0"/>
          </a:p>
        </p:txBody>
      </p:sp>
      <p:sp>
        <p:nvSpPr>
          <p:cNvPr id="19" name="Text 1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0" name="Text 18"/>
          <p:cNvSpPr/>
          <p:nvPr/>
        </p:nvSpPr>
        <p:spPr>
          <a:xfrm>
            <a:off x="6065600" y="6238255"/>
            <a:ext cx="54730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The teaching app delays the badge by 600 ms on purpose, like a slow network</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WAITS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Three ways to wait</a:t>
            </a:r>
            <a:endParaRPr lang="en-US" sz="3200" dirty="0"/>
          </a:p>
        </p:txBody>
      </p:sp>
      <p:sp>
        <p:nvSpPr>
          <p:cNvPr id="4" name="Text 2"/>
          <p:cNvSpPr/>
          <p:nvPr/>
        </p:nvSpPr>
        <p:spPr>
          <a:xfrm>
            <a:off x="812800" y="1828800"/>
            <a:ext cx="27470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IMPLICIT</a:t>
            </a:r>
            <a:endParaRPr lang="en-US" sz="1200" dirty="0"/>
          </a:p>
        </p:txBody>
      </p:sp>
      <p:sp>
        <p:nvSpPr>
          <p:cNvPr id="5" name="Text 3"/>
          <p:cNvSpPr/>
          <p:nvPr/>
        </p:nvSpPr>
        <p:spPr>
          <a:xfrm>
            <a:off x="812800" y="2092970"/>
            <a:ext cx="27470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Every find_element retries for N seconds; default 0</a:t>
            </a:r>
            <a:endParaRPr lang="en-US" sz="1200" dirty="0"/>
          </a:p>
        </p:txBody>
      </p:sp>
      <p:sp>
        <p:nvSpPr>
          <p:cNvPr id="6" name="Shape 4"/>
          <p:cNvSpPr/>
          <p:nvPr/>
        </p:nvSpPr>
        <p:spPr>
          <a:xfrm>
            <a:off x="3683000" y="1889770"/>
            <a:ext cx="7696200" cy="568960"/>
          </a:xfrm>
          <a:prstGeom prst="roundRect">
            <a:avLst>
              <a:gd name="adj" fmla="val 13393"/>
            </a:avLst>
          </a:prstGeom>
          <a:solidFill>
            <a:srgbClr val="13233A"/>
          </a:solidFill>
          <a:ln/>
        </p:spPr>
      </p:sp>
      <p:sp>
        <p:nvSpPr>
          <p:cNvPr id="7" name="Text 5"/>
          <p:cNvSpPr/>
          <p:nvPr/>
        </p:nvSpPr>
        <p:spPr>
          <a:xfrm>
            <a:off x="3860800" y="2067570"/>
            <a:ext cx="756081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driver.implicitly_wait(2)</a:t>
            </a:r>
            <a:endParaRPr lang="en-US" sz="1200" dirty="0"/>
          </a:p>
        </p:txBody>
      </p:sp>
      <p:sp>
        <p:nvSpPr>
          <p:cNvPr id="8" name="Text 6"/>
          <p:cNvSpPr/>
          <p:nvPr/>
        </p:nvSpPr>
        <p:spPr>
          <a:xfrm>
            <a:off x="812800" y="2717800"/>
            <a:ext cx="27470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EXPLICIT</a:t>
            </a:r>
            <a:endParaRPr lang="en-US" sz="1200" dirty="0"/>
          </a:p>
        </p:txBody>
      </p:sp>
      <p:sp>
        <p:nvSpPr>
          <p:cNvPr id="9" name="Text 7"/>
          <p:cNvSpPr/>
          <p:nvPr/>
        </p:nvSpPr>
        <p:spPr>
          <a:xfrm>
            <a:off x="812800" y="2981970"/>
            <a:ext cx="27470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Waits for one condition, then goes on at once</a:t>
            </a:r>
            <a:endParaRPr lang="en-US" sz="1200" dirty="0"/>
          </a:p>
        </p:txBody>
      </p:sp>
      <p:sp>
        <p:nvSpPr>
          <p:cNvPr id="10" name="Shape 8"/>
          <p:cNvSpPr/>
          <p:nvPr/>
        </p:nvSpPr>
        <p:spPr>
          <a:xfrm>
            <a:off x="3683000" y="2672085"/>
            <a:ext cx="7696200" cy="782320"/>
          </a:xfrm>
          <a:prstGeom prst="roundRect">
            <a:avLst>
              <a:gd name="adj" fmla="val 9740"/>
            </a:avLst>
          </a:prstGeom>
          <a:solidFill>
            <a:srgbClr val="13233A"/>
          </a:solidFill>
          <a:ln/>
        </p:spPr>
      </p:sp>
      <p:sp>
        <p:nvSpPr>
          <p:cNvPr id="11" name="Text 9"/>
          <p:cNvSpPr/>
          <p:nvPr/>
        </p:nvSpPr>
        <p:spPr>
          <a:xfrm>
            <a:off x="3860800" y="2849885"/>
            <a:ext cx="7560818" cy="4521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wait = WebDriverWait(driver, timeout=5)</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wait.until(EC.text_to_be_present_in_element((By.ID, </a:t>
            </a:r>
            <a:r>
              <a:rPr lang="en-US" sz="1200" dirty="0">
                <a:solidFill>
                  <a:srgbClr val="9CC7F0"/>
                </a:solidFill>
                <a:latin typeface="JetBrains Mono" pitchFamily="34" charset="0"/>
                <a:ea typeface="JetBrains Mono" pitchFamily="34" charset="-122"/>
                <a:cs typeface="JetBrains Mono" pitchFamily="34" charset="-120"/>
              </a:rPr>
              <a:t>"cart-count"</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"1"</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12" name="Text 10"/>
          <p:cNvSpPr/>
          <p:nvPr/>
        </p:nvSpPr>
        <p:spPr>
          <a:xfrm>
            <a:off x="812800" y="3759200"/>
            <a:ext cx="27470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FLUENT</a:t>
            </a:r>
            <a:endParaRPr lang="en-US" sz="1200" dirty="0"/>
          </a:p>
        </p:txBody>
      </p:sp>
      <p:sp>
        <p:nvSpPr>
          <p:cNvPr id="13" name="Text 11"/>
          <p:cNvSpPr/>
          <p:nvPr/>
        </p:nvSpPr>
        <p:spPr>
          <a:xfrm>
            <a:off x="812800" y="4023370"/>
            <a:ext cx="27470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Explicit, with custom polling and ignored errors</a:t>
            </a:r>
            <a:endParaRPr lang="en-US" sz="1200" dirty="0"/>
          </a:p>
        </p:txBody>
      </p:sp>
      <p:sp>
        <p:nvSpPr>
          <p:cNvPr id="14" name="Shape 12"/>
          <p:cNvSpPr/>
          <p:nvPr/>
        </p:nvSpPr>
        <p:spPr>
          <a:xfrm>
            <a:off x="3683000" y="3606800"/>
            <a:ext cx="7696200" cy="995680"/>
          </a:xfrm>
          <a:prstGeom prst="roundRect">
            <a:avLst>
              <a:gd name="adj" fmla="val 7653"/>
            </a:avLst>
          </a:prstGeom>
          <a:solidFill>
            <a:srgbClr val="13233A"/>
          </a:solidFill>
          <a:ln/>
        </p:spPr>
      </p:sp>
      <p:sp>
        <p:nvSpPr>
          <p:cNvPr id="15" name="Text 13"/>
          <p:cNvSpPr/>
          <p:nvPr/>
        </p:nvSpPr>
        <p:spPr>
          <a:xfrm>
            <a:off x="3860800" y="3784600"/>
            <a:ext cx="7560818" cy="6654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errors = [NoSuchElementException, ElementNotInteractableException]</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wait = WebDriverWait(driver, timeout=5, poll_frequency=0.2,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ignored_exceptions=errors)</a:t>
            </a:r>
            <a:endParaRPr lang="en-US" sz="1200" dirty="0"/>
          </a:p>
        </p:txBody>
      </p:sp>
      <p:sp>
        <p:nvSpPr>
          <p:cNvPr id="16" name="Shape 14"/>
          <p:cNvSpPr/>
          <p:nvPr/>
        </p:nvSpPr>
        <p:spPr>
          <a:xfrm>
            <a:off x="812800" y="4856485"/>
            <a:ext cx="10566400" cy="731520"/>
          </a:xfrm>
          <a:prstGeom prst="roundRect">
            <a:avLst>
              <a:gd name="adj" fmla="val 10417"/>
            </a:avLst>
          </a:prstGeom>
          <a:solidFill>
            <a:srgbClr val="F7E3D5"/>
          </a:solidFill>
          <a:ln/>
        </p:spPr>
      </p:sp>
      <p:sp>
        <p:nvSpPr>
          <p:cNvPr id="17" name="Text 15"/>
          <p:cNvSpPr/>
          <p:nvPr/>
        </p:nvSpPr>
        <p:spPr>
          <a:xfrm>
            <a:off x="1016000" y="5115570"/>
            <a:ext cx="779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WARNING</a:t>
            </a:r>
            <a:endParaRPr lang="en-US" sz="1200" dirty="0"/>
          </a:p>
        </p:txBody>
      </p:sp>
      <p:sp>
        <p:nvSpPr>
          <p:cNvPr id="18" name="Text 16"/>
          <p:cNvSpPr/>
          <p:nvPr/>
        </p:nvSpPr>
        <p:spPr>
          <a:xfrm>
            <a:off x="1897380" y="5008885"/>
            <a:ext cx="95569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“Do not mix implicit and explicit waits. Doing so can cause unpredictable wait times. For example, setting an implicit wait of 10 seconds and an explicit wait of 15 seconds could cause a timeout to occur after 20 seconds.”</a:t>
            </a:r>
            <a:endParaRPr lang="en-US" sz="1200" dirty="0"/>
          </a:p>
        </p:txBody>
      </p:sp>
      <p:sp>
        <p:nvSpPr>
          <p:cNvPr id="19" name="Text 1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0" name="Text 18"/>
          <p:cNvSpPr/>
          <p:nvPr/>
        </p:nvSpPr>
        <p:spPr>
          <a:xfrm>
            <a:off x="3219688" y="6238255"/>
            <a:ext cx="84042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 selenium.dev, waiting strategies · defaults: poll every 0.5 s, ignore NoSuchElementException · never time.sleep()</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WAITS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Expected conditions worth knowing</a:t>
            </a:r>
            <a:endParaRPr lang="en-US" sz="3200" dirty="0"/>
          </a:p>
        </p:txBody>
      </p:sp>
      <p:sp>
        <p:nvSpPr>
          <p:cNvPr id="4" name="Shape 2"/>
          <p:cNvSpPr/>
          <p:nvPr/>
        </p:nvSpPr>
        <p:spPr>
          <a:xfrm>
            <a:off x="11376025" y="1828800"/>
            <a:ext cx="0" cy="2656840"/>
          </a:xfrm>
          <a:prstGeom prst="line">
            <a:avLst/>
          </a:prstGeom>
          <a:noFill/>
          <a:ln w="6350">
            <a:solidFill>
              <a:srgbClr val="DDD8CC"/>
            </a:solidFill>
            <a:prstDash val="solid"/>
          </a:ln>
        </p:spPr>
      </p:sp>
      <p:sp>
        <p:nvSpPr>
          <p:cNvPr id="5" name="Shape 3"/>
          <p:cNvSpPr/>
          <p:nvPr/>
        </p:nvSpPr>
        <p:spPr>
          <a:xfrm>
            <a:off x="812800" y="44824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41600"/>
        </p:xfrm>
        <a:graphic>
          <a:graphicData uri="http://schemas.openxmlformats.org/drawingml/2006/table">
            <a:tbl>
              <a:tblPr/>
              <a:tblGrid>
                <a:gridCol w="4431487"/>
                <a:gridCol w="3165348"/>
                <a:gridCol w="2954325"/>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EC condition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Waits until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Canteen 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visibility_of_element_located(loc)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element is shown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error after a bad login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element_to_be_clickable(loc)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visible and enabled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an Add button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text_to_be_present_in_element(loc,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its text contains the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badge shows 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staleness_of(element)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element has left the page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old page after Log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title_contains(text)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title contains the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“Menu” after login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url_contains(text)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URL contains the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/orders/ after an order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invisibility_of_element_located(loc)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hidden or gone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spinner disappears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739655"/>
            <a:ext cx="10566400" cy="731520"/>
          </a:xfrm>
          <a:prstGeom prst="roundRect">
            <a:avLst>
              <a:gd name="adj" fmla="val 10417"/>
            </a:avLst>
          </a:prstGeom>
          <a:solidFill>
            <a:srgbClr val="13233A"/>
          </a:solidFill>
          <a:ln/>
        </p:spPr>
      </p:sp>
      <p:sp>
        <p:nvSpPr>
          <p:cNvPr id="8" name="Text 5"/>
          <p:cNvSpPr/>
          <p:nvPr/>
        </p:nvSpPr>
        <p:spPr>
          <a:xfrm>
            <a:off x="1016000" y="4998715"/>
            <a:ext cx="10922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PAGE LOADS</a:t>
            </a:r>
            <a:endParaRPr lang="en-US" sz="1200" dirty="0"/>
          </a:p>
        </p:txBody>
      </p:sp>
      <p:sp>
        <p:nvSpPr>
          <p:cNvPr id="9" name="Text 6"/>
          <p:cNvSpPr/>
          <p:nvPr/>
        </p:nvSpPr>
        <p:spPr>
          <a:xfrm>
            <a:off x="2209800" y="4892055"/>
            <a:ext cx="92351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page_load_strategy: normal waits for all resources (default) · eager: the DOM is ready, images may still load · none: does not block WebDriver at all</a:t>
            </a:r>
            <a:endParaRPr lang="en-US" sz="12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6022023" y="6238255"/>
            <a:ext cx="55178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EC = selenium.webdriver.support.expected_conditions · loc is a (By, value) pair</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L17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17</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What does find_element(By.ID, "student-id") send over the wire, and to which component?</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test passes on your laptop but fails in CI with SessionNotCreatedException. Likely cause and fix?</a:t>
            </a:r>
            <a:endParaRPr lang="en-US" sz="1400" dirty="0"/>
          </a:p>
        </p:txBody>
      </p:sp>
      <p:sp>
        <p:nvSpPr>
          <p:cNvPr id="10" name="Shape 8"/>
          <p:cNvSpPr/>
          <p:nvPr/>
        </p:nvSpPr>
        <p:spPr>
          <a:xfrm>
            <a:off x="815975" y="3381375"/>
            <a:ext cx="5175250" cy="1588770"/>
          </a:xfrm>
          <a:prstGeom prst="roundRect">
            <a:avLst>
              <a:gd name="adj" fmla="val 4596"/>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Rank for the Masala Dosa Add button: (a) XPath /html/body/main/ul/li[1]/button (b) [data-testid='add-1'] (c) tag name button.</a:t>
            </a:r>
            <a:endParaRPr lang="en-US" sz="1400" dirty="0"/>
          </a:p>
        </p:txBody>
      </p:sp>
      <p:sp>
        <p:nvSpPr>
          <p:cNvPr id="13" name="Shape 11"/>
          <p:cNvSpPr/>
          <p:nvPr/>
        </p:nvSpPr>
        <p:spPr>
          <a:xfrm>
            <a:off x="6200775" y="3381375"/>
            <a:ext cx="5175250" cy="1588770"/>
          </a:xfrm>
          <a:prstGeom prst="roundRect">
            <a:avLst>
              <a:gd name="adj" fmla="val 4596"/>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teammate sets implicitly_wait(10) and also uses WebDriverWait(driver, 15). What can go wrong?</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18</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3 · LECTURE 18 · 40 MINUTES</a:t>
            </a:r>
            <a:endParaRPr lang="en-US" sz="1200" dirty="0"/>
          </a:p>
        </p:txBody>
      </p:sp>
      <p:sp>
        <p:nvSpPr>
          <p:cNvPr id="4" name="Text 2"/>
          <p:cNvSpPr/>
          <p:nvPr/>
        </p:nvSpPr>
        <p:spPr>
          <a:xfrm>
            <a:off x="812800" y="3134370"/>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Test script design and</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the Page Object Model</a:t>
            </a:r>
            <a:endParaRPr lang="en-US" sz="5600" dirty="0"/>
          </a:p>
        </p:txBody>
      </p:sp>
      <p:sp>
        <p:nvSpPr>
          <p:cNvPr id="5" name="Shape 3"/>
          <p:cNvSpPr/>
          <p:nvPr/>
        </p:nvSpPr>
        <p:spPr>
          <a:xfrm>
            <a:off x="812800" y="4989835"/>
            <a:ext cx="5892800" cy="0"/>
          </a:xfrm>
          <a:prstGeom prst="line">
            <a:avLst/>
          </a:prstGeom>
          <a:noFill/>
          <a:ln w="12700">
            <a:solidFill>
              <a:srgbClr val="3A5476"/>
            </a:solidFill>
            <a:prstDash val="solid"/>
          </a:ln>
        </p:spPr>
      </p:sp>
      <p:sp>
        <p:nvSpPr>
          <p:cNvPr id="6" name="Text 4"/>
          <p:cNvSpPr/>
          <p:nvPr/>
        </p:nvSpPr>
        <p:spPr>
          <a:xfrm>
            <a:off x="812800" y="5120655"/>
            <a:ext cx="60695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40 min</a:t>
            </a:r>
            <a:endParaRPr lang="en-US" sz="1200" dirty="0"/>
          </a:p>
        </p:txBody>
      </p:sp>
      <p:sp>
        <p:nvSpPr>
          <p:cNvPr id="7" name="Text 5"/>
          <p:cNvSpPr/>
          <p:nvPr/>
        </p:nvSpPr>
        <p:spPr>
          <a:xfrm>
            <a:off x="812800" y="5384800"/>
            <a:ext cx="6069584"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From a linear script to page objects that tests can trust</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7014"/>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A9481A"/>
                </a:solidFill>
                <a:latin typeface="JetBrains Mono" pitchFamily="34" charset="0"/>
                <a:ea typeface="JetBrains Mono" pitchFamily="34" charset="-122"/>
                <a:cs typeface="JetBrains Mono" pitchFamily="34" charset="-120"/>
              </a:rPr>
              <a:t>L18 · TEST SCRIPT DESIGN</a:t>
            </a:r>
            <a:endParaRPr lang="en-US" sz="1196" dirty="0"/>
          </a:p>
        </p:txBody>
      </p:sp>
      <p:sp>
        <p:nvSpPr>
          <p:cNvPr id="3" name="Text 1"/>
          <p:cNvSpPr/>
          <p:nvPr/>
        </p:nvSpPr>
        <p:spPr>
          <a:xfrm>
            <a:off x="812800" y="1126009"/>
            <a:ext cx="10883392" cy="468709"/>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 scripting approaches</a:t>
            </a:r>
            <a:endParaRPr lang="en-US" sz="3200" dirty="0"/>
          </a:p>
        </p:txBody>
      </p:sp>
      <p:sp>
        <p:nvSpPr>
          <p:cNvPr id="4" name="Shape 2"/>
          <p:cNvSpPr/>
          <p:nvPr/>
        </p:nvSpPr>
        <p:spPr>
          <a:xfrm>
            <a:off x="11376025" y="1823318"/>
            <a:ext cx="0" cy="2965609"/>
          </a:xfrm>
          <a:prstGeom prst="line">
            <a:avLst/>
          </a:prstGeom>
          <a:noFill/>
          <a:ln w="6350">
            <a:solidFill>
              <a:srgbClr val="DDD8CC"/>
            </a:solidFill>
            <a:prstDash val="solid"/>
          </a:ln>
        </p:spPr>
      </p:sp>
      <p:sp>
        <p:nvSpPr>
          <p:cNvPr id="5" name="Shape 3"/>
          <p:cNvSpPr/>
          <p:nvPr/>
        </p:nvSpPr>
        <p:spPr>
          <a:xfrm>
            <a:off x="812800" y="4785752"/>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3478"/>
          <a:ext cx="10551160" cy="2952512"/>
        </p:xfrm>
        <a:graphic>
          <a:graphicData uri="http://schemas.openxmlformats.org/drawingml/2006/table">
            <a:tbl>
              <a:tblPr/>
              <a:tblGrid>
                <a:gridCol w="2532278"/>
                <a:gridCol w="4642510"/>
                <a:gridCol w="3376371"/>
              </a:tblGrid>
              <a:tr h="328057">
                <a:tc>
                  <a:txBody>
                    <a:bodyPr/>
                    <a:lstStyle/>
                    <a:p>
                      <a:pPr indent="0" marL="0">
                        <a:lnSpc>
                          <a:spcPts val="1670"/>
                        </a:lnSpc>
                        <a:buNone/>
                      </a:pPr>
                      <a:r>
                        <a:rPr lang="en-US" sz="1193" b="1" dirty="0">
                          <a:solidFill>
                            <a:srgbClr val="F3F1EA"/>
                          </a:solidFill>
                          <a:latin typeface="IBM Plex Sans" pitchFamily="34" charset="0"/>
                          <a:ea typeface="IBM Plex Sans" pitchFamily="34" charset="-122"/>
                          <a:cs typeface="IBM Plex Sans" pitchFamily="34" charset="-120"/>
                        </a:rPr>
                        <a:t>Approach</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70"/>
                        </a:lnSpc>
                        <a:buNone/>
                      </a:pPr>
                      <a:r>
                        <a:rPr lang="en-US" sz="1193" b="1" dirty="0">
                          <a:solidFill>
                            <a:srgbClr val="F3F1EA"/>
                          </a:solidFill>
                          <a:latin typeface="IBM Plex Sans" pitchFamily="34" charset="0"/>
                          <a:ea typeface="IBM Plex Sans" pitchFamily="34" charset="-122"/>
                          <a:cs typeface="IBM Plex Sans" pitchFamily="34" charset="-120"/>
                        </a:rPr>
                        <a:t>Idea</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70"/>
                        </a:lnSpc>
                        <a:buNone/>
                      </a:pPr>
                      <a:r>
                        <a:rPr lang="en-US" sz="1193" b="1" dirty="0">
                          <a:solidFill>
                            <a:srgbClr val="F3F1EA"/>
                          </a:solidFill>
                          <a:latin typeface="IBM Plex Sans" pitchFamily="34" charset="0"/>
                          <a:ea typeface="IBM Plex Sans" pitchFamily="34" charset="-122"/>
                          <a:cs typeface="IBM Plex Sans" pitchFamily="34" charset="-120"/>
                        </a:rPr>
                        <a:t>In this course</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28057">
                <a:tc>
                  <a:txBody>
                    <a:bodyPr/>
                    <a:lstStyle/>
                    <a:p>
                      <a:pPr indent="0" marL="0">
                        <a:lnSpc>
                          <a:spcPts val="1670"/>
                        </a:lnSpc>
                        <a:buNone/>
                      </a:pPr>
                      <a:r>
                        <a:rPr lang="en-US" sz="1193" dirty="0">
                          <a:solidFill>
                            <a:srgbClr val="13233A"/>
                          </a:solidFill>
                          <a:latin typeface="IBM Plex Sans" pitchFamily="34" charset="0"/>
                          <a:ea typeface="IBM Plex Sans" pitchFamily="34" charset="-122"/>
                          <a:cs typeface="IBM Plex Sans" pitchFamily="34" charset="-120"/>
                        </a:rPr>
                        <a:t>Capture/playback</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A tool records a manual run and replays it</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Selenium IDE (Module 1)</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28057">
                <a:tc>
                  <a:txBody>
                    <a:bodyPr/>
                    <a:lstStyle/>
                    <a:p>
                      <a:pPr indent="0" marL="0">
                        <a:lnSpc>
                          <a:spcPts val="1670"/>
                        </a:lnSpc>
                        <a:buNone/>
                      </a:pPr>
                      <a:r>
                        <a:rPr lang="en-US" sz="1193" dirty="0">
                          <a:solidFill>
                            <a:srgbClr val="13233A"/>
                          </a:solidFill>
                          <a:latin typeface="IBM Plex Sans" pitchFamily="34" charset="0"/>
                          <a:ea typeface="IBM Plex Sans" pitchFamily="34" charset="-122"/>
                          <a:cs typeface="IBM Plex Sans" pitchFamily="34" charset="-120"/>
                        </a:rPr>
                        <a:t>Linear scripting</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One recorded or hand-written script per test</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The next slide</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28057">
                <a:tc>
                  <a:txBody>
                    <a:bodyPr/>
                    <a:lstStyle/>
                    <a:p>
                      <a:pPr indent="0" marL="0">
                        <a:lnSpc>
                          <a:spcPts val="1670"/>
                        </a:lnSpc>
                        <a:buNone/>
                      </a:pPr>
                      <a:r>
                        <a:rPr lang="en-US" sz="1193" dirty="0">
                          <a:solidFill>
                            <a:srgbClr val="13233A"/>
                          </a:solidFill>
                          <a:latin typeface="IBM Plex Sans" pitchFamily="34" charset="0"/>
                          <a:ea typeface="IBM Plex Sans" pitchFamily="34" charset="-122"/>
                          <a:cs typeface="IBM Plex Sans" pitchFamily="34" charset="-120"/>
                        </a:rPr>
                        <a:t>Structured scripting</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Reusable functions in a script library</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Page objects, this lecture</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28057">
                <a:tc>
                  <a:txBody>
                    <a:bodyPr/>
                    <a:lstStyle/>
                    <a:p>
                      <a:pPr indent="0" marL="0">
                        <a:lnSpc>
                          <a:spcPts val="1670"/>
                        </a:lnSpc>
                        <a:buNone/>
                      </a:pPr>
                      <a:r>
                        <a:rPr lang="en-US" sz="1193" dirty="0">
                          <a:solidFill>
                            <a:srgbClr val="13233A"/>
                          </a:solidFill>
                          <a:latin typeface="IBM Plex Sans" pitchFamily="34" charset="0"/>
                          <a:ea typeface="IBM Plex Sans" pitchFamily="34" charset="-122"/>
                          <a:cs typeface="IBM Plex Sans" pitchFamily="34" charset="-120"/>
                        </a:rPr>
                        <a:t>Data-driven</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Test inputs move into data files</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cart-qty.csv (Lecture 16)</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28057">
                <a:tc>
                  <a:txBody>
                    <a:bodyPr/>
                    <a:lstStyle/>
                    <a:p>
                      <a:pPr indent="0" marL="0">
                        <a:lnSpc>
                          <a:spcPts val="1670"/>
                        </a:lnSpc>
                        <a:buNone/>
                      </a:pPr>
                      <a:r>
                        <a:rPr lang="en-US" sz="1193" dirty="0">
                          <a:solidFill>
                            <a:srgbClr val="13233A"/>
                          </a:solidFill>
                          <a:latin typeface="IBM Plex Sans" pitchFamily="34" charset="0"/>
                          <a:ea typeface="IBM Plex Sans" pitchFamily="34" charset="-122"/>
                          <a:cs typeface="IBM Plex Sans" pitchFamily="34" charset="-120"/>
                        </a:rPr>
                        <a:t>Keyword-driven</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Tests are keywords plus data</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Robot Framework (Lecture 15)</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28057">
                <a:tc>
                  <a:txBody>
                    <a:bodyPr/>
                    <a:lstStyle/>
                    <a:p>
                      <a:pPr indent="0" marL="0">
                        <a:lnSpc>
                          <a:spcPts val="1670"/>
                        </a:lnSpc>
                        <a:buNone/>
                      </a:pPr>
                      <a:r>
                        <a:rPr lang="en-US" sz="1193" dirty="0">
                          <a:solidFill>
                            <a:srgbClr val="13233A"/>
                          </a:solidFill>
                          <a:latin typeface="IBM Plex Sans" pitchFamily="34" charset="0"/>
                          <a:ea typeface="IBM Plex Sans" pitchFamily="34" charset="-122"/>
                          <a:cs typeface="IBM Plex Sans" pitchFamily="34" charset="-120"/>
                        </a:rPr>
                        <a:t>Process-driven</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Use-case scenarios become the scripts</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An order journey as keywords</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28057">
                <a:tc>
                  <a:txBody>
                    <a:bodyPr/>
                    <a:lstStyle/>
                    <a:p>
                      <a:pPr indent="0" marL="0">
                        <a:lnSpc>
                          <a:spcPts val="1670"/>
                        </a:lnSpc>
                        <a:buNone/>
                      </a:pPr>
                      <a:r>
                        <a:rPr lang="en-US" sz="1193" dirty="0">
                          <a:solidFill>
                            <a:srgbClr val="13233A"/>
                          </a:solidFill>
                          <a:latin typeface="IBM Plex Sans" pitchFamily="34" charset="0"/>
                          <a:ea typeface="IBM Plex Sans" pitchFamily="34" charset="-122"/>
                          <a:cs typeface="IBM Plex Sans" pitchFamily="34" charset="-120"/>
                        </a:rPr>
                        <a:t>Model-based</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Tests are generated from a model</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Order status state model</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28057">
                <a:tc>
                  <a:txBody>
                    <a:bodyPr/>
                    <a:lstStyle/>
                    <a:p>
                      <a:pPr indent="0" marL="0">
                        <a:lnSpc>
                          <a:spcPts val="1670"/>
                        </a:lnSpc>
                        <a:buNone/>
                      </a:pPr>
                      <a:r>
                        <a:rPr lang="en-US" sz="1193" dirty="0">
                          <a:solidFill>
                            <a:srgbClr val="13233A"/>
                          </a:solidFill>
                          <a:latin typeface="IBM Plex Sans" pitchFamily="34" charset="0"/>
                          <a:ea typeface="IBM Plex Sans" pitchFamily="34" charset="-122"/>
                          <a:cs typeface="IBM Plex Sans" pitchFamily="34" charset="-120"/>
                        </a:rPr>
                        <a:t>TDD and BDD</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Tests first, or as Given–When–Then</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70"/>
                        </a:lnSpc>
                        <a:buNone/>
                      </a:pPr>
                      <a:r>
                        <a:rPr lang="en-US" sz="1193" dirty="0">
                          <a:solidFill>
                            <a:srgbClr val="44505F"/>
                          </a:solidFill>
                          <a:latin typeface="IBM Plex Sans" pitchFamily="34" charset="0"/>
                          <a:ea typeface="IBM Plex Sans" pitchFamily="34" charset="-122"/>
                          <a:cs typeface="IBM Plex Sans" pitchFamily="34" charset="-120"/>
                        </a:rPr>
                        <a:t>pytest-bdd (Module 2)</a:t>
                      </a:r>
                      <a:endParaRPr lang="en-US" sz="1193" dirty="0">
                        <a:latin typeface="IBM Plex Sans" charset="0"/>
                        <a:ea typeface="IBM Plex Sans" charset="0"/>
                        <a:cs typeface="IBM Plex Sans" charset="0"/>
                      </a:endParaRPr>
                    </a:p>
                  </a:txBody>
                  <a:tcPr marL="53007" marR="53007" marT="53007" marB="53007"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5042942"/>
            <a:ext cx="10566400" cy="799068"/>
          </a:xfrm>
          <a:prstGeom prst="roundRect">
            <a:avLst>
              <a:gd name="adj" fmla="val 9536"/>
            </a:avLst>
          </a:prstGeom>
          <a:solidFill>
            <a:srgbClr val="13233A"/>
          </a:solidFill>
          <a:ln/>
        </p:spPr>
      </p:sp>
      <p:sp>
        <p:nvSpPr>
          <p:cNvPr id="8" name="Text 5"/>
          <p:cNvSpPr/>
          <p:nvPr/>
        </p:nvSpPr>
        <p:spPr>
          <a:xfrm>
            <a:off x="1016000" y="5335761"/>
            <a:ext cx="11963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IN PRACTICE</a:t>
            </a:r>
            <a:endParaRPr lang="en-US" sz="1200" dirty="0"/>
          </a:p>
        </p:txBody>
      </p:sp>
      <p:sp>
        <p:nvSpPr>
          <p:cNvPr id="9" name="Text 6"/>
          <p:cNvSpPr/>
          <p:nvPr/>
        </p:nvSpPr>
        <p:spPr>
          <a:xfrm>
            <a:off x="2313940" y="5193581"/>
            <a:ext cx="91279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Each approach builds on the one before. Most teams combine structured, data-driven and keyword or BDD layers.</a:t>
            </a:r>
            <a:endParaRPr lang="en-US" sz="14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4566603" y="6238255"/>
            <a:ext cx="70169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ISTQB Test Automation Engineering v1.0 (2016) lists the first seven; v2.0 (2024) adds TDD and BDD</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TEST SCRIPT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linear script works, until the app changes</a:t>
            </a:r>
            <a:endParaRPr lang="en-US" sz="3200" dirty="0"/>
          </a:p>
        </p:txBody>
      </p:sp>
      <p:sp>
        <p:nvSpPr>
          <p:cNvPr id="4" name="Shape 2"/>
          <p:cNvSpPr/>
          <p:nvPr/>
        </p:nvSpPr>
        <p:spPr>
          <a:xfrm>
            <a:off x="812800" y="1828800"/>
            <a:ext cx="8001000" cy="3556000"/>
          </a:xfrm>
          <a:prstGeom prst="roundRect">
            <a:avLst>
              <a:gd name="adj" fmla="val 2143"/>
            </a:avLst>
          </a:prstGeom>
          <a:solidFill>
            <a:srgbClr val="13233A"/>
          </a:solidFill>
          <a:ln/>
        </p:spPr>
      </p:sp>
      <p:sp>
        <p:nvSpPr>
          <p:cNvPr id="5" name="Text 3"/>
          <p:cNvSpPr/>
          <p:nvPr/>
        </p:nvSpPr>
        <p:spPr>
          <a:xfrm>
            <a:off x="990600" y="2006600"/>
            <a:ext cx="7874762" cy="32258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test_save20_linear(driver):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driver.get(</a:t>
            </a:r>
            <a:r>
              <a:rPr lang="en-US" sz="1200" dirty="0">
                <a:solidFill>
                  <a:srgbClr val="9CC7F0"/>
                </a:solidFill>
                <a:latin typeface="JetBrains Mono" pitchFamily="34" charset="0"/>
                <a:ea typeface="JetBrains Mono" pitchFamily="34" charset="-122"/>
                <a:cs typeface="JetBrains Mono" pitchFamily="34" charset="-120"/>
              </a:rPr>
              <a:t>"http://localhost:5000/login"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"student-id"</a:t>
            </a:r>
            <a:r>
              <a:rPr lang="en-US" sz="1200" dirty="0">
                <a:solidFill>
                  <a:srgbClr val="E6EAF0"/>
                </a:solidFill>
                <a:latin typeface="JetBrains Mono" pitchFamily="34" charset="0"/>
                <a:ea typeface="JetBrains Mono" pitchFamily="34" charset="-122"/>
                <a:cs typeface="JetBrains Mono" pitchFamily="34" charset="-120"/>
              </a:rPr>
              <a:t>).send_keys(</a:t>
            </a:r>
            <a:r>
              <a:rPr lang="en-US" sz="1200" dirty="0">
                <a:solidFill>
                  <a:srgbClr val="9CC7F0"/>
                </a:solidFill>
                <a:latin typeface="JetBrains Mono" pitchFamily="34" charset="0"/>
                <a:ea typeface="JetBrains Mono" pitchFamily="34" charset="-122"/>
                <a:cs typeface="JetBrains Mono" pitchFamily="34" charset="-120"/>
              </a:rPr>
              <a:t>"S101"</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).send_keys(</a:t>
            </a:r>
            <a:r>
              <a:rPr lang="en-US" sz="1200" dirty="0">
                <a:solidFill>
                  <a:srgbClr val="9CC7F0"/>
                </a:solidFill>
                <a:latin typeface="JetBrains Mono" pitchFamily="34" charset="0"/>
                <a:ea typeface="JetBrains Mono" pitchFamily="34" charset="-122"/>
                <a:cs typeface="JetBrains Mono" pitchFamily="34" charset="-120"/>
              </a:rPr>
              <a:t>"secret"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"login"</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time.sleep(2)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for</a:t>
            </a:r>
            <a:r>
              <a:rPr lang="en-US" sz="1200" dirty="0">
                <a:solidFill>
                  <a:srgbClr val="E6EAF0"/>
                </a:solidFill>
                <a:latin typeface="JetBrains Mono" pitchFamily="34" charset="0"/>
                <a:ea typeface="JetBrains Mono" pitchFamily="34" charset="-122"/>
                <a:cs typeface="JetBrains Mono" pitchFamily="34" charset="-120"/>
              </a:rPr>
              <a:t> _ </a:t>
            </a:r>
            <a:r>
              <a:rPr lang="en-US" sz="1200" dirty="0">
                <a:solidFill>
                  <a:srgbClr val="F2A36B"/>
                </a:solidFill>
                <a:latin typeface="JetBrains Mono" pitchFamily="34" charset="0"/>
                <a:ea typeface="JetBrains Mono" pitchFamily="34" charset="-122"/>
                <a:cs typeface="JetBrains Mono" pitchFamily="34" charset="-120"/>
              </a:rPr>
              <a:t>in</a:t>
            </a:r>
            <a:r>
              <a:rPr lang="en-US" sz="1200" dirty="0">
                <a:solidFill>
                  <a:srgbClr val="E6EAF0"/>
                </a:solidFill>
                <a:latin typeface="JetBrains Mono" pitchFamily="34" charset="0"/>
                <a:ea typeface="JetBrains Mono" pitchFamily="34" charset="-122"/>
                <a:cs typeface="JetBrains Mono" pitchFamily="34" charset="-120"/>
              </a:rPr>
              <a:t> range(4):</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driver.find_element(By.CSS_SELECTOR, </a:t>
            </a:r>
            <a:r>
              <a:rPr lang="en-US" sz="1200" dirty="0">
                <a:solidFill>
                  <a:srgbClr val="9CC7F0"/>
                </a:solidFill>
                <a:latin typeface="JetBrains Mono" pitchFamily="34" charset="0"/>
                <a:ea typeface="JetBrains Mono" pitchFamily="34" charset="-122"/>
                <a:cs typeface="JetBrains Mono" pitchFamily="34" charset="-120"/>
              </a:rPr>
              <a:t>"button[data-testid='add-1']"</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time.sleep(1)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"cart-link"</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time.sleep(2)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"coupon"</a:t>
            </a:r>
            <a:r>
              <a:rPr lang="en-US" sz="1200" dirty="0">
                <a:solidFill>
                  <a:srgbClr val="E6EAF0"/>
                </a:solidFill>
                <a:latin typeface="JetBrains Mono" pitchFamily="34" charset="0"/>
                <a:ea typeface="JetBrains Mono" pitchFamily="34" charset="-122"/>
                <a:cs typeface="JetBrains Mono" pitchFamily="34" charset="-120"/>
              </a:rPr>
              <a:t>).send_keys(</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"apply"</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time.sleep(2)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"total"</a:t>
            </a:r>
            <a:r>
              <a:rPr lang="en-US" sz="1200" dirty="0">
                <a:solidFill>
                  <a:srgbClr val="E6EAF0"/>
                </a:solidFill>
                <a:latin typeface="JetBrains Mono" pitchFamily="34" charset="0"/>
                <a:ea typeface="JetBrains Mono" pitchFamily="34" charset="-122"/>
                <a:cs typeface="JetBrains Mono" pitchFamily="34" charset="-120"/>
              </a:rPr>
              <a:t>).text == </a:t>
            </a:r>
            <a:r>
              <a:rPr lang="en-US" sz="1200" dirty="0">
                <a:solidFill>
                  <a:srgbClr val="9CC7F0"/>
                </a:solidFill>
                <a:latin typeface="JetBrains Mono" pitchFamily="34" charset="0"/>
                <a:ea typeface="JetBrains Mono" pitchFamily="34" charset="-122"/>
                <a:cs typeface="JetBrains Mono" pitchFamily="34" charset="-120"/>
              </a:rPr>
              <a:t>"192"</a:t>
            </a:r>
            <a:endParaRPr lang="en-US" sz="1200" dirty="0"/>
          </a:p>
        </p:txBody>
      </p:sp>
      <p:sp>
        <p:nvSpPr>
          <p:cNvPr id="6" name="Text 4"/>
          <p:cNvSpPr/>
          <p:nvPr/>
        </p:nvSpPr>
        <p:spPr>
          <a:xfrm>
            <a:off x="9118600" y="1828800"/>
            <a:ext cx="232841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PROBLEMS</a:t>
            </a:r>
            <a:endParaRPr lang="en-US" sz="1200" dirty="0"/>
          </a:p>
        </p:txBody>
      </p:sp>
      <p:sp>
        <p:nvSpPr>
          <p:cNvPr id="7" name="Shape 5"/>
          <p:cNvSpPr/>
          <p:nvPr/>
        </p:nvSpPr>
        <p:spPr>
          <a:xfrm>
            <a:off x="9131300" y="2143770"/>
            <a:ext cx="0" cy="264160"/>
          </a:xfrm>
          <a:prstGeom prst="line">
            <a:avLst/>
          </a:prstGeom>
          <a:noFill/>
          <a:ln w="25400">
            <a:solidFill>
              <a:srgbClr val="E98B53"/>
            </a:solidFill>
            <a:prstDash val="solid"/>
          </a:ln>
        </p:spPr>
      </p:sp>
      <p:sp>
        <p:nvSpPr>
          <p:cNvPr id="8" name="Text 6"/>
          <p:cNvSpPr/>
          <p:nvPr/>
        </p:nvSpPr>
        <p:spPr>
          <a:xfrm>
            <a:off x="9245600" y="2169170"/>
            <a:ext cx="219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Hard-coded URL and data</a:t>
            </a:r>
            <a:endParaRPr lang="en-US" sz="1200" dirty="0"/>
          </a:p>
        </p:txBody>
      </p:sp>
      <p:sp>
        <p:nvSpPr>
          <p:cNvPr id="9" name="Shape 7"/>
          <p:cNvSpPr/>
          <p:nvPr/>
        </p:nvSpPr>
        <p:spPr>
          <a:xfrm>
            <a:off x="9131300" y="2509515"/>
            <a:ext cx="0" cy="264160"/>
          </a:xfrm>
          <a:prstGeom prst="line">
            <a:avLst/>
          </a:prstGeom>
          <a:noFill/>
          <a:ln w="25400">
            <a:solidFill>
              <a:srgbClr val="E98B53"/>
            </a:solidFill>
            <a:prstDash val="solid"/>
          </a:ln>
        </p:spPr>
      </p:sp>
      <p:sp>
        <p:nvSpPr>
          <p:cNvPr id="10" name="Text 8"/>
          <p:cNvSpPr/>
          <p:nvPr/>
        </p:nvSpPr>
        <p:spPr>
          <a:xfrm>
            <a:off x="9245600" y="2534915"/>
            <a:ext cx="219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Locators copied into every test</a:t>
            </a:r>
            <a:endParaRPr lang="en-US" sz="1200" dirty="0"/>
          </a:p>
        </p:txBody>
      </p:sp>
      <p:sp>
        <p:nvSpPr>
          <p:cNvPr id="11" name="Shape 9"/>
          <p:cNvSpPr/>
          <p:nvPr/>
        </p:nvSpPr>
        <p:spPr>
          <a:xfrm>
            <a:off x="9131300" y="2875285"/>
            <a:ext cx="0" cy="264160"/>
          </a:xfrm>
          <a:prstGeom prst="line">
            <a:avLst/>
          </a:prstGeom>
          <a:noFill/>
          <a:ln w="25400">
            <a:solidFill>
              <a:srgbClr val="E98B53"/>
            </a:solidFill>
            <a:prstDash val="solid"/>
          </a:ln>
        </p:spPr>
      </p:sp>
      <p:sp>
        <p:nvSpPr>
          <p:cNvPr id="12" name="Text 10"/>
          <p:cNvSpPr/>
          <p:nvPr/>
        </p:nvSpPr>
        <p:spPr>
          <a:xfrm>
            <a:off x="9245600" y="2900685"/>
            <a:ext cx="219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10 of 11.4 s spent in sleep()</a:t>
            </a:r>
            <a:endParaRPr lang="en-US" sz="1200" dirty="0"/>
          </a:p>
        </p:txBody>
      </p:sp>
      <p:sp>
        <p:nvSpPr>
          <p:cNvPr id="13" name="Shape 11"/>
          <p:cNvSpPr/>
          <p:nvPr/>
        </p:nvSpPr>
        <p:spPr>
          <a:xfrm>
            <a:off x="9131300" y="3241055"/>
            <a:ext cx="0" cy="477520"/>
          </a:xfrm>
          <a:prstGeom prst="line">
            <a:avLst/>
          </a:prstGeom>
          <a:noFill/>
          <a:ln w="25400">
            <a:solidFill>
              <a:srgbClr val="E98B53"/>
            </a:solidFill>
            <a:prstDash val="solid"/>
          </a:ln>
        </p:spPr>
      </p:sp>
      <p:sp>
        <p:nvSpPr>
          <p:cNvPr id="14" name="Text 12"/>
          <p:cNvSpPr/>
          <p:nvPr/>
        </p:nvSpPr>
        <p:spPr>
          <a:xfrm>
            <a:off x="9245600" y="3266455"/>
            <a:ext cx="21976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named steps, so hard to read and fix</a:t>
            </a:r>
            <a:endParaRPr lang="en-US" sz="1200" dirty="0"/>
          </a:p>
        </p:txBody>
      </p:sp>
      <p:sp>
        <p:nvSpPr>
          <p:cNvPr id="15" name="Text 13"/>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6" name="Text 14"/>
          <p:cNvSpPr/>
          <p:nvPr/>
        </p:nvSpPr>
        <p:spPr>
          <a:xfrm>
            <a:off x="8170228" y="6238255"/>
            <a:ext cx="33052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linear/test_linear_order.py · it passed, in 11.4 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PAGE OBJECT MODEL</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Page Object Model</a:t>
            </a:r>
            <a:endParaRPr lang="en-US" sz="3200" dirty="0"/>
          </a:p>
        </p:txBody>
      </p:sp>
      <p:sp>
        <p:nvSpPr>
          <p:cNvPr id="4" name="Shape 2"/>
          <p:cNvSpPr/>
          <p:nvPr/>
        </p:nvSpPr>
        <p:spPr>
          <a:xfrm>
            <a:off x="812800" y="1828800"/>
            <a:ext cx="10566400" cy="802640"/>
          </a:xfrm>
          <a:prstGeom prst="roundRect">
            <a:avLst>
              <a:gd name="adj" fmla="val 9494"/>
            </a:avLst>
          </a:prstGeom>
          <a:solidFill>
            <a:srgbClr val="13233A"/>
          </a:solidFill>
          <a:ln/>
        </p:spPr>
      </p:sp>
      <p:sp>
        <p:nvSpPr>
          <p:cNvPr id="5" name="Text 3"/>
          <p:cNvSpPr/>
          <p:nvPr/>
        </p:nvSpPr>
        <p:spPr>
          <a:xfrm>
            <a:off x="1016000" y="2123455"/>
            <a:ext cx="6756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FOWLER</a:t>
            </a:r>
            <a:endParaRPr lang="en-US" sz="1200" dirty="0"/>
          </a:p>
        </p:txBody>
      </p:sp>
      <p:sp>
        <p:nvSpPr>
          <p:cNvPr id="6" name="Text 4"/>
          <p:cNvSpPr/>
          <p:nvPr/>
        </p:nvSpPr>
        <p:spPr>
          <a:xfrm>
            <a:off x="1793240" y="1981200"/>
            <a:ext cx="96642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“A page object wraps an HTML page, or fragment, with an application-specific API, allowing you to manipulate page elements without digging around in the HTML.”</a:t>
            </a:r>
            <a:endParaRPr lang="en-US" sz="1400" dirty="0"/>
          </a:p>
        </p:txBody>
      </p:sp>
      <p:sp>
        <p:nvSpPr>
          <p:cNvPr id="7" name="Shape 5"/>
          <p:cNvSpPr/>
          <p:nvPr/>
        </p:nvSpPr>
        <p:spPr>
          <a:xfrm>
            <a:off x="815975" y="3244230"/>
            <a:ext cx="2254250" cy="1517650"/>
          </a:xfrm>
          <a:prstGeom prst="roundRect">
            <a:avLst>
              <a:gd name="adj" fmla="val 4812"/>
            </a:avLst>
          </a:prstGeom>
          <a:solidFill>
            <a:srgbClr val="FCFBF7"/>
          </a:solidFill>
          <a:ln w="6350">
            <a:solidFill>
              <a:srgbClr val="C9C2B2"/>
            </a:solidFill>
            <a:prstDash val="solid"/>
          </a:ln>
        </p:spPr>
      </p:sp>
      <p:sp>
        <p:nvSpPr>
          <p:cNvPr id="8" name="Text 6"/>
          <p:cNvSpPr/>
          <p:nvPr/>
        </p:nvSpPr>
        <p:spPr>
          <a:xfrm>
            <a:off x="944880" y="3373115"/>
            <a:ext cx="205633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LoginPage</a:t>
            </a:r>
            <a:endParaRPr lang="en-US" sz="1400" dirty="0"/>
          </a:p>
        </p:txBody>
      </p:sp>
      <p:sp>
        <p:nvSpPr>
          <p:cNvPr id="9" name="Text 7"/>
          <p:cNvSpPr/>
          <p:nvPr/>
        </p:nvSpPr>
        <p:spPr>
          <a:xfrm>
            <a:off x="944880" y="3655070"/>
            <a:ext cx="205633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open</a:t>
            </a:r>
            <a:endParaRPr lang="en-US" sz="1200" dirty="0"/>
          </a:p>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login_as</a:t>
            </a:r>
            <a:endParaRPr lang="en-US" sz="1200" dirty="0"/>
          </a:p>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login_expecting_error</a:t>
            </a:r>
            <a:endParaRPr lang="en-US" sz="1200" dirty="0"/>
          </a:p>
        </p:txBody>
      </p:sp>
      <p:sp>
        <p:nvSpPr>
          <p:cNvPr id="10" name="Shape 8"/>
          <p:cNvSpPr/>
          <p:nvPr/>
        </p:nvSpPr>
        <p:spPr>
          <a:xfrm>
            <a:off x="3584575" y="3244230"/>
            <a:ext cx="2254250" cy="1517650"/>
          </a:xfrm>
          <a:prstGeom prst="roundRect">
            <a:avLst>
              <a:gd name="adj" fmla="val 4812"/>
            </a:avLst>
          </a:prstGeom>
          <a:solidFill>
            <a:srgbClr val="FCFBF7"/>
          </a:solidFill>
          <a:ln w="6350">
            <a:solidFill>
              <a:srgbClr val="C9C2B2"/>
            </a:solidFill>
            <a:prstDash val="solid"/>
          </a:ln>
        </p:spPr>
      </p:sp>
      <p:sp>
        <p:nvSpPr>
          <p:cNvPr id="11" name="Text 9"/>
          <p:cNvSpPr/>
          <p:nvPr/>
        </p:nvSpPr>
        <p:spPr>
          <a:xfrm>
            <a:off x="3713480" y="3373115"/>
            <a:ext cx="205633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MenuPage</a:t>
            </a:r>
            <a:endParaRPr lang="en-US" sz="1400" dirty="0"/>
          </a:p>
        </p:txBody>
      </p:sp>
      <p:sp>
        <p:nvSpPr>
          <p:cNvPr id="12" name="Text 10"/>
          <p:cNvSpPr/>
          <p:nvPr/>
        </p:nvSpPr>
        <p:spPr>
          <a:xfrm>
            <a:off x="3713480" y="3655070"/>
            <a:ext cx="205633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add_item</a:t>
            </a:r>
            <a:endParaRPr lang="en-US" sz="1200" dirty="0"/>
          </a:p>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cart_count</a:t>
            </a:r>
            <a:endParaRPr lang="en-US" sz="1200" dirty="0"/>
          </a:p>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open_cart</a:t>
            </a:r>
            <a:endParaRPr lang="en-US" sz="1200" dirty="0"/>
          </a:p>
        </p:txBody>
      </p:sp>
      <p:sp>
        <p:nvSpPr>
          <p:cNvPr id="13" name="Shape 11"/>
          <p:cNvSpPr/>
          <p:nvPr/>
        </p:nvSpPr>
        <p:spPr>
          <a:xfrm>
            <a:off x="6353175" y="3244230"/>
            <a:ext cx="2254250" cy="1517650"/>
          </a:xfrm>
          <a:prstGeom prst="roundRect">
            <a:avLst>
              <a:gd name="adj" fmla="val 4812"/>
            </a:avLst>
          </a:prstGeom>
          <a:solidFill>
            <a:srgbClr val="FCFBF7"/>
          </a:solidFill>
          <a:ln w="6350">
            <a:solidFill>
              <a:srgbClr val="C9C2B2"/>
            </a:solidFill>
            <a:prstDash val="solid"/>
          </a:ln>
        </p:spPr>
      </p:sp>
      <p:sp>
        <p:nvSpPr>
          <p:cNvPr id="14" name="Text 12"/>
          <p:cNvSpPr/>
          <p:nvPr/>
        </p:nvSpPr>
        <p:spPr>
          <a:xfrm>
            <a:off x="6482080" y="3373115"/>
            <a:ext cx="205633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CartPage</a:t>
            </a:r>
            <a:endParaRPr lang="en-US" sz="1400" dirty="0"/>
          </a:p>
        </p:txBody>
      </p:sp>
      <p:sp>
        <p:nvSpPr>
          <p:cNvPr id="15" name="Text 13"/>
          <p:cNvSpPr/>
          <p:nvPr/>
        </p:nvSpPr>
        <p:spPr>
          <a:xfrm>
            <a:off x="6482080" y="3655070"/>
            <a:ext cx="205633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apply_coupon</a:t>
            </a:r>
            <a:endParaRPr lang="en-US" sz="1200" dirty="0"/>
          </a:p>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total</a:t>
            </a:r>
            <a:endParaRPr lang="en-US" sz="1200" dirty="0"/>
          </a:p>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message</a:t>
            </a:r>
            <a:endParaRPr lang="en-US" sz="1200" dirty="0"/>
          </a:p>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place_order</a:t>
            </a:r>
            <a:endParaRPr lang="en-US" sz="1200" dirty="0"/>
          </a:p>
        </p:txBody>
      </p:sp>
      <p:sp>
        <p:nvSpPr>
          <p:cNvPr id="16" name="Shape 14"/>
          <p:cNvSpPr/>
          <p:nvPr/>
        </p:nvSpPr>
        <p:spPr>
          <a:xfrm>
            <a:off x="9121775" y="3244230"/>
            <a:ext cx="2254250" cy="1517650"/>
          </a:xfrm>
          <a:prstGeom prst="roundRect">
            <a:avLst>
              <a:gd name="adj" fmla="val 4812"/>
            </a:avLst>
          </a:prstGeom>
          <a:solidFill>
            <a:srgbClr val="FCFBF7"/>
          </a:solidFill>
          <a:ln w="6350">
            <a:solidFill>
              <a:srgbClr val="C9C2B2"/>
            </a:solidFill>
            <a:prstDash val="solid"/>
          </a:ln>
        </p:spPr>
      </p:sp>
      <p:sp>
        <p:nvSpPr>
          <p:cNvPr id="17" name="Text 15"/>
          <p:cNvSpPr/>
          <p:nvPr/>
        </p:nvSpPr>
        <p:spPr>
          <a:xfrm>
            <a:off x="9250680" y="3373115"/>
            <a:ext cx="205633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OrderPage</a:t>
            </a:r>
            <a:endParaRPr lang="en-US" sz="1400" dirty="0"/>
          </a:p>
        </p:txBody>
      </p:sp>
      <p:sp>
        <p:nvSpPr>
          <p:cNvPr id="18" name="Text 16"/>
          <p:cNvSpPr/>
          <p:nvPr/>
        </p:nvSpPr>
        <p:spPr>
          <a:xfrm>
            <a:off x="9250680" y="3655070"/>
            <a:ext cx="20563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status</a:t>
            </a:r>
            <a:endParaRPr lang="en-US" sz="1200" dirty="0"/>
          </a:p>
        </p:txBody>
      </p:sp>
      <p:sp>
        <p:nvSpPr>
          <p:cNvPr id="19" name="Text 17"/>
          <p:cNvSpPr/>
          <p:nvPr/>
        </p:nvSpPr>
        <p:spPr>
          <a:xfrm>
            <a:off x="2667000" y="2885455"/>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481A"/>
                </a:solidFill>
                <a:latin typeface="JetBrains Mono" pitchFamily="34" charset="0"/>
                <a:ea typeface="JetBrains Mono" pitchFamily="34" charset="-122"/>
                <a:cs typeface="JetBrains Mono" pitchFamily="34" charset="-120"/>
              </a:rPr>
              <a:t>login_as</a:t>
            </a:r>
            <a:endParaRPr lang="en-US" sz="1200" dirty="0"/>
          </a:p>
        </p:txBody>
      </p:sp>
      <p:sp>
        <p:nvSpPr>
          <p:cNvPr id="20" name="Text 18"/>
          <p:cNvSpPr/>
          <p:nvPr/>
        </p:nvSpPr>
        <p:spPr>
          <a:xfrm>
            <a:off x="5435600" y="2885455"/>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481A"/>
                </a:solidFill>
                <a:latin typeface="JetBrains Mono" pitchFamily="34" charset="0"/>
                <a:ea typeface="JetBrains Mono" pitchFamily="34" charset="-122"/>
                <a:cs typeface="JetBrains Mono" pitchFamily="34" charset="-120"/>
              </a:rPr>
              <a:t>open_cart</a:t>
            </a:r>
            <a:endParaRPr lang="en-US" sz="1200" dirty="0"/>
          </a:p>
        </p:txBody>
      </p:sp>
      <p:sp>
        <p:nvSpPr>
          <p:cNvPr id="21" name="Text 19"/>
          <p:cNvSpPr/>
          <p:nvPr/>
        </p:nvSpPr>
        <p:spPr>
          <a:xfrm>
            <a:off x="8077200" y="2885455"/>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481A"/>
                </a:solidFill>
                <a:latin typeface="JetBrains Mono" pitchFamily="34" charset="0"/>
                <a:ea typeface="JetBrains Mono" pitchFamily="34" charset="-122"/>
                <a:cs typeface="JetBrains Mono" pitchFamily="34" charset="-120"/>
              </a:rPr>
              <a:t>place_order</a:t>
            </a:r>
            <a:endParaRPr lang="en-US" sz="1200" dirty="0"/>
          </a:p>
        </p:txBody>
      </p:sp>
      <p:pic>
        <p:nvPicPr>
          <p:cNvPr id="22" name="Image 0" descr="connector">    </p:cNvPr>
          <p:cNvPicPr>
            <a:picLocks noChangeAspect="1"/>
          </p:cNvPicPr>
          <p:nvPr/>
        </p:nvPicPr>
        <p:blipFill>
          <a:blip r:embed="rId1"/>
          <a:srcRect l="0" r="0" t="0" b="0"/>
          <a:stretch/>
        </p:blipFill>
        <p:spPr>
          <a:xfrm>
            <a:off x="3022600" y="3952255"/>
            <a:ext cx="609600" cy="101600"/>
          </a:xfrm>
          <a:prstGeom prst="rect">
            <a:avLst/>
          </a:prstGeom>
        </p:spPr>
      </p:pic>
      <p:pic>
        <p:nvPicPr>
          <p:cNvPr id="23" name="Image 1" descr="connector">    </p:cNvPr>
          <p:cNvPicPr>
            <a:picLocks noChangeAspect="1"/>
          </p:cNvPicPr>
          <p:nvPr/>
        </p:nvPicPr>
        <p:blipFill>
          <a:blip r:embed="rId2"/>
          <a:srcRect l="0" r="0" t="0" b="0"/>
          <a:stretch/>
        </p:blipFill>
        <p:spPr>
          <a:xfrm>
            <a:off x="5791200" y="3952255"/>
            <a:ext cx="609600" cy="101600"/>
          </a:xfrm>
          <a:prstGeom prst="rect">
            <a:avLst/>
          </a:prstGeom>
        </p:spPr>
      </p:pic>
      <p:pic>
        <p:nvPicPr>
          <p:cNvPr id="24" name="Image 2" descr="connector">    </p:cNvPr>
          <p:cNvPicPr>
            <a:picLocks noChangeAspect="1"/>
          </p:cNvPicPr>
          <p:nvPr/>
        </p:nvPicPr>
        <p:blipFill>
          <a:blip r:embed="rId3"/>
          <a:srcRect l="0" r="0" t="0" b="0"/>
          <a:stretch/>
        </p:blipFill>
        <p:spPr>
          <a:xfrm>
            <a:off x="8559800" y="3952255"/>
            <a:ext cx="609600" cy="101600"/>
          </a:xfrm>
          <a:prstGeom prst="rect">
            <a:avLst/>
          </a:prstGeom>
        </p:spPr>
      </p:pic>
      <p:sp>
        <p:nvSpPr>
          <p:cNvPr id="25" name="Text 20"/>
          <p:cNvSpPr/>
          <p:nvPr/>
        </p:nvSpPr>
        <p:spPr>
          <a:xfrm>
            <a:off x="812800" y="504445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Tests call page objects; only page objects know locators. Each method that moves to a new page returns that page’s object.</a:t>
            </a:r>
            <a:endParaRPr lang="en-US" sz="1400" dirty="0"/>
          </a:p>
        </p:txBody>
      </p:sp>
      <p:sp>
        <p:nvSpPr>
          <p:cNvPr id="26" name="Text 21"/>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7" name="Text 22"/>
          <p:cNvSpPr/>
          <p:nvPr/>
        </p:nvSpPr>
        <p:spPr>
          <a:xfrm>
            <a:off x="5195411" y="6238255"/>
            <a:ext cx="63693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 Martin Fowler, “PageObject”, 2013 · orange: the method that leads to the next page</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PAGE OBJECT MODEL</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Rules for good page objects</a:t>
            </a:r>
            <a:endParaRPr lang="en-US" sz="3200" dirty="0"/>
          </a:p>
        </p:txBody>
      </p:sp>
      <p:sp>
        <p:nvSpPr>
          <p:cNvPr id="4" name="Shape 2"/>
          <p:cNvSpPr/>
          <p:nvPr/>
        </p:nvSpPr>
        <p:spPr>
          <a:xfrm>
            <a:off x="812800" y="1831975"/>
            <a:ext cx="6350000" cy="0"/>
          </a:xfrm>
          <a:prstGeom prst="line">
            <a:avLst/>
          </a:prstGeom>
          <a:noFill/>
          <a:ln w="6350">
            <a:solidFill>
              <a:srgbClr val="DDD8CC"/>
            </a:solidFill>
            <a:prstDash val="solid"/>
          </a:ln>
        </p:spPr>
      </p:sp>
      <p:sp>
        <p:nvSpPr>
          <p:cNvPr id="5" name="Text 3"/>
          <p:cNvSpPr/>
          <p:nvPr/>
        </p:nvSpPr>
        <p:spPr>
          <a:xfrm>
            <a:off x="812800" y="1910085"/>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81A"/>
                </a:solidFill>
                <a:latin typeface="Space Grotesk" pitchFamily="34" charset="0"/>
                <a:ea typeface="Space Grotesk" pitchFamily="34" charset="-122"/>
                <a:cs typeface="Space Grotesk" pitchFamily="34" charset="-120"/>
              </a:rPr>
              <a:t>1</a:t>
            </a:r>
            <a:endParaRPr lang="en-US" sz="1400" dirty="0"/>
          </a:p>
        </p:txBody>
      </p:sp>
      <p:sp>
        <p:nvSpPr>
          <p:cNvPr id="6" name="Text 4"/>
          <p:cNvSpPr/>
          <p:nvPr/>
        </p:nvSpPr>
        <p:spPr>
          <a:xfrm>
            <a:off x="1219200" y="1910085"/>
            <a:ext cx="6121908" cy="2743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public methods represent the services that the page or component offers”</a:t>
            </a:r>
            <a:endParaRPr lang="en-US" sz="1200" dirty="0"/>
          </a:p>
        </p:txBody>
      </p:sp>
      <p:sp>
        <p:nvSpPr>
          <p:cNvPr id="7" name="Shape 5"/>
          <p:cNvSpPr/>
          <p:nvPr/>
        </p:nvSpPr>
        <p:spPr>
          <a:xfrm>
            <a:off x="812800" y="2238375"/>
            <a:ext cx="6350000" cy="0"/>
          </a:xfrm>
          <a:prstGeom prst="line">
            <a:avLst/>
          </a:prstGeom>
          <a:noFill/>
          <a:ln w="6350">
            <a:solidFill>
              <a:srgbClr val="DDD8CC"/>
            </a:solidFill>
            <a:prstDash val="solid"/>
          </a:ln>
        </p:spPr>
      </p:sp>
      <p:sp>
        <p:nvSpPr>
          <p:cNvPr id="8" name="Text 6"/>
          <p:cNvSpPr/>
          <p:nvPr/>
        </p:nvSpPr>
        <p:spPr>
          <a:xfrm>
            <a:off x="812800" y="2316485"/>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81A"/>
                </a:solidFill>
                <a:latin typeface="Space Grotesk" pitchFamily="34" charset="0"/>
                <a:ea typeface="Space Grotesk" pitchFamily="34" charset="-122"/>
                <a:cs typeface="Space Grotesk" pitchFamily="34" charset="-120"/>
              </a:rPr>
              <a:t>2</a:t>
            </a:r>
            <a:endParaRPr lang="en-US" sz="1400" dirty="0"/>
          </a:p>
        </p:txBody>
      </p:sp>
      <p:sp>
        <p:nvSpPr>
          <p:cNvPr id="9" name="Text 7"/>
          <p:cNvSpPr/>
          <p:nvPr/>
        </p:nvSpPr>
        <p:spPr>
          <a:xfrm>
            <a:off x="1219200" y="2316485"/>
            <a:ext cx="6121908" cy="2743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“Try not to expose the internals of the page or component”</a:t>
            </a:r>
            <a:endParaRPr lang="en-US" sz="1200" dirty="0"/>
          </a:p>
        </p:txBody>
      </p:sp>
      <p:sp>
        <p:nvSpPr>
          <p:cNvPr id="10" name="Shape 8"/>
          <p:cNvSpPr/>
          <p:nvPr/>
        </p:nvSpPr>
        <p:spPr>
          <a:xfrm>
            <a:off x="812800" y="2644775"/>
            <a:ext cx="6350000" cy="0"/>
          </a:xfrm>
          <a:prstGeom prst="line">
            <a:avLst/>
          </a:prstGeom>
          <a:noFill/>
          <a:ln w="6350">
            <a:solidFill>
              <a:srgbClr val="DDD8CC"/>
            </a:solidFill>
            <a:prstDash val="solid"/>
          </a:ln>
        </p:spPr>
      </p:sp>
      <p:sp>
        <p:nvSpPr>
          <p:cNvPr id="11" name="Text 9"/>
          <p:cNvSpPr/>
          <p:nvPr/>
        </p:nvSpPr>
        <p:spPr>
          <a:xfrm>
            <a:off x="812800" y="2722885"/>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81A"/>
                </a:solidFill>
                <a:latin typeface="Space Grotesk" pitchFamily="34" charset="0"/>
                <a:ea typeface="Space Grotesk" pitchFamily="34" charset="-122"/>
                <a:cs typeface="Space Grotesk" pitchFamily="34" charset="-120"/>
              </a:rPr>
              <a:t>3</a:t>
            </a:r>
            <a:endParaRPr lang="en-US" sz="1400" dirty="0"/>
          </a:p>
        </p:txBody>
      </p:sp>
      <p:sp>
        <p:nvSpPr>
          <p:cNvPr id="12" name="Text 10"/>
          <p:cNvSpPr/>
          <p:nvPr/>
        </p:nvSpPr>
        <p:spPr>
          <a:xfrm>
            <a:off x="1219200" y="2722885"/>
            <a:ext cx="6121908" cy="2743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“Generally don't make assertions”</a:t>
            </a:r>
            <a:endParaRPr lang="en-US" sz="1200" dirty="0"/>
          </a:p>
        </p:txBody>
      </p:sp>
      <p:sp>
        <p:nvSpPr>
          <p:cNvPr id="13" name="Shape 11"/>
          <p:cNvSpPr/>
          <p:nvPr/>
        </p:nvSpPr>
        <p:spPr>
          <a:xfrm>
            <a:off x="812800" y="3051175"/>
            <a:ext cx="6350000" cy="0"/>
          </a:xfrm>
          <a:prstGeom prst="line">
            <a:avLst/>
          </a:prstGeom>
          <a:noFill/>
          <a:ln w="6350">
            <a:solidFill>
              <a:srgbClr val="DDD8CC"/>
            </a:solidFill>
            <a:prstDash val="solid"/>
          </a:ln>
        </p:spPr>
      </p:sp>
      <p:sp>
        <p:nvSpPr>
          <p:cNvPr id="14" name="Text 12"/>
          <p:cNvSpPr/>
          <p:nvPr/>
        </p:nvSpPr>
        <p:spPr>
          <a:xfrm>
            <a:off x="812800" y="3129285"/>
            <a:ext cx="304800" cy="4521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81A"/>
                </a:solidFill>
                <a:latin typeface="Space Grotesk" pitchFamily="34" charset="0"/>
                <a:ea typeface="Space Grotesk" pitchFamily="34" charset="-122"/>
                <a:cs typeface="Space Grotesk" pitchFamily="34" charset="-120"/>
              </a:rPr>
              <a:t>4</a:t>
            </a:r>
            <a:endParaRPr lang="en-US" sz="1400" dirty="0"/>
          </a:p>
        </p:txBody>
      </p:sp>
      <p:sp>
        <p:nvSpPr>
          <p:cNvPr id="15" name="Text 13"/>
          <p:cNvSpPr/>
          <p:nvPr/>
        </p:nvSpPr>
        <p:spPr>
          <a:xfrm>
            <a:off x="1219200" y="3129285"/>
            <a:ext cx="61219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“Methods return other Page Objects, Page Component Objects, or optionally themselves (for fluent syntax)”</a:t>
            </a:r>
            <a:endParaRPr lang="en-US" sz="1200" dirty="0"/>
          </a:p>
        </p:txBody>
      </p:sp>
      <p:sp>
        <p:nvSpPr>
          <p:cNvPr id="16" name="Shape 14"/>
          <p:cNvSpPr/>
          <p:nvPr/>
        </p:nvSpPr>
        <p:spPr>
          <a:xfrm>
            <a:off x="812800" y="3635375"/>
            <a:ext cx="6350000" cy="0"/>
          </a:xfrm>
          <a:prstGeom prst="line">
            <a:avLst/>
          </a:prstGeom>
          <a:noFill/>
          <a:ln w="6350">
            <a:solidFill>
              <a:srgbClr val="DDD8CC"/>
            </a:solidFill>
            <a:prstDash val="solid"/>
          </a:ln>
        </p:spPr>
      </p:sp>
      <p:sp>
        <p:nvSpPr>
          <p:cNvPr id="17" name="Text 15"/>
          <p:cNvSpPr/>
          <p:nvPr/>
        </p:nvSpPr>
        <p:spPr>
          <a:xfrm>
            <a:off x="812800" y="3713485"/>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81A"/>
                </a:solidFill>
                <a:latin typeface="Space Grotesk" pitchFamily="34" charset="0"/>
                <a:ea typeface="Space Grotesk" pitchFamily="34" charset="-122"/>
                <a:cs typeface="Space Grotesk" pitchFamily="34" charset="-120"/>
              </a:rPr>
              <a:t>5</a:t>
            </a:r>
            <a:endParaRPr lang="en-US" sz="1400" dirty="0"/>
          </a:p>
        </p:txBody>
      </p:sp>
      <p:sp>
        <p:nvSpPr>
          <p:cNvPr id="18" name="Text 16"/>
          <p:cNvSpPr/>
          <p:nvPr/>
        </p:nvSpPr>
        <p:spPr>
          <a:xfrm>
            <a:off x="1219200" y="3713485"/>
            <a:ext cx="6121908" cy="2743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“Need not represent an entire page all the time”</a:t>
            </a:r>
            <a:endParaRPr lang="en-US" sz="1200" dirty="0"/>
          </a:p>
        </p:txBody>
      </p:sp>
      <p:sp>
        <p:nvSpPr>
          <p:cNvPr id="19" name="Shape 17"/>
          <p:cNvSpPr/>
          <p:nvPr/>
        </p:nvSpPr>
        <p:spPr>
          <a:xfrm>
            <a:off x="812800" y="4041775"/>
            <a:ext cx="6350000" cy="0"/>
          </a:xfrm>
          <a:prstGeom prst="line">
            <a:avLst/>
          </a:prstGeom>
          <a:noFill/>
          <a:ln w="6350">
            <a:solidFill>
              <a:srgbClr val="DDD8CC"/>
            </a:solidFill>
            <a:prstDash val="solid"/>
          </a:ln>
        </p:spPr>
      </p:sp>
      <p:sp>
        <p:nvSpPr>
          <p:cNvPr id="20" name="Shape 18"/>
          <p:cNvSpPr/>
          <p:nvPr/>
        </p:nvSpPr>
        <p:spPr>
          <a:xfrm>
            <a:off x="812800" y="4446905"/>
            <a:ext cx="6350000" cy="0"/>
          </a:xfrm>
          <a:prstGeom prst="line">
            <a:avLst/>
          </a:prstGeom>
          <a:noFill/>
          <a:ln w="6350">
            <a:solidFill>
              <a:srgbClr val="DDD8CC"/>
            </a:solidFill>
            <a:prstDash val="solid"/>
          </a:ln>
        </p:spPr>
      </p:sp>
      <p:sp>
        <p:nvSpPr>
          <p:cNvPr id="21" name="Text 19"/>
          <p:cNvSpPr/>
          <p:nvPr/>
        </p:nvSpPr>
        <p:spPr>
          <a:xfrm>
            <a:off x="812800" y="4119885"/>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81A"/>
                </a:solidFill>
                <a:latin typeface="Space Grotesk" pitchFamily="34" charset="0"/>
                <a:ea typeface="Space Grotesk" pitchFamily="34" charset="-122"/>
                <a:cs typeface="Space Grotesk" pitchFamily="34" charset="-120"/>
              </a:rPr>
              <a:t>6</a:t>
            </a:r>
            <a:endParaRPr lang="en-US" sz="1400" dirty="0"/>
          </a:p>
        </p:txBody>
      </p:sp>
      <p:sp>
        <p:nvSpPr>
          <p:cNvPr id="22" name="Text 20"/>
          <p:cNvSpPr/>
          <p:nvPr/>
        </p:nvSpPr>
        <p:spPr>
          <a:xfrm>
            <a:off x="1219200" y="4119885"/>
            <a:ext cx="6121908" cy="2743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“Different results for the same action are modelled as different methods”</a:t>
            </a:r>
            <a:endParaRPr lang="en-US" sz="1200" dirty="0"/>
          </a:p>
        </p:txBody>
      </p:sp>
      <p:sp>
        <p:nvSpPr>
          <p:cNvPr id="23" name="Shape 21"/>
          <p:cNvSpPr/>
          <p:nvPr/>
        </p:nvSpPr>
        <p:spPr>
          <a:xfrm>
            <a:off x="7467600" y="1828800"/>
            <a:ext cx="3911600" cy="2621280"/>
          </a:xfrm>
          <a:prstGeom prst="roundRect">
            <a:avLst>
              <a:gd name="adj" fmla="val 2907"/>
            </a:avLst>
          </a:prstGeom>
          <a:solidFill>
            <a:srgbClr val="13233A"/>
          </a:solidFill>
          <a:ln/>
        </p:spPr>
      </p:sp>
      <p:sp>
        <p:nvSpPr>
          <p:cNvPr id="24" name="Text 22"/>
          <p:cNvSpPr/>
          <p:nvPr/>
        </p:nvSpPr>
        <p:spPr>
          <a:xfrm>
            <a:off x="7670800" y="2006600"/>
            <a:ext cx="36103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ASSERTIONS</a:t>
            </a:r>
            <a:endParaRPr lang="en-US" sz="1200" dirty="0"/>
          </a:p>
        </p:txBody>
      </p:sp>
      <p:sp>
        <p:nvSpPr>
          <p:cNvPr id="25" name="Text 23"/>
          <p:cNvSpPr/>
          <p:nvPr/>
        </p:nvSpPr>
        <p:spPr>
          <a:xfrm>
            <a:off x="7670800" y="2296170"/>
            <a:ext cx="36103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selenium.dev: “Page objects themselves should never make verifications or assertions.”</a:t>
            </a:r>
            <a:endParaRPr lang="en-US" sz="1200" dirty="0"/>
          </a:p>
        </p:txBody>
      </p:sp>
      <p:sp>
        <p:nvSpPr>
          <p:cNvPr id="26" name="Text 24"/>
          <p:cNvSpPr/>
          <p:nvPr/>
        </p:nvSpPr>
        <p:spPr>
          <a:xfrm>
            <a:off x="7670800" y="2799085"/>
            <a:ext cx="36103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Fowler: “I favor having no assertions in page objects.”</a:t>
            </a:r>
            <a:endParaRPr lang="en-US" sz="1200" dirty="0"/>
          </a:p>
        </p:txBody>
      </p:sp>
      <p:sp>
        <p:nvSpPr>
          <p:cNvPr id="27" name="Shape 25"/>
          <p:cNvSpPr/>
          <p:nvPr/>
        </p:nvSpPr>
        <p:spPr>
          <a:xfrm>
            <a:off x="7670800" y="3305175"/>
            <a:ext cx="3505200" cy="0"/>
          </a:xfrm>
          <a:prstGeom prst="line">
            <a:avLst/>
          </a:prstGeom>
          <a:noFill/>
          <a:ln w="6350">
            <a:solidFill>
              <a:srgbClr val="3A5476"/>
            </a:solidFill>
            <a:prstDash val="solid"/>
          </a:ln>
        </p:spPr>
      </p:sp>
      <p:sp>
        <p:nvSpPr>
          <p:cNvPr id="28" name="Text 26"/>
          <p:cNvSpPr/>
          <p:nvPr/>
        </p:nvSpPr>
        <p:spPr>
          <a:xfrm>
            <a:off x="7670800" y="3383280"/>
            <a:ext cx="36103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The one allowed check: the page has loaded. Our MenuPage looks for #menu as soon as it is created.</a:t>
            </a:r>
            <a:endParaRPr lang="en-US" sz="1200" dirty="0"/>
          </a:p>
        </p:txBody>
      </p:sp>
      <p:sp>
        <p:nvSpPr>
          <p:cNvPr id="29" name="Text 2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30" name="Text 28"/>
          <p:cNvSpPr/>
          <p:nvPr/>
        </p:nvSpPr>
        <p:spPr>
          <a:xfrm>
            <a:off x="5377180" y="6238255"/>
            <a:ext cx="61820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Rules 1–6: selenium.dev, “Page object models” summary · Fowler, “PageObject” (2013)</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PAGE OBJECT MODEL</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base page keeps every wait in one place</a:t>
            </a:r>
            <a:endParaRPr lang="en-US" sz="3200" dirty="0"/>
          </a:p>
        </p:txBody>
      </p:sp>
      <p:sp>
        <p:nvSpPr>
          <p:cNvPr id="4" name="Shape 2"/>
          <p:cNvSpPr/>
          <p:nvPr/>
        </p:nvSpPr>
        <p:spPr>
          <a:xfrm>
            <a:off x="812800" y="1828800"/>
            <a:ext cx="10566400" cy="3769360"/>
          </a:xfrm>
          <a:prstGeom prst="roundRect">
            <a:avLst>
              <a:gd name="adj" fmla="val 2022"/>
            </a:avLst>
          </a:prstGeom>
          <a:solidFill>
            <a:srgbClr val="13233A"/>
          </a:solidFill>
          <a:ln/>
        </p:spPr>
      </p:sp>
      <p:sp>
        <p:nvSpPr>
          <p:cNvPr id="5" name="Text 3"/>
          <p:cNvSpPr/>
          <p:nvPr/>
        </p:nvSpPr>
        <p:spPr>
          <a:xfrm>
            <a:off x="990600" y="2006600"/>
            <a:ext cx="10517124" cy="34391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class</a:t>
            </a:r>
            <a:r>
              <a:rPr lang="en-US" sz="1200" dirty="0">
                <a:solidFill>
                  <a:srgbClr val="E6EAF0"/>
                </a:solidFill>
                <a:latin typeface="JetBrains Mono" pitchFamily="34" charset="0"/>
                <a:ea typeface="JetBrains Mono" pitchFamily="34" charset="-122"/>
                <a:cs typeface="JetBrains Mono" pitchFamily="34" charset="-120"/>
              </a:rPr>
              <a:t> BasePage: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__init__(self, driver, timeout=5):</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self.driver = 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self.wait = WebDriverWait(driver, timeout)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self.page_wait = WebDriverWait(driver, timeout, ignored_exceptions=[WebDriverException])</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find(self, locator):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return</a:t>
            </a:r>
            <a:r>
              <a:rPr lang="en-US" sz="1200" dirty="0">
                <a:solidFill>
                  <a:srgbClr val="E6EAF0"/>
                </a:solidFill>
                <a:latin typeface="JetBrains Mono" pitchFamily="34" charset="0"/>
                <a:ea typeface="JetBrains Mono" pitchFamily="34" charset="-122"/>
                <a:cs typeface="JetBrains Mono" pitchFamily="34" charset="-120"/>
              </a:rPr>
              <a:t> self.wait.until(EC.visibility_of_element_located(locator))</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click(self, locator):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self.wait.until(EC.element_to_be_clickable(locator)).click()</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submit(self, locator):            </a:t>
            </a:r>
            <a:r>
              <a:rPr lang="en-US" sz="1200" dirty="0">
                <a:solidFill>
                  <a:srgbClr val="8C9AAD"/>
                </a:solidFill>
                <a:latin typeface="JetBrains Mono" pitchFamily="34" charset="0"/>
                <a:ea typeface="JetBrains Mono" pitchFamily="34" charset="-122"/>
                <a:cs typeface="JetBrains Mono" pitchFamily="34" charset="-120"/>
              </a:rPr>
              <a:t># the click loads a new page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button = self.wait.until(EC.element_to_be_clickable(locator))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button.click()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self.page_wait.until(EC.staleness_of(button))</a:t>
            </a:r>
            <a:endParaRPr lang="en-US" sz="1200" dirty="0"/>
          </a:p>
        </p:txBody>
      </p:sp>
      <p:sp>
        <p:nvSpPr>
          <p:cNvPr id="6" name="Text 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7" name="Text 5"/>
          <p:cNvSpPr/>
          <p:nvPr/>
        </p:nvSpPr>
        <p:spPr>
          <a:xfrm>
            <a:off x="4912836" y="6238255"/>
            <a:ext cx="66603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pages/base_page.py · enter() omitted · submit() is the fix for the flaky lock test from Lecture 14</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PAGE OBJECT MODEL</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page object returns the next page</a:t>
            </a:r>
            <a:endParaRPr lang="en-US" sz="3200" dirty="0"/>
          </a:p>
        </p:txBody>
      </p:sp>
      <p:sp>
        <p:nvSpPr>
          <p:cNvPr id="4" name="Text 2"/>
          <p:cNvSpPr/>
          <p:nvPr/>
        </p:nvSpPr>
        <p:spPr>
          <a:xfrm>
            <a:off x="812800" y="1828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pages/login_page.py · excerpt</a:t>
            </a:r>
            <a:endParaRPr lang="en-US" sz="1200" dirty="0"/>
          </a:p>
        </p:txBody>
      </p:sp>
      <p:sp>
        <p:nvSpPr>
          <p:cNvPr id="5" name="Shape 3"/>
          <p:cNvSpPr/>
          <p:nvPr/>
        </p:nvSpPr>
        <p:spPr>
          <a:xfrm>
            <a:off x="812800" y="2118370"/>
            <a:ext cx="5715000" cy="3129280"/>
          </a:xfrm>
          <a:prstGeom prst="roundRect">
            <a:avLst>
              <a:gd name="adj" fmla="val 2435"/>
            </a:avLst>
          </a:prstGeom>
          <a:solidFill>
            <a:srgbClr val="13233A"/>
          </a:solidFill>
          <a:ln/>
        </p:spPr>
      </p:sp>
      <p:sp>
        <p:nvSpPr>
          <p:cNvPr id="6" name="Text 4"/>
          <p:cNvSpPr/>
          <p:nvPr/>
        </p:nvSpPr>
        <p:spPr>
          <a:xfrm>
            <a:off x="990600" y="2296170"/>
            <a:ext cx="5520182" cy="27990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class</a:t>
            </a:r>
            <a:r>
              <a:rPr lang="en-US" sz="1200" dirty="0">
                <a:solidFill>
                  <a:srgbClr val="E6EAF0"/>
                </a:solidFill>
                <a:latin typeface="JetBrains Mono" pitchFamily="34" charset="0"/>
                <a:ea typeface="JetBrains Mono" pitchFamily="34" charset="-122"/>
                <a:cs typeface="JetBrains Mono" pitchFamily="34" charset="-120"/>
              </a:rPr>
              <a:t> LoginPage(BasePage):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STUDENT_ID = (By.ID, </a:t>
            </a:r>
            <a:r>
              <a:rPr lang="en-US" sz="1200" dirty="0">
                <a:solidFill>
                  <a:srgbClr val="9CC7F0"/>
                </a:solidFill>
                <a:latin typeface="JetBrains Mono" pitchFamily="34" charset="0"/>
                <a:ea typeface="JetBrains Mono" pitchFamily="34" charset="-122"/>
                <a:cs typeface="JetBrains Mono" pitchFamily="34" charset="-120"/>
              </a:rPr>
              <a:t>"student-id"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PASSWORD = (By.ID, </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LOG_IN = (By.ID, </a:t>
            </a:r>
            <a:r>
              <a:rPr lang="en-US" sz="1200" dirty="0">
                <a:solidFill>
                  <a:srgbClr val="9CC7F0"/>
                </a:solidFill>
                <a:latin typeface="JetBrains Mono" pitchFamily="34" charset="0"/>
                <a:ea typeface="JetBrains Mono" pitchFamily="34" charset="-122"/>
                <a:cs typeface="JetBrains Mono" pitchFamily="34" charset="-120"/>
              </a:rPr>
              <a:t>"login"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ERROR = (By.ID, </a:t>
            </a:r>
            <a:r>
              <a:rPr lang="en-US" sz="1200" dirty="0">
                <a:solidFill>
                  <a:srgbClr val="9CC7F0"/>
                </a:solidFill>
                <a:latin typeface="JetBrains Mono" pitchFamily="34" charset="0"/>
                <a:ea typeface="JetBrains Mono" pitchFamily="34" charset="-122"/>
                <a:cs typeface="JetBrains Mono" pitchFamily="34" charset="-120"/>
              </a:rPr>
              <a:t>"error"</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login_as(self, student_id, password):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self._submit(student_id, password)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return</a:t>
            </a:r>
            <a:r>
              <a:rPr lang="en-US" sz="1200" dirty="0">
                <a:solidFill>
                  <a:srgbClr val="E6EAF0"/>
                </a:solidFill>
                <a:latin typeface="JetBrains Mono" pitchFamily="34" charset="0"/>
                <a:ea typeface="JetBrains Mono" pitchFamily="34" charset="-122"/>
                <a:cs typeface="JetBrains Mono" pitchFamily="34" charset="-120"/>
              </a:rPr>
              <a:t> MenuPage(self.driver)</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login_expecting_error(self, student_id, password):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self._submit(student_id, password)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return</a:t>
            </a:r>
            <a:r>
              <a:rPr lang="en-US" sz="1200" dirty="0">
                <a:solidFill>
                  <a:srgbClr val="E6EAF0"/>
                </a:solidFill>
                <a:latin typeface="JetBrains Mono" pitchFamily="34" charset="0"/>
                <a:ea typeface="JetBrains Mono" pitchFamily="34" charset="-122"/>
                <a:cs typeface="JetBrains Mono" pitchFamily="34" charset="-120"/>
              </a:rPr>
              <a:t> self.find(self.ERROR).text</a:t>
            </a:r>
            <a:endParaRPr lang="en-US" sz="1200" dirty="0"/>
          </a:p>
        </p:txBody>
      </p:sp>
      <p:sp>
        <p:nvSpPr>
          <p:cNvPr id="7" name="Shape 5"/>
          <p:cNvSpPr/>
          <p:nvPr/>
        </p:nvSpPr>
        <p:spPr>
          <a:xfrm>
            <a:off x="6835775" y="1831975"/>
            <a:ext cx="4540250" cy="786130"/>
          </a:xfrm>
          <a:prstGeom prst="roundRect">
            <a:avLst>
              <a:gd name="adj" fmla="val 9289"/>
            </a:avLst>
          </a:prstGeom>
          <a:solidFill>
            <a:srgbClr val="FCFBF7"/>
          </a:solidFill>
          <a:ln w="6350">
            <a:solidFill>
              <a:srgbClr val="DDD8CC"/>
            </a:solidFill>
            <a:prstDash val="solid"/>
          </a:ln>
        </p:spPr>
      </p:sp>
      <p:sp>
        <p:nvSpPr>
          <p:cNvPr id="8" name="Text 6"/>
          <p:cNvSpPr/>
          <p:nvPr/>
        </p:nvSpPr>
        <p:spPr>
          <a:xfrm>
            <a:off x="7015480" y="1986285"/>
            <a:ext cx="43062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Locators in one place</a:t>
            </a:r>
            <a:endParaRPr lang="en-US" sz="1200" dirty="0"/>
          </a:p>
        </p:txBody>
      </p:sp>
      <p:sp>
        <p:nvSpPr>
          <p:cNvPr id="9" name="Text 7"/>
          <p:cNvSpPr/>
          <p:nvPr/>
        </p:nvSpPr>
        <p:spPr>
          <a:xfrm>
            <a:off x="7015480" y="2250455"/>
            <a:ext cx="43062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Four tuples at the top. When an ID changes, fix it here once.</a:t>
            </a:r>
            <a:endParaRPr lang="en-US" sz="1200" dirty="0"/>
          </a:p>
        </p:txBody>
      </p:sp>
      <p:sp>
        <p:nvSpPr>
          <p:cNvPr id="10" name="Shape 8"/>
          <p:cNvSpPr/>
          <p:nvPr/>
        </p:nvSpPr>
        <p:spPr>
          <a:xfrm>
            <a:off x="6835775" y="2726060"/>
            <a:ext cx="4540250" cy="999490"/>
          </a:xfrm>
          <a:prstGeom prst="roundRect">
            <a:avLst>
              <a:gd name="adj" fmla="val 7306"/>
            </a:avLst>
          </a:prstGeom>
          <a:solidFill>
            <a:srgbClr val="FCFBF7"/>
          </a:solidFill>
          <a:ln w="6350">
            <a:solidFill>
              <a:srgbClr val="DDD8CC"/>
            </a:solidFill>
            <a:prstDash val="solid"/>
          </a:ln>
        </p:spPr>
      </p:sp>
      <p:sp>
        <p:nvSpPr>
          <p:cNvPr id="11" name="Text 9"/>
          <p:cNvSpPr/>
          <p:nvPr/>
        </p:nvSpPr>
        <p:spPr>
          <a:xfrm>
            <a:off x="7015480" y="2880370"/>
            <a:ext cx="43062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Two outcomes, two methods</a:t>
            </a:r>
            <a:endParaRPr lang="en-US" sz="1200" dirty="0"/>
          </a:p>
        </p:txBody>
      </p:sp>
      <p:sp>
        <p:nvSpPr>
          <p:cNvPr id="12" name="Text 10"/>
          <p:cNvSpPr/>
          <p:nvPr/>
        </p:nvSpPr>
        <p:spPr>
          <a:xfrm>
            <a:off x="7015480" y="3144515"/>
            <a:ext cx="43062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login_as returns a MenuPage; login_expecting_error returns the message.</a:t>
            </a:r>
            <a:endParaRPr lang="en-US" sz="1200" dirty="0"/>
          </a:p>
        </p:txBody>
      </p:sp>
      <p:sp>
        <p:nvSpPr>
          <p:cNvPr id="13" name="Shape 11"/>
          <p:cNvSpPr/>
          <p:nvPr/>
        </p:nvSpPr>
        <p:spPr>
          <a:xfrm>
            <a:off x="6835775" y="3833490"/>
            <a:ext cx="4540250" cy="999490"/>
          </a:xfrm>
          <a:prstGeom prst="roundRect">
            <a:avLst>
              <a:gd name="adj" fmla="val 7306"/>
            </a:avLst>
          </a:prstGeom>
          <a:solidFill>
            <a:srgbClr val="FCFBF7"/>
          </a:solidFill>
          <a:ln w="6350">
            <a:solidFill>
              <a:srgbClr val="DDD8CC"/>
            </a:solidFill>
            <a:prstDash val="solid"/>
          </a:ln>
        </p:spPr>
      </p:sp>
      <p:sp>
        <p:nvSpPr>
          <p:cNvPr id="14" name="Text 12"/>
          <p:cNvSpPr/>
          <p:nvPr/>
        </p:nvSpPr>
        <p:spPr>
          <a:xfrm>
            <a:off x="7015480" y="3987800"/>
            <a:ext cx="43062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No assertions</a:t>
            </a:r>
            <a:endParaRPr lang="en-US" sz="1200" dirty="0"/>
          </a:p>
        </p:txBody>
      </p:sp>
      <p:sp>
        <p:nvSpPr>
          <p:cNvPr id="15" name="Text 13"/>
          <p:cNvSpPr/>
          <p:nvPr/>
        </p:nvSpPr>
        <p:spPr>
          <a:xfrm>
            <a:off x="7015480" y="4251970"/>
            <a:ext cx="43062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page object reports what it sees; the test decides if that is right.</a:t>
            </a:r>
            <a:endParaRPr lang="en-US" sz="12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7227174" y="6238255"/>
            <a:ext cx="42765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_submit() types both fields and calls submit() from BasePage</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PAGE OBJECT MODEL</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waiting belongs in the page object</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pages/menu_page.py · excerpt</a:t>
            </a:r>
            <a:endParaRPr lang="en-US" sz="1200" dirty="0"/>
          </a:p>
        </p:txBody>
      </p:sp>
      <p:sp>
        <p:nvSpPr>
          <p:cNvPr id="5" name="Shape 3"/>
          <p:cNvSpPr/>
          <p:nvPr/>
        </p:nvSpPr>
        <p:spPr>
          <a:xfrm>
            <a:off x="812800" y="2118370"/>
            <a:ext cx="10566400" cy="3556000"/>
          </a:xfrm>
          <a:prstGeom prst="roundRect">
            <a:avLst>
              <a:gd name="adj" fmla="val 2143"/>
            </a:avLst>
          </a:prstGeom>
          <a:solidFill>
            <a:srgbClr val="13233A"/>
          </a:solidFill>
          <a:ln/>
        </p:spPr>
      </p:sp>
      <p:sp>
        <p:nvSpPr>
          <p:cNvPr id="6" name="Text 4"/>
          <p:cNvSpPr/>
          <p:nvPr/>
        </p:nvSpPr>
        <p:spPr>
          <a:xfrm>
            <a:off x="990600" y="2296170"/>
            <a:ext cx="10517124" cy="32258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class</a:t>
            </a:r>
            <a:r>
              <a:rPr lang="en-US" sz="1200" dirty="0">
                <a:solidFill>
                  <a:srgbClr val="E6EAF0"/>
                </a:solidFill>
                <a:latin typeface="JetBrains Mono" pitchFamily="34" charset="0"/>
                <a:ea typeface="JetBrains Mono" pitchFamily="34" charset="-122"/>
                <a:cs typeface="JetBrains Mono" pitchFamily="34" charset="-120"/>
              </a:rPr>
              <a:t> MenuPage(BasePage):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MENU = (By.ID, </a:t>
            </a:r>
            <a:r>
              <a:rPr lang="en-US" sz="1200" dirty="0">
                <a:solidFill>
                  <a:srgbClr val="9CC7F0"/>
                </a:solidFill>
                <a:latin typeface="JetBrains Mono" pitchFamily="34" charset="0"/>
                <a:ea typeface="JetBrains Mono" pitchFamily="34" charset="-122"/>
                <a:cs typeface="JetBrains Mono" pitchFamily="34" charset="-120"/>
              </a:rPr>
              <a:t>"menu"</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CART_COUNT = (By.ID, </a:t>
            </a:r>
            <a:r>
              <a:rPr lang="en-US" sz="1200" dirty="0">
                <a:solidFill>
                  <a:srgbClr val="9CC7F0"/>
                </a:solidFill>
                <a:latin typeface="JetBrains Mono" pitchFamily="34" charset="0"/>
                <a:ea typeface="JetBrains Mono" pitchFamily="34" charset="-122"/>
                <a:cs typeface="JetBrains Mono" pitchFamily="34" charset="-120"/>
              </a:rPr>
              <a:t>"cart-count"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__init__(self, 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super().__init__(driver)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self.find(self.MENU)          </a:t>
            </a:r>
            <a:r>
              <a:rPr lang="en-US" sz="1200" dirty="0">
                <a:solidFill>
                  <a:srgbClr val="8C9AAD"/>
                </a:solidFill>
                <a:latin typeface="JetBrains Mono" pitchFamily="34" charset="0"/>
                <a:ea typeface="JetBrains Mono" pitchFamily="34" charset="-122"/>
                <a:cs typeface="JetBrains Mono" pitchFamily="34" charset="-120"/>
              </a:rPr>
              <a:t># the one check: the page has loaded</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add_item(self, item_id, times=1):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add = (By.CSS_SELECTOR, </a:t>
            </a:r>
            <a:r>
              <a:rPr lang="en-US" sz="1200" dirty="0">
                <a:solidFill>
                  <a:srgbClr val="9CC7F0"/>
                </a:solidFill>
                <a:latin typeface="JetBrains Mono" pitchFamily="34" charset="0"/>
                <a:ea typeface="JetBrains Mono" pitchFamily="34" charset="-122"/>
                <a:cs typeface="JetBrains Mono" pitchFamily="34" charset="-120"/>
              </a:rPr>
              <a:t>f"button[data-testid='add-{item_id}']"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for</a:t>
            </a:r>
            <a:r>
              <a:rPr lang="en-US" sz="1200" dirty="0">
                <a:solidFill>
                  <a:srgbClr val="E6EAF0"/>
                </a:solidFill>
                <a:latin typeface="JetBrains Mono" pitchFamily="34" charset="0"/>
                <a:ea typeface="JetBrains Mono" pitchFamily="34" charset="-122"/>
                <a:cs typeface="JetBrains Mono" pitchFamily="34" charset="-120"/>
              </a:rPr>
              <a:t> _ </a:t>
            </a:r>
            <a:r>
              <a:rPr lang="en-US" sz="1200" dirty="0">
                <a:solidFill>
                  <a:srgbClr val="F2A36B"/>
                </a:solidFill>
                <a:latin typeface="JetBrains Mono" pitchFamily="34" charset="0"/>
                <a:ea typeface="JetBrains Mono" pitchFamily="34" charset="-122"/>
                <a:cs typeface="JetBrains Mono" pitchFamily="34" charset="-120"/>
              </a:rPr>
              <a:t>in</a:t>
            </a:r>
            <a:r>
              <a:rPr lang="en-US" sz="1200" dirty="0">
                <a:solidFill>
                  <a:srgbClr val="E6EAF0"/>
                </a:solidFill>
                <a:latin typeface="JetBrains Mono" pitchFamily="34" charset="0"/>
                <a:ea typeface="JetBrains Mono" pitchFamily="34" charset="-122"/>
                <a:cs typeface="JetBrains Mono" pitchFamily="34" charset="-120"/>
              </a:rPr>
              <a:t> range(times):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expected = str(self.cart_count() + 1)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self.click(add)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self.wait.until(EC.text_to_be_present_in_element(self.CART_COUNT, expected))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return</a:t>
            </a:r>
            <a:r>
              <a:rPr lang="en-US" sz="1200" dirty="0">
                <a:solidFill>
                  <a:srgbClr val="E6EAF0"/>
                </a:solidFill>
                <a:latin typeface="JetBrains Mono" pitchFamily="34" charset="0"/>
                <a:ea typeface="JetBrains Mono" pitchFamily="34" charset="-122"/>
                <a:cs typeface="JetBrains Mono" pitchFamily="34" charset="-120"/>
              </a:rPr>
              <a:t> self</a:t>
            </a:r>
            <a:endParaRPr lang="en-US" sz="1200" dirty="0"/>
          </a:p>
        </p:txBody>
      </p:sp>
      <p:sp>
        <p:nvSpPr>
          <p:cNvPr id="7" name="Text 5"/>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8" name="Text 6"/>
          <p:cNvSpPr/>
          <p:nvPr/>
        </p:nvSpPr>
        <p:spPr>
          <a:xfrm>
            <a:off x="4111704" y="6238255"/>
            <a:ext cx="74855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add_item waits for the badge after every click, so no test ever needs sleep() · returning self allows chaining</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PAGE OBJECT MODEL</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Tests that read like the requirement</a:t>
            </a:r>
            <a:endParaRPr lang="en-US" sz="3200" dirty="0"/>
          </a:p>
        </p:txBody>
      </p:sp>
      <p:sp>
        <p:nvSpPr>
          <p:cNvPr id="4" name="Shape 2"/>
          <p:cNvSpPr/>
          <p:nvPr/>
        </p:nvSpPr>
        <p:spPr>
          <a:xfrm>
            <a:off x="812800" y="1828800"/>
            <a:ext cx="6350000" cy="3769360"/>
          </a:xfrm>
          <a:prstGeom prst="roundRect">
            <a:avLst>
              <a:gd name="adj" fmla="val 2022"/>
            </a:avLst>
          </a:prstGeom>
          <a:solidFill>
            <a:srgbClr val="13233A"/>
          </a:solidFill>
          <a:ln/>
        </p:spPr>
      </p:sp>
      <p:sp>
        <p:nvSpPr>
          <p:cNvPr id="5" name="Text 3"/>
          <p:cNvSpPr/>
          <p:nvPr/>
        </p:nvSpPr>
        <p:spPr>
          <a:xfrm>
            <a:off x="990600" y="2006600"/>
            <a:ext cx="6174232" cy="34391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@pytest.mark.req(</a:t>
            </a:r>
            <a:r>
              <a:rPr lang="en-US" sz="1200" dirty="0">
                <a:solidFill>
                  <a:srgbClr val="9CC7F0"/>
                </a:solidFill>
                <a:latin typeface="JetBrains Mono" pitchFamily="34" charset="0"/>
                <a:ea typeface="JetBrains Mono" pitchFamily="34" charset="-122"/>
                <a:cs typeface="JetBrains Mono" pitchFamily="34" charset="-120"/>
              </a:rPr>
              <a:t>"REQ-03"</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test_save20_takes_20_percent_off(driver, base_url):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cart = (LoginPage(driver).open(base_url)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.login_as(</a:t>
            </a:r>
            <a:r>
              <a:rPr lang="en-US" sz="1200" dirty="0">
                <a:solidFill>
                  <a:srgbClr val="9CC7F0"/>
                </a:solidFill>
                <a:latin typeface="JetBrains Mono" pitchFamily="34" charset="0"/>
                <a:ea typeface="JetBrains Mono" pitchFamily="34" charset="-122"/>
                <a:cs typeface="JetBrains Mono" pitchFamily="34" charset="-120"/>
              </a:rPr>
              <a:t>"S101"</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"secret"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.add_item(1, times=4)            </a:t>
            </a:r>
            <a:r>
              <a:rPr lang="en-US" sz="1200" dirty="0">
                <a:solidFill>
                  <a:srgbClr val="8C9AAD"/>
                </a:solidFill>
                <a:latin typeface="JetBrains Mono" pitchFamily="34" charset="0"/>
                <a:ea typeface="JetBrains Mono" pitchFamily="34" charset="-122"/>
                <a:cs typeface="JetBrains Mono" pitchFamily="34" charset="-120"/>
              </a:rPr>
              <a:t># 4 x Rs 60 = Rs 240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.open_cart()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.apply_coupon(</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cart.total() == 192</a:t>
            </a:r>
            <a:endParaRPr lang="en-US" sz="1200" dirty="0"/>
          </a:p>
          <a:p>
            <a:pPr algn="l" indent="0" marL="0">
              <a:lnSpc>
                <a:spcPts val="1680"/>
              </a:lnSpc>
              <a:buNone/>
            </a:pP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@pytest.mark.req(</a:t>
            </a:r>
            <a:r>
              <a:rPr lang="en-US" sz="1200" dirty="0">
                <a:solidFill>
                  <a:srgbClr val="9CC7F0"/>
                </a:solidFill>
                <a:latin typeface="JetBrains Mono" pitchFamily="34" charset="0"/>
                <a:ea typeface="JetBrains Mono" pitchFamily="34" charset="-122"/>
                <a:cs typeface="JetBrains Mono" pitchFamily="34" charset="-120"/>
              </a:rPr>
              <a:t>"REQ-01"</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test_account_locks_after_three_failures(driver, base_url):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page = LoginPage(driver).open(base_url)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for</a:t>
            </a:r>
            <a:r>
              <a:rPr lang="en-US" sz="1200" dirty="0">
                <a:solidFill>
                  <a:srgbClr val="E6EAF0"/>
                </a:solidFill>
                <a:latin typeface="JetBrains Mono" pitchFamily="34" charset="0"/>
                <a:ea typeface="JetBrains Mono" pitchFamily="34" charset="-122"/>
                <a:cs typeface="JetBrains Mono" pitchFamily="34" charset="-120"/>
              </a:rPr>
              <a:t> _ </a:t>
            </a:r>
            <a:r>
              <a:rPr lang="en-US" sz="1200" dirty="0">
                <a:solidFill>
                  <a:srgbClr val="F2A36B"/>
                </a:solidFill>
                <a:latin typeface="JetBrains Mono" pitchFamily="34" charset="0"/>
                <a:ea typeface="JetBrains Mono" pitchFamily="34" charset="-122"/>
                <a:cs typeface="JetBrains Mono" pitchFamily="34" charset="-120"/>
              </a:rPr>
              <a:t>in</a:t>
            </a:r>
            <a:r>
              <a:rPr lang="en-US" sz="1200" dirty="0">
                <a:solidFill>
                  <a:srgbClr val="E6EAF0"/>
                </a:solidFill>
                <a:latin typeface="JetBrains Mono" pitchFamily="34" charset="0"/>
                <a:ea typeface="JetBrains Mono" pitchFamily="34" charset="-122"/>
                <a:cs typeface="JetBrains Mono" pitchFamily="34" charset="-120"/>
              </a:rPr>
              <a:t> range(3):</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error = page.login_expecting_error(</a:t>
            </a:r>
            <a:r>
              <a:rPr lang="en-US" sz="1200" dirty="0">
                <a:solidFill>
                  <a:srgbClr val="9CC7F0"/>
                </a:solidFill>
                <a:latin typeface="JetBrains Mono" pitchFamily="34" charset="0"/>
                <a:ea typeface="JetBrains Mono" pitchFamily="34" charset="-122"/>
                <a:cs typeface="JetBrains Mono" pitchFamily="34" charset="-120"/>
              </a:rPr>
              <a:t>"S102"</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"wrong"</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error == </a:t>
            </a:r>
            <a:r>
              <a:rPr lang="en-US" sz="1200" dirty="0">
                <a:solidFill>
                  <a:srgbClr val="9CC7F0"/>
                </a:solidFill>
                <a:latin typeface="JetBrains Mono" pitchFamily="34" charset="0"/>
                <a:ea typeface="JetBrains Mono" pitchFamily="34" charset="-122"/>
                <a:cs typeface="JetBrains Mono" pitchFamily="34" charset="-120"/>
              </a:rPr>
              <a:t>"Account locked after 3 failed attempts"</a:t>
            </a:r>
            <a:endParaRPr lang="en-US" sz="1200" dirty="0"/>
          </a:p>
        </p:txBody>
      </p:sp>
      <p:sp>
        <p:nvSpPr>
          <p:cNvPr id="6" name="Shape 4"/>
          <p:cNvSpPr/>
          <p:nvPr/>
        </p:nvSpPr>
        <p:spPr>
          <a:xfrm>
            <a:off x="7467600" y="1828800"/>
            <a:ext cx="3911600" cy="995680"/>
          </a:xfrm>
          <a:prstGeom prst="roundRect">
            <a:avLst>
              <a:gd name="adj" fmla="val 7653"/>
            </a:avLst>
          </a:prstGeom>
          <a:solidFill>
            <a:srgbClr val="13233A"/>
          </a:solidFill>
          <a:ln/>
        </p:spPr>
      </p:sp>
      <p:sp>
        <p:nvSpPr>
          <p:cNvPr id="7" name="Text 5"/>
          <p:cNvSpPr/>
          <p:nvPr/>
        </p:nvSpPr>
        <p:spPr>
          <a:xfrm>
            <a:off x="7645400" y="2006600"/>
            <a:ext cx="3662680" cy="6654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tests/ui</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[100%]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4 passed in 14.07s</a:t>
            </a:r>
            <a:endParaRPr lang="en-US" sz="1200" dirty="0"/>
          </a:p>
        </p:txBody>
      </p:sp>
      <p:sp>
        <p:nvSpPr>
          <p:cNvPr id="8" name="Shape 6"/>
          <p:cNvSpPr/>
          <p:nvPr/>
        </p:nvSpPr>
        <p:spPr>
          <a:xfrm>
            <a:off x="7470775" y="2929260"/>
            <a:ext cx="3905250" cy="999490"/>
          </a:xfrm>
          <a:prstGeom prst="roundRect">
            <a:avLst>
              <a:gd name="adj" fmla="val 7306"/>
            </a:avLst>
          </a:prstGeom>
          <a:solidFill>
            <a:srgbClr val="FCFBF7"/>
          </a:solidFill>
          <a:ln w="6350">
            <a:solidFill>
              <a:srgbClr val="DDD8CC"/>
            </a:solidFill>
            <a:prstDash val="solid"/>
          </a:ln>
        </p:spPr>
      </p:sp>
      <p:sp>
        <p:nvSpPr>
          <p:cNvPr id="9" name="Text 7"/>
          <p:cNvSpPr/>
          <p:nvPr/>
        </p:nvSpPr>
        <p:spPr>
          <a:xfrm>
            <a:off x="7650480" y="3083570"/>
            <a:ext cx="365221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Linear vs POM</a:t>
            </a:r>
            <a:endParaRPr lang="en-US" sz="1200" dirty="0"/>
          </a:p>
        </p:txBody>
      </p:sp>
      <p:sp>
        <p:nvSpPr>
          <p:cNvPr id="10" name="Text 8"/>
          <p:cNvSpPr/>
          <p:nvPr/>
        </p:nvSpPr>
        <p:spPr>
          <a:xfrm>
            <a:off x="7650480" y="3347715"/>
            <a:ext cx="365221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Linear: 1 test in 11.4 s, 10 s of it asleep. POM: 4 tests in about 14 s, no sleeps.</a:t>
            </a:r>
            <a:endParaRPr lang="en-US" sz="1200" dirty="0"/>
          </a:p>
        </p:txBody>
      </p:sp>
      <p:sp>
        <p:nvSpPr>
          <p:cNvPr id="11" name="Text 9"/>
          <p:cNvSpPr/>
          <p:nvPr/>
        </p:nvSpPr>
        <p:spPr>
          <a:xfrm>
            <a:off x="7467600" y="4033515"/>
            <a:ext cx="40289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Requirement tags tie each test to the RTM from Module 2.</a:t>
            </a:r>
            <a:endParaRPr lang="en-US" sz="1200" dirty="0"/>
          </a:p>
        </p:txBody>
      </p:sp>
      <p:sp>
        <p:nvSpPr>
          <p:cNvPr id="12" name="Text 10"/>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3" name="Text 11"/>
          <p:cNvSpPr/>
          <p:nvPr/>
        </p:nvSpPr>
        <p:spPr>
          <a:xfrm>
            <a:off x="7409418" y="6238255"/>
            <a:ext cx="40888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tests/ui/test_order_ui.py · 2 of its 4 tests · output trimmed</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TEST SCRIPT DESIGN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Project structure and conventions</a:t>
            </a:r>
            <a:endParaRPr lang="en-US" sz="3200" dirty="0"/>
          </a:p>
        </p:txBody>
      </p:sp>
      <p:sp>
        <p:nvSpPr>
          <p:cNvPr id="4" name="Shape 2"/>
          <p:cNvSpPr/>
          <p:nvPr/>
        </p:nvSpPr>
        <p:spPr>
          <a:xfrm>
            <a:off x="812800" y="1828800"/>
            <a:ext cx="5969000" cy="3556000"/>
          </a:xfrm>
          <a:prstGeom prst="roundRect">
            <a:avLst>
              <a:gd name="adj" fmla="val 2143"/>
            </a:avLst>
          </a:prstGeom>
          <a:solidFill>
            <a:srgbClr val="13233A"/>
          </a:solidFill>
          <a:ln/>
        </p:spPr>
      </p:sp>
      <p:sp>
        <p:nvSpPr>
          <p:cNvPr id="5" name="Text 3"/>
          <p:cNvSpPr/>
          <p:nvPr/>
        </p:nvSpPr>
        <p:spPr>
          <a:xfrm>
            <a:off x="990600" y="2006600"/>
            <a:ext cx="5781802" cy="32258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canteen-tests/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pages/              </a:t>
            </a:r>
            <a:r>
              <a:rPr lang="en-US" sz="1200" dirty="0">
                <a:solidFill>
                  <a:srgbClr val="8C9AAD"/>
                </a:solidFill>
                <a:latin typeface="JetBrains Mono" pitchFamily="34" charset="0"/>
                <a:ea typeface="JetBrains Mono" pitchFamily="34" charset="-122"/>
                <a:cs typeface="JetBrains Mono" pitchFamily="34" charset="-120"/>
              </a:rPr>
              <a:t>page objects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base_page.py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login_page.py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menu_page.py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cart_page.py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order_page.py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tests/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ui/             </a:t>
            </a:r>
            <a:r>
              <a:rPr lang="en-US" sz="1200" dirty="0">
                <a:solidFill>
                  <a:srgbClr val="8C9AAD"/>
                </a:solidFill>
                <a:latin typeface="JetBrains Mono" pitchFamily="34" charset="0"/>
                <a:ea typeface="JetBrains Mono" pitchFamily="34" charset="-122"/>
                <a:cs typeface="JetBrains Mono" pitchFamily="34" charset="-120"/>
              </a:rPr>
              <a:t>Selenium tests, conftest.py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api/            </a:t>
            </a:r>
            <a:r>
              <a:rPr lang="en-US" sz="1200" dirty="0">
                <a:solidFill>
                  <a:srgbClr val="8C9AAD"/>
                </a:solidFill>
                <a:latin typeface="JetBrains Mono" pitchFamily="34" charset="0"/>
                <a:ea typeface="JetBrains Mono" pitchFamily="34" charset="-122"/>
                <a:cs typeface="JetBrains Mono" pitchFamily="34" charset="-120"/>
              </a:rPr>
              <a:t>requests tests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a11y/           </a:t>
            </a:r>
            <a:r>
              <a:rPr lang="en-US" sz="1200" dirty="0">
                <a:solidFill>
                  <a:srgbClr val="8C9AAD"/>
                </a:solidFill>
                <a:latin typeface="JetBrains Mono" pitchFamily="34" charset="0"/>
                <a:ea typeface="JetBrains Mono" pitchFamily="34" charset="-122"/>
                <a:cs typeface="JetBrains Mono" pitchFamily="34" charset="-120"/>
              </a:rPr>
              <a:t>axe checks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robot/              </a:t>
            </a:r>
            <a:r>
              <a:rPr lang="en-US" sz="1200" dirty="0">
                <a:solidFill>
                  <a:srgbClr val="8C9AAD"/>
                </a:solidFill>
                <a:latin typeface="JetBrains Mono" pitchFamily="34" charset="0"/>
                <a:ea typeface="JetBrains Mono" pitchFamily="34" charset="-122"/>
                <a:cs typeface="JetBrains Mono" pitchFamily="34" charset="-120"/>
              </a:rPr>
              <a:t>keyword tests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api/                </a:t>
            </a:r>
            <a:r>
              <a:rPr lang="en-US" sz="1200" dirty="0">
                <a:solidFill>
                  <a:srgbClr val="8C9AAD"/>
                </a:solidFill>
                <a:latin typeface="JetBrains Mono" pitchFamily="34" charset="0"/>
                <a:ea typeface="JetBrains Mono" pitchFamily="34" charset="-122"/>
                <a:cs typeface="JetBrains Mono" pitchFamily="34" charset="-120"/>
              </a:rPr>
              <a:t>Postman collection and data</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perf/               </a:t>
            </a:r>
            <a:r>
              <a:rPr lang="en-US" sz="1200" dirty="0">
                <a:solidFill>
                  <a:srgbClr val="8C9AAD"/>
                </a:solidFill>
                <a:latin typeface="JetBrains Mono" pitchFamily="34" charset="0"/>
                <a:ea typeface="JetBrains Mono" pitchFamily="34" charset="-122"/>
                <a:cs typeface="JetBrains Mono" pitchFamily="34" charset="-120"/>
              </a:rPr>
              <a:t>locustfile.py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pytest.ini          </a:t>
            </a:r>
            <a:r>
              <a:rPr lang="en-US" sz="1200" dirty="0">
                <a:solidFill>
                  <a:srgbClr val="8C9AAD"/>
                </a:solidFill>
                <a:latin typeface="JetBrains Mono" pitchFamily="34" charset="0"/>
                <a:ea typeface="JetBrains Mono" pitchFamily="34" charset="-122"/>
                <a:cs typeface="JetBrains Mono" pitchFamily="34" charset="-120"/>
              </a:rPr>
              <a:t>markers: smoke, req(id)</a:t>
            </a:r>
            <a:endParaRPr lang="en-US" sz="1200" dirty="0"/>
          </a:p>
        </p:txBody>
      </p:sp>
      <p:sp>
        <p:nvSpPr>
          <p:cNvPr id="6" name="Shape 4"/>
          <p:cNvSpPr/>
          <p:nvPr/>
        </p:nvSpPr>
        <p:spPr>
          <a:xfrm>
            <a:off x="7086600" y="1835150"/>
            <a:ext cx="4292600" cy="0"/>
          </a:xfrm>
          <a:prstGeom prst="line">
            <a:avLst/>
          </a:prstGeom>
          <a:noFill/>
          <a:ln w="12700">
            <a:solidFill>
              <a:srgbClr val="13233A"/>
            </a:solidFill>
            <a:prstDash val="solid"/>
          </a:ln>
        </p:spPr>
      </p:sp>
      <p:sp>
        <p:nvSpPr>
          <p:cNvPr id="7" name="Text 5"/>
          <p:cNvSpPr/>
          <p:nvPr/>
        </p:nvSpPr>
        <p:spPr>
          <a:xfrm>
            <a:off x="7086600" y="1915170"/>
            <a:ext cx="44213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Config from outside</a:t>
            </a:r>
            <a:endParaRPr lang="en-US" sz="1200" dirty="0"/>
          </a:p>
        </p:txBody>
      </p:sp>
      <p:sp>
        <p:nvSpPr>
          <p:cNvPr id="8" name="Text 6"/>
          <p:cNvSpPr/>
          <p:nvPr/>
        </p:nvSpPr>
        <p:spPr>
          <a:xfrm>
            <a:off x="7086600" y="2166615"/>
            <a:ext cx="442137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BASE_URL, GRID_URL and secrets come from environment variables</a:t>
            </a:r>
            <a:endParaRPr lang="en-US" sz="1200" dirty="0"/>
          </a:p>
        </p:txBody>
      </p:sp>
      <p:sp>
        <p:nvSpPr>
          <p:cNvPr id="9" name="Shape 7"/>
          <p:cNvSpPr/>
          <p:nvPr/>
        </p:nvSpPr>
        <p:spPr>
          <a:xfrm>
            <a:off x="7086600" y="2701305"/>
            <a:ext cx="4292600" cy="0"/>
          </a:xfrm>
          <a:prstGeom prst="line">
            <a:avLst/>
          </a:prstGeom>
          <a:noFill/>
          <a:ln w="12700">
            <a:solidFill>
              <a:srgbClr val="13233A"/>
            </a:solidFill>
            <a:prstDash val="solid"/>
          </a:ln>
        </p:spPr>
      </p:sp>
      <p:sp>
        <p:nvSpPr>
          <p:cNvPr id="10" name="Text 8"/>
          <p:cNvSpPr/>
          <p:nvPr/>
        </p:nvSpPr>
        <p:spPr>
          <a:xfrm>
            <a:off x="7086600" y="2781300"/>
            <a:ext cx="44213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One driver fixture</a:t>
            </a:r>
            <a:endParaRPr lang="en-US" sz="1200" dirty="0"/>
          </a:p>
        </p:txBody>
      </p:sp>
      <p:sp>
        <p:nvSpPr>
          <p:cNvPr id="11" name="Text 9"/>
          <p:cNvSpPr/>
          <p:nvPr/>
        </p:nvSpPr>
        <p:spPr>
          <a:xfrm>
            <a:off x="7086600" y="3032770"/>
            <a:ext cx="44213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conftest.py starts the browser and always quits it</a:t>
            </a:r>
            <a:endParaRPr lang="en-US" sz="1200" dirty="0"/>
          </a:p>
        </p:txBody>
      </p:sp>
      <p:sp>
        <p:nvSpPr>
          <p:cNvPr id="12" name="Shape 10"/>
          <p:cNvSpPr/>
          <p:nvPr/>
        </p:nvSpPr>
        <p:spPr>
          <a:xfrm>
            <a:off x="7086600" y="3354065"/>
            <a:ext cx="4292600" cy="0"/>
          </a:xfrm>
          <a:prstGeom prst="line">
            <a:avLst/>
          </a:prstGeom>
          <a:noFill/>
          <a:ln w="12700">
            <a:solidFill>
              <a:srgbClr val="13233A"/>
            </a:solidFill>
            <a:prstDash val="solid"/>
          </a:ln>
        </p:spPr>
      </p:sp>
      <p:sp>
        <p:nvSpPr>
          <p:cNvPr id="13" name="Text 11"/>
          <p:cNvSpPr/>
          <p:nvPr/>
        </p:nvSpPr>
        <p:spPr>
          <a:xfrm>
            <a:off x="7086600" y="3434085"/>
            <a:ext cx="44213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Independent tests</a:t>
            </a:r>
            <a:endParaRPr lang="en-US" sz="1200" dirty="0"/>
          </a:p>
        </p:txBody>
      </p:sp>
      <p:sp>
        <p:nvSpPr>
          <p:cNvPr id="14" name="Text 12"/>
          <p:cNvSpPr/>
          <p:nvPr/>
        </p:nvSpPr>
        <p:spPr>
          <a:xfrm>
            <a:off x="7086600" y="3685555"/>
            <a:ext cx="44213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Each test logs in and builds its own cart</a:t>
            </a:r>
            <a:endParaRPr lang="en-US" sz="1200" dirty="0"/>
          </a:p>
        </p:txBody>
      </p:sp>
      <p:sp>
        <p:nvSpPr>
          <p:cNvPr id="15" name="Shape 13"/>
          <p:cNvSpPr/>
          <p:nvPr/>
        </p:nvSpPr>
        <p:spPr>
          <a:xfrm>
            <a:off x="7086600" y="4006850"/>
            <a:ext cx="4292600" cy="0"/>
          </a:xfrm>
          <a:prstGeom prst="line">
            <a:avLst/>
          </a:prstGeom>
          <a:noFill/>
          <a:ln w="12700">
            <a:solidFill>
              <a:srgbClr val="13233A"/>
            </a:solidFill>
            <a:prstDash val="solid"/>
          </a:ln>
        </p:spPr>
      </p:sp>
      <p:sp>
        <p:nvSpPr>
          <p:cNvPr id="16" name="Text 14"/>
          <p:cNvSpPr/>
          <p:nvPr/>
        </p:nvSpPr>
        <p:spPr>
          <a:xfrm>
            <a:off x="7086600" y="4086870"/>
            <a:ext cx="44213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Waits in BasePage</a:t>
            </a:r>
            <a:endParaRPr lang="en-US" sz="1200" dirty="0"/>
          </a:p>
        </p:txBody>
      </p:sp>
      <p:sp>
        <p:nvSpPr>
          <p:cNvPr id="17" name="Text 15"/>
          <p:cNvSpPr/>
          <p:nvPr/>
        </p:nvSpPr>
        <p:spPr>
          <a:xfrm>
            <a:off x="7086600" y="4338315"/>
            <a:ext cx="44213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sleep() anywhere in the suite</a:t>
            </a:r>
            <a:endParaRPr lang="en-US" sz="1200" dirty="0"/>
          </a:p>
        </p:txBody>
      </p:sp>
      <p:sp>
        <p:nvSpPr>
          <p:cNvPr id="18" name="Text 16"/>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9" name="Text 17"/>
          <p:cNvSpPr/>
          <p:nvPr/>
        </p:nvSpPr>
        <p:spPr>
          <a:xfrm>
            <a:off x="6657181" y="6238255"/>
            <a:ext cx="48636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Simplified from this module’s example code · POM in Selenium: Lab 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L18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18</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two problems of the linear script that the Page Object Model removes.</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Should CartPage.total() assert that the total is 192? Where does that check belong?</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does LoginPage have login_expecting_error() as well as login_as()?</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cart link’s ID changes to basket. How many files change in the linear suite, and in the POM suite?</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19</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3 · LECTURE 19 · 40 MINUTES</a:t>
            </a:r>
            <a:endParaRPr lang="en-US" sz="1200" dirty="0"/>
          </a:p>
        </p:txBody>
      </p:sp>
      <p:sp>
        <p:nvSpPr>
          <p:cNvPr id="4" name="Text 2"/>
          <p:cNvSpPr/>
          <p:nvPr/>
        </p:nvSpPr>
        <p:spPr>
          <a:xfrm>
            <a:off x="812800" y="3464570"/>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API test automation</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with Postman</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sp>
      <p:sp>
        <p:nvSpPr>
          <p:cNvPr id="6" name="Text 4"/>
          <p:cNvSpPr/>
          <p:nvPr/>
        </p:nvSpPr>
        <p:spPr>
          <a:xfrm>
            <a:off x="8128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1</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Collections</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sp>
      <p:sp>
        <p:nvSpPr>
          <p:cNvPr id="9" name="Text 7"/>
          <p:cNvSpPr/>
          <p:nvPr/>
        </p:nvSpPr>
        <p:spPr>
          <a:xfrm>
            <a:off x="39116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2</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Environments</a:t>
            </a:r>
            <a:endParaRPr lang="en-US" sz="2000" dirty="0"/>
          </a:p>
        </p:txBody>
      </p:sp>
      <p:sp>
        <p:nvSpPr>
          <p:cNvPr id="11" name="Shape 9"/>
          <p:cNvSpPr/>
          <p:nvPr/>
        </p:nvSpPr>
        <p:spPr>
          <a:xfrm>
            <a:off x="7010400" y="5320035"/>
            <a:ext cx="2794000" cy="0"/>
          </a:xfrm>
          <a:prstGeom prst="line">
            <a:avLst/>
          </a:prstGeom>
          <a:noFill/>
          <a:ln w="12700">
            <a:solidFill>
              <a:srgbClr val="3A5476"/>
            </a:solidFill>
            <a:prstDash val="solid"/>
          </a:ln>
        </p:spPr>
      </p:sp>
      <p:sp>
        <p:nvSpPr>
          <p:cNvPr id="12" name="Text 10"/>
          <p:cNvSpPr/>
          <p:nvPr/>
        </p:nvSpPr>
        <p:spPr>
          <a:xfrm>
            <a:off x="7010400" y="54508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3</a:t>
            </a:r>
            <a:endParaRPr lang="en-US" sz="1200" dirty="0"/>
          </a:p>
        </p:txBody>
      </p:sp>
      <p:sp>
        <p:nvSpPr>
          <p:cNvPr id="13" name="Text 11"/>
          <p:cNvSpPr/>
          <p:nvPr/>
        </p:nvSpPr>
        <p:spPr>
          <a:xfrm>
            <a:off x="70104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Assertions</a:t>
            </a: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API TEST AUTOMATION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Why automate at the API level</a:t>
            </a:r>
            <a:endParaRPr lang="en-US" sz="3200" dirty="0"/>
          </a:p>
        </p:txBody>
      </p:sp>
      <p:sp>
        <p:nvSpPr>
          <p:cNvPr id="4" name="Shape 2"/>
          <p:cNvSpPr/>
          <p:nvPr/>
        </p:nvSpPr>
        <p:spPr>
          <a:xfrm>
            <a:off x="812800" y="1828800"/>
            <a:ext cx="5207000" cy="1003300"/>
          </a:xfrm>
          <a:prstGeom prst="roundRect">
            <a:avLst>
              <a:gd name="adj" fmla="val 7595"/>
            </a:avLst>
          </a:prstGeom>
          <a:solidFill>
            <a:srgbClr val="DCE7F3"/>
          </a:solidFill>
          <a:ln/>
        </p:spPr>
      </p:sp>
      <p:sp>
        <p:nvSpPr>
          <p:cNvPr id="5" name="Text 3"/>
          <p:cNvSpPr/>
          <p:nvPr/>
        </p:nvSpPr>
        <p:spPr>
          <a:xfrm>
            <a:off x="990600" y="1981200"/>
            <a:ext cx="499694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A9C"/>
                </a:solidFill>
                <a:latin typeface="Space Grotesk" pitchFamily="34" charset="0"/>
                <a:ea typeface="Space Grotesk" pitchFamily="34" charset="-122"/>
                <a:cs typeface="Space Grotesk" pitchFamily="34" charset="-120"/>
              </a:rPr>
              <a:t>0.2 s</a:t>
            </a:r>
            <a:endParaRPr lang="en-US" sz="3200" dirty="0"/>
          </a:p>
        </p:txBody>
      </p:sp>
      <p:sp>
        <p:nvSpPr>
          <p:cNvPr id="6" name="Text 4"/>
          <p:cNvSpPr/>
          <p:nvPr/>
        </p:nvSpPr>
        <p:spPr>
          <a:xfrm>
            <a:off x="990600" y="2466355"/>
            <a:ext cx="49969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whole order journey through the API: 5 requests, 7 assertions</a:t>
            </a:r>
            <a:endParaRPr lang="en-US" sz="1200" dirty="0"/>
          </a:p>
        </p:txBody>
      </p:sp>
      <p:sp>
        <p:nvSpPr>
          <p:cNvPr id="7" name="Shape 5"/>
          <p:cNvSpPr/>
          <p:nvPr/>
        </p:nvSpPr>
        <p:spPr>
          <a:xfrm>
            <a:off x="6172200" y="1828800"/>
            <a:ext cx="5207000" cy="1003300"/>
          </a:xfrm>
          <a:prstGeom prst="roundRect">
            <a:avLst>
              <a:gd name="adj" fmla="val 7595"/>
            </a:avLst>
          </a:prstGeom>
          <a:solidFill>
            <a:srgbClr val="F7E3D5"/>
          </a:solidFill>
          <a:ln/>
        </p:spPr>
      </p:sp>
      <p:sp>
        <p:nvSpPr>
          <p:cNvPr id="8" name="Text 6"/>
          <p:cNvSpPr/>
          <p:nvPr/>
        </p:nvSpPr>
        <p:spPr>
          <a:xfrm>
            <a:off x="6350000" y="1981200"/>
            <a:ext cx="499694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9481A"/>
                </a:solidFill>
                <a:latin typeface="Space Grotesk" pitchFamily="34" charset="0"/>
                <a:ea typeface="Space Grotesk" pitchFamily="34" charset="-122"/>
                <a:cs typeface="Space Grotesk" pitchFamily="34" charset="-120"/>
              </a:rPr>
              <a:t>about 3.5 s</a:t>
            </a:r>
            <a:endParaRPr lang="en-US" sz="3200" dirty="0"/>
          </a:p>
        </p:txBody>
      </p:sp>
      <p:sp>
        <p:nvSpPr>
          <p:cNvPr id="9" name="Text 7"/>
          <p:cNvSpPr/>
          <p:nvPr/>
        </p:nvSpPr>
        <p:spPr>
          <a:xfrm>
            <a:off x="6350000" y="2466355"/>
            <a:ext cx="49969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for each UI test through the browser: 4 tests took 14 s</a:t>
            </a:r>
            <a:endParaRPr lang="en-US" sz="1200" dirty="0"/>
          </a:p>
        </p:txBody>
      </p:sp>
      <p:sp>
        <p:nvSpPr>
          <p:cNvPr id="10" name="Shape 8"/>
          <p:cNvSpPr/>
          <p:nvPr/>
        </p:nvSpPr>
        <p:spPr>
          <a:xfrm>
            <a:off x="815975" y="3089275"/>
            <a:ext cx="2520950" cy="999490"/>
          </a:xfrm>
          <a:prstGeom prst="roundRect">
            <a:avLst>
              <a:gd name="adj" fmla="val 7306"/>
            </a:avLst>
          </a:prstGeom>
          <a:solidFill>
            <a:srgbClr val="FCFBF7"/>
          </a:solidFill>
          <a:ln w="6350">
            <a:solidFill>
              <a:srgbClr val="DDD8CC"/>
            </a:solidFill>
            <a:prstDash val="solid"/>
          </a:ln>
        </p:spPr>
      </p:sp>
      <p:sp>
        <p:nvSpPr>
          <p:cNvPr id="11" name="Text 9"/>
          <p:cNvSpPr/>
          <p:nvPr/>
        </p:nvSpPr>
        <p:spPr>
          <a:xfrm>
            <a:off x="995680" y="3243585"/>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Fast</a:t>
            </a:r>
            <a:endParaRPr lang="en-US" sz="1200" dirty="0"/>
          </a:p>
        </p:txBody>
      </p:sp>
      <p:sp>
        <p:nvSpPr>
          <p:cNvPr id="12" name="Text 10"/>
          <p:cNvSpPr/>
          <p:nvPr/>
        </p:nvSpPr>
        <p:spPr>
          <a:xfrm>
            <a:off x="995680" y="3507755"/>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browser to start, no pages to render</a:t>
            </a:r>
            <a:endParaRPr lang="en-US" sz="1200" dirty="0"/>
          </a:p>
        </p:txBody>
      </p:sp>
      <p:sp>
        <p:nvSpPr>
          <p:cNvPr id="13" name="Shape 11"/>
          <p:cNvSpPr/>
          <p:nvPr/>
        </p:nvSpPr>
        <p:spPr>
          <a:xfrm>
            <a:off x="3495675" y="3089275"/>
            <a:ext cx="2520950" cy="999490"/>
          </a:xfrm>
          <a:prstGeom prst="roundRect">
            <a:avLst>
              <a:gd name="adj" fmla="val 7306"/>
            </a:avLst>
          </a:prstGeom>
          <a:solidFill>
            <a:srgbClr val="FCFBF7"/>
          </a:solidFill>
          <a:ln w="6350">
            <a:solidFill>
              <a:srgbClr val="DDD8CC"/>
            </a:solidFill>
            <a:prstDash val="solid"/>
          </a:ln>
        </p:spPr>
      </p:sp>
      <p:sp>
        <p:nvSpPr>
          <p:cNvPr id="14" name="Text 12"/>
          <p:cNvSpPr/>
          <p:nvPr/>
        </p:nvSpPr>
        <p:spPr>
          <a:xfrm>
            <a:off x="3675380" y="3243585"/>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Stable</a:t>
            </a:r>
            <a:endParaRPr lang="en-US" sz="1200" dirty="0"/>
          </a:p>
        </p:txBody>
      </p:sp>
      <p:sp>
        <p:nvSpPr>
          <p:cNvPr id="15" name="Text 13"/>
          <p:cNvSpPr/>
          <p:nvPr/>
        </p:nvSpPr>
        <p:spPr>
          <a:xfrm>
            <a:off x="3675380" y="3507755"/>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layout, locators or animations to break</a:t>
            </a:r>
            <a:endParaRPr lang="en-US" sz="1200" dirty="0"/>
          </a:p>
        </p:txBody>
      </p:sp>
      <p:sp>
        <p:nvSpPr>
          <p:cNvPr id="16" name="Shape 14"/>
          <p:cNvSpPr/>
          <p:nvPr/>
        </p:nvSpPr>
        <p:spPr>
          <a:xfrm>
            <a:off x="6175375" y="3089275"/>
            <a:ext cx="2520950" cy="999490"/>
          </a:xfrm>
          <a:prstGeom prst="roundRect">
            <a:avLst>
              <a:gd name="adj" fmla="val 7306"/>
            </a:avLst>
          </a:prstGeom>
          <a:solidFill>
            <a:srgbClr val="FCFBF7"/>
          </a:solidFill>
          <a:ln w="6350">
            <a:solidFill>
              <a:srgbClr val="DDD8CC"/>
            </a:solidFill>
            <a:prstDash val="solid"/>
          </a:ln>
        </p:spPr>
      </p:sp>
      <p:sp>
        <p:nvSpPr>
          <p:cNvPr id="17" name="Text 15"/>
          <p:cNvSpPr/>
          <p:nvPr/>
        </p:nvSpPr>
        <p:spPr>
          <a:xfrm>
            <a:off x="6355080" y="3243585"/>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Early</a:t>
            </a:r>
            <a:endParaRPr lang="en-US" sz="1200" dirty="0"/>
          </a:p>
        </p:txBody>
      </p:sp>
      <p:sp>
        <p:nvSpPr>
          <p:cNvPr id="18" name="Text 16"/>
          <p:cNvSpPr/>
          <p:nvPr/>
        </p:nvSpPr>
        <p:spPr>
          <a:xfrm>
            <a:off x="6355080" y="3507755"/>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Runs as soon as the API exists, before the UI</a:t>
            </a:r>
            <a:endParaRPr lang="en-US" sz="1200" dirty="0"/>
          </a:p>
        </p:txBody>
      </p:sp>
      <p:sp>
        <p:nvSpPr>
          <p:cNvPr id="19" name="Shape 17"/>
          <p:cNvSpPr/>
          <p:nvPr/>
        </p:nvSpPr>
        <p:spPr>
          <a:xfrm>
            <a:off x="8855075" y="3089275"/>
            <a:ext cx="2520950" cy="999490"/>
          </a:xfrm>
          <a:prstGeom prst="roundRect">
            <a:avLst>
              <a:gd name="adj" fmla="val 7306"/>
            </a:avLst>
          </a:prstGeom>
          <a:solidFill>
            <a:srgbClr val="FCFBF7"/>
          </a:solidFill>
          <a:ln w="6350">
            <a:solidFill>
              <a:srgbClr val="DDD8CC"/>
            </a:solidFill>
            <a:prstDash val="solid"/>
          </a:ln>
        </p:spPr>
      </p:sp>
      <p:sp>
        <p:nvSpPr>
          <p:cNvPr id="20" name="Text 18"/>
          <p:cNvSpPr/>
          <p:nvPr/>
        </p:nvSpPr>
        <p:spPr>
          <a:xfrm>
            <a:off x="9034780" y="3243585"/>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Precise</a:t>
            </a:r>
            <a:endParaRPr lang="en-US" sz="1200" dirty="0"/>
          </a:p>
        </p:txBody>
      </p:sp>
      <p:sp>
        <p:nvSpPr>
          <p:cNvPr id="21" name="Text 19"/>
          <p:cNvSpPr/>
          <p:nvPr/>
        </p:nvSpPr>
        <p:spPr>
          <a:xfrm>
            <a:off x="9034780" y="3507755"/>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Checks status codes and JSON fields directly</a:t>
            </a:r>
            <a:endParaRPr lang="en-US" sz="1200" dirty="0"/>
          </a:p>
        </p:txBody>
      </p:sp>
      <p:sp>
        <p:nvSpPr>
          <p:cNvPr id="22" name="Text 20"/>
          <p:cNvSpPr/>
          <p:nvPr/>
        </p:nvSpPr>
        <p:spPr>
          <a:xfrm>
            <a:off x="812800" y="434595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Keep a few UI journeys; put most functional checks on the API.</a:t>
            </a:r>
            <a:endParaRPr lang="en-US" sz="1400" dirty="0"/>
          </a:p>
        </p:txBody>
      </p:sp>
      <p:sp>
        <p:nvSpPr>
          <p:cNvPr id="23" name="Text 21"/>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4" name="Text 22"/>
          <p:cNvSpPr/>
          <p:nvPr/>
        </p:nvSpPr>
        <p:spPr>
          <a:xfrm>
            <a:off x="5270024" y="6238255"/>
            <a:ext cx="62924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Timings from this module’s runs on one test VM: Newman 202 ms; pytest UI suite 14.07 s</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API TEST AUTOMATION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Postman building blocks</a:t>
            </a:r>
            <a:endParaRPr lang="en-US" sz="3200" dirty="0"/>
          </a:p>
        </p:txBody>
      </p:sp>
      <p:sp>
        <p:nvSpPr>
          <p:cNvPr id="4" name="Shape 2"/>
          <p:cNvSpPr/>
          <p:nvPr/>
        </p:nvSpPr>
        <p:spPr>
          <a:xfrm>
            <a:off x="815975" y="1831975"/>
            <a:ext cx="3414157" cy="999490"/>
          </a:xfrm>
          <a:prstGeom prst="roundRect">
            <a:avLst>
              <a:gd name="adj" fmla="val 7306"/>
            </a:avLst>
          </a:prstGeom>
          <a:solidFill>
            <a:srgbClr val="FCFBF7"/>
          </a:solidFill>
          <a:ln w="6350">
            <a:solidFill>
              <a:srgbClr val="DDD8CC"/>
            </a:solidFill>
            <a:prstDash val="solid"/>
          </a:ln>
        </p:spPr>
      </p:sp>
      <p:sp>
        <p:nvSpPr>
          <p:cNvPr id="5" name="Text 3"/>
          <p:cNvSpPr/>
          <p:nvPr/>
        </p:nvSpPr>
        <p:spPr>
          <a:xfrm>
            <a:off x="995680" y="1986285"/>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Collection</a:t>
            </a:r>
            <a:endParaRPr lang="en-US" sz="1200" dirty="0"/>
          </a:p>
        </p:txBody>
      </p:sp>
      <p:sp>
        <p:nvSpPr>
          <p:cNvPr id="6" name="Text 4"/>
          <p:cNvSpPr/>
          <p:nvPr/>
        </p:nvSpPr>
        <p:spPr>
          <a:xfrm>
            <a:off x="995680" y="22504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saved, ordered set of requests in folders, run as one suite</a:t>
            </a:r>
            <a:endParaRPr lang="en-US" sz="1200" dirty="0"/>
          </a:p>
        </p:txBody>
      </p:sp>
      <p:sp>
        <p:nvSpPr>
          <p:cNvPr id="7" name="Shape 5"/>
          <p:cNvSpPr/>
          <p:nvPr/>
        </p:nvSpPr>
        <p:spPr>
          <a:xfrm>
            <a:off x="4388882" y="1831975"/>
            <a:ext cx="3414157" cy="999490"/>
          </a:xfrm>
          <a:prstGeom prst="roundRect">
            <a:avLst>
              <a:gd name="adj" fmla="val 7306"/>
            </a:avLst>
          </a:prstGeom>
          <a:solidFill>
            <a:srgbClr val="FCFBF7"/>
          </a:solidFill>
          <a:ln w="6350">
            <a:solidFill>
              <a:srgbClr val="DDD8CC"/>
            </a:solidFill>
            <a:prstDash val="solid"/>
          </a:ln>
        </p:spPr>
      </p:sp>
      <p:sp>
        <p:nvSpPr>
          <p:cNvPr id="8" name="Text 6"/>
          <p:cNvSpPr/>
          <p:nvPr/>
        </p:nvSpPr>
        <p:spPr>
          <a:xfrm>
            <a:off x="4568587" y="1986285"/>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Environment</a:t>
            </a:r>
            <a:endParaRPr lang="en-US" sz="1200" dirty="0"/>
          </a:p>
        </p:txBody>
      </p:sp>
      <p:sp>
        <p:nvSpPr>
          <p:cNvPr id="9" name="Text 7"/>
          <p:cNvSpPr/>
          <p:nvPr/>
        </p:nvSpPr>
        <p:spPr>
          <a:xfrm>
            <a:off x="4568587" y="22504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Variables per stage, such as baseUrl for local or staging</a:t>
            </a:r>
            <a:endParaRPr lang="en-US" sz="1200" dirty="0"/>
          </a:p>
        </p:txBody>
      </p:sp>
      <p:sp>
        <p:nvSpPr>
          <p:cNvPr id="10" name="Shape 8"/>
          <p:cNvSpPr/>
          <p:nvPr/>
        </p:nvSpPr>
        <p:spPr>
          <a:xfrm>
            <a:off x="7961789" y="1831975"/>
            <a:ext cx="3414157" cy="999490"/>
          </a:xfrm>
          <a:prstGeom prst="roundRect">
            <a:avLst>
              <a:gd name="adj" fmla="val 7306"/>
            </a:avLst>
          </a:prstGeom>
          <a:solidFill>
            <a:srgbClr val="FCFBF7"/>
          </a:solidFill>
          <a:ln w="6350">
            <a:solidFill>
              <a:srgbClr val="DDD8CC"/>
            </a:solidFill>
            <a:prstDash val="solid"/>
          </a:ln>
        </p:spPr>
      </p:sp>
      <p:sp>
        <p:nvSpPr>
          <p:cNvPr id="11" name="Text 9"/>
          <p:cNvSpPr/>
          <p:nvPr/>
        </p:nvSpPr>
        <p:spPr>
          <a:xfrm>
            <a:off x="8141494" y="1986285"/>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Variables</a:t>
            </a:r>
            <a:endParaRPr lang="en-US" sz="1200" dirty="0"/>
          </a:p>
        </p:txBody>
      </p:sp>
      <p:sp>
        <p:nvSpPr>
          <p:cNvPr id="12" name="Text 10"/>
          <p:cNvSpPr/>
          <p:nvPr/>
        </p:nvSpPr>
        <p:spPr>
          <a:xfrm>
            <a:off x="8141494" y="22504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Five scopes, from global to local; the narrowest one wins</a:t>
            </a:r>
            <a:endParaRPr lang="en-US" sz="1200" dirty="0"/>
          </a:p>
        </p:txBody>
      </p:sp>
      <p:sp>
        <p:nvSpPr>
          <p:cNvPr id="13" name="Shape 11"/>
          <p:cNvSpPr/>
          <p:nvPr/>
        </p:nvSpPr>
        <p:spPr>
          <a:xfrm>
            <a:off x="815975" y="2990230"/>
            <a:ext cx="3414157" cy="999490"/>
          </a:xfrm>
          <a:prstGeom prst="roundRect">
            <a:avLst>
              <a:gd name="adj" fmla="val 7306"/>
            </a:avLst>
          </a:prstGeom>
          <a:solidFill>
            <a:srgbClr val="FCFBF7"/>
          </a:solidFill>
          <a:ln w="6350">
            <a:solidFill>
              <a:srgbClr val="DDD8CC"/>
            </a:solidFill>
            <a:prstDash val="solid"/>
          </a:ln>
        </p:spPr>
      </p:sp>
      <p:sp>
        <p:nvSpPr>
          <p:cNvPr id="14" name="Text 12"/>
          <p:cNvSpPr/>
          <p:nvPr/>
        </p:nvSpPr>
        <p:spPr>
          <a:xfrm>
            <a:off x="995680" y="3144515"/>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Scripts</a:t>
            </a:r>
            <a:endParaRPr lang="en-US" sz="1200" dirty="0"/>
          </a:p>
        </p:txBody>
      </p:sp>
      <p:sp>
        <p:nvSpPr>
          <p:cNvPr id="15" name="Text 13"/>
          <p:cNvSpPr/>
          <p:nvPr/>
        </p:nvSpPr>
        <p:spPr>
          <a:xfrm>
            <a:off x="995680" y="340868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JavaScript that runs before a request and after its response</a:t>
            </a:r>
            <a:endParaRPr lang="en-US" sz="1200" dirty="0"/>
          </a:p>
        </p:txBody>
      </p:sp>
      <p:sp>
        <p:nvSpPr>
          <p:cNvPr id="16" name="Shape 14"/>
          <p:cNvSpPr/>
          <p:nvPr/>
        </p:nvSpPr>
        <p:spPr>
          <a:xfrm>
            <a:off x="4388882" y="2990230"/>
            <a:ext cx="3414157" cy="999490"/>
          </a:xfrm>
          <a:prstGeom prst="roundRect">
            <a:avLst>
              <a:gd name="adj" fmla="val 7306"/>
            </a:avLst>
          </a:prstGeom>
          <a:solidFill>
            <a:srgbClr val="FCFBF7"/>
          </a:solidFill>
          <a:ln w="6350">
            <a:solidFill>
              <a:srgbClr val="DDD8CC"/>
            </a:solidFill>
            <a:prstDash val="solid"/>
          </a:ln>
        </p:spPr>
      </p:sp>
      <p:sp>
        <p:nvSpPr>
          <p:cNvPr id="17" name="Text 15"/>
          <p:cNvSpPr/>
          <p:nvPr/>
        </p:nvSpPr>
        <p:spPr>
          <a:xfrm>
            <a:off x="4568587" y="3144515"/>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Collection Runner</a:t>
            </a:r>
            <a:endParaRPr lang="en-US" sz="1200" dirty="0"/>
          </a:p>
        </p:txBody>
      </p:sp>
      <p:sp>
        <p:nvSpPr>
          <p:cNvPr id="18" name="Text 16"/>
          <p:cNvSpPr/>
          <p:nvPr/>
        </p:nvSpPr>
        <p:spPr>
          <a:xfrm>
            <a:off x="4568587" y="340868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Runs a collection or folder, once per row of a data file</a:t>
            </a:r>
            <a:endParaRPr lang="en-US" sz="1200" dirty="0"/>
          </a:p>
        </p:txBody>
      </p:sp>
      <p:sp>
        <p:nvSpPr>
          <p:cNvPr id="19" name="Shape 17"/>
          <p:cNvSpPr/>
          <p:nvPr/>
        </p:nvSpPr>
        <p:spPr>
          <a:xfrm>
            <a:off x="7958614" y="2987055"/>
            <a:ext cx="3420507" cy="1005840"/>
          </a:xfrm>
          <a:prstGeom prst="roundRect">
            <a:avLst>
              <a:gd name="adj" fmla="val 7576"/>
            </a:avLst>
          </a:prstGeom>
          <a:solidFill>
            <a:srgbClr val="13233A"/>
          </a:solidFill>
          <a:ln/>
        </p:spPr>
      </p:sp>
      <p:sp>
        <p:nvSpPr>
          <p:cNvPr id="20" name="Text 18"/>
          <p:cNvSpPr/>
          <p:nvPr/>
        </p:nvSpPr>
        <p:spPr>
          <a:xfrm>
            <a:off x="8136414" y="3139455"/>
            <a:ext cx="31568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36B"/>
                </a:solidFill>
                <a:latin typeface="JetBrains Mono" pitchFamily="34" charset="0"/>
                <a:ea typeface="JetBrains Mono" pitchFamily="34" charset="-122"/>
                <a:cs typeface="JetBrains Mono" pitchFamily="34" charset="-120"/>
              </a:rPr>
              <a:t>Newman, Postman CLI</a:t>
            </a:r>
            <a:endParaRPr lang="en-US" sz="1200" dirty="0"/>
          </a:p>
        </p:txBody>
      </p:sp>
      <p:sp>
        <p:nvSpPr>
          <p:cNvPr id="21" name="Text 19"/>
          <p:cNvSpPr/>
          <p:nvPr/>
        </p:nvSpPr>
        <p:spPr>
          <a:xfrm>
            <a:off x="8136414" y="3403600"/>
            <a:ext cx="31568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Run collections from the command line, so CI can run them</a:t>
            </a:r>
            <a:endParaRPr lang="en-US" sz="1200" dirty="0"/>
          </a:p>
        </p:txBody>
      </p:sp>
      <p:sp>
        <p:nvSpPr>
          <p:cNvPr id="22" name="Shape 20"/>
          <p:cNvSpPr/>
          <p:nvPr/>
        </p:nvSpPr>
        <p:spPr>
          <a:xfrm>
            <a:off x="812800" y="4246885"/>
            <a:ext cx="10566400" cy="553720"/>
          </a:xfrm>
          <a:prstGeom prst="roundRect">
            <a:avLst>
              <a:gd name="adj" fmla="val 13761"/>
            </a:avLst>
          </a:prstGeom>
          <a:solidFill>
            <a:srgbClr val="DCE7F3"/>
          </a:solidFill>
          <a:ln/>
        </p:spPr>
      </p:sp>
      <p:sp>
        <p:nvSpPr>
          <p:cNvPr id="23" name="Text 21"/>
          <p:cNvSpPr/>
          <p:nvPr/>
        </p:nvSpPr>
        <p:spPr>
          <a:xfrm>
            <a:off x="1016000" y="4417070"/>
            <a:ext cx="779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RENAMED</a:t>
            </a:r>
            <a:endParaRPr lang="en-US" sz="1200" dirty="0"/>
          </a:p>
        </p:txBody>
      </p:sp>
      <p:sp>
        <p:nvSpPr>
          <p:cNvPr id="24" name="Text 22"/>
          <p:cNvSpPr/>
          <p:nvPr/>
        </p:nvSpPr>
        <p:spPr>
          <a:xfrm>
            <a:off x="1897380" y="4399285"/>
            <a:ext cx="955697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old Tests tab is now Scripts, Post-response. Use pm.test(): the older tests[...] syntax is deprecated.</a:t>
            </a:r>
            <a:endParaRPr lang="en-US" sz="1400" dirty="0"/>
          </a:p>
        </p:txBody>
      </p:sp>
      <p:sp>
        <p:nvSpPr>
          <p:cNvPr id="25" name="Text 23"/>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6" name="Text 24"/>
          <p:cNvSpPr/>
          <p:nvPr/>
        </p:nvSpPr>
        <p:spPr>
          <a:xfrm>
            <a:off x="7031355" y="6238255"/>
            <a:ext cx="44782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Postman basics: Module 1, Lecture 7 · Postman Learning Center</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COLLECTIONS AND ENVIRONMENTS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Canteen API collection</a:t>
            </a:r>
            <a:endParaRPr lang="en-US" sz="3200" dirty="0"/>
          </a:p>
        </p:txBody>
      </p:sp>
      <p:sp>
        <p:nvSpPr>
          <p:cNvPr id="4" name="Shape 2"/>
          <p:cNvSpPr/>
          <p:nvPr/>
        </p:nvSpPr>
        <p:spPr>
          <a:xfrm>
            <a:off x="812800" y="1828800"/>
            <a:ext cx="6350000" cy="2489200"/>
          </a:xfrm>
          <a:prstGeom prst="roundRect">
            <a:avLst>
              <a:gd name="adj" fmla="val 3061"/>
            </a:avLst>
          </a:prstGeom>
          <a:solidFill>
            <a:srgbClr val="13233A"/>
          </a:solidFill>
          <a:ln/>
        </p:spPr>
      </p:sp>
      <p:sp>
        <p:nvSpPr>
          <p:cNvPr id="5" name="Text 3"/>
          <p:cNvSpPr/>
          <p:nvPr/>
        </p:nvSpPr>
        <p:spPr>
          <a:xfrm>
            <a:off x="990600" y="2006600"/>
            <a:ext cx="6174232" cy="21590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Canteen API</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8C9AAD"/>
                </a:solidFill>
                <a:latin typeface="JetBrains Mono" pitchFamily="34" charset="0"/>
                <a:ea typeface="JetBrains Mono" pitchFamily="34" charset="-122"/>
                <a:cs typeface="JetBrains Mono" pitchFamily="34" charset="-120"/>
              </a:rPr>
              <a:t>auth: Bearer {{token}}</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Order journey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POST Log in                </a:t>
            </a:r>
            <a:r>
              <a:rPr lang="en-US" sz="1200" dirty="0">
                <a:solidFill>
                  <a:srgbClr val="8C9AAD"/>
                </a:solidFill>
                <a:latin typeface="JetBrains Mono" pitchFamily="34" charset="0"/>
                <a:ea typeface="JetBrains Mono" pitchFamily="34" charset="-122"/>
                <a:cs typeface="JetBrains Mono" pitchFamily="34" charset="-120"/>
              </a:rPr>
              <a:t>no auth, saves token</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GET  Get menu              </a:t>
            </a:r>
            <a:r>
              <a:rPr lang="en-US" sz="1200" dirty="0">
                <a:solidFill>
                  <a:srgbClr val="8C9AAD"/>
                </a:solidFill>
                <a:latin typeface="JetBrains Mono" pitchFamily="34" charset="0"/>
                <a:ea typeface="JetBrains Mono" pitchFamily="34" charset="-122"/>
                <a:cs typeface="JetBrains Mono" pitchFamily="34" charset="-120"/>
              </a:rPr>
              <a:t>schema, 2 s, JSON</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POST Add 4 Masala Dosa     </a:t>
            </a:r>
            <a:r>
              <a:rPr lang="en-US" sz="1200" dirty="0">
                <a:solidFill>
                  <a:srgbClr val="8C9AAD"/>
                </a:solidFill>
                <a:latin typeface="JetBrains Mono" pitchFamily="34" charset="0"/>
                <a:ea typeface="JetBrains Mono" pitchFamily="34" charset="-122"/>
                <a:cs typeface="JetBrains Mono" pitchFamily="34" charset="-120"/>
              </a:rPr>
              <a:t>201, line total 240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POST Place order with SAVE20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a:t>
            </a:r>
            <a:r>
              <a:rPr lang="en-US" sz="1200" dirty="0">
                <a:solidFill>
                  <a:srgbClr val="8C9AAD"/>
                </a:solidFill>
                <a:latin typeface="JetBrains Mono" pitchFamily="34" charset="0"/>
                <a:ea typeface="JetBrains Mono" pitchFamily="34" charset="-122"/>
                <a:cs typeface="JetBrains Mono" pitchFamily="34" charset="-120"/>
              </a:rPr>
              <a:t>discount 48, saves orderId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GET  Get order status      </a:t>
            </a:r>
            <a:r>
              <a:rPr lang="en-US" sz="1200" dirty="0">
                <a:solidFill>
                  <a:srgbClr val="8C9AAD"/>
                </a:solidFill>
                <a:latin typeface="JetBrains Mono" pitchFamily="34" charset="0"/>
                <a:ea typeface="JetBrains Mono" pitchFamily="34" charset="-122"/>
                <a:cs typeface="JetBrains Mono" pitchFamily="34" charset="-120"/>
              </a:rPr>
              <a:t>status is Placed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Cart rules                    </a:t>
            </a:r>
            <a:r>
              <a:rPr lang="en-US" sz="1200" dirty="0">
                <a:solidFill>
                  <a:srgbClr val="8C9AAD"/>
                </a:solidFill>
                <a:latin typeface="JetBrains Mono" pitchFamily="34" charset="0"/>
                <a:ea typeface="JetBrains Mono" pitchFamily="34" charset="-122"/>
                <a:cs typeface="JetBrains Mono" pitchFamily="34" charset="-120"/>
              </a:rPr>
              <a:t>pre-request: log in if needed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POST Set quantity         </a:t>
            </a:r>
            <a:r>
              <a:rPr lang="en-US" sz="1200" dirty="0">
                <a:solidFill>
                  <a:srgbClr val="8C9AAD"/>
                </a:solidFill>
                <a:latin typeface="JetBrains Mono" pitchFamily="34" charset="0"/>
                <a:ea typeface="JetBrains Mono" pitchFamily="34" charset="-122"/>
                <a:cs typeface="JetBrains Mono" pitchFamily="34" charset="-120"/>
              </a:rPr>
              <a:t>qty from cart-qty.csv</a:t>
            </a:r>
            <a:endParaRPr lang="en-US" sz="1200" dirty="0"/>
          </a:p>
        </p:txBody>
      </p:sp>
      <p:sp>
        <p:nvSpPr>
          <p:cNvPr id="6" name="Text 4"/>
          <p:cNvSpPr/>
          <p:nvPr/>
        </p:nvSpPr>
        <p:spPr>
          <a:xfrm>
            <a:off x="7467600" y="1828800"/>
            <a:ext cx="40289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ENVIRONMENT: STAGING</a:t>
            </a:r>
            <a:endParaRPr lang="en-US" sz="1200" dirty="0"/>
          </a:p>
        </p:txBody>
      </p:sp>
      <p:sp>
        <p:nvSpPr>
          <p:cNvPr id="7" name="Shape 5"/>
          <p:cNvSpPr/>
          <p:nvPr/>
        </p:nvSpPr>
        <p:spPr>
          <a:xfrm>
            <a:off x="11376025" y="2118370"/>
            <a:ext cx="0" cy="1336040"/>
          </a:xfrm>
          <a:prstGeom prst="line">
            <a:avLst/>
          </a:prstGeom>
          <a:noFill/>
          <a:ln w="6350">
            <a:solidFill>
              <a:srgbClr val="DDD8CC"/>
            </a:solidFill>
            <a:prstDash val="solid"/>
          </a:ln>
        </p:spPr>
      </p:sp>
      <p:sp>
        <p:nvSpPr>
          <p:cNvPr id="8" name="Shape 6"/>
          <p:cNvSpPr/>
          <p:nvPr/>
        </p:nvSpPr>
        <p:spPr>
          <a:xfrm>
            <a:off x="7467600" y="3451235"/>
            <a:ext cx="3911600" cy="0"/>
          </a:xfrm>
          <a:prstGeom prst="line">
            <a:avLst/>
          </a:prstGeom>
          <a:noFill/>
          <a:ln w="6350">
            <a:solidFill>
              <a:srgbClr val="DDD8CC"/>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77760" y="2128530"/>
          <a:ext cx="3896360" cy="1320800"/>
        </p:xfrm>
        <a:graphic>
          <a:graphicData uri="http://schemas.openxmlformats.org/drawingml/2006/table">
            <a:tbl>
              <a:tblPr/>
              <a:tblGrid>
                <a:gridCol w="1402690"/>
                <a:gridCol w="2493670"/>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Variable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Value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baseUrl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http://localhost:5000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studentId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S101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password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secret type, set at run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10" name="Text 7"/>
          <p:cNvSpPr/>
          <p:nvPr/>
        </p:nvSpPr>
        <p:spPr>
          <a:xfrm>
            <a:off x="7467600" y="3530600"/>
            <a:ext cx="40289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second environment for local runs changes only these values; the requests stay the same.</a:t>
            </a:r>
            <a:endParaRPr lang="en-US" sz="1200" dirty="0"/>
          </a:p>
        </p:txBody>
      </p:sp>
      <p:sp>
        <p:nvSpPr>
          <p:cNvPr id="11" name="Shape 8"/>
          <p:cNvSpPr/>
          <p:nvPr/>
        </p:nvSpPr>
        <p:spPr>
          <a:xfrm>
            <a:off x="812800" y="4572000"/>
            <a:ext cx="10566400" cy="553720"/>
          </a:xfrm>
          <a:prstGeom prst="roundRect">
            <a:avLst>
              <a:gd name="adj" fmla="val 13761"/>
            </a:avLst>
          </a:prstGeom>
          <a:solidFill>
            <a:srgbClr val="13233A"/>
          </a:solidFill>
          <a:ln/>
        </p:spPr>
      </p:sp>
      <p:sp>
        <p:nvSpPr>
          <p:cNvPr id="12" name="Text 9"/>
          <p:cNvSpPr/>
          <p:nvPr/>
        </p:nvSpPr>
        <p:spPr>
          <a:xfrm>
            <a:off x="1016000" y="4742210"/>
            <a:ext cx="988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AUTH ONCE</a:t>
            </a:r>
            <a:endParaRPr lang="en-US" sz="1200" dirty="0"/>
          </a:p>
        </p:txBody>
      </p:sp>
      <p:sp>
        <p:nvSpPr>
          <p:cNvPr id="13" name="Text 10"/>
          <p:cNvSpPr/>
          <p:nvPr/>
        </p:nvSpPr>
        <p:spPr>
          <a:xfrm>
            <a:off x="2105660" y="4724400"/>
            <a:ext cx="93424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The collection sends Bearer {{token}} with every request, except those set to No Auth, like Log in.</a:t>
            </a:r>
            <a:endParaRPr lang="en-US" sz="1400" dirty="0"/>
          </a:p>
        </p:txBody>
      </p:sp>
      <p:sp>
        <p:nvSpPr>
          <p:cNvPr id="14" name="Text 11"/>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5" name="Text 12"/>
          <p:cNvSpPr/>
          <p:nvPr/>
        </p:nvSpPr>
        <p:spPr>
          <a:xfrm>
            <a:off x="4799330" y="6238230"/>
            <a:ext cx="6777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api/canteen.postman_collection.json and staging.postman_environment.json · collections: Lab 9</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COLLECTIONS AND ENVIRONMENTS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Variables and their scopes</a:t>
            </a:r>
            <a:endParaRPr lang="en-US" sz="3200" dirty="0"/>
          </a:p>
        </p:txBody>
      </p:sp>
      <p:sp>
        <p:nvSpPr>
          <p:cNvPr id="4" name="Shape 2"/>
          <p:cNvSpPr/>
          <p:nvPr/>
        </p:nvSpPr>
        <p:spPr>
          <a:xfrm>
            <a:off x="812800" y="1828800"/>
            <a:ext cx="2032000" cy="944880"/>
          </a:xfrm>
          <a:prstGeom prst="roundRect">
            <a:avLst>
              <a:gd name="adj" fmla="val 8065"/>
            </a:avLst>
          </a:prstGeom>
          <a:solidFill>
            <a:srgbClr val="ECE8DE"/>
          </a:solidFill>
          <a:ln/>
        </p:spPr>
      </p:sp>
      <p:sp>
        <p:nvSpPr>
          <p:cNvPr id="5" name="Text 3"/>
          <p:cNvSpPr/>
          <p:nvPr/>
        </p:nvSpPr>
        <p:spPr>
          <a:xfrm>
            <a:off x="939800" y="1955800"/>
            <a:ext cx="18313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Global</a:t>
            </a:r>
            <a:endParaRPr lang="en-US" sz="1200" dirty="0"/>
          </a:p>
        </p:txBody>
      </p:sp>
      <p:sp>
        <p:nvSpPr>
          <p:cNvPr id="6" name="Text 4"/>
          <p:cNvSpPr/>
          <p:nvPr/>
        </p:nvSpPr>
        <p:spPr>
          <a:xfrm>
            <a:off x="939800" y="2219970"/>
            <a:ext cx="1831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Shared by every collection; we use none</a:t>
            </a:r>
            <a:endParaRPr lang="en-US" sz="1200" dirty="0"/>
          </a:p>
        </p:txBody>
      </p:sp>
      <p:sp>
        <p:nvSpPr>
          <p:cNvPr id="7" name="Shape 5"/>
          <p:cNvSpPr/>
          <p:nvPr/>
        </p:nvSpPr>
        <p:spPr>
          <a:xfrm>
            <a:off x="2946400" y="1828800"/>
            <a:ext cx="2032000" cy="944880"/>
          </a:xfrm>
          <a:prstGeom prst="roundRect">
            <a:avLst>
              <a:gd name="adj" fmla="val 8065"/>
            </a:avLst>
          </a:prstGeom>
          <a:solidFill>
            <a:srgbClr val="ECE8DE"/>
          </a:solidFill>
          <a:ln/>
        </p:spPr>
      </p:sp>
      <p:sp>
        <p:nvSpPr>
          <p:cNvPr id="8" name="Text 6"/>
          <p:cNvSpPr/>
          <p:nvPr/>
        </p:nvSpPr>
        <p:spPr>
          <a:xfrm>
            <a:off x="3073400" y="1955800"/>
            <a:ext cx="18313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Collection</a:t>
            </a:r>
            <a:endParaRPr lang="en-US" sz="1200" dirty="0"/>
          </a:p>
        </p:txBody>
      </p:sp>
      <p:sp>
        <p:nvSpPr>
          <p:cNvPr id="9" name="Text 7"/>
          <p:cNvSpPr/>
          <p:nvPr/>
        </p:nvSpPr>
        <p:spPr>
          <a:xfrm>
            <a:off x="3073400" y="2219970"/>
            <a:ext cx="1831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token and orderId, set by scripts</a:t>
            </a:r>
            <a:endParaRPr lang="en-US" sz="1200" dirty="0"/>
          </a:p>
        </p:txBody>
      </p:sp>
      <p:sp>
        <p:nvSpPr>
          <p:cNvPr id="10" name="Shape 8"/>
          <p:cNvSpPr/>
          <p:nvPr/>
        </p:nvSpPr>
        <p:spPr>
          <a:xfrm>
            <a:off x="5080000" y="1828800"/>
            <a:ext cx="2032000" cy="944880"/>
          </a:xfrm>
          <a:prstGeom prst="roundRect">
            <a:avLst>
              <a:gd name="adj" fmla="val 8065"/>
            </a:avLst>
          </a:prstGeom>
          <a:solidFill>
            <a:srgbClr val="DCE7F3"/>
          </a:solidFill>
          <a:ln/>
        </p:spPr>
      </p:sp>
      <p:sp>
        <p:nvSpPr>
          <p:cNvPr id="11" name="Text 9"/>
          <p:cNvSpPr/>
          <p:nvPr/>
        </p:nvSpPr>
        <p:spPr>
          <a:xfrm>
            <a:off x="5207000" y="1955800"/>
            <a:ext cx="18313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Environment</a:t>
            </a:r>
            <a:endParaRPr lang="en-US" sz="1200" dirty="0"/>
          </a:p>
        </p:txBody>
      </p:sp>
      <p:sp>
        <p:nvSpPr>
          <p:cNvPr id="12" name="Text 10"/>
          <p:cNvSpPr/>
          <p:nvPr/>
        </p:nvSpPr>
        <p:spPr>
          <a:xfrm>
            <a:off x="5207000" y="2219970"/>
            <a:ext cx="1831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baseUrl, studentId, password</a:t>
            </a:r>
            <a:endParaRPr lang="en-US" sz="1200" dirty="0"/>
          </a:p>
        </p:txBody>
      </p:sp>
      <p:sp>
        <p:nvSpPr>
          <p:cNvPr id="13" name="Shape 11"/>
          <p:cNvSpPr/>
          <p:nvPr/>
        </p:nvSpPr>
        <p:spPr>
          <a:xfrm>
            <a:off x="7213600" y="1828800"/>
            <a:ext cx="2032000" cy="944880"/>
          </a:xfrm>
          <a:prstGeom prst="roundRect">
            <a:avLst>
              <a:gd name="adj" fmla="val 8065"/>
            </a:avLst>
          </a:prstGeom>
          <a:solidFill>
            <a:srgbClr val="DCE7F3"/>
          </a:solidFill>
          <a:ln/>
        </p:spPr>
      </p:sp>
      <p:sp>
        <p:nvSpPr>
          <p:cNvPr id="14" name="Text 12"/>
          <p:cNvSpPr/>
          <p:nvPr/>
        </p:nvSpPr>
        <p:spPr>
          <a:xfrm>
            <a:off x="7340600" y="1955800"/>
            <a:ext cx="18313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Data</a:t>
            </a:r>
            <a:endParaRPr lang="en-US" sz="1200" dirty="0"/>
          </a:p>
        </p:txBody>
      </p:sp>
      <p:sp>
        <p:nvSpPr>
          <p:cNvPr id="15" name="Text 13"/>
          <p:cNvSpPr/>
          <p:nvPr/>
        </p:nvSpPr>
        <p:spPr>
          <a:xfrm>
            <a:off x="7340600" y="2219970"/>
            <a:ext cx="1831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qty and expected, from the CSV row</a:t>
            </a:r>
            <a:endParaRPr lang="en-US" sz="1200" dirty="0"/>
          </a:p>
        </p:txBody>
      </p:sp>
      <p:sp>
        <p:nvSpPr>
          <p:cNvPr id="16" name="Shape 14"/>
          <p:cNvSpPr/>
          <p:nvPr/>
        </p:nvSpPr>
        <p:spPr>
          <a:xfrm>
            <a:off x="9347200" y="1828800"/>
            <a:ext cx="2032000" cy="944880"/>
          </a:xfrm>
          <a:prstGeom prst="roundRect">
            <a:avLst>
              <a:gd name="adj" fmla="val 8065"/>
            </a:avLst>
          </a:prstGeom>
          <a:solidFill>
            <a:srgbClr val="F7E3D5"/>
          </a:solidFill>
          <a:ln/>
        </p:spPr>
      </p:sp>
      <p:sp>
        <p:nvSpPr>
          <p:cNvPr id="17" name="Text 15"/>
          <p:cNvSpPr/>
          <p:nvPr/>
        </p:nvSpPr>
        <p:spPr>
          <a:xfrm>
            <a:off x="9474200" y="1955800"/>
            <a:ext cx="18313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Local</a:t>
            </a:r>
            <a:endParaRPr lang="en-US" sz="1200" dirty="0"/>
          </a:p>
        </p:txBody>
      </p:sp>
      <p:sp>
        <p:nvSpPr>
          <p:cNvPr id="18" name="Text 16"/>
          <p:cNvSpPr/>
          <p:nvPr/>
        </p:nvSpPr>
        <p:spPr>
          <a:xfrm>
            <a:off x="9474200" y="2219970"/>
            <a:ext cx="1831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Temporary, inside one script run</a:t>
            </a:r>
            <a:endParaRPr lang="en-US" sz="1200" dirty="0"/>
          </a:p>
        </p:txBody>
      </p:sp>
      <p:sp>
        <p:nvSpPr>
          <p:cNvPr id="19" name="Text 17"/>
          <p:cNvSpPr/>
          <p:nvPr/>
        </p:nvSpPr>
        <p:spPr>
          <a:xfrm>
            <a:off x="812800" y="2875310"/>
            <a:ext cx="170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977"/>
                </a:solidFill>
                <a:latin typeface="JetBrains Mono" pitchFamily="34" charset="0"/>
                <a:ea typeface="JetBrains Mono" pitchFamily="34" charset="-122"/>
                <a:cs typeface="JetBrains Mono" pitchFamily="34" charset="-120"/>
              </a:rPr>
              <a:t>broadest</a:t>
            </a:r>
            <a:endParaRPr lang="en-US" sz="1200" dirty="0"/>
          </a:p>
        </p:txBody>
      </p:sp>
      <p:pic>
        <p:nvPicPr>
          <p:cNvPr id="20" name="Image 0" descr="connector">    </p:cNvPr>
          <p:cNvPicPr>
            <a:picLocks noChangeAspect="1"/>
          </p:cNvPicPr>
          <p:nvPr/>
        </p:nvPicPr>
        <p:blipFill>
          <a:blip r:embed="rId1"/>
          <a:srcRect l="0" r="0" t="0" b="0"/>
          <a:stretch/>
        </p:blipFill>
        <p:spPr>
          <a:xfrm>
            <a:off x="2616200" y="2931170"/>
            <a:ext cx="6858000" cy="101600"/>
          </a:xfrm>
          <a:prstGeom prst="rect">
            <a:avLst/>
          </a:prstGeom>
        </p:spPr>
      </p:pic>
      <p:sp>
        <p:nvSpPr>
          <p:cNvPr id="21" name="Text 18"/>
          <p:cNvSpPr/>
          <p:nvPr/>
        </p:nvSpPr>
        <p:spPr>
          <a:xfrm>
            <a:off x="9575800" y="2875310"/>
            <a:ext cx="17018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narrowest</a:t>
            </a:r>
            <a:endParaRPr lang="en-US" sz="1200" dirty="0"/>
          </a:p>
        </p:txBody>
      </p:sp>
      <p:sp>
        <p:nvSpPr>
          <p:cNvPr id="22" name="Shape 19"/>
          <p:cNvSpPr/>
          <p:nvPr/>
        </p:nvSpPr>
        <p:spPr>
          <a:xfrm>
            <a:off x="812800" y="3342630"/>
            <a:ext cx="10566400" cy="802640"/>
          </a:xfrm>
          <a:prstGeom prst="roundRect">
            <a:avLst>
              <a:gd name="adj" fmla="val 9494"/>
            </a:avLst>
          </a:prstGeom>
          <a:solidFill>
            <a:srgbClr val="13233A"/>
          </a:solidFill>
          <a:ln/>
        </p:spPr>
      </p:sp>
      <p:sp>
        <p:nvSpPr>
          <p:cNvPr id="23" name="Text 20"/>
          <p:cNvSpPr/>
          <p:nvPr/>
        </p:nvSpPr>
        <p:spPr>
          <a:xfrm>
            <a:off x="1016000" y="3637310"/>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RULE</a:t>
            </a:r>
            <a:endParaRPr lang="en-US" sz="1200" dirty="0"/>
          </a:p>
        </p:txBody>
      </p:sp>
      <p:sp>
        <p:nvSpPr>
          <p:cNvPr id="24" name="Text 21"/>
          <p:cNvSpPr/>
          <p:nvPr/>
        </p:nvSpPr>
        <p:spPr>
          <a:xfrm>
            <a:off x="1584960" y="3495030"/>
            <a:ext cx="98787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“If a variable with the same name is declared in two different scopes, the value stored in the variable with narrowest scope will be used.”</a:t>
            </a:r>
            <a:endParaRPr lang="en-US" sz="1400" dirty="0"/>
          </a:p>
        </p:txBody>
      </p:sp>
      <p:sp>
        <p:nvSpPr>
          <p:cNvPr id="25" name="Text 22"/>
          <p:cNvSpPr/>
          <p:nvPr/>
        </p:nvSpPr>
        <p:spPr>
          <a:xfrm>
            <a:off x="812800" y="439931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Secrets: Postman Vault, referenced as {{vault:name}}; in CI, pass them with --env-var.</a:t>
            </a:r>
            <a:endParaRPr lang="en-US" sz="1400" dirty="0"/>
          </a:p>
        </p:txBody>
      </p:sp>
      <p:sp>
        <p:nvSpPr>
          <p:cNvPr id="26" name="Text 23"/>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7" name="Text 24"/>
          <p:cNvSpPr/>
          <p:nvPr/>
        </p:nvSpPr>
        <p:spPr>
          <a:xfrm>
            <a:off x="5997337" y="6238230"/>
            <a:ext cx="55433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Scopes and quote: Postman Learning Center, “Variables” · environments: Lab 9</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SCRIPTS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Scripts run before and after each request</a:t>
            </a:r>
            <a:endParaRPr lang="en-US" sz="3200" dirty="0"/>
          </a:p>
        </p:txBody>
      </p:sp>
      <p:sp>
        <p:nvSpPr>
          <p:cNvPr id="4" name="Text 2"/>
          <p:cNvSpPr/>
          <p:nvPr/>
        </p:nvSpPr>
        <p:spPr>
          <a:xfrm>
            <a:off x="812800" y="1828800"/>
            <a:ext cx="75869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Cart rules folder · pre-request: log in once if there is no token</a:t>
            </a:r>
            <a:endParaRPr lang="en-US" sz="1200" dirty="0"/>
          </a:p>
        </p:txBody>
      </p:sp>
      <p:sp>
        <p:nvSpPr>
          <p:cNvPr id="5" name="Shape 3"/>
          <p:cNvSpPr/>
          <p:nvPr/>
        </p:nvSpPr>
        <p:spPr>
          <a:xfrm>
            <a:off x="812800" y="2118370"/>
            <a:ext cx="7366000" cy="2489200"/>
          </a:xfrm>
          <a:prstGeom prst="roundRect">
            <a:avLst>
              <a:gd name="adj" fmla="val 3061"/>
            </a:avLst>
          </a:prstGeom>
          <a:solidFill>
            <a:srgbClr val="13233A"/>
          </a:solidFill>
          <a:ln/>
        </p:spPr>
      </p:sp>
      <p:sp>
        <p:nvSpPr>
          <p:cNvPr id="6" name="Text 4"/>
          <p:cNvSpPr/>
          <p:nvPr/>
        </p:nvSpPr>
        <p:spPr>
          <a:xfrm>
            <a:off x="990600" y="2296170"/>
            <a:ext cx="7220712" cy="21590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if</a:t>
            </a:r>
            <a:r>
              <a:rPr lang="en-US" sz="1200" dirty="0">
                <a:solidFill>
                  <a:srgbClr val="E6EAF0"/>
                </a:solidFill>
                <a:latin typeface="JetBrains Mono" pitchFamily="34" charset="0"/>
                <a:ea typeface="JetBrains Mono" pitchFamily="34" charset="-122"/>
                <a:cs typeface="JetBrains Mono" pitchFamily="34" charset="-120"/>
              </a:rPr>
              <a:t> (!pm.collectionVariables.get(</a:t>
            </a:r>
            <a:r>
              <a:rPr lang="en-US" sz="1200" dirty="0">
                <a:solidFill>
                  <a:srgbClr val="9CC7F0"/>
                </a:solidFill>
                <a:latin typeface="JetBrains Mono" pitchFamily="34" charset="0"/>
                <a:ea typeface="JetBrains Mono" pitchFamily="34" charset="-122"/>
                <a:cs typeface="JetBrains Mono" pitchFamily="34" charset="-120"/>
              </a:rPr>
              <a:t>"token"</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pm.sendRequest({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url: pm.environment.get(</a:t>
            </a:r>
            <a:r>
              <a:rPr lang="en-US" sz="1200" dirty="0">
                <a:solidFill>
                  <a:srgbClr val="9CC7F0"/>
                </a:solidFill>
                <a:latin typeface="JetBrains Mono" pitchFamily="34" charset="0"/>
                <a:ea typeface="JetBrains Mono" pitchFamily="34" charset="-122"/>
                <a:cs typeface="JetBrains Mono" pitchFamily="34" charset="-120"/>
              </a:rPr>
              <a:t>"baseUrl"</a:t>
            </a:r>
            <a:r>
              <a:rPr lang="en-US" sz="1200" dirty="0">
                <a:solidFill>
                  <a:srgbClr val="E6EAF0"/>
                </a:solidFill>
                <a:latin typeface="JetBrains Mono" pitchFamily="34" charset="0"/>
                <a:ea typeface="JetBrains Mono" pitchFamily="34" charset="-122"/>
                <a:cs typeface="JetBrains Mono" pitchFamily="34" charset="-120"/>
              </a:rPr>
              <a:t>) + </a:t>
            </a:r>
            <a:r>
              <a:rPr lang="en-US" sz="1200" dirty="0">
                <a:solidFill>
                  <a:srgbClr val="9CC7F0"/>
                </a:solidFill>
                <a:latin typeface="JetBrains Mono" pitchFamily="34" charset="0"/>
                <a:ea typeface="JetBrains Mono" pitchFamily="34" charset="-122"/>
                <a:cs typeface="JetBrains Mono" pitchFamily="34" charset="-120"/>
              </a:rPr>
              <a:t>"/api/login"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method: </a:t>
            </a:r>
            <a:r>
              <a:rPr lang="en-US" sz="1200" dirty="0">
                <a:solidFill>
                  <a:srgbClr val="9CC7F0"/>
                </a:solidFill>
                <a:latin typeface="JetBrains Mono" pitchFamily="34" charset="0"/>
                <a:ea typeface="JetBrains Mono" pitchFamily="34" charset="-122"/>
                <a:cs typeface="JetBrains Mono" pitchFamily="34" charset="-120"/>
              </a:rPr>
              <a:t>"POST"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header: { </a:t>
            </a:r>
            <a:r>
              <a:rPr lang="en-US" sz="1200" dirty="0">
                <a:solidFill>
                  <a:srgbClr val="9CC7F0"/>
                </a:solidFill>
                <a:latin typeface="JetBrains Mono" pitchFamily="34" charset="0"/>
                <a:ea typeface="JetBrains Mono" pitchFamily="34" charset="-122"/>
                <a:cs typeface="JetBrains Mono" pitchFamily="34" charset="-120"/>
              </a:rPr>
              <a:t>"Content-Type"</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"application/json"</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body: { mode: </a:t>
            </a:r>
            <a:r>
              <a:rPr lang="en-US" sz="1200" dirty="0">
                <a:solidFill>
                  <a:srgbClr val="9CC7F0"/>
                </a:solidFill>
                <a:latin typeface="JetBrains Mono" pitchFamily="34" charset="0"/>
                <a:ea typeface="JetBrains Mono" pitchFamily="34" charset="-122"/>
                <a:cs typeface="JetBrains Mono" pitchFamily="34" charset="-120"/>
              </a:rPr>
              <a:t>"raw"</a:t>
            </a:r>
            <a:r>
              <a:rPr lang="en-US" sz="1200" dirty="0">
                <a:solidFill>
                  <a:srgbClr val="E6EAF0"/>
                </a:solidFill>
                <a:latin typeface="JetBrains Mono" pitchFamily="34" charset="0"/>
                <a:ea typeface="JetBrains Mono" pitchFamily="34" charset="-122"/>
                <a:cs typeface="JetBrains Mono" pitchFamily="34" charset="-120"/>
              </a:rPr>
              <a:t>, raw: JSON.stringify({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student_id: pm.environment.get(</a:t>
            </a:r>
            <a:r>
              <a:rPr lang="en-US" sz="1200" dirty="0">
                <a:solidFill>
                  <a:srgbClr val="9CC7F0"/>
                </a:solidFill>
                <a:latin typeface="JetBrains Mono" pitchFamily="34" charset="0"/>
                <a:ea typeface="JetBrains Mono" pitchFamily="34" charset="-122"/>
                <a:cs typeface="JetBrains Mono" pitchFamily="34" charset="-120"/>
              </a:rPr>
              <a:t>"studentId"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password: pm.environment.get(</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(err, res) =&gt; pm.collectionVariables.set(</a:t>
            </a:r>
            <a:r>
              <a:rPr lang="en-US" sz="1200" dirty="0">
                <a:solidFill>
                  <a:srgbClr val="9CC7F0"/>
                </a:solidFill>
                <a:latin typeface="JetBrains Mono" pitchFamily="34" charset="0"/>
                <a:ea typeface="JetBrains Mono" pitchFamily="34" charset="-122"/>
                <a:cs typeface="JetBrains Mono" pitchFamily="34" charset="-120"/>
              </a:rPr>
              <a:t>"token"</a:t>
            </a:r>
            <a:r>
              <a:rPr lang="en-US" sz="1200" dirty="0">
                <a:solidFill>
                  <a:srgbClr val="E6EAF0"/>
                </a:solidFill>
                <a:latin typeface="JetBrains Mono" pitchFamily="34" charset="0"/>
                <a:ea typeface="JetBrains Mono" pitchFamily="34" charset="-122"/>
                <a:cs typeface="JetBrains Mono" pitchFamily="34" charset="-120"/>
              </a:rPr>
              <a:t>, res.json().token));</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7" name="Text 5"/>
          <p:cNvSpPr/>
          <p:nvPr/>
        </p:nvSpPr>
        <p:spPr>
          <a:xfrm>
            <a:off x="8483600" y="1828800"/>
            <a:ext cx="298246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RUN ORDER</a:t>
            </a:r>
            <a:endParaRPr lang="en-US" sz="1200" dirty="0"/>
          </a:p>
        </p:txBody>
      </p:sp>
      <p:sp>
        <p:nvSpPr>
          <p:cNvPr id="8" name="Shape 6"/>
          <p:cNvSpPr/>
          <p:nvPr/>
        </p:nvSpPr>
        <p:spPr>
          <a:xfrm>
            <a:off x="8496300" y="2092970"/>
            <a:ext cx="0" cy="238760"/>
          </a:xfrm>
          <a:prstGeom prst="line">
            <a:avLst/>
          </a:prstGeom>
          <a:noFill/>
          <a:ln w="25400">
            <a:solidFill>
              <a:srgbClr val="7FA3D1"/>
            </a:solidFill>
            <a:prstDash val="solid"/>
          </a:ln>
        </p:spPr>
      </p:sp>
      <p:sp>
        <p:nvSpPr>
          <p:cNvPr id="9" name="Text 7"/>
          <p:cNvSpPr/>
          <p:nvPr/>
        </p:nvSpPr>
        <p:spPr>
          <a:xfrm>
            <a:off x="8597900" y="2105670"/>
            <a:ext cx="2864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Collection pre-request</a:t>
            </a:r>
            <a:endParaRPr lang="en-US" sz="1200" dirty="0"/>
          </a:p>
        </p:txBody>
      </p:sp>
      <p:sp>
        <p:nvSpPr>
          <p:cNvPr id="10" name="Shape 8"/>
          <p:cNvSpPr/>
          <p:nvPr/>
        </p:nvSpPr>
        <p:spPr>
          <a:xfrm>
            <a:off x="8496300" y="2382540"/>
            <a:ext cx="0" cy="238760"/>
          </a:xfrm>
          <a:prstGeom prst="line">
            <a:avLst/>
          </a:prstGeom>
          <a:noFill/>
          <a:ln w="25400">
            <a:solidFill>
              <a:srgbClr val="7FA3D1"/>
            </a:solidFill>
            <a:prstDash val="solid"/>
          </a:ln>
        </p:spPr>
      </p:sp>
      <p:sp>
        <p:nvSpPr>
          <p:cNvPr id="11" name="Text 9"/>
          <p:cNvSpPr/>
          <p:nvPr/>
        </p:nvSpPr>
        <p:spPr>
          <a:xfrm>
            <a:off x="8597900" y="2395240"/>
            <a:ext cx="2864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Folder pre-request</a:t>
            </a:r>
            <a:endParaRPr lang="en-US" sz="1200" dirty="0"/>
          </a:p>
        </p:txBody>
      </p:sp>
      <p:sp>
        <p:nvSpPr>
          <p:cNvPr id="12" name="Shape 10"/>
          <p:cNvSpPr/>
          <p:nvPr/>
        </p:nvSpPr>
        <p:spPr>
          <a:xfrm>
            <a:off x="8496300" y="2672110"/>
            <a:ext cx="0" cy="238760"/>
          </a:xfrm>
          <a:prstGeom prst="line">
            <a:avLst/>
          </a:prstGeom>
          <a:noFill/>
          <a:ln w="25400">
            <a:solidFill>
              <a:srgbClr val="7FA3D1"/>
            </a:solidFill>
            <a:prstDash val="solid"/>
          </a:ln>
        </p:spPr>
      </p:sp>
      <p:sp>
        <p:nvSpPr>
          <p:cNvPr id="13" name="Text 11"/>
          <p:cNvSpPr/>
          <p:nvPr/>
        </p:nvSpPr>
        <p:spPr>
          <a:xfrm>
            <a:off x="8597900" y="2684810"/>
            <a:ext cx="2864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Request pre-request</a:t>
            </a:r>
            <a:endParaRPr lang="en-US" sz="1200" dirty="0"/>
          </a:p>
        </p:txBody>
      </p:sp>
      <p:sp>
        <p:nvSpPr>
          <p:cNvPr id="14" name="Shape 12"/>
          <p:cNvSpPr/>
          <p:nvPr/>
        </p:nvSpPr>
        <p:spPr>
          <a:xfrm>
            <a:off x="8496300" y="2961630"/>
            <a:ext cx="0" cy="238760"/>
          </a:xfrm>
          <a:prstGeom prst="line">
            <a:avLst/>
          </a:prstGeom>
          <a:noFill/>
          <a:ln w="25400">
            <a:solidFill>
              <a:srgbClr val="13233A"/>
            </a:solidFill>
            <a:prstDash val="solid"/>
          </a:ln>
        </p:spPr>
      </p:sp>
      <p:sp>
        <p:nvSpPr>
          <p:cNvPr id="15" name="Text 13"/>
          <p:cNvSpPr/>
          <p:nvPr/>
        </p:nvSpPr>
        <p:spPr>
          <a:xfrm>
            <a:off x="8597900" y="2974330"/>
            <a:ext cx="28647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Send, get the response</a:t>
            </a:r>
            <a:endParaRPr lang="en-US" sz="1200" dirty="0"/>
          </a:p>
        </p:txBody>
      </p:sp>
      <p:sp>
        <p:nvSpPr>
          <p:cNvPr id="16" name="Shape 14"/>
          <p:cNvSpPr/>
          <p:nvPr/>
        </p:nvSpPr>
        <p:spPr>
          <a:xfrm>
            <a:off x="8496300" y="3251200"/>
            <a:ext cx="0" cy="238760"/>
          </a:xfrm>
          <a:prstGeom prst="line">
            <a:avLst/>
          </a:prstGeom>
          <a:noFill/>
          <a:ln w="25400">
            <a:solidFill>
              <a:srgbClr val="E98B53"/>
            </a:solidFill>
            <a:prstDash val="solid"/>
          </a:ln>
        </p:spPr>
      </p:sp>
      <p:sp>
        <p:nvSpPr>
          <p:cNvPr id="17" name="Text 15"/>
          <p:cNvSpPr/>
          <p:nvPr/>
        </p:nvSpPr>
        <p:spPr>
          <a:xfrm>
            <a:off x="8597900" y="3263900"/>
            <a:ext cx="2864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Collection post-response</a:t>
            </a:r>
            <a:endParaRPr lang="en-US" sz="1200" dirty="0"/>
          </a:p>
        </p:txBody>
      </p:sp>
      <p:sp>
        <p:nvSpPr>
          <p:cNvPr id="18" name="Shape 16"/>
          <p:cNvSpPr/>
          <p:nvPr/>
        </p:nvSpPr>
        <p:spPr>
          <a:xfrm>
            <a:off x="8496300" y="3540770"/>
            <a:ext cx="0" cy="238760"/>
          </a:xfrm>
          <a:prstGeom prst="line">
            <a:avLst/>
          </a:prstGeom>
          <a:noFill/>
          <a:ln w="25400">
            <a:solidFill>
              <a:srgbClr val="E98B53"/>
            </a:solidFill>
            <a:prstDash val="solid"/>
          </a:ln>
        </p:spPr>
      </p:sp>
      <p:sp>
        <p:nvSpPr>
          <p:cNvPr id="19" name="Text 17"/>
          <p:cNvSpPr/>
          <p:nvPr/>
        </p:nvSpPr>
        <p:spPr>
          <a:xfrm>
            <a:off x="8597900" y="3553470"/>
            <a:ext cx="2864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Folder post-response</a:t>
            </a:r>
            <a:endParaRPr lang="en-US" sz="1200" dirty="0"/>
          </a:p>
        </p:txBody>
      </p:sp>
      <p:sp>
        <p:nvSpPr>
          <p:cNvPr id="20" name="Shape 18"/>
          <p:cNvSpPr/>
          <p:nvPr/>
        </p:nvSpPr>
        <p:spPr>
          <a:xfrm>
            <a:off x="8496300" y="3830340"/>
            <a:ext cx="0" cy="238760"/>
          </a:xfrm>
          <a:prstGeom prst="line">
            <a:avLst/>
          </a:prstGeom>
          <a:noFill/>
          <a:ln w="25400">
            <a:solidFill>
              <a:srgbClr val="E98B53"/>
            </a:solidFill>
            <a:prstDash val="solid"/>
          </a:ln>
        </p:spPr>
      </p:sp>
      <p:sp>
        <p:nvSpPr>
          <p:cNvPr id="21" name="Text 19"/>
          <p:cNvSpPr/>
          <p:nvPr/>
        </p:nvSpPr>
        <p:spPr>
          <a:xfrm>
            <a:off x="8597900" y="3843040"/>
            <a:ext cx="2864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Request post-response</a:t>
            </a:r>
            <a:endParaRPr lang="en-US" sz="1200" dirty="0"/>
          </a:p>
        </p:txBody>
      </p:sp>
      <p:sp>
        <p:nvSpPr>
          <p:cNvPr id="22" name="Shape 20"/>
          <p:cNvSpPr/>
          <p:nvPr/>
        </p:nvSpPr>
        <p:spPr>
          <a:xfrm>
            <a:off x="812800" y="4861570"/>
            <a:ext cx="10566400" cy="553720"/>
          </a:xfrm>
          <a:prstGeom prst="roundRect">
            <a:avLst>
              <a:gd name="adj" fmla="val 13761"/>
            </a:avLst>
          </a:prstGeom>
          <a:solidFill>
            <a:srgbClr val="DCE7F3"/>
          </a:solidFill>
          <a:ln/>
        </p:spPr>
      </p:sp>
      <p:sp>
        <p:nvSpPr>
          <p:cNvPr id="23" name="Text 21"/>
          <p:cNvSpPr/>
          <p:nvPr/>
        </p:nvSpPr>
        <p:spPr>
          <a:xfrm>
            <a:off x="1016000" y="5031730"/>
            <a:ext cx="6756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RESULT</a:t>
            </a:r>
            <a:endParaRPr lang="en-US" sz="1200" dirty="0"/>
          </a:p>
        </p:txBody>
      </p:sp>
      <p:sp>
        <p:nvSpPr>
          <p:cNvPr id="24" name="Text 22"/>
          <p:cNvSpPr/>
          <p:nvPr/>
        </p:nvSpPr>
        <p:spPr>
          <a:xfrm>
            <a:off x="1793240" y="5013970"/>
            <a:ext cx="96642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Four data-driven iterations, one real login: the token stays in the collection variable for the whole run.</a:t>
            </a:r>
            <a:endParaRPr lang="en-US" sz="1400" dirty="0"/>
          </a:p>
        </p:txBody>
      </p:sp>
      <p:sp>
        <p:nvSpPr>
          <p:cNvPr id="25" name="Text 23"/>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6" name="Text 24"/>
          <p:cNvSpPr/>
          <p:nvPr/>
        </p:nvSpPr>
        <p:spPr>
          <a:xfrm>
            <a:off x="4510326" y="6238230"/>
            <a:ext cx="7074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“Collection-level scripts run first, then folder-level scripts, and then request-level scripts.” (Postman)</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ASSERTIONS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Assertions with pm.test and pm.expect</a:t>
            </a:r>
            <a:endParaRPr lang="en-US" sz="3200" dirty="0"/>
          </a:p>
        </p:txBody>
      </p:sp>
      <p:sp>
        <p:nvSpPr>
          <p:cNvPr id="4" name="Text 2"/>
          <p:cNvSpPr/>
          <p:nvPr/>
        </p:nvSpPr>
        <p:spPr>
          <a:xfrm>
            <a:off x="812800" y="1828800"/>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Place order with SAVE20 · post-response script</a:t>
            </a:r>
            <a:endParaRPr lang="en-US" sz="1200" dirty="0"/>
          </a:p>
        </p:txBody>
      </p:sp>
      <p:sp>
        <p:nvSpPr>
          <p:cNvPr id="5" name="Shape 3"/>
          <p:cNvSpPr/>
          <p:nvPr/>
        </p:nvSpPr>
        <p:spPr>
          <a:xfrm>
            <a:off x="812800" y="2118370"/>
            <a:ext cx="5461000" cy="1849120"/>
          </a:xfrm>
          <a:prstGeom prst="roundRect">
            <a:avLst>
              <a:gd name="adj" fmla="val 4121"/>
            </a:avLst>
          </a:prstGeom>
          <a:solidFill>
            <a:srgbClr val="13233A"/>
          </a:solidFill>
          <a:ln/>
        </p:spPr>
      </p:sp>
      <p:sp>
        <p:nvSpPr>
          <p:cNvPr id="6" name="Text 4"/>
          <p:cNvSpPr/>
          <p:nvPr/>
        </p:nvSpPr>
        <p:spPr>
          <a:xfrm>
            <a:off x="990600" y="2296170"/>
            <a:ext cx="5258562" cy="15189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const</a:t>
            </a:r>
            <a:r>
              <a:rPr lang="en-US" sz="1200" dirty="0">
                <a:solidFill>
                  <a:srgbClr val="E6EAF0"/>
                </a:solidFill>
                <a:latin typeface="JetBrains Mono" pitchFamily="34" charset="0"/>
                <a:ea typeface="JetBrains Mono" pitchFamily="34" charset="-122"/>
                <a:cs typeface="JetBrains Mono" pitchFamily="34" charset="-120"/>
              </a:rPr>
              <a:t> order = pm.response.json();</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pm.test(</a:t>
            </a:r>
            <a:r>
              <a:rPr lang="en-US" sz="1200" dirty="0">
                <a:solidFill>
                  <a:srgbClr val="9CC7F0"/>
                </a:solidFill>
                <a:latin typeface="JetBrains Mono" pitchFamily="34" charset="0"/>
                <a:ea typeface="JetBrains Mono" pitchFamily="34" charset="-122"/>
                <a:cs typeface="JetBrains Mono" pitchFamily="34" charset="-120"/>
              </a:rPr>
              <a:t>"SAVE20 takes 20% off"</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function</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pm.response.to.have.status(201);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pm.expect(order.discount).to.eql(48);</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pm.expect(order.total).to.eql(192);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pm.collectionVariables.set(</a:t>
            </a:r>
            <a:r>
              <a:rPr lang="en-US" sz="1200" dirty="0">
                <a:solidFill>
                  <a:srgbClr val="9CC7F0"/>
                </a:solidFill>
                <a:latin typeface="JetBrains Mono" pitchFamily="34" charset="0"/>
                <a:ea typeface="JetBrains Mono" pitchFamily="34" charset="-122"/>
                <a:cs typeface="JetBrains Mono" pitchFamily="34" charset="-120"/>
              </a:rPr>
              <a:t>"orderId"</a:t>
            </a:r>
            <a:r>
              <a:rPr lang="en-US" sz="1200" dirty="0">
                <a:solidFill>
                  <a:srgbClr val="E6EAF0"/>
                </a:solidFill>
                <a:latin typeface="JetBrains Mono" pitchFamily="34" charset="0"/>
                <a:ea typeface="JetBrains Mono" pitchFamily="34" charset="-122"/>
                <a:cs typeface="JetBrains Mono" pitchFamily="34" charset="-120"/>
              </a:rPr>
              <a:t>, order.order_id);</a:t>
            </a:r>
            <a:endParaRPr lang="en-US" sz="1200" dirty="0"/>
          </a:p>
        </p:txBody>
      </p:sp>
      <p:sp>
        <p:nvSpPr>
          <p:cNvPr id="7" name="Shape 5"/>
          <p:cNvSpPr/>
          <p:nvPr/>
        </p:nvSpPr>
        <p:spPr>
          <a:xfrm>
            <a:off x="6578600" y="1835150"/>
            <a:ext cx="4800600" cy="0"/>
          </a:xfrm>
          <a:prstGeom prst="line">
            <a:avLst/>
          </a:prstGeom>
          <a:noFill/>
          <a:ln w="12700">
            <a:solidFill>
              <a:srgbClr val="13233A"/>
            </a:solidFill>
            <a:prstDash val="solid"/>
          </a:ln>
        </p:spPr>
      </p:sp>
      <p:sp>
        <p:nvSpPr>
          <p:cNvPr id="8" name="Text 6"/>
          <p:cNvSpPr/>
          <p:nvPr/>
        </p:nvSpPr>
        <p:spPr>
          <a:xfrm>
            <a:off x="6578600" y="1915170"/>
            <a:ext cx="49446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pm.test(name, fn)</a:t>
            </a:r>
            <a:endParaRPr lang="en-US" sz="1200" dirty="0"/>
          </a:p>
        </p:txBody>
      </p:sp>
      <p:sp>
        <p:nvSpPr>
          <p:cNvPr id="9" name="Text 7"/>
          <p:cNvSpPr/>
          <p:nvPr/>
        </p:nvSpPr>
        <p:spPr>
          <a:xfrm>
            <a:off x="6578600" y="2166640"/>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Names one check; reports show the name as passed or failed</a:t>
            </a:r>
            <a:endParaRPr lang="en-US" sz="1200" dirty="0"/>
          </a:p>
        </p:txBody>
      </p:sp>
      <p:sp>
        <p:nvSpPr>
          <p:cNvPr id="10" name="Shape 8"/>
          <p:cNvSpPr/>
          <p:nvPr/>
        </p:nvSpPr>
        <p:spPr>
          <a:xfrm>
            <a:off x="6578600" y="2487960"/>
            <a:ext cx="4800600" cy="0"/>
          </a:xfrm>
          <a:prstGeom prst="line">
            <a:avLst/>
          </a:prstGeom>
          <a:noFill/>
          <a:ln w="12700">
            <a:solidFill>
              <a:srgbClr val="13233A"/>
            </a:solidFill>
            <a:prstDash val="solid"/>
          </a:ln>
        </p:spPr>
      </p:sp>
      <p:sp>
        <p:nvSpPr>
          <p:cNvPr id="11" name="Text 9"/>
          <p:cNvSpPr/>
          <p:nvPr/>
        </p:nvSpPr>
        <p:spPr>
          <a:xfrm>
            <a:off x="6578600" y="2567930"/>
            <a:ext cx="49446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pm.expect(value)</a:t>
            </a:r>
            <a:endParaRPr lang="en-US" sz="1200" dirty="0"/>
          </a:p>
        </p:txBody>
      </p:sp>
      <p:sp>
        <p:nvSpPr>
          <p:cNvPr id="12" name="Text 10"/>
          <p:cNvSpPr/>
          <p:nvPr/>
        </p:nvSpPr>
        <p:spPr>
          <a:xfrm>
            <a:off x="6578600" y="2819400"/>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Chai style: to.eql, to.be.below, to.include, to.be.oneOf</a:t>
            </a:r>
            <a:endParaRPr lang="en-US" sz="1200" dirty="0"/>
          </a:p>
        </p:txBody>
      </p:sp>
      <p:sp>
        <p:nvSpPr>
          <p:cNvPr id="13" name="Shape 11"/>
          <p:cNvSpPr/>
          <p:nvPr/>
        </p:nvSpPr>
        <p:spPr>
          <a:xfrm>
            <a:off x="6578600" y="3140720"/>
            <a:ext cx="4800600" cy="0"/>
          </a:xfrm>
          <a:prstGeom prst="line">
            <a:avLst/>
          </a:prstGeom>
          <a:noFill/>
          <a:ln w="12700">
            <a:solidFill>
              <a:srgbClr val="13233A"/>
            </a:solidFill>
            <a:prstDash val="solid"/>
          </a:ln>
        </p:spPr>
      </p:sp>
      <p:sp>
        <p:nvSpPr>
          <p:cNvPr id="14" name="Text 12"/>
          <p:cNvSpPr/>
          <p:nvPr/>
        </p:nvSpPr>
        <p:spPr>
          <a:xfrm>
            <a:off x="6578600" y="3220740"/>
            <a:ext cx="49446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pm.response</a:t>
            </a:r>
            <a:endParaRPr lang="en-US" sz="1200" dirty="0"/>
          </a:p>
        </p:txBody>
      </p:sp>
      <p:sp>
        <p:nvSpPr>
          <p:cNvPr id="15" name="Text 13"/>
          <p:cNvSpPr/>
          <p:nvPr/>
        </p:nvSpPr>
        <p:spPr>
          <a:xfrm>
            <a:off x="6578600" y="3472210"/>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status, headers, responseTime and json()</a:t>
            </a:r>
            <a:endParaRPr lang="en-US" sz="1200" dirty="0"/>
          </a:p>
        </p:txBody>
      </p:sp>
      <p:sp>
        <p:nvSpPr>
          <p:cNvPr id="16" name="Text 14"/>
          <p:cNvSpPr/>
          <p:nvPr/>
        </p:nvSpPr>
        <p:spPr>
          <a:xfrm>
            <a:off x="812800" y="422151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Newman output for that request</a:t>
            </a:r>
            <a:endParaRPr lang="en-US" sz="1200" dirty="0"/>
          </a:p>
        </p:txBody>
      </p:sp>
      <p:sp>
        <p:nvSpPr>
          <p:cNvPr id="17" name="Shape 15"/>
          <p:cNvSpPr/>
          <p:nvPr/>
        </p:nvSpPr>
        <p:spPr>
          <a:xfrm>
            <a:off x="812800" y="4511030"/>
            <a:ext cx="10566400" cy="995680"/>
          </a:xfrm>
          <a:prstGeom prst="roundRect">
            <a:avLst>
              <a:gd name="adj" fmla="val 7653"/>
            </a:avLst>
          </a:prstGeom>
          <a:solidFill>
            <a:srgbClr val="13233A"/>
          </a:solidFill>
          <a:ln/>
        </p:spPr>
      </p:sp>
      <p:sp>
        <p:nvSpPr>
          <p:cNvPr id="18" name="Text 16"/>
          <p:cNvSpPr/>
          <p:nvPr/>
        </p:nvSpPr>
        <p:spPr>
          <a:xfrm>
            <a:off x="990600" y="4688830"/>
            <a:ext cx="10517124" cy="6654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Place order with SAVE20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POST http://localhost:5000/api/orders [201 CREATED, 248B, 5ms]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  SAVE20 takes 20% off</a:t>
            </a:r>
            <a:endParaRPr lang="en-US" sz="1200" dirty="0"/>
          </a:p>
        </p:txBody>
      </p:sp>
      <p:sp>
        <p:nvSpPr>
          <p:cNvPr id="19" name="Text 17"/>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0" name="Text 18"/>
          <p:cNvSpPr/>
          <p:nvPr/>
        </p:nvSpPr>
        <p:spPr>
          <a:xfrm>
            <a:off x="6010592" y="6238230"/>
            <a:ext cx="55296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₹240 order: 20% is ₹48, under the ₹100 cap · assertions and Newman: Lab 11</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ASSERTIONS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Checking structure, speed and headers</a:t>
            </a:r>
            <a:endParaRPr lang="en-US" sz="3200" dirty="0"/>
          </a:p>
        </p:txBody>
      </p:sp>
      <p:sp>
        <p:nvSpPr>
          <p:cNvPr id="4" name="Text 2"/>
          <p:cNvSpPr/>
          <p:nvPr/>
        </p:nvSpPr>
        <p:spPr>
          <a:xfrm>
            <a:off x="812800" y="1828800"/>
            <a:ext cx="67367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Get menu · post-response script, after const schema = {...}</a:t>
            </a:r>
            <a:endParaRPr lang="en-US" sz="1200" dirty="0"/>
          </a:p>
        </p:txBody>
      </p:sp>
      <p:sp>
        <p:nvSpPr>
          <p:cNvPr id="5" name="Shape 3"/>
          <p:cNvSpPr/>
          <p:nvPr/>
        </p:nvSpPr>
        <p:spPr>
          <a:xfrm>
            <a:off x="812800" y="2118370"/>
            <a:ext cx="6540500" cy="2275840"/>
          </a:xfrm>
          <a:prstGeom prst="roundRect">
            <a:avLst>
              <a:gd name="adj" fmla="val 3348"/>
            </a:avLst>
          </a:prstGeom>
          <a:solidFill>
            <a:srgbClr val="13233A"/>
          </a:solidFill>
          <a:ln/>
        </p:spPr>
      </p:sp>
      <p:sp>
        <p:nvSpPr>
          <p:cNvPr id="6" name="Text 4"/>
          <p:cNvSpPr/>
          <p:nvPr/>
        </p:nvSpPr>
        <p:spPr>
          <a:xfrm>
            <a:off x="990600" y="2296170"/>
            <a:ext cx="6370447" cy="19456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pm.test(</a:t>
            </a:r>
            <a:r>
              <a:rPr lang="en-US" sz="1200" dirty="0">
                <a:solidFill>
                  <a:srgbClr val="9CC7F0"/>
                </a:solidFill>
                <a:latin typeface="JetBrains Mono" pitchFamily="34" charset="0"/>
                <a:ea typeface="JetBrains Mono" pitchFamily="34" charset="-122"/>
                <a:cs typeface="JetBrains Mono" pitchFamily="34" charset="-120"/>
              </a:rPr>
              <a:t>"Menu matches the schema"</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function</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pm.response.to.have.jsonSchema(schema);</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pm.test(</a:t>
            </a:r>
            <a:r>
              <a:rPr lang="en-US" sz="1200" dirty="0">
                <a:solidFill>
                  <a:srgbClr val="9CC7F0"/>
                </a:solidFill>
                <a:latin typeface="JetBrains Mono" pitchFamily="34" charset="0"/>
                <a:ea typeface="JetBrains Mono" pitchFamily="34" charset="-122"/>
                <a:cs typeface="JetBrains Mono" pitchFamily="34" charset="-120"/>
              </a:rPr>
              <a:t>"Menu loads within 2 s"</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function</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pm.expect(pm.response.responseTime).to.be.below(2000);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pm.test(</a:t>
            </a:r>
            <a:r>
              <a:rPr lang="en-US" sz="1200" dirty="0">
                <a:solidFill>
                  <a:srgbClr val="9CC7F0"/>
                </a:solidFill>
                <a:latin typeface="JetBrains Mono" pitchFamily="34" charset="0"/>
                <a:ea typeface="JetBrains Mono" pitchFamily="34" charset="-122"/>
                <a:cs typeface="JetBrains Mono" pitchFamily="34" charset="-120"/>
              </a:rPr>
              <a:t>"Menu is JSON"</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function</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pm.response.to.have.header(</a:t>
            </a:r>
            <a:r>
              <a:rPr lang="en-US" sz="1200" dirty="0">
                <a:solidFill>
                  <a:srgbClr val="9CC7F0"/>
                </a:solidFill>
                <a:latin typeface="JetBrains Mono" pitchFamily="34" charset="0"/>
                <a:ea typeface="JetBrains Mono" pitchFamily="34" charset="-122"/>
                <a:cs typeface="JetBrains Mono" pitchFamily="34" charset="-120"/>
              </a:rPr>
              <a:t>"Content-Type"</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"application/json"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7" name="Shape 5"/>
          <p:cNvSpPr/>
          <p:nvPr/>
        </p:nvSpPr>
        <p:spPr>
          <a:xfrm>
            <a:off x="7661275" y="1831975"/>
            <a:ext cx="3714750" cy="1212850"/>
          </a:xfrm>
          <a:prstGeom prst="roundRect">
            <a:avLst>
              <a:gd name="adj" fmla="val 6021"/>
            </a:avLst>
          </a:prstGeom>
          <a:solidFill>
            <a:srgbClr val="FCFBF7"/>
          </a:solidFill>
          <a:ln w="6350">
            <a:solidFill>
              <a:srgbClr val="DDD8CC"/>
            </a:solidFill>
            <a:prstDash val="solid"/>
          </a:ln>
        </p:spPr>
      </p:sp>
      <p:sp>
        <p:nvSpPr>
          <p:cNvPr id="8" name="Text 6"/>
          <p:cNvSpPr/>
          <p:nvPr/>
        </p:nvSpPr>
        <p:spPr>
          <a:xfrm>
            <a:off x="7840980" y="1986310"/>
            <a:ext cx="3456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Schema</a:t>
            </a:r>
            <a:endParaRPr lang="en-US" sz="1200" dirty="0"/>
          </a:p>
        </p:txBody>
      </p:sp>
      <p:sp>
        <p:nvSpPr>
          <p:cNvPr id="9" name="Text 7"/>
          <p:cNvSpPr/>
          <p:nvPr/>
        </p:nvSpPr>
        <p:spPr>
          <a:xfrm>
            <a:off x="7840980" y="2250430"/>
            <a:ext cx="34560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Every item needs id, name and a price of 0 or more. Postman validates with Ajv; tv4 is deprecated.</a:t>
            </a:r>
            <a:endParaRPr lang="en-US" sz="1200" dirty="0"/>
          </a:p>
        </p:txBody>
      </p:sp>
      <p:sp>
        <p:nvSpPr>
          <p:cNvPr id="10" name="Shape 8"/>
          <p:cNvSpPr/>
          <p:nvPr/>
        </p:nvSpPr>
        <p:spPr>
          <a:xfrm>
            <a:off x="7661275" y="3152775"/>
            <a:ext cx="3714750" cy="999490"/>
          </a:xfrm>
          <a:prstGeom prst="roundRect">
            <a:avLst>
              <a:gd name="adj" fmla="val 7306"/>
            </a:avLst>
          </a:prstGeom>
          <a:solidFill>
            <a:srgbClr val="FCFBF7"/>
          </a:solidFill>
          <a:ln w="6350">
            <a:solidFill>
              <a:srgbClr val="DDD8CC"/>
            </a:solidFill>
            <a:prstDash val="solid"/>
          </a:ln>
        </p:spPr>
      </p:sp>
      <p:sp>
        <p:nvSpPr>
          <p:cNvPr id="11" name="Text 9"/>
          <p:cNvSpPr/>
          <p:nvPr/>
        </p:nvSpPr>
        <p:spPr>
          <a:xfrm>
            <a:off x="7840980" y="3307110"/>
            <a:ext cx="3456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Speed</a:t>
            </a:r>
            <a:endParaRPr lang="en-US" sz="1200" dirty="0"/>
          </a:p>
        </p:txBody>
      </p:sp>
      <p:sp>
        <p:nvSpPr>
          <p:cNvPr id="12" name="Text 10"/>
          <p:cNvSpPr/>
          <p:nvPr/>
        </p:nvSpPr>
        <p:spPr>
          <a:xfrm>
            <a:off x="7840980" y="3571230"/>
            <a:ext cx="34560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REQ-06 for one request. Load needs Locust (Lecture 16).</a:t>
            </a:r>
            <a:endParaRPr lang="en-US" sz="1200" dirty="0"/>
          </a:p>
        </p:txBody>
      </p:sp>
      <p:sp>
        <p:nvSpPr>
          <p:cNvPr id="13" name="Text 11"/>
          <p:cNvSpPr/>
          <p:nvPr/>
        </p:nvSpPr>
        <p:spPr>
          <a:xfrm>
            <a:off x="812800" y="46482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schema check catches a renamed or missing field that a single value check would miss.</a:t>
            </a:r>
            <a:endParaRPr lang="en-US" sz="1400" dirty="0"/>
          </a:p>
        </p:txBody>
      </p:sp>
      <p:sp>
        <p:nvSpPr>
          <p:cNvPr id="14" name="Text 12"/>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5" name="Text 13"/>
          <p:cNvSpPr/>
          <p:nvPr/>
        </p:nvSpPr>
        <p:spPr>
          <a:xfrm>
            <a:off x="5426710" y="6238230"/>
            <a:ext cx="6131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All three checks passed in the Newman run · Postman sandbox reference: pm.response</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COLLECTIONS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Chaining requests with variables</a:t>
            </a:r>
            <a:endParaRPr lang="en-US" sz="3200" dirty="0"/>
          </a:p>
        </p:txBody>
      </p:sp>
      <p:sp>
        <p:nvSpPr>
          <p:cNvPr id="4" name="Shape 2"/>
          <p:cNvSpPr/>
          <p:nvPr/>
        </p:nvSpPr>
        <p:spPr>
          <a:xfrm>
            <a:off x="812800" y="1828800"/>
            <a:ext cx="1778000" cy="635000"/>
          </a:xfrm>
          <a:prstGeom prst="roundRect">
            <a:avLst>
              <a:gd name="adj" fmla="val 10000"/>
            </a:avLst>
          </a:prstGeom>
          <a:solidFill>
            <a:srgbClr val="13233A"/>
          </a:solidFill>
          <a:ln/>
        </p:spPr>
      </p:sp>
      <p:sp>
        <p:nvSpPr>
          <p:cNvPr id="5" name="Text 3"/>
          <p:cNvSpPr/>
          <p:nvPr/>
        </p:nvSpPr>
        <p:spPr>
          <a:xfrm>
            <a:off x="1494631" y="2039640"/>
            <a:ext cx="46505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Log in</a:t>
            </a:r>
            <a:endParaRPr lang="en-US" sz="1200" dirty="0"/>
          </a:p>
        </p:txBody>
      </p:sp>
      <p:sp>
        <p:nvSpPr>
          <p:cNvPr id="6" name="Shape 4"/>
          <p:cNvSpPr/>
          <p:nvPr/>
        </p:nvSpPr>
        <p:spPr>
          <a:xfrm>
            <a:off x="3013075" y="1831975"/>
            <a:ext cx="1771650" cy="628650"/>
          </a:xfrm>
          <a:prstGeom prst="roundRect">
            <a:avLst>
              <a:gd name="adj" fmla="val 9596"/>
            </a:avLst>
          </a:prstGeom>
          <a:solidFill>
            <a:srgbClr val="FCFBF7"/>
          </a:solidFill>
          <a:ln w="6350">
            <a:solidFill>
              <a:srgbClr val="C9C2B2"/>
            </a:solidFill>
            <a:prstDash val="solid"/>
          </a:ln>
        </p:spPr>
      </p:sp>
      <p:sp>
        <p:nvSpPr>
          <p:cNvPr id="7" name="Text 5"/>
          <p:cNvSpPr/>
          <p:nvPr/>
        </p:nvSpPr>
        <p:spPr>
          <a:xfrm>
            <a:off x="3555841" y="2039640"/>
            <a:ext cx="7369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Get menu</a:t>
            </a:r>
            <a:endParaRPr lang="en-US" sz="1200" dirty="0"/>
          </a:p>
        </p:txBody>
      </p:sp>
      <p:sp>
        <p:nvSpPr>
          <p:cNvPr id="8" name="Shape 6"/>
          <p:cNvSpPr/>
          <p:nvPr/>
        </p:nvSpPr>
        <p:spPr>
          <a:xfrm>
            <a:off x="5210175" y="1831975"/>
            <a:ext cx="1771650" cy="628650"/>
          </a:xfrm>
          <a:prstGeom prst="roundRect">
            <a:avLst>
              <a:gd name="adj" fmla="val 9596"/>
            </a:avLst>
          </a:prstGeom>
          <a:solidFill>
            <a:srgbClr val="FCFBF7"/>
          </a:solidFill>
          <a:ln w="6350">
            <a:solidFill>
              <a:srgbClr val="C9C2B2"/>
            </a:solidFill>
            <a:prstDash val="solid"/>
          </a:ln>
        </p:spPr>
      </p:sp>
      <p:sp>
        <p:nvSpPr>
          <p:cNvPr id="9" name="Text 7"/>
          <p:cNvSpPr/>
          <p:nvPr/>
        </p:nvSpPr>
        <p:spPr>
          <a:xfrm>
            <a:off x="5427186" y="2039640"/>
            <a:ext cx="138842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Add 4 Masala Dosa</a:t>
            </a:r>
            <a:endParaRPr lang="en-US" sz="1200" dirty="0"/>
          </a:p>
        </p:txBody>
      </p:sp>
      <p:sp>
        <p:nvSpPr>
          <p:cNvPr id="10" name="Shape 8"/>
          <p:cNvSpPr/>
          <p:nvPr/>
        </p:nvSpPr>
        <p:spPr>
          <a:xfrm>
            <a:off x="7404100" y="1828800"/>
            <a:ext cx="1778000" cy="635000"/>
          </a:xfrm>
          <a:prstGeom prst="roundRect">
            <a:avLst>
              <a:gd name="adj" fmla="val 10000"/>
            </a:avLst>
          </a:prstGeom>
          <a:solidFill>
            <a:srgbClr val="13233A"/>
          </a:solidFill>
          <a:ln/>
        </p:spPr>
      </p:sp>
      <p:sp>
        <p:nvSpPr>
          <p:cNvPr id="11" name="Text 9"/>
          <p:cNvSpPr/>
          <p:nvPr/>
        </p:nvSpPr>
        <p:spPr>
          <a:xfrm>
            <a:off x="7889319" y="2039640"/>
            <a:ext cx="8582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Place order</a:t>
            </a:r>
            <a:endParaRPr lang="en-US" sz="1200" dirty="0"/>
          </a:p>
        </p:txBody>
      </p:sp>
      <p:sp>
        <p:nvSpPr>
          <p:cNvPr id="12" name="Shape 10"/>
          <p:cNvSpPr/>
          <p:nvPr/>
        </p:nvSpPr>
        <p:spPr>
          <a:xfrm>
            <a:off x="9604375" y="1831975"/>
            <a:ext cx="1771650" cy="628650"/>
          </a:xfrm>
          <a:prstGeom prst="roundRect">
            <a:avLst>
              <a:gd name="adj" fmla="val 9596"/>
            </a:avLst>
          </a:prstGeom>
          <a:solidFill>
            <a:srgbClr val="FCFBF7"/>
          </a:solidFill>
          <a:ln w="6350">
            <a:solidFill>
              <a:srgbClr val="C9C2B2"/>
            </a:solidFill>
            <a:prstDash val="solid"/>
          </a:ln>
        </p:spPr>
      </p:sp>
      <p:sp>
        <p:nvSpPr>
          <p:cNvPr id="13" name="Text 11"/>
          <p:cNvSpPr/>
          <p:nvPr/>
        </p:nvSpPr>
        <p:spPr>
          <a:xfrm>
            <a:off x="9918700" y="2039640"/>
            <a:ext cx="11937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Get order status</a:t>
            </a:r>
            <a:endParaRPr lang="en-US" sz="1200" dirty="0"/>
          </a:p>
        </p:txBody>
      </p:sp>
      <p:pic>
        <p:nvPicPr>
          <p:cNvPr id="14" name="Image 0" descr="connector">    </p:cNvPr>
          <p:cNvPicPr>
            <a:picLocks noChangeAspect="1"/>
          </p:cNvPicPr>
          <p:nvPr/>
        </p:nvPicPr>
        <p:blipFill>
          <a:blip r:embed="rId1"/>
          <a:srcRect l="0" r="0" t="0" b="0"/>
          <a:stretch/>
        </p:blipFill>
        <p:spPr>
          <a:xfrm>
            <a:off x="2540000" y="2095500"/>
            <a:ext cx="520700" cy="101600"/>
          </a:xfrm>
          <a:prstGeom prst="rect">
            <a:avLst/>
          </a:prstGeom>
        </p:spPr>
      </p:pic>
      <p:pic>
        <p:nvPicPr>
          <p:cNvPr id="15" name="Image 1" descr="connector">    </p:cNvPr>
          <p:cNvPicPr>
            <a:picLocks noChangeAspect="1"/>
          </p:cNvPicPr>
          <p:nvPr/>
        </p:nvPicPr>
        <p:blipFill>
          <a:blip r:embed="rId2"/>
          <a:srcRect l="0" r="0" t="0" b="0"/>
          <a:stretch/>
        </p:blipFill>
        <p:spPr>
          <a:xfrm>
            <a:off x="4737100" y="2095500"/>
            <a:ext cx="520700" cy="101600"/>
          </a:xfrm>
          <a:prstGeom prst="rect">
            <a:avLst/>
          </a:prstGeom>
        </p:spPr>
      </p:pic>
      <p:pic>
        <p:nvPicPr>
          <p:cNvPr id="16" name="Image 2" descr="connector">    </p:cNvPr>
          <p:cNvPicPr>
            <a:picLocks noChangeAspect="1"/>
          </p:cNvPicPr>
          <p:nvPr/>
        </p:nvPicPr>
        <p:blipFill>
          <a:blip r:embed="rId3"/>
          <a:srcRect l="0" r="0" t="0" b="0"/>
          <a:stretch/>
        </p:blipFill>
        <p:spPr>
          <a:xfrm>
            <a:off x="6934200" y="2095500"/>
            <a:ext cx="520700" cy="101600"/>
          </a:xfrm>
          <a:prstGeom prst="rect">
            <a:avLst/>
          </a:prstGeom>
        </p:spPr>
      </p:pic>
      <p:pic>
        <p:nvPicPr>
          <p:cNvPr id="17" name="Image 3" descr="connector">    </p:cNvPr>
          <p:cNvPicPr>
            <a:picLocks noChangeAspect="1"/>
          </p:cNvPicPr>
          <p:nvPr/>
        </p:nvPicPr>
        <p:blipFill>
          <a:blip r:embed="rId4"/>
          <a:srcRect l="0" r="0" t="0" b="0"/>
          <a:stretch/>
        </p:blipFill>
        <p:spPr>
          <a:xfrm>
            <a:off x="9131300" y="2095500"/>
            <a:ext cx="520700" cy="101600"/>
          </a:xfrm>
          <a:prstGeom prst="rect">
            <a:avLst/>
          </a:prstGeom>
        </p:spPr>
      </p:pic>
      <p:sp>
        <p:nvSpPr>
          <p:cNvPr id="18" name="Text 12"/>
          <p:cNvSpPr/>
          <p:nvPr/>
        </p:nvSpPr>
        <p:spPr>
          <a:xfrm>
            <a:off x="812800" y="2616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JetBrains Mono" pitchFamily="34" charset="0"/>
                <a:ea typeface="JetBrains Mono" pitchFamily="34" charset="-122"/>
                <a:cs typeface="JetBrains Mono" pitchFamily="34" charset="-120"/>
              </a:rPr>
              <a:t>saves {{token}}</a:t>
            </a:r>
            <a:endParaRPr lang="en-US" sz="1200" dirty="0"/>
          </a:p>
        </p:txBody>
      </p:sp>
      <p:sp>
        <p:nvSpPr>
          <p:cNvPr id="19" name="Text 13"/>
          <p:cNvSpPr/>
          <p:nvPr/>
        </p:nvSpPr>
        <p:spPr>
          <a:xfrm>
            <a:off x="5207000" y="2616200"/>
            <a:ext cx="19621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sends Bearer {{token}}</a:t>
            </a:r>
            <a:endParaRPr lang="en-US" sz="1200" dirty="0"/>
          </a:p>
        </p:txBody>
      </p:sp>
      <p:sp>
        <p:nvSpPr>
          <p:cNvPr id="20" name="Text 14"/>
          <p:cNvSpPr/>
          <p:nvPr/>
        </p:nvSpPr>
        <p:spPr>
          <a:xfrm>
            <a:off x="7404100" y="2616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481A"/>
                </a:solidFill>
                <a:latin typeface="JetBrains Mono" pitchFamily="34" charset="0"/>
                <a:ea typeface="JetBrains Mono" pitchFamily="34" charset="-122"/>
                <a:cs typeface="JetBrains Mono" pitchFamily="34" charset="-120"/>
              </a:rPr>
              <a:t>saves {{orderId}}</a:t>
            </a:r>
            <a:endParaRPr lang="en-US" sz="1200" dirty="0"/>
          </a:p>
        </p:txBody>
      </p:sp>
      <p:sp>
        <p:nvSpPr>
          <p:cNvPr id="21" name="Text 15"/>
          <p:cNvSpPr/>
          <p:nvPr/>
        </p:nvSpPr>
        <p:spPr>
          <a:xfrm>
            <a:off x="9601200" y="2616200"/>
            <a:ext cx="18313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/api/orders/ {{orderId}}</a:t>
            </a:r>
            <a:endParaRPr lang="en-US" sz="1200" dirty="0"/>
          </a:p>
        </p:txBody>
      </p:sp>
      <p:sp>
        <p:nvSpPr>
          <p:cNvPr id="22" name="Text 16"/>
          <p:cNvSpPr/>
          <p:nvPr/>
        </p:nvSpPr>
        <p:spPr>
          <a:xfrm>
            <a:off x="812800" y="3606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Log in · post-response script</a:t>
            </a:r>
            <a:endParaRPr lang="en-US" sz="1200" dirty="0"/>
          </a:p>
        </p:txBody>
      </p:sp>
      <p:sp>
        <p:nvSpPr>
          <p:cNvPr id="23" name="Shape 17"/>
          <p:cNvSpPr/>
          <p:nvPr/>
        </p:nvSpPr>
        <p:spPr>
          <a:xfrm>
            <a:off x="812800" y="3896370"/>
            <a:ext cx="10566400" cy="1209040"/>
          </a:xfrm>
          <a:prstGeom prst="roundRect">
            <a:avLst>
              <a:gd name="adj" fmla="val 6303"/>
            </a:avLst>
          </a:prstGeom>
          <a:solidFill>
            <a:srgbClr val="13233A"/>
          </a:solidFill>
          <a:ln/>
        </p:spPr>
      </p:sp>
      <p:sp>
        <p:nvSpPr>
          <p:cNvPr id="24" name="Text 18"/>
          <p:cNvSpPr/>
          <p:nvPr/>
        </p:nvSpPr>
        <p:spPr>
          <a:xfrm>
            <a:off x="990600" y="4074170"/>
            <a:ext cx="10517124"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pm.test(</a:t>
            </a:r>
            <a:r>
              <a:rPr lang="en-US" sz="1200" dirty="0">
                <a:solidFill>
                  <a:srgbClr val="9CC7F0"/>
                </a:solidFill>
                <a:latin typeface="JetBrains Mono" pitchFamily="34" charset="0"/>
                <a:ea typeface="JetBrains Mono" pitchFamily="34" charset="-122"/>
                <a:cs typeface="JetBrains Mono" pitchFamily="34" charset="-120"/>
              </a:rPr>
              <a:t>"Login succeeds"</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function</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pm.response.to.have.status(200);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pm.collectionVariables.set(</a:t>
            </a:r>
            <a:r>
              <a:rPr lang="en-US" sz="1200" dirty="0">
                <a:solidFill>
                  <a:srgbClr val="9CC7F0"/>
                </a:solidFill>
                <a:latin typeface="JetBrains Mono" pitchFamily="34" charset="0"/>
                <a:ea typeface="JetBrains Mono" pitchFamily="34" charset="-122"/>
                <a:cs typeface="JetBrains Mono" pitchFamily="34" charset="-120"/>
              </a:rPr>
              <a:t>"token"</a:t>
            </a:r>
            <a:r>
              <a:rPr lang="en-US" sz="1200" dirty="0">
                <a:solidFill>
                  <a:srgbClr val="E6EAF0"/>
                </a:solidFill>
                <a:latin typeface="JetBrains Mono" pitchFamily="34" charset="0"/>
                <a:ea typeface="JetBrains Mono" pitchFamily="34" charset="-122"/>
                <a:cs typeface="JetBrains Mono" pitchFamily="34" charset="-120"/>
              </a:rPr>
              <a:t>, pm.response.json().token);</a:t>
            </a:r>
            <a:endParaRPr lang="en-US" sz="1200" dirty="0"/>
          </a:p>
        </p:txBody>
      </p:sp>
      <p:sp>
        <p:nvSpPr>
          <p:cNvPr id="25" name="Text 19"/>
          <p:cNvSpPr/>
          <p:nvPr/>
        </p:nvSpPr>
        <p:spPr>
          <a:xfrm>
            <a:off x="812800" y="53594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To branch in a collection run, pm.execution.setNextRequest("name") picks the next request.</a:t>
            </a:r>
            <a:endParaRPr lang="en-US" sz="1400" dirty="0"/>
          </a:p>
        </p:txBody>
      </p:sp>
      <p:sp>
        <p:nvSpPr>
          <p:cNvPr id="26" name="Text 20"/>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7" name="Text 21"/>
          <p:cNvSpPr/>
          <p:nvPr/>
        </p:nvSpPr>
        <p:spPr>
          <a:xfrm>
            <a:off x="4686062" y="6238230"/>
            <a:ext cx="68939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setNextRequest works only in collection runs, not with Send · it replaces postman.setNextRequest</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COLLECTIONS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Data-driven runs with a CSV file</a:t>
            </a:r>
            <a:endParaRPr lang="en-US" sz="3200" dirty="0"/>
          </a:p>
        </p:txBody>
      </p:sp>
      <p:sp>
        <p:nvSpPr>
          <p:cNvPr id="4" name="Text 2"/>
          <p:cNvSpPr/>
          <p:nvPr/>
        </p:nvSpPr>
        <p:spPr>
          <a:xfrm>
            <a:off x="812800" y="1828800"/>
            <a:ext cx="21583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cart-qty.csv</a:t>
            </a:r>
            <a:endParaRPr lang="en-US" sz="1200" dirty="0"/>
          </a:p>
        </p:txBody>
      </p:sp>
      <p:sp>
        <p:nvSpPr>
          <p:cNvPr id="5" name="Shape 3"/>
          <p:cNvSpPr/>
          <p:nvPr/>
        </p:nvSpPr>
        <p:spPr>
          <a:xfrm>
            <a:off x="812800" y="2118370"/>
            <a:ext cx="2095500" cy="1422400"/>
          </a:xfrm>
          <a:prstGeom prst="roundRect">
            <a:avLst>
              <a:gd name="adj" fmla="val 5357"/>
            </a:avLst>
          </a:prstGeom>
          <a:solidFill>
            <a:srgbClr val="13233A"/>
          </a:solidFill>
          <a:ln/>
        </p:spPr>
      </p:sp>
      <p:sp>
        <p:nvSpPr>
          <p:cNvPr id="6" name="Text 4"/>
          <p:cNvSpPr/>
          <p:nvPr/>
        </p:nvSpPr>
        <p:spPr>
          <a:xfrm>
            <a:off x="990600" y="2296170"/>
            <a:ext cx="1792097" cy="10922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qty,expected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1,201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10,201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0,422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11,422</a:t>
            </a:r>
            <a:endParaRPr lang="en-US" sz="1200" dirty="0"/>
          </a:p>
        </p:txBody>
      </p:sp>
      <p:sp>
        <p:nvSpPr>
          <p:cNvPr id="7" name="Text 5"/>
          <p:cNvSpPr/>
          <p:nvPr/>
        </p:nvSpPr>
        <p:spPr>
          <a:xfrm>
            <a:off x="3213100" y="1828800"/>
            <a:ext cx="84110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Set quantity · body {"item_id": 1, "qty": {{qty}}} · post-response</a:t>
            </a:r>
            <a:endParaRPr lang="en-US" sz="1200" dirty="0"/>
          </a:p>
        </p:txBody>
      </p:sp>
      <p:sp>
        <p:nvSpPr>
          <p:cNvPr id="8" name="Shape 6"/>
          <p:cNvSpPr/>
          <p:nvPr/>
        </p:nvSpPr>
        <p:spPr>
          <a:xfrm>
            <a:off x="3213100" y="2118370"/>
            <a:ext cx="8166100" cy="1422400"/>
          </a:xfrm>
          <a:prstGeom prst="roundRect">
            <a:avLst>
              <a:gd name="adj" fmla="val 5357"/>
            </a:avLst>
          </a:prstGeom>
          <a:solidFill>
            <a:srgbClr val="13233A"/>
          </a:solidFill>
          <a:ln/>
        </p:spPr>
      </p:sp>
      <p:sp>
        <p:nvSpPr>
          <p:cNvPr id="9" name="Text 7"/>
          <p:cNvSpPr/>
          <p:nvPr/>
        </p:nvSpPr>
        <p:spPr>
          <a:xfrm>
            <a:off x="3390900" y="2296170"/>
            <a:ext cx="8044815" cy="10922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const</a:t>
            </a:r>
            <a:r>
              <a:rPr lang="en-US" sz="1200" dirty="0">
                <a:solidFill>
                  <a:srgbClr val="E6EAF0"/>
                </a:solidFill>
                <a:latin typeface="JetBrains Mono" pitchFamily="34" charset="0"/>
                <a:ea typeface="JetBrains Mono" pitchFamily="34" charset="-122"/>
                <a:cs typeface="JetBrains Mono" pitchFamily="34" charset="-120"/>
              </a:rPr>
              <a:t> qty = pm.iterationData.get(</a:t>
            </a:r>
            <a:r>
              <a:rPr lang="en-US" sz="1200" dirty="0">
                <a:solidFill>
                  <a:srgbClr val="9CC7F0"/>
                </a:solidFill>
                <a:latin typeface="JetBrains Mono" pitchFamily="34" charset="0"/>
                <a:ea typeface="JetBrains Mono" pitchFamily="34" charset="-122"/>
                <a:cs typeface="JetBrains Mono" pitchFamily="34" charset="-120"/>
              </a:rPr>
              <a:t>"qty"</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const</a:t>
            </a:r>
            <a:r>
              <a:rPr lang="en-US" sz="1200" dirty="0">
                <a:solidFill>
                  <a:srgbClr val="E6EAF0"/>
                </a:solidFill>
                <a:latin typeface="JetBrains Mono" pitchFamily="34" charset="0"/>
                <a:ea typeface="JetBrains Mono" pitchFamily="34" charset="-122"/>
                <a:cs typeface="JetBrains Mono" pitchFamily="34" charset="-120"/>
              </a:rPr>
              <a:t> expected = Number(pm.iterationData.get(</a:t>
            </a:r>
            <a:r>
              <a:rPr lang="en-US" sz="1200" dirty="0">
                <a:solidFill>
                  <a:srgbClr val="9CC7F0"/>
                </a:solidFill>
                <a:latin typeface="JetBrains Mono" pitchFamily="34" charset="0"/>
                <a:ea typeface="JetBrains Mono" pitchFamily="34" charset="-122"/>
                <a:cs typeface="JetBrains Mono" pitchFamily="34" charset="-120"/>
              </a:rPr>
              <a:t>"expected"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pm.test(</a:t>
            </a:r>
            <a:r>
              <a:rPr lang="en-US" sz="1200" dirty="0">
                <a:solidFill>
                  <a:srgbClr val="9CC7F0"/>
                </a:solidFill>
                <a:latin typeface="JetBrains Mono" pitchFamily="34" charset="0"/>
                <a:ea typeface="JetBrains Mono" pitchFamily="34" charset="-122"/>
                <a:cs typeface="JetBrains Mono" pitchFamily="34" charset="-120"/>
              </a:rPr>
              <a:t>"qty "</a:t>
            </a:r>
            <a:r>
              <a:rPr lang="en-US" sz="1200" dirty="0">
                <a:solidFill>
                  <a:srgbClr val="E6EAF0"/>
                </a:solidFill>
                <a:latin typeface="JetBrains Mono" pitchFamily="34" charset="0"/>
                <a:ea typeface="JetBrains Mono" pitchFamily="34" charset="-122"/>
                <a:cs typeface="JetBrains Mono" pitchFamily="34" charset="-120"/>
              </a:rPr>
              <a:t> + qty + </a:t>
            </a:r>
            <a:r>
              <a:rPr lang="en-US" sz="1200" dirty="0">
                <a:solidFill>
                  <a:srgbClr val="9CC7F0"/>
                </a:solidFill>
                <a:latin typeface="JetBrains Mono" pitchFamily="34" charset="0"/>
                <a:ea typeface="JetBrains Mono" pitchFamily="34" charset="-122"/>
                <a:cs typeface="JetBrains Mono" pitchFamily="34" charset="-120"/>
              </a:rPr>
              <a:t>" returns "</a:t>
            </a:r>
            <a:r>
              <a:rPr lang="en-US" sz="1200" dirty="0">
                <a:solidFill>
                  <a:srgbClr val="E6EAF0"/>
                </a:solidFill>
                <a:latin typeface="JetBrains Mono" pitchFamily="34" charset="0"/>
                <a:ea typeface="JetBrains Mono" pitchFamily="34" charset="-122"/>
                <a:cs typeface="JetBrains Mono" pitchFamily="34" charset="-120"/>
              </a:rPr>
              <a:t> + expected, </a:t>
            </a:r>
            <a:r>
              <a:rPr lang="en-US" sz="1200" dirty="0">
                <a:solidFill>
                  <a:srgbClr val="F2A36B"/>
                </a:solidFill>
                <a:latin typeface="JetBrains Mono" pitchFamily="34" charset="0"/>
                <a:ea typeface="JetBrains Mono" pitchFamily="34" charset="-122"/>
                <a:cs typeface="JetBrains Mono" pitchFamily="34" charset="-120"/>
              </a:rPr>
              <a:t>function</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pm.response.to.have.status(expected);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10" name="Text 8"/>
          <p:cNvSpPr/>
          <p:nvPr/>
        </p:nvSpPr>
        <p:spPr>
          <a:xfrm>
            <a:off x="812800" y="379477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One iteration per row · Newman output, condensed</a:t>
            </a:r>
            <a:endParaRPr lang="en-US" sz="1200" dirty="0"/>
          </a:p>
        </p:txBody>
      </p:sp>
      <p:sp>
        <p:nvSpPr>
          <p:cNvPr id="11" name="Shape 9"/>
          <p:cNvSpPr/>
          <p:nvPr/>
        </p:nvSpPr>
        <p:spPr>
          <a:xfrm>
            <a:off x="812800" y="4084340"/>
            <a:ext cx="10566400" cy="1209040"/>
          </a:xfrm>
          <a:prstGeom prst="roundRect">
            <a:avLst>
              <a:gd name="adj" fmla="val 6303"/>
            </a:avLst>
          </a:prstGeom>
          <a:solidFill>
            <a:srgbClr val="13233A"/>
          </a:solidFill>
          <a:ln/>
        </p:spPr>
      </p:sp>
      <p:sp>
        <p:nvSpPr>
          <p:cNvPr id="12" name="Text 10"/>
          <p:cNvSpPr/>
          <p:nvPr/>
        </p:nvSpPr>
        <p:spPr>
          <a:xfrm>
            <a:off x="990600" y="4262140"/>
            <a:ext cx="10517124"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Iteration 1/4   </a:t>
            </a:r>
            <a:r>
              <a:rPr lang="en-US" sz="1200" dirty="0">
                <a:solidFill>
                  <a:srgbClr val="9CC7F0"/>
                </a:solidFill>
                <a:latin typeface="JetBrains Mono" pitchFamily="34" charset="0"/>
                <a:ea typeface="JetBrains Mono" pitchFamily="34" charset="-122"/>
                <a:cs typeface="JetBrains Mono" pitchFamily="34" charset="-120"/>
              </a:rPr>
              <a:t>✓  qty 1 returns 201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Iteration 2/4   </a:t>
            </a:r>
            <a:r>
              <a:rPr lang="en-US" sz="1200" dirty="0">
                <a:solidFill>
                  <a:srgbClr val="9CC7F0"/>
                </a:solidFill>
                <a:latin typeface="JetBrains Mono" pitchFamily="34" charset="0"/>
                <a:ea typeface="JetBrains Mono" pitchFamily="34" charset="-122"/>
                <a:cs typeface="JetBrains Mono" pitchFamily="34" charset="-120"/>
              </a:rPr>
              <a:t>✓  qty 10 returns 201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Iteration 3/4   </a:t>
            </a:r>
            <a:r>
              <a:rPr lang="en-US" sz="1200" dirty="0">
                <a:solidFill>
                  <a:srgbClr val="9CC7F0"/>
                </a:solidFill>
                <a:latin typeface="JetBrains Mono" pitchFamily="34" charset="0"/>
                <a:ea typeface="JetBrains Mono" pitchFamily="34" charset="-122"/>
                <a:cs typeface="JetBrains Mono" pitchFamily="34" charset="-120"/>
              </a:rPr>
              <a:t>✓  qty 0 returns 422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Iteration 4/4   </a:t>
            </a:r>
            <a:r>
              <a:rPr lang="en-US" sz="1200" dirty="0">
                <a:solidFill>
                  <a:srgbClr val="9CC7F0"/>
                </a:solidFill>
                <a:latin typeface="JetBrains Mono" pitchFamily="34" charset="0"/>
                <a:ea typeface="JetBrains Mono" pitchFamily="34" charset="-122"/>
                <a:cs typeface="JetBrains Mono" pitchFamily="34" charset="-120"/>
              </a:rPr>
              <a:t>✓  qty 11 returns 422</a:t>
            </a:r>
            <a:endParaRPr lang="en-US" sz="1200" dirty="0"/>
          </a:p>
        </p:txBody>
      </p:sp>
      <p:sp>
        <p:nvSpPr>
          <p:cNvPr id="13" name="Text 11"/>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4" name="Text 12"/>
          <p:cNvSpPr/>
          <p:nvPr/>
        </p:nvSpPr>
        <p:spPr>
          <a:xfrm>
            <a:off x="4596924" y="6238230"/>
            <a:ext cx="6985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“For a CSV file, the first row must have the variable names you want inside the requests.” (Postman)</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NEWMAN IN CI</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Running the collection in CI with Newman</a:t>
            </a:r>
            <a:endParaRPr lang="en-US" sz="3200" dirty="0"/>
          </a:p>
        </p:txBody>
      </p:sp>
      <p:sp>
        <p:nvSpPr>
          <p:cNvPr id="4" name="Shape 2"/>
          <p:cNvSpPr/>
          <p:nvPr/>
        </p:nvSpPr>
        <p:spPr>
          <a:xfrm>
            <a:off x="812800" y="1828800"/>
            <a:ext cx="10566400" cy="995680"/>
          </a:xfrm>
          <a:prstGeom prst="roundRect">
            <a:avLst>
              <a:gd name="adj" fmla="val 7653"/>
            </a:avLst>
          </a:prstGeom>
          <a:solidFill>
            <a:srgbClr val="13233A"/>
          </a:solidFill>
          <a:ln/>
        </p:spPr>
      </p:sp>
      <p:sp>
        <p:nvSpPr>
          <p:cNvPr id="5" name="Text 3"/>
          <p:cNvSpPr/>
          <p:nvPr/>
        </p:nvSpPr>
        <p:spPr>
          <a:xfrm>
            <a:off x="990600" y="2006600"/>
            <a:ext cx="10517124" cy="6654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newman run canteen.postman_collection.json -e staging.postman_environment.json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--env-var </a:t>
            </a:r>
            <a:r>
              <a:rPr lang="en-US" sz="1200" dirty="0">
                <a:solidFill>
                  <a:srgbClr val="9CC7F0"/>
                </a:solidFill>
                <a:latin typeface="JetBrains Mono" pitchFamily="34" charset="0"/>
                <a:ea typeface="JetBrains Mono" pitchFamily="34" charset="-122"/>
                <a:cs typeface="JetBrains Mono" pitchFamily="34" charset="-120"/>
              </a:rPr>
              <a:t>"password=$CANTEEN_PASSWORD"</a:t>
            </a:r>
            <a:r>
              <a:rPr lang="en-US" sz="1200" dirty="0">
                <a:solidFill>
                  <a:srgbClr val="E6EAF0"/>
                </a:solidFill>
                <a:latin typeface="JetBrains Mono" pitchFamily="34" charset="0"/>
                <a:ea typeface="JetBrains Mono" pitchFamily="34" charset="-122"/>
                <a:cs typeface="JetBrains Mono" pitchFamily="34" charset="-120"/>
              </a:rPr>
              <a:t> --folder </a:t>
            </a:r>
            <a:r>
              <a:rPr lang="en-US" sz="1200" dirty="0">
                <a:solidFill>
                  <a:srgbClr val="9CC7F0"/>
                </a:solidFill>
                <a:latin typeface="JetBrains Mono" pitchFamily="34" charset="0"/>
                <a:ea typeface="JetBrains Mono" pitchFamily="34" charset="-122"/>
                <a:cs typeface="JetBrains Mono" pitchFamily="34" charset="-120"/>
              </a:rPr>
              <a:t>"Cart rules"</a:t>
            </a:r>
            <a:r>
              <a:rPr lang="en-US" sz="1200" dirty="0">
                <a:solidFill>
                  <a:srgbClr val="E6EAF0"/>
                </a:solidFill>
                <a:latin typeface="JetBrains Mono" pitchFamily="34" charset="0"/>
                <a:ea typeface="JetBrains Mono" pitchFamily="34" charset="-122"/>
                <a:cs typeface="JetBrains Mono" pitchFamily="34" charset="-120"/>
              </a:rPr>
              <a:t> -d cart-qty.csv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 cli,junit --reporter-junit-export reports/api.xml</a:t>
            </a:r>
            <a:endParaRPr lang="en-US" sz="1200" dirty="0"/>
          </a:p>
        </p:txBody>
      </p:sp>
      <p:sp>
        <p:nvSpPr>
          <p:cNvPr id="6" name="Shape 4"/>
          <p:cNvSpPr/>
          <p:nvPr/>
        </p:nvSpPr>
        <p:spPr>
          <a:xfrm>
            <a:off x="4873625" y="3078510"/>
            <a:ext cx="0" cy="1336040"/>
          </a:xfrm>
          <a:prstGeom prst="line">
            <a:avLst/>
          </a:prstGeom>
          <a:noFill/>
          <a:ln w="6350">
            <a:solidFill>
              <a:srgbClr val="DDD8CC"/>
            </a:solidFill>
            <a:prstDash val="solid"/>
          </a:ln>
        </p:spPr>
      </p:sp>
      <p:sp>
        <p:nvSpPr>
          <p:cNvPr id="7" name="Shape 5"/>
          <p:cNvSpPr/>
          <p:nvPr/>
        </p:nvSpPr>
        <p:spPr>
          <a:xfrm>
            <a:off x="812800" y="4411375"/>
            <a:ext cx="4064000" cy="0"/>
          </a:xfrm>
          <a:prstGeom prst="line">
            <a:avLst/>
          </a:prstGeom>
          <a:noFill/>
          <a:ln w="6350">
            <a:solidFill>
              <a:srgbClr val="DDD8CC"/>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3088670"/>
          <a:ext cx="4048760" cy="1320800"/>
        </p:xfrm>
        <a:graphic>
          <a:graphicData uri="http://schemas.openxmlformats.org/drawingml/2006/table">
            <a:tbl>
              <a:tblPr/>
              <a:tblGrid>
                <a:gridCol w="2024380"/>
                <a:gridCol w="1012190"/>
                <a:gridCol w="1012190"/>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Run summary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Executed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Failed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iterations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assertions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9" name="Shape 6"/>
          <p:cNvSpPr/>
          <p:nvPr/>
        </p:nvSpPr>
        <p:spPr>
          <a:xfrm>
            <a:off x="5181600" y="3084860"/>
            <a:ext cx="6197600" cy="0"/>
          </a:xfrm>
          <a:prstGeom prst="line">
            <a:avLst/>
          </a:prstGeom>
          <a:noFill/>
          <a:ln w="12700">
            <a:solidFill>
              <a:srgbClr val="13233A"/>
            </a:solidFill>
            <a:prstDash val="solid"/>
          </a:ln>
        </p:spPr>
      </p:sp>
      <p:sp>
        <p:nvSpPr>
          <p:cNvPr id="10" name="Text 7"/>
          <p:cNvSpPr/>
          <p:nvPr/>
        </p:nvSpPr>
        <p:spPr>
          <a:xfrm>
            <a:off x="5181600" y="3164830"/>
            <a:ext cx="638352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Exit code</a:t>
            </a:r>
            <a:endParaRPr lang="en-US" sz="1200" dirty="0"/>
          </a:p>
        </p:txBody>
      </p:sp>
      <p:sp>
        <p:nvSpPr>
          <p:cNvPr id="11" name="Text 8"/>
          <p:cNvSpPr/>
          <p:nvPr/>
        </p:nvSpPr>
        <p:spPr>
          <a:xfrm>
            <a:off x="5181600" y="3416300"/>
            <a:ext cx="63835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0 when every assertion passes; 1 on any failure, so the CI stage fails</a:t>
            </a:r>
            <a:endParaRPr lang="en-US" sz="1200" dirty="0"/>
          </a:p>
        </p:txBody>
      </p:sp>
      <p:sp>
        <p:nvSpPr>
          <p:cNvPr id="12" name="Shape 9"/>
          <p:cNvSpPr/>
          <p:nvPr/>
        </p:nvSpPr>
        <p:spPr>
          <a:xfrm>
            <a:off x="5181600" y="3737620"/>
            <a:ext cx="6197600" cy="0"/>
          </a:xfrm>
          <a:prstGeom prst="line">
            <a:avLst/>
          </a:prstGeom>
          <a:noFill/>
          <a:ln w="12700">
            <a:solidFill>
              <a:srgbClr val="13233A"/>
            </a:solidFill>
            <a:prstDash val="solid"/>
          </a:ln>
        </p:spPr>
      </p:sp>
      <p:sp>
        <p:nvSpPr>
          <p:cNvPr id="13" name="Text 10"/>
          <p:cNvSpPr/>
          <p:nvPr/>
        </p:nvSpPr>
        <p:spPr>
          <a:xfrm>
            <a:off x="5181600" y="3817640"/>
            <a:ext cx="638352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JUnit report</a:t>
            </a:r>
            <a:endParaRPr lang="en-US" sz="1200" dirty="0"/>
          </a:p>
        </p:txBody>
      </p:sp>
      <p:sp>
        <p:nvSpPr>
          <p:cNvPr id="14" name="Text 11"/>
          <p:cNvSpPr/>
          <p:nvPr/>
        </p:nvSpPr>
        <p:spPr>
          <a:xfrm>
            <a:off x="5181600" y="4069110"/>
            <a:ext cx="63835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reports/api.xml, which Jenkins reads in Lab 13</a:t>
            </a:r>
            <a:endParaRPr lang="en-US" sz="1200" dirty="0"/>
          </a:p>
        </p:txBody>
      </p:sp>
      <p:sp>
        <p:nvSpPr>
          <p:cNvPr id="15" name="Shape 12"/>
          <p:cNvSpPr/>
          <p:nvPr/>
        </p:nvSpPr>
        <p:spPr>
          <a:xfrm>
            <a:off x="812800" y="4668540"/>
            <a:ext cx="10566400" cy="731520"/>
          </a:xfrm>
          <a:prstGeom prst="roundRect">
            <a:avLst>
              <a:gd name="adj" fmla="val 10417"/>
            </a:avLst>
          </a:prstGeom>
          <a:solidFill>
            <a:srgbClr val="DCE7F3"/>
          </a:solidFill>
          <a:ln/>
        </p:spPr>
      </p:sp>
      <p:sp>
        <p:nvSpPr>
          <p:cNvPr id="16" name="Text 13"/>
          <p:cNvSpPr/>
          <p:nvPr/>
        </p:nvSpPr>
        <p:spPr>
          <a:xfrm>
            <a:off x="1016000" y="4927600"/>
            <a:ext cx="11963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POSTMAN CLI</a:t>
            </a:r>
            <a:endParaRPr lang="en-US" sz="1200" dirty="0"/>
          </a:p>
        </p:txBody>
      </p:sp>
      <p:sp>
        <p:nvSpPr>
          <p:cNvPr id="17" name="Text 14"/>
          <p:cNvSpPr/>
          <p:nvPr/>
        </p:nvSpPr>
        <p:spPr>
          <a:xfrm>
            <a:off x="2313940" y="4820940"/>
            <a:ext cx="912792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Newman runs collections exported in format v2.1. Collections in Postman’s v3 format, used from Postman v12, need the Postman CLI: postman collection run.</a:t>
            </a:r>
            <a:endParaRPr lang="en-US" sz="1200" dirty="0"/>
          </a:p>
        </p:txBody>
      </p:sp>
      <p:sp>
        <p:nvSpPr>
          <p:cNvPr id="18" name="Text 15"/>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9" name="Text 16"/>
          <p:cNvSpPr/>
          <p:nvPr/>
        </p:nvSpPr>
        <p:spPr>
          <a:xfrm>
            <a:off x="5448379" y="6238230"/>
            <a:ext cx="6108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Real run, Newman 6.2.2 · a wrong password made the same command exit with code 1</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L19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19</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51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51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baseUrl is set in the environment and in the collection, with different values. Which one does a request use?</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51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51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Write the post-response line that saves the new order’s ID for the next request.</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91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91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How do you run only the Cart rules folder with cart-qty.csv and get a JUnit report?</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910"/>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91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Newman exits with code 1 in the pipeline. What happens to the build, and where do you look first?</a:t>
            </a:r>
            <a:endParaRPr lang="en-US" sz="1400" dirty="0"/>
          </a:p>
        </p:txBody>
      </p:sp>
      <p:sp>
        <p:nvSpPr>
          <p:cNvPr id="16" name="Text 14"/>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7" name="Text 15"/>
          <p:cNvSpPr/>
          <p:nvPr/>
        </p:nvSpPr>
        <p:spPr>
          <a:xfrm>
            <a:off x="9372044" y="6238230"/>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3 · SUMMARY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Module 3 in one page</a:t>
            </a:r>
            <a:endParaRPr lang="en-US" sz="3200" dirty="0"/>
          </a:p>
        </p:txBody>
      </p:sp>
      <p:sp>
        <p:nvSpPr>
          <p:cNvPr id="4" name="Shape 2"/>
          <p:cNvSpPr/>
          <p:nvPr/>
        </p:nvSpPr>
        <p:spPr>
          <a:xfrm>
            <a:off x="815975" y="1831975"/>
            <a:ext cx="2559050" cy="935990"/>
          </a:xfrm>
          <a:prstGeom prst="roundRect">
            <a:avLst>
              <a:gd name="adj" fmla="val 7802"/>
            </a:avLst>
          </a:prstGeom>
          <a:solidFill>
            <a:srgbClr val="FCFBF7"/>
          </a:solidFill>
          <a:ln w="6350">
            <a:solidFill>
              <a:srgbClr val="DDD8CC"/>
            </a:solidFill>
            <a:prstDash val="solid"/>
          </a:ln>
        </p:spPr>
      </p:sp>
      <p:sp>
        <p:nvSpPr>
          <p:cNvPr id="5" name="Text 3"/>
          <p:cNvSpPr/>
          <p:nvPr/>
        </p:nvSpPr>
        <p:spPr>
          <a:xfrm>
            <a:off x="970280" y="19609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DevOps testing</a:t>
            </a:r>
            <a:endParaRPr lang="en-US" sz="1200" dirty="0"/>
          </a:p>
        </p:txBody>
      </p:sp>
      <p:sp>
        <p:nvSpPr>
          <p:cNvPr id="6" name="Text 4"/>
          <p:cNvSpPr/>
          <p:nvPr/>
        </p:nvSpPr>
        <p:spPr>
          <a:xfrm>
            <a:off x="970280" y="221233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Fast, reliable suites on every change</a:t>
            </a:r>
            <a:endParaRPr lang="en-US" sz="1200" dirty="0"/>
          </a:p>
        </p:txBody>
      </p:sp>
      <p:sp>
        <p:nvSpPr>
          <p:cNvPr id="7" name="Shape 5"/>
          <p:cNvSpPr/>
          <p:nvPr/>
        </p:nvSpPr>
        <p:spPr>
          <a:xfrm>
            <a:off x="3482975" y="1831975"/>
            <a:ext cx="2559050" cy="935990"/>
          </a:xfrm>
          <a:prstGeom prst="roundRect">
            <a:avLst>
              <a:gd name="adj" fmla="val 7802"/>
            </a:avLst>
          </a:prstGeom>
          <a:solidFill>
            <a:srgbClr val="FCFBF7"/>
          </a:solidFill>
          <a:ln w="6350">
            <a:solidFill>
              <a:srgbClr val="DDD8CC"/>
            </a:solidFill>
            <a:prstDash val="solid"/>
          </a:ln>
        </p:spPr>
      </p:sp>
      <p:sp>
        <p:nvSpPr>
          <p:cNvPr id="8" name="Text 6"/>
          <p:cNvSpPr/>
          <p:nvPr/>
        </p:nvSpPr>
        <p:spPr>
          <a:xfrm>
            <a:off x="3637280" y="19609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Flaky tests</a:t>
            </a:r>
            <a:endParaRPr lang="en-US" sz="1200" dirty="0"/>
          </a:p>
        </p:txBody>
      </p:sp>
      <p:sp>
        <p:nvSpPr>
          <p:cNvPr id="9" name="Text 7"/>
          <p:cNvSpPr/>
          <p:nvPr/>
        </p:nvSpPr>
        <p:spPr>
          <a:xfrm>
            <a:off x="3637280" y="221233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Quarantine, find the cause, fix; retries only hide it</a:t>
            </a:r>
            <a:endParaRPr lang="en-US" sz="1200" dirty="0"/>
          </a:p>
        </p:txBody>
      </p:sp>
      <p:sp>
        <p:nvSpPr>
          <p:cNvPr id="10" name="Shape 8"/>
          <p:cNvSpPr/>
          <p:nvPr/>
        </p:nvSpPr>
        <p:spPr>
          <a:xfrm>
            <a:off x="6149975" y="1831975"/>
            <a:ext cx="2559050" cy="935990"/>
          </a:xfrm>
          <a:prstGeom prst="roundRect">
            <a:avLst>
              <a:gd name="adj" fmla="val 7802"/>
            </a:avLst>
          </a:prstGeom>
          <a:solidFill>
            <a:srgbClr val="FCFBF7"/>
          </a:solidFill>
          <a:ln w="6350">
            <a:solidFill>
              <a:srgbClr val="DDD8CC"/>
            </a:solidFill>
            <a:prstDash val="solid"/>
          </a:ln>
        </p:spPr>
      </p:sp>
      <p:sp>
        <p:nvSpPr>
          <p:cNvPr id="11" name="Text 9"/>
          <p:cNvSpPr/>
          <p:nvPr/>
        </p:nvSpPr>
        <p:spPr>
          <a:xfrm>
            <a:off x="6304280" y="19609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Data and doubles</a:t>
            </a:r>
            <a:endParaRPr lang="en-US" sz="1200" dirty="0"/>
          </a:p>
        </p:txBody>
      </p:sp>
      <p:sp>
        <p:nvSpPr>
          <p:cNvPr id="12" name="Text 10"/>
          <p:cNvSpPr/>
          <p:nvPr/>
        </p:nvSpPr>
        <p:spPr>
          <a:xfrm>
            <a:off x="6304280" y="221233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Own your data; stub, virtualise or use contracts</a:t>
            </a:r>
            <a:endParaRPr lang="en-US" sz="1200" dirty="0"/>
          </a:p>
        </p:txBody>
      </p:sp>
      <p:sp>
        <p:nvSpPr>
          <p:cNvPr id="13" name="Shape 11"/>
          <p:cNvSpPr/>
          <p:nvPr/>
        </p:nvSpPr>
        <p:spPr>
          <a:xfrm>
            <a:off x="8816975" y="1831975"/>
            <a:ext cx="2559050" cy="935990"/>
          </a:xfrm>
          <a:prstGeom prst="roundRect">
            <a:avLst>
              <a:gd name="adj" fmla="val 7802"/>
            </a:avLst>
          </a:prstGeom>
          <a:solidFill>
            <a:srgbClr val="FCFBF7"/>
          </a:solidFill>
          <a:ln w="6350">
            <a:solidFill>
              <a:srgbClr val="DDD8CC"/>
            </a:solidFill>
            <a:prstDash val="solid"/>
          </a:ln>
        </p:spPr>
      </p:sp>
      <p:sp>
        <p:nvSpPr>
          <p:cNvPr id="14" name="Text 12"/>
          <p:cNvSpPr/>
          <p:nvPr/>
        </p:nvSpPr>
        <p:spPr>
          <a:xfrm>
            <a:off x="8971280" y="19609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Quadrants</a:t>
            </a:r>
            <a:endParaRPr lang="en-US" sz="1200" dirty="0"/>
          </a:p>
        </p:txBody>
      </p:sp>
      <p:sp>
        <p:nvSpPr>
          <p:cNvPr id="15" name="Text 13"/>
          <p:cNvSpPr/>
          <p:nvPr/>
        </p:nvSpPr>
        <p:spPr>
          <a:xfrm>
            <a:off x="8971280" y="221233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Business-facing or technology-facing; support or critique</a:t>
            </a:r>
            <a:endParaRPr lang="en-US" sz="1200" dirty="0"/>
          </a:p>
        </p:txBody>
      </p:sp>
      <p:sp>
        <p:nvSpPr>
          <p:cNvPr id="16" name="Shape 14"/>
          <p:cNvSpPr/>
          <p:nvPr/>
        </p:nvSpPr>
        <p:spPr>
          <a:xfrm>
            <a:off x="815975" y="2875905"/>
            <a:ext cx="2559050" cy="935990"/>
          </a:xfrm>
          <a:prstGeom prst="roundRect">
            <a:avLst>
              <a:gd name="adj" fmla="val 7802"/>
            </a:avLst>
          </a:prstGeom>
          <a:solidFill>
            <a:srgbClr val="FCFBF7"/>
          </a:solidFill>
          <a:ln w="6350">
            <a:solidFill>
              <a:srgbClr val="DDD8CC"/>
            </a:solidFill>
            <a:prstDash val="solid"/>
          </a:ln>
        </p:spPr>
      </p:sp>
      <p:sp>
        <p:nvSpPr>
          <p:cNvPr id="17" name="Text 15"/>
          <p:cNvSpPr/>
          <p:nvPr/>
        </p:nvSpPr>
        <p:spPr>
          <a:xfrm>
            <a:off x="970280" y="300484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Business automation</a:t>
            </a:r>
            <a:endParaRPr lang="en-US" sz="1200" dirty="0"/>
          </a:p>
        </p:txBody>
      </p:sp>
      <p:sp>
        <p:nvSpPr>
          <p:cNvPr id="18" name="Text 16"/>
          <p:cNvSpPr/>
          <p:nvPr/>
        </p:nvSpPr>
        <p:spPr>
          <a:xfrm>
            <a:off x="970280" y="325631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Keywords and BDD that the product owner can read</a:t>
            </a:r>
            <a:endParaRPr lang="en-US" sz="1200" dirty="0"/>
          </a:p>
        </p:txBody>
      </p:sp>
      <p:sp>
        <p:nvSpPr>
          <p:cNvPr id="19" name="Shape 17"/>
          <p:cNvSpPr/>
          <p:nvPr/>
        </p:nvSpPr>
        <p:spPr>
          <a:xfrm>
            <a:off x="3482975" y="2875905"/>
            <a:ext cx="2559050" cy="935990"/>
          </a:xfrm>
          <a:prstGeom prst="roundRect">
            <a:avLst>
              <a:gd name="adj" fmla="val 7802"/>
            </a:avLst>
          </a:prstGeom>
          <a:solidFill>
            <a:srgbClr val="FCFBF7"/>
          </a:solidFill>
          <a:ln w="6350">
            <a:solidFill>
              <a:srgbClr val="DDD8CC"/>
            </a:solidFill>
            <a:prstDash val="solid"/>
          </a:ln>
        </p:spPr>
      </p:sp>
      <p:sp>
        <p:nvSpPr>
          <p:cNvPr id="20" name="Text 18"/>
          <p:cNvSpPr/>
          <p:nvPr/>
        </p:nvSpPr>
        <p:spPr>
          <a:xfrm>
            <a:off x="3637280" y="300484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Technical automation</a:t>
            </a:r>
            <a:endParaRPr lang="en-US" sz="1200" dirty="0"/>
          </a:p>
        </p:txBody>
      </p:sp>
      <p:sp>
        <p:nvSpPr>
          <p:cNvPr id="21" name="Text 19"/>
          <p:cNvSpPr/>
          <p:nvPr/>
        </p:nvSpPr>
        <p:spPr>
          <a:xfrm>
            <a:off x="3637280" y="325631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Unit, API and contract tests in code</a:t>
            </a:r>
            <a:endParaRPr lang="en-US" sz="1200" dirty="0"/>
          </a:p>
        </p:txBody>
      </p:sp>
      <p:sp>
        <p:nvSpPr>
          <p:cNvPr id="22" name="Shape 20"/>
          <p:cNvSpPr/>
          <p:nvPr/>
        </p:nvSpPr>
        <p:spPr>
          <a:xfrm>
            <a:off x="6149975" y="2875905"/>
            <a:ext cx="2559050" cy="935990"/>
          </a:xfrm>
          <a:prstGeom prst="roundRect">
            <a:avLst>
              <a:gd name="adj" fmla="val 7802"/>
            </a:avLst>
          </a:prstGeom>
          <a:solidFill>
            <a:srgbClr val="FCFBF7"/>
          </a:solidFill>
          <a:ln w="6350">
            <a:solidFill>
              <a:srgbClr val="DDD8CC"/>
            </a:solidFill>
            <a:prstDash val="solid"/>
          </a:ln>
        </p:spPr>
      </p:sp>
      <p:sp>
        <p:nvSpPr>
          <p:cNvPr id="23" name="Text 21"/>
          <p:cNvSpPr/>
          <p:nvPr/>
        </p:nvSpPr>
        <p:spPr>
          <a:xfrm>
            <a:off x="6304280" y="300484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Non-functional</a:t>
            </a:r>
            <a:endParaRPr lang="en-US" sz="1200" dirty="0"/>
          </a:p>
        </p:txBody>
      </p:sp>
      <p:sp>
        <p:nvSpPr>
          <p:cNvPr id="24" name="Text 22"/>
          <p:cNvSpPr/>
          <p:nvPr/>
        </p:nvSpPr>
        <p:spPr>
          <a:xfrm>
            <a:off x="6304280" y="325631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Locust, ZAP and axe gate on thresholds</a:t>
            </a:r>
            <a:endParaRPr lang="en-US" sz="1200" dirty="0"/>
          </a:p>
        </p:txBody>
      </p:sp>
      <p:sp>
        <p:nvSpPr>
          <p:cNvPr id="25" name="Shape 23"/>
          <p:cNvSpPr/>
          <p:nvPr/>
        </p:nvSpPr>
        <p:spPr>
          <a:xfrm>
            <a:off x="8816975" y="2875905"/>
            <a:ext cx="2559050" cy="935990"/>
          </a:xfrm>
          <a:prstGeom prst="roundRect">
            <a:avLst>
              <a:gd name="adj" fmla="val 7802"/>
            </a:avLst>
          </a:prstGeom>
          <a:solidFill>
            <a:srgbClr val="FCFBF7"/>
          </a:solidFill>
          <a:ln w="6350">
            <a:solidFill>
              <a:srgbClr val="DDD8CC"/>
            </a:solidFill>
            <a:prstDash val="solid"/>
          </a:ln>
        </p:spPr>
      </p:sp>
      <p:sp>
        <p:nvSpPr>
          <p:cNvPr id="26" name="Text 24"/>
          <p:cNvSpPr/>
          <p:nvPr/>
        </p:nvSpPr>
        <p:spPr>
          <a:xfrm>
            <a:off x="8971280" y="300484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Functional</a:t>
            </a:r>
            <a:endParaRPr lang="en-US" sz="1200" dirty="0"/>
          </a:p>
        </p:txBody>
      </p:sp>
      <p:sp>
        <p:nvSpPr>
          <p:cNvPr id="27" name="Text 25"/>
          <p:cNvSpPr/>
          <p:nvPr/>
        </p:nvSpPr>
        <p:spPr>
          <a:xfrm>
            <a:off x="8971280" y="325631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Each rule once, at the lowest level that proves it</a:t>
            </a:r>
            <a:endParaRPr lang="en-US" sz="1200" dirty="0"/>
          </a:p>
        </p:txBody>
      </p:sp>
      <p:sp>
        <p:nvSpPr>
          <p:cNvPr id="28" name="Shape 26"/>
          <p:cNvSpPr/>
          <p:nvPr/>
        </p:nvSpPr>
        <p:spPr>
          <a:xfrm>
            <a:off x="815975" y="3919885"/>
            <a:ext cx="2559050" cy="935990"/>
          </a:xfrm>
          <a:prstGeom prst="roundRect">
            <a:avLst>
              <a:gd name="adj" fmla="val 7802"/>
            </a:avLst>
          </a:prstGeom>
          <a:solidFill>
            <a:srgbClr val="FCFBF7"/>
          </a:solidFill>
          <a:ln w="6350">
            <a:solidFill>
              <a:srgbClr val="DDD8CC"/>
            </a:solidFill>
            <a:prstDash val="solid"/>
          </a:ln>
        </p:spPr>
      </p:sp>
      <p:sp>
        <p:nvSpPr>
          <p:cNvPr id="29" name="Text 27"/>
          <p:cNvSpPr/>
          <p:nvPr/>
        </p:nvSpPr>
        <p:spPr>
          <a:xfrm>
            <a:off x="970280" y="404877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Selenium</a:t>
            </a:r>
            <a:endParaRPr lang="en-US" sz="1200" dirty="0"/>
          </a:p>
        </p:txBody>
      </p:sp>
      <p:sp>
        <p:nvSpPr>
          <p:cNvPr id="30" name="Text 28"/>
          <p:cNvSpPr/>
          <p:nvPr/>
        </p:nvSpPr>
        <p:spPr>
          <a:xfrm>
            <a:off x="970280" y="430024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Bindings send W3C commands to a driver</a:t>
            </a:r>
            <a:endParaRPr lang="en-US" sz="1200" dirty="0"/>
          </a:p>
        </p:txBody>
      </p:sp>
      <p:sp>
        <p:nvSpPr>
          <p:cNvPr id="31" name="Shape 29"/>
          <p:cNvSpPr/>
          <p:nvPr/>
        </p:nvSpPr>
        <p:spPr>
          <a:xfrm>
            <a:off x="3482975" y="3919885"/>
            <a:ext cx="2559050" cy="935990"/>
          </a:xfrm>
          <a:prstGeom prst="roundRect">
            <a:avLst>
              <a:gd name="adj" fmla="val 7802"/>
            </a:avLst>
          </a:prstGeom>
          <a:solidFill>
            <a:srgbClr val="FCFBF7"/>
          </a:solidFill>
          <a:ln w="6350">
            <a:solidFill>
              <a:srgbClr val="DDD8CC"/>
            </a:solidFill>
            <a:prstDash val="solid"/>
          </a:ln>
        </p:spPr>
      </p:sp>
      <p:sp>
        <p:nvSpPr>
          <p:cNvPr id="32" name="Text 30"/>
          <p:cNvSpPr/>
          <p:nvPr/>
        </p:nvSpPr>
        <p:spPr>
          <a:xfrm>
            <a:off x="3637280" y="404877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Locators and waits</a:t>
            </a:r>
            <a:endParaRPr lang="en-US" sz="1200" dirty="0"/>
          </a:p>
        </p:txBody>
      </p:sp>
      <p:sp>
        <p:nvSpPr>
          <p:cNvPr id="33" name="Text 31"/>
          <p:cNvSpPr/>
          <p:nvPr/>
        </p:nvSpPr>
        <p:spPr>
          <a:xfrm>
            <a:off x="3637280" y="430024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IDs and test attributes; explicit waits, no sleep()</a:t>
            </a:r>
            <a:endParaRPr lang="en-US" sz="1200" dirty="0"/>
          </a:p>
        </p:txBody>
      </p:sp>
      <p:sp>
        <p:nvSpPr>
          <p:cNvPr id="34" name="Shape 32"/>
          <p:cNvSpPr/>
          <p:nvPr/>
        </p:nvSpPr>
        <p:spPr>
          <a:xfrm>
            <a:off x="6149975" y="3919885"/>
            <a:ext cx="2559050" cy="935990"/>
          </a:xfrm>
          <a:prstGeom prst="roundRect">
            <a:avLst>
              <a:gd name="adj" fmla="val 7802"/>
            </a:avLst>
          </a:prstGeom>
          <a:solidFill>
            <a:srgbClr val="FCFBF7"/>
          </a:solidFill>
          <a:ln w="6350">
            <a:solidFill>
              <a:srgbClr val="DDD8CC"/>
            </a:solidFill>
            <a:prstDash val="solid"/>
          </a:ln>
        </p:spPr>
      </p:sp>
      <p:sp>
        <p:nvSpPr>
          <p:cNvPr id="35" name="Text 33"/>
          <p:cNvSpPr/>
          <p:nvPr/>
        </p:nvSpPr>
        <p:spPr>
          <a:xfrm>
            <a:off x="6304280" y="404877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Page Object Model</a:t>
            </a:r>
            <a:endParaRPr lang="en-US" sz="1200" dirty="0"/>
          </a:p>
        </p:txBody>
      </p:sp>
      <p:sp>
        <p:nvSpPr>
          <p:cNvPr id="36" name="Text 34"/>
          <p:cNvSpPr/>
          <p:nvPr/>
        </p:nvSpPr>
        <p:spPr>
          <a:xfrm>
            <a:off x="6304280" y="430024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Locators and waits in page classes; readable tests</a:t>
            </a:r>
            <a:endParaRPr lang="en-US" sz="1200" dirty="0"/>
          </a:p>
        </p:txBody>
      </p:sp>
      <p:sp>
        <p:nvSpPr>
          <p:cNvPr id="37" name="Shape 35"/>
          <p:cNvSpPr/>
          <p:nvPr/>
        </p:nvSpPr>
        <p:spPr>
          <a:xfrm>
            <a:off x="8816975" y="3919885"/>
            <a:ext cx="2559050" cy="935990"/>
          </a:xfrm>
          <a:prstGeom prst="roundRect">
            <a:avLst>
              <a:gd name="adj" fmla="val 7802"/>
            </a:avLst>
          </a:prstGeom>
          <a:solidFill>
            <a:srgbClr val="FCFBF7"/>
          </a:solidFill>
          <a:ln w="6350">
            <a:solidFill>
              <a:srgbClr val="DDD8CC"/>
            </a:solidFill>
            <a:prstDash val="solid"/>
          </a:ln>
        </p:spPr>
      </p:sp>
      <p:sp>
        <p:nvSpPr>
          <p:cNvPr id="38" name="Text 36"/>
          <p:cNvSpPr/>
          <p:nvPr/>
        </p:nvSpPr>
        <p:spPr>
          <a:xfrm>
            <a:off x="8971280" y="404877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Postman and Newman</a:t>
            </a:r>
            <a:endParaRPr lang="en-US" sz="1200" dirty="0"/>
          </a:p>
        </p:txBody>
      </p:sp>
      <p:sp>
        <p:nvSpPr>
          <p:cNvPr id="39" name="Text 37"/>
          <p:cNvSpPr/>
          <p:nvPr/>
        </p:nvSpPr>
        <p:spPr>
          <a:xfrm>
            <a:off x="8971280" y="430024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Environments, pm.test, data files, JUnit in CI</a:t>
            </a:r>
            <a:endParaRPr lang="en-US" sz="1200" dirty="0"/>
          </a:p>
        </p:txBody>
      </p:sp>
      <p:sp>
        <p:nvSpPr>
          <p:cNvPr id="40" name="Text 38"/>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41" name="Text 39"/>
          <p:cNvSpPr/>
          <p:nvPr/>
        </p:nvSpPr>
        <p:spPr>
          <a:xfrm>
            <a:off x="8557181" y="6238230"/>
            <a:ext cx="2906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Cards follow the lecture order, L14 to L19</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3 · LABS AND NEXT STEPS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Practise it in the lab</a:t>
            </a:r>
            <a:endParaRPr lang="en-US" sz="3200" dirty="0"/>
          </a:p>
        </p:txBody>
      </p:sp>
      <p:sp>
        <p:nvSpPr>
          <p:cNvPr id="4" name="Shape 2"/>
          <p:cNvSpPr/>
          <p:nvPr/>
        </p:nvSpPr>
        <p:spPr>
          <a:xfrm>
            <a:off x="11376025" y="1828800"/>
            <a:ext cx="0" cy="2987040"/>
          </a:xfrm>
          <a:prstGeom prst="line">
            <a:avLst/>
          </a:prstGeom>
          <a:noFill/>
          <a:ln w="6350">
            <a:solidFill>
              <a:srgbClr val="DDD8CC"/>
            </a:solidFill>
            <a:prstDash val="solid"/>
          </a:ln>
        </p:spPr>
      </p:sp>
      <p:sp>
        <p:nvSpPr>
          <p:cNvPr id="5" name="Shape 3"/>
          <p:cNvSpPr/>
          <p:nvPr/>
        </p:nvSpPr>
        <p:spPr>
          <a:xfrm>
            <a:off x="812800" y="48126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971800"/>
        </p:xfrm>
        <a:graphic>
          <a:graphicData uri="http://schemas.openxmlformats.org/drawingml/2006/table">
            <a:tbl>
              <a:tblPr/>
              <a:tblGrid>
                <a:gridCol w="844093"/>
                <a:gridCol w="5486603"/>
                <a:gridCol w="4220464"/>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Lab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Builds 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Selenium WebDriver basics: browser control, locators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Locators (L17)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Waits, dynamic elements and multiple windows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Waits (L17)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Page Object Model design with Selenium WebDriver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Page objects (L18)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Data-driven testing and test suite organisation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Data-driven tests (L16, L18)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Cross-browser runs on Selenium Grid in Docker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Architecture (L17); Module 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Postman: requests, collections, 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Collections, environments (L19)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assertions; running collections with Newman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Assertions, Newman (L19)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Behaviour Driven Development with pytest-bdd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Business automation (L15)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5069830"/>
            <a:ext cx="10566400" cy="731520"/>
          </a:xfrm>
          <a:prstGeom prst="roundRect">
            <a:avLst>
              <a:gd name="adj" fmla="val 10417"/>
            </a:avLst>
          </a:prstGeom>
          <a:solidFill>
            <a:srgbClr val="13233A"/>
          </a:solidFill>
          <a:ln/>
        </p:spPr>
      </p:sp>
      <p:sp>
        <p:nvSpPr>
          <p:cNvPr id="8" name="Text 5"/>
          <p:cNvSpPr/>
          <p:nvPr/>
        </p:nvSpPr>
        <p:spPr>
          <a:xfrm>
            <a:off x="1016000" y="5328940"/>
            <a:ext cx="15087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NEXT: MODULE 4</a:t>
            </a:r>
            <a:endParaRPr lang="en-US" sz="1200" dirty="0"/>
          </a:p>
        </p:txBody>
      </p:sp>
      <p:sp>
        <p:nvSpPr>
          <p:cNvPr id="9" name="Text 6"/>
          <p:cNvSpPr/>
          <p:nvPr/>
        </p:nvSpPr>
        <p:spPr>
          <a:xfrm>
            <a:off x="2626360" y="5222230"/>
            <a:ext cx="880612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Mobile automation and DevOps, cloud testing, tests in CI pipelines, reports and quality gates, continuous testing and continuous delivery</a:t>
            </a:r>
            <a:endParaRPr lang="en-US" sz="1200" dirty="0"/>
          </a:p>
        </p:txBody>
      </p:sp>
      <p:sp>
        <p:nvSpPr>
          <p:cNvPr id="10" name="Text 7"/>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11" name="Text 8"/>
          <p:cNvSpPr/>
          <p:nvPr/>
        </p:nvSpPr>
        <p:spPr>
          <a:xfrm>
            <a:off x="8933259" y="6238230"/>
            <a:ext cx="25193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Lab sessions from the lab-wise plan</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3 · PRACTICE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Take-home practice</a:t>
            </a:r>
            <a:endParaRPr lang="en-US" sz="3200" dirty="0"/>
          </a:p>
        </p:txBody>
      </p:sp>
      <p:sp>
        <p:nvSpPr>
          <p:cNvPr id="4" name="Shape 2"/>
          <p:cNvSpPr/>
          <p:nvPr/>
        </p:nvSpPr>
        <p:spPr>
          <a:xfrm>
            <a:off x="815975" y="1831975"/>
            <a:ext cx="5200650" cy="1118870"/>
          </a:xfrm>
          <a:prstGeom prst="roundRect">
            <a:avLst>
              <a:gd name="adj" fmla="val 6527"/>
            </a:avLst>
          </a:prstGeom>
          <a:solidFill>
            <a:srgbClr val="FCFBF7"/>
          </a:solidFill>
          <a:ln w="6350">
            <a:solidFill>
              <a:srgbClr val="DDD8CC"/>
            </a:solidFill>
            <a:prstDash val="solid"/>
          </a:ln>
        </p:spPr>
      </p:sp>
      <p:sp>
        <p:nvSpPr>
          <p:cNvPr id="5" name="Text 3"/>
          <p:cNvSpPr/>
          <p:nvPr/>
        </p:nvSpPr>
        <p:spPr>
          <a:xfrm>
            <a:off x="1021080" y="2037110"/>
            <a:ext cx="163592"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286272" y="2037110"/>
            <a:ext cx="466100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Page objects</a:t>
            </a:r>
            <a:endParaRPr lang="en-US" sz="1400" dirty="0"/>
          </a:p>
        </p:txBody>
      </p:sp>
      <p:sp>
        <p:nvSpPr>
          <p:cNvPr id="7" name="Text 5"/>
          <p:cNvSpPr/>
          <p:nvPr/>
        </p:nvSpPr>
        <p:spPr>
          <a:xfrm>
            <a:off x="1286272" y="2319040"/>
            <a:ext cx="466100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that SAVE20 on a ₹120 cart shows “Minimum order is ₹200”, using only page-object methods.</a:t>
            </a:r>
            <a:endParaRPr lang="en-US" sz="1200" dirty="0"/>
          </a:p>
        </p:txBody>
      </p:sp>
      <p:sp>
        <p:nvSpPr>
          <p:cNvPr id="8" name="Shape 6"/>
          <p:cNvSpPr/>
          <p:nvPr/>
        </p:nvSpPr>
        <p:spPr>
          <a:xfrm>
            <a:off x="6175375" y="1831975"/>
            <a:ext cx="5200650" cy="1118870"/>
          </a:xfrm>
          <a:prstGeom prst="roundRect">
            <a:avLst>
              <a:gd name="adj" fmla="val 6527"/>
            </a:avLst>
          </a:prstGeom>
          <a:solidFill>
            <a:srgbClr val="FCFBF7"/>
          </a:solidFill>
          <a:ln w="6350">
            <a:solidFill>
              <a:srgbClr val="DDD8CC"/>
            </a:solidFill>
            <a:prstDash val="solid"/>
          </a:ln>
        </p:spPr>
      </p:sp>
      <p:sp>
        <p:nvSpPr>
          <p:cNvPr id="9" name="Text 7"/>
          <p:cNvSpPr/>
          <p:nvPr/>
        </p:nvSpPr>
        <p:spPr>
          <a:xfrm>
            <a:off x="6380480" y="2037110"/>
            <a:ext cx="202248"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0" name="Text 8"/>
          <p:cNvSpPr/>
          <p:nvPr/>
        </p:nvSpPr>
        <p:spPr>
          <a:xfrm>
            <a:off x="6684328" y="2037110"/>
            <a:ext cx="462119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Keywords</a:t>
            </a:r>
            <a:endParaRPr lang="en-US" sz="1400" dirty="0"/>
          </a:p>
        </p:txBody>
      </p:sp>
      <p:sp>
        <p:nvSpPr>
          <p:cNvPr id="11" name="Text 9"/>
          <p:cNvSpPr/>
          <p:nvPr/>
        </p:nvSpPr>
        <p:spPr>
          <a:xfrm>
            <a:off x="6684328" y="2319040"/>
            <a:ext cx="46211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Add a Message Should Be keyword to CanteenLibrary and a Robot test for the same rule.</a:t>
            </a:r>
            <a:endParaRPr lang="en-US" sz="1200" dirty="0"/>
          </a:p>
        </p:txBody>
      </p:sp>
      <p:sp>
        <p:nvSpPr>
          <p:cNvPr id="12" name="Shape 10"/>
          <p:cNvSpPr/>
          <p:nvPr/>
        </p:nvSpPr>
        <p:spPr>
          <a:xfrm>
            <a:off x="815975" y="3109615"/>
            <a:ext cx="5200650" cy="1118870"/>
          </a:xfrm>
          <a:prstGeom prst="roundRect">
            <a:avLst>
              <a:gd name="adj" fmla="val 6527"/>
            </a:avLst>
          </a:prstGeom>
          <a:solidFill>
            <a:srgbClr val="FCFBF7"/>
          </a:solidFill>
          <a:ln w="6350">
            <a:solidFill>
              <a:srgbClr val="DDD8CC"/>
            </a:solidFill>
            <a:prstDash val="solid"/>
          </a:ln>
        </p:spPr>
      </p:sp>
      <p:sp>
        <p:nvSpPr>
          <p:cNvPr id="13" name="Text 11"/>
          <p:cNvSpPr/>
          <p:nvPr/>
        </p:nvSpPr>
        <p:spPr>
          <a:xfrm>
            <a:off x="1021080" y="3314700"/>
            <a:ext cx="205026"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1327706" y="3314700"/>
            <a:ext cx="461832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Postman</a:t>
            </a:r>
            <a:endParaRPr lang="en-US" sz="1400" dirty="0"/>
          </a:p>
        </p:txBody>
      </p:sp>
      <p:sp>
        <p:nvSpPr>
          <p:cNvPr id="15" name="Text 13"/>
          <p:cNvSpPr/>
          <p:nvPr/>
        </p:nvSpPr>
        <p:spPr>
          <a:xfrm>
            <a:off x="1327706" y="3596630"/>
            <a:ext cx="461832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Add a request that orders ₹120 with SAVE20 and checks the 422 error text; run it with Newman and a JUnit report.</a:t>
            </a:r>
            <a:endParaRPr lang="en-US" sz="1200" dirty="0"/>
          </a:p>
        </p:txBody>
      </p:sp>
      <p:sp>
        <p:nvSpPr>
          <p:cNvPr id="16" name="Shape 14"/>
          <p:cNvSpPr/>
          <p:nvPr/>
        </p:nvSpPr>
        <p:spPr>
          <a:xfrm>
            <a:off x="6175375" y="3109615"/>
            <a:ext cx="5200650" cy="1118870"/>
          </a:xfrm>
          <a:prstGeom prst="roundRect">
            <a:avLst>
              <a:gd name="adj" fmla="val 6527"/>
            </a:avLst>
          </a:prstGeom>
          <a:solidFill>
            <a:srgbClr val="FCFBF7"/>
          </a:solidFill>
          <a:ln w="6350">
            <a:solidFill>
              <a:srgbClr val="DDD8CC"/>
            </a:solidFill>
            <a:prstDash val="solid"/>
          </a:ln>
        </p:spPr>
      </p:sp>
      <p:sp>
        <p:nvSpPr>
          <p:cNvPr id="17" name="Text 15"/>
          <p:cNvSpPr/>
          <p:nvPr/>
        </p:nvSpPr>
        <p:spPr>
          <a:xfrm>
            <a:off x="6380480" y="3314700"/>
            <a:ext cx="211614"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8" name="Text 16"/>
          <p:cNvSpPr/>
          <p:nvPr/>
        </p:nvSpPr>
        <p:spPr>
          <a:xfrm>
            <a:off x="6693694" y="3314700"/>
            <a:ext cx="461154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Load test</a:t>
            </a:r>
            <a:endParaRPr lang="en-US" sz="1400" dirty="0"/>
          </a:p>
        </p:txBody>
      </p:sp>
      <p:sp>
        <p:nvSpPr>
          <p:cNvPr id="19" name="Text 17"/>
          <p:cNvSpPr/>
          <p:nvPr/>
        </p:nvSpPr>
        <p:spPr>
          <a:xfrm>
            <a:off x="6693694" y="3596630"/>
            <a:ext cx="46115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 the locustfile with 50 users for 2 minutes and the REQ-06 gate; report p95 for the menu and the exit code.</a:t>
            </a:r>
            <a:endParaRPr lang="en-US" sz="1200" dirty="0"/>
          </a:p>
        </p:txBody>
      </p:sp>
      <p:sp>
        <p:nvSpPr>
          <p:cNvPr id="20" name="Text 18"/>
          <p:cNvSpPr/>
          <p:nvPr/>
        </p:nvSpPr>
        <p:spPr>
          <a:xfrm>
            <a:off x="812800" y="448563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Tag every new test with its requirement ID, and keep the suite free of sleep().</a:t>
            </a:r>
            <a:endParaRPr lang="en-US" sz="1400" dirty="0"/>
          </a:p>
        </p:txBody>
      </p:sp>
      <p:sp>
        <p:nvSpPr>
          <p:cNvPr id="21" name="Text 19"/>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3</a:t>
            </a:r>
            <a:endParaRPr lang="en-US" sz="1200" dirty="0"/>
          </a:p>
        </p:txBody>
      </p:sp>
      <p:sp>
        <p:nvSpPr>
          <p:cNvPr id="22" name="Text 20"/>
          <p:cNvSpPr/>
          <p:nvPr/>
        </p:nvSpPr>
        <p:spPr>
          <a:xfrm>
            <a:off x="8473678" y="6238230"/>
            <a:ext cx="29926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Deadline and marks: [set by the instructor]</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3 · READINGS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3F1EA"/>
                </a:solidFill>
                <a:latin typeface="Space Grotesk" pitchFamily="34" charset="0"/>
                <a:ea typeface="Space Grotesk" pitchFamily="34" charset="-122"/>
                <a:cs typeface="Space Grotesk" pitchFamily="34" charset="-120"/>
              </a:rPr>
              <a:t>Readings and references</a:t>
            </a:r>
            <a:endParaRPr lang="en-US" sz="3200" dirty="0"/>
          </a:p>
        </p:txBody>
      </p:sp>
      <p:sp>
        <p:nvSpPr>
          <p:cNvPr id="4" name="Text 2"/>
          <p:cNvSpPr/>
          <p:nvPr/>
        </p:nvSpPr>
        <p:spPr>
          <a:xfrm>
            <a:off x="812800" y="1879600"/>
            <a:ext cx="40551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9E6"/>
                </a:solidFill>
                <a:latin typeface="JetBrains Mono" pitchFamily="34" charset="0"/>
                <a:ea typeface="JetBrains Mono" pitchFamily="34" charset="-122"/>
                <a:cs typeface="JetBrains Mono" pitchFamily="34" charset="-120"/>
              </a:rPr>
              <a:t>COURSE BOOKS</a:t>
            </a:r>
            <a:endParaRPr lang="en-US" sz="1200" dirty="0"/>
          </a:p>
        </p:txBody>
      </p:sp>
      <p:sp>
        <p:nvSpPr>
          <p:cNvPr id="5" name="Shape 3"/>
          <p:cNvSpPr/>
          <p:nvPr/>
        </p:nvSpPr>
        <p:spPr>
          <a:xfrm>
            <a:off x="812800" y="2223145"/>
            <a:ext cx="3937000" cy="0"/>
          </a:xfrm>
          <a:prstGeom prst="line">
            <a:avLst/>
          </a:prstGeom>
          <a:noFill/>
          <a:ln w="6350">
            <a:solidFill>
              <a:srgbClr val="3A5476"/>
            </a:solidFill>
            <a:prstDash val="solid"/>
          </a:ln>
        </p:spPr>
      </p:sp>
      <p:sp>
        <p:nvSpPr>
          <p:cNvPr id="6" name="Text 4"/>
          <p:cNvSpPr/>
          <p:nvPr/>
        </p:nvSpPr>
        <p:spPr>
          <a:xfrm>
            <a:off x="812800" y="2326630"/>
            <a:ext cx="405511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Enterprise Continuous Testing</a:t>
            </a:r>
            <a:endParaRPr lang="en-US" sz="1400" dirty="0"/>
          </a:p>
        </p:txBody>
      </p:sp>
      <p:sp>
        <p:nvSpPr>
          <p:cNvPr id="7" name="Text 5"/>
          <p:cNvSpPr/>
          <p:nvPr/>
        </p:nvSpPr>
        <p:spPr>
          <a:xfrm>
            <a:off x="812800" y="2604790"/>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W. Platz and C. Dunlop, 2019 · textbook</a:t>
            </a:r>
            <a:endParaRPr lang="en-US" sz="1200" dirty="0"/>
          </a:p>
        </p:txBody>
      </p:sp>
      <p:sp>
        <p:nvSpPr>
          <p:cNvPr id="8" name="Shape 6"/>
          <p:cNvSpPr/>
          <p:nvPr/>
        </p:nvSpPr>
        <p:spPr>
          <a:xfrm>
            <a:off x="812800" y="2948335"/>
            <a:ext cx="3937000" cy="0"/>
          </a:xfrm>
          <a:prstGeom prst="line">
            <a:avLst/>
          </a:prstGeom>
          <a:noFill/>
          <a:ln w="6350">
            <a:solidFill>
              <a:srgbClr val="3A5476"/>
            </a:solidFill>
            <a:prstDash val="solid"/>
          </a:ln>
        </p:spPr>
      </p:sp>
      <p:sp>
        <p:nvSpPr>
          <p:cNvPr id="9" name="Text 7"/>
          <p:cNvSpPr/>
          <p:nvPr/>
        </p:nvSpPr>
        <p:spPr>
          <a:xfrm>
            <a:off x="812800" y="3051820"/>
            <a:ext cx="405511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Complete Guide to Test Automation</a:t>
            </a:r>
            <a:endParaRPr lang="en-US" sz="1400" dirty="0"/>
          </a:p>
        </p:txBody>
      </p:sp>
      <p:sp>
        <p:nvSpPr>
          <p:cNvPr id="10" name="Text 8"/>
          <p:cNvSpPr/>
          <p:nvPr/>
        </p:nvSpPr>
        <p:spPr>
          <a:xfrm>
            <a:off x="812800" y="3329930"/>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A. Axelrod, Apress, 2019 · reference</a:t>
            </a:r>
            <a:endParaRPr lang="en-US" sz="1200" dirty="0"/>
          </a:p>
        </p:txBody>
      </p:sp>
      <p:sp>
        <p:nvSpPr>
          <p:cNvPr id="11" name="Text 9"/>
          <p:cNvSpPr/>
          <p:nvPr/>
        </p:nvSpPr>
        <p:spPr>
          <a:xfrm>
            <a:off x="5054600" y="1879600"/>
            <a:ext cx="65143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9E6"/>
                </a:solidFill>
                <a:latin typeface="JetBrains Mono" pitchFamily="34" charset="0"/>
                <a:ea typeface="JetBrains Mono" pitchFamily="34" charset="-122"/>
                <a:cs typeface="JetBrains Mono" pitchFamily="34" charset="-120"/>
              </a:rPr>
              <a:t>SOURCES USED IN THIS MODULE</a:t>
            </a:r>
            <a:endParaRPr lang="en-US" sz="1200" dirty="0"/>
          </a:p>
        </p:txBody>
      </p:sp>
      <p:sp>
        <p:nvSpPr>
          <p:cNvPr id="12" name="Text 10"/>
          <p:cNvSpPr/>
          <p:nvPr/>
        </p:nvSpPr>
        <p:spPr>
          <a:xfrm>
            <a:off x="5054600" y="2219970"/>
            <a:ext cx="6514338" cy="1854200"/>
          </a:xfrm>
          <a:prstGeom prst="rect">
            <a:avLst/>
          </a:prstGeom>
          <a:noFill/>
          <a:ln/>
        </p:spPr>
        <p:txBody>
          <a:bodyPr wrap="square" lIns="0" tIns="0" rIns="0" bIns="0" rtlCol="0" anchor="t">
            <a:normAutofit/>
          </a:bodyPr>
          <a:lstStyle/>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DORA capability guides: test automation, test data management, continuous integration</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J. Micco, “Flaky Tests at Google and How We Mitigate Them”, Google Testing Blog, 2016</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B. Marick, “Agile testing directions”, 2003; L. Crispin and J. Gregory, Agile Testing, 2009</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ISTQB Test Automation Engineering syllabus v1.0 (2016) and v2.0 (2024)</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Selenium documentation (selenium.dev) and W3C WebDriver (2018)</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M. Fowler, “PageObject” (2013) and “TestDouble” (2006)</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Postman Learning Center; Newman, Locust, ZAP, axe-core and Robot Framework documentation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CSET454 Module 3: Test Automation Types and Tools</dc:title>
  <dc:subject>PptxGenJS Presentation</dc:subject>
  <dc:creator>PptxGenJS</dc:creator>
  <cp:lastModifiedBy>PptxGenJS</cp:lastModifiedBy>
  <cp:revision>1</cp:revision>
  <dcterms:created xsi:type="dcterms:W3CDTF">2026-09-27T04:22:46Z</dcterms:created>
  <dcterms:modified xsi:type="dcterms:W3CDTF">2026-09-27T04:22:46Z</dcterms:modified>
</cp:coreProperties>
</file>