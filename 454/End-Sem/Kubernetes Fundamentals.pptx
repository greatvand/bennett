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embeddedFontLst>
    <p:embeddedFont>
      <p:font typeface="JetBrains Mono" panose="02000009000000000000" pitchFamily="49" charset="0"/>
      <p:regular r:id="rId37"/>
      <p:bold r:id="rId38"/>
    </p:embeddedFont>
    <p:embeddedFont>
      <p:font typeface="Space Grotesk" pitchFamily="34" charset="0"/>
      <p:regular r:id="rId39"/>
      <p:bold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of the series. Students now know how to package and run containers on one machine with Docker. This deck answers what happens when you need many copies of many containers across many machines — and need them to heal, scale and update themselves. The lab at the end deploys the same three-tier app from the Docker lab to a local kind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Prerequisites: the Docker deck — images, containers, volumes, networks and Compose. Every YAML example here can be applied to a local kind cluster, which we set up on slide 7. Encourage students to keep a terminal open with kubectl get pods -w running while you demo; watching objects change state is the fastest way to build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Docker deck: restart policies and Compose answer these questions for one host only. An orchestrator answers all four for a whole cluster, continuously, without a human in the loop: scheduling, self-healing, scaling and rollouts, and service discovery. Kubernetes is the most widely used orchestrator and the base layer of most cloud-native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in the deck. You never tell Kubernetes “start a container”; you record what should exist, and controllers keep comparing that with what actually exists and act on any difference. That loop is why a deleted Pod comes back and why a crashed node’s Pods reappear elsewhere. The CNCF landscape (landscape.cncf.io) shows how many projects build on this foundation — useful to show, but not to memorize.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plane is the brain of the cluster. In production it usually runs on three or more machines for high availability, with etcd replicated using the Raft consensus algorithm; on managed services such as EKS, GKE or AKS the provider runs it for you. Every other component — including the kubelet on each node — watches the API server for changes rather than talking to each other directly. On a kind cluster, students can see these components as Pods: kubectl get pods -n kube-system.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Nodes are the machines (VMs or bare metal) that run your workloads. Kubernetes removed its built-in Docker Engine support, called dockershim, in v1.24; nodes use a CRI runtime such as containerd directly, and images built with Docker run unchanged. kube-proxy programs packet-forwarding rules for Services; some CNI plugins, such as Cilium, can replace it. Walk through the five steps with kubectl get events -w running in a second terminal to watch Scheduled, Pulling, Pulled, Created and Started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teaching, kind is the most predictable: it needs only Docker, starts in about a minute and can simulate several nodes. Docker Desktop also includes a one-click single-node Kubernetes. On managed services you pay for and manage the worker nodes (or use serverless node modes such as GKE Autopilot or EKS Auto Mode) while the provider operates the control plane. Delete the lab cluster with kind delete cluster --name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kubectl is just an API client: every command becomes a REST call to the API server, and kubectl -v=6 prints the requests if students are curious. kind writes a context called kind-lab into the kubeconfig automatically. Switching contexts is the most common cause of “I deployed to the wrong cluster”, so show kubectl config current-context. Terminal UIs such as k9s are handy once the basics are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apiVersion combines an API group and a version: core objects such as Pods and Services use just v1, while Deployments live in apps/v1 and CronJobs in batch/v1. kubectl api-resources lists every kind with its group. Show kubectl get deploy web -o yaml after applying to point out the status block and the extra fields the API server fills in. kubectl diff shows exactly what apply would change — a habit worth building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in one Pod are always scheduled together on the same node and can talk over localhost; most Pods have a single main container. In this example the migrate init container must finish successfully before anything else starts; then the log-shipper sidecar starts and keeps running alongside the api container, and it is shut down after the app on termination. Before native sidecars (stable in Kubernetes v1.33), sidecars were ordinary containers with no start or stop ordering. Pod phases to mention: Pending, Running, Succeeded,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Labels are the glue of Kubernetes: almost every relationship between objects is a label selector, not a hard-coded reference. A fun demo: remove the app=web label from a running Pod (kubectl label pod web-7d4f app-) and watch the Deployment create a replacement while the orphaned Pod keeps running, out of the Service. The recommended shared labels are app.kubernetes.io/name, instance, version, component, part-of and managed-by.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cluster starts with default, kube-system (cluster components), kube-public and kube-node-lease. Namespaces also shape DNS: a Service called api in namespace dev is reachable as api from inside dev and as api.dev.svc.cluster.local from anywhere. RBAC roles, ResourceQuotas, LimitRanges and NetworkPolicies are all namespaced, which is why teams usually get a namespace each. For strong isolation between untrusted tenants, separate clusters are still the safer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almost never create ReplicaSets directly; a Deployment creates one per version of the Pod template. Demo self-healing: kubectl delete pod on one of the three and watch a replacement appear within seconds (kubectl get pods -w). Then kubectl scale deploy web --replicas=5. The selector is immutable after creation and must match the template labels, otherwise the API server rejects the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anything in the Pod template — usually the image — starts a rollout: a new ReplicaSet scales up while the old one scales down, gated by readiness probes. maxSurge is how many extra Pods may exist during the update; maxUnavailable is how many may be missing; 1 and 0 means always full capacity. Rollback simply scales an older ReplicaSet back up. Blue-green and canary aren’t built-in strategies: they are done with labels and Services, with weighted routes in the Gateway API (slide 16), or with tools such as Argo Rollouts and Flagger.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 finds its Pods with a label selector and keeps the list current in EndpointSlice objects; only Pods that pass their readiness probe receive traffic. Inside the same namespace the short name api works; from another namespace use api.dev or the full name. Demo: kubectl run tmp --rm -it --image=busybox -- wget -qO- http://api to call the Service from inside the cluster, and kubectl port-forward svc/api 8080:80 to reach it from your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Ingress still works with the remaining Ingress controllers, but Kubernetes recommends the Gateway API for new work, and the Ingress-NGINX project stopped receiving releases and security fixes after March 2026. The Gateway API splits responsibility by role, so a platform team owns the Gateway while app teams own their HTTPRoutes. Implementations include Envoy Gateway, Istio, Cilium, NGINX Gateway Fabric and cloud-provider controllers. For the lab, install the Gateway API CRDs plus one implementation, or fall back to kubectl port-forward.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Kubernetes version of the twelve-factor idea from the Docker deck: the same image runs everywhere, and each environment supplies its own ConfigMap. Create one without YAML: kubectl create configmap api-config --from-literal=LOG_LEVEL=info --from-file=app.properties. Mounted ConfigMap files are refreshed by the kubelet after a short delay (except when mounted with subPath); environment variables are read only when the container starts, hence kubectl rollout restart deploy/api.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three commands live — students are usually surprised that decoding takes one command. Secrets are still better than ConfigMaps for sensitive data because they can be encrypted at rest, restricted separately with RBAC and kept off disk on nodes (they are held in memory). Mounting them as files is generally safer than environment variables, which leak into crash dumps, logs and child processes. In YAML you can write plain text under stringData and let the API server encode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of concerns: developers ask for storage with a PVC; the cluster satisfies it with a PV, usually created on demand by a StorageClass through a CSI driver (a cloud disk, NFS, Ceph and so on). PVs are cluster-scoped; PVCs live in a namespace. In a Pod, reference the claim with volumes: - name: data, persistentVolumeClaim: claimName: data, then mount it. kind and minikube ship a default StorageClass named standard backed by local disk, which is fine for labs but not for production. ReadWriteMany needs storage that supports it, such as NFS or a cloud file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Deployment when Pods are interchangeable; use a StatefulSet when each replica needs a stable identity and its own data — databases, Kafka, ZooKeeper, Elasticsearch. The volumeClaimTemplates block creates one PVC per replica (data-db-0, data-db-1 …), and those PVCs are kept even when the StatefulSet is scaled down or deleted, protecting the data. Running production databases yourself is hard: operators such as CloudNativePG for Postgres handle replication, backups and failover on top of StatefulSets.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DaemonSets are how cluster-wide agents get onto every machine. On the lab cluster, kubectl get ds -n kube-system shows kube-proxy and the CNI agent running this way. To run on control-plane nodes too, the DaemonSet needs a toleration for the control-plane taint — a preview of slide 26. node-exporter is the Prometheus exporter for hardware and OS metrics; it is a good real example to deploy in the lab’s stretch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Jobs suit anything that should run to completion rather than forever. Without timeZone, a CronJob schedule is interpreted in the time zone of the kube-controller-manager, which is usually UTC — a common source of “why did it run at 8 a.m.?” questions. To test a CronJob without waiting for the schedule, run kubectl create job --from=cronjob/nightly-backup test-run. Forbid skips a run if the previous one is still going, which is what you want for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Probes are run by the kubelet on each node. The startup probe here allows up to 30 × 2 = 60 seconds to start before liveness checks begin. Keep liveness checks cheap and local (“is this process alive?”); put dependency checks in readiness, so a database outage takes Pods out of rotation instead of restarting them in a loop. Readiness is also what makes rolling updates safe: new Pods receive traffic only once they report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drive scheduling: a Pod lands only on a node with enough unreserved CPU and memory for its requests. Limits are enforced by the kernel’s cgroups — the same mechanism from the Docker deck. Many teams set a memory limit but leave out the CPU limit to avoid throttling; this is a debated choice, so present it as an option rather than a rule. Without requests, the scheduler is guessing and the HPA on the next slide cannot compute utilization.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autoscalers work at different levels: HPA adds Pods, VPA resizes Pods, and the cluster autoscaler (or Karpenter) adds and removes nodes when Pods can’t be scheduled or nodes sit idle. They complement each other: HPA scales out, and when the new Pods don’t fit, the cluster autoscaler adds a node. On kind, install metrics-server (it needs the --kubelet-insecure-tls flag there) before trying HPA. Here the HPA keeps average CPU near 70% of each Pod’s request, adding replicas up to 10 and never going below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scheduler first filters out nodes that can’t run the Pod (not enough resources, a taint it doesn’t tolerate, an affinity rule that fails), then scores the rest and binds the Pod to the best one. Demo a taint on the lab cluster: kubectl taint nodes lab-worker2 gpu=true:NoSchedule, then scale a Deployment and see that new Pods avoid that node unless they carry the toleration. Remove it with the same command plus a trailing minus. Topology spread with the zone key matters on cloud clusters spread over availability zones; on kind, use kubernetes.io/hostname to spread across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traces back to a slide: declarative management (4, 9), controllers over bare Pods (10, 13), resources (24), probes (23), spreading (26), Secrets (18) and storage (19–20). Natural next steps beyond this deck: packaging with Helm or Kustomize, GitOps with Argo CD or Flux, RBAC and network policies, and monitoring with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two hours. kind load docker-image myapi:1.0 --name lab copies a local image into the cluster nodes, so no registry is needed; set imagePullPolicy: IfNotPresent and use a version tag, not latest. For the HTTPRoute, install the Gateway API CRDs and one implementation such as Envoy Gateway; if time is short, kubectl port-forward svc/web 8080:80 is fine. To generate load for the HPA, run a busybox Pod that calls the API in a loop. Keep the manifests: the GitHub Actions deck applies them from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kube-apiserver; everything else goes through it. Q2: the readiness probe (kubectl describe pod shows failures), then whether the Pod’s labels match the Service selector (kubectl get endpointslices). Q3: over the memory limit the container is OOMKilled (exit code 137); over the CPU limit it is throttled, not killed. Q4: stable names and DNS, ordered start-up, and a dedicated PVC per replica that follows the Pod. Q5: no — base64 is an encoding anyone can reverse; use encryption at rest plus a tool such as Sealed Secrets or External Secrets. Q6: taints repel; affinity attracts.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students can now package an app (Docker) and run it reliably across a cluster (Kubernetes). The missing piece is automation — every change still needs someone to build, test and apply it by hand. That is what the GitHub Actions deck covers. The CNCF certifications are run by the Linux Foundation: KCNA is the entry-level exam; CKAD focuses on deploying applications and CKA on operating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7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2B324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7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2B3240"/>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kubernetes.io/docs/" TargetMode="External"/><Relationship Id="rId2" Type="http://schemas.openxmlformats.org/officeDocument/2006/relationships/hyperlink" Target="https://gateway-api.sigs.k8s.io" TargetMode="External"/><Relationship Id="rId3" Type="http://schemas.openxmlformats.org/officeDocument/2006/relationships/hyperlink" Target="https://kind.sigs.k8s.io" TargetMode="External"/><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22"/>
        </a:solidFill>
      </p:bgPr>
    </p:bg>
    <p:spTree>
      <p:nvGrpSpPr>
        <p:cNvPr id="1" name=""/>
        <p:cNvGrpSpPr/>
        <p:nvPr/>
      </p:nvGrpSpPr>
      <p:grpSpPr>
        <a:xfrm>
          <a:off x="0" y="0"/>
          <a:ext cx="0" cy="0"/>
          <a:chOff x="0" y="0"/>
          <a:chExt cx="0" cy="0"/>
        </a:xfrm>
      </p:grpSpPr>
      <p:pic>
        <p:nvPicPr>
          <p:cNvPr id="2" name="Image 0" descr="Abstract cluster of connected nodes around a central control plane">    </p:cNvPr>
          <p:cNvPicPr>
            <a:picLocks noChangeAspect="1"/>
          </p:cNvPicPr>
          <p:nvPr/>
        </p:nvPicPr>
        <p:blipFill>
          <a:blip r:embed="rId1"/>
          <a:srcRect l="0" r="0" t="0" b="0"/>
          <a:stretch/>
        </p:blipFill>
        <p:spPr>
          <a:xfrm>
            <a:off x="7874000" y="812800"/>
            <a:ext cx="3505200" cy="26924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9A9FF"/>
                </a:solidFill>
                <a:latin typeface="IBM Plex Sans" pitchFamily="34" charset="0"/>
                <a:ea typeface="IBM Plex Sans" pitchFamily="34" charset="-122"/>
                <a:cs typeface="IBM Plex Sans" pitchFamily="34" charset="-120"/>
              </a:rPr>
              <a:t>DEVOPS FOUNDATIONS · PART 2 OF 3</a:t>
            </a:r>
            <a:endParaRPr lang="en-US" sz="1200" dirty="0"/>
          </a:p>
        </p:txBody>
      </p:sp>
      <p:sp>
        <p:nvSpPr>
          <p:cNvPr id="4" name="Text 1"/>
          <p:cNvSpPr/>
          <p:nvPr>
            <p:ph type="title"/>
          </p:nvPr>
        </p:nvSpPr>
        <p:spPr>
          <a:xfrm>
            <a:off x="812800" y="4330700"/>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Kubernetes Fundamentals</a:t>
            </a:r>
            <a:endParaRPr lang="en-US" sz="5600" dirty="0"/>
          </a:p>
        </p:txBody>
      </p:sp>
      <p:sp>
        <p:nvSpPr>
          <p:cNvPr id="5" name="Text 2"/>
          <p:cNvSpPr/>
          <p:nvPr/>
        </p:nvSpPr>
        <p:spPr>
          <a:xfrm>
            <a:off x="812800" y="522986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CED8"/>
                </a:solidFill>
                <a:latin typeface="IBM Plex Sans" pitchFamily="34" charset="0"/>
                <a:ea typeface="IBM Plex Sans" pitchFamily="34" charset="-122"/>
                <a:cs typeface="IBM Plex Sans" pitchFamily="34" charset="-120"/>
              </a:rPr>
              <a:t>Orchestrating containers across a cluster</a:t>
            </a:r>
            <a:endParaRPr lang="en-US" sz="1800" dirty="0"/>
          </a:p>
        </p:txBody>
      </p:sp>
      <p:sp>
        <p:nvSpPr>
          <p:cNvPr id="6"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2"/>
                </a:solidFill>
                <a:latin typeface="IBM Plex Sans" pitchFamily="34" charset="0"/>
                <a:ea typeface="IBM Plex Sans" pitchFamily="34" charset="-122"/>
                <a:cs typeface="IBM Plex Sans" pitchFamily="34" charset="-120"/>
              </a:rPr>
              <a:t>Architecture · Workloads · Networking · Config and storage · Reliability and scaling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Agenda and learning outcomes</a:t>
            </a:r>
            <a:endParaRPr lang="en-US" sz="3000" dirty="0"/>
          </a:p>
        </p:txBody>
      </p:sp>
      <p:sp>
        <p:nvSpPr>
          <p:cNvPr id="3" name="Text 1"/>
          <p:cNvSpPr/>
          <p:nvPr/>
        </p:nvSpPr>
        <p:spPr>
          <a:xfrm>
            <a:off x="8128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What we’ll cover</a:t>
            </a:r>
            <a:endParaRPr lang="en-US" sz="1800" dirty="0"/>
          </a:p>
        </p:txBody>
      </p:sp>
      <p:sp>
        <p:nvSpPr>
          <p:cNvPr id="4" name="Shape 2"/>
          <p:cNvSpPr/>
          <p:nvPr/>
        </p:nvSpPr>
        <p:spPr>
          <a:xfrm>
            <a:off x="812800" y="2265045"/>
            <a:ext cx="5080000" cy="0"/>
          </a:xfrm>
          <a:prstGeom prst="line">
            <a:avLst/>
          </a:prstGeom>
          <a:noFill/>
          <a:ln w="6350">
            <a:solidFill>
              <a:srgbClr val="E2DED5"/>
            </a:solidFill>
            <a:prstDash val="solid"/>
          </a:ln>
        </p:spPr>
      </p:sp>
      <p:sp>
        <p:nvSpPr>
          <p:cNvPr id="5" name="Text 3"/>
          <p:cNvSpPr/>
          <p:nvPr/>
        </p:nvSpPr>
        <p:spPr>
          <a:xfrm>
            <a:off x="812800" y="1976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148080" y="1950720"/>
            <a:ext cx="444942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Why orchestration</a:t>
            </a:r>
            <a:endParaRPr lang="en-US" sz="1400" dirty="0"/>
          </a:p>
        </p:txBody>
      </p:sp>
      <p:sp>
        <p:nvSpPr>
          <p:cNvPr id="7" name="Text 5"/>
          <p:cNvSpPr/>
          <p:nvPr/>
        </p:nvSpPr>
        <p:spPr>
          <a:xfrm>
            <a:off x="5620306" y="1976120"/>
            <a:ext cx="323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3–4</a:t>
            </a:r>
            <a:endParaRPr lang="en-US" sz="1200" dirty="0"/>
          </a:p>
        </p:txBody>
      </p:sp>
      <p:sp>
        <p:nvSpPr>
          <p:cNvPr id="8" name="Shape 6"/>
          <p:cNvSpPr/>
          <p:nvPr/>
        </p:nvSpPr>
        <p:spPr>
          <a:xfrm>
            <a:off x="812800" y="2646045"/>
            <a:ext cx="5080000" cy="0"/>
          </a:xfrm>
          <a:prstGeom prst="line">
            <a:avLst/>
          </a:prstGeom>
          <a:noFill/>
          <a:ln w="6350">
            <a:solidFill>
              <a:srgbClr val="E2DED5"/>
            </a:solidFill>
            <a:prstDash val="solid"/>
          </a:ln>
        </p:spPr>
      </p:sp>
      <p:sp>
        <p:nvSpPr>
          <p:cNvPr id="9" name="Text 7"/>
          <p:cNvSpPr/>
          <p:nvPr/>
        </p:nvSpPr>
        <p:spPr>
          <a:xfrm>
            <a:off x="812800" y="2357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1148080" y="2331720"/>
            <a:ext cx="444942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Architecture and setup</a:t>
            </a:r>
            <a:endParaRPr lang="en-US" sz="1400" dirty="0"/>
          </a:p>
        </p:txBody>
      </p:sp>
      <p:sp>
        <p:nvSpPr>
          <p:cNvPr id="11" name="Text 9"/>
          <p:cNvSpPr/>
          <p:nvPr/>
        </p:nvSpPr>
        <p:spPr>
          <a:xfrm>
            <a:off x="5620306" y="2357120"/>
            <a:ext cx="323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5–9</a:t>
            </a:r>
            <a:endParaRPr lang="en-US" sz="1200" dirty="0"/>
          </a:p>
        </p:txBody>
      </p:sp>
      <p:sp>
        <p:nvSpPr>
          <p:cNvPr id="12" name="Shape 10"/>
          <p:cNvSpPr/>
          <p:nvPr/>
        </p:nvSpPr>
        <p:spPr>
          <a:xfrm>
            <a:off x="812800" y="3027045"/>
            <a:ext cx="5080000" cy="0"/>
          </a:xfrm>
          <a:prstGeom prst="line">
            <a:avLst/>
          </a:prstGeom>
          <a:noFill/>
          <a:ln w="6350">
            <a:solidFill>
              <a:srgbClr val="E2DED5"/>
            </a:solidFill>
            <a:prstDash val="solid"/>
          </a:ln>
        </p:spPr>
      </p:sp>
      <p:sp>
        <p:nvSpPr>
          <p:cNvPr id="13" name="Text 11"/>
          <p:cNvSpPr/>
          <p:nvPr/>
        </p:nvSpPr>
        <p:spPr>
          <a:xfrm>
            <a:off x="812800" y="2738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1148080" y="27127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Core workloads</a:t>
            </a:r>
            <a:endParaRPr lang="en-US" sz="1400" dirty="0"/>
          </a:p>
        </p:txBody>
      </p:sp>
      <p:sp>
        <p:nvSpPr>
          <p:cNvPr id="15" name="Text 13"/>
          <p:cNvSpPr/>
          <p:nvPr/>
        </p:nvSpPr>
        <p:spPr>
          <a:xfrm>
            <a:off x="5437426" y="27381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10–14</a:t>
            </a:r>
            <a:endParaRPr lang="en-US" sz="1200" dirty="0"/>
          </a:p>
        </p:txBody>
      </p:sp>
      <p:sp>
        <p:nvSpPr>
          <p:cNvPr id="16" name="Shape 14"/>
          <p:cNvSpPr/>
          <p:nvPr/>
        </p:nvSpPr>
        <p:spPr>
          <a:xfrm>
            <a:off x="812800" y="3408045"/>
            <a:ext cx="5080000" cy="0"/>
          </a:xfrm>
          <a:prstGeom prst="line">
            <a:avLst/>
          </a:prstGeom>
          <a:noFill/>
          <a:ln w="6350">
            <a:solidFill>
              <a:srgbClr val="E2DED5"/>
            </a:solidFill>
            <a:prstDash val="solid"/>
          </a:ln>
        </p:spPr>
      </p:sp>
      <p:sp>
        <p:nvSpPr>
          <p:cNvPr id="17" name="Text 15"/>
          <p:cNvSpPr/>
          <p:nvPr/>
        </p:nvSpPr>
        <p:spPr>
          <a:xfrm>
            <a:off x="812800" y="3119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1148080" y="30937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Networking</a:t>
            </a:r>
            <a:endParaRPr lang="en-US" sz="1400" dirty="0"/>
          </a:p>
        </p:txBody>
      </p:sp>
      <p:sp>
        <p:nvSpPr>
          <p:cNvPr id="19" name="Text 17"/>
          <p:cNvSpPr/>
          <p:nvPr/>
        </p:nvSpPr>
        <p:spPr>
          <a:xfrm>
            <a:off x="5437426" y="31191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15–16</a:t>
            </a:r>
            <a:endParaRPr lang="en-US" sz="1200" dirty="0"/>
          </a:p>
        </p:txBody>
      </p:sp>
      <p:sp>
        <p:nvSpPr>
          <p:cNvPr id="20" name="Shape 18"/>
          <p:cNvSpPr/>
          <p:nvPr/>
        </p:nvSpPr>
        <p:spPr>
          <a:xfrm>
            <a:off x="812800" y="3789045"/>
            <a:ext cx="5080000" cy="0"/>
          </a:xfrm>
          <a:prstGeom prst="line">
            <a:avLst/>
          </a:prstGeom>
          <a:noFill/>
          <a:ln w="6350">
            <a:solidFill>
              <a:srgbClr val="E2DED5"/>
            </a:solidFill>
            <a:prstDash val="solid"/>
          </a:ln>
        </p:spPr>
      </p:sp>
      <p:sp>
        <p:nvSpPr>
          <p:cNvPr id="21" name="Text 19"/>
          <p:cNvSpPr/>
          <p:nvPr/>
        </p:nvSpPr>
        <p:spPr>
          <a:xfrm>
            <a:off x="812800" y="3500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1148080" y="34747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Configuration and storage</a:t>
            </a:r>
            <a:endParaRPr lang="en-US" sz="1400" dirty="0"/>
          </a:p>
        </p:txBody>
      </p:sp>
      <p:sp>
        <p:nvSpPr>
          <p:cNvPr id="23" name="Text 21"/>
          <p:cNvSpPr/>
          <p:nvPr/>
        </p:nvSpPr>
        <p:spPr>
          <a:xfrm>
            <a:off x="5437426" y="35001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17–19</a:t>
            </a:r>
            <a:endParaRPr lang="en-US" sz="1200" dirty="0"/>
          </a:p>
        </p:txBody>
      </p:sp>
      <p:sp>
        <p:nvSpPr>
          <p:cNvPr id="24" name="Shape 22"/>
          <p:cNvSpPr/>
          <p:nvPr/>
        </p:nvSpPr>
        <p:spPr>
          <a:xfrm>
            <a:off x="812800" y="4170045"/>
            <a:ext cx="5080000" cy="0"/>
          </a:xfrm>
          <a:prstGeom prst="line">
            <a:avLst/>
          </a:prstGeom>
          <a:noFill/>
          <a:ln w="6350">
            <a:solidFill>
              <a:srgbClr val="E2DED5"/>
            </a:solidFill>
            <a:prstDash val="solid"/>
          </a:ln>
        </p:spPr>
      </p:sp>
      <p:sp>
        <p:nvSpPr>
          <p:cNvPr id="25" name="Text 23"/>
          <p:cNvSpPr/>
          <p:nvPr/>
        </p:nvSpPr>
        <p:spPr>
          <a:xfrm>
            <a:off x="812800" y="3881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06</a:t>
            </a:r>
            <a:endParaRPr lang="en-US" sz="1200" dirty="0"/>
          </a:p>
        </p:txBody>
      </p:sp>
      <p:sp>
        <p:nvSpPr>
          <p:cNvPr id="26" name="Text 24"/>
          <p:cNvSpPr/>
          <p:nvPr/>
        </p:nvSpPr>
        <p:spPr>
          <a:xfrm>
            <a:off x="1148080" y="38557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More workloads</a:t>
            </a:r>
            <a:endParaRPr lang="en-US" sz="1400" dirty="0"/>
          </a:p>
        </p:txBody>
      </p:sp>
      <p:sp>
        <p:nvSpPr>
          <p:cNvPr id="27" name="Text 25"/>
          <p:cNvSpPr/>
          <p:nvPr/>
        </p:nvSpPr>
        <p:spPr>
          <a:xfrm>
            <a:off x="5437426" y="38811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20–22</a:t>
            </a:r>
            <a:endParaRPr lang="en-US" sz="1200" dirty="0"/>
          </a:p>
        </p:txBody>
      </p:sp>
      <p:sp>
        <p:nvSpPr>
          <p:cNvPr id="28" name="Shape 26"/>
          <p:cNvSpPr/>
          <p:nvPr/>
        </p:nvSpPr>
        <p:spPr>
          <a:xfrm>
            <a:off x="812800" y="4551045"/>
            <a:ext cx="5080000" cy="0"/>
          </a:xfrm>
          <a:prstGeom prst="line">
            <a:avLst/>
          </a:prstGeom>
          <a:noFill/>
          <a:ln w="6350">
            <a:solidFill>
              <a:srgbClr val="E2DED5"/>
            </a:solidFill>
            <a:prstDash val="solid"/>
          </a:ln>
        </p:spPr>
      </p:sp>
      <p:sp>
        <p:nvSpPr>
          <p:cNvPr id="29" name="Text 27"/>
          <p:cNvSpPr/>
          <p:nvPr/>
        </p:nvSpPr>
        <p:spPr>
          <a:xfrm>
            <a:off x="812800" y="4262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07</a:t>
            </a:r>
            <a:endParaRPr lang="en-US" sz="1200" dirty="0"/>
          </a:p>
        </p:txBody>
      </p:sp>
      <p:sp>
        <p:nvSpPr>
          <p:cNvPr id="30" name="Text 28"/>
          <p:cNvSpPr/>
          <p:nvPr/>
        </p:nvSpPr>
        <p:spPr>
          <a:xfrm>
            <a:off x="1148080" y="42367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Reliability and scaling</a:t>
            </a:r>
            <a:endParaRPr lang="en-US" sz="1400" dirty="0"/>
          </a:p>
        </p:txBody>
      </p:sp>
      <p:sp>
        <p:nvSpPr>
          <p:cNvPr id="31" name="Text 29"/>
          <p:cNvSpPr/>
          <p:nvPr/>
        </p:nvSpPr>
        <p:spPr>
          <a:xfrm>
            <a:off x="5437426" y="42621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23–26</a:t>
            </a:r>
            <a:endParaRPr lang="en-US" sz="1200" dirty="0"/>
          </a:p>
        </p:txBody>
      </p:sp>
      <p:sp>
        <p:nvSpPr>
          <p:cNvPr id="32" name="Shape 30"/>
          <p:cNvSpPr/>
          <p:nvPr/>
        </p:nvSpPr>
        <p:spPr>
          <a:xfrm>
            <a:off x="812800" y="4932045"/>
            <a:ext cx="5080000" cy="0"/>
          </a:xfrm>
          <a:prstGeom prst="line">
            <a:avLst/>
          </a:prstGeom>
          <a:noFill/>
          <a:ln w="6350">
            <a:solidFill>
              <a:srgbClr val="E2DED5"/>
            </a:solidFill>
            <a:prstDash val="solid"/>
          </a:ln>
        </p:spPr>
      </p:sp>
      <p:sp>
        <p:nvSpPr>
          <p:cNvPr id="33" name="Text 31"/>
          <p:cNvSpPr/>
          <p:nvPr/>
        </p:nvSpPr>
        <p:spPr>
          <a:xfrm>
            <a:off x="812800" y="46431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08</a:t>
            </a:r>
            <a:endParaRPr lang="en-US" sz="1200" dirty="0"/>
          </a:p>
        </p:txBody>
      </p:sp>
      <p:sp>
        <p:nvSpPr>
          <p:cNvPr id="34" name="Text 32"/>
          <p:cNvSpPr/>
          <p:nvPr/>
        </p:nvSpPr>
        <p:spPr>
          <a:xfrm>
            <a:off x="1148080" y="46177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Best practices, lab and quiz</a:t>
            </a:r>
            <a:endParaRPr lang="en-US" sz="1400" dirty="0"/>
          </a:p>
        </p:txBody>
      </p:sp>
      <p:sp>
        <p:nvSpPr>
          <p:cNvPr id="35" name="Text 33"/>
          <p:cNvSpPr/>
          <p:nvPr/>
        </p:nvSpPr>
        <p:spPr>
          <a:xfrm>
            <a:off x="5437426" y="46431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27–30</a:t>
            </a:r>
            <a:endParaRPr lang="en-US" sz="1200" dirty="0"/>
          </a:p>
        </p:txBody>
      </p:sp>
      <p:sp>
        <p:nvSpPr>
          <p:cNvPr id="36" name="Text 34"/>
          <p:cNvSpPr/>
          <p:nvPr/>
        </p:nvSpPr>
        <p:spPr>
          <a:xfrm>
            <a:off x="62992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By the end, you can</a:t>
            </a:r>
            <a:endParaRPr lang="en-US" sz="1800" dirty="0"/>
          </a:p>
        </p:txBody>
      </p:sp>
      <p:pic>
        <p:nvPicPr>
          <p:cNvPr id="37" name="Image 0" descr="CheckCircle">    </p:cNvPr>
          <p:cNvPicPr>
            <a:picLocks noChangeAspect="1"/>
          </p:cNvPicPr>
          <p:nvPr/>
        </p:nvPicPr>
        <p:blipFill>
          <a:blip r:embed="rId1"/>
          <a:srcRect l="0" r="0" t="0" b="0"/>
          <a:stretch/>
        </p:blipFill>
        <p:spPr>
          <a:xfrm>
            <a:off x="6299200" y="1963420"/>
            <a:ext cx="203200" cy="203200"/>
          </a:xfrm>
          <a:prstGeom prst="rect">
            <a:avLst/>
          </a:prstGeom>
        </p:spPr>
      </p:pic>
      <p:sp>
        <p:nvSpPr>
          <p:cNvPr id="38" name="Text 35"/>
          <p:cNvSpPr/>
          <p:nvPr/>
        </p:nvSpPr>
        <p:spPr>
          <a:xfrm>
            <a:off x="6629400" y="1963420"/>
            <a:ext cx="4892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Explain the control plane, the nodes and the reconciliation loop</a:t>
            </a:r>
            <a:endParaRPr lang="en-US" sz="1400" dirty="0"/>
          </a:p>
        </p:txBody>
      </p:sp>
      <p:pic>
        <p:nvPicPr>
          <p:cNvPr id="39" name="Image 1" descr="CheckCircle">    </p:cNvPr>
          <p:cNvPicPr>
            <a:picLocks noChangeAspect="1"/>
          </p:cNvPicPr>
          <p:nvPr/>
        </p:nvPicPr>
        <p:blipFill>
          <a:blip r:embed="rId2"/>
          <a:srcRect l="0" r="0" t="0" b="0"/>
          <a:stretch/>
        </p:blipFill>
        <p:spPr>
          <a:xfrm>
            <a:off x="6299200" y="2588260"/>
            <a:ext cx="203200" cy="203200"/>
          </a:xfrm>
          <a:prstGeom prst="rect">
            <a:avLst/>
          </a:prstGeom>
        </p:spPr>
      </p:pic>
      <p:sp>
        <p:nvSpPr>
          <p:cNvPr id="40" name="Text 36"/>
          <p:cNvSpPr/>
          <p:nvPr/>
        </p:nvSpPr>
        <p:spPr>
          <a:xfrm>
            <a:off x="6629400" y="2588260"/>
            <a:ext cx="5562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Deploy, scale, update and roll back apps with Deployments</a:t>
            </a:r>
            <a:endParaRPr lang="en-US" sz="1400" dirty="0"/>
          </a:p>
        </p:txBody>
      </p:sp>
      <p:pic>
        <p:nvPicPr>
          <p:cNvPr id="41" name="Image 2" descr="CheckCircle">    </p:cNvPr>
          <p:cNvPicPr>
            <a:picLocks noChangeAspect="1"/>
          </p:cNvPicPr>
          <p:nvPr/>
        </p:nvPicPr>
        <p:blipFill>
          <a:blip r:embed="rId3"/>
          <a:srcRect l="0" r="0" t="0" b="0"/>
          <a:stretch/>
        </p:blipFill>
        <p:spPr>
          <a:xfrm>
            <a:off x="6299200" y="2964180"/>
            <a:ext cx="203200" cy="203200"/>
          </a:xfrm>
          <a:prstGeom prst="rect">
            <a:avLst/>
          </a:prstGeom>
        </p:spPr>
      </p:pic>
      <p:sp>
        <p:nvSpPr>
          <p:cNvPr id="42" name="Text 37"/>
          <p:cNvSpPr/>
          <p:nvPr/>
        </p:nvSpPr>
        <p:spPr>
          <a:xfrm>
            <a:off x="6629400" y="296418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Expose apps with Services and the Gateway API</a:t>
            </a:r>
            <a:endParaRPr lang="en-US" sz="1400" dirty="0"/>
          </a:p>
        </p:txBody>
      </p:sp>
      <p:pic>
        <p:nvPicPr>
          <p:cNvPr id="43" name="Image 3" descr="CheckCircle">    </p:cNvPr>
          <p:cNvPicPr>
            <a:picLocks noChangeAspect="1"/>
          </p:cNvPicPr>
          <p:nvPr/>
        </p:nvPicPr>
        <p:blipFill>
          <a:blip r:embed="rId4"/>
          <a:srcRect l="0" r="0" t="0" b="0"/>
          <a:stretch/>
        </p:blipFill>
        <p:spPr>
          <a:xfrm>
            <a:off x="6299200" y="3340100"/>
            <a:ext cx="203200" cy="203200"/>
          </a:xfrm>
          <a:prstGeom prst="rect">
            <a:avLst/>
          </a:prstGeom>
        </p:spPr>
      </p:pic>
      <p:sp>
        <p:nvSpPr>
          <p:cNvPr id="44" name="Text 38"/>
          <p:cNvSpPr/>
          <p:nvPr/>
        </p:nvSpPr>
        <p:spPr>
          <a:xfrm>
            <a:off x="6629400" y="334010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Manage configuration, secrets and persistent storage</a:t>
            </a:r>
            <a:endParaRPr lang="en-US" sz="1400" dirty="0"/>
          </a:p>
        </p:txBody>
      </p:sp>
      <p:pic>
        <p:nvPicPr>
          <p:cNvPr id="45" name="Image 4" descr="CheckCircle">    </p:cNvPr>
          <p:cNvPicPr>
            <a:picLocks noChangeAspect="1"/>
          </p:cNvPicPr>
          <p:nvPr/>
        </p:nvPicPr>
        <p:blipFill>
          <a:blip r:embed="rId5"/>
          <a:srcRect l="0" r="0" t="0" b="0"/>
          <a:stretch/>
        </p:blipFill>
        <p:spPr>
          <a:xfrm>
            <a:off x="6299200" y="3716020"/>
            <a:ext cx="203200" cy="203200"/>
          </a:xfrm>
          <a:prstGeom prst="rect">
            <a:avLst/>
          </a:prstGeom>
        </p:spPr>
      </p:pic>
      <p:sp>
        <p:nvSpPr>
          <p:cNvPr id="46" name="Text 39"/>
          <p:cNvSpPr/>
          <p:nvPr/>
        </p:nvSpPr>
        <p:spPr>
          <a:xfrm>
            <a:off x="6629400" y="371602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Make workloads self-healing, right-sized and autoscaled</a:t>
            </a:r>
            <a:endParaRPr lang="en-US" sz="1400" dirty="0"/>
          </a:p>
        </p:txBody>
      </p:sp>
      <p:sp>
        <p:nvSpPr>
          <p:cNvPr id="47" name="Text 40"/>
          <p:cNvSpPr/>
          <p:nvPr/>
        </p:nvSpPr>
        <p:spPr>
          <a:xfrm>
            <a:off x="812800" y="6238241"/>
            <a:ext cx="33396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Introduction</a:t>
            </a:r>
            <a:endParaRPr lang="en-US" sz="1200" dirty="0"/>
          </a:p>
        </p:txBody>
      </p:sp>
      <p:sp>
        <p:nvSpPr>
          <p:cNvPr id="48" name="Text 41"/>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A3FD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4DDFF"/>
                </a:solidFill>
                <a:latin typeface="IBM Plex Sans" pitchFamily="34" charset="0"/>
                <a:ea typeface="IBM Plex Sans" pitchFamily="34" charset="-122"/>
                <a:cs typeface="IBM Plex Sans" pitchFamily="34" charset="-120"/>
              </a:rPr>
              <a:t>WHY ORCHESTRATION</a:t>
            </a:r>
            <a:endParaRPr lang="en-US" sz="1200" dirty="0"/>
          </a:p>
        </p:txBody>
      </p:sp>
      <p:sp>
        <p:nvSpPr>
          <p:cNvPr id="3" name="Text 1"/>
          <p:cNvSpPr/>
          <p:nvPr>
            <p:ph type="title"/>
          </p:nvPr>
        </p:nvSpPr>
        <p:spPr>
          <a:xfrm>
            <a:off x="812800" y="1153161"/>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Running one container is easy.</a:t>
            </a:r>
            <a:endParaRPr lang="en-US" sz="5600" dirty="0"/>
          </a:p>
        </p:txBody>
      </p:sp>
      <p:sp>
        <p:nvSpPr>
          <p:cNvPr id="4" name="Text 2"/>
          <p:cNvSpPr/>
          <p:nvPr/>
        </p:nvSpPr>
        <p:spPr>
          <a:xfrm>
            <a:off x="812800" y="202692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4DDFF"/>
                </a:solidFill>
                <a:latin typeface="IBM Plex Sans" pitchFamily="34" charset="0"/>
                <a:ea typeface="IBM Plex Sans" pitchFamily="34" charset="-122"/>
                <a:cs typeface="IBM Plex Sans" pitchFamily="34" charset="-120"/>
              </a:rPr>
              <a:t>Running hundreds across many machines raises four questions.</a:t>
            </a:r>
            <a:endParaRPr lang="en-US" sz="1800" dirty="0"/>
          </a:p>
        </p:txBody>
      </p:sp>
      <p:sp>
        <p:nvSpPr>
          <p:cNvPr id="5" name="Shape 3"/>
          <p:cNvSpPr/>
          <p:nvPr/>
        </p:nvSpPr>
        <p:spPr>
          <a:xfrm>
            <a:off x="812800" y="4563111"/>
            <a:ext cx="2451100" cy="0"/>
          </a:xfrm>
          <a:prstGeom prst="line">
            <a:avLst/>
          </a:prstGeom>
          <a:noFill/>
          <a:ln w="12700">
            <a:solidFill>
              <a:srgbClr val="9C8BE6"/>
            </a:solidFill>
            <a:prstDash val="solid"/>
          </a:ln>
        </p:spPr>
      </p:sp>
      <p:sp>
        <p:nvSpPr>
          <p:cNvPr id="6" name="Text 4"/>
          <p:cNvSpPr/>
          <p:nvPr/>
        </p:nvSpPr>
        <p:spPr>
          <a:xfrm>
            <a:off x="812800" y="4719320"/>
            <a:ext cx="252463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Where should it run?</a:t>
            </a:r>
            <a:endParaRPr lang="en-US" sz="1800" dirty="0"/>
          </a:p>
        </p:txBody>
      </p:sp>
      <p:sp>
        <p:nvSpPr>
          <p:cNvPr id="7" name="Text 5"/>
          <p:cNvSpPr/>
          <p:nvPr/>
        </p:nvSpPr>
        <p:spPr>
          <a:xfrm>
            <a:off x="812800" y="5069841"/>
            <a:ext cx="252463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Placing containers on machines with free capacity.</a:t>
            </a:r>
            <a:endParaRPr lang="en-US" sz="1400" dirty="0"/>
          </a:p>
        </p:txBody>
      </p:sp>
      <p:sp>
        <p:nvSpPr>
          <p:cNvPr id="8" name="Shape 6"/>
          <p:cNvSpPr/>
          <p:nvPr/>
        </p:nvSpPr>
        <p:spPr>
          <a:xfrm>
            <a:off x="3517900" y="4563111"/>
            <a:ext cx="2451100" cy="0"/>
          </a:xfrm>
          <a:prstGeom prst="line">
            <a:avLst/>
          </a:prstGeom>
          <a:noFill/>
          <a:ln w="12700">
            <a:solidFill>
              <a:srgbClr val="9C8BE6"/>
            </a:solidFill>
            <a:prstDash val="solid"/>
          </a:ln>
        </p:spPr>
      </p:sp>
      <p:sp>
        <p:nvSpPr>
          <p:cNvPr id="9" name="Text 7"/>
          <p:cNvSpPr/>
          <p:nvPr/>
        </p:nvSpPr>
        <p:spPr>
          <a:xfrm>
            <a:off x="3517900" y="4719320"/>
            <a:ext cx="252463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What if it dies?</a:t>
            </a:r>
            <a:endParaRPr lang="en-US" sz="1800" dirty="0"/>
          </a:p>
        </p:txBody>
      </p:sp>
      <p:sp>
        <p:nvSpPr>
          <p:cNvPr id="10" name="Text 8"/>
          <p:cNvSpPr/>
          <p:nvPr/>
        </p:nvSpPr>
        <p:spPr>
          <a:xfrm>
            <a:off x="3517900" y="5069841"/>
            <a:ext cx="252463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Restarting containers and replacing failed machines.</a:t>
            </a:r>
            <a:endParaRPr lang="en-US" sz="1400" dirty="0"/>
          </a:p>
        </p:txBody>
      </p:sp>
      <p:sp>
        <p:nvSpPr>
          <p:cNvPr id="11" name="Shape 9"/>
          <p:cNvSpPr/>
          <p:nvPr/>
        </p:nvSpPr>
        <p:spPr>
          <a:xfrm>
            <a:off x="6223000" y="4563111"/>
            <a:ext cx="2451100" cy="0"/>
          </a:xfrm>
          <a:prstGeom prst="line">
            <a:avLst/>
          </a:prstGeom>
          <a:noFill/>
          <a:ln w="12700">
            <a:solidFill>
              <a:srgbClr val="9C8BE6"/>
            </a:solidFill>
            <a:prstDash val="solid"/>
          </a:ln>
        </p:spPr>
      </p:sp>
      <p:sp>
        <p:nvSpPr>
          <p:cNvPr id="12" name="Text 10"/>
          <p:cNvSpPr/>
          <p:nvPr/>
        </p:nvSpPr>
        <p:spPr>
          <a:xfrm>
            <a:off x="6223000" y="4719320"/>
            <a:ext cx="252463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How do I change it?</a:t>
            </a:r>
            <a:endParaRPr lang="en-US" sz="1800" dirty="0"/>
          </a:p>
        </p:txBody>
      </p:sp>
      <p:sp>
        <p:nvSpPr>
          <p:cNvPr id="13" name="Text 11"/>
          <p:cNvSpPr/>
          <p:nvPr/>
        </p:nvSpPr>
        <p:spPr>
          <a:xfrm>
            <a:off x="6223000" y="5069841"/>
            <a:ext cx="252463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Scaling up and down; shipping v2 with no downtime.</a:t>
            </a:r>
            <a:endParaRPr lang="en-US" sz="1400" dirty="0"/>
          </a:p>
        </p:txBody>
      </p:sp>
      <p:sp>
        <p:nvSpPr>
          <p:cNvPr id="14" name="Shape 12"/>
          <p:cNvSpPr/>
          <p:nvPr/>
        </p:nvSpPr>
        <p:spPr>
          <a:xfrm>
            <a:off x="8928100" y="4563111"/>
            <a:ext cx="2451100" cy="0"/>
          </a:xfrm>
          <a:prstGeom prst="line">
            <a:avLst/>
          </a:prstGeom>
          <a:noFill/>
          <a:ln w="12700">
            <a:solidFill>
              <a:srgbClr val="9C8BE6"/>
            </a:solidFill>
            <a:prstDash val="solid"/>
          </a:ln>
        </p:spPr>
      </p:sp>
      <p:sp>
        <p:nvSpPr>
          <p:cNvPr id="15" name="Text 13"/>
          <p:cNvSpPr/>
          <p:nvPr/>
        </p:nvSpPr>
        <p:spPr>
          <a:xfrm>
            <a:off x="8928100" y="4719320"/>
            <a:ext cx="2524633"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How do they connect?</a:t>
            </a:r>
            <a:endParaRPr lang="en-US" sz="1800" dirty="0"/>
          </a:p>
        </p:txBody>
      </p:sp>
      <p:sp>
        <p:nvSpPr>
          <p:cNvPr id="16" name="Text 14"/>
          <p:cNvSpPr/>
          <p:nvPr/>
        </p:nvSpPr>
        <p:spPr>
          <a:xfrm>
            <a:off x="8928100" y="5344161"/>
            <a:ext cx="252463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Stable names for services whose IPs keep changing.</a:t>
            </a:r>
            <a:endParaRPr lang="en-US" sz="1400" dirty="0"/>
          </a:p>
        </p:txBody>
      </p:sp>
      <p:sp>
        <p:nvSpPr>
          <p:cNvPr id="17" name="Text 15"/>
          <p:cNvSpPr/>
          <p:nvPr/>
        </p:nvSpPr>
        <p:spPr>
          <a:xfrm>
            <a:off x="812800" y="6238241"/>
            <a:ext cx="38084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DDFF"/>
                </a:solidFill>
                <a:latin typeface="IBM Plex Sans" pitchFamily="34" charset="0"/>
                <a:ea typeface="IBM Plex Sans" pitchFamily="34" charset="-122"/>
                <a:cs typeface="IBM Plex Sans" pitchFamily="34" charset="-120"/>
              </a:rPr>
              <a:t>Kubernetes Fundamentals · Why orchestration</a:t>
            </a:r>
            <a:endParaRPr lang="en-US" sz="1200" dirty="0"/>
          </a:p>
        </p:txBody>
      </p:sp>
      <p:sp>
        <p:nvSpPr>
          <p:cNvPr id="18" name="Text 16"/>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4DDFF"/>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The desired-state model</a:t>
            </a:r>
            <a:endParaRPr lang="en-US" sz="3000" dirty="0"/>
          </a:p>
        </p:txBody>
      </p:sp>
      <p:sp>
        <p:nvSpPr>
          <p:cNvPr id="3" name="Shape 1"/>
          <p:cNvSpPr/>
          <p:nvPr/>
        </p:nvSpPr>
        <p:spPr>
          <a:xfrm>
            <a:off x="815975" y="1489075"/>
            <a:ext cx="2924016" cy="999490"/>
          </a:xfrm>
          <a:prstGeom prst="roundRect">
            <a:avLst>
              <a:gd name="adj" fmla="val 9848"/>
            </a:avLst>
          </a:prstGeom>
          <a:solidFill>
            <a:srgbClr val="FDFCFA"/>
          </a:solidFill>
          <a:ln w="6350">
            <a:solidFill>
              <a:srgbClr val="E2DED5"/>
            </a:solidFill>
            <a:prstDash val="solid"/>
          </a:ln>
        </p:spPr>
      </p:sp>
      <p:sp>
        <p:nvSpPr>
          <p:cNvPr id="4" name="Text 2"/>
          <p:cNvSpPr/>
          <p:nvPr/>
        </p:nvSpPr>
        <p:spPr>
          <a:xfrm>
            <a:off x="995680" y="1643380"/>
            <a:ext cx="26415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IBM Plex Sans" pitchFamily="34" charset="0"/>
                <a:ea typeface="IBM Plex Sans" pitchFamily="34" charset="-122"/>
                <a:cs typeface="IBM Plex Sans" pitchFamily="34" charset="-120"/>
              </a:rPr>
              <a:t>YOU DECLARE</a:t>
            </a:r>
            <a:endParaRPr lang="en-US" sz="1200" dirty="0"/>
          </a:p>
        </p:txBody>
      </p:sp>
      <p:sp>
        <p:nvSpPr>
          <p:cNvPr id="5" name="Text 3"/>
          <p:cNvSpPr/>
          <p:nvPr/>
        </p:nvSpPr>
        <p:spPr>
          <a:xfrm>
            <a:off x="995680" y="1907541"/>
            <a:ext cx="26415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replicas: 3</a:t>
            </a:r>
            <a:endParaRPr lang="en-US" sz="1200" dirty="0"/>
          </a:p>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image: web:1.1</a:t>
            </a:r>
            <a:endParaRPr lang="en-US" sz="1200" dirty="0"/>
          </a:p>
        </p:txBody>
      </p:sp>
      <p:pic>
        <p:nvPicPr>
          <p:cNvPr id="6" name="Image 0" descr="arrow-right">    </p:cNvPr>
          <p:cNvPicPr>
            <a:picLocks noChangeAspect="1"/>
          </p:cNvPicPr>
          <p:nvPr/>
        </p:nvPicPr>
        <p:blipFill>
          <a:blip r:embed="rId1"/>
          <a:srcRect l="0" r="0" t="0" b="0"/>
          <a:stretch/>
        </p:blipFill>
        <p:spPr>
          <a:xfrm>
            <a:off x="3844766" y="1912620"/>
            <a:ext cx="304800" cy="152400"/>
          </a:xfrm>
          <a:prstGeom prst="rect">
            <a:avLst/>
          </a:prstGeom>
        </p:spPr>
      </p:pic>
      <p:sp>
        <p:nvSpPr>
          <p:cNvPr id="7" name="Shape 4"/>
          <p:cNvSpPr/>
          <p:nvPr/>
        </p:nvSpPr>
        <p:spPr>
          <a:xfrm>
            <a:off x="4251166" y="1485900"/>
            <a:ext cx="3689667" cy="1005840"/>
          </a:xfrm>
          <a:prstGeom prst="roundRect">
            <a:avLst>
              <a:gd name="adj" fmla="val 10101"/>
            </a:avLst>
          </a:prstGeom>
          <a:solidFill>
            <a:srgbClr val="5A3FD0"/>
          </a:solidFill>
          <a:ln/>
        </p:spPr>
      </p:sp>
      <p:sp>
        <p:nvSpPr>
          <p:cNvPr id="8" name="Text 5"/>
          <p:cNvSpPr/>
          <p:nvPr/>
        </p:nvSpPr>
        <p:spPr>
          <a:xfrm>
            <a:off x="4428966" y="1638300"/>
            <a:ext cx="34340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DDFF"/>
                </a:solidFill>
                <a:latin typeface="IBM Plex Sans" pitchFamily="34" charset="0"/>
                <a:ea typeface="IBM Plex Sans" pitchFamily="34" charset="-122"/>
                <a:cs typeface="IBM Plex Sans" pitchFamily="34" charset="-120"/>
              </a:rPr>
              <a:t>CONTROLLERS LOOP FOREVER</a:t>
            </a:r>
            <a:endParaRPr lang="en-US" sz="1200" dirty="0"/>
          </a:p>
        </p:txBody>
      </p:sp>
      <p:sp>
        <p:nvSpPr>
          <p:cNvPr id="9" name="Text 6"/>
          <p:cNvSpPr/>
          <p:nvPr/>
        </p:nvSpPr>
        <p:spPr>
          <a:xfrm>
            <a:off x="4428966" y="1902461"/>
            <a:ext cx="34340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observe → compare → act</a:t>
            </a:r>
            <a:endParaRPr lang="en-US" sz="1400" dirty="0"/>
          </a:p>
        </p:txBody>
      </p:sp>
      <p:pic>
        <p:nvPicPr>
          <p:cNvPr id="10" name="Image 1" descr="arrow-right">    </p:cNvPr>
          <p:cNvPicPr>
            <a:picLocks noChangeAspect="1"/>
          </p:cNvPicPr>
          <p:nvPr/>
        </p:nvPicPr>
        <p:blipFill>
          <a:blip r:embed="rId2"/>
          <a:srcRect l="0" r="0" t="0" b="0"/>
          <a:stretch/>
        </p:blipFill>
        <p:spPr>
          <a:xfrm>
            <a:off x="8042434" y="1912620"/>
            <a:ext cx="304800" cy="152400"/>
          </a:xfrm>
          <a:prstGeom prst="rect">
            <a:avLst/>
          </a:prstGeom>
        </p:spPr>
      </p:pic>
      <p:sp>
        <p:nvSpPr>
          <p:cNvPr id="11" name="Shape 7"/>
          <p:cNvSpPr/>
          <p:nvPr/>
        </p:nvSpPr>
        <p:spPr>
          <a:xfrm>
            <a:off x="8452009" y="1489075"/>
            <a:ext cx="2924016" cy="999490"/>
          </a:xfrm>
          <a:prstGeom prst="roundRect">
            <a:avLst>
              <a:gd name="adj" fmla="val 9848"/>
            </a:avLst>
          </a:prstGeom>
          <a:solidFill>
            <a:srgbClr val="FDFCFA"/>
          </a:solidFill>
          <a:ln w="6350">
            <a:solidFill>
              <a:srgbClr val="E2DED5"/>
            </a:solidFill>
            <a:prstDash val="solid"/>
          </a:ln>
        </p:spPr>
      </p:sp>
      <p:sp>
        <p:nvSpPr>
          <p:cNvPr id="12" name="Text 8"/>
          <p:cNvSpPr/>
          <p:nvPr/>
        </p:nvSpPr>
        <p:spPr>
          <a:xfrm>
            <a:off x="8631714" y="1643380"/>
            <a:ext cx="26415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IBM Plex Sans" pitchFamily="34" charset="0"/>
                <a:ea typeface="IBM Plex Sans" pitchFamily="34" charset="-122"/>
                <a:cs typeface="IBM Plex Sans" pitchFamily="34" charset="-120"/>
              </a:rPr>
              <a:t>THE CLUSTER CONVERGES</a:t>
            </a:r>
            <a:endParaRPr lang="en-US" sz="1200" dirty="0"/>
          </a:p>
        </p:txBody>
      </p:sp>
      <p:sp>
        <p:nvSpPr>
          <p:cNvPr id="13" name="Text 9"/>
          <p:cNvSpPr/>
          <p:nvPr/>
        </p:nvSpPr>
        <p:spPr>
          <a:xfrm>
            <a:off x="8631714" y="1907541"/>
            <a:ext cx="26415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3 Pods of web:1.1 running — and kept that way</a:t>
            </a:r>
            <a:endParaRPr lang="en-US" sz="1200" dirty="0"/>
          </a:p>
        </p:txBody>
      </p:sp>
      <p:sp>
        <p:nvSpPr>
          <p:cNvPr id="14" name="Shape 10"/>
          <p:cNvSpPr/>
          <p:nvPr/>
        </p:nvSpPr>
        <p:spPr>
          <a:xfrm>
            <a:off x="812800" y="2745741"/>
            <a:ext cx="5181600" cy="1493520"/>
          </a:xfrm>
          <a:prstGeom prst="roundRect">
            <a:avLst>
              <a:gd name="adj" fmla="val 6803"/>
            </a:avLst>
          </a:prstGeom>
          <a:solidFill>
            <a:srgbClr val="ECE9E2"/>
          </a:solidFill>
          <a:ln/>
        </p:spPr>
      </p:sp>
      <p:sp>
        <p:nvSpPr>
          <p:cNvPr id="15" name="Text 11"/>
          <p:cNvSpPr/>
          <p:nvPr/>
        </p:nvSpPr>
        <p:spPr>
          <a:xfrm>
            <a:off x="1016000" y="2923541"/>
            <a:ext cx="491845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Imperative</a:t>
            </a:r>
            <a:endParaRPr lang="en-US" sz="1800" dirty="0"/>
          </a:p>
        </p:txBody>
      </p:sp>
      <p:sp>
        <p:nvSpPr>
          <p:cNvPr id="16" name="Text 12"/>
          <p:cNvSpPr/>
          <p:nvPr/>
        </p:nvSpPr>
        <p:spPr>
          <a:xfrm>
            <a:off x="1016000" y="3274061"/>
            <a:ext cx="49184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scale deploy web --replicas=5</a:t>
            </a:r>
            <a:endParaRPr lang="en-US" sz="1200" dirty="0"/>
          </a:p>
        </p:txBody>
      </p:sp>
      <p:sp>
        <p:nvSpPr>
          <p:cNvPr id="17" name="Text 13"/>
          <p:cNvSpPr/>
          <p:nvPr/>
        </p:nvSpPr>
        <p:spPr>
          <a:xfrm>
            <a:off x="1016000" y="356362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“Do this now.” Quick for experiments; hard to review or repeat.</a:t>
            </a:r>
            <a:endParaRPr lang="en-US" sz="1400" dirty="0"/>
          </a:p>
        </p:txBody>
      </p:sp>
      <p:sp>
        <p:nvSpPr>
          <p:cNvPr id="18" name="Shape 14"/>
          <p:cNvSpPr/>
          <p:nvPr/>
        </p:nvSpPr>
        <p:spPr>
          <a:xfrm>
            <a:off x="6197600" y="2745741"/>
            <a:ext cx="5181600" cy="1493520"/>
          </a:xfrm>
          <a:prstGeom prst="roundRect">
            <a:avLst>
              <a:gd name="adj" fmla="val 6803"/>
            </a:avLst>
          </a:prstGeom>
          <a:solidFill>
            <a:srgbClr val="ECE9E2"/>
          </a:solidFill>
          <a:ln/>
        </p:spPr>
      </p:sp>
      <p:sp>
        <p:nvSpPr>
          <p:cNvPr id="19" name="Text 15"/>
          <p:cNvSpPr/>
          <p:nvPr/>
        </p:nvSpPr>
        <p:spPr>
          <a:xfrm>
            <a:off x="6400800" y="2923541"/>
            <a:ext cx="491845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Declarative</a:t>
            </a:r>
            <a:endParaRPr lang="en-US" sz="1800" dirty="0"/>
          </a:p>
        </p:txBody>
      </p:sp>
      <p:sp>
        <p:nvSpPr>
          <p:cNvPr id="20" name="Text 16"/>
          <p:cNvSpPr/>
          <p:nvPr/>
        </p:nvSpPr>
        <p:spPr>
          <a:xfrm>
            <a:off x="6400800" y="3274061"/>
            <a:ext cx="49184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apply -f web.yaml</a:t>
            </a:r>
            <a:endParaRPr lang="en-US" sz="1200" dirty="0"/>
          </a:p>
        </p:txBody>
      </p:sp>
      <p:sp>
        <p:nvSpPr>
          <p:cNvPr id="21" name="Text 17"/>
          <p:cNvSpPr/>
          <p:nvPr/>
        </p:nvSpPr>
        <p:spPr>
          <a:xfrm>
            <a:off x="6400800" y="356362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“Make it so.” Files live in Git, get reviewed and can be re-applied safely.</a:t>
            </a:r>
            <a:endParaRPr lang="en-US" sz="1400" dirty="0"/>
          </a:p>
        </p:txBody>
      </p:sp>
      <p:sp>
        <p:nvSpPr>
          <p:cNvPr id="22" name="Text 18"/>
          <p:cNvSpPr/>
          <p:nvPr/>
        </p:nvSpPr>
        <p:spPr>
          <a:xfrm>
            <a:off x="812800" y="4493261"/>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Origins:</a:t>
            </a:r>
            <a:r>
              <a:rPr lang="en-US" sz="1400" dirty="0">
                <a:solidFill>
                  <a:srgbClr val="2B3240"/>
                </a:solidFill>
                <a:latin typeface="IBM Plex Sans" pitchFamily="34" charset="0"/>
                <a:ea typeface="IBM Plex Sans" pitchFamily="34" charset="-122"/>
                <a:cs typeface="IBM Plex Sans" pitchFamily="34" charset="-120"/>
              </a:rPr>
              <a:t> inspired by Google’s internal Borg system, open-sourced in 2014, v1.0 in 2015, and the founding project of the CNCF — the hub of a large ecosystem including containerd, Prometheus, Helm and Argo CD.</a:t>
            </a:r>
            <a:endParaRPr lang="en-US" sz="1400" dirty="0"/>
          </a:p>
        </p:txBody>
      </p:sp>
      <p:sp>
        <p:nvSpPr>
          <p:cNvPr id="23" name="Text 19"/>
          <p:cNvSpPr/>
          <p:nvPr/>
        </p:nvSpPr>
        <p:spPr>
          <a:xfrm>
            <a:off x="812800" y="6238239"/>
            <a:ext cx="38084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Why orchestration</a:t>
            </a:r>
            <a:endParaRPr lang="en-US" sz="1200" dirty="0"/>
          </a:p>
        </p:txBody>
      </p:sp>
      <p:sp>
        <p:nvSpPr>
          <p:cNvPr id="24" name="Text 20"/>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The control plane</a:t>
            </a:r>
            <a:endParaRPr lang="en-US" sz="3000" dirty="0"/>
          </a:p>
        </p:txBody>
      </p:sp>
      <p:sp>
        <p:nvSpPr>
          <p:cNvPr id="3" name="Text 1"/>
          <p:cNvSpPr/>
          <p:nvPr/>
        </p:nvSpPr>
        <p:spPr>
          <a:xfrm>
            <a:off x="815975" y="1539875"/>
            <a:ext cx="4843780" cy="420370"/>
          </a:xfrm>
          <a:prstGeom prst="roundRect">
            <a:avLst>
              <a:gd name="adj" fmla="val 20393"/>
            </a:avLst>
          </a:prstGeom>
          <a:solidFill>
            <a:srgbClr val="FDFCFA"/>
          </a:solidFill>
          <a:ln w="6350">
            <a:solidFill>
              <a:srgbClr val="E2DED5"/>
            </a:solidFill>
            <a:prstDash val="solid"/>
          </a:ln>
        </p:spPr>
        <p:txBody>
          <a:bodyPr wrap="square" lIns="35007" tIns="78397" rIns="35007" bIns="52997"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kubectl · CI pipelines · dashboards</a:t>
            </a:r>
            <a:endParaRPr lang="en-US" sz="1200" dirty="0"/>
          </a:p>
        </p:txBody>
      </p:sp>
      <p:pic>
        <p:nvPicPr>
          <p:cNvPr id="4" name="Image 0" descr="arrow-down">    </p:cNvPr>
          <p:cNvPicPr>
            <a:picLocks noChangeAspect="1"/>
          </p:cNvPicPr>
          <p:nvPr/>
        </p:nvPicPr>
        <p:blipFill>
          <a:blip r:embed="rId1"/>
          <a:srcRect l="0" r="0" t="0" b="0"/>
          <a:stretch/>
        </p:blipFill>
        <p:spPr>
          <a:xfrm>
            <a:off x="3148965" y="2052321"/>
            <a:ext cx="177800" cy="279400"/>
          </a:xfrm>
          <a:prstGeom prst="rect">
            <a:avLst/>
          </a:prstGeom>
        </p:spPr>
      </p:pic>
      <p:sp>
        <p:nvSpPr>
          <p:cNvPr id="5" name="Text 2"/>
          <p:cNvSpPr/>
          <p:nvPr/>
        </p:nvSpPr>
        <p:spPr>
          <a:xfrm>
            <a:off x="812800" y="2420621"/>
            <a:ext cx="4850130" cy="528320"/>
          </a:xfrm>
          <a:prstGeom prst="roundRect">
            <a:avLst>
              <a:gd name="adj" fmla="val 16827"/>
            </a:avLst>
          </a:prstGeom>
          <a:solidFill>
            <a:srgbClr val="5A3FD0"/>
          </a:solidFill>
          <a:ln/>
        </p:spPr>
        <p:txBody>
          <a:bodyPr wrap="square" lIns="32020" tIns="113662" rIns="32020" bIns="88262" rtlCol="0" anchor="t">
            <a:normAutofit/>
          </a:bodyPr>
          <a:lstStyle/>
          <a:p>
            <a:pPr algn="ctr" indent="0" marL="0">
              <a:lnSpc>
                <a:spcPts val="1960"/>
              </a:lnSpc>
              <a:buNone/>
            </a:pPr>
            <a:r>
              <a:rPr lang="en-US" sz="1400" b="1" dirty="0">
                <a:solidFill>
                  <a:srgbClr val="F6F5F1"/>
                </a:solidFill>
                <a:latin typeface="JetBrains Mono" pitchFamily="49" charset="0"/>
                <a:ea typeface="JetBrains Mono" pitchFamily="49" charset="-122"/>
                <a:cs typeface="JetBrains Mono" pitchFamily="49" charset="-120"/>
              </a:rPr>
              <a:t>kube-apiserver</a:t>
            </a:r>
            <a:endParaRPr lang="en-US" sz="1400" dirty="0"/>
          </a:p>
        </p:txBody>
      </p:sp>
      <p:pic>
        <p:nvPicPr>
          <p:cNvPr id="6" name="Image 1" descr="arrow-down">    </p:cNvPr>
          <p:cNvPicPr>
            <a:picLocks noChangeAspect="1"/>
          </p:cNvPicPr>
          <p:nvPr/>
        </p:nvPicPr>
        <p:blipFill>
          <a:blip r:embed="rId2"/>
          <a:srcRect l="0" r="0" t="0" b="0"/>
          <a:stretch/>
        </p:blipFill>
        <p:spPr>
          <a:xfrm>
            <a:off x="3148965" y="3037839"/>
            <a:ext cx="177800" cy="279400"/>
          </a:xfrm>
          <a:prstGeom prst="rect">
            <a:avLst/>
          </a:prstGeom>
        </p:spPr>
      </p:pic>
      <p:sp>
        <p:nvSpPr>
          <p:cNvPr id="7" name="Text 3"/>
          <p:cNvSpPr/>
          <p:nvPr/>
        </p:nvSpPr>
        <p:spPr>
          <a:xfrm>
            <a:off x="812800" y="3406139"/>
            <a:ext cx="1565910" cy="416560"/>
          </a:xfrm>
          <a:custGeom>
            <a:avLst/>
            <a:gdLst/>
            <a:ahLst/>
            <a:cxnLst/>
            <a:rect l="l" t="t" r="r" b="b"/>
            <a:pathLst>
              <a:path w="1565910" h="416560">
                <a:moveTo>
                  <a:pt x="88900" y="0"/>
                </a:moveTo>
                <a:lnTo>
                  <a:pt x="1477010" y="0"/>
                </a:lnTo>
                <a:arcTo hR="88900" wR="88900" stAng="16200000" swAng="5400000"/>
                <a:lnTo>
                  <a:pt x="1565910" y="327660"/>
                </a:lnTo>
                <a:arcTo hR="88900" wR="88900" stAng="0" swAng="5400000"/>
                <a:lnTo>
                  <a:pt x="88900" y="416560"/>
                </a:lnTo>
                <a:arcTo hR="88900" wR="88900" stAng="5400000" swAng="5400000"/>
                <a:lnTo>
                  <a:pt x="0" y="88900"/>
                </a:lnTo>
                <a:arcTo hR="88900" wR="88900" stAng="10800000" swAng="5400000"/>
                <a:close/>
              </a:path>
            </a:pathLst>
          </a:custGeom>
          <a:solidFill>
            <a:srgbClr val="121722"/>
          </a:solidFill>
          <a:ln/>
        </p:spPr>
        <p:txBody>
          <a:bodyPr wrap="square" lIns="50800" tIns="101600" rIns="50800" bIns="7620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etcd</a:t>
            </a:r>
            <a:endParaRPr lang="en-US" sz="1200" dirty="0"/>
          </a:p>
        </p:txBody>
      </p:sp>
      <p:sp>
        <p:nvSpPr>
          <p:cNvPr id="8" name="Text 4"/>
          <p:cNvSpPr/>
          <p:nvPr/>
        </p:nvSpPr>
        <p:spPr>
          <a:xfrm>
            <a:off x="2454910" y="3406139"/>
            <a:ext cx="1565910" cy="416560"/>
          </a:xfrm>
          <a:custGeom>
            <a:avLst/>
            <a:gdLst/>
            <a:ahLst/>
            <a:cxnLst/>
            <a:rect l="l" t="t" r="r" b="b"/>
            <a:pathLst>
              <a:path w="1565910" h="416560">
                <a:moveTo>
                  <a:pt x="88900" y="0"/>
                </a:moveTo>
                <a:lnTo>
                  <a:pt x="1477010" y="0"/>
                </a:lnTo>
                <a:arcTo hR="88900" wR="88900" stAng="16200000" swAng="5400000"/>
                <a:lnTo>
                  <a:pt x="1565910" y="327660"/>
                </a:lnTo>
                <a:arcTo hR="88900" wR="88900" stAng="0" swAng="5400000"/>
                <a:lnTo>
                  <a:pt x="88900" y="416560"/>
                </a:lnTo>
                <a:arcTo hR="88900" wR="88900" stAng="5400000" swAng="5400000"/>
                <a:lnTo>
                  <a:pt x="0" y="88900"/>
                </a:lnTo>
                <a:arcTo hR="88900" wR="88900" stAng="10800000" swAng="5400000"/>
                <a:close/>
              </a:path>
            </a:pathLst>
          </a:custGeom>
          <a:solidFill>
            <a:srgbClr val="E4DDFF"/>
          </a:solidFill>
          <a:ln/>
        </p:spPr>
        <p:txBody>
          <a:bodyPr wrap="square" lIns="50800" tIns="101600" rIns="50800" bIns="762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scheduler</a:t>
            </a:r>
            <a:endParaRPr lang="en-US" sz="1200" dirty="0"/>
          </a:p>
        </p:txBody>
      </p:sp>
      <p:sp>
        <p:nvSpPr>
          <p:cNvPr id="9" name="Text 5"/>
          <p:cNvSpPr/>
          <p:nvPr/>
        </p:nvSpPr>
        <p:spPr>
          <a:xfrm>
            <a:off x="4097020" y="3406139"/>
            <a:ext cx="1565910" cy="416560"/>
          </a:xfrm>
          <a:custGeom>
            <a:avLst/>
            <a:gdLst/>
            <a:ahLst/>
            <a:cxnLst/>
            <a:rect l="l" t="t" r="r" b="b"/>
            <a:pathLst>
              <a:path w="1565910" h="416560">
                <a:moveTo>
                  <a:pt x="88900" y="0"/>
                </a:moveTo>
                <a:lnTo>
                  <a:pt x="1477010" y="0"/>
                </a:lnTo>
                <a:arcTo hR="88900" wR="88900" stAng="16200000" swAng="5400000"/>
                <a:lnTo>
                  <a:pt x="1565910" y="327660"/>
                </a:lnTo>
                <a:arcTo hR="88900" wR="88900" stAng="0" swAng="5400000"/>
                <a:lnTo>
                  <a:pt x="88900" y="416560"/>
                </a:lnTo>
                <a:arcTo hR="88900" wR="88900" stAng="5400000" swAng="5400000"/>
                <a:lnTo>
                  <a:pt x="0" y="88900"/>
                </a:lnTo>
                <a:arcTo hR="88900" wR="88900" stAng="10800000" swAng="5400000"/>
                <a:close/>
              </a:path>
            </a:pathLst>
          </a:custGeom>
          <a:solidFill>
            <a:srgbClr val="E4DDFF"/>
          </a:solidFill>
          <a:ln/>
        </p:spPr>
        <p:txBody>
          <a:bodyPr wrap="square" lIns="50800" tIns="101600" rIns="50800" bIns="762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controllers</a:t>
            </a:r>
            <a:endParaRPr lang="en-US" sz="1200" dirty="0"/>
          </a:p>
        </p:txBody>
      </p:sp>
      <p:sp>
        <p:nvSpPr>
          <p:cNvPr id="10" name="Text 6"/>
          <p:cNvSpPr/>
          <p:nvPr/>
        </p:nvSpPr>
        <p:spPr>
          <a:xfrm>
            <a:off x="740048" y="3962400"/>
            <a:ext cx="4995634"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Everything talks through the API server. Only the API server reads and writes etcd.</a:t>
            </a:r>
            <a:endParaRPr lang="en-US" sz="1200" dirty="0"/>
          </a:p>
        </p:txBody>
      </p:sp>
      <p:sp>
        <p:nvSpPr>
          <p:cNvPr id="11" name="Shape 7"/>
          <p:cNvSpPr/>
          <p:nvPr/>
        </p:nvSpPr>
        <p:spPr>
          <a:xfrm>
            <a:off x="6018530" y="2143125"/>
            <a:ext cx="5360670" cy="0"/>
          </a:xfrm>
          <a:prstGeom prst="line">
            <a:avLst/>
          </a:prstGeom>
          <a:noFill/>
          <a:ln w="6350">
            <a:solidFill>
              <a:srgbClr val="E2DED5"/>
            </a:solidFill>
            <a:prstDash val="solid"/>
          </a:ln>
        </p:spPr>
      </p:sp>
      <p:sp>
        <p:nvSpPr>
          <p:cNvPr id="12" name="Text 8"/>
          <p:cNvSpPr/>
          <p:nvPr/>
        </p:nvSpPr>
        <p:spPr>
          <a:xfrm>
            <a:off x="6018530" y="1612900"/>
            <a:ext cx="5521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kube-apiserver</a:t>
            </a:r>
            <a:endParaRPr lang="en-US" sz="1200" dirty="0"/>
          </a:p>
        </p:txBody>
      </p:sp>
      <p:sp>
        <p:nvSpPr>
          <p:cNvPr id="13" name="Text 9"/>
          <p:cNvSpPr/>
          <p:nvPr/>
        </p:nvSpPr>
        <p:spPr>
          <a:xfrm>
            <a:off x="6018530" y="1851661"/>
            <a:ext cx="5521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front door: REST API, authentication, authorization, admission</a:t>
            </a:r>
            <a:endParaRPr lang="en-US" sz="1200" dirty="0"/>
          </a:p>
        </p:txBody>
      </p:sp>
      <p:sp>
        <p:nvSpPr>
          <p:cNvPr id="14" name="Shape 10"/>
          <p:cNvSpPr/>
          <p:nvPr/>
        </p:nvSpPr>
        <p:spPr>
          <a:xfrm>
            <a:off x="6018530" y="2752725"/>
            <a:ext cx="5360670" cy="0"/>
          </a:xfrm>
          <a:prstGeom prst="line">
            <a:avLst/>
          </a:prstGeom>
          <a:noFill/>
          <a:ln w="6350">
            <a:solidFill>
              <a:srgbClr val="E2DED5"/>
            </a:solidFill>
            <a:prstDash val="solid"/>
          </a:ln>
        </p:spPr>
      </p:sp>
      <p:sp>
        <p:nvSpPr>
          <p:cNvPr id="15" name="Text 11"/>
          <p:cNvSpPr/>
          <p:nvPr/>
        </p:nvSpPr>
        <p:spPr>
          <a:xfrm>
            <a:off x="6018530" y="2222500"/>
            <a:ext cx="5521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etcd</a:t>
            </a:r>
            <a:endParaRPr lang="en-US" sz="1200" dirty="0"/>
          </a:p>
        </p:txBody>
      </p:sp>
      <p:sp>
        <p:nvSpPr>
          <p:cNvPr id="16" name="Text 12"/>
          <p:cNvSpPr/>
          <p:nvPr/>
        </p:nvSpPr>
        <p:spPr>
          <a:xfrm>
            <a:off x="6018530" y="2461261"/>
            <a:ext cx="5521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Consistent key-value store — the cluster’s source of truth. Back it up.</a:t>
            </a:r>
            <a:endParaRPr lang="en-US" sz="1200" dirty="0"/>
          </a:p>
        </p:txBody>
      </p:sp>
      <p:sp>
        <p:nvSpPr>
          <p:cNvPr id="17" name="Shape 13"/>
          <p:cNvSpPr/>
          <p:nvPr/>
        </p:nvSpPr>
        <p:spPr>
          <a:xfrm>
            <a:off x="6018530" y="3362325"/>
            <a:ext cx="5360670" cy="0"/>
          </a:xfrm>
          <a:prstGeom prst="line">
            <a:avLst/>
          </a:prstGeom>
          <a:noFill/>
          <a:ln w="6350">
            <a:solidFill>
              <a:srgbClr val="E2DED5"/>
            </a:solidFill>
            <a:prstDash val="solid"/>
          </a:ln>
        </p:spPr>
      </p:sp>
      <p:sp>
        <p:nvSpPr>
          <p:cNvPr id="18" name="Text 14"/>
          <p:cNvSpPr/>
          <p:nvPr/>
        </p:nvSpPr>
        <p:spPr>
          <a:xfrm>
            <a:off x="6018530" y="2832100"/>
            <a:ext cx="5521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kube-scheduler</a:t>
            </a:r>
            <a:endParaRPr lang="en-US" sz="1200" dirty="0"/>
          </a:p>
        </p:txBody>
      </p:sp>
      <p:sp>
        <p:nvSpPr>
          <p:cNvPr id="19" name="Text 15"/>
          <p:cNvSpPr/>
          <p:nvPr/>
        </p:nvSpPr>
        <p:spPr>
          <a:xfrm>
            <a:off x="6018530" y="3070861"/>
            <a:ext cx="5521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Picks a node for every new Pod</a:t>
            </a:r>
            <a:endParaRPr lang="en-US" sz="1200" dirty="0"/>
          </a:p>
        </p:txBody>
      </p:sp>
      <p:sp>
        <p:nvSpPr>
          <p:cNvPr id="20" name="Shape 16"/>
          <p:cNvSpPr/>
          <p:nvPr/>
        </p:nvSpPr>
        <p:spPr>
          <a:xfrm>
            <a:off x="6018530" y="3971925"/>
            <a:ext cx="5360670" cy="0"/>
          </a:xfrm>
          <a:prstGeom prst="line">
            <a:avLst/>
          </a:prstGeom>
          <a:noFill/>
          <a:ln w="6350">
            <a:solidFill>
              <a:srgbClr val="E2DED5"/>
            </a:solidFill>
            <a:prstDash val="solid"/>
          </a:ln>
        </p:spPr>
      </p:sp>
      <p:sp>
        <p:nvSpPr>
          <p:cNvPr id="21" name="Text 17"/>
          <p:cNvSpPr/>
          <p:nvPr/>
        </p:nvSpPr>
        <p:spPr>
          <a:xfrm>
            <a:off x="6018530" y="3441700"/>
            <a:ext cx="5521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kube-controller-manager</a:t>
            </a:r>
            <a:endParaRPr lang="en-US" sz="1200" dirty="0"/>
          </a:p>
        </p:txBody>
      </p:sp>
      <p:sp>
        <p:nvSpPr>
          <p:cNvPr id="22" name="Text 18"/>
          <p:cNvSpPr/>
          <p:nvPr/>
        </p:nvSpPr>
        <p:spPr>
          <a:xfrm>
            <a:off x="6018530" y="3680461"/>
            <a:ext cx="5521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Runs the controllers that move actual state toward desired state</a:t>
            </a:r>
            <a:endParaRPr lang="en-US" sz="1200" dirty="0"/>
          </a:p>
        </p:txBody>
      </p:sp>
      <p:sp>
        <p:nvSpPr>
          <p:cNvPr id="23" name="Shape 19"/>
          <p:cNvSpPr/>
          <p:nvPr/>
        </p:nvSpPr>
        <p:spPr>
          <a:xfrm>
            <a:off x="6018530" y="4581525"/>
            <a:ext cx="5360670" cy="0"/>
          </a:xfrm>
          <a:prstGeom prst="line">
            <a:avLst/>
          </a:prstGeom>
          <a:noFill/>
          <a:ln w="6350">
            <a:solidFill>
              <a:srgbClr val="E2DED5"/>
            </a:solidFill>
            <a:prstDash val="solid"/>
          </a:ln>
        </p:spPr>
      </p:sp>
      <p:sp>
        <p:nvSpPr>
          <p:cNvPr id="24" name="Text 20"/>
          <p:cNvSpPr/>
          <p:nvPr/>
        </p:nvSpPr>
        <p:spPr>
          <a:xfrm>
            <a:off x="6018530" y="4051300"/>
            <a:ext cx="55214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cloud-controller-manager</a:t>
            </a:r>
            <a:endParaRPr lang="en-US" sz="1200" dirty="0"/>
          </a:p>
        </p:txBody>
      </p:sp>
      <p:sp>
        <p:nvSpPr>
          <p:cNvPr id="25" name="Text 21"/>
          <p:cNvSpPr/>
          <p:nvPr/>
        </p:nvSpPr>
        <p:spPr>
          <a:xfrm>
            <a:off x="6018530" y="4290061"/>
            <a:ext cx="55214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Talks to the cloud: load balancers, routes, node lifecycle</a:t>
            </a:r>
            <a:endParaRPr lang="en-US" sz="1200" dirty="0"/>
          </a:p>
        </p:txBody>
      </p:sp>
      <p:sp>
        <p:nvSpPr>
          <p:cNvPr id="26" name="Text 22"/>
          <p:cNvSpPr/>
          <p:nvPr/>
        </p:nvSpPr>
        <p:spPr>
          <a:xfrm>
            <a:off x="812800" y="6238239"/>
            <a:ext cx="4184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Architecture and setup</a:t>
            </a:r>
            <a:endParaRPr lang="en-US" sz="1200" dirty="0"/>
          </a:p>
        </p:txBody>
      </p:sp>
      <p:sp>
        <p:nvSpPr>
          <p:cNvPr id="27" name="Text 23"/>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Worker nodes</a:t>
            </a:r>
            <a:endParaRPr lang="en-US" sz="3000" dirty="0"/>
          </a:p>
        </p:txBody>
      </p:sp>
      <p:sp>
        <p:nvSpPr>
          <p:cNvPr id="3" name="Shape 1"/>
          <p:cNvSpPr/>
          <p:nvPr/>
        </p:nvSpPr>
        <p:spPr>
          <a:xfrm>
            <a:off x="819150" y="1543050"/>
            <a:ext cx="5280660" cy="3312160"/>
          </a:xfrm>
          <a:prstGeom prst="roundRect">
            <a:avLst>
              <a:gd name="adj" fmla="val 3259"/>
            </a:avLst>
          </a:prstGeom>
          <a:solidFill>
            <a:srgbClr val="FDFCFA"/>
          </a:solidFill>
          <a:ln w="12700">
            <a:solidFill>
              <a:srgbClr val="5A3FD0"/>
            </a:solidFill>
            <a:prstDash val="solid"/>
          </a:ln>
        </p:spPr>
      </p:sp>
      <p:sp>
        <p:nvSpPr>
          <p:cNvPr id="4" name="Text 2"/>
          <p:cNvSpPr/>
          <p:nvPr/>
        </p:nvSpPr>
        <p:spPr>
          <a:xfrm>
            <a:off x="1000760" y="1699261"/>
            <a:ext cx="506496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3FD0"/>
                </a:solidFill>
                <a:latin typeface="IBM Plex Sans" pitchFamily="34" charset="0"/>
                <a:ea typeface="IBM Plex Sans" pitchFamily="34" charset="-122"/>
                <a:cs typeface="IBM Plex Sans" pitchFamily="34" charset="-120"/>
              </a:rPr>
              <a:t>NODE</a:t>
            </a:r>
            <a:endParaRPr lang="en-US" sz="1200" dirty="0"/>
          </a:p>
        </p:txBody>
      </p:sp>
      <p:sp>
        <p:nvSpPr>
          <p:cNvPr id="5" name="Text 3"/>
          <p:cNvSpPr/>
          <p:nvPr/>
        </p:nvSpPr>
        <p:spPr>
          <a:xfrm>
            <a:off x="1000760" y="2001521"/>
            <a:ext cx="2420620" cy="365760"/>
          </a:xfrm>
          <a:prstGeom prst="roundRect">
            <a:avLst>
              <a:gd name="adj" fmla="val 20833"/>
            </a:avLst>
          </a:prstGeom>
          <a:solidFill>
            <a:srgbClr val="E4DDFF"/>
          </a:solidFill>
          <a:ln/>
        </p:spPr>
        <p:txBody>
          <a:bodyPr wrap="square" lIns="46020" tIns="53882" rIns="46020" bIns="28482"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Pod · web</a:t>
            </a:r>
            <a:endParaRPr lang="en-US" sz="1200" dirty="0"/>
          </a:p>
        </p:txBody>
      </p:sp>
      <p:sp>
        <p:nvSpPr>
          <p:cNvPr id="6" name="Text 4"/>
          <p:cNvSpPr/>
          <p:nvPr/>
        </p:nvSpPr>
        <p:spPr>
          <a:xfrm>
            <a:off x="3497580" y="2001521"/>
            <a:ext cx="2420620" cy="365760"/>
          </a:xfrm>
          <a:prstGeom prst="roundRect">
            <a:avLst>
              <a:gd name="adj" fmla="val 20833"/>
            </a:avLst>
          </a:prstGeom>
          <a:solidFill>
            <a:srgbClr val="E4DDFF"/>
          </a:solidFill>
          <a:ln/>
        </p:spPr>
        <p:txBody>
          <a:bodyPr wrap="square" lIns="46020" tIns="53882" rIns="46020" bIns="28482"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Pod · api</a:t>
            </a:r>
            <a:endParaRPr lang="en-US" sz="1200" dirty="0"/>
          </a:p>
        </p:txBody>
      </p:sp>
      <p:sp>
        <p:nvSpPr>
          <p:cNvPr id="7" name="Shape 5"/>
          <p:cNvSpPr/>
          <p:nvPr/>
        </p:nvSpPr>
        <p:spPr>
          <a:xfrm>
            <a:off x="1000760" y="2456182"/>
            <a:ext cx="4917440" cy="830580"/>
          </a:xfrm>
          <a:prstGeom prst="roundRect">
            <a:avLst>
              <a:gd name="adj" fmla="val 9174"/>
            </a:avLst>
          </a:prstGeom>
          <a:solidFill>
            <a:srgbClr val="ECE9E2"/>
          </a:solidFill>
          <a:ln/>
        </p:spPr>
      </p:sp>
      <p:sp>
        <p:nvSpPr>
          <p:cNvPr id="8" name="Text 6"/>
          <p:cNvSpPr/>
          <p:nvPr/>
        </p:nvSpPr>
        <p:spPr>
          <a:xfrm>
            <a:off x="1115060" y="2545082"/>
            <a:ext cx="48295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kubelet</a:t>
            </a:r>
            <a:endParaRPr lang="en-US" sz="1200" dirty="0"/>
          </a:p>
        </p:txBody>
      </p:sp>
      <p:sp>
        <p:nvSpPr>
          <p:cNvPr id="9" name="Text 7"/>
          <p:cNvSpPr/>
          <p:nvPr/>
        </p:nvSpPr>
        <p:spPr>
          <a:xfrm>
            <a:off x="1115060" y="2771139"/>
            <a:ext cx="48295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Node agent: runs the Pods assigned here, runs probes, reports status</a:t>
            </a:r>
            <a:endParaRPr lang="en-US" sz="1200" dirty="0"/>
          </a:p>
        </p:txBody>
      </p:sp>
      <p:sp>
        <p:nvSpPr>
          <p:cNvPr id="10" name="Shape 8"/>
          <p:cNvSpPr/>
          <p:nvPr/>
        </p:nvSpPr>
        <p:spPr>
          <a:xfrm>
            <a:off x="1000760" y="3375661"/>
            <a:ext cx="4917440" cy="617220"/>
          </a:xfrm>
          <a:prstGeom prst="roundRect">
            <a:avLst>
              <a:gd name="adj" fmla="val 12346"/>
            </a:avLst>
          </a:prstGeom>
          <a:solidFill>
            <a:srgbClr val="ECE9E2"/>
          </a:solidFill>
          <a:ln/>
        </p:spPr>
      </p:sp>
      <p:sp>
        <p:nvSpPr>
          <p:cNvPr id="11" name="Text 9"/>
          <p:cNvSpPr/>
          <p:nvPr/>
        </p:nvSpPr>
        <p:spPr>
          <a:xfrm>
            <a:off x="1115060" y="3464561"/>
            <a:ext cx="48295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container runtime (CRI)</a:t>
            </a:r>
            <a:endParaRPr lang="en-US" sz="1200" dirty="0"/>
          </a:p>
        </p:txBody>
      </p:sp>
      <p:sp>
        <p:nvSpPr>
          <p:cNvPr id="12" name="Text 10"/>
          <p:cNvSpPr/>
          <p:nvPr/>
        </p:nvSpPr>
        <p:spPr>
          <a:xfrm>
            <a:off x="1115060" y="3690621"/>
            <a:ext cx="48295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containerd or CRI-O pull images and start containers</a:t>
            </a:r>
            <a:endParaRPr lang="en-US" sz="1200" dirty="0"/>
          </a:p>
        </p:txBody>
      </p:sp>
      <p:sp>
        <p:nvSpPr>
          <p:cNvPr id="13" name="Shape 11"/>
          <p:cNvSpPr/>
          <p:nvPr/>
        </p:nvSpPr>
        <p:spPr>
          <a:xfrm>
            <a:off x="1000760" y="4081782"/>
            <a:ext cx="4917440" cy="617220"/>
          </a:xfrm>
          <a:prstGeom prst="roundRect">
            <a:avLst>
              <a:gd name="adj" fmla="val 12346"/>
            </a:avLst>
          </a:prstGeom>
          <a:solidFill>
            <a:srgbClr val="ECE9E2"/>
          </a:solidFill>
          <a:ln/>
        </p:spPr>
      </p:sp>
      <p:sp>
        <p:nvSpPr>
          <p:cNvPr id="14" name="Text 12"/>
          <p:cNvSpPr/>
          <p:nvPr/>
        </p:nvSpPr>
        <p:spPr>
          <a:xfrm>
            <a:off x="1115060" y="4170682"/>
            <a:ext cx="48295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kube-proxy + CNI plugin</a:t>
            </a:r>
            <a:endParaRPr lang="en-US" sz="1200" dirty="0"/>
          </a:p>
        </p:txBody>
      </p:sp>
      <p:sp>
        <p:nvSpPr>
          <p:cNvPr id="15" name="Text 13"/>
          <p:cNvSpPr/>
          <p:nvPr/>
        </p:nvSpPr>
        <p:spPr>
          <a:xfrm>
            <a:off x="1115060" y="4396739"/>
            <a:ext cx="48295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Every Pod gets an IP; Service traffic is routed to it</a:t>
            </a:r>
            <a:endParaRPr lang="en-US" sz="1200" dirty="0"/>
          </a:p>
        </p:txBody>
      </p:sp>
      <p:sp>
        <p:nvSpPr>
          <p:cNvPr id="16" name="Text 14"/>
          <p:cNvSpPr/>
          <p:nvPr/>
        </p:nvSpPr>
        <p:spPr>
          <a:xfrm>
            <a:off x="6461760" y="1536700"/>
            <a:ext cx="50649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What happens on kubectl apply</a:t>
            </a:r>
            <a:endParaRPr lang="en-US" sz="1800" dirty="0"/>
          </a:p>
        </p:txBody>
      </p:sp>
      <p:sp>
        <p:nvSpPr>
          <p:cNvPr id="17" name="Text 15"/>
          <p:cNvSpPr/>
          <p:nvPr/>
        </p:nvSpPr>
        <p:spPr>
          <a:xfrm>
            <a:off x="6461760" y="1963421"/>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1</a:t>
            </a:r>
            <a:endParaRPr lang="en-US" sz="1200" dirty="0"/>
          </a:p>
        </p:txBody>
      </p:sp>
      <p:sp>
        <p:nvSpPr>
          <p:cNvPr id="18" name="Text 16"/>
          <p:cNvSpPr/>
          <p:nvPr/>
        </p:nvSpPr>
        <p:spPr>
          <a:xfrm>
            <a:off x="6804660" y="1938021"/>
            <a:ext cx="47117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kubectl sends the manifest to the API server</a:t>
            </a:r>
            <a:endParaRPr lang="en-US" sz="1400" dirty="0"/>
          </a:p>
        </p:txBody>
      </p:sp>
      <p:sp>
        <p:nvSpPr>
          <p:cNvPr id="19" name="Text 17"/>
          <p:cNvSpPr/>
          <p:nvPr/>
        </p:nvSpPr>
        <p:spPr>
          <a:xfrm>
            <a:off x="6461760" y="2288539"/>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2</a:t>
            </a:r>
            <a:endParaRPr lang="en-US" sz="1200" dirty="0"/>
          </a:p>
        </p:txBody>
      </p:sp>
      <p:sp>
        <p:nvSpPr>
          <p:cNvPr id="20" name="Text 18"/>
          <p:cNvSpPr/>
          <p:nvPr/>
        </p:nvSpPr>
        <p:spPr>
          <a:xfrm>
            <a:off x="6804660" y="2263139"/>
            <a:ext cx="47117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 API server validates it and stores it in etcd</a:t>
            </a:r>
            <a:endParaRPr lang="en-US" sz="1400" dirty="0"/>
          </a:p>
        </p:txBody>
      </p:sp>
      <p:sp>
        <p:nvSpPr>
          <p:cNvPr id="21" name="Text 19"/>
          <p:cNvSpPr/>
          <p:nvPr/>
        </p:nvSpPr>
        <p:spPr>
          <a:xfrm>
            <a:off x="6461760" y="2613661"/>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3</a:t>
            </a:r>
            <a:endParaRPr lang="en-US" sz="1200" dirty="0"/>
          </a:p>
        </p:txBody>
      </p:sp>
      <p:sp>
        <p:nvSpPr>
          <p:cNvPr id="22" name="Text 20"/>
          <p:cNvSpPr/>
          <p:nvPr/>
        </p:nvSpPr>
        <p:spPr>
          <a:xfrm>
            <a:off x="6804660" y="2588261"/>
            <a:ext cx="47117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 scheduler binds each new Pod to a node</a:t>
            </a:r>
            <a:endParaRPr lang="en-US" sz="1400" dirty="0"/>
          </a:p>
        </p:txBody>
      </p:sp>
      <p:sp>
        <p:nvSpPr>
          <p:cNvPr id="23" name="Text 21"/>
          <p:cNvSpPr/>
          <p:nvPr/>
        </p:nvSpPr>
        <p:spPr>
          <a:xfrm>
            <a:off x="6461760" y="2938782"/>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4</a:t>
            </a:r>
            <a:endParaRPr lang="en-US" sz="1200" dirty="0"/>
          </a:p>
        </p:txBody>
      </p:sp>
      <p:sp>
        <p:nvSpPr>
          <p:cNvPr id="24" name="Text 22"/>
          <p:cNvSpPr/>
          <p:nvPr/>
        </p:nvSpPr>
        <p:spPr>
          <a:xfrm>
            <a:off x="6804660" y="2913382"/>
            <a:ext cx="47117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That node’s kubelet asks the runtime to start the containers</a:t>
            </a:r>
            <a:endParaRPr lang="en-US" sz="1400" dirty="0"/>
          </a:p>
        </p:txBody>
      </p:sp>
      <p:sp>
        <p:nvSpPr>
          <p:cNvPr id="25" name="Text 23"/>
          <p:cNvSpPr/>
          <p:nvPr/>
        </p:nvSpPr>
        <p:spPr>
          <a:xfrm>
            <a:off x="6461760" y="3512821"/>
            <a:ext cx="2794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5</a:t>
            </a:r>
            <a:endParaRPr lang="en-US" sz="1200" dirty="0"/>
          </a:p>
        </p:txBody>
      </p:sp>
      <p:sp>
        <p:nvSpPr>
          <p:cNvPr id="26" name="Text 24"/>
          <p:cNvSpPr/>
          <p:nvPr/>
        </p:nvSpPr>
        <p:spPr>
          <a:xfrm>
            <a:off x="6804660" y="3487421"/>
            <a:ext cx="47117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 Pod gets an IP and starts receiving Service traffic once ready</a:t>
            </a:r>
            <a:endParaRPr lang="en-US" sz="1400" dirty="0"/>
          </a:p>
        </p:txBody>
      </p:sp>
      <p:sp>
        <p:nvSpPr>
          <p:cNvPr id="27" name="Text 25"/>
          <p:cNvSpPr/>
          <p:nvPr/>
        </p:nvSpPr>
        <p:spPr>
          <a:xfrm>
            <a:off x="812800" y="6238239"/>
            <a:ext cx="4184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Architecture and setup</a:t>
            </a:r>
            <a:endParaRPr lang="en-US" sz="1200" dirty="0"/>
          </a:p>
        </p:txBody>
      </p:sp>
      <p:sp>
        <p:nvSpPr>
          <p:cNvPr id="28" name="Text 26"/>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Where to run a cluster</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0" cy="1864360"/>
        </p:xfrm>
        <a:graphic>
          <a:graphicData uri="http://schemas.openxmlformats.org/drawingml/2006/table">
            <a:tbl>
              <a:tblPr/>
              <a:tblGrid>
                <a:gridCol w="2111248"/>
                <a:gridCol w="4644746"/>
                <a:gridCol w="3800246"/>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What it 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Good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Kubernetes nodes running as Docker containers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Labs, CI and quick multi-node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minikube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local cluster with handy add-ons and a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Learning and local development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k3s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lightweight, certified distribution in a single binary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Edge, IoT, Raspberry Pi, small servers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EKS · GKE · AKS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Managed control plane on AWS, Google Cloud or Azure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Production — the provider runs etcd and the API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3614421"/>
            <a:ext cx="5784374" cy="2123440"/>
          </a:xfrm>
          <a:prstGeom prst="roundRect">
            <a:avLst>
              <a:gd name="adj" fmla="val 4785"/>
            </a:avLst>
          </a:prstGeom>
          <a:solidFill>
            <a:srgbClr val="161B26"/>
          </a:solidFill>
          <a:ln/>
        </p:spPr>
        <p:txBody>
          <a:bodyPr wrap="none" lIns="198842" tIns="148042" rIns="39027" bIns="122642" rtlCol="0" anchor="t">
            <a:normAutofit/>
          </a:bodyPr>
          <a:lstStyle/>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kind.yaml — one control plane, two workers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Cluster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kind.x-k8s.io/v1alpha4</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name: lab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nodes: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role: control-plane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role: worker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role: worker</a:t>
            </a:r>
            <a:endParaRPr lang="en-US" sz="1200" dirty="0"/>
          </a:p>
        </p:txBody>
      </p:sp>
      <p:sp>
        <p:nvSpPr>
          <p:cNvPr id="5" name="Text 2"/>
          <p:cNvSpPr/>
          <p:nvPr/>
        </p:nvSpPr>
        <p:spPr>
          <a:xfrm>
            <a:off x="6851174" y="3614421"/>
            <a:ext cx="4528026" cy="391160"/>
          </a:xfrm>
          <a:prstGeom prst="roundRect">
            <a:avLst>
              <a:gd name="adj" fmla="val 16234"/>
            </a:avLst>
          </a:prstGeom>
          <a:solidFill>
            <a:srgbClr val="161B26"/>
          </a:solidFill>
          <a:ln/>
        </p:spPr>
        <p:txBody>
          <a:bodyPr wrap="none" lIns="108401" tIns="70301" rIns="0" bIns="44901" rtlCol="0" anchor="t">
            <a:normAutofit/>
          </a:bodyPr>
          <a:lstStyle/>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kind create cluster --config kind.yaml</a:t>
            </a:r>
            <a:endParaRPr lang="en-US" sz="1200" dirty="0"/>
          </a:p>
        </p:txBody>
      </p:sp>
      <p:sp>
        <p:nvSpPr>
          <p:cNvPr id="6" name="Text 3"/>
          <p:cNvSpPr/>
          <p:nvPr/>
        </p:nvSpPr>
        <p:spPr>
          <a:xfrm>
            <a:off x="6851174" y="4107182"/>
            <a:ext cx="4528026" cy="391160"/>
          </a:xfrm>
          <a:prstGeom prst="roundRect">
            <a:avLst>
              <a:gd name="adj" fmla="val 16234"/>
            </a:avLst>
          </a:prstGeom>
          <a:solidFill>
            <a:srgbClr val="161B26"/>
          </a:solidFill>
          <a:ln/>
        </p:spPr>
        <p:txBody>
          <a:bodyPr wrap="none" lIns="108401" tIns="70301" rIns="0" bIns="44901" rtlCol="0" anchor="t">
            <a:normAutofit/>
          </a:bodyPr>
          <a:lstStyle/>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kubectl get nodes</a:t>
            </a:r>
            <a:endParaRPr lang="en-US" sz="1200" dirty="0"/>
          </a:p>
        </p:txBody>
      </p:sp>
      <p:sp>
        <p:nvSpPr>
          <p:cNvPr id="7" name="Text 4"/>
          <p:cNvSpPr/>
          <p:nvPr/>
        </p:nvSpPr>
        <p:spPr>
          <a:xfrm>
            <a:off x="6851174" y="4599939"/>
            <a:ext cx="46638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Three “nodes” on your laptop — enough to see scheduling, spreading and node failure.</a:t>
            </a:r>
            <a:endParaRPr lang="en-US" sz="1400" dirty="0"/>
          </a:p>
        </p:txBody>
      </p:sp>
      <p:sp>
        <p:nvSpPr>
          <p:cNvPr id="8" name="Text 5"/>
          <p:cNvSpPr/>
          <p:nvPr/>
        </p:nvSpPr>
        <p:spPr>
          <a:xfrm>
            <a:off x="812800" y="6238239"/>
            <a:ext cx="4184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Architecture and setup</a:t>
            </a:r>
            <a:endParaRPr lang="en-US" sz="1200" dirty="0"/>
          </a:p>
        </p:txBody>
      </p:sp>
      <p:sp>
        <p:nvSpPr>
          <p:cNvPr id="9" name="Text 6"/>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kubectl and kubeconfig</a:t>
            </a:r>
            <a:endParaRPr lang="en-US" sz="3000" dirty="0"/>
          </a:p>
        </p:txBody>
      </p:sp>
      <p:sp>
        <p:nvSpPr>
          <p:cNvPr id="3" name="Shape 1"/>
          <p:cNvSpPr/>
          <p:nvPr/>
        </p:nvSpPr>
        <p:spPr>
          <a:xfrm>
            <a:off x="812800" y="1866265"/>
            <a:ext cx="5631656" cy="0"/>
          </a:xfrm>
          <a:prstGeom prst="line">
            <a:avLst/>
          </a:prstGeom>
          <a:noFill/>
          <a:ln w="6350">
            <a:solidFill>
              <a:srgbClr val="E2DED5"/>
            </a:solidFill>
            <a:prstDash val="solid"/>
          </a:ln>
        </p:spPr>
      </p:sp>
      <p:sp>
        <p:nvSpPr>
          <p:cNvPr id="4" name="Text 2"/>
          <p:cNvSpPr/>
          <p:nvPr/>
        </p:nvSpPr>
        <p:spPr>
          <a:xfrm>
            <a:off x="812800" y="1593850"/>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get pods -A</a:t>
            </a:r>
            <a:endParaRPr lang="en-US" sz="1200" dirty="0"/>
          </a:p>
        </p:txBody>
      </p:sp>
      <p:sp>
        <p:nvSpPr>
          <p:cNvPr id="5" name="Text 3"/>
          <p:cNvSpPr/>
          <p:nvPr/>
        </p:nvSpPr>
        <p:spPr>
          <a:xfrm>
            <a:off x="3949700" y="1593850"/>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Pods in every namespace</a:t>
            </a:r>
            <a:endParaRPr lang="en-US" sz="1200" dirty="0"/>
          </a:p>
        </p:txBody>
      </p:sp>
      <p:sp>
        <p:nvSpPr>
          <p:cNvPr id="6" name="Shape 4"/>
          <p:cNvSpPr/>
          <p:nvPr/>
        </p:nvSpPr>
        <p:spPr>
          <a:xfrm>
            <a:off x="812800" y="2199004"/>
            <a:ext cx="5631656" cy="0"/>
          </a:xfrm>
          <a:prstGeom prst="line">
            <a:avLst/>
          </a:prstGeom>
          <a:noFill/>
          <a:ln w="6350">
            <a:solidFill>
              <a:srgbClr val="E2DED5"/>
            </a:solidFill>
            <a:prstDash val="solid"/>
          </a:ln>
        </p:spPr>
      </p:sp>
      <p:sp>
        <p:nvSpPr>
          <p:cNvPr id="7" name="Text 5"/>
          <p:cNvSpPr/>
          <p:nvPr/>
        </p:nvSpPr>
        <p:spPr>
          <a:xfrm>
            <a:off x="812800" y="1926589"/>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describe pod &lt;name&gt;</a:t>
            </a:r>
            <a:endParaRPr lang="en-US" sz="1200" dirty="0"/>
          </a:p>
        </p:txBody>
      </p:sp>
      <p:sp>
        <p:nvSpPr>
          <p:cNvPr id="8" name="Text 6"/>
          <p:cNvSpPr/>
          <p:nvPr/>
        </p:nvSpPr>
        <p:spPr>
          <a:xfrm>
            <a:off x="3949700" y="1926589"/>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Details plus recent events</a:t>
            </a:r>
            <a:endParaRPr lang="en-US" sz="1200" dirty="0"/>
          </a:p>
        </p:txBody>
      </p:sp>
      <p:sp>
        <p:nvSpPr>
          <p:cNvPr id="9" name="Shape 7"/>
          <p:cNvSpPr/>
          <p:nvPr/>
        </p:nvSpPr>
        <p:spPr>
          <a:xfrm>
            <a:off x="812800" y="2531747"/>
            <a:ext cx="5631656" cy="0"/>
          </a:xfrm>
          <a:prstGeom prst="line">
            <a:avLst/>
          </a:prstGeom>
          <a:noFill/>
          <a:ln w="6350">
            <a:solidFill>
              <a:srgbClr val="E2DED5"/>
            </a:solidFill>
            <a:prstDash val="solid"/>
          </a:ln>
        </p:spPr>
      </p:sp>
      <p:sp>
        <p:nvSpPr>
          <p:cNvPr id="10" name="Text 8"/>
          <p:cNvSpPr/>
          <p:nvPr/>
        </p:nvSpPr>
        <p:spPr>
          <a:xfrm>
            <a:off x="812800" y="2259332"/>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logs -f deploy/web</a:t>
            </a:r>
            <a:endParaRPr lang="en-US" sz="1200" dirty="0"/>
          </a:p>
        </p:txBody>
      </p:sp>
      <p:sp>
        <p:nvSpPr>
          <p:cNvPr id="11" name="Text 9"/>
          <p:cNvSpPr/>
          <p:nvPr/>
        </p:nvSpPr>
        <p:spPr>
          <a:xfrm>
            <a:off x="3949700" y="2259332"/>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Follow logs</a:t>
            </a:r>
            <a:endParaRPr lang="en-US" sz="1200" dirty="0"/>
          </a:p>
        </p:txBody>
      </p:sp>
      <p:sp>
        <p:nvSpPr>
          <p:cNvPr id="12" name="Shape 10"/>
          <p:cNvSpPr/>
          <p:nvPr/>
        </p:nvSpPr>
        <p:spPr>
          <a:xfrm>
            <a:off x="812800" y="2864486"/>
            <a:ext cx="5631656" cy="0"/>
          </a:xfrm>
          <a:prstGeom prst="line">
            <a:avLst/>
          </a:prstGeom>
          <a:noFill/>
          <a:ln w="6350">
            <a:solidFill>
              <a:srgbClr val="E2DED5"/>
            </a:solidFill>
            <a:prstDash val="solid"/>
          </a:ln>
        </p:spPr>
      </p:sp>
      <p:sp>
        <p:nvSpPr>
          <p:cNvPr id="13" name="Text 11"/>
          <p:cNvSpPr/>
          <p:nvPr/>
        </p:nvSpPr>
        <p:spPr>
          <a:xfrm>
            <a:off x="812800" y="2592071"/>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exec -it &lt;pod&gt; -- sh</a:t>
            </a:r>
            <a:endParaRPr lang="en-US" sz="1200" dirty="0"/>
          </a:p>
        </p:txBody>
      </p:sp>
      <p:sp>
        <p:nvSpPr>
          <p:cNvPr id="14" name="Text 12"/>
          <p:cNvSpPr/>
          <p:nvPr/>
        </p:nvSpPr>
        <p:spPr>
          <a:xfrm>
            <a:off x="3949700" y="2592071"/>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Shell inside a container</a:t>
            </a:r>
            <a:endParaRPr lang="en-US" sz="1200" dirty="0"/>
          </a:p>
        </p:txBody>
      </p:sp>
      <p:sp>
        <p:nvSpPr>
          <p:cNvPr id="15" name="Shape 13"/>
          <p:cNvSpPr/>
          <p:nvPr/>
        </p:nvSpPr>
        <p:spPr>
          <a:xfrm>
            <a:off x="812800" y="3197226"/>
            <a:ext cx="5631656" cy="0"/>
          </a:xfrm>
          <a:prstGeom prst="line">
            <a:avLst/>
          </a:prstGeom>
          <a:noFill/>
          <a:ln w="6350">
            <a:solidFill>
              <a:srgbClr val="E2DED5"/>
            </a:solidFill>
            <a:prstDash val="solid"/>
          </a:ln>
        </p:spPr>
      </p:sp>
      <p:sp>
        <p:nvSpPr>
          <p:cNvPr id="16" name="Text 14"/>
          <p:cNvSpPr/>
          <p:nvPr/>
        </p:nvSpPr>
        <p:spPr>
          <a:xfrm>
            <a:off x="812800" y="2924811"/>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apply -f app.yaml</a:t>
            </a:r>
            <a:endParaRPr lang="en-US" sz="1200" dirty="0"/>
          </a:p>
        </p:txBody>
      </p:sp>
      <p:sp>
        <p:nvSpPr>
          <p:cNvPr id="17" name="Text 15"/>
          <p:cNvSpPr/>
          <p:nvPr/>
        </p:nvSpPr>
        <p:spPr>
          <a:xfrm>
            <a:off x="3949700" y="2924811"/>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Create or update from a file</a:t>
            </a:r>
            <a:endParaRPr lang="en-US" sz="1200" dirty="0"/>
          </a:p>
        </p:txBody>
      </p:sp>
      <p:sp>
        <p:nvSpPr>
          <p:cNvPr id="18" name="Shape 16"/>
          <p:cNvSpPr/>
          <p:nvPr/>
        </p:nvSpPr>
        <p:spPr>
          <a:xfrm>
            <a:off x="812800" y="3529965"/>
            <a:ext cx="5631656" cy="0"/>
          </a:xfrm>
          <a:prstGeom prst="line">
            <a:avLst/>
          </a:prstGeom>
          <a:noFill/>
          <a:ln w="6350">
            <a:solidFill>
              <a:srgbClr val="E2DED5"/>
            </a:solidFill>
            <a:prstDash val="solid"/>
          </a:ln>
        </p:spPr>
      </p:sp>
      <p:sp>
        <p:nvSpPr>
          <p:cNvPr id="19" name="Text 17"/>
          <p:cNvSpPr/>
          <p:nvPr/>
        </p:nvSpPr>
        <p:spPr>
          <a:xfrm>
            <a:off x="812800" y="3257550"/>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delete -f app.yaml</a:t>
            </a:r>
            <a:endParaRPr lang="en-US" sz="1200" dirty="0"/>
          </a:p>
        </p:txBody>
      </p:sp>
      <p:sp>
        <p:nvSpPr>
          <p:cNvPr id="20" name="Text 18"/>
          <p:cNvSpPr/>
          <p:nvPr/>
        </p:nvSpPr>
        <p:spPr>
          <a:xfrm>
            <a:off x="3949700" y="3257550"/>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Delete what the file describes</a:t>
            </a:r>
            <a:endParaRPr lang="en-US" sz="1200" dirty="0"/>
          </a:p>
        </p:txBody>
      </p:sp>
      <p:sp>
        <p:nvSpPr>
          <p:cNvPr id="21" name="Shape 19"/>
          <p:cNvSpPr/>
          <p:nvPr/>
        </p:nvSpPr>
        <p:spPr>
          <a:xfrm>
            <a:off x="812800" y="3862704"/>
            <a:ext cx="5631656" cy="0"/>
          </a:xfrm>
          <a:prstGeom prst="line">
            <a:avLst/>
          </a:prstGeom>
          <a:noFill/>
          <a:ln w="6350">
            <a:solidFill>
              <a:srgbClr val="E2DED5"/>
            </a:solidFill>
            <a:prstDash val="solid"/>
          </a:ln>
        </p:spPr>
      </p:sp>
      <p:sp>
        <p:nvSpPr>
          <p:cNvPr id="22" name="Text 20"/>
          <p:cNvSpPr/>
          <p:nvPr/>
        </p:nvSpPr>
        <p:spPr>
          <a:xfrm>
            <a:off x="812800" y="3590289"/>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get deploy web -o yaml</a:t>
            </a:r>
            <a:endParaRPr lang="en-US" sz="1200" dirty="0"/>
          </a:p>
        </p:txBody>
      </p:sp>
      <p:sp>
        <p:nvSpPr>
          <p:cNvPr id="23" name="Text 21"/>
          <p:cNvSpPr/>
          <p:nvPr/>
        </p:nvSpPr>
        <p:spPr>
          <a:xfrm>
            <a:off x="3949700" y="3590289"/>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stored object, status included</a:t>
            </a:r>
            <a:endParaRPr lang="en-US" sz="1200" dirty="0"/>
          </a:p>
        </p:txBody>
      </p:sp>
      <p:sp>
        <p:nvSpPr>
          <p:cNvPr id="24" name="Shape 22"/>
          <p:cNvSpPr/>
          <p:nvPr/>
        </p:nvSpPr>
        <p:spPr>
          <a:xfrm>
            <a:off x="812800" y="4195447"/>
            <a:ext cx="5631656" cy="0"/>
          </a:xfrm>
          <a:prstGeom prst="line">
            <a:avLst/>
          </a:prstGeom>
          <a:noFill/>
          <a:ln w="6350">
            <a:solidFill>
              <a:srgbClr val="E2DED5"/>
            </a:solidFill>
            <a:prstDash val="solid"/>
          </a:ln>
        </p:spPr>
      </p:sp>
      <p:sp>
        <p:nvSpPr>
          <p:cNvPr id="25" name="Text 23"/>
          <p:cNvSpPr/>
          <p:nvPr/>
        </p:nvSpPr>
        <p:spPr>
          <a:xfrm>
            <a:off x="812800" y="3923032"/>
            <a:ext cx="30740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kubectl explain deployment.spec</a:t>
            </a:r>
            <a:endParaRPr lang="en-US" sz="1200" dirty="0"/>
          </a:p>
        </p:txBody>
      </p:sp>
      <p:sp>
        <p:nvSpPr>
          <p:cNvPr id="26" name="Text 24"/>
          <p:cNvSpPr/>
          <p:nvPr/>
        </p:nvSpPr>
        <p:spPr>
          <a:xfrm>
            <a:off x="3949700" y="3923032"/>
            <a:ext cx="25695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Built-in API docs</a:t>
            </a:r>
            <a:endParaRPr lang="en-US" sz="1200" dirty="0"/>
          </a:p>
        </p:txBody>
      </p:sp>
      <p:sp>
        <p:nvSpPr>
          <p:cNvPr id="27" name="Text 25"/>
          <p:cNvSpPr/>
          <p:nvPr/>
        </p:nvSpPr>
        <p:spPr>
          <a:xfrm>
            <a:off x="812800" y="4300221"/>
            <a:ext cx="59872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Tips: -w watches for changes, -o wide adds columns, alias k=kubectl saves typing.</a:t>
            </a:r>
            <a:endParaRPr lang="en-US" sz="1200" dirty="0"/>
          </a:p>
        </p:txBody>
      </p:sp>
      <p:sp>
        <p:nvSpPr>
          <p:cNvPr id="28" name="Shape 26"/>
          <p:cNvSpPr/>
          <p:nvPr/>
        </p:nvSpPr>
        <p:spPr>
          <a:xfrm>
            <a:off x="6803231" y="1539875"/>
            <a:ext cx="4572794" cy="2970530"/>
          </a:xfrm>
          <a:prstGeom prst="roundRect">
            <a:avLst>
              <a:gd name="adj" fmla="val 3313"/>
            </a:avLst>
          </a:prstGeom>
          <a:solidFill>
            <a:srgbClr val="FDFCFA"/>
          </a:solidFill>
          <a:ln w="6350">
            <a:solidFill>
              <a:srgbClr val="E2DED5"/>
            </a:solidFill>
            <a:prstDash val="solid"/>
          </a:ln>
        </p:spPr>
      </p:sp>
      <p:sp>
        <p:nvSpPr>
          <p:cNvPr id="29" name="Text 27"/>
          <p:cNvSpPr/>
          <p:nvPr/>
        </p:nvSpPr>
        <p:spPr>
          <a:xfrm>
            <a:off x="7008337" y="1719582"/>
            <a:ext cx="42874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kubeconfig</a:t>
            </a:r>
            <a:endParaRPr lang="en-US" sz="1800" dirty="0"/>
          </a:p>
        </p:txBody>
      </p:sp>
      <p:sp>
        <p:nvSpPr>
          <p:cNvPr id="30" name="Text 28"/>
          <p:cNvSpPr/>
          <p:nvPr/>
        </p:nvSpPr>
        <p:spPr>
          <a:xfrm>
            <a:off x="7008337" y="2095500"/>
            <a:ext cx="428746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~/.kube/config</a:t>
            </a:r>
            <a:r>
              <a:rPr lang="en-US" sz="1400" dirty="0">
                <a:solidFill>
                  <a:srgbClr val="2B3240"/>
                </a:solidFill>
                <a:latin typeface="IBM Plex Sans" pitchFamily="34" charset="0"/>
                <a:ea typeface="IBM Plex Sans" pitchFamily="34" charset="-122"/>
                <a:cs typeface="IBM Plex Sans" pitchFamily="34" charset="-120"/>
              </a:rPr>
              <a:t> lists clusters, users and contexts. A context = cluster + user + default namespace.</a:t>
            </a:r>
            <a:endParaRPr lang="en-US" sz="1400" dirty="0"/>
          </a:p>
        </p:txBody>
      </p:sp>
      <p:sp>
        <p:nvSpPr>
          <p:cNvPr id="31" name="Text 29"/>
          <p:cNvSpPr/>
          <p:nvPr/>
        </p:nvSpPr>
        <p:spPr>
          <a:xfrm>
            <a:off x="7008337" y="2694939"/>
            <a:ext cx="4162584" cy="1358900"/>
          </a:xfrm>
          <a:prstGeom prst="roundRect">
            <a:avLst>
              <a:gd name="adj" fmla="val 5607"/>
            </a:avLst>
          </a:prstGeom>
          <a:solidFill>
            <a:srgbClr val="161B26"/>
          </a:solidFill>
          <a:ln/>
        </p:spPr>
        <p:txBody>
          <a:bodyPr wrap="none" lIns="130082" tIns="104682" rIns="14348" bIns="7928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config get-contexts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config use-context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kind-lab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config set-context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--current --namespace=dev</a:t>
            </a:r>
            <a:endParaRPr lang="en-US" sz="1200" dirty="0"/>
          </a:p>
        </p:txBody>
      </p:sp>
      <p:sp>
        <p:nvSpPr>
          <p:cNvPr id="32" name="Text 30"/>
          <p:cNvSpPr/>
          <p:nvPr/>
        </p:nvSpPr>
        <p:spPr>
          <a:xfrm>
            <a:off x="812800" y="6238242"/>
            <a:ext cx="4184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Architecture and setup</a:t>
            </a:r>
            <a:endParaRPr lang="en-US" sz="1200" dirty="0"/>
          </a:p>
        </p:txBody>
      </p:sp>
      <p:sp>
        <p:nvSpPr>
          <p:cNvPr id="33" name="Text 3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Anatomy of a manifest</a:t>
            </a:r>
            <a:endParaRPr lang="en-US" sz="3000" dirty="0"/>
          </a:p>
        </p:txBody>
      </p:sp>
      <p:sp>
        <p:nvSpPr>
          <p:cNvPr id="3" name="Text 1"/>
          <p:cNvSpPr/>
          <p:nvPr/>
        </p:nvSpPr>
        <p:spPr>
          <a:xfrm>
            <a:off x="812800" y="1536700"/>
            <a:ext cx="5359400" cy="3279140"/>
          </a:xfrm>
          <a:prstGeom prst="roundRect">
            <a:avLst>
              <a:gd name="adj" fmla="val 3098"/>
            </a:avLst>
          </a:prstGeom>
          <a:solidFill>
            <a:srgbClr val="161B26"/>
          </a:solidFill>
          <a:ln/>
        </p:spPr>
        <p:txBody>
          <a:bodyPr wrap="none" lIns="224242" tIns="173442" rIns="78700" bIns="148043" rtlCol="0" anchor="t">
            <a:normAutofit/>
          </a:bodyPr>
          <a:lstStyle/>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apiVersion:</a:t>
            </a:r>
            <a:r>
              <a:rPr lang="en-US" sz="1200" dirty="0">
                <a:solidFill>
                  <a:srgbClr val="E4E7EC"/>
                </a:solidFill>
                <a:latin typeface="JetBrains Mono" pitchFamily="49" charset="0"/>
                <a:ea typeface="JetBrains Mono" pitchFamily="49" charset="-122"/>
                <a:cs typeface="JetBrains Mono" pitchFamily="49" charset="-120"/>
              </a:rPr>
              <a:t> apps/v1     </a:t>
            </a:r>
            <a:r>
              <a:rPr lang="en-US" sz="1200" dirty="0">
                <a:solidFill>
                  <a:srgbClr val="8C95A5"/>
                </a:solidFill>
                <a:latin typeface="JetBrains Mono" pitchFamily="49" charset="0"/>
                <a:ea typeface="JetBrains Mono" pitchFamily="49" charset="-122"/>
                <a:cs typeface="JetBrains Mono" pitchFamily="49" charset="-120"/>
              </a:rPr>
              <a:t># group/version</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kind:</a:t>
            </a:r>
            <a:r>
              <a:rPr lang="en-US" sz="1200" dirty="0">
                <a:solidFill>
                  <a:srgbClr val="E4E7EC"/>
                </a:solidFill>
                <a:latin typeface="JetBrains Mono" pitchFamily="49" charset="0"/>
                <a:ea typeface="JetBrains Mono" pitchFamily="49" charset="-122"/>
                <a:cs typeface="JetBrains Mono" pitchFamily="49" charset="-120"/>
              </a:rPr>
              <a:t> Deployment        </a:t>
            </a:r>
            <a:r>
              <a:rPr lang="en-US" sz="1200" dirty="0">
                <a:solidFill>
                  <a:srgbClr val="8C95A5"/>
                </a:solidFill>
                <a:latin typeface="JetBrains Mono" pitchFamily="49" charset="0"/>
                <a:ea typeface="JetBrains Mono" pitchFamily="49" charset="-122"/>
                <a:cs typeface="JetBrains Mono" pitchFamily="49" charset="-120"/>
              </a:rPr>
              <a:t># object type</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metadata:</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identity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namespace: dev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labels: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app: web</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spec:</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desired state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replicas: 3</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template: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the Pod to run (next slides)</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status:</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observed state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readyReplicas: 3</a:t>
            </a:r>
            <a:endParaRPr lang="en-US" sz="1200" dirty="0"/>
          </a:p>
        </p:txBody>
      </p:sp>
      <p:sp>
        <p:nvSpPr>
          <p:cNvPr id="4" name="Text 2"/>
          <p:cNvSpPr/>
          <p:nvPr/>
        </p:nvSpPr>
        <p:spPr>
          <a:xfrm>
            <a:off x="6527800" y="1536700"/>
            <a:ext cx="499694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Every object has the same four fields you write: </a:t>
            </a:r>
            <a:r>
              <a:rPr lang="en-US" sz="1400" b="1" dirty="0">
                <a:solidFill>
                  <a:srgbClr val="2B3240"/>
                </a:solidFill>
                <a:latin typeface="IBM Plex Sans" pitchFamily="34" charset="0"/>
                <a:ea typeface="IBM Plex Sans" pitchFamily="34" charset="-122"/>
                <a:cs typeface="IBM Plex Sans" pitchFamily="34" charset="-120"/>
              </a:rPr>
              <a:t>apiVersion, kind, metadata, spec</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5" name="Text 3"/>
          <p:cNvSpPr/>
          <p:nvPr/>
        </p:nvSpPr>
        <p:spPr>
          <a:xfrm>
            <a:off x="6527800" y="2174242"/>
            <a:ext cx="499694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status</a:t>
            </a:r>
            <a:r>
              <a:rPr lang="en-US" sz="1400" dirty="0">
                <a:solidFill>
                  <a:srgbClr val="2B3240"/>
                </a:solidFill>
                <a:latin typeface="IBM Plex Sans" pitchFamily="34" charset="0"/>
                <a:ea typeface="IBM Plex Sans" pitchFamily="34" charset="-122"/>
                <a:cs typeface="IBM Plex Sans" pitchFamily="34" charset="-120"/>
              </a:rPr>
              <a:t> is filled in by controllers — you never write it.</a:t>
            </a:r>
            <a:endParaRPr lang="en-US" sz="1400" dirty="0"/>
          </a:p>
        </p:txBody>
      </p:sp>
      <p:sp>
        <p:nvSpPr>
          <p:cNvPr id="6" name="Text 4"/>
          <p:cNvSpPr/>
          <p:nvPr/>
        </p:nvSpPr>
        <p:spPr>
          <a:xfrm>
            <a:off x="6527800" y="2562864"/>
            <a:ext cx="499694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One file can hold several objects, separated by a line containing </a:t>
            </a:r>
            <a:r>
              <a:rPr lang="en-US" sz="1400" b="1" dirty="0">
                <a:solidFill>
                  <a:srgbClr val="2B3240"/>
                </a:solidFill>
                <a:latin typeface="IBM Plex Sans" pitchFamily="34" charset="0"/>
                <a:ea typeface="IBM Plex Sans" pitchFamily="34" charset="-122"/>
                <a:cs typeface="IBM Plex Sans" pitchFamily="34" charset="-120"/>
              </a:rPr>
              <a:t>---</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6527800" y="3200400"/>
            <a:ext cx="499694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Preview a change before applying it:</a:t>
            </a:r>
            <a:endParaRPr lang="en-US" sz="1400" dirty="0"/>
          </a:p>
        </p:txBody>
      </p:sp>
      <p:sp>
        <p:nvSpPr>
          <p:cNvPr id="8" name="Text 6"/>
          <p:cNvSpPr/>
          <p:nvPr/>
        </p:nvSpPr>
        <p:spPr>
          <a:xfrm>
            <a:off x="6527800" y="3589021"/>
            <a:ext cx="4851400" cy="695960"/>
          </a:xfrm>
          <a:prstGeom prst="roundRect">
            <a:avLst>
              <a:gd name="adj" fmla="val 10949"/>
            </a:avLst>
          </a:prstGeom>
          <a:solidFill>
            <a:srgbClr val="161B26"/>
          </a:solidFill>
          <a:ln/>
        </p:spPr>
        <p:txBody>
          <a:bodyPr wrap="none" lIns="155482" tIns="104682" rIns="20608" bIns="7928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diff -f web.yaml</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apply --dry-run=server -f web.yaml</a:t>
            </a:r>
            <a:endParaRPr lang="en-US" sz="1200" dirty="0"/>
          </a:p>
        </p:txBody>
      </p:sp>
      <p:sp>
        <p:nvSpPr>
          <p:cNvPr id="9" name="Text 7"/>
          <p:cNvSpPr/>
          <p:nvPr/>
        </p:nvSpPr>
        <p:spPr>
          <a:xfrm>
            <a:off x="812800" y="6238242"/>
            <a:ext cx="4184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Architecture and setup</a:t>
            </a:r>
            <a:endParaRPr lang="en-US" sz="1200" dirty="0"/>
          </a:p>
        </p:txBody>
      </p:sp>
      <p:sp>
        <p:nvSpPr>
          <p:cNvPr id="10"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Pods, init containers and native sidecars</a:t>
            </a:r>
            <a:endParaRPr lang="en-US" sz="3000" dirty="0"/>
          </a:p>
        </p:txBody>
      </p:sp>
      <p:sp>
        <p:nvSpPr>
          <p:cNvPr id="3" name="Text 1"/>
          <p:cNvSpPr/>
          <p:nvPr/>
        </p:nvSpPr>
        <p:spPr>
          <a:xfrm>
            <a:off x="812800" y="1536700"/>
            <a:ext cx="499694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Pod</a:t>
            </a:r>
            <a:r>
              <a:rPr lang="en-US" sz="1400" dirty="0">
                <a:solidFill>
                  <a:srgbClr val="2B3240"/>
                </a:solidFill>
                <a:latin typeface="IBM Plex Sans" pitchFamily="34" charset="0"/>
                <a:ea typeface="IBM Plex Sans" pitchFamily="34" charset="-122"/>
                <a:cs typeface="IBM Plex Sans" pitchFamily="34" charset="-120"/>
              </a:rPr>
              <a:t> — the smallest deployable unit: one or more containers sharing an IP, localhost and volumes.</a:t>
            </a:r>
            <a:endParaRPr lang="en-US" sz="1400" dirty="0"/>
          </a:p>
        </p:txBody>
      </p:sp>
      <p:sp>
        <p:nvSpPr>
          <p:cNvPr id="4" name="Text 2"/>
          <p:cNvSpPr/>
          <p:nvPr/>
        </p:nvSpPr>
        <p:spPr>
          <a:xfrm>
            <a:off x="812800" y="2161542"/>
            <a:ext cx="499694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Pods are disposable. Create them through controllers such as Deployments, not by hand.</a:t>
            </a:r>
            <a:endParaRPr lang="en-US" sz="1400" dirty="0"/>
          </a:p>
        </p:txBody>
      </p:sp>
      <p:sp>
        <p:nvSpPr>
          <p:cNvPr id="5" name="Text 3"/>
          <p:cNvSpPr/>
          <p:nvPr/>
        </p:nvSpPr>
        <p:spPr>
          <a:xfrm>
            <a:off x="812800" y="2786379"/>
            <a:ext cx="499694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Init containers</a:t>
            </a:r>
            <a:r>
              <a:rPr lang="en-US" sz="1400" dirty="0">
                <a:solidFill>
                  <a:srgbClr val="2B3240"/>
                </a:solidFill>
                <a:latin typeface="IBM Plex Sans" pitchFamily="34" charset="0"/>
                <a:ea typeface="IBM Plex Sans" pitchFamily="34" charset="-122"/>
                <a:cs typeface="IBM Plex Sans" pitchFamily="34" charset="-120"/>
              </a:rPr>
              <a:t> run to completion, in order, before the app starts — migrations, waiting for a dependency.</a:t>
            </a:r>
            <a:endParaRPr lang="en-US" sz="1400" dirty="0"/>
          </a:p>
        </p:txBody>
      </p:sp>
      <p:sp>
        <p:nvSpPr>
          <p:cNvPr id="6" name="Text 4"/>
          <p:cNvSpPr/>
          <p:nvPr/>
        </p:nvSpPr>
        <p:spPr>
          <a:xfrm>
            <a:off x="812800" y="3411221"/>
            <a:ext cx="4996942"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Native sidecars</a:t>
            </a:r>
            <a:r>
              <a:rPr lang="en-US" sz="1400" dirty="0">
                <a:solidFill>
                  <a:srgbClr val="2B3240"/>
                </a:solidFill>
                <a:latin typeface="IBM Plex Sans" pitchFamily="34" charset="0"/>
                <a:ea typeface="IBM Plex Sans" pitchFamily="34" charset="-122"/>
                <a:cs typeface="IBM Plex Sans" pitchFamily="34" charset="-120"/>
              </a:rPr>
              <a:t> are init containers with restartPolicy: Always. They start first, run beside the app and stop after it. Stable since v1.33.</a:t>
            </a:r>
            <a:endParaRPr lang="en-US" sz="1400" dirty="0"/>
          </a:p>
        </p:txBody>
      </p:sp>
      <p:sp>
        <p:nvSpPr>
          <p:cNvPr id="7" name="Text 5"/>
          <p:cNvSpPr/>
          <p:nvPr/>
        </p:nvSpPr>
        <p:spPr>
          <a:xfrm>
            <a:off x="6019800" y="1536700"/>
            <a:ext cx="5359400" cy="3279140"/>
          </a:xfrm>
          <a:prstGeom prst="roundRect">
            <a:avLst>
              <a:gd name="adj" fmla="val 3098"/>
            </a:avLst>
          </a:prstGeom>
          <a:solidFill>
            <a:srgbClr val="161B26"/>
          </a:solidFill>
          <a:ln/>
        </p:spPr>
        <p:txBody>
          <a:bodyPr wrap="none" lIns="224242" tIns="173442" rIns="78700" bIns="148043"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initContainers: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migrate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ghcr.io/acme/api:1.0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command: ["python", "migrate.py"]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log-shipper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fluent/fluent-bit:3.2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restartPolicy: Always</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sidecar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containers: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ghcr.io/acme/api:1.0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ports: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containerPort: 8000</a:t>
            </a:r>
            <a:endParaRPr lang="en-US" sz="1200" dirty="0"/>
          </a:p>
        </p:txBody>
      </p:sp>
      <p:sp>
        <p:nvSpPr>
          <p:cNvPr id="8" name="Text 6"/>
          <p:cNvSpPr/>
          <p:nvPr/>
        </p:nvSpPr>
        <p:spPr>
          <a:xfrm>
            <a:off x="812800" y="6238242"/>
            <a:ext cx="35877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Core workloads</a:t>
            </a:r>
            <a:endParaRPr lang="en-US" sz="1200" dirty="0"/>
          </a:p>
        </p:txBody>
      </p:sp>
      <p:sp>
        <p:nvSpPr>
          <p:cNvPr id="9" name="Text 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Labels and selectors</a:t>
            </a:r>
            <a:endParaRPr lang="en-US" sz="3000" dirty="0"/>
          </a:p>
        </p:txBody>
      </p:sp>
      <p:sp>
        <p:nvSpPr>
          <p:cNvPr id="3" name="Shape 1"/>
          <p:cNvSpPr/>
          <p:nvPr/>
        </p:nvSpPr>
        <p:spPr>
          <a:xfrm>
            <a:off x="812800" y="2434592"/>
            <a:ext cx="2167890" cy="995680"/>
          </a:xfrm>
          <a:prstGeom prst="roundRect">
            <a:avLst>
              <a:gd name="adj" fmla="val 10204"/>
            </a:avLst>
          </a:prstGeom>
          <a:solidFill>
            <a:srgbClr val="5A3FD0"/>
          </a:solidFill>
          <a:ln/>
        </p:spPr>
      </p:sp>
      <p:sp>
        <p:nvSpPr>
          <p:cNvPr id="4" name="Text 2"/>
          <p:cNvSpPr/>
          <p:nvPr/>
        </p:nvSpPr>
        <p:spPr>
          <a:xfrm>
            <a:off x="965200" y="2586992"/>
            <a:ext cx="19189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DDFF"/>
                </a:solidFill>
                <a:latin typeface="IBM Plex Sans" pitchFamily="34" charset="0"/>
                <a:ea typeface="IBM Plex Sans" pitchFamily="34" charset="-122"/>
                <a:cs typeface="IBM Plex Sans" pitchFamily="34" charset="-120"/>
              </a:rPr>
              <a:t>SERVICE web</a:t>
            </a:r>
            <a:endParaRPr lang="en-US" sz="1200" dirty="0"/>
          </a:p>
        </p:txBody>
      </p:sp>
      <p:sp>
        <p:nvSpPr>
          <p:cNvPr id="5" name="Text 3"/>
          <p:cNvSpPr/>
          <p:nvPr/>
        </p:nvSpPr>
        <p:spPr>
          <a:xfrm>
            <a:off x="965200" y="2851150"/>
            <a:ext cx="191898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selector:</a:t>
            </a:r>
            <a:endParaRPr lang="en-US" sz="1200" dirty="0"/>
          </a:p>
          <a:p>
            <a:pPr algn="l"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  app: web</a:t>
            </a:r>
            <a:endParaRPr lang="en-US" sz="1200" dirty="0"/>
          </a:p>
        </p:txBody>
      </p:sp>
      <p:pic>
        <p:nvPicPr>
          <p:cNvPr id="6" name="Image 0" descr="arrow-right">    </p:cNvPr>
          <p:cNvPicPr>
            <a:picLocks noChangeAspect="1"/>
          </p:cNvPicPr>
          <p:nvPr/>
        </p:nvPicPr>
        <p:blipFill>
          <a:blip r:embed="rId1"/>
          <a:srcRect l="0" r="0" t="0" b="0"/>
          <a:stretch/>
        </p:blipFill>
        <p:spPr>
          <a:xfrm>
            <a:off x="3133090" y="2849879"/>
            <a:ext cx="355600" cy="165100"/>
          </a:xfrm>
          <a:prstGeom prst="rect">
            <a:avLst/>
          </a:prstGeom>
        </p:spPr>
      </p:pic>
      <p:sp>
        <p:nvSpPr>
          <p:cNvPr id="7" name="Text 4"/>
          <p:cNvSpPr/>
          <p:nvPr/>
        </p:nvSpPr>
        <p:spPr>
          <a:xfrm>
            <a:off x="3647440" y="1945642"/>
            <a:ext cx="2264410" cy="373380"/>
          </a:xfrm>
          <a:prstGeom prst="roundRect">
            <a:avLst>
              <a:gd name="adj" fmla="val 18707"/>
            </a:avLst>
          </a:prstGeom>
          <a:solidFill>
            <a:srgbClr val="FDFCFA"/>
          </a:solidFill>
          <a:ln w="12700">
            <a:solidFill>
              <a:srgbClr val="5A3FD0"/>
            </a:solidFill>
            <a:prstDash val="solid"/>
          </a:ln>
        </p:spPr>
        <p:txBody>
          <a:bodyPr wrap="square" lIns="97651" tIns="59552" rIns="36806" bIns="34152"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web-7d4f · app=web</a:t>
            </a:r>
            <a:endParaRPr lang="en-US" sz="1200" dirty="0"/>
          </a:p>
        </p:txBody>
      </p:sp>
      <p:sp>
        <p:nvSpPr>
          <p:cNvPr id="8" name="Text 5"/>
          <p:cNvSpPr/>
          <p:nvPr/>
        </p:nvSpPr>
        <p:spPr>
          <a:xfrm>
            <a:off x="3647440" y="2407921"/>
            <a:ext cx="2264410" cy="373380"/>
          </a:xfrm>
          <a:prstGeom prst="roundRect">
            <a:avLst>
              <a:gd name="adj" fmla="val 18707"/>
            </a:avLst>
          </a:prstGeom>
          <a:solidFill>
            <a:srgbClr val="FDFCFA"/>
          </a:solidFill>
          <a:ln w="12700">
            <a:solidFill>
              <a:srgbClr val="5A3FD0"/>
            </a:solidFill>
            <a:prstDash val="solid"/>
          </a:ln>
        </p:spPr>
        <p:txBody>
          <a:bodyPr wrap="square" lIns="97651" tIns="59552" rIns="36806" bIns="34152"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web-9k2x · app=web</a:t>
            </a:r>
            <a:endParaRPr lang="en-US" sz="1200" dirty="0"/>
          </a:p>
        </p:txBody>
      </p:sp>
      <p:sp>
        <p:nvSpPr>
          <p:cNvPr id="9" name="Text 6"/>
          <p:cNvSpPr/>
          <p:nvPr/>
        </p:nvSpPr>
        <p:spPr>
          <a:xfrm>
            <a:off x="3647440" y="2870200"/>
            <a:ext cx="2264410" cy="373380"/>
          </a:xfrm>
          <a:prstGeom prst="roundRect">
            <a:avLst>
              <a:gd name="adj" fmla="val 18707"/>
            </a:avLst>
          </a:prstGeom>
          <a:solidFill>
            <a:srgbClr val="FDFCFA"/>
          </a:solidFill>
          <a:ln w="12700">
            <a:solidFill>
              <a:srgbClr val="5A3FD0"/>
            </a:solidFill>
            <a:prstDash val="solid"/>
          </a:ln>
        </p:spPr>
        <p:txBody>
          <a:bodyPr wrap="square" lIns="97651" tIns="59552" rIns="36806" bIns="34152"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web-q8m1 · app=web</a:t>
            </a:r>
            <a:endParaRPr lang="en-US" sz="1200" dirty="0"/>
          </a:p>
        </p:txBody>
      </p:sp>
      <p:sp>
        <p:nvSpPr>
          <p:cNvPr id="10" name="Text 7"/>
          <p:cNvSpPr/>
          <p:nvPr/>
        </p:nvSpPr>
        <p:spPr>
          <a:xfrm>
            <a:off x="3647440" y="3332479"/>
            <a:ext cx="2264410" cy="586740"/>
          </a:xfrm>
          <a:prstGeom prst="roundRect">
            <a:avLst>
              <a:gd name="adj" fmla="val 11905"/>
            </a:avLst>
          </a:prstGeom>
          <a:solidFill>
            <a:srgbClr val="ECE9E2"/>
          </a:solidFill>
          <a:ln w="12700">
            <a:solidFill>
              <a:srgbClr val="9AA3B2"/>
            </a:solidFill>
            <a:prstDash val="dash"/>
          </a:ln>
        </p:spPr>
        <p:txBody>
          <a:bodyPr wrap="square" lIns="97651" tIns="59552" rIns="36806" bIns="34152" rtlCol="0" anchor="t">
            <a:normAutofit/>
          </a:bodyPr>
          <a:lstStyle/>
          <a:p>
            <a:pPr algn="l"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api-5c7b · app=api (not selected)</a:t>
            </a:r>
            <a:endParaRPr lang="en-US" sz="1200" dirty="0"/>
          </a:p>
        </p:txBody>
      </p:sp>
      <p:sp>
        <p:nvSpPr>
          <p:cNvPr id="11" name="Text 8"/>
          <p:cNvSpPr/>
          <p:nvPr/>
        </p:nvSpPr>
        <p:spPr>
          <a:xfrm>
            <a:off x="6273800" y="1536700"/>
            <a:ext cx="525856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Labels</a:t>
            </a:r>
            <a:r>
              <a:rPr lang="en-US" sz="1400" dirty="0">
                <a:solidFill>
                  <a:srgbClr val="2B3240"/>
                </a:solidFill>
                <a:latin typeface="IBM Plex Sans" pitchFamily="34" charset="0"/>
                <a:ea typeface="IBM Plex Sans" pitchFamily="34" charset="-122"/>
                <a:cs typeface="IBM Plex Sans" pitchFamily="34" charset="-120"/>
              </a:rPr>
              <a:t> are key/value pairs on any object: app: web, env: prod, tier: frontend.</a:t>
            </a:r>
            <a:endParaRPr lang="en-US" sz="1400" dirty="0"/>
          </a:p>
        </p:txBody>
      </p:sp>
      <p:sp>
        <p:nvSpPr>
          <p:cNvPr id="12" name="Text 9"/>
          <p:cNvSpPr/>
          <p:nvPr/>
        </p:nvSpPr>
        <p:spPr>
          <a:xfrm>
            <a:off x="6273800" y="2161542"/>
            <a:ext cx="525856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Selectors</a:t>
            </a:r>
            <a:r>
              <a:rPr lang="en-US" sz="1400" dirty="0">
                <a:solidFill>
                  <a:srgbClr val="2B3240"/>
                </a:solidFill>
                <a:latin typeface="IBM Plex Sans" pitchFamily="34" charset="0"/>
                <a:ea typeface="IBM Plex Sans" pitchFamily="34" charset="-122"/>
                <a:cs typeface="IBM Plex Sans" pitchFamily="34" charset="-120"/>
              </a:rPr>
              <a:t> find objects by label. That’s how a Deployment finds its Pods and a Service finds where to send traffic.</a:t>
            </a:r>
            <a:endParaRPr lang="en-US" sz="1400" dirty="0"/>
          </a:p>
        </p:txBody>
      </p:sp>
      <p:sp>
        <p:nvSpPr>
          <p:cNvPr id="13" name="Text 10"/>
          <p:cNvSpPr/>
          <p:nvPr/>
        </p:nvSpPr>
        <p:spPr>
          <a:xfrm>
            <a:off x="6273800" y="2786379"/>
            <a:ext cx="525856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Annotations</a:t>
            </a:r>
            <a:r>
              <a:rPr lang="en-US" sz="1400" dirty="0">
                <a:solidFill>
                  <a:srgbClr val="2B3240"/>
                </a:solidFill>
                <a:latin typeface="IBM Plex Sans" pitchFamily="34" charset="0"/>
                <a:ea typeface="IBM Plex Sans" pitchFamily="34" charset="-122"/>
                <a:cs typeface="IBM Plex Sans" pitchFamily="34" charset="-120"/>
              </a:rPr>
              <a:t> hold other metadata — build info, tool settings — and are never used for selection.</a:t>
            </a:r>
            <a:endParaRPr lang="en-US" sz="1400" dirty="0"/>
          </a:p>
        </p:txBody>
      </p:sp>
      <p:sp>
        <p:nvSpPr>
          <p:cNvPr id="14" name="Text 11"/>
          <p:cNvSpPr/>
          <p:nvPr/>
        </p:nvSpPr>
        <p:spPr>
          <a:xfrm>
            <a:off x="6273800" y="3411221"/>
            <a:ext cx="5105400" cy="916940"/>
          </a:xfrm>
          <a:prstGeom prst="roundRect">
            <a:avLst>
              <a:gd name="adj" fmla="val 8310"/>
            </a:avLst>
          </a:prstGeom>
          <a:solidFill>
            <a:srgbClr val="161B26"/>
          </a:solidFill>
          <a:ln/>
        </p:spPr>
        <p:txBody>
          <a:bodyPr wrap="none" lIns="155482" tIns="104682" rIns="12988" bIns="7928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get pods -l app=web,env=prod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get pods -l 'env in (dev,staging)'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label pod web-7d4f tier=frontend</a:t>
            </a:r>
            <a:endParaRPr lang="en-US" sz="1200" dirty="0"/>
          </a:p>
        </p:txBody>
      </p:sp>
      <p:sp>
        <p:nvSpPr>
          <p:cNvPr id="15" name="Text 12"/>
          <p:cNvSpPr/>
          <p:nvPr/>
        </p:nvSpPr>
        <p:spPr>
          <a:xfrm>
            <a:off x="812800" y="6238242"/>
            <a:ext cx="35877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Core workloads</a:t>
            </a:r>
            <a:endParaRPr lang="en-US" sz="1200" dirty="0"/>
          </a:p>
        </p:txBody>
      </p:sp>
      <p:sp>
        <p:nvSpPr>
          <p:cNvPr id="16"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Namespaces</a:t>
            </a:r>
            <a:endParaRPr lang="en-US" sz="3000" dirty="0"/>
          </a:p>
        </p:txBody>
      </p:sp>
      <p:sp>
        <p:nvSpPr>
          <p:cNvPr id="3" name="Shape 1"/>
          <p:cNvSpPr/>
          <p:nvPr/>
        </p:nvSpPr>
        <p:spPr>
          <a:xfrm>
            <a:off x="819150" y="1543050"/>
            <a:ext cx="5280660" cy="3154680"/>
          </a:xfrm>
          <a:prstGeom prst="roundRect">
            <a:avLst>
              <a:gd name="adj" fmla="val 3422"/>
            </a:avLst>
          </a:prstGeom>
          <a:solidFill>
            <a:srgbClr val="FDFCFA"/>
          </a:solidFill>
          <a:ln w="12700">
            <a:solidFill>
              <a:srgbClr val="121722"/>
            </a:solidFill>
            <a:prstDash val="solid"/>
          </a:ln>
        </p:spPr>
      </p:sp>
      <p:sp>
        <p:nvSpPr>
          <p:cNvPr id="4" name="Text 2"/>
          <p:cNvSpPr/>
          <p:nvPr/>
        </p:nvSpPr>
        <p:spPr>
          <a:xfrm>
            <a:off x="1000760" y="1699264"/>
            <a:ext cx="506496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21722"/>
                </a:solidFill>
                <a:latin typeface="IBM Plex Sans" pitchFamily="34" charset="0"/>
                <a:ea typeface="IBM Plex Sans" pitchFamily="34" charset="-122"/>
                <a:cs typeface="IBM Plex Sans" pitchFamily="34" charset="-120"/>
              </a:rPr>
              <a:t>ONE CLUSTER</a:t>
            </a:r>
            <a:endParaRPr lang="en-US" sz="1200" dirty="0"/>
          </a:p>
        </p:txBody>
      </p:sp>
      <p:sp>
        <p:nvSpPr>
          <p:cNvPr id="5" name="Shape 3"/>
          <p:cNvSpPr/>
          <p:nvPr/>
        </p:nvSpPr>
        <p:spPr>
          <a:xfrm>
            <a:off x="1007110" y="2020571"/>
            <a:ext cx="1558687" cy="1483360"/>
          </a:xfrm>
          <a:prstGeom prst="roundRect">
            <a:avLst>
              <a:gd name="adj" fmla="val 5565"/>
            </a:avLst>
          </a:prstGeom>
          <a:noFill/>
          <a:ln w="12700">
            <a:solidFill>
              <a:srgbClr val="5A3FD0"/>
            </a:solidFill>
            <a:prstDash val="dash"/>
          </a:ln>
        </p:spPr>
      </p:sp>
      <p:sp>
        <p:nvSpPr>
          <p:cNvPr id="6" name="Text 4"/>
          <p:cNvSpPr/>
          <p:nvPr/>
        </p:nvSpPr>
        <p:spPr>
          <a:xfrm>
            <a:off x="1125220" y="2125979"/>
            <a:ext cx="137326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dev</a:t>
            </a:r>
            <a:endParaRPr lang="en-US" sz="1200" dirty="0"/>
          </a:p>
        </p:txBody>
      </p:sp>
      <p:sp>
        <p:nvSpPr>
          <p:cNvPr id="7" name="Text 5"/>
          <p:cNvSpPr/>
          <p:nvPr/>
        </p:nvSpPr>
        <p:spPr>
          <a:xfrm>
            <a:off x="1125220" y="2402842"/>
            <a:ext cx="1322467" cy="289560"/>
          </a:xfrm>
          <a:prstGeom prst="roundRect">
            <a:avLst>
              <a:gd name="adj" fmla="val 17544"/>
            </a:avLst>
          </a:prstGeom>
          <a:solidFill>
            <a:srgbClr val="E4DDFF"/>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web</a:t>
            </a:r>
            <a:endParaRPr lang="en-US" sz="1200" dirty="0"/>
          </a:p>
        </p:txBody>
      </p:sp>
      <p:sp>
        <p:nvSpPr>
          <p:cNvPr id="8" name="Text 6"/>
          <p:cNvSpPr/>
          <p:nvPr/>
        </p:nvSpPr>
        <p:spPr>
          <a:xfrm>
            <a:off x="1125220" y="2755900"/>
            <a:ext cx="1322467" cy="289560"/>
          </a:xfrm>
          <a:prstGeom prst="roundRect">
            <a:avLst>
              <a:gd name="adj" fmla="val 17544"/>
            </a:avLst>
          </a:prstGeom>
          <a:solidFill>
            <a:srgbClr val="E4DDFF"/>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api</a:t>
            </a:r>
            <a:endParaRPr lang="en-US" sz="1200" dirty="0"/>
          </a:p>
        </p:txBody>
      </p:sp>
      <p:sp>
        <p:nvSpPr>
          <p:cNvPr id="9" name="Text 7"/>
          <p:cNvSpPr/>
          <p:nvPr/>
        </p:nvSpPr>
        <p:spPr>
          <a:xfrm>
            <a:off x="1125220" y="3108964"/>
            <a:ext cx="1322467" cy="289560"/>
          </a:xfrm>
          <a:prstGeom prst="roundRect">
            <a:avLst>
              <a:gd name="adj" fmla="val 17544"/>
            </a:avLst>
          </a:prstGeom>
          <a:solidFill>
            <a:srgbClr val="E4DDFF"/>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db</a:t>
            </a:r>
            <a:endParaRPr lang="en-US" sz="1200" dirty="0"/>
          </a:p>
        </p:txBody>
      </p:sp>
      <p:sp>
        <p:nvSpPr>
          <p:cNvPr id="10" name="Shape 8"/>
          <p:cNvSpPr/>
          <p:nvPr/>
        </p:nvSpPr>
        <p:spPr>
          <a:xfrm>
            <a:off x="2680097" y="2020571"/>
            <a:ext cx="1558766" cy="1483360"/>
          </a:xfrm>
          <a:prstGeom prst="roundRect">
            <a:avLst>
              <a:gd name="adj" fmla="val 5565"/>
            </a:avLst>
          </a:prstGeom>
          <a:noFill/>
          <a:ln w="12700">
            <a:solidFill>
              <a:srgbClr val="5A3FD0"/>
            </a:solidFill>
            <a:prstDash val="dash"/>
          </a:ln>
        </p:spPr>
      </p:sp>
      <p:sp>
        <p:nvSpPr>
          <p:cNvPr id="11" name="Text 9"/>
          <p:cNvSpPr/>
          <p:nvPr/>
        </p:nvSpPr>
        <p:spPr>
          <a:xfrm>
            <a:off x="2798207" y="2125979"/>
            <a:ext cx="137334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prod</a:t>
            </a:r>
            <a:endParaRPr lang="en-US" sz="1200" dirty="0"/>
          </a:p>
        </p:txBody>
      </p:sp>
      <p:sp>
        <p:nvSpPr>
          <p:cNvPr id="12" name="Text 10"/>
          <p:cNvSpPr/>
          <p:nvPr/>
        </p:nvSpPr>
        <p:spPr>
          <a:xfrm>
            <a:off x="2798207" y="2402842"/>
            <a:ext cx="1322546" cy="289560"/>
          </a:xfrm>
          <a:prstGeom prst="roundRect">
            <a:avLst>
              <a:gd name="adj" fmla="val 17544"/>
            </a:avLst>
          </a:prstGeom>
          <a:solidFill>
            <a:srgbClr val="E4DDFF"/>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web</a:t>
            </a:r>
            <a:endParaRPr lang="en-US" sz="1200" dirty="0"/>
          </a:p>
        </p:txBody>
      </p:sp>
      <p:sp>
        <p:nvSpPr>
          <p:cNvPr id="13" name="Text 11"/>
          <p:cNvSpPr/>
          <p:nvPr/>
        </p:nvSpPr>
        <p:spPr>
          <a:xfrm>
            <a:off x="2798207" y="2755900"/>
            <a:ext cx="1322546" cy="289560"/>
          </a:xfrm>
          <a:prstGeom prst="roundRect">
            <a:avLst>
              <a:gd name="adj" fmla="val 17544"/>
            </a:avLst>
          </a:prstGeom>
          <a:solidFill>
            <a:srgbClr val="E4DDFF"/>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api</a:t>
            </a:r>
            <a:endParaRPr lang="en-US" sz="1200" dirty="0"/>
          </a:p>
        </p:txBody>
      </p:sp>
      <p:sp>
        <p:nvSpPr>
          <p:cNvPr id="14" name="Text 12"/>
          <p:cNvSpPr/>
          <p:nvPr/>
        </p:nvSpPr>
        <p:spPr>
          <a:xfrm>
            <a:off x="2798207" y="3108964"/>
            <a:ext cx="1322546" cy="289560"/>
          </a:xfrm>
          <a:prstGeom prst="roundRect">
            <a:avLst>
              <a:gd name="adj" fmla="val 17544"/>
            </a:avLst>
          </a:prstGeom>
          <a:solidFill>
            <a:srgbClr val="E4DDFF"/>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db</a:t>
            </a:r>
            <a:endParaRPr lang="en-US" sz="1200" dirty="0"/>
          </a:p>
        </p:txBody>
      </p:sp>
      <p:sp>
        <p:nvSpPr>
          <p:cNvPr id="15" name="Shape 13"/>
          <p:cNvSpPr/>
          <p:nvPr/>
        </p:nvSpPr>
        <p:spPr>
          <a:xfrm>
            <a:off x="4353163" y="2020571"/>
            <a:ext cx="1558687" cy="1483360"/>
          </a:xfrm>
          <a:prstGeom prst="roundRect">
            <a:avLst>
              <a:gd name="adj" fmla="val 5565"/>
            </a:avLst>
          </a:prstGeom>
          <a:noFill/>
          <a:ln w="12700">
            <a:solidFill>
              <a:srgbClr val="9AA3B2"/>
            </a:solidFill>
            <a:prstDash val="dash"/>
          </a:ln>
        </p:spPr>
      </p:sp>
      <p:sp>
        <p:nvSpPr>
          <p:cNvPr id="16" name="Text 14"/>
          <p:cNvSpPr/>
          <p:nvPr/>
        </p:nvSpPr>
        <p:spPr>
          <a:xfrm>
            <a:off x="4471273" y="2125979"/>
            <a:ext cx="137326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6470"/>
                </a:solidFill>
                <a:latin typeface="JetBrains Mono" pitchFamily="49" charset="0"/>
                <a:ea typeface="JetBrains Mono" pitchFamily="49" charset="-122"/>
                <a:cs typeface="JetBrains Mono" pitchFamily="49" charset="-120"/>
              </a:rPr>
              <a:t>kube-system</a:t>
            </a:r>
            <a:endParaRPr lang="en-US" sz="1200" dirty="0"/>
          </a:p>
        </p:txBody>
      </p:sp>
      <p:sp>
        <p:nvSpPr>
          <p:cNvPr id="17" name="Text 15"/>
          <p:cNvSpPr/>
          <p:nvPr/>
        </p:nvSpPr>
        <p:spPr>
          <a:xfrm>
            <a:off x="4471273" y="2402842"/>
            <a:ext cx="1322467" cy="289560"/>
          </a:xfrm>
          <a:prstGeom prst="roundRect">
            <a:avLst>
              <a:gd name="adj" fmla="val 17544"/>
            </a:avLst>
          </a:prstGeom>
          <a:solidFill>
            <a:srgbClr val="ECE9E2"/>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coredns</a:t>
            </a:r>
            <a:endParaRPr lang="en-US" sz="1200" dirty="0"/>
          </a:p>
        </p:txBody>
      </p:sp>
      <p:sp>
        <p:nvSpPr>
          <p:cNvPr id="18" name="Text 16"/>
          <p:cNvSpPr/>
          <p:nvPr/>
        </p:nvSpPr>
        <p:spPr>
          <a:xfrm>
            <a:off x="4471273" y="2755900"/>
            <a:ext cx="1322467" cy="289560"/>
          </a:xfrm>
          <a:prstGeom prst="roundRect">
            <a:avLst>
              <a:gd name="adj" fmla="val 17544"/>
            </a:avLst>
          </a:prstGeom>
          <a:solidFill>
            <a:srgbClr val="ECE9E2"/>
          </a:solidFill>
          <a:ln/>
        </p:spPr>
        <p:txBody>
          <a:bodyPr wrap="square" lIns="61321" tIns="23221" rIns="10521"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kube-proxy</a:t>
            </a:r>
            <a:endParaRPr lang="en-US" sz="1200" dirty="0"/>
          </a:p>
        </p:txBody>
      </p:sp>
      <p:sp>
        <p:nvSpPr>
          <p:cNvPr id="19" name="Text 17"/>
          <p:cNvSpPr/>
          <p:nvPr/>
        </p:nvSpPr>
        <p:spPr>
          <a:xfrm>
            <a:off x="1000760" y="3611879"/>
            <a:ext cx="50649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Same names, no clash: web in dev and web in prod are different objects.</a:t>
            </a:r>
            <a:endParaRPr lang="en-US" sz="1200" dirty="0"/>
          </a:p>
        </p:txBody>
      </p:sp>
      <p:sp>
        <p:nvSpPr>
          <p:cNvPr id="20" name="Text 18"/>
          <p:cNvSpPr/>
          <p:nvPr/>
        </p:nvSpPr>
        <p:spPr>
          <a:xfrm>
            <a:off x="6461760" y="1536700"/>
            <a:ext cx="50649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Virtual partitions inside one cluster — names must be unique only within a namespace.</a:t>
            </a:r>
            <a:endParaRPr lang="en-US" sz="1400" dirty="0"/>
          </a:p>
        </p:txBody>
      </p:sp>
      <p:sp>
        <p:nvSpPr>
          <p:cNvPr id="21" name="Text 19"/>
          <p:cNvSpPr/>
          <p:nvPr/>
        </p:nvSpPr>
        <p:spPr>
          <a:xfrm>
            <a:off x="6461760" y="2161542"/>
            <a:ext cx="50649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 scope for access control, quotas, limits and network policies.</a:t>
            </a:r>
            <a:endParaRPr lang="en-US" sz="1400" dirty="0"/>
          </a:p>
        </p:txBody>
      </p:sp>
      <p:sp>
        <p:nvSpPr>
          <p:cNvPr id="22" name="Text 20"/>
          <p:cNvSpPr/>
          <p:nvPr/>
        </p:nvSpPr>
        <p:spPr>
          <a:xfrm>
            <a:off x="6461760" y="2786379"/>
            <a:ext cx="50649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Typical splits: per team, per app or per environment.</a:t>
            </a:r>
            <a:endParaRPr lang="en-US" sz="1400" dirty="0"/>
          </a:p>
        </p:txBody>
      </p:sp>
      <p:sp>
        <p:nvSpPr>
          <p:cNvPr id="23" name="Text 21"/>
          <p:cNvSpPr/>
          <p:nvPr/>
        </p:nvSpPr>
        <p:spPr>
          <a:xfrm>
            <a:off x="6461760" y="3162300"/>
            <a:ext cx="506496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Not a hard security boundary on its own, and some objects are cluster-wide: Nodes, PersistentVolumes, StorageClasses.</a:t>
            </a:r>
            <a:endParaRPr lang="en-US" sz="1400" dirty="0"/>
          </a:p>
        </p:txBody>
      </p:sp>
      <p:sp>
        <p:nvSpPr>
          <p:cNvPr id="24" name="Text 22"/>
          <p:cNvSpPr/>
          <p:nvPr/>
        </p:nvSpPr>
        <p:spPr>
          <a:xfrm>
            <a:off x="6461760" y="3787142"/>
            <a:ext cx="4917440" cy="916940"/>
          </a:xfrm>
          <a:prstGeom prst="roundRect">
            <a:avLst>
              <a:gd name="adj" fmla="val 8310"/>
            </a:avLst>
          </a:prstGeom>
          <a:solidFill>
            <a:srgbClr val="161B26"/>
          </a:solidFill>
          <a:ln/>
        </p:spPr>
        <p:txBody>
          <a:bodyPr wrap="none" lIns="155481" tIns="104682" rIns="18627" bIns="7928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create namespace dev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get pods -n dev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api-resources --namespaced=false</a:t>
            </a:r>
            <a:endParaRPr lang="en-US" sz="1200" dirty="0"/>
          </a:p>
        </p:txBody>
      </p:sp>
      <p:sp>
        <p:nvSpPr>
          <p:cNvPr id="25" name="Text 23"/>
          <p:cNvSpPr/>
          <p:nvPr/>
        </p:nvSpPr>
        <p:spPr>
          <a:xfrm>
            <a:off x="812800" y="6238242"/>
            <a:ext cx="35877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Core workloads</a:t>
            </a:r>
            <a:endParaRPr lang="en-US" sz="1200" dirty="0"/>
          </a:p>
        </p:txBody>
      </p:sp>
      <p:sp>
        <p:nvSpPr>
          <p:cNvPr id="26" name="Text 2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ReplicaSets and Deployments</a:t>
            </a:r>
            <a:endParaRPr lang="en-US" sz="3000" dirty="0"/>
          </a:p>
        </p:txBody>
      </p:sp>
      <p:sp>
        <p:nvSpPr>
          <p:cNvPr id="3" name="Text 1"/>
          <p:cNvSpPr/>
          <p:nvPr/>
        </p:nvSpPr>
        <p:spPr>
          <a:xfrm>
            <a:off x="812800" y="1536700"/>
            <a:ext cx="4366260" cy="416560"/>
          </a:xfrm>
          <a:prstGeom prst="roundRect">
            <a:avLst>
              <a:gd name="adj" fmla="val 21341"/>
            </a:avLst>
          </a:prstGeom>
          <a:solidFill>
            <a:srgbClr val="5A3FD0"/>
          </a:solidFill>
          <a:ln/>
        </p:spPr>
        <p:txBody>
          <a:bodyPr wrap="square" lIns="39278" tIns="75562" rIns="39278" bIns="50162"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Deployment web</a:t>
            </a:r>
            <a:endParaRPr lang="en-US" sz="1200" dirty="0"/>
          </a:p>
        </p:txBody>
      </p:sp>
      <p:pic>
        <p:nvPicPr>
          <p:cNvPr id="4" name="Image 0" descr="arrow-down">    </p:cNvPr>
          <p:cNvPicPr>
            <a:picLocks noChangeAspect="1"/>
          </p:cNvPicPr>
          <p:nvPr/>
        </p:nvPicPr>
        <p:blipFill>
          <a:blip r:embed="rId1"/>
          <a:srcRect l="0" r="0" t="0" b="0"/>
          <a:stretch/>
        </p:blipFill>
        <p:spPr>
          <a:xfrm>
            <a:off x="2919730" y="2042164"/>
            <a:ext cx="152400" cy="228600"/>
          </a:xfrm>
          <a:prstGeom prst="rect">
            <a:avLst/>
          </a:prstGeom>
        </p:spPr>
      </p:pic>
      <p:sp>
        <p:nvSpPr>
          <p:cNvPr id="5" name="Text 2"/>
          <p:cNvSpPr/>
          <p:nvPr/>
        </p:nvSpPr>
        <p:spPr>
          <a:xfrm>
            <a:off x="812800" y="2359664"/>
            <a:ext cx="4366260" cy="416560"/>
          </a:xfrm>
          <a:prstGeom prst="roundRect">
            <a:avLst>
              <a:gd name="adj" fmla="val 21341"/>
            </a:avLst>
          </a:prstGeom>
          <a:solidFill>
            <a:srgbClr val="E4DDFF"/>
          </a:solidFill>
          <a:ln/>
        </p:spPr>
        <p:txBody>
          <a:bodyPr wrap="square" lIns="39278" tIns="75562" rIns="39278" bIns="50162"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ReplicaSet web-7d4f (v1.0)</a:t>
            </a:r>
            <a:endParaRPr lang="en-US" sz="1200" dirty="0"/>
          </a:p>
        </p:txBody>
      </p:sp>
      <p:pic>
        <p:nvPicPr>
          <p:cNvPr id="6" name="Image 1" descr="arrow-down">    </p:cNvPr>
          <p:cNvPicPr>
            <a:picLocks noChangeAspect="1"/>
          </p:cNvPicPr>
          <p:nvPr/>
        </p:nvPicPr>
        <p:blipFill>
          <a:blip r:embed="rId2"/>
          <a:srcRect l="0" r="0" t="0" b="0"/>
          <a:stretch/>
        </p:blipFill>
        <p:spPr>
          <a:xfrm>
            <a:off x="2919730" y="2865121"/>
            <a:ext cx="152400" cy="228600"/>
          </a:xfrm>
          <a:prstGeom prst="rect">
            <a:avLst/>
          </a:prstGeom>
        </p:spPr>
      </p:pic>
      <p:sp>
        <p:nvSpPr>
          <p:cNvPr id="7" name="Text 3"/>
          <p:cNvSpPr/>
          <p:nvPr/>
        </p:nvSpPr>
        <p:spPr>
          <a:xfrm>
            <a:off x="815975" y="3185796"/>
            <a:ext cx="1398270" cy="369570"/>
          </a:xfrm>
          <a:custGeom>
            <a:avLst/>
            <a:gdLst/>
            <a:ahLst/>
            <a:cxnLst/>
            <a:rect l="l" t="t" r="r" b="b"/>
            <a:pathLst>
              <a:path w="1398270" h="369570">
                <a:moveTo>
                  <a:pt x="73025" y="0"/>
                </a:moveTo>
                <a:lnTo>
                  <a:pt x="1325245" y="0"/>
                </a:lnTo>
                <a:arcTo hR="73025" wR="73025" stAng="16200000" swAng="5400000"/>
                <a:lnTo>
                  <a:pt x="1398270" y="296545"/>
                </a:lnTo>
                <a:arcTo hR="73025" wR="73025" stAng="0" swAng="5400000"/>
                <a:lnTo>
                  <a:pt x="73025" y="369570"/>
                </a:lnTo>
                <a:arcTo hR="73025" wR="73025" stAng="5400000" swAng="5400000"/>
                <a:lnTo>
                  <a:pt x="0" y="73025"/>
                </a:lnTo>
                <a:arcTo hR="73025" wR="73025" stAng="10800000" swAng="5400000"/>
                <a:close/>
              </a:path>
            </a:pathLst>
          </a:custGeom>
          <a:solidFill>
            <a:srgbClr val="FDFCFA"/>
          </a:solidFill>
          <a:ln w="6350">
            <a:solidFill>
              <a:srgbClr val="E2DED5"/>
            </a:solidFill>
            <a:prstDash val="solid"/>
          </a:ln>
        </p:spPr>
        <p:txBody>
          <a:bodyPr wrap="square" lIns="27305" tIns="78105" rIns="27305" bIns="52705"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Pod</a:t>
            </a:r>
            <a:endParaRPr lang="en-US" sz="1200" dirty="0"/>
          </a:p>
        </p:txBody>
      </p:sp>
      <p:sp>
        <p:nvSpPr>
          <p:cNvPr id="8" name="Text 4"/>
          <p:cNvSpPr/>
          <p:nvPr/>
        </p:nvSpPr>
        <p:spPr>
          <a:xfrm>
            <a:off x="2296795" y="3185796"/>
            <a:ext cx="1398270" cy="369570"/>
          </a:xfrm>
          <a:custGeom>
            <a:avLst/>
            <a:gdLst/>
            <a:ahLst/>
            <a:cxnLst/>
            <a:rect l="l" t="t" r="r" b="b"/>
            <a:pathLst>
              <a:path w="1398270" h="369570">
                <a:moveTo>
                  <a:pt x="73025" y="0"/>
                </a:moveTo>
                <a:lnTo>
                  <a:pt x="1325245" y="0"/>
                </a:lnTo>
                <a:arcTo hR="73025" wR="73025" stAng="16200000" swAng="5400000"/>
                <a:lnTo>
                  <a:pt x="1398270" y="296545"/>
                </a:lnTo>
                <a:arcTo hR="73025" wR="73025" stAng="0" swAng="5400000"/>
                <a:lnTo>
                  <a:pt x="73025" y="369570"/>
                </a:lnTo>
                <a:arcTo hR="73025" wR="73025" stAng="5400000" swAng="5400000"/>
                <a:lnTo>
                  <a:pt x="0" y="73025"/>
                </a:lnTo>
                <a:arcTo hR="73025" wR="73025" stAng="10800000" swAng="5400000"/>
                <a:close/>
              </a:path>
            </a:pathLst>
          </a:custGeom>
          <a:solidFill>
            <a:srgbClr val="FDFCFA"/>
          </a:solidFill>
          <a:ln w="6350">
            <a:solidFill>
              <a:srgbClr val="E2DED5"/>
            </a:solidFill>
            <a:prstDash val="solid"/>
          </a:ln>
        </p:spPr>
        <p:txBody>
          <a:bodyPr wrap="square" lIns="27305" tIns="78105" rIns="27305" bIns="52705"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Pod</a:t>
            </a:r>
            <a:endParaRPr lang="en-US" sz="1200" dirty="0"/>
          </a:p>
        </p:txBody>
      </p:sp>
      <p:sp>
        <p:nvSpPr>
          <p:cNvPr id="9" name="Text 5"/>
          <p:cNvSpPr/>
          <p:nvPr/>
        </p:nvSpPr>
        <p:spPr>
          <a:xfrm>
            <a:off x="3777615" y="3185796"/>
            <a:ext cx="1398270" cy="369570"/>
          </a:xfrm>
          <a:custGeom>
            <a:avLst/>
            <a:gdLst/>
            <a:ahLst/>
            <a:cxnLst/>
            <a:rect l="l" t="t" r="r" b="b"/>
            <a:pathLst>
              <a:path w="1398270" h="369570">
                <a:moveTo>
                  <a:pt x="73025" y="0"/>
                </a:moveTo>
                <a:lnTo>
                  <a:pt x="1325245" y="0"/>
                </a:lnTo>
                <a:arcTo hR="73025" wR="73025" stAng="16200000" swAng="5400000"/>
                <a:lnTo>
                  <a:pt x="1398270" y="296545"/>
                </a:lnTo>
                <a:arcTo hR="73025" wR="73025" stAng="0" swAng="5400000"/>
                <a:lnTo>
                  <a:pt x="73025" y="369570"/>
                </a:lnTo>
                <a:arcTo hR="73025" wR="73025" stAng="5400000" swAng="5400000"/>
                <a:lnTo>
                  <a:pt x="0" y="73025"/>
                </a:lnTo>
                <a:arcTo hR="73025" wR="73025" stAng="10800000" swAng="5400000"/>
                <a:close/>
              </a:path>
            </a:pathLst>
          </a:custGeom>
          <a:solidFill>
            <a:srgbClr val="FDFCFA"/>
          </a:solidFill>
          <a:ln w="6350">
            <a:solidFill>
              <a:srgbClr val="E2DED5"/>
            </a:solidFill>
            <a:prstDash val="solid"/>
          </a:ln>
        </p:spPr>
        <p:txBody>
          <a:bodyPr wrap="square" lIns="27305" tIns="78105" rIns="27305" bIns="52705"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Pod</a:t>
            </a:r>
            <a:endParaRPr lang="en-US" sz="1200" dirty="0"/>
          </a:p>
        </p:txBody>
      </p:sp>
      <p:sp>
        <p:nvSpPr>
          <p:cNvPr id="10" name="Text 6"/>
          <p:cNvSpPr/>
          <p:nvPr/>
        </p:nvSpPr>
        <p:spPr>
          <a:xfrm>
            <a:off x="812800" y="3749042"/>
            <a:ext cx="4497248"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ReplicaSet</a:t>
            </a:r>
            <a:r>
              <a:rPr lang="en-US" sz="1400" dirty="0">
                <a:solidFill>
                  <a:srgbClr val="2B3240"/>
                </a:solidFill>
                <a:latin typeface="IBM Plex Sans" pitchFamily="34" charset="0"/>
                <a:ea typeface="IBM Plex Sans" pitchFamily="34" charset="-122"/>
                <a:cs typeface="IBM Plex Sans" pitchFamily="34" charset="-120"/>
              </a:rPr>
              <a:t> keeps N identical Pods running, replacing any that fail.</a:t>
            </a:r>
            <a:endParaRPr lang="en-US" sz="1400" dirty="0"/>
          </a:p>
        </p:txBody>
      </p:sp>
      <p:sp>
        <p:nvSpPr>
          <p:cNvPr id="11" name="Text 7"/>
          <p:cNvSpPr/>
          <p:nvPr/>
        </p:nvSpPr>
        <p:spPr>
          <a:xfrm>
            <a:off x="812800" y="4348479"/>
            <a:ext cx="4497248"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Deployment</a:t>
            </a:r>
            <a:r>
              <a:rPr lang="en-US" sz="1400" dirty="0">
                <a:solidFill>
                  <a:srgbClr val="2B3240"/>
                </a:solidFill>
                <a:latin typeface="IBM Plex Sans" pitchFamily="34" charset="0"/>
                <a:ea typeface="IBM Plex Sans" pitchFamily="34" charset="-122"/>
                <a:cs typeface="IBM Plex Sans" pitchFamily="34" charset="-120"/>
              </a:rPr>
              <a:t> manages ReplicaSets and adds versioned rollouts and rollbacks. Use it for stateless apps.</a:t>
            </a:r>
            <a:endParaRPr lang="en-US" sz="1400" dirty="0"/>
          </a:p>
        </p:txBody>
      </p:sp>
      <p:sp>
        <p:nvSpPr>
          <p:cNvPr id="12" name="Text 8"/>
          <p:cNvSpPr/>
          <p:nvPr/>
        </p:nvSpPr>
        <p:spPr>
          <a:xfrm>
            <a:off x="5534660" y="1536700"/>
            <a:ext cx="5844540" cy="4112260"/>
          </a:xfrm>
          <a:prstGeom prst="roundRect">
            <a:avLst>
              <a:gd name="adj" fmla="val 2471"/>
            </a:avLst>
          </a:prstGeom>
          <a:solidFill>
            <a:srgbClr val="161B26"/>
          </a:solidFill>
          <a:ln/>
        </p:spPr>
        <p:txBody>
          <a:bodyPr wrap="none" lIns="224242" tIns="148042" rIns="64146"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apps/v1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Deployment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replicas: 3</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selector: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matchLabels: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app: web</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must match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template: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labels: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app: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containers: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ghcr.io/acme/web:1.0</a:t>
            </a:r>
            <a:endParaRPr lang="en-US" sz="1200" dirty="0"/>
          </a:p>
        </p:txBody>
      </p:sp>
      <p:sp>
        <p:nvSpPr>
          <p:cNvPr id="13" name="Text 9"/>
          <p:cNvSpPr/>
          <p:nvPr/>
        </p:nvSpPr>
        <p:spPr>
          <a:xfrm>
            <a:off x="812800" y="6238242"/>
            <a:ext cx="35877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Core workloads</a:t>
            </a:r>
            <a:endParaRPr lang="en-US" sz="1200" dirty="0"/>
          </a:p>
        </p:txBody>
      </p:sp>
      <p:sp>
        <p:nvSpPr>
          <p:cNvPr id="14" name="Text 1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Rollouts, rollbacks, blue-green and canary</a:t>
            </a:r>
            <a:endParaRPr lang="en-US" sz="3000" dirty="0"/>
          </a:p>
        </p:txBody>
      </p:sp>
      <p:sp>
        <p:nvSpPr>
          <p:cNvPr id="3" name="Text 1"/>
          <p:cNvSpPr/>
          <p:nvPr/>
        </p:nvSpPr>
        <p:spPr>
          <a:xfrm>
            <a:off x="812800" y="1460500"/>
            <a:ext cx="7344410" cy="1409700"/>
          </a:xfrm>
          <a:prstGeom prst="roundRect">
            <a:avLst>
              <a:gd name="adj" fmla="val 7207"/>
            </a:avLst>
          </a:prstGeom>
          <a:solidFill>
            <a:srgbClr val="161B26"/>
          </a:solidFill>
          <a:ln/>
        </p:spPr>
        <p:txBody>
          <a:bodyPr wrap="none" lIns="198842" tIns="122642" rIns="0"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set image deploy/web web=ghcr.io/acme/web:1.1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rollout status deploy/web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rollout history deploy/web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rollout undo deploy/web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rollout undo deploy/web --to-revision=2</a:t>
            </a:r>
            <a:endParaRPr lang="en-US" sz="1200" dirty="0"/>
          </a:p>
        </p:txBody>
      </p:sp>
      <p:sp>
        <p:nvSpPr>
          <p:cNvPr id="4" name="Text 2"/>
          <p:cNvSpPr/>
          <p:nvPr/>
        </p:nvSpPr>
        <p:spPr>
          <a:xfrm>
            <a:off x="8360410" y="1460500"/>
            <a:ext cx="3018790" cy="1409700"/>
          </a:xfrm>
          <a:prstGeom prst="roundRect">
            <a:avLst>
              <a:gd name="adj" fmla="val 7207"/>
            </a:avLst>
          </a:prstGeom>
          <a:solidFill>
            <a:srgbClr val="161B26"/>
          </a:solidFill>
          <a:ln/>
        </p:spPr>
        <p:txBody>
          <a:bodyPr wrap="none" lIns="173442" tIns="122642" rIns="95071" bIns="972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strategy: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type: RollingUpdate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rollingUpdate: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maxSurge: 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maxUnavailable: 0</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3108960"/>
          <a:ext cx="10556240" cy="1651000"/>
        </p:xfrm>
        <a:graphic>
          <a:graphicData uri="http://schemas.openxmlformats.org/drawingml/2006/table">
            <a:tbl>
              <a:tblPr/>
              <a:tblGrid>
                <a:gridCol w="1900123"/>
                <a:gridCol w="4644746"/>
                <a:gridCol w="4011371"/>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Strategy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How it works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Trade-off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Rolling update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default: new Pods come up as old ones go down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 downtime; two versions serve briefly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Recreate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Stop every old Pod, then start the new 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Simple, with a short outage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Blue-green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 v1 and v2 side by side; switch the Service selector at once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Instant switch and rollback; double the capacity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Canary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Send a small share of traffic to v2 first, then increase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Tests on real users at low risk; needs traffic splitting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6" name="Text 3"/>
          <p:cNvSpPr/>
          <p:nvPr/>
        </p:nvSpPr>
        <p:spPr>
          <a:xfrm>
            <a:off x="812800" y="6238242"/>
            <a:ext cx="35877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Core workloads</a:t>
            </a:r>
            <a:endParaRPr lang="en-US" sz="1200" dirty="0"/>
          </a:p>
        </p:txBody>
      </p:sp>
      <p:sp>
        <p:nvSpPr>
          <p:cNvPr id="7" name="Text 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Services and cluster DNS</a:t>
            </a:r>
            <a:endParaRPr lang="en-US" sz="3000" dirty="0"/>
          </a:p>
        </p:txBody>
      </p:sp>
      <p:sp>
        <p:nvSpPr>
          <p:cNvPr id="3" name="Text 1"/>
          <p:cNvSpPr/>
          <p:nvPr/>
        </p:nvSpPr>
        <p:spPr>
          <a:xfrm>
            <a:off x="812800" y="1485900"/>
            <a:ext cx="607743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Pod IPs change all the time. A </a:t>
            </a:r>
            <a:r>
              <a:rPr lang="en-US" sz="1400" b="1" dirty="0">
                <a:solidFill>
                  <a:srgbClr val="2B3240"/>
                </a:solidFill>
                <a:latin typeface="IBM Plex Sans" pitchFamily="34" charset="0"/>
                <a:ea typeface="IBM Plex Sans" pitchFamily="34" charset="-122"/>
                <a:cs typeface="IBM Plex Sans" pitchFamily="34" charset="-120"/>
              </a:rPr>
              <a:t>Service</a:t>
            </a:r>
            <a:r>
              <a:rPr lang="en-US" sz="1400" dirty="0">
                <a:solidFill>
                  <a:srgbClr val="2B3240"/>
                </a:solidFill>
                <a:latin typeface="IBM Plex Sans" pitchFamily="34" charset="0"/>
                <a:ea typeface="IBM Plex Sans" pitchFamily="34" charset="-122"/>
                <a:cs typeface="IBM Plex Sans" pitchFamily="34" charset="-120"/>
              </a:rPr>
              <a:t> gives a set of Pods one stable virtual IP and DNS name, and load-balances across them.</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120902"/>
          <a:ext cx="5890260" cy="2504440"/>
        </p:xfrm>
        <a:graphic>
          <a:graphicData uri="http://schemas.openxmlformats.org/drawingml/2006/table">
            <a:tbl>
              <a:tblPr/>
              <a:tblGrid>
                <a:gridCol w="1767078"/>
                <a:gridCol w="2120494"/>
                <a:gridCol w="2002688"/>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Reachable from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Use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ClusterIP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Inside the cluster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Internal APIs and databases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NodePort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Every node’s IP, on a port from 30000–32767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Labs, bare metal, quick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LoadBalancer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An external IP from the cloud’s load balancer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Production entry on a cloud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Headless (clusterIP: 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DNS returns the Pod IPs directly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StatefulSets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7018020" y="1485900"/>
            <a:ext cx="4361180" cy="2565400"/>
          </a:xfrm>
          <a:prstGeom prst="roundRect">
            <a:avLst>
              <a:gd name="adj" fmla="val 3960"/>
            </a:avLst>
          </a:prstGeom>
          <a:solidFill>
            <a:srgbClr val="161B26"/>
          </a:solidFill>
          <a:ln/>
        </p:spPr>
        <p:txBody>
          <a:bodyPr wrap="none" lIns="198842" tIns="148042" rIns="81723"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Service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selector: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app: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ports: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port: 80         </a:t>
            </a:r>
            <a:r>
              <a:rPr lang="en-US" sz="1200" dirty="0">
                <a:solidFill>
                  <a:srgbClr val="8C95A5"/>
                </a:solidFill>
                <a:latin typeface="JetBrains Mono" pitchFamily="49" charset="0"/>
                <a:ea typeface="JetBrains Mono" pitchFamily="49" charset="-122"/>
                <a:cs typeface="JetBrains Mono" pitchFamily="49" charset="-120"/>
              </a:rPr>
              <a:t># Service port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targetPort: 8000 </a:t>
            </a:r>
            <a:r>
              <a:rPr lang="en-US" sz="1200" dirty="0">
                <a:solidFill>
                  <a:srgbClr val="8C95A5"/>
                </a:solidFill>
                <a:latin typeface="JetBrains Mono" pitchFamily="49" charset="0"/>
                <a:ea typeface="JetBrains Mono" pitchFamily="49" charset="-122"/>
                <a:cs typeface="JetBrains Mono" pitchFamily="49" charset="-120"/>
              </a:rPr>
              <a:t># container port</a:t>
            </a:r>
            <a:endParaRPr lang="en-US" sz="1200" dirty="0"/>
          </a:p>
        </p:txBody>
      </p:sp>
      <p:sp>
        <p:nvSpPr>
          <p:cNvPr id="6" name="Shape 3"/>
          <p:cNvSpPr/>
          <p:nvPr/>
        </p:nvSpPr>
        <p:spPr>
          <a:xfrm>
            <a:off x="7018020" y="4178300"/>
            <a:ext cx="4361180" cy="932180"/>
          </a:xfrm>
          <a:prstGeom prst="roundRect">
            <a:avLst>
              <a:gd name="adj" fmla="val 10899"/>
            </a:avLst>
          </a:prstGeom>
          <a:solidFill>
            <a:srgbClr val="E4DDFF"/>
          </a:solidFill>
          <a:ln/>
        </p:spPr>
      </p:sp>
      <p:sp>
        <p:nvSpPr>
          <p:cNvPr id="7" name="Text 4"/>
          <p:cNvSpPr/>
          <p:nvPr/>
        </p:nvSpPr>
        <p:spPr>
          <a:xfrm>
            <a:off x="7195820" y="4305300"/>
            <a:ext cx="41257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DNS NAMES (via CoreDNS)</a:t>
            </a:r>
            <a:endParaRPr lang="en-US" sz="1200" dirty="0"/>
          </a:p>
        </p:txBody>
      </p:sp>
      <p:sp>
        <p:nvSpPr>
          <p:cNvPr id="8" name="Text 5"/>
          <p:cNvSpPr/>
          <p:nvPr/>
        </p:nvSpPr>
        <p:spPr>
          <a:xfrm>
            <a:off x="7195820" y="4556764"/>
            <a:ext cx="41257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api</a:t>
            </a:r>
            <a:endParaRPr lang="en-US" sz="1200" dirty="0"/>
          </a:p>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api.dev.svc.cluster.local</a:t>
            </a:r>
            <a:endParaRPr lang="en-US" sz="1200" dirty="0"/>
          </a:p>
        </p:txBody>
      </p:sp>
      <p:sp>
        <p:nvSpPr>
          <p:cNvPr id="9" name="Text 6"/>
          <p:cNvSpPr/>
          <p:nvPr/>
        </p:nvSpPr>
        <p:spPr>
          <a:xfrm>
            <a:off x="812800" y="6238242"/>
            <a:ext cx="3257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Networking</a:t>
            </a:r>
            <a:endParaRPr lang="en-US" sz="1200" dirty="0"/>
          </a:p>
        </p:txBody>
      </p:sp>
      <p:sp>
        <p:nvSpPr>
          <p:cNvPr id="10" name="Text 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From Ingress to the Gateway API</a:t>
            </a:r>
            <a:endParaRPr lang="en-US" sz="3000" dirty="0"/>
          </a:p>
        </p:txBody>
      </p:sp>
      <p:sp>
        <p:nvSpPr>
          <p:cNvPr id="3" name="Shape 1"/>
          <p:cNvSpPr/>
          <p:nvPr/>
        </p:nvSpPr>
        <p:spPr>
          <a:xfrm>
            <a:off x="812800" y="1536700"/>
            <a:ext cx="4389120" cy="1358900"/>
          </a:xfrm>
          <a:prstGeom prst="roundRect">
            <a:avLst>
              <a:gd name="adj" fmla="val 7477"/>
            </a:avLst>
          </a:prstGeom>
          <a:solidFill>
            <a:srgbClr val="ECE9E2"/>
          </a:solidFill>
          <a:ln/>
        </p:spPr>
      </p:sp>
      <p:sp>
        <p:nvSpPr>
          <p:cNvPr id="4" name="Text 2"/>
          <p:cNvSpPr/>
          <p:nvPr/>
        </p:nvSpPr>
        <p:spPr>
          <a:xfrm>
            <a:off x="965200" y="1663700"/>
            <a:ext cx="42068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6470"/>
                </a:solidFill>
                <a:latin typeface="IBM Plex Sans" pitchFamily="34" charset="0"/>
                <a:ea typeface="IBM Plex Sans" pitchFamily="34" charset="-122"/>
                <a:cs typeface="IBM Plex Sans" pitchFamily="34" charset="-120"/>
              </a:rPr>
              <a:t>INGRESS — THE OLDER API</a:t>
            </a:r>
            <a:endParaRPr lang="en-US" sz="1200" dirty="0"/>
          </a:p>
        </p:txBody>
      </p:sp>
      <p:sp>
        <p:nvSpPr>
          <p:cNvPr id="5" name="Text 3"/>
          <p:cNvSpPr/>
          <p:nvPr/>
        </p:nvSpPr>
        <p:spPr>
          <a:xfrm>
            <a:off x="965200" y="1915158"/>
            <a:ext cx="420685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Host and path routing through an Ingress controller. The API is frozen; new features go to the Gateway API, and the community Ingress-NGINX controller reached end of maintenance in March 2026.</a:t>
            </a:r>
            <a:endParaRPr lang="en-US" sz="1200" dirty="0"/>
          </a:p>
        </p:txBody>
      </p:sp>
      <p:sp>
        <p:nvSpPr>
          <p:cNvPr id="6" name="Shape 4"/>
          <p:cNvSpPr/>
          <p:nvPr/>
        </p:nvSpPr>
        <p:spPr>
          <a:xfrm>
            <a:off x="815975" y="2974975"/>
            <a:ext cx="4382770" cy="420370"/>
          </a:xfrm>
          <a:prstGeom prst="roundRect">
            <a:avLst>
              <a:gd name="adj" fmla="val 20393"/>
            </a:avLst>
          </a:prstGeom>
          <a:solidFill>
            <a:srgbClr val="FDFCFA"/>
          </a:solidFill>
          <a:ln w="6350">
            <a:solidFill>
              <a:srgbClr val="E2DED5"/>
            </a:solidFill>
            <a:prstDash val="solid"/>
          </a:ln>
        </p:spPr>
      </p:sp>
      <p:sp>
        <p:nvSpPr>
          <p:cNvPr id="7" name="Text 5"/>
          <p:cNvSpPr/>
          <p:nvPr/>
        </p:nvSpPr>
        <p:spPr>
          <a:xfrm>
            <a:off x="944880" y="3078485"/>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GatewayClass</a:t>
            </a:r>
            <a:endParaRPr lang="en-US" sz="1200" dirty="0"/>
          </a:p>
        </p:txBody>
      </p:sp>
      <p:sp>
        <p:nvSpPr>
          <p:cNvPr id="8" name="Text 6"/>
          <p:cNvSpPr/>
          <p:nvPr/>
        </p:nvSpPr>
        <p:spPr>
          <a:xfrm>
            <a:off x="2316480" y="3078485"/>
            <a:ext cx="28359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Infra provider: which implementation</a:t>
            </a:r>
            <a:endParaRPr lang="en-US" sz="1200" dirty="0"/>
          </a:p>
        </p:txBody>
      </p:sp>
      <p:sp>
        <p:nvSpPr>
          <p:cNvPr id="9" name="Shape 7"/>
          <p:cNvSpPr/>
          <p:nvPr/>
        </p:nvSpPr>
        <p:spPr>
          <a:xfrm>
            <a:off x="815975" y="3477902"/>
            <a:ext cx="4382770" cy="420370"/>
          </a:xfrm>
          <a:prstGeom prst="roundRect">
            <a:avLst>
              <a:gd name="adj" fmla="val 20393"/>
            </a:avLst>
          </a:prstGeom>
          <a:solidFill>
            <a:srgbClr val="FDFCFA"/>
          </a:solidFill>
          <a:ln w="6350">
            <a:solidFill>
              <a:srgbClr val="E2DED5"/>
            </a:solidFill>
            <a:prstDash val="solid"/>
          </a:ln>
        </p:spPr>
      </p:sp>
      <p:sp>
        <p:nvSpPr>
          <p:cNvPr id="10" name="Text 8"/>
          <p:cNvSpPr/>
          <p:nvPr/>
        </p:nvSpPr>
        <p:spPr>
          <a:xfrm>
            <a:off x="944880" y="3581400"/>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Gateway</a:t>
            </a:r>
            <a:endParaRPr lang="en-US" sz="1200" dirty="0"/>
          </a:p>
        </p:txBody>
      </p:sp>
      <p:sp>
        <p:nvSpPr>
          <p:cNvPr id="11" name="Text 9"/>
          <p:cNvSpPr/>
          <p:nvPr/>
        </p:nvSpPr>
        <p:spPr>
          <a:xfrm>
            <a:off x="2316480" y="3581400"/>
            <a:ext cx="28359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Cluster operator: listeners, ports, TLS</a:t>
            </a:r>
            <a:endParaRPr lang="en-US" sz="1200" dirty="0"/>
          </a:p>
        </p:txBody>
      </p:sp>
      <p:sp>
        <p:nvSpPr>
          <p:cNvPr id="12" name="Shape 10"/>
          <p:cNvSpPr/>
          <p:nvPr/>
        </p:nvSpPr>
        <p:spPr>
          <a:xfrm>
            <a:off x="812800" y="3977642"/>
            <a:ext cx="4389120" cy="416560"/>
          </a:xfrm>
          <a:prstGeom prst="roundRect">
            <a:avLst>
              <a:gd name="adj" fmla="val 21341"/>
            </a:avLst>
          </a:prstGeom>
          <a:solidFill>
            <a:srgbClr val="5A3FD0"/>
          </a:solidFill>
          <a:ln/>
        </p:spPr>
      </p:sp>
      <p:sp>
        <p:nvSpPr>
          <p:cNvPr id="13" name="Text 11"/>
          <p:cNvSpPr/>
          <p:nvPr/>
        </p:nvSpPr>
        <p:spPr>
          <a:xfrm>
            <a:off x="939800" y="40792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5F1"/>
                </a:solidFill>
                <a:latin typeface="JetBrains Mono" pitchFamily="49" charset="0"/>
                <a:ea typeface="JetBrains Mono" pitchFamily="49" charset="-122"/>
                <a:cs typeface="JetBrains Mono" pitchFamily="49" charset="-120"/>
              </a:rPr>
              <a:t>HTTPRoute</a:t>
            </a:r>
            <a:endParaRPr lang="en-US" sz="1200" dirty="0"/>
          </a:p>
        </p:txBody>
      </p:sp>
      <p:sp>
        <p:nvSpPr>
          <p:cNvPr id="14" name="Text 12"/>
          <p:cNvSpPr/>
          <p:nvPr/>
        </p:nvSpPr>
        <p:spPr>
          <a:xfrm>
            <a:off x="2311400" y="4079242"/>
            <a:ext cx="28464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App team: routing rules to Services</a:t>
            </a:r>
            <a:endParaRPr lang="en-US" sz="1200" dirty="0"/>
          </a:p>
        </p:txBody>
      </p:sp>
      <p:sp>
        <p:nvSpPr>
          <p:cNvPr id="15" name="Text 13"/>
          <p:cNvSpPr/>
          <p:nvPr/>
        </p:nvSpPr>
        <p:spPr>
          <a:xfrm>
            <a:off x="812800" y="4521200"/>
            <a:ext cx="45207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Also: header matching, weighted traffic splits and cross-namespace routes.</a:t>
            </a:r>
            <a:endParaRPr lang="en-US" sz="1200" dirty="0"/>
          </a:p>
        </p:txBody>
      </p:sp>
      <p:sp>
        <p:nvSpPr>
          <p:cNvPr id="16" name="Text 14"/>
          <p:cNvSpPr/>
          <p:nvPr/>
        </p:nvSpPr>
        <p:spPr>
          <a:xfrm>
            <a:off x="5506720" y="1536700"/>
            <a:ext cx="5872480" cy="3670300"/>
          </a:xfrm>
          <a:prstGeom prst="roundRect">
            <a:avLst>
              <a:gd name="adj" fmla="val 2768"/>
            </a:avLst>
          </a:prstGeom>
          <a:solidFill>
            <a:srgbClr val="161B26"/>
          </a:solidFill>
          <a:ln/>
        </p:spPr>
        <p:txBody>
          <a:bodyPr wrap="none" lIns="224242" tIns="148042" rIns="63308"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gateway.networking.k8s.io/v1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HTTPRoute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shop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parentRefs: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main-gateway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hostnames: ["shop.example.com"]</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rules: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matches: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path: {type: PathPrefix, value: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backendRefs: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api, port: 80}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backendRefs: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web, port: 80}</a:t>
            </a:r>
            <a:endParaRPr lang="en-US" sz="1200" dirty="0"/>
          </a:p>
        </p:txBody>
      </p:sp>
      <p:sp>
        <p:nvSpPr>
          <p:cNvPr id="17" name="Text 15"/>
          <p:cNvSpPr/>
          <p:nvPr/>
        </p:nvSpPr>
        <p:spPr>
          <a:xfrm>
            <a:off x="812800" y="6238242"/>
            <a:ext cx="32571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Networking</a:t>
            </a:r>
            <a:endParaRPr lang="en-US" sz="1200" dirty="0"/>
          </a:p>
        </p:txBody>
      </p:sp>
      <p:sp>
        <p:nvSpPr>
          <p:cNvPr id="18" name="Text 1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ConfigMaps</a:t>
            </a:r>
            <a:endParaRPr lang="en-US" sz="3000" dirty="0"/>
          </a:p>
        </p:txBody>
      </p:sp>
      <p:sp>
        <p:nvSpPr>
          <p:cNvPr id="3" name="Text 1"/>
          <p:cNvSpPr/>
          <p:nvPr/>
        </p:nvSpPr>
        <p:spPr>
          <a:xfrm>
            <a:off x="812800" y="1485900"/>
            <a:ext cx="42696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3FD0"/>
                </a:solidFill>
                <a:latin typeface="IBM Plex Sans" pitchFamily="34" charset="0"/>
                <a:ea typeface="IBM Plex Sans" pitchFamily="34" charset="-122"/>
                <a:cs typeface="IBM Plex Sans" pitchFamily="34" charset="-120"/>
              </a:rPr>
              <a:t>THE CONFIGMAP</a:t>
            </a:r>
            <a:endParaRPr lang="en-US" sz="1200" dirty="0"/>
          </a:p>
        </p:txBody>
      </p:sp>
      <p:sp>
        <p:nvSpPr>
          <p:cNvPr id="4" name="Text 2"/>
          <p:cNvSpPr/>
          <p:nvPr/>
        </p:nvSpPr>
        <p:spPr>
          <a:xfrm>
            <a:off x="812800" y="1775458"/>
            <a:ext cx="4145280" cy="2565400"/>
          </a:xfrm>
          <a:prstGeom prst="roundRect">
            <a:avLst>
              <a:gd name="adj" fmla="val 3960"/>
            </a:avLst>
          </a:prstGeom>
          <a:solidFill>
            <a:srgbClr val="161B26"/>
          </a:solidFill>
          <a:ln/>
        </p:spPr>
        <p:txBody>
          <a:bodyPr wrap="none" lIns="198842" tIns="148042" rIns="88200"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ConfigMap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api-config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LOG_LEVEL: info</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app.properties: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cache.ttl=60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feature.search=on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endParaRPr lang="en-US" sz="1200" dirty="0"/>
          </a:p>
        </p:txBody>
      </p:sp>
      <p:sp>
        <p:nvSpPr>
          <p:cNvPr id="5" name="Text 3"/>
          <p:cNvSpPr/>
          <p:nvPr/>
        </p:nvSpPr>
        <p:spPr>
          <a:xfrm>
            <a:off x="5161280" y="1485900"/>
            <a:ext cx="640445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3FD0"/>
                </a:solidFill>
                <a:latin typeface="IBM Plex Sans" pitchFamily="34" charset="0"/>
                <a:ea typeface="IBM Plex Sans" pitchFamily="34" charset="-122"/>
                <a:cs typeface="IBM Plex Sans" pitchFamily="34" charset="-120"/>
              </a:rPr>
              <a:t>USING IT IN A POD</a:t>
            </a:r>
            <a:endParaRPr lang="en-US" sz="1200" dirty="0"/>
          </a:p>
        </p:txBody>
      </p:sp>
      <p:sp>
        <p:nvSpPr>
          <p:cNvPr id="6" name="Text 4"/>
          <p:cNvSpPr/>
          <p:nvPr/>
        </p:nvSpPr>
        <p:spPr>
          <a:xfrm>
            <a:off x="5161280" y="1775458"/>
            <a:ext cx="6217920" cy="2565400"/>
          </a:xfrm>
          <a:prstGeom prst="roundRect">
            <a:avLst>
              <a:gd name="adj" fmla="val 3960"/>
            </a:avLst>
          </a:prstGeom>
          <a:solidFill>
            <a:srgbClr val="161B26"/>
          </a:solidFill>
          <a:ln/>
        </p:spPr>
        <p:txBody>
          <a:bodyPr wrap="none" lIns="198842" tIns="148042" rIns="26021"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containers: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ghcr.io/acme/api:1.0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envFrom:                       </a:t>
            </a:r>
            <a:r>
              <a:rPr lang="en-US" sz="1200" dirty="0">
                <a:solidFill>
                  <a:srgbClr val="8C95A5"/>
                </a:solidFill>
                <a:latin typeface="JetBrains Mono" pitchFamily="49" charset="0"/>
                <a:ea typeface="JetBrains Mono" pitchFamily="49" charset="-122"/>
                <a:cs typeface="JetBrains Mono" pitchFamily="49" charset="-120"/>
              </a:rPr>
              <a:t># as env vars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configMapRef: {name: api-config}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volumeMounts:                  </a:t>
            </a:r>
            <a:r>
              <a:rPr lang="en-US" sz="1200" dirty="0">
                <a:solidFill>
                  <a:srgbClr val="8C95A5"/>
                </a:solidFill>
                <a:latin typeface="JetBrains Mono" pitchFamily="49" charset="0"/>
                <a:ea typeface="JetBrains Mono" pitchFamily="49" charset="-122"/>
                <a:cs typeface="JetBrains Mono" pitchFamily="49" charset="-120"/>
              </a:rPr>
              <a:t># as files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cfg, mountPath: /etc/api}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volumes: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cfg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configMap: {name: api-config}</a:t>
            </a:r>
            <a:endParaRPr lang="en-US" sz="1200" dirty="0"/>
          </a:p>
        </p:txBody>
      </p:sp>
      <p:sp>
        <p:nvSpPr>
          <p:cNvPr id="7" name="Text 5"/>
          <p:cNvSpPr/>
          <p:nvPr/>
        </p:nvSpPr>
        <p:spPr>
          <a:xfrm>
            <a:off x="815975" y="4598033"/>
            <a:ext cx="3380264" cy="948690"/>
          </a:xfrm>
          <a:prstGeom prst="roundRect">
            <a:avLst>
              <a:gd name="adj" fmla="val 10375"/>
            </a:avLst>
          </a:prstGeom>
          <a:solidFill>
            <a:srgbClr val="FDFCFA"/>
          </a:solidFill>
          <a:ln w="6350">
            <a:solidFill>
              <a:srgbClr val="E2DED5"/>
            </a:solidFill>
            <a:prstDash val="solid"/>
          </a:ln>
        </p:spPr>
        <p:txBody>
          <a:bodyPr wrap="square" lIns="150877" tIns="125477" rIns="60252" bIns="125477"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Keep configuration out of the image — </a:t>
            </a:r>
            <a:r>
              <a:rPr lang="en-US" sz="1200" b="1" dirty="0">
                <a:solidFill>
                  <a:srgbClr val="2B3240"/>
                </a:solidFill>
                <a:latin typeface="IBM Plex Sans" pitchFamily="34" charset="0"/>
                <a:ea typeface="IBM Plex Sans" pitchFamily="34" charset="-122"/>
                <a:cs typeface="IBM Plex Sans" pitchFamily="34" charset="-120"/>
              </a:rPr>
              <a:t>one image for every environment</a:t>
            </a:r>
            <a:r>
              <a:rPr lang="en-US" sz="1200" dirty="0">
                <a:solidFill>
                  <a:srgbClr val="2B3240"/>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4405789" y="4598033"/>
            <a:ext cx="3380343" cy="948690"/>
          </a:xfrm>
          <a:prstGeom prst="roundRect">
            <a:avLst>
              <a:gd name="adj" fmla="val 10375"/>
            </a:avLst>
          </a:prstGeom>
          <a:solidFill>
            <a:srgbClr val="FDFCFA"/>
          </a:solidFill>
          <a:ln w="6350">
            <a:solidFill>
              <a:srgbClr val="E2DED5"/>
            </a:solidFill>
            <a:prstDash val="solid"/>
          </a:ln>
        </p:spPr>
        <p:txBody>
          <a:bodyPr wrap="square" lIns="150877" tIns="125477" rIns="60249" bIns="100077"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Mounted files update when the ConfigMap changes; env vars don’t — restart with kubectl rollout restart.</a:t>
            </a:r>
            <a:endParaRPr lang="en-US" sz="1200" dirty="0"/>
          </a:p>
        </p:txBody>
      </p:sp>
      <p:sp>
        <p:nvSpPr>
          <p:cNvPr id="9" name="Text 7"/>
          <p:cNvSpPr/>
          <p:nvPr/>
        </p:nvSpPr>
        <p:spPr>
          <a:xfrm>
            <a:off x="7995682" y="4598033"/>
            <a:ext cx="3380343" cy="948690"/>
          </a:xfrm>
          <a:prstGeom prst="roundRect">
            <a:avLst>
              <a:gd name="adj" fmla="val 10375"/>
            </a:avLst>
          </a:prstGeom>
          <a:solidFill>
            <a:srgbClr val="FDFCFA"/>
          </a:solidFill>
          <a:ln w="6350">
            <a:solidFill>
              <a:srgbClr val="E2DED5"/>
            </a:solidFill>
            <a:prstDash val="solid"/>
          </a:ln>
        </p:spPr>
        <p:txBody>
          <a:bodyPr wrap="square" lIns="150878" tIns="125477" rIns="60249" bIns="125477"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Not for secrets, and limited to 1 MiB — mount large files from a volume instead.</a:t>
            </a:r>
            <a:endParaRPr lang="en-US" sz="1200" dirty="0"/>
          </a:p>
        </p:txBody>
      </p:sp>
      <p:sp>
        <p:nvSpPr>
          <p:cNvPr id="10" name="Text 8"/>
          <p:cNvSpPr/>
          <p:nvPr/>
        </p:nvSpPr>
        <p:spPr>
          <a:xfrm>
            <a:off x="812800" y="6238242"/>
            <a:ext cx="44226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Configuration and storage</a:t>
            </a:r>
            <a:endParaRPr lang="en-US" sz="1200" dirty="0"/>
          </a:p>
        </p:txBody>
      </p:sp>
      <p:sp>
        <p:nvSpPr>
          <p:cNvPr id="11" name="Text 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Secrets — and why base64 is not encryption</a:t>
            </a:r>
            <a:endParaRPr lang="en-US" sz="3000" dirty="0"/>
          </a:p>
        </p:txBody>
      </p:sp>
      <p:sp>
        <p:nvSpPr>
          <p:cNvPr id="3" name="Text 1"/>
          <p:cNvSpPr/>
          <p:nvPr/>
        </p:nvSpPr>
        <p:spPr>
          <a:xfrm>
            <a:off x="812800" y="1485900"/>
            <a:ext cx="10566400" cy="1460500"/>
          </a:xfrm>
          <a:prstGeom prst="roundRect">
            <a:avLst>
              <a:gd name="adj" fmla="val 6957"/>
            </a:avLst>
          </a:prstGeom>
          <a:solidFill>
            <a:srgbClr val="161B26"/>
          </a:solidFill>
          <a:ln/>
        </p:spPr>
        <p:txBody>
          <a:bodyPr wrap="none" lIns="224242" tIns="148042" rIns="0"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create secret generic db-cred --from-literal=password='S3cret!'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kubectl get secret db-cred -o jsonpath='{.data.password}'</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UzNjcmV0IQ==</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echo UzNjcmV0IQ== | base64 -d</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S3cret!</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anyone who can read the Secret can read the password</a:t>
            </a:r>
            <a:endParaRPr lang="en-US" sz="1200" dirty="0"/>
          </a:p>
        </p:txBody>
      </p:sp>
      <p:sp>
        <p:nvSpPr>
          <p:cNvPr id="4" name="Shape 2"/>
          <p:cNvSpPr/>
          <p:nvPr/>
        </p:nvSpPr>
        <p:spPr>
          <a:xfrm>
            <a:off x="815975" y="3203575"/>
            <a:ext cx="5175250" cy="1929130"/>
          </a:xfrm>
          <a:prstGeom prst="roundRect">
            <a:avLst>
              <a:gd name="adj" fmla="val 5102"/>
            </a:avLst>
          </a:prstGeom>
          <a:solidFill>
            <a:srgbClr val="FDFCFA"/>
          </a:solidFill>
          <a:ln w="6350">
            <a:solidFill>
              <a:srgbClr val="E2DED5"/>
            </a:solidFill>
            <a:prstDash val="solid"/>
          </a:ln>
        </p:spPr>
      </p:sp>
      <p:sp>
        <p:nvSpPr>
          <p:cNvPr id="5" name="Text 3"/>
          <p:cNvSpPr/>
          <p:nvPr/>
        </p:nvSpPr>
        <p:spPr>
          <a:xfrm>
            <a:off x="1021080" y="3383285"/>
            <a:ext cx="49079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What a Secret is</a:t>
            </a:r>
            <a:endParaRPr lang="en-US" sz="1800" dirty="0"/>
          </a:p>
        </p:txBody>
      </p:sp>
      <p:sp>
        <p:nvSpPr>
          <p:cNvPr id="6" name="Text 4"/>
          <p:cNvSpPr/>
          <p:nvPr/>
        </p:nvSpPr>
        <p:spPr>
          <a:xfrm>
            <a:off x="1021080" y="37338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ConfigMap-like object for passwords, tokens and TLS certificates.</a:t>
            </a:r>
            <a:endParaRPr lang="en-US" sz="1200" dirty="0"/>
          </a:p>
        </p:txBody>
      </p:sp>
      <p:sp>
        <p:nvSpPr>
          <p:cNvPr id="7" name="Text 5"/>
          <p:cNvSpPr/>
          <p:nvPr/>
        </p:nvSpPr>
        <p:spPr>
          <a:xfrm>
            <a:off x="1021080" y="4023358"/>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Values are base64-</a:t>
            </a:r>
            <a:r>
              <a:rPr lang="en-US" sz="1200" b="1" dirty="0">
                <a:solidFill>
                  <a:srgbClr val="2B3240"/>
                </a:solidFill>
                <a:latin typeface="IBM Plex Sans" pitchFamily="34" charset="0"/>
                <a:ea typeface="IBM Plex Sans" pitchFamily="34" charset="-122"/>
                <a:cs typeface="IBM Plex Sans" pitchFamily="34" charset="-120"/>
              </a:rPr>
              <a:t>encoded</a:t>
            </a:r>
            <a:r>
              <a:rPr lang="en-US" sz="1200" dirty="0">
                <a:solidFill>
                  <a:srgbClr val="2B3240"/>
                </a:solidFill>
                <a:latin typeface="IBM Plex Sans" pitchFamily="34" charset="0"/>
                <a:ea typeface="IBM Plex Sans" pitchFamily="34" charset="-122"/>
                <a:cs typeface="IBM Plex Sans" pitchFamily="34" charset="-120"/>
              </a:rPr>
              <a:t>, not encrypted, and by default stored unencrypted in etcd.</a:t>
            </a:r>
            <a:endParaRPr lang="en-US" sz="1200" dirty="0"/>
          </a:p>
        </p:txBody>
      </p:sp>
      <p:sp>
        <p:nvSpPr>
          <p:cNvPr id="8" name="Text 6"/>
          <p:cNvSpPr/>
          <p:nvPr/>
        </p:nvSpPr>
        <p:spPr>
          <a:xfrm>
            <a:off x="1021080" y="4526285"/>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Types include Opaque, kubernetes.io/tls and kubernetes.io/dockerconfigjson.</a:t>
            </a:r>
            <a:endParaRPr lang="en-US" sz="1200" dirty="0"/>
          </a:p>
        </p:txBody>
      </p:sp>
      <p:sp>
        <p:nvSpPr>
          <p:cNvPr id="9" name="Shape 7"/>
          <p:cNvSpPr/>
          <p:nvPr/>
        </p:nvSpPr>
        <p:spPr>
          <a:xfrm>
            <a:off x="6200775" y="3203575"/>
            <a:ext cx="5175250" cy="1929130"/>
          </a:xfrm>
          <a:prstGeom prst="roundRect">
            <a:avLst>
              <a:gd name="adj" fmla="val 5102"/>
            </a:avLst>
          </a:prstGeom>
          <a:solidFill>
            <a:srgbClr val="FDFCFA"/>
          </a:solidFill>
          <a:ln w="6350">
            <a:solidFill>
              <a:srgbClr val="E2DED5"/>
            </a:solidFill>
            <a:prstDash val="solid"/>
          </a:ln>
        </p:spPr>
      </p:sp>
      <p:sp>
        <p:nvSpPr>
          <p:cNvPr id="10" name="Text 8"/>
          <p:cNvSpPr/>
          <p:nvPr/>
        </p:nvSpPr>
        <p:spPr>
          <a:xfrm>
            <a:off x="6405880" y="3383285"/>
            <a:ext cx="49079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Protecting them</a:t>
            </a:r>
            <a:endParaRPr lang="en-US" sz="1800" dirty="0"/>
          </a:p>
        </p:txBody>
      </p:sp>
      <p:sp>
        <p:nvSpPr>
          <p:cNvPr id="11" name="Text 9"/>
          <p:cNvSpPr/>
          <p:nvPr/>
        </p:nvSpPr>
        <p:spPr>
          <a:xfrm>
            <a:off x="6405880" y="37338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Turn on encryption at rest, ideally with a KMS provider.</a:t>
            </a:r>
            <a:endParaRPr lang="en-US" sz="1200" dirty="0"/>
          </a:p>
        </p:txBody>
      </p:sp>
      <p:sp>
        <p:nvSpPr>
          <p:cNvPr id="12" name="Text 10"/>
          <p:cNvSpPr/>
          <p:nvPr/>
        </p:nvSpPr>
        <p:spPr>
          <a:xfrm>
            <a:off x="6405880" y="4023358"/>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Limit who can get or list Secrets with RBAC.</a:t>
            </a:r>
            <a:endParaRPr lang="en-US" sz="1200" dirty="0"/>
          </a:p>
        </p:txBody>
      </p:sp>
      <p:sp>
        <p:nvSpPr>
          <p:cNvPr id="13" name="Text 11"/>
          <p:cNvSpPr/>
          <p:nvPr/>
        </p:nvSpPr>
        <p:spPr>
          <a:xfrm>
            <a:off x="6405880" y="4312927"/>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Never commit Secret YAML to Git — use External Secrets Operator, Sealed Secrets or the Secrets Store CSI driver.</a:t>
            </a:r>
            <a:endParaRPr lang="en-US" sz="1200" dirty="0"/>
          </a:p>
        </p:txBody>
      </p:sp>
      <p:sp>
        <p:nvSpPr>
          <p:cNvPr id="14" name="Text 12"/>
          <p:cNvSpPr/>
          <p:nvPr/>
        </p:nvSpPr>
        <p:spPr>
          <a:xfrm>
            <a:off x="812800" y="6238242"/>
            <a:ext cx="44226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Configuration and storage</a:t>
            </a:r>
            <a:endParaRPr lang="en-US" sz="1200" dirty="0"/>
          </a:p>
        </p:txBody>
      </p:sp>
      <p:sp>
        <p:nvSpPr>
          <p:cNvPr id="15"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PersistentVolumes, claims and StorageClasses</a:t>
            </a:r>
            <a:endParaRPr lang="en-US" sz="3000" dirty="0"/>
          </a:p>
        </p:txBody>
      </p:sp>
      <p:sp>
        <p:nvSpPr>
          <p:cNvPr id="3" name="Shape 1"/>
          <p:cNvSpPr/>
          <p:nvPr/>
        </p:nvSpPr>
        <p:spPr>
          <a:xfrm>
            <a:off x="815975" y="1489075"/>
            <a:ext cx="2182098" cy="608330"/>
          </a:xfrm>
          <a:prstGeom prst="roundRect">
            <a:avLst>
              <a:gd name="adj" fmla="val 14092"/>
            </a:avLst>
          </a:prstGeom>
          <a:solidFill>
            <a:srgbClr val="FDFCFA"/>
          </a:solidFill>
          <a:ln w="6350">
            <a:solidFill>
              <a:srgbClr val="E2DED5"/>
            </a:solidFill>
            <a:prstDash val="solid"/>
          </a:ln>
        </p:spPr>
      </p:sp>
      <p:sp>
        <p:nvSpPr>
          <p:cNvPr id="4" name="Text 2"/>
          <p:cNvSpPr/>
          <p:nvPr/>
        </p:nvSpPr>
        <p:spPr>
          <a:xfrm>
            <a:off x="889854" y="1579885"/>
            <a:ext cx="203434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Pod</a:t>
            </a:r>
            <a:endParaRPr lang="en-US" sz="1200" dirty="0"/>
          </a:p>
        </p:txBody>
      </p:sp>
      <p:sp>
        <p:nvSpPr>
          <p:cNvPr id="5" name="Text 3"/>
          <p:cNvSpPr/>
          <p:nvPr/>
        </p:nvSpPr>
        <p:spPr>
          <a:xfrm>
            <a:off x="889854" y="1793242"/>
            <a:ext cx="203434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mounts the claim</a:t>
            </a:r>
            <a:endParaRPr lang="en-US" sz="1200" dirty="0"/>
          </a:p>
        </p:txBody>
      </p:sp>
      <p:pic>
        <p:nvPicPr>
          <p:cNvPr id="6" name="Image 0" descr="arrow-right">    </p:cNvPr>
          <p:cNvPicPr>
            <a:picLocks noChangeAspect="1"/>
          </p:cNvPicPr>
          <p:nvPr/>
        </p:nvPicPr>
        <p:blipFill>
          <a:blip r:embed="rId1"/>
          <a:srcRect l="0" r="0" t="0" b="0"/>
          <a:stretch/>
        </p:blipFill>
        <p:spPr>
          <a:xfrm>
            <a:off x="3090148" y="1717042"/>
            <a:ext cx="304800" cy="152400"/>
          </a:xfrm>
          <a:prstGeom prst="rect">
            <a:avLst/>
          </a:prstGeom>
        </p:spPr>
      </p:pic>
      <p:sp>
        <p:nvSpPr>
          <p:cNvPr id="7" name="Shape 4"/>
          <p:cNvSpPr/>
          <p:nvPr/>
        </p:nvSpPr>
        <p:spPr>
          <a:xfrm>
            <a:off x="3483848" y="1490985"/>
            <a:ext cx="2178368" cy="604520"/>
          </a:xfrm>
          <a:prstGeom prst="roundRect">
            <a:avLst>
              <a:gd name="adj" fmla="val 14706"/>
            </a:avLst>
          </a:prstGeom>
          <a:solidFill>
            <a:srgbClr val="5A3FD0"/>
          </a:solidFill>
          <a:ln/>
        </p:spPr>
      </p:sp>
      <p:sp>
        <p:nvSpPr>
          <p:cNvPr id="8" name="Text 5"/>
          <p:cNvSpPr/>
          <p:nvPr/>
        </p:nvSpPr>
        <p:spPr>
          <a:xfrm>
            <a:off x="3555821" y="1579885"/>
            <a:ext cx="203442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PVC</a:t>
            </a:r>
            <a:endParaRPr lang="en-US" sz="1200" dirty="0"/>
          </a:p>
        </p:txBody>
      </p:sp>
      <p:sp>
        <p:nvSpPr>
          <p:cNvPr id="9" name="Text 6"/>
          <p:cNvSpPr/>
          <p:nvPr/>
        </p:nvSpPr>
        <p:spPr>
          <a:xfrm>
            <a:off x="3555821" y="1793242"/>
            <a:ext cx="203442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4DDFF"/>
                </a:solidFill>
                <a:latin typeface="IBM Plex Sans" pitchFamily="34" charset="0"/>
                <a:ea typeface="IBM Plex Sans" pitchFamily="34" charset="-122"/>
                <a:cs typeface="IBM Plex Sans" pitchFamily="34" charset="-120"/>
              </a:rPr>
              <a:t>“5Gi, RWO, please”</a:t>
            </a:r>
            <a:endParaRPr lang="en-US" sz="1200" dirty="0"/>
          </a:p>
        </p:txBody>
      </p:sp>
      <p:pic>
        <p:nvPicPr>
          <p:cNvPr id="10" name="Image 1" descr="arrow-right">    </p:cNvPr>
          <p:cNvPicPr>
            <a:picLocks noChangeAspect="1"/>
          </p:cNvPicPr>
          <p:nvPr/>
        </p:nvPicPr>
        <p:blipFill>
          <a:blip r:embed="rId2"/>
          <a:srcRect l="0" r="0" t="0" b="0"/>
          <a:stretch/>
        </p:blipFill>
        <p:spPr>
          <a:xfrm>
            <a:off x="5751116" y="1717042"/>
            <a:ext cx="304800" cy="152400"/>
          </a:xfrm>
          <a:prstGeom prst="rect">
            <a:avLst/>
          </a:prstGeom>
        </p:spPr>
      </p:pic>
      <p:sp>
        <p:nvSpPr>
          <p:cNvPr id="11" name="Shape 7"/>
          <p:cNvSpPr/>
          <p:nvPr/>
        </p:nvSpPr>
        <p:spPr>
          <a:xfrm>
            <a:off x="6144816" y="1490985"/>
            <a:ext cx="2178368" cy="604520"/>
          </a:xfrm>
          <a:prstGeom prst="roundRect">
            <a:avLst>
              <a:gd name="adj" fmla="val 14706"/>
            </a:avLst>
          </a:prstGeom>
          <a:solidFill>
            <a:srgbClr val="E4DDFF"/>
          </a:solidFill>
          <a:ln/>
        </p:spPr>
      </p:sp>
      <p:sp>
        <p:nvSpPr>
          <p:cNvPr id="12" name="Text 8"/>
          <p:cNvSpPr/>
          <p:nvPr/>
        </p:nvSpPr>
        <p:spPr>
          <a:xfrm>
            <a:off x="6216788" y="1579885"/>
            <a:ext cx="203442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PV</a:t>
            </a:r>
            <a:endParaRPr lang="en-US" sz="1200" dirty="0"/>
          </a:p>
        </p:txBody>
      </p:sp>
      <p:sp>
        <p:nvSpPr>
          <p:cNvPr id="13" name="Text 9"/>
          <p:cNvSpPr/>
          <p:nvPr/>
        </p:nvSpPr>
        <p:spPr>
          <a:xfrm>
            <a:off x="6216788" y="1793242"/>
            <a:ext cx="203442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actual volume</a:t>
            </a:r>
            <a:endParaRPr lang="en-US" sz="1200" dirty="0"/>
          </a:p>
        </p:txBody>
      </p:sp>
      <p:pic>
        <p:nvPicPr>
          <p:cNvPr id="14" name="Image 2" descr="arrow-left">    </p:cNvPr>
          <p:cNvPicPr>
            <a:picLocks noChangeAspect="1"/>
          </p:cNvPicPr>
          <p:nvPr/>
        </p:nvPicPr>
        <p:blipFill>
          <a:blip r:embed="rId3"/>
          <a:srcRect l="0" r="0" t="0" b="0"/>
          <a:stretch/>
        </p:blipFill>
        <p:spPr>
          <a:xfrm>
            <a:off x="8412083" y="1717042"/>
            <a:ext cx="304800" cy="152400"/>
          </a:xfrm>
          <a:prstGeom prst="rect">
            <a:avLst/>
          </a:prstGeom>
        </p:spPr>
      </p:pic>
      <p:sp>
        <p:nvSpPr>
          <p:cNvPr id="15" name="Shape 10"/>
          <p:cNvSpPr/>
          <p:nvPr/>
        </p:nvSpPr>
        <p:spPr>
          <a:xfrm>
            <a:off x="8805783" y="1490985"/>
            <a:ext cx="2573417" cy="604520"/>
          </a:xfrm>
          <a:prstGeom prst="roundRect">
            <a:avLst>
              <a:gd name="adj" fmla="val 14706"/>
            </a:avLst>
          </a:prstGeom>
          <a:solidFill>
            <a:srgbClr val="121722"/>
          </a:solidFill>
          <a:ln/>
        </p:spPr>
      </p:sp>
      <p:sp>
        <p:nvSpPr>
          <p:cNvPr id="16" name="Text 11"/>
          <p:cNvSpPr/>
          <p:nvPr/>
        </p:nvSpPr>
        <p:spPr>
          <a:xfrm>
            <a:off x="8871830" y="1579885"/>
            <a:ext cx="244132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StorageClass</a:t>
            </a:r>
            <a:endParaRPr lang="en-US" sz="1200" dirty="0"/>
          </a:p>
        </p:txBody>
      </p:sp>
      <p:sp>
        <p:nvSpPr>
          <p:cNvPr id="17" name="Text 12"/>
          <p:cNvSpPr/>
          <p:nvPr/>
        </p:nvSpPr>
        <p:spPr>
          <a:xfrm>
            <a:off x="8871830" y="1793242"/>
            <a:ext cx="244132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creates PVs on demand</a:t>
            </a:r>
            <a:endParaRPr lang="en-US" sz="1200" dirty="0"/>
          </a:p>
        </p:txBody>
      </p:sp>
      <p:sp>
        <p:nvSpPr>
          <p:cNvPr id="18" name="Text 13"/>
          <p:cNvSpPr/>
          <p:nvPr/>
        </p:nvSpPr>
        <p:spPr>
          <a:xfrm>
            <a:off x="812800" y="2354585"/>
            <a:ext cx="4624070" cy="2565400"/>
          </a:xfrm>
          <a:prstGeom prst="roundRect">
            <a:avLst>
              <a:gd name="adj" fmla="val 3960"/>
            </a:avLst>
          </a:prstGeom>
          <a:solidFill>
            <a:srgbClr val="161B26"/>
          </a:solidFill>
          <a:ln/>
        </p:spPr>
        <p:txBody>
          <a:bodyPr wrap="none" lIns="198842" tIns="148042" rIns="73836"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PersistentVolumeClaim</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accessModes: ["ReadWriteOnce"]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storageClassName: standard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resources: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requests: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storage: 5Gi</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51830" y="2364745"/>
          <a:ext cx="5627370" cy="1651000"/>
        </p:xfrm>
        <a:graphic>
          <a:graphicData uri="http://schemas.openxmlformats.org/drawingml/2006/table">
            <a:tbl>
              <a:tblPr/>
              <a:tblGrid>
                <a:gridCol w="2588590"/>
                <a:gridCol w="3038780"/>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Access mode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ReadWriteOnce (RWO)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Read-write from one node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ReadOnlyMany (ROX)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Read-only from many nodes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ReadWriteMany (RWX)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Read-write from many nodes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ReadWriteOncePod (RWOP)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Read-write from a single Pod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20" name="Text 14"/>
          <p:cNvSpPr/>
          <p:nvPr/>
        </p:nvSpPr>
        <p:spPr>
          <a:xfrm>
            <a:off x="5741670" y="4142742"/>
            <a:ext cx="580665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Reclaim policy:</a:t>
            </a:r>
            <a:r>
              <a:rPr lang="en-US" sz="1200" dirty="0">
                <a:solidFill>
                  <a:srgbClr val="2B3240"/>
                </a:solidFill>
                <a:latin typeface="IBM Plex Sans" pitchFamily="34" charset="0"/>
                <a:ea typeface="IBM Plex Sans" pitchFamily="34" charset="-122"/>
                <a:cs typeface="IBM Plex Sans" pitchFamily="34" charset="-120"/>
              </a:rPr>
              <a:t> Delete (the default for dynamic volumes) removes the disk with the claim; Retain keeps it.</a:t>
            </a:r>
            <a:endParaRPr lang="en-US" sz="1200" dirty="0"/>
          </a:p>
        </p:txBody>
      </p:sp>
      <p:sp>
        <p:nvSpPr>
          <p:cNvPr id="21" name="Text 15"/>
          <p:cNvSpPr/>
          <p:nvPr/>
        </p:nvSpPr>
        <p:spPr>
          <a:xfrm>
            <a:off x="812800" y="6238242"/>
            <a:ext cx="44226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Configuration and storage</a:t>
            </a:r>
            <a:endParaRPr lang="en-US" sz="1200" dirty="0"/>
          </a:p>
        </p:txBody>
      </p:sp>
      <p:sp>
        <p:nvSpPr>
          <p:cNvPr id="22" name="Text 1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StatefulSets</a:t>
            </a:r>
            <a:endParaRPr lang="en-US" sz="3000" dirty="0"/>
          </a:p>
        </p:txBody>
      </p:sp>
      <p:sp>
        <p:nvSpPr>
          <p:cNvPr id="3" name="Text 1"/>
          <p:cNvSpPr/>
          <p:nvPr/>
        </p:nvSpPr>
        <p:spPr>
          <a:xfrm>
            <a:off x="812800" y="1536700"/>
            <a:ext cx="1566307" cy="391160"/>
          </a:xfrm>
          <a:custGeom>
            <a:avLst/>
            <a:gdLst/>
            <a:ahLst/>
            <a:cxnLst/>
            <a:rect l="l" t="t" r="r" b="b"/>
            <a:pathLst>
              <a:path w="1566307" h="391160">
                <a:moveTo>
                  <a:pt x="76200" y="0"/>
                </a:moveTo>
                <a:lnTo>
                  <a:pt x="1490107" y="0"/>
                </a:lnTo>
                <a:arcTo hR="76200" wR="76200" stAng="16200000" swAng="5400000"/>
                <a:lnTo>
                  <a:pt x="1566307" y="314960"/>
                </a:lnTo>
                <a:arcTo hR="76200" wR="76200" stAng="0" swAng="5400000"/>
                <a:lnTo>
                  <a:pt x="76200" y="391160"/>
                </a:lnTo>
                <a:arcTo hR="76200" wR="76200" stAng="5400000" swAng="5400000"/>
                <a:lnTo>
                  <a:pt x="0" y="76200"/>
                </a:lnTo>
                <a:arcTo hR="76200" wR="76200" stAng="10800000" swAng="5400000"/>
                <a:close/>
              </a:path>
            </a:pathLst>
          </a:custGeom>
          <a:solidFill>
            <a:srgbClr val="5A3FD0"/>
          </a:solidFill>
          <a:ln/>
        </p:spPr>
        <p:txBody>
          <a:bodyPr wrap="square" lIns="38100" tIns="88900" rIns="38100" bIns="6350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db-0</a:t>
            </a:r>
            <a:endParaRPr lang="en-US" sz="1200" dirty="0"/>
          </a:p>
        </p:txBody>
      </p:sp>
      <p:pic>
        <p:nvPicPr>
          <p:cNvPr id="4" name="Image 0" descr="arrow-down">    </p:cNvPr>
          <p:cNvPicPr>
            <a:picLocks noChangeAspect="1"/>
          </p:cNvPicPr>
          <p:nvPr/>
        </p:nvPicPr>
        <p:blipFill>
          <a:blip r:embed="rId1"/>
          <a:srcRect l="0" r="0" t="0" b="0"/>
          <a:stretch/>
        </p:blipFill>
        <p:spPr>
          <a:xfrm>
            <a:off x="1532414" y="1978658"/>
            <a:ext cx="127000" cy="177800"/>
          </a:xfrm>
          <a:prstGeom prst="rect">
            <a:avLst/>
          </a:prstGeom>
        </p:spPr>
      </p:pic>
      <p:sp>
        <p:nvSpPr>
          <p:cNvPr id="5" name="Text 2"/>
          <p:cNvSpPr/>
          <p:nvPr/>
        </p:nvSpPr>
        <p:spPr>
          <a:xfrm>
            <a:off x="812800" y="2207258"/>
            <a:ext cx="1566307" cy="365760"/>
          </a:xfrm>
          <a:custGeom>
            <a:avLst/>
            <a:gdLst/>
            <a:ahLst/>
            <a:cxnLst/>
            <a:rect l="l" t="t" r="r" b="b"/>
            <a:pathLst>
              <a:path w="1566307" h="365760">
                <a:moveTo>
                  <a:pt x="76200" y="0"/>
                </a:moveTo>
                <a:lnTo>
                  <a:pt x="1490107" y="0"/>
                </a:lnTo>
                <a:arcTo hR="76200" wR="76200" stAng="16200000" swAng="5400000"/>
                <a:lnTo>
                  <a:pt x="1566307" y="289560"/>
                </a:lnTo>
                <a:arcTo hR="76200" wR="76200" stAng="0" swAng="5400000"/>
                <a:lnTo>
                  <a:pt x="76200" y="365760"/>
                </a:lnTo>
                <a:arcTo hR="76200" wR="76200" stAng="5400000" swAng="5400000"/>
                <a:lnTo>
                  <a:pt x="0" y="76200"/>
                </a:lnTo>
                <a:arcTo hR="76200" wR="76200" stAng="10800000" swAng="5400000"/>
                <a:close/>
              </a:path>
            </a:pathLst>
          </a:custGeom>
          <a:solidFill>
            <a:srgbClr val="E4DDFF"/>
          </a:solidFill>
          <a:ln/>
        </p:spPr>
        <p:txBody>
          <a:bodyPr wrap="square" lIns="38100" tIns="76200" rIns="38100" bIns="508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data-db-0</a:t>
            </a:r>
            <a:endParaRPr lang="en-US" sz="1200" dirty="0"/>
          </a:p>
        </p:txBody>
      </p:sp>
      <p:sp>
        <p:nvSpPr>
          <p:cNvPr id="6" name="Text 3"/>
          <p:cNvSpPr/>
          <p:nvPr/>
        </p:nvSpPr>
        <p:spPr>
          <a:xfrm>
            <a:off x="2480707" y="1536700"/>
            <a:ext cx="1566386" cy="391160"/>
          </a:xfrm>
          <a:custGeom>
            <a:avLst/>
            <a:gdLst/>
            <a:ahLst/>
            <a:cxnLst/>
            <a:rect l="l" t="t" r="r" b="b"/>
            <a:pathLst>
              <a:path w="1566386" h="391160">
                <a:moveTo>
                  <a:pt x="76200" y="0"/>
                </a:moveTo>
                <a:lnTo>
                  <a:pt x="1490186" y="0"/>
                </a:lnTo>
                <a:arcTo hR="76200" wR="76200" stAng="16200000" swAng="5400000"/>
                <a:lnTo>
                  <a:pt x="1566386" y="314960"/>
                </a:lnTo>
                <a:arcTo hR="76200" wR="76200" stAng="0" swAng="5400000"/>
                <a:lnTo>
                  <a:pt x="76200" y="391160"/>
                </a:lnTo>
                <a:arcTo hR="76200" wR="76200" stAng="5400000" swAng="5400000"/>
                <a:lnTo>
                  <a:pt x="0" y="76200"/>
                </a:lnTo>
                <a:arcTo hR="76200" wR="76200" stAng="10800000" swAng="5400000"/>
                <a:close/>
              </a:path>
            </a:pathLst>
          </a:custGeom>
          <a:solidFill>
            <a:srgbClr val="5A3FD0"/>
          </a:solidFill>
          <a:ln/>
        </p:spPr>
        <p:txBody>
          <a:bodyPr wrap="square" lIns="38100" tIns="88900" rIns="38100" bIns="6350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db-1</a:t>
            </a:r>
            <a:endParaRPr lang="en-US" sz="1200" dirty="0"/>
          </a:p>
        </p:txBody>
      </p:sp>
      <p:pic>
        <p:nvPicPr>
          <p:cNvPr id="7" name="Image 1" descr="arrow-down">    </p:cNvPr>
          <p:cNvPicPr>
            <a:picLocks noChangeAspect="1"/>
          </p:cNvPicPr>
          <p:nvPr/>
        </p:nvPicPr>
        <p:blipFill>
          <a:blip r:embed="rId2"/>
          <a:srcRect l="0" r="0" t="0" b="0"/>
          <a:stretch/>
        </p:blipFill>
        <p:spPr>
          <a:xfrm>
            <a:off x="3200400" y="1978658"/>
            <a:ext cx="127000" cy="177800"/>
          </a:xfrm>
          <a:prstGeom prst="rect">
            <a:avLst/>
          </a:prstGeom>
        </p:spPr>
      </p:pic>
      <p:sp>
        <p:nvSpPr>
          <p:cNvPr id="8" name="Text 4"/>
          <p:cNvSpPr/>
          <p:nvPr/>
        </p:nvSpPr>
        <p:spPr>
          <a:xfrm>
            <a:off x="2480707" y="2207258"/>
            <a:ext cx="1566386" cy="365760"/>
          </a:xfrm>
          <a:custGeom>
            <a:avLst/>
            <a:gdLst/>
            <a:ahLst/>
            <a:cxnLst/>
            <a:rect l="l" t="t" r="r" b="b"/>
            <a:pathLst>
              <a:path w="1566386" h="365760">
                <a:moveTo>
                  <a:pt x="76200" y="0"/>
                </a:moveTo>
                <a:lnTo>
                  <a:pt x="1490186" y="0"/>
                </a:lnTo>
                <a:arcTo hR="76200" wR="76200" stAng="16200000" swAng="5400000"/>
                <a:lnTo>
                  <a:pt x="1566386" y="289560"/>
                </a:lnTo>
                <a:arcTo hR="76200" wR="76200" stAng="0" swAng="5400000"/>
                <a:lnTo>
                  <a:pt x="76200" y="365760"/>
                </a:lnTo>
                <a:arcTo hR="76200" wR="76200" stAng="5400000" swAng="5400000"/>
                <a:lnTo>
                  <a:pt x="0" y="76200"/>
                </a:lnTo>
                <a:arcTo hR="76200" wR="76200" stAng="10800000" swAng="5400000"/>
                <a:close/>
              </a:path>
            </a:pathLst>
          </a:custGeom>
          <a:solidFill>
            <a:srgbClr val="E4DDFF"/>
          </a:solidFill>
          <a:ln/>
        </p:spPr>
        <p:txBody>
          <a:bodyPr wrap="square" lIns="38100" tIns="76200" rIns="38100" bIns="508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data-db-1</a:t>
            </a:r>
            <a:endParaRPr lang="en-US" sz="1200" dirty="0"/>
          </a:p>
        </p:txBody>
      </p:sp>
      <p:sp>
        <p:nvSpPr>
          <p:cNvPr id="9" name="Text 5"/>
          <p:cNvSpPr/>
          <p:nvPr/>
        </p:nvSpPr>
        <p:spPr>
          <a:xfrm>
            <a:off x="4148693" y="1536700"/>
            <a:ext cx="1566307" cy="391160"/>
          </a:xfrm>
          <a:custGeom>
            <a:avLst/>
            <a:gdLst/>
            <a:ahLst/>
            <a:cxnLst/>
            <a:rect l="l" t="t" r="r" b="b"/>
            <a:pathLst>
              <a:path w="1566307" h="391160">
                <a:moveTo>
                  <a:pt x="76200" y="0"/>
                </a:moveTo>
                <a:lnTo>
                  <a:pt x="1490107" y="0"/>
                </a:lnTo>
                <a:arcTo hR="76200" wR="76200" stAng="16200000" swAng="5400000"/>
                <a:lnTo>
                  <a:pt x="1566307" y="314960"/>
                </a:lnTo>
                <a:arcTo hR="76200" wR="76200" stAng="0" swAng="5400000"/>
                <a:lnTo>
                  <a:pt x="76200" y="391160"/>
                </a:lnTo>
                <a:arcTo hR="76200" wR="76200" stAng="5400000" swAng="5400000"/>
                <a:lnTo>
                  <a:pt x="0" y="76200"/>
                </a:lnTo>
                <a:arcTo hR="76200" wR="76200" stAng="10800000" swAng="5400000"/>
                <a:close/>
              </a:path>
            </a:pathLst>
          </a:custGeom>
          <a:solidFill>
            <a:srgbClr val="5A3FD0"/>
          </a:solidFill>
          <a:ln/>
        </p:spPr>
        <p:txBody>
          <a:bodyPr wrap="square" lIns="38100" tIns="88900" rIns="38100" bIns="6350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db-2</a:t>
            </a:r>
            <a:endParaRPr lang="en-US" sz="1200" dirty="0"/>
          </a:p>
        </p:txBody>
      </p:sp>
      <p:pic>
        <p:nvPicPr>
          <p:cNvPr id="10" name="Image 2" descr="arrow-down">    </p:cNvPr>
          <p:cNvPicPr>
            <a:picLocks noChangeAspect="1"/>
          </p:cNvPicPr>
          <p:nvPr/>
        </p:nvPicPr>
        <p:blipFill>
          <a:blip r:embed="rId3"/>
          <a:srcRect l="0" r="0" t="0" b="0"/>
          <a:stretch/>
        </p:blipFill>
        <p:spPr>
          <a:xfrm>
            <a:off x="4868307" y="1978658"/>
            <a:ext cx="127000" cy="177800"/>
          </a:xfrm>
          <a:prstGeom prst="rect">
            <a:avLst/>
          </a:prstGeom>
        </p:spPr>
      </p:pic>
      <p:sp>
        <p:nvSpPr>
          <p:cNvPr id="11" name="Text 6"/>
          <p:cNvSpPr/>
          <p:nvPr/>
        </p:nvSpPr>
        <p:spPr>
          <a:xfrm>
            <a:off x="4148693" y="2207258"/>
            <a:ext cx="1566307" cy="365760"/>
          </a:xfrm>
          <a:custGeom>
            <a:avLst/>
            <a:gdLst/>
            <a:ahLst/>
            <a:cxnLst/>
            <a:rect l="l" t="t" r="r" b="b"/>
            <a:pathLst>
              <a:path w="1566307" h="365760">
                <a:moveTo>
                  <a:pt x="76200" y="0"/>
                </a:moveTo>
                <a:lnTo>
                  <a:pt x="1490107" y="0"/>
                </a:lnTo>
                <a:arcTo hR="76200" wR="76200" stAng="16200000" swAng="5400000"/>
                <a:lnTo>
                  <a:pt x="1566307" y="289560"/>
                </a:lnTo>
                <a:arcTo hR="76200" wR="76200" stAng="0" swAng="5400000"/>
                <a:lnTo>
                  <a:pt x="76200" y="365760"/>
                </a:lnTo>
                <a:arcTo hR="76200" wR="76200" stAng="5400000" swAng="5400000"/>
                <a:lnTo>
                  <a:pt x="0" y="76200"/>
                </a:lnTo>
                <a:arcTo hR="76200" wR="76200" stAng="10800000" swAng="5400000"/>
                <a:close/>
              </a:path>
            </a:pathLst>
          </a:custGeom>
          <a:solidFill>
            <a:srgbClr val="E4DDFF"/>
          </a:solidFill>
          <a:ln/>
        </p:spPr>
        <p:txBody>
          <a:bodyPr wrap="square" lIns="38100" tIns="76200" rIns="38100" bIns="5080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data-db-2</a:t>
            </a:r>
            <a:endParaRPr lang="en-US" sz="1200" dirty="0"/>
          </a:p>
        </p:txBody>
      </p:sp>
      <p:sp>
        <p:nvSpPr>
          <p:cNvPr id="12" name="Text 7"/>
          <p:cNvSpPr/>
          <p:nvPr/>
        </p:nvSpPr>
        <p:spPr>
          <a:xfrm>
            <a:off x="812800" y="2725427"/>
            <a:ext cx="504926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Stable names</a:t>
            </a:r>
            <a:r>
              <a:rPr lang="en-US" sz="1400" dirty="0">
                <a:solidFill>
                  <a:srgbClr val="2B3240"/>
                </a:solidFill>
                <a:latin typeface="IBM Plex Sans" pitchFamily="34" charset="0"/>
                <a:ea typeface="IBM Plex Sans" pitchFamily="34" charset="-122"/>
                <a:cs typeface="IBM Plex Sans" pitchFamily="34" charset="-120"/>
              </a:rPr>
              <a:t> — db-0, db-1, db-2 — and ordered start, stop and scaling.</a:t>
            </a:r>
            <a:endParaRPr lang="en-US" sz="1400" dirty="0"/>
          </a:p>
        </p:txBody>
      </p:sp>
      <p:sp>
        <p:nvSpPr>
          <p:cNvPr id="13" name="Text 8"/>
          <p:cNvSpPr/>
          <p:nvPr/>
        </p:nvSpPr>
        <p:spPr>
          <a:xfrm>
            <a:off x="812800" y="3312158"/>
            <a:ext cx="504926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Stable DNS</a:t>
            </a:r>
            <a:r>
              <a:rPr lang="en-US" sz="1400" dirty="0">
                <a:solidFill>
                  <a:srgbClr val="2B3240"/>
                </a:solidFill>
                <a:latin typeface="IBM Plex Sans" pitchFamily="34" charset="0"/>
                <a:ea typeface="IBM Plex Sans" pitchFamily="34" charset="-122"/>
                <a:cs typeface="IBM Plex Sans" pitchFamily="34" charset="-120"/>
              </a:rPr>
              <a:t> through a headless Service: db-0.db.default.svc.cluster.local.</a:t>
            </a:r>
            <a:endParaRPr lang="en-US" sz="1400" dirty="0"/>
          </a:p>
        </p:txBody>
      </p:sp>
      <p:sp>
        <p:nvSpPr>
          <p:cNvPr id="14" name="Text 9"/>
          <p:cNvSpPr/>
          <p:nvPr/>
        </p:nvSpPr>
        <p:spPr>
          <a:xfrm>
            <a:off x="812800" y="3898900"/>
            <a:ext cx="504926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Its own volume per replica</a:t>
            </a:r>
            <a:r>
              <a:rPr lang="en-US" sz="1400" dirty="0">
                <a:solidFill>
                  <a:srgbClr val="2B3240"/>
                </a:solidFill>
                <a:latin typeface="IBM Plex Sans" pitchFamily="34" charset="0"/>
                <a:ea typeface="IBM Plex Sans" pitchFamily="34" charset="-122"/>
                <a:cs typeface="IBM Plex Sans" pitchFamily="34" charset="-120"/>
              </a:rPr>
              <a:t>, which follows the Pod if it moves to another node.</a:t>
            </a:r>
            <a:endParaRPr lang="en-US" sz="1400" dirty="0"/>
          </a:p>
        </p:txBody>
      </p:sp>
      <p:sp>
        <p:nvSpPr>
          <p:cNvPr id="15" name="Text 10"/>
          <p:cNvSpPr/>
          <p:nvPr/>
        </p:nvSpPr>
        <p:spPr>
          <a:xfrm>
            <a:off x="812800" y="4485642"/>
            <a:ext cx="504926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provides identity and storage; replication and failover remain the database’s job — use an operator or a managed database.</a:t>
            </a:r>
            <a:endParaRPr lang="en-US" sz="1200" dirty="0"/>
          </a:p>
        </p:txBody>
      </p:sp>
      <p:sp>
        <p:nvSpPr>
          <p:cNvPr id="16" name="Text 11"/>
          <p:cNvSpPr/>
          <p:nvPr/>
        </p:nvSpPr>
        <p:spPr>
          <a:xfrm>
            <a:off x="6019800" y="1536700"/>
            <a:ext cx="5359400" cy="3891280"/>
          </a:xfrm>
          <a:prstGeom prst="roundRect">
            <a:avLst>
              <a:gd name="adj" fmla="val 2611"/>
            </a:avLst>
          </a:prstGeom>
          <a:solidFill>
            <a:srgbClr val="161B26"/>
          </a:solidFill>
          <a:ln/>
        </p:spPr>
        <p:txBody>
          <a:bodyPr wrap="none" lIns="198842" tIns="148042" rIns="51776"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apps/v1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StatefulSet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 {name: db}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serviceName: db</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headless Service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replicas: 3</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selector: {matchLabels: {app: db}}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template: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Pod spec as in a Deployment,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mounting the "data" volume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volumeClaimTemplates: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metadata: {name: 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accessModes: ["ReadWriteOnce"]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resources: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requests: {storage: 5Gi}</a:t>
            </a:r>
            <a:endParaRPr lang="en-US" sz="1200" dirty="0"/>
          </a:p>
        </p:txBody>
      </p:sp>
      <p:sp>
        <p:nvSpPr>
          <p:cNvPr id="17" name="Text 12"/>
          <p:cNvSpPr/>
          <p:nvPr/>
        </p:nvSpPr>
        <p:spPr>
          <a:xfrm>
            <a:off x="812800" y="6238242"/>
            <a:ext cx="3622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More workloads</a:t>
            </a:r>
            <a:endParaRPr lang="en-US" sz="1200" dirty="0"/>
          </a:p>
        </p:txBody>
      </p:sp>
      <p:sp>
        <p:nvSpPr>
          <p:cNvPr id="18"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DaemonSets</a:t>
            </a:r>
            <a:endParaRPr lang="en-US" sz="3000" dirty="0"/>
          </a:p>
        </p:txBody>
      </p:sp>
      <p:sp>
        <p:nvSpPr>
          <p:cNvPr id="3" name="Shape 1"/>
          <p:cNvSpPr/>
          <p:nvPr/>
        </p:nvSpPr>
        <p:spPr>
          <a:xfrm>
            <a:off x="819150" y="1543050"/>
            <a:ext cx="1553607" cy="1457960"/>
          </a:xfrm>
          <a:prstGeom prst="roundRect">
            <a:avLst>
              <a:gd name="adj" fmla="val 5662"/>
            </a:avLst>
          </a:prstGeom>
          <a:solidFill>
            <a:srgbClr val="FDFCFA"/>
          </a:solidFill>
          <a:ln w="12700">
            <a:solidFill>
              <a:srgbClr val="121722"/>
            </a:solidFill>
            <a:prstDash val="solid"/>
          </a:ln>
        </p:spPr>
      </p:sp>
      <p:sp>
        <p:nvSpPr>
          <p:cNvPr id="4" name="Text 2"/>
          <p:cNvSpPr/>
          <p:nvPr/>
        </p:nvSpPr>
        <p:spPr>
          <a:xfrm>
            <a:off x="911860" y="1635758"/>
            <a:ext cx="141898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node-1</a:t>
            </a:r>
            <a:endParaRPr lang="en-US" sz="1200" dirty="0"/>
          </a:p>
        </p:txBody>
      </p:sp>
      <p:sp>
        <p:nvSpPr>
          <p:cNvPr id="5" name="Text 3"/>
          <p:cNvSpPr/>
          <p:nvPr/>
        </p:nvSpPr>
        <p:spPr>
          <a:xfrm>
            <a:off x="911860" y="1912627"/>
            <a:ext cx="1368187" cy="289560"/>
          </a:xfrm>
          <a:custGeom>
            <a:avLst/>
            <a:gdLst/>
            <a:ahLst/>
            <a:cxnLst/>
            <a:rect l="l" t="t" r="r" b="b"/>
            <a:pathLst>
              <a:path w="1368187" h="289560">
                <a:moveTo>
                  <a:pt x="50800" y="0"/>
                </a:moveTo>
                <a:lnTo>
                  <a:pt x="1317387" y="0"/>
                </a:lnTo>
                <a:arcTo hR="50800" wR="50800" stAng="16200000" swAng="5400000"/>
                <a:lnTo>
                  <a:pt x="1368187" y="238760"/>
                </a:lnTo>
                <a:arcTo hR="50800" wR="50800" stAng="0" swAng="5400000"/>
                <a:lnTo>
                  <a:pt x="50800" y="289560"/>
                </a:lnTo>
                <a:arcTo hR="50800" wR="50800" stAng="5400000" swAng="5400000"/>
                <a:lnTo>
                  <a:pt x="0" y="50800"/>
                </a:lnTo>
                <a:arcTo hR="50800" wR="50800" stAng="10800000" swAng="5400000"/>
                <a:close/>
              </a:path>
            </a:pathLst>
          </a:custGeom>
          <a:solidFill>
            <a:srgbClr val="5A3FD0"/>
          </a:solidFill>
          <a:ln/>
        </p:spPr>
        <p:txBody>
          <a:bodyPr wrap="square" lIns="63500" tIns="38100" rIns="12700" bIns="1270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agent</a:t>
            </a:r>
            <a:endParaRPr lang="en-US" sz="1200" dirty="0"/>
          </a:p>
        </p:txBody>
      </p:sp>
      <p:sp>
        <p:nvSpPr>
          <p:cNvPr id="6" name="Text 4"/>
          <p:cNvSpPr/>
          <p:nvPr/>
        </p:nvSpPr>
        <p:spPr>
          <a:xfrm>
            <a:off x="911860" y="2265685"/>
            <a:ext cx="1368187" cy="289560"/>
          </a:xfrm>
          <a:custGeom>
            <a:avLst/>
            <a:gdLst/>
            <a:ahLst/>
            <a:cxnLst/>
            <a:rect l="l" t="t" r="r" b="b"/>
            <a:pathLst>
              <a:path w="1368187" h="289560">
                <a:moveTo>
                  <a:pt x="50800" y="0"/>
                </a:moveTo>
                <a:lnTo>
                  <a:pt x="1317387" y="0"/>
                </a:lnTo>
                <a:arcTo hR="50800" wR="50800" stAng="16200000" swAng="5400000"/>
                <a:lnTo>
                  <a:pt x="1368187" y="238760"/>
                </a:lnTo>
                <a:arcTo hR="50800" wR="50800" stAng="0" swAng="5400000"/>
                <a:lnTo>
                  <a:pt x="50800" y="289560"/>
                </a:lnTo>
                <a:arcTo hR="50800" wR="50800" stAng="5400000" swAng="5400000"/>
                <a:lnTo>
                  <a:pt x="0" y="50800"/>
                </a:lnTo>
                <a:arcTo hR="50800" wR="50800" stAng="10800000" swAng="5400000"/>
                <a:close/>
              </a:path>
            </a:pathLst>
          </a:custGeom>
          <a:solidFill>
            <a:srgbClr val="ECE9E2"/>
          </a:solidFill>
          <a:ln/>
        </p:spPr>
        <p:txBody>
          <a:bodyPr wrap="square" lIns="63500" tIns="38100" rIns="12700" bIns="1270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web</a:t>
            </a:r>
            <a:endParaRPr lang="en-US" sz="1200" dirty="0"/>
          </a:p>
        </p:txBody>
      </p:sp>
      <p:sp>
        <p:nvSpPr>
          <p:cNvPr id="7" name="Text 5"/>
          <p:cNvSpPr/>
          <p:nvPr/>
        </p:nvSpPr>
        <p:spPr>
          <a:xfrm>
            <a:off x="911860" y="2618742"/>
            <a:ext cx="1368187" cy="289560"/>
          </a:xfrm>
          <a:custGeom>
            <a:avLst/>
            <a:gdLst/>
            <a:ahLst/>
            <a:cxnLst/>
            <a:rect l="l" t="t" r="r" b="b"/>
            <a:pathLst>
              <a:path w="1368187" h="289560">
                <a:moveTo>
                  <a:pt x="50800" y="0"/>
                </a:moveTo>
                <a:lnTo>
                  <a:pt x="1317387" y="0"/>
                </a:lnTo>
                <a:arcTo hR="50800" wR="50800" stAng="16200000" swAng="5400000"/>
                <a:lnTo>
                  <a:pt x="1368187" y="238760"/>
                </a:lnTo>
                <a:arcTo hR="50800" wR="50800" stAng="0" swAng="5400000"/>
                <a:lnTo>
                  <a:pt x="50800" y="289560"/>
                </a:lnTo>
                <a:arcTo hR="50800" wR="50800" stAng="5400000" swAng="5400000"/>
                <a:lnTo>
                  <a:pt x="0" y="50800"/>
                </a:lnTo>
                <a:arcTo hR="50800" wR="50800" stAng="10800000" swAng="5400000"/>
                <a:close/>
              </a:path>
            </a:pathLst>
          </a:custGeom>
          <a:solidFill>
            <a:srgbClr val="ECE9E2"/>
          </a:solidFill>
          <a:ln/>
        </p:spPr>
        <p:txBody>
          <a:bodyPr wrap="square" lIns="63500" tIns="38100" rIns="12700" bIns="1270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api</a:t>
            </a:r>
            <a:endParaRPr lang="en-US" sz="1200" dirty="0"/>
          </a:p>
        </p:txBody>
      </p:sp>
      <p:sp>
        <p:nvSpPr>
          <p:cNvPr id="8" name="Shape 6"/>
          <p:cNvSpPr/>
          <p:nvPr/>
        </p:nvSpPr>
        <p:spPr>
          <a:xfrm>
            <a:off x="2487057" y="1543050"/>
            <a:ext cx="1553686" cy="1457960"/>
          </a:xfrm>
          <a:prstGeom prst="roundRect">
            <a:avLst>
              <a:gd name="adj" fmla="val 5662"/>
            </a:avLst>
          </a:prstGeom>
          <a:solidFill>
            <a:srgbClr val="FDFCFA"/>
          </a:solidFill>
          <a:ln w="12700">
            <a:solidFill>
              <a:srgbClr val="121722"/>
            </a:solidFill>
            <a:prstDash val="solid"/>
          </a:ln>
        </p:spPr>
      </p:sp>
      <p:sp>
        <p:nvSpPr>
          <p:cNvPr id="9" name="Text 7"/>
          <p:cNvSpPr/>
          <p:nvPr/>
        </p:nvSpPr>
        <p:spPr>
          <a:xfrm>
            <a:off x="2579767" y="1635758"/>
            <a:ext cx="141906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node-2</a:t>
            </a:r>
            <a:endParaRPr lang="en-US" sz="1200" dirty="0"/>
          </a:p>
        </p:txBody>
      </p:sp>
      <p:sp>
        <p:nvSpPr>
          <p:cNvPr id="10" name="Text 8"/>
          <p:cNvSpPr/>
          <p:nvPr/>
        </p:nvSpPr>
        <p:spPr>
          <a:xfrm>
            <a:off x="2579767" y="1912627"/>
            <a:ext cx="1368266" cy="289560"/>
          </a:xfrm>
          <a:custGeom>
            <a:avLst/>
            <a:gdLst/>
            <a:ahLst/>
            <a:cxnLst/>
            <a:rect l="l" t="t" r="r" b="b"/>
            <a:pathLst>
              <a:path w="1368266" h="289560">
                <a:moveTo>
                  <a:pt x="50800" y="0"/>
                </a:moveTo>
                <a:lnTo>
                  <a:pt x="1317466" y="0"/>
                </a:lnTo>
                <a:arcTo hR="50800" wR="50800" stAng="16200000" swAng="5400000"/>
                <a:lnTo>
                  <a:pt x="1368266" y="238760"/>
                </a:lnTo>
                <a:arcTo hR="50800" wR="50800" stAng="0" swAng="5400000"/>
                <a:lnTo>
                  <a:pt x="50800" y="289560"/>
                </a:lnTo>
                <a:arcTo hR="50800" wR="50800" stAng="5400000" swAng="5400000"/>
                <a:lnTo>
                  <a:pt x="0" y="50800"/>
                </a:lnTo>
                <a:arcTo hR="50800" wR="50800" stAng="10800000" swAng="5400000"/>
                <a:close/>
              </a:path>
            </a:pathLst>
          </a:custGeom>
          <a:solidFill>
            <a:srgbClr val="5A3FD0"/>
          </a:solidFill>
          <a:ln/>
        </p:spPr>
        <p:txBody>
          <a:bodyPr wrap="square" lIns="63500" tIns="38100" rIns="12700" bIns="1270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agent</a:t>
            </a:r>
            <a:endParaRPr lang="en-US" sz="1200" dirty="0"/>
          </a:p>
        </p:txBody>
      </p:sp>
      <p:sp>
        <p:nvSpPr>
          <p:cNvPr id="11" name="Text 9"/>
          <p:cNvSpPr/>
          <p:nvPr/>
        </p:nvSpPr>
        <p:spPr>
          <a:xfrm>
            <a:off x="2579767" y="2265685"/>
            <a:ext cx="1368266" cy="289560"/>
          </a:xfrm>
          <a:custGeom>
            <a:avLst/>
            <a:gdLst/>
            <a:ahLst/>
            <a:cxnLst/>
            <a:rect l="l" t="t" r="r" b="b"/>
            <a:pathLst>
              <a:path w="1368266" h="289560">
                <a:moveTo>
                  <a:pt x="50800" y="0"/>
                </a:moveTo>
                <a:lnTo>
                  <a:pt x="1317466" y="0"/>
                </a:lnTo>
                <a:arcTo hR="50800" wR="50800" stAng="16200000" swAng="5400000"/>
                <a:lnTo>
                  <a:pt x="1368266" y="238760"/>
                </a:lnTo>
                <a:arcTo hR="50800" wR="50800" stAng="0" swAng="5400000"/>
                <a:lnTo>
                  <a:pt x="50800" y="289560"/>
                </a:lnTo>
                <a:arcTo hR="50800" wR="50800" stAng="5400000" swAng="5400000"/>
                <a:lnTo>
                  <a:pt x="0" y="50800"/>
                </a:lnTo>
                <a:arcTo hR="50800" wR="50800" stAng="10800000" swAng="5400000"/>
                <a:close/>
              </a:path>
            </a:pathLst>
          </a:custGeom>
          <a:solidFill>
            <a:srgbClr val="ECE9E2"/>
          </a:solidFill>
          <a:ln/>
        </p:spPr>
        <p:txBody>
          <a:bodyPr wrap="square" lIns="63500" tIns="38100" rIns="12700" bIns="1270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db</a:t>
            </a:r>
            <a:endParaRPr lang="en-US" sz="1200" dirty="0"/>
          </a:p>
        </p:txBody>
      </p:sp>
      <p:sp>
        <p:nvSpPr>
          <p:cNvPr id="12" name="Shape 10"/>
          <p:cNvSpPr/>
          <p:nvPr/>
        </p:nvSpPr>
        <p:spPr>
          <a:xfrm>
            <a:off x="4155043" y="1543050"/>
            <a:ext cx="1553607" cy="1457960"/>
          </a:xfrm>
          <a:prstGeom prst="roundRect">
            <a:avLst>
              <a:gd name="adj" fmla="val 5662"/>
            </a:avLst>
          </a:prstGeom>
          <a:solidFill>
            <a:srgbClr val="FDFCFA"/>
          </a:solidFill>
          <a:ln w="12700">
            <a:solidFill>
              <a:srgbClr val="5A3FD0"/>
            </a:solidFill>
            <a:prstDash val="dash"/>
          </a:ln>
        </p:spPr>
      </p:sp>
      <p:sp>
        <p:nvSpPr>
          <p:cNvPr id="13" name="Text 11"/>
          <p:cNvSpPr/>
          <p:nvPr/>
        </p:nvSpPr>
        <p:spPr>
          <a:xfrm>
            <a:off x="4247753" y="1635758"/>
            <a:ext cx="141898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IBM Plex Sans" pitchFamily="34" charset="0"/>
                <a:ea typeface="IBM Plex Sans" pitchFamily="34" charset="-122"/>
                <a:cs typeface="IBM Plex Sans" pitchFamily="34" charset="-120"/>
              </a:rPr>
              <a:t>node-3 (new)</a:t>
            </a:r>
            <a:endParaRPr lang="en-US" sz="1200" dirty="0"/>
          </a:p>
        </p:txBody>
      </p:sp>
      <p:sp>
        <p:nvSpPr>
          <p:cNvPr id="14" name="Text 12"/>
          <p:cNvSpPr/>
          <p:nvPr/>
        </p:nvSpPr>
        <p:spPr>
          <a:xfrm>
            <a:off x="4247753" y="1912627"/>
            <a:ext cx="1368187" cy="289560"/>
          </a:xfrm>
          <a:custGeom>
            <a:avLst/>
            <a:gdLst/>
            <a:ahLst/>
            <a:cxnLst/>
            <a:rect l="l" t="t" r="r" b="b"/>
            <a:pathLst>
              <a:path w="1368187" h="289560">
                <a:moveTo>
                  <a:pt x="50800" y="0"/>
                </a:moveTo>
                <a:lnTo>
                  <a:pt x="1317387" y="0"/>
                </a:lnTo>
                <a:arcTo hR="50800" wR="50800" stAng="16200000" swAng="5400000"/>
                <a:lnTo>
                  <a:pt x="1368187" y="238760"/>
                </a:lnTo>
                <a:arcTo hR="50800" wR="50800" stAng="0" swAng="5400000"/>
                <a:lnTo>
                  <a:pt x="50800" y="289560"/>
                </a:lnTo>
                <a:arcTo hR="50800" wR="50800" stAng="5400000" swAng="5400000"/>
                <a:lnTo>
                  <a:pt x="0" y="50800"/>
                </a:lnTo>
                <a:arcTo hR="50800" wR="50800" stAng="10800000" swAng="5400000"/>
                <a:close/>
              </a:path>
            </a:pathLst>
          </a:custGeom>
          <a:solidFill>
            <a:srgbClr val="5A3FD0"/>
          </a:solidFill>
          <a:ln/>
        </p:spPr>
        <p:txBody>
          <a:bodyPr wrap="square" lIns="63500" tIns="38100" rIns="12700" bIns="1270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agent</a:t>
            </a:r>
            <a:endParaRPr lang="en-US" sz="1200" dirty="0"/>
          </a:p>
        </p:txBody>
      </p:sp>
      <p:sp>
        <p:nvSpPr>
          <p:cNvPr id="15" name="Text 13"/>
          <p:cNvSpPr/>
          <p:nvPr/>
        </p:nvSpPr>
        <p:spPr>
          <a:xfrm>
            <a:off x="812800" y="3159758"/>
            <a:ext cx="504926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Exactly </a:t>
            </a:r>
            <a:r>
              <a:rPr lang="en-US" sz="1400" b="1" dirty="0">
                <a:solidFill>
                  <a:srgbClr val="2B3240"/>
                </a:solidFill>
                <a:latin typeface="IBM Plex Sans" pitchFamily="34" charset="0"/>
                <a:ea typeface="IBM Plex Sans" pitchFamily="34" charset="-122"/>
                <a:cs typeface="IBM Plex Sans" pitchFamily="34" charset="-120"/>
              </a:rPr>
              <a:t>one Pod per node</a:t>
            </a:r>
            <a:r>
              <a:rPr lang="en-US" sz="1400" dirty="0">
                <a:solidFill>
                  <a:srgbClr val="2B3240"/>
                </a:solidFill>
                <a:latin typeface="IBM Plex Sans" pitchFamily="34" charset="0"/>
                <a:ea typeface="IBM Plex Sans" pitchFamily="34" charset="-122"/>
                <a:cs typeface="IBM Plex Sans" pitchFamily="34" charset="-120"/>
              </a:rPr>
              <a:t> — or per matching node, with a nodeSelector.</a:t>
            </a:r>
            <a:endParaRPr lang="en-US" sz="1400" dirty="0"/>
          </a:p>
        </p:txBody>
      </p:sp>
      <p:sp>
        <p:nvSpPr>
          <p:cNvPr id="16" name="Text 14"/>
          <p:cNvSpPr/>
          <p:nvPr/>
        </p:nvSpPr>
        <p:spPr>
          <a:xfrm>
            <a:off x="812800" y="3746500"/>
            <a:ext cx="504926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New nodes get one automatically; removed nodes take theirs with them.</a:t>
            </a:r>
            <a:endParaRPr lang="en-US" sz="1400" dirty="0"/>
          </a:p>
        </p:txBody>
      </p:sp>
      <p:sp>
        <p:nvSpPr>
          <p:cNvPr id="17" name="Text 15"/>
          <p:cNvSpPr/>
          <p:nvPr/>
        </p:nvSpPr>
        <p:spPr>
          <a:xfrm>
            <a:off x="812800" y="4333242"/>
            <a:ext cx="504926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Used for log collectors, node metrics, CNI agents, storage drivers and security agents.</a:t>
            </a:r>
            <a:endParaRPr lang="en-US" sz="1400" dirty="0"/>
          </a:p>
        </p:txBody>
      </p:sp>
      <p:sp>
        <p:nvSpPr>
          <p:cNvPr id="18" name="Text 16"/>
          <p:cNvSpPr/>
          <p:nvPr/>
        </p:nvSpPr>
        <p:spPr>
          <a:xfrm>
            <a:off x="6019800" y="1536700"/>
            <a:ext cx="5359400" cy="3891280"/>
          </a:xfrm>
          <a:prstGeom prst="roundRect">
            <a:avLst>
              <a:gd name="adj" fmla="val 2611"/>
            </a:avLst>
          </a:prstGeom>
          <a:solidFill>
            <a:srgbClr val="161B26"/>
          </a:solidFill>
          <a:ln/>
        </p:spPr>
        <p:txBody>
          <a:bodyPr wrap="none" lIns="198842" tIns="148042" rIns="51776"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apps/v1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a:t>
            </a:r>
            <a:r>
              <a:rPr lang="en-US" sz="1200" dirty="0">
                <a:solidFill>
                  <a:srgbClr val="B9A9FF"/>
                </a:solidFill>
                <a:latin typeface="JetBrains Mono" pitchFamily="49" charset="0"/>
                <a:ea typeface="JetBrains Mono" pitchFamily="49" charset="-122"/>
                <a:cs typeface="JetBrains Mono" pitchFamily="49" charset="-120"/>
              </a:rPr>
              <a:t>DaemonSet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node-exporter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namespace: monitoring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selector: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matchLabels: {app: node-exporter}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template: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labels: {app: node-exporter}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containers: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node-exporter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prom/node-exporter:v1.8.2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ports: [{containerPort: 9100}]</a:t>
            </a:r>
            <a:endParaRPr lang="en-US" sz="1200" dirty="0"/>
          </a:p>
        </p:txBody>
      </p:sp>
      <p:sp>
        <p:nvSpPr>
          <p:cNvPr id="19" name="Text 17"/>
          <p:cNvSpPr/>
          <p:nvPr/>
        </p:nvSpPr>
        <p:spPr>
          <a:xfrm>
            <a:off x="812800" y="6238242"/>
            <a:ext cx="3622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More workloads</a:t>
            </a:r>
            <a:endParaRPr lang="en-US" sz="1200" dirty="0"/>
          </a:p>
        </p:txBody>
      </p:sp>
      <p:sp>
        <p:nvSpPr>
          <p:cNvPr id="20" name="Text 1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Jobs and CronJobs</a:t>
            </a:r>
            <a:endParaRPr lang="en-US" sz="3000" dirty="0"/>
          </a:p>
        </p:txBody>
      </p:sp>
      <p:sp>
        <p:nvSpPr>
          <p:cNvPr id="3" name="Text 1"/>
          <p:cNvSpPr/>
          <p:nvPr/>
        </p:nvSpPr>
        <p:spPr>
          <a:xfrm>
            <a:off x="812800" y="1536700"/>
            <a:ext cx="502048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a:t>
            </a:r>
            <a:r>
              <a:rPr lang="en-US" sz="1400" b="1" dirty="0">
                <a:solidFill>
                  <a:srgbClr val="2B3240"/>
                </a:solidFill>
                <a:latin typeface="IBM Plex Sans" pitchFamily="34" charset="0"/>
                <a:ea typeface="IBM Plex Sans" pitchFamily="34" charset="-122"/>
                <a:cs typeface="IBM Plex Sans" pitchFamily="34" charset="-120"/>
              </a:rPr>
              <a:t>Job</a:t>
            </a:r>
            <a:r>
              <a:rPr lang="en-US" sz="1400" dirty="0">
                <a:solidFill>
                  <a:srgbClr val="2B3240"/>
                </a:solidFill>
                <a:latin typeface="IBM Plex Sans" pitchFamily="34" charset="0"/>
                <a:ea typeface="IBM Plex Sans" pitchFamily="34" charset="-122"/>
                <a:cs typeface="IBM Plex Sans" pitchFamily="34" charset="-120"/>
              </a:rPr>
              <a:t> runs Pods until they finish successfully — batch work, migrations, reports. A </a:t>
            </a:r>
            <a:r>
              <a:rPr lang="en-US" sz="1400" b="1" dirty="0">
                <a:solidFill>
                  <a:srgbClr val="2B3240"/>
                </a:solidFill>
                <a:latin typeface="IBM Plex Sans" pitchFamily="34" charset="0"/>
                <a:ea typeface="IBM Plex Sans" pitchFamily="34" charset="-122"/>
                <a:cs typeface="IBM Plex Sans" pitchFamily="34" charset="-120"/>
              </a:rPr>
              <a:t>CronJob</a:t>
            </a:r>
            <a:r>
              <a:rPr lang="en-US" sz="1400" dirty="0">
                <a:solidFill>
                  <a:srgbClr val="2B3240"/>
                </a:solidFill>
                <a:latin typeface="IBM Plex Sans" pitchFamily="34" charset="0"/>
                <a:ea typeface="IBM Plex Sans" pitchFamily="34" charset="-122"/>
                <a:cs typeface="IBM Plex Sans" pitchFamily="34" charset="-120"/>
              </a:rPr>
              <a:t> creates Jobs on a schedule.</a:t>
            </a:r>
            <a:endParaRPr lang="en-US" sz="1400" dirty="0"/>
          </a:p>
        </p:txBody>
      </p:sp>
      <p:sp>
        <p:nvSpPr>
          <p:cNvPr id="4" name="Shape 2"/>
          <p:cNvSpPr/>
          <p:nvPr/>
        </p:nvSpPr>
        <p:spPr>
          <a:xfrm>
            <a:off x="812800" y="2742567"/>
            <a:ext cx="4874260" cy="0"/>
          </a:xfrm>
          <a:prstGeom prst="line">
            <a:avLst/>
          </a:prstGeom>
          <a:noFill/>
          <a:ln w="6350">
            <a:solidFill>
              <a:srgbClr val="E2DED5"/>
            </a:solidFill>
            <a:prstDash val="solid"/>
          </a:ln>
        </p:spPr>
      </p:sp>
      <p:sp>
        <p:nvSpPr>
          <p:cNvPr id="5" name="Text 3"/>
          <p:cNvSpPr/>
          <p:nvPr/>
        </p:nvSpPr>
        <p:spPr>
          <a:xfrm>
            <a:off x="812800" y="2225042"/>
            <a:ext cx="50204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completions · parallelism</a:t>
            </a:r>
            <a:endParaRPr lang="en-US" sz="1200" dirty="0"/>
          </a:p>
        </p:txBody>
      </p:sp>
      <p:sp>
        <p:nvSpPr>
          <p:cNvPr id="6" name="Text 4"/>
          <p:cNvSpPr/>
          <p:nvPr/>
        </p:nvSpPr>
        <p:spPr>
          <a:xfrm>
            <a:off x="812800" y="2463800"/>
            <a:ext cx="50204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How many successful runs, and how many at once</a:t>
            </a:r>
            <a:endParaRPr lang="en-US" sz="1200" dirty="0"/>
          </a:p>
        </p:txBody>
      </p:sp>
      <p:sp>
        <p:nvSpPr>
          <p:cNvPr id="7" name="Shape 5"/>
          <p:cNvSpPr/>
          <p:nvPr/>
        </p:nvSpPr>
        <p:spPr>
          <a:xfrm>
            <a:off x="812800" y="3402967"/>
            <a:ext cx="4874260" cy="0"/>
          </a:xfrm>
          <a:prstGeom prst="line">
            <a:avLst/>
          </a:prstGeom>
          <a:noFill/>
          <a:ln w="6350">
            <a:solidFill>
              <a:srgbClr val="E2DED5"/>
            </a:solidFill>
            <a:prstDash val="solid"/>
          </a:ln>
        </p:spPr>
      </p:sp>
      <p:sp>
        <p:nvSpPr>
          <p:cNvPr id="8" name="Text 6"/>
          <p:cNvSpPr/>
          <p:nvPr/>
        </p:nvSpPr>
        <p:spPr>
          <a:xfrm>
            <a:off x="812800" y="2885442"/>
            <a:ext cx="50204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backoffLimit</a:t>
            </a:r>
            <a:endParaRPr lang="en-US" sz="1200" dirty="0"/>
          </a:p>
        </p:txBody>
      </p:sp>
      <p:sp>
        <p:nvSpPr>
          <p:cNvPr id="9" name="Text 7"/>
          <p:cNvSpPr/>
          <p:nvPr/>
        </p:nvSpPr>
        <p:spPr>
          <a:xfrm>
            <a:off x="812800" y="3124200"/>
            <a:ext cx="50204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Retries before the Job is marked failed</a:t>
            </a:r>
            <a:endParaRPr lang="en-US" sz="1200" dirty="0"/>
          </a:p>
        </p:txBody>
      </p:sp>
      <p:sp>
        <p:nvSpPr>
          <p:cNvPr id="10" name="Shape 8"/>
          <p:cNvSpPr/>
          <p:nvPr/>
        </p:nvSpPr>
        <p:spPr>
          <a:xfrm>
            <a:off x="812800" y="4063367"/>
            <a:ext cx="4874260" cy="0"/>
          </a:xfrm>
          <a:prstGeom prst="line">
            <a:avLst/>
          </a:prstGeom>
          <a:noFill/>
          <a:ln w="6350">
            <a:solidFill>
              <a:srgbClr val="E2DED5"/>
            </a:solidFill>
            <a:prstDash val="solid"/>
          </a:ln>
        </p:spPr>
      </p:sp>
      <p:sp>
        <p:nvSpPr>
          <p:cNvPr id="11" name="Text 9"/>
          <p:cNvSpPr/>
          <p:nvPr/>
        </p:nvSpPr>
        <p:spPr>
          <a:xfrm>
            <a:off x="812800" y="3545842"/>
            <a:ext cx="50204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activeDeadlineSeconds</a:t>
            </a:r>
            <a:endParaRPr lang="en-US" sz="1200" dirty="0"/>
          </a:p>
        </p:txBody>
      </p:sp>
      <p:sp>
        <p:nvSpPr>
          <p:cNvPr id="12" name="Text 10"/>
          <p:cNvSpPr/>
          <p:nvPr/>
        </p:nvSpPr>
        <p:spPr>
          <a:xfrm>
            <a:off x="812800" y="3784600"/>
            <a:ext cx="50204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time limit for the whole Job</a:t>
            </a:r>
            <a:endParaRPr lang="en-US" sz="1200" dirty="0"/>
          </a:p>
        </p:txBody>
      </p:sp>
      <p:sp>
        <p:nvSpPr>
          <p:cNvPr id="13" name="Shape 11"/>
          <p:cNvSpPr/>
          <p:nvPr/>
        </p:nvSpPr>
        <p:spPr>
          <a:xfrm>
            <a:off x="812800" y="4723767"/>
            <a:ext cx="4874260" cy="0"/>
          </a:xfrm>
          <a:prstGeom prst="line">
            <a:avLst/>
          </a:prstGeom>
          <a:noFill/>
          <a:ln w="6350">
            <a:solidFill>
              <a:srgbClr val="E2DED5"/>
            </a:solidFill>
            <a:prstDash val="solid"/>
          </a:ln>
        </p:spPr>
      </p:sp>
      <p:sp>
        <p:nvSpPr>
          <p:cNvPr id="14" name="Text 12"/>
          <p:cNvSpPr/>
          <p:nvPr/>
        </p:nvSpPr>
        <p:spPr>
          <a:xfrm>
            <a:off x="812800" y="4206242"/>
            <a:ext cx="50204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ttlSecondsAfterFinished</a:t>
            </a:r>
            <a:endParaRPr lang="en-US" sz="1200" dirty="0"/>
          </a:p>
        </p:txBody>
      </p:sp>
      <p:sp>
        <p:nvSpPr>
          <p:cNvPr id="15" name="Text 13"/>
          <p:cNvSpPr/>
          <p:nvPr/>
        </p:nvSpPr>
        <p:spPr>
          <a:xfrm>
            <a:off x="812800" y="4445000"/>
            <a:ext cx="50204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Clean up finished Jobs automatically</a:t>
            </a:r>
            <a:endParaRPr lang="en-US" sz="1200" dirty="0"/>
          </a:p>
        </p:txBody>
      </p:sp>
      <p:sp>
        <p:nvSpPr>
          <p:cNvPr id="16" name="Shape 14"/>
          <p:cNvSpPr/>
          <p:nvPr/>
        </p:nvSpPr>
        <p:spPr>
          <a:xfrm>
            <a:off x="812800" y="5384167"/>
            <a:ext cx="4874260" cy="0"/>
          </a:xfrm>
          <a:prstGeom prst="line">
            <a:avLst/>
          </a:prstGeom>
          <a:noFill/>
          <a:ln w="6350">
            <a:solidFill>
              <a:srgbClr val="E2DED5"/>
            </a:solidFill>
            <a:prstDash val="solid"/>
          </a:ln>
        </p:spPr>
      </p:sp>
      <p:sp>
        <p:nvSpPr>
          <p:cNvPr id="17" name="Text 15"/>
          <p:cNvSpPr/>
          <p:nvPr/>
        </p:nvSpPr>
        <p:spPr>
          <a:xfrm>
            <a:off x="812800" y="4866642"/>
            <a:ext cx="50204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concurrencyPolicy</a:t>
            </a:r>
            <a:endParaRPr lang="en-US" sz="1200" dirty="0"/>
          </a:p>
        </p:txBody>
      </p:sp>
      <p:sp>
        <p:nvSpPr>
          <p:cNvPr id="18" name="Text 16"/>
          <p:cNvSpPr/>
          <p:nvPr/>
        </p:nvSpPr>
        <p:spPr>
          <a:xfrm>
            <a:off x="812800" y="5105400"/>
            <a:ext cx="50204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CronJob overlap: Allow, Forbid or Replace</a:t>
            </a:r>
            <a:endParaRPr lang="en-US" sz="1200" dirty="0"/>
          </a:p>
        </p:txBody>
      </p:sp>
      <p:sp>
        <p:nvSpPr>
          <p:cNvPr id="19" name="Text 17"/>
          <p:cNvSpPr/>
          <p:nvPr/>
        </p:nvSpPr>
        <p:spPr>
          <a:xfrm>
            <a:off x="5991860" y="1536700"/>
            <a:ext cx="5387340" cy="4112260"/>
          </a:xfrm>
          <a:prstGeom prst="roundRect">
            <a:avLst>
              <a:gd name="adj" fmla="val 2471"/>
            </a:avLst>
          </a:prstGeom>
          <a:solidFill>
            <a:srgbClr val="161B26"/>
          </a:solidFill>
          <a:ln/>
        </p:spPr>
        <p:txBody>
          <a:bodyPr wrap="none" lIns="198842" tIns="148042" rIns="50938"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batch/v1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CronJob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nightly-backup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schedule: "30 2 * * *"</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02:30 daily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timeZone: "Asia/Kolkata"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concurrencyPolicy: Forbid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jobTemplate: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backoffLimit: 3</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template: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restartPolicy: OnFailure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containers: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name: backup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ghcr.io/acme/db-backup:1.0</a:t>
            </a:r>
            <a:endParaRPr lang="en-US" sz="1200" dirty="0"/>
          </a:p>
        </p:txBody>
      </p:sp>
      <p:sp>
        <p:nvSpPr>
          <p:cNvPr id="20" name="Text 18"/>
          <p:cNvSpPr/>
          <p:nvPr/>
        </p:nvSpPr>
        <p:spPr>
          <a:xfrm>
            <a:off x="812800" y="6238242"/>
            <a:ext cx="3622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More workloads</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Liveness, readiness and startup probes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5627370" cy="1960880"/>
        </p:xfrm>
        <a:graphic>
          <a:graphicData uri="http://schemas.openxmlformats.org/drawingml/2006/table">
            <a:tbl>
              <a:tblPr/>
              <a:tblGrid>
                <a:gridCol w="1575664"/>
                <a:gridCol w="1913306"/>
                <a:gridCol w="2138401"/>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Probe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Asks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On failure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startupProbe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Has the app finished starting?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Other probes wait; after the threshold, restart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livenessProbe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Is the app stuck or dead?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container is restarted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readinessProbe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Can it serve traffic now?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Removed from Service endpoints — no restart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3583942"/>
            <a:ext cx="58066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Checks can be httpGet, tcpSocket, exec or grpc.</a:t>
            </a:r>
            <a:endParaRPr lang="en-US" sz="1200" dirty="0"/>
          </a:p>
        </p:txBody>
      </p:sp>
      <p:sp>
        <p:nvSpPr>
          <p:cNvPr id="5" name="Shape 2"/>
          <p:cNvSpPr/>
          <p:nvPr/>
        </p:nvSpPr>
        <p:spPr>
          <a:xfrm>
            <a:off x="812800" y="3924300"/>
            <a:ext cx="5637530" cy="1209040"/>
          </a:xfrm>
          <a:prstGeom prst="roundRect">
            <a:avLst>
              <a:gd name="adj" fmla="val 8403"/>
            </a:avLst>
          </a:prstGeom>
          <a:solidFill>
            <a:srgbClr val="E4DDFF"/>
          </a:solidFill>
          <a:ln/>
        </p:spPr>
      </p:sp>
      <p:sp>
        <p:nvSpPr>
          <p:cNvPr id="6" name="Text 3"/>
          <p:cNvSpPr/>
          <p:nvPr/>
        </p:nvSpPr>
        <p:spPr>
          <a:xfrm>
            <a:off x="990600" y="4076700"/>
            <a:ext cx="544038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IBM Plex Sans" pitchFamily="34" charset="0"/>
                <a:ea typeface="IBM Plex Sans" pitchFamily="34" charset="-122"/>
                <a:cs typeface="IBM Plex Sans" pitchFamily="34" charset="-120"/>
              </a:rPr>
              <a:t>PITFALLS</a:t>
            </a:r>
            <a:endParaRPr lang="en-US" sz="1200" dirty="0"/>
          </a:p>
        </p:txBody>
      </p:sp>
      <p:sp>
        <p:nvSpPr>
          <p:cNvPr id="7" name="Text 4"/>
          <p:cNvSpPr/>
          <p:nvPr/>
        </p:nvSpPr>
        <p:spPr>
          <a:xfrm>
            <a:off x="990600" y="4340858"/>
            <a:ext cx="544038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A liveness probe that checks the database restarts every Pod when the database has a blip. An aggressive liveness probe on a slow starter causes CrashLoopBackOff — add a startupProbe.</a:t>
            </a:r>
            <a:endParaRPr lang="en-US" sz="1200" dirty="0"/>
          </a:p>
        </p:txBody>
      </p:sp>
      <p:sp>
        <p:nvSpPr>
          <p:cNvPr id="8" name="Text 5"/>
          <p:cNvSpPr/>
          <p:nvPr/>
        </p:nvSpPr>
        <p:spPr>
          <a:xfrm>
            <a:off x="6755130" y="1485900"/>
            <a:ext cx="4624070" cy="3647440"/>
          </a:xfrm>
          <a:prstGeom prst="roundRect">
            <a:avLst>
              <a:gd name="adj" fmla="val 2786"/>
            </a:avLst>
          </a:prstGeom>
          <a:solidFill>
            <a:srgbClr val="161B26"/>
          </a:solidFill>
          <a:ln/>
        </p:spPr>
        <p:txBody>
          <a:bodyPr wrap="none" lIns="198842" tIns="148042" rIns="73836" bIns="148042" rtlCol="0" anchor="t">
            <a:normAutofit/>
          </a:bodyPr>
          <a:lstStyle/>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startupProbe: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httpGet: {path: /healthz, port: 8000}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failureThreshold: 30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periodSeconds: 2</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livenessProbe: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httpGet: {path: /healthz, port: 8000}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periodSeconds: 10</a:t>
            </a:r>
            <a:endParaRPr lang="en-US" sz="1200" dirty="0"/>
          </a:p>
          <a:p>
            <a:pPr algn="l" indent="0" marL="0">
              <a:lnSpc>
                <a:spcPts val="1740"/>
              </a:lnSpc>
              <a:buNone/>
            </a:pPr>
            <a:r>
              <a:rPr lang="en-US" sz="1200" dirty="0">
                <a:solidFill>
                  <a:srgbClr val="B9A9FF"/>
                </a:solidFill>
                <a:latin typeface="JetBrains Mono" pitchFamily="49" charset="0"/>
                <a:ea typeface="JetBrains Mono" pitchFamily="49" charset="-122"/>
                <a:cs typeface="JetBrains Mono" pitchFamily="49" charset="-120"/>
              </a:rPr>
              <a:t>readinessProbe: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httpGet: {path: /ready, port: 8000}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periodSeconds: 5</a:t>
            </a:r>
            <a:endParaRPr lang="en-US" sz="1200" dirty="0"/>
          </a:p>
        </p:txBody>
      </p:sp>
      <p:sp>
        <p:nvSpPr>
          <p:cNvPr id="9" name="Text 6"/>
          <p:cNvSpPr/>
          <p:nvPr/>
        </p:nvSpPr>
        <p:spPr>
          <a:xfrm>
            <a:off x="812800" y="6238242"/>
            <a:ext cx="40907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Reliability and scaling</a:t>
            </a:r>
            <a:endParaRPr lang="en-US" sz="1200" dirty="0"/>
          </a:p>
        </p:txBody>
      </p:sp>
      <p:sp>
        <p:nvSpPr>
          <p:cNvPr id="10" name="Text 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Requests, limits, QoS and quotas</a:t>
            </a:r>
            <a:endParaRPr lang="en-US" sz="3000" dirty="0"/>
          </a:p>
        </p:txBody>
      </p:sp>
      <p:sp>
        <p:nvSpPr>
          <p:cNvPr id="3" name="Text 1"/>
          <p:cNvSpPr/>
          <p:nvPr/>
        </p:nvSpPr>
        <p:spPr>
          <a:xfrm>
            <a:off x="812800" y="1485900"/>
            <a:ext cx="4361180" cy="1681480"/>
          </a:xfrm>
          <a:prstGeom prst="roundRect">
            <a:avLst>
              <a:gd name="adj" fmla="val 6042"/>
            </a:avLst>
          </a:prstGeom>
          <a:solidFill>
            <a:srgbClr val="161B26"/>
          </a:solidFill>
          <a:ln/>
        </p:spPr>
        <p:txBody>
          <a:bodyPr wrap="none" lIns="198842" tIns="148042" rIns="81723"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resources: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requests:</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reserved by the scheduler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cpu: 250m</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memory: 256Mi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limits:</a:t>
            </a: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C95A5"/>
                </a:solidFill>
                <a:latin typeface="JetBrains Mono" pitchFamily="49" charset="0"/>
                <a:ea typeface="JetBrains Mono" pitchFamily="49" charset="-122"/>
                <a:cs typeface="JetBrains Mono" pitchFamily="49" charset="-120"/>
              </a:rPr>
              <a:t># hard ceiling at runtime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memory: 512Mi</a:t>
            </a:r>
            <a:endParaRPr lang="en-US" sz="1200" dirty="0"/>
          </a:p>
        </p:txBody>
      </p:sp>
      <p:sp>
        <p:nvSpPr>
          <p:cNvPr id="4" name="Text 2"/>
          <p:cNvSpPr/>
          <p:nvPr/>
        </p:nvSpPr>
        <p:spPr>
          <a:xfrm>
            <a:off x="812800" y="3294385"/>
            <a:ext cx="449201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Over the CPU limit → </a:t>
            </a:r>
            <a:r>
              <a:rPr lang="en-US" sz="1400" b="1" dirty="0">
                <a:solidFill>
                  <a:srgbClr val="2B3240"/>
                </a:solidFill>
                <a:latin typeface="IBM Plex Sans" pitchFamily="34" charset="0"/>
                <a:ea typeface="IBM Plex Sans" pitchFamily="34" charset="-122"/>
                <a:cs typeface="IBM Plex Sans" pitchFamily="34" charset="-120"/>
              </a:rPr>
              <a:t>throttled</a:t>
            </a:r>
            <a:r>
              <a:rPr lang="en-US" sz="1400" dirty="0">
                <a:solidFill>
                  <a:srgbClr val="2B3240"/>
                </a:solidFill>
                <a:latin typeface="IBM Plex Sans" pitchFamily="34" charset="0"/>
                <a:ea typeface="IBM Plex Sans" pitchFamily="34" charset="-122"/>
                <a:cs typeface="IBM Plex Sans" pitchFamily="34" charset="-120"/>
              </a:rPr>
              <a:t>. Over the memory limit → </a:t>
            </a:r>
            <a:r>
              <a:rPr lang="en-US" sz="1400" b="1" dirty="0">
                <a:solidFill>
                  <a:srgbClr val="2B3240"/>
                </a:solidFill>
                <a:latin typeface="IBM Plex Sans" pitchFamily="34" charset="0"/>
                <a:ea typeface="IBM Plex Sans" pitchFamily="34" charset="-122"/>
                <a:cs typeface="IBM Plex Sans" pitchFamily="34" charset="-120"/>
              </a:rPr>
              <a:t>OOMKilled</a:t>
            </a:r>
            <a:r>
              <a:rPr lang="en-US" sz="1400" dirty="0">
                <a:solidFill>
                  <a:srgbClr val="2B3240"/>
                </a:solidFill>
                <a:latin typeface="IBM Plex Sans" pitchFamily="34" charset="0"/>
                <a:ea typeface="IBM Plex Sans" pitchFamily="34" charset="-122"/>
                <a:cs typeface="IBM Plex Sans" pitchFamily="34" charset="-120"/>
              </a:rPr>
              <a:t> (exit code 137).</a:t>
            </a:r>
            <a:endParaRPr lang="en-US" sz="1400" dirty="0"/>
          </a:p>
        </p:txBody>
      </p:sp>
      <p:sp>
        <p:nvSpPr>
          <p:cNvPr id="5" name="Text 3"/>
          <p:cNvSpPr/>
          <p:nvPr/>
        </p:nvSpPr>
        <p:spPr>
          <a:xfrm>
            <a:off x="812800" y="3919227"/>
            <a:ext cx="44920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Units: 500m = half a CPU core; memory in Mi and Gi.</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8940" y="1496060"/>
          <a:ext cx="5890260" cy="1747520"/>
        </p:xfrm>
        <a:graphic>
          <a:graphicData uri="http://schemas.openxmlformats.org/drawingml/2006/table">
            <a:tbl>
              <a:tblPr/>
              <a:tblGrid>
                <a:gridCol w="1413662"/>
                <a:gridCol w="2945130"/>
                <a:gridCol w="1531468"/>
              </a:tblGrid>
              <a:tr h="54356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QoS class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Evicted under pressure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Guaranteed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Requests equal limits for CPU and memory, in every container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Burstable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Some requests or limits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In between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BestEffort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Nothing set at 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First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7" name="Shape 4"/>
          <p:cNvSpPr/>
          <p:nvPr/>
        </p:nvSpPr>
        <p:spPr>
          <a:xfrm>
            <a:off x="5481955" y="3373760"/>
            <a:ext cx="5894070" cy="1075690"/>
          </a:xfrm>
          <a:prstGeom prst="roundRect">
            <a:avLst>
              <a:gd name="adj" fmla="val 9150"/>
            </a:avLst>
          </a:prstGeom>
          <a:solidFill>
            <a:srgbClr val="FDFCFA"/>
          </a:solidFill>
          <a:ln w="6350">
            <a:solidFill>
              <a:srgbClr val="E2DED5"/>
            </a:solidFill>
            <a:prstDash val="solid"/>
          </a:ln>
        </p:spPr>
      </p:sp>
      <p:sp>
        <p:nvSpPr>
          <p:cNvPr id="8" name="Text 5"/>
          <p:cNvSpPr/>
          <p:nvPr/>
        </p:nvSpPr>
        <p:spPr>
          <a:xfrm>
            <a:off x="5661660" y="3528058"/>
            <a:ext cx="57007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IBM Plex Sans" pitchFamily="34" charset="0"/>
                <a:ea typeface="IBM Plex Sans" pitchFamily="34" charset="-122"/>
                <a:cs typeface="IBM Plex Sans" pitchFamily="34" charset="-120"/>
              </a:rPr>
              <a:t>NAMESPACE GUARDRAILS</a:t>
            </a:r>
            <a:endParaRPr lang="en-US" sz="1200" dirty="0"/>
          </a:p>
        </p:txBody>
      </p:sp>
      <p:sp>
        <p:nvSpPr>
          <p:cNvPr id="9" name="Text 6"/>
          <p:cNvSpPr/>
          <p:nvPr/>
        </p:nvSpPr>
        <p:spPr>
          <a:xfrm>
            <a:off x="5661660" y="3804927"/>
            <a:ext cx="57111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ResourceQuota</a:t>
            </a:r>
            <a:r>
              <a:rPr lang="en-US" sz="1200" dirty="0">
                <a:solidFill>
                  <a:srgbClr val="2B3240"/>
                </a:solidFill>
                <a:latin typeface="IBM Plex Sans" pitchFamily="34" charset="0"/>
                <a:ea typeface="IBM Plex Sans" pitchFamily="34" charset="-122"/>
                <a:cs typeface="IBM Plex Sans" pitchFamily="34" charset="-120"/>
              </a:rPr>
              <a:t> caps the totals in a namespace: CPU, memory, number of Pods.</a:t>
            </a:r>
            <a:endParaRPr lang="en-US" sz="1200" dirty="0"/>
          </a:p>
        </p:txBody>
      </p:sp>
      <p:sp>
        <p:nvSpPr>
          <p:cNvPr id="10" name="Text 7"/>
          <p:cNvSpPr/>
          <p:nvPr/>
        </p:nvSpPr>
        <p:spPr>
          <a:xfrm>
            <a:off x="5661660" y="4081785"/>
            <a:ext cx="57007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LimitRange</a:t>
            </a:r>
            <a:r>
              <a:rPr lang="en-US" sz="1200" dirty="0">
                <a:solidFill>
                  <a:srgbClr val="2B3240"/>
                </a:solidFill>
                <a:latin typeface="IBM Plex Sans" pitchFamily="34" charset="0"/>
                <a:ea typeface="IBM Plex Sans" pitchFamily="34" charset="-122"/>
                <a:cs typeface="IBM Plex Sans" pitchFamily="34" charset="-120"/>
              </a:rPr>
              <a:t> sets per-container defaults, minimums and maximums.</a:t>
            </a:r>
            <a:endParaRPr lang="en-US" sz="1200" dirty="0"/>
          </a:p>
        </p:txBody>
      </p:sp>
      <p:sp>
        <p:nvSpPr>
          <p:cNvPr id="11" name="Text 8"/>
          <p:cNvSpPr/>
          <p:nvPr/>
        </p:nvSpPr>
        <p:spPr>
          <a:xfrm>
            <a:off x="812800" y="6238242"/>
            <a:ext cx="40907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Reliability and scaling</a:t>
            </a:r>
            <a:endParaRPr lang="en-US" sz="1200" dirty="0"/>
          </a:p>
        </p:txBody>
      </p:sp>
      <p:sp>
        <p:nvSpPr>
          <p:cNvPr id="12" name="Text 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Autoscaling: HPA, VPA and cluster autoscaling</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5137150" cy="1960880"/>
        </p:xfrm>
        <a:graphic>
          <a:graphicData uri="http://schemas.openxmlformats.org/drawingml/2006/table">
            <a:tbl>
              <a:tblPr/>
              <a:tblGrid>
                <a:gridCol w="1849374"/>
                <a:gridCol w="1438402"/>
                <a:gridCol w="1849374"/>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Autoscaler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Scales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Based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HPA (Horizontal Pod Autoscaler)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Number of Pod replicas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CPU or memory use; custom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VPA (Vertical Pod Autoscaler, add-on)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Pod requests and limits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Observed usage over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Cluster Autoscaler or Karpenter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Number of nodes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Pods that don’t fit; idle nodes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3583942"/>
            <a:ext cx="5452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HPA needs </a:t>
            </a:r>
            <a:r>
              <a:rPr lang="en-US" sz="1200" b="1" dirty="0">
                <a:solidFill>
                  <a:srgbClr val="2B3240"/>
                </a:solidFill>
                <a:latin typeface="IBM Plex Sans" pitchFamily="34" charset="0"/>
                <a:ea typeface="IBM Plex Sans" pitchFamily="34" charset="-122"/>
                <a:cs typeface="IBM Plex Sans" pitchFamily="34" charset="-120"/>
              </a:rPr>
              <a:t>metrics-server</a:t>
            </a:r>
            <a:r>
              <a:rPr lang="en-US" sz="1200" dirty="0">
                <a:solidFill>
                  <a:srgbClr val="2B3240"/>
                </a:solidFill>
                <a:latin typeface="IBM Plex Sans" pitchFamily="34" charset="0"/>
                <a:ea typeface="IBM Plex Sans" pitchFamily="34" charset="-122"/>
                <a:cs typeface="IBM Plex Sans" pitchFamily="34" charset="-120"/>
              </a:rPr>
              <a:t> and CPU </a:t>
            </a:r>
            <a:r>
              <a:rPr lang="en-US" sz="1200" b="1" dirty="0">
                <a:solidFill>
                  <a:srgbClr val="2B3240"/>
                </a:solidFill>
                <a:latin typeface="IBM Plex Sans" pitchFamily="34" charset="0"/>
                <a:ea typeface="IBM Plex Sans" pitchFamily="34" charset="-122"/>
                <a:cs typeface="IBM Plex Sans" pitchFamily="34" charset="-120"/>
              </a:rPr>
              <a:t>requests</a:t>
            </a:r>
            <a:r>
              <a:rPr lang="en-US" sz="1200" dirty="0">
                <a:solidFill>
                  <a:srgbClr val="2B3240"/>
                </a:solidFill>
                <a:latin typeface="IBM Plex Sans" pitchFamily="34" charset="0"/>
                <a:ea typeface="IBM Plex Sans" pitchFamily="34" charset="-122"/>
                <a:cs typeface="IBM Plex Sans" pitchFamily="34" charset="-120"/>
              </a:rPr>
              <a:t>: utilization = usage ÷ request.</a:t>
            </a:r>
            <a:endParaRPr lang="en-US" sz="1200" dirty="0"/>
          </a:p>
        </p:txBody>
      </p:sp>
      <p:sp>
        <p:nvSpPr>
          <p:cNvPr id="5" name="Text 2"/>
          <p:cNvSpPr/>
          <p:nvPr/>
        </p:nvSpPr>
        <p:spPr>
          <a:xfrm>
            <a:off x="812800" y="3924300"/>
            <a:ext cx="5452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Don’t let HPA and VPA both act on CPU or memory for the same workload.</a:t>
            </a:r>
            <a:endParaRPr lang="en-US" sz="1200" dirty="0"/>
          </a:p>
        </p:txBody>
      </p:sp>
      <p:sp>
        <p:nvSpPr>
          <p:cNvPr id="6" name="Text 3"/>
          <p:cNvSpPr/>
          <p:nvPr/>
        </p:nvSpPr>
        <p:spPr>
          <a:xfrm>
            <a:off x="812800" y="4264658"/>
            <a:ext cx="53017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Queue- or event-driven scaling: </a:t>
            </a:r>
            <a:r>
              <a:rPr lang="en-US" sz="1200" b="1" dirty="0">
                <a:solidFill>
                  <a:srgbClr val="2B3240"/>
                </a:solidFill>
                <a:latin typeface="IBM Plex Sans" pitchFamily="34" charset="0"/>
                <a:ea typeface="IBM Plex Sans" pitchFamily="34" charset="-122"/>
                <a:cs typeface="IBM Plex Sans" pitchFamily="34" charset="-120"/>
              </a:rPr>
              <a:t>KEDA</a:t>
            </a:r>
            <a:r>
              <a:rPr lang="en-US" sz="1200" dirty="0">
                <a:solidFill>
                  <a:srgbClr val="2B3240"/>
                </a:solidFill>
                <a:latin typeface="IBM Plex Sans" pitchFamily="34" charset="0"/>
                <a:ea typeface="IBM Plex Sans" pitchFamily="34" charset="-122"/>
                <a:cs typeface="IBM Plex Sans" pitchFamily="34" charset="-120"/>
              </a:rPr>
              <a:t>.</a:t>
            </a:r>
            <a:endParaRPr lang="en-US" sz="1200" dirty="0"/>
          </a:p>
        </p:txBody>
      </p:sp>
      <p:sp>
        <p:nvSpPr>
          <p:cNvPr id="7" name="Text 4"/>
          <p:cNvSpPr/>
          <p:nvPr/>
        </p:nvSpPr>
        <p:spPr>
          <a:xfrm>
            <a:off x="6264910" y="1485900"/>
            <a:ext cx="5114290" cy="4112260"/>
          </a:xfrm>
          <a:prstGeom prst="roundRect">
            <a:avLst>
              <a:gd name="adj" fmla="val 2471"/>
            </a:avLst>
          </a:prstGeom>
          <a:solidFill>
            <a:srgbClr val="161B26"/>
          </a:solidFill>
          <a:ln/>
        </p:spPr>
        <p:txBody>
          <a:bodyPr wrap="none" lIns="198842" tIns="148042" rIns="59130"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apiVersion: autoscaling/v2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kind: HorizontalPodAutoscaler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metadata: {name: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scaleTargetRef:</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apiVersion: apps/v1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kind: Deployment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minReplicas: 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maxReplicas: 10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metrics: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type: Resource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resource: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name: cpu</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target: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type: Utilization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averageUtilization: 70</a:t>
            </a:r>
            <a:endParaRPr lang="en-US" sz="1200" dirty="0"/>
          </a:p>
        </p:txBody>
      </p:sp>
      <p:sp>
        <p:nvSpPr>
          <p:cNvPr id="8" name="Text 5"/>
          <p:cNvSpPr/>
          <p:nvPr/>
        </p:nvSpPr>
        <p:spPr>
          <a:xfrm>
            <a:off x="812800" y="6238242"/>
            <a:ext cx="40907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Reliability and scaling</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Scheduling: affinity, taints and topology spread</a:t>
            </a:r>
            <a:endParaRPr lang="en-US" sz="3000" dirty="0"/>
          </a:p>
        </p:txBody>
      </p:sp>
      <p:sp>
        <p:nvSpPr>
          <p:cNvPr id="3" name="Shape 1"/>
          <p:cNvSpPr/>
          <p:nvPr/>
        </p:nvSpPr>
        <p:spPr>
          <a:xfrm>
            <a:off x="812800" y="2092325"/>
            <a:ext cx="5387340" cy="0"/>
          </a:xfrm>
          <a:prstGeom prst="line">
            <a:avLst/>
          </a:prstGeom>
          <a:noFill/>
          <a:ln w="6350">
            <a:solidFill>
              <a:srgbClr val="E2DED5"/>
            </a:solidFill>
            <a:prstDash val="solid"/>
          </a:ln>
        </p:spPr>
      </p:sp>
      <p:sp>
        <p:nvSpPr>
          <p:cNvPr id="4" name="Text 2"/>
          <p:cNvSpPr/>
          <p:nvPr/>
        </p:nvSpPr>
        <p:spPr>
          <a:xfrm>
            <a:off x="812800" y="1562100"/>
            <a:ext cx="55489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nodeSelector</a:t>
            </a:r>
            <a:endParaRPr lang="en-US" sz="1200" dirty="0"/>
          </a:p>
        </p:txBody>
      </p:sp>
      <p:sp>
        <p:nvSpPr>
          <p:cNvPr id="5" name="Text 3"/>
          <p:cNvSpPr/>
          <p:nvPr/>
        </p:nvSpPr>
        <p:spPr>
          <a:xfrm>
            <a:off x="812800" y="1800858"/>
            <a:ext cx="5548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Simple must-match node labels, such as disktype: ssd</a:t>
            </a:r>
            <a:endParaRPr lang="en-US" sz="1200" dirty="0"/>
          </a:p>
        </p:txBody>
      </p:sp>
      <p:sp>
        <p:nvSpPr>
          <p:cNvPr id="6" name="Shape 4"/>
          <p:cNvSpPr/>
          <p:nvPr/>
        </p:nvSpPr>
        <p:spPr>
          <a:xfrm>
            <a:off x="812800" y="2701925"/>
            <a:ext cx="5387340" cy="0"/>
          </a:xfrm>
          <a:prstGeom prst="line">
            <a:avLst/>
          </a:prstGeom>
          <a:noFill/>
          <a:ln w="6350">
            <a:solidFill>
              <a:srgbClr val="E2DED5"/>
            </a:solidFill>
            <a:prstDash val="solid"/>
          </a:ln>
        </p:spPr>
      </p:sp>
      <p:sp>
        <p:nvSpPr>
          <p:cNvPr id="7" name="Text 5"/>
          <p:cNvSpPr/>
          <p:nvPr/>
        </p:nvSpPr>
        <p:spPr>
          <a:xfrm>
            <a:off x="812800" y="2171700"/>
            <a:ext cx="55489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node affinity</a:t>
            </a:r>
            <a:endParaRPr lang="en-US" sz="1200" dirty="0"/>
          </a:p>
        </p:txBody>
      </p:sp>
      <p:sp>
        <p:nvSpPr>
          <p:cNvPr id="8" name="Text 6"/>
          <p:cNvSpPr/>
          <p:nvPr/>
        </p:nvSpPr>
        <p:spPr>
          <a:xfrm>
            <a:off x="812800" y="2410458"/>
            <a:ext cx="5548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Required or preferred rules with operators: In, NotIn, Exists</a:t>
            </a:r>
            <a:endParaRPr lang="en-US" sz="1200" dirty="0"/>
          </a:p>
        </p:txBody>
      </p:sp>
      <p:sp>
        <p:nvSpPr>
          <p:cNvPr id="9" name="Shape 7"/>
          <p:cNvSpPr/>
          <p:nvPr/>
        </p:nvSpPr>
        <p:spPr>
          <a:xfrm>
            <a:off x="812800" y="3311525"/>
            <a:ext cx="5387340" cy="0"/>
          </a:xfrm>
          <a:prstGeom prst="line">
            <a:avLst/>
          </a:prstGeom>
          <a:noFill/>
          <a:ln w="6350">
            <a:solidFill>
              <a:srgbClr val="E2DED5"/>
            </a:solidFill>
            <a:prstDash val="solid"/>
          </a:ln>
        </p:spPr>
      </p:sp>
      <p:sp>
        <p:nvSpPr>
          <p:cNvPr id="10" name="Text 8"/>
          <p:cNvSpPr/>
          <p:nvPr/>
        </p:nvSpPr>
        <p:spPr>
          <a:xfrm>
            <a:off x="812800" y="2781300"/>
            <a:ext cx="55489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pod affinity / anti-affinity</a:t>
            </a:r>
            <a:endParaRPr lang="en-US" sz="1200" dirty="0"/>
          </a:p>
        </p:txBody>
      </p:sp>
      <p:sp>
        <p:nvSpPr>
          <p:cNvPr id="11" name="Text 9"/>
          <p:cNvSpPr/>
          <p:nvPr/>
        </p:nvSpPr>
        <p:spPr>
          <a:xfrm>
            <a:off x="812800" y="3020058"/>
            <a:ext cx="5548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 near, or away from, other Pods — for example one replica per node</a:t>
            </a:r>
            <a:endParaRPr lang="en-US" sz="1200" dirty="0"/>
          </a:p>
        </p:txBody>
      </p:sp>
      <p:sp>
        <p:nvSpPr>
          <p:cNvPr id="12" name="Shape 10"/>
          <p:cNvSpPr/>
          <p:nvPr/>
        </p:nvSpPr>
        <p:spPr>
          <a:xfrm>
            <a:off x="812800" y="4134485"/>
            <a:ext cx="5387340" cy="0"/>
          </a:xfrm>
          <a:prstGeom prst="line">
            <a:avLst/>
          </a:prstGeom>
          <a:noFill/>
          <a:ln w="6350">
            <a:solidFill>
              <a:srgbClr val="E2DED5"/>
            </a:solidFill>
            <a:prstDash val="solid"/>
          </a:ln>
        </p:spPr>
      </p:sp>
      <p:sp>
        <p:nvSpPr>
          <p:cNvPr id="13" name="Text 11"/>
          <p:cNvSpPr/>
          <p:nvPr/>
        </p:nvSpPr>
        <p:spPr>
          <a:xfrm>
            <a:off x="812800" y="3390900"/>
            <a:ext cx="55489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taints and tolerations</a:t>
            </a:r>
            <a:endParaRPr lang="en-US" sz="1200" dirty="0"/>
          </a:p>
        </p:txBody>
      </p:sp>
      <p:sp>
        <p:nvSpPr>
          <p:cNvPr id="14" name="Text 12"/>
          <p:cNvSpPr/>
          <p:nvPr/>
        </p:nvSpPr>
        <p:spPr>
          <a:xfrm>
            <a:off x="812800" y="3629658"/>
            <a:ext cx="55489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Nodes repel Pods unless a Pod tolerates the taint — dedicated GPU nodes, control plane</a:t>
            </a:r>
            <a:endParaRPr lang="en-US" sz="1200" dirty="0"/>
          </a:p>
        </p:txBody>
      </p:sp>
      <p:sp>
        <p:nvSpPr>
          <p:cNvPr id="15" name="Shape 13"/>
          <p:cNvSpPr/>
          <p:nvPr/>
        </p:nvSpPr>
        <p:spPr>
          <a:xfrm>
            <a:off x="812800" y="4744083"/>
            <a:ext cx="5387340" cy="0"/>
          </a:xfrm>
          <a:prstGeom prst="line">
            <a:avLst/>
          </a:prstGeom>
          <a:noFill/>
          <a:ln w="6350">
            <a:solidFill>
              <a:srgbClr val="E2DED5"/>
            </a:solidFill>
            <a:prstDash val="solid"/>
          </a:ln>
        </p:spPr>
      </p:sp>
      <p:sp>
        <p:nvSpPr>
          <p:cNvPr id="16" name="Text 14"/>
          <p:cNvSpPr/>
          <p:nvPr/>
        </p:nvSpPr>
        <p:spPr>
          <a:xfrm>
            <a:off x="812800" y="4213858"/>
            <a:ext cx="55489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JetBrains Mono" pitchFamily="49" charset="0"/>
                <a:ea typeface="JetBrains Mono" pitchFamily="49" charset="-122"/>
                <a:cs typeface="JetBrains Mono" pitchFamily="49" charset="-120"/>
              </a:rPr>
              <a:t>topology spread</a:t>
            </a:r>
            <a:endParaRPr lang="en-US" sz="1200" dirty="0"/>
          </a:p>
        </p:txBody>
      </p:sp>
      <p:sp>
        <p:nvSpPr>
          <p:cNvPr id="17" name="Text 15"/>
          <p:cNvSpPr/>
          <p:nvPr/>
        </p:nvSpPr>
        <p:spPr>
          <a:xfrm>
            <a:off x="812800" y="4452627"/>
            <a:ext cx="55489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Spread replicas evenly across zones or nodes, within a maxSkew</a:t>
            </a:r>
            <a:endParaRPr lang="en-US" sz="1200" dirty="0"/>
          </a:p>
        </p:txBody>
      </p:sp>
      <p:sp>
        <p:nvSpPr>
          <p:cNvPr id="18" name="Text 16"/>
          <p:cNvSpPr/>
          <p:nvPr/>
        </p:nvSpPr>
        <p:spPr>
          <a:xfrm>
            <a:off x="6504940" y="1485900"/>
            <a:ext cx="4874260" cy="3007360"/>
          </a:xfrm>
          <a:prstGeom prst="roundRect">
            <a:avLst>
              <a:gd name="adj" fmla="val 3378"/>
            </a:avLst>
          </a:prstGeom>
          <a:solidFill>
            <a:srgbClr val="161B26"/>
          </a:solidFill>
          <a:ln/>
        </p:spPr>
        <p:txBody>
          <a:bodyPr wrap="none" lIns="198842" tIns="148042" rIns="66331"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topologySpreadConstraints: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maxSkew: 1</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topologyKey: topology.kubernetes.io/zone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whenUnsatisfiable: DoNotSchedule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labelSelector:</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matchLabels: {app: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B9A9FF"/>
                </a:solidFill>
                <a:latin typeface="JetBrains Mono" pitchFamily="49" charset="0"/>
                <a:ea typeface="JetBrains Mono" pitchFamily="49" charset="-122"/>
                <a:cs typeface="JetBrains Mono" pitchFamily="49" charset="-120"/>
              </a:rPr>
              <a:t>tolerations: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key: gpu</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operator: Equal</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value: "true"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effect: NoSchedule</a:t>
            </a:r>
            <a:endParaRPr lang="en-US" sz="1200" dirty="0"/>
          </a:p>
        </p:txBody>
      </p:sp>
      <p:sp>
        <p:nvSpPr>
          <p:cNvPr id="19" name="Text 17"/>
          <p:cNvSpPr/>
          <p:nvPr/>
        </p:nvSpPr>
        <p:spPr>
          <a:xfrm>
            <a:off x="6504940" y="4594858"/>
            <a:ext cx="4874260" cy="680720"/>
          </a:xfrm>
          <a:prstGeom prst="roundRect">
            <a:avLst>
              <a:gd name="adj" fmla="val 14925"/>
            </a:avLst>
          </a:prstGeom>
          <a:solidFill>
            <a:srgbClr val="5A3FD0"/>
          </a:solidFill>
          <a:ln/>
        </p:spPr>
        <p:txBody>
          <a:bodyPr wrap="square" lIns="148042" tIns="97242" rIns="12483" bIns="71842" rtlCol="0" anchor="t">
            <a:normAutofit/>
          </a:bodyPr>
          <a:lstStyle/>
          <a:p>
            <a:pPr algn="l"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Affinity attracts</a:t>
            </a:r>
            <a:r>
              <a:rPr lang="en-US" sz="1200" dirty="0">
                <a:solidFill>
                  <a:srgbClr val="F6F5F1"/>
                </a:solidFill>
                <a:latin typeface="IBM Plex Sans" pitchFamily="34" charset="0"/>
                <a:ea typeface="IBM Plex Sans" pitchFamily="34" charset="-122"/>
                <a:cs typeface="IBM Plex Sans" pitchFamily="34" charset="-120"/>
              </a:rPr>
              <a:t> Pods to nodes. </a:t>
            </a:r>
            <a:r>
              <a:rPr lang="en-US" sz="1200" b="1" dirty="0">
                <a:solidFill>
                  <a:srgbClr val="F6F5F1"/>
                </a:solidFill>
                <a:latin typeface="IBM Plex Sans" pitchFamily="34" charset="0"/>
                <a:ea typeface="IBM Plex Sans" pitchFamily="34" charset="-122"/>
                <a:cs typeface="IBM Plex Sans" pitchFamily="34" charset="-120"/>
              </a:rPr>
              <a:t>Taints repel</a:t>
            </a:r>
            <a:r>
              <a:rPr lang="en-US" sz="1200" dirty="0">
                <a:solidFill>
                  <a:srgbClr val="F6F5F1"/>
                </a:solidFill>
                <a:latin typeface="IBM Plex Sans" pitchFamily="34" charset="0"/>
                <a:ea typeface="IBM Plex Sans" pitchFamily="34" charset="-122"/>
                <a:cs typeface="IBM Plex Sans" pitchFamily="34" charset="-120"/>
              </a:rPr>
              <a:t> them. The scheduler filters nodes, scores them, then binds.</a:t>
            </a:r>
            <a:endParaRPr lang="en-US" sz="1200" dirty="0"/>
          </a:p>
        </p:txBody>
      </p:sp>
      <p:sp>
        <p:nvSpPr>
          <p:cNvPr id="20" name="Text 18"/>
          <p:cNvSpPr/>
          <p:nvPr/>
        </p:nvSpPr>
        <p:spPr>
          <a:xfrm>
            <a:off x="812800" y="6238242"/>
            <a:ext cx="40907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Reliability and scaling</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Best practices</a:t>
            </a:r>
            <a:endParaRPr lang="en-US" sz="3000" dirty="0"/>
          </a:p>
        </p:txBody>
      </p:sp>
      <p:sp>
        <p:nvSpPr>
          <p:cNvPr id="3" name="Shape 1"/>
          <p:cNvSpPr/>
          <p:nvPr/>
        </p:nvSpPr>
        <p:spPr>
          <a:xfrm>
            <a:off x="815975" y="1539875"/>
            <a:ext cx="5149850" cy="2861310"/>
          </a:xfrm>
          <a:prstGeom prst="roundRect">
            <a:avLst>
              <a:gd name="adj" fmla="val 3440"/>
            </a:avLst>
          </a:prstGeom>
          <a:solidFill>
            <a:srgbClr val="FDFCFA"/>
          </a:solidFill>
          <a:ln w="6350">
            <a:solidFill>
              <a:srgbClr val="E2DED5"/>
            </a:solidFill>
            <a:prstDash val="solid"/>
          </a:ln>
        </p:spPr>
      </p:sp>
      <p:pic>
        <p:nvPicPr>
          <p:cNvPr id="4" name="Image 0" descr="CheckCircle">    </p:cNvPr>
          <p:cNvPicPr>
            <a:picLocks noChangeAspect="1"/>
          </p:cNvPicPr>
          <p:nvPr/>
        </p:nvPicPr>
        <p:blipFill>
          <a:blip r:embed="rId1"/>
          <a:srcRect l="0" r="0" t="0" b="0"/>
          <a:stretch/>
        </p:blipFill>
        <p:spPr>
          <a:xfrm>
            <a:off x="1046480" y="1767842"/>
            <a:ext cx="228600" cy="228600"/>
          </a:xfrm>
          <a:prstGeom prst="rect">
            <a:avLst/>
          </a:prstGeom>
        </p:spPr>
      </p:pic>
      <p:sp>
        <p:nvSpPr>
          <p:cNvPr id="5" name="Text 2"/>
          <p:cNvSpPr/>
          <p:nvPr/>
        </p:nvSpPr>
        <p:spPr>
          <a:xfrm>
            <a:off x="1363980" y="1744985"/>
            <a:ext cx="35061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Do</a:t>
            </a:r>
            <a:endParaRPr lang="en-US" sz="1800" dirty="0"/>
          </a:p>
        </p:txBody>
      </p:sp>
      <p:sp>
        <p:nvSpPr>
          <p:cNvPr id="6" name="Text 3"/>
          <p:cNvSpPr/>
          <p:nvPr/>
        </p:nvSpPr>
        <p:spPr>
          <a:xfrm>
            <a:off x="1124712" y="2133600"/>
            <a:ext cx="4743653" cy="208788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Keep manifests in Git; kubectl diff, then apply</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Use Deployments or StatefulSets — never bare Pods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Set requests and memory limits on every container</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Add readiness and liveness probes, plus startup for slow apps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Pin image tags or digests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Run two or more replicas, spread across nodes or zones</a:t>
            </a:r>
            <a:endParaRPr lang="en-US" sz="1400" dirty="0"/>
          </a:p>
        </p:txBody>
      </p:sp>
      <p:sp>
        <p:nvSpPr>
          <p:cNvPr id="7" name="Shape 4"/>
          <p:cNvSpPr/>
          <p:nvPr/>
        </p:nvSpPr>
        <p:spPr>
          <a:xfrm>
            <a:off x="6226175" y="1539875"/>
            <a:ext cx="5149850" cy="2861310"/>
          </a:xfrm>
          <a:prstGeom prst="roundRect">
            <a:avLst>
              <a:gd name="adj" fmla="val 3440"/>
            </a:avLst>
          </a:prstGeom>
          <a:solidFill>
            <a:srgbClr val="FDFCFA"/>
          </a:solidFill>
          <a:ln w="6350">
            <a:solidFill>
              <a:srgbClr val="E2DED5"/>
            </a:solidFill>
            <a:prstDash val="solid"/>
          </a:ln>
        </p:spPr>
      </p:sp>
      <p:pic>
        <p:nvPicPr>
          <p:cNvPr id="8" name="Image 1" descr="Warning">    </p:cNvPr>
          <p:cNvPicPr>
            <a:picLocks noChangeAspect="1"/>
          </p:cNvPicPr>
          <p:nvPr/>
        </p:nvPicPr>
        <p:blipFill>
          <a:blip r:embed="rId2"/>
          <a:srcRect l="0" r="0" t="0" b="0"/>
          <a:stretch/>
        </p:blipFill>
        <p:spPr>
          <a:xfrm>
            <a:off x="6456680" y="1767842"/>
            <a:ext cx="228600" cy="228600"/>
          </a:xfrm>
          <a:prstGeom prst="rect">
            <a:avLst/>
          </a:prstGeom>
        </p:spPr>
      </p:pic>
      <p:sp>
        <p:nvSpPr>
          <p:cNvPr id="9" name="Text 5"/>
          <p:cNvSpPr/>
          <p:nvPr/>
        </p:nvSpPr>
        <p:spPr>
          <a:xfrm>
            <a:off x="6774180" y="1744985"/>
            <a:ext cx="73094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Avoid</a:t>
            </a:r>
            <a:endParaRPr lang="en-US" sz="1800" dirty="0"/>
          </a:p>
        </p:txBody>
      </p:sp>
      <p:sp>
        <p:nvSpPr>
          <p:cNvPr id="10" name="Text 6"/>
          <p:cNvSpPr/>
          <p:nvPr/>
        </p:nvSpPr>
        <p:spPr>
          <a:xfrm>
            <a:off x="6534912" y="2133600"/>
            <a:ext cx="4743653" cy="157226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Liveness probes that check external dependencies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Running everything in the default namespace</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Secrets committed to Git as plain YAML</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Hand edits with kubectl edit that drift from Git</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Keeping data in Pods without persistent volumes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The latest tag in any manifest</a:t>
            </a:r>
            <a:endParaRPr lang="en-US" sz="1400" dirty="0"/>
          </a:p>
        </p:txBody>
      </p:sp>
      <p:sp>
        <p:nvSpPr>
          <p:cNvPr id="11" name="Text 7"/>
          <p:cNvSpPr/>
          <p:nvPr/>
        </p:nvSpPr>
        <p:spPr>
          <a:xfrm>
            <a:off x="812800" y="6238242"/>
            <a:ext cx="30276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Wrap-up</a:t>
            </a:r>
            <a:endParaRPr lang="en-US" sz="1200" dirty="0"/>
          </a:p>
        </p:txBody>
      </p:sp>
      <p:sp>
        <p:nvSpPr>
          <p:cNvPr id="12"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Hands-on lab: deploy the app to Kubernetes</a:t>
            </a:r>
            <a:endParaRPr lang="en-US" sz="3000" dirty="0"/>
          </a:p>
        </p:txBody>
      </p:sp>
      <p:sp>
        <p:nvSpPr>
          <p:cNvPr id="3" name="Shape 1"/>
          <p:cNvSpPr/>
          <p:nvPr/>
        </p:nvSpPr>
        <p:spPr>
          <a:xfrm>
            <a:off x="815975" y="1489075"/>
            <a:ext cx="2280920" cy="608330"/>
          </a:xfrm>
          <a:prstGeom prst="roundRect">
            <a:avLst>
              <a:gd name="adj" fmla="val 14092"/>
            </a:avLst>
          </a:prstGeom>
          <a:solidFill>
            <a:srgbClr val="FDFCFA"/>
          </a:solidFill>
          <a:ln w="6350">
            <a:solidFill>
              <a:srgbClr val="E2DED5"/>
            </a:solidFill>
            <a:prstDash val="solid"/>
          </a:ln>
        </p:spPr>
      </p:sp>
      <p:sp>
        <p:nvSpPr>
          <p:cNvPr id="4" name="Text 2"/>
          <p:cNvSpPr/>
          <p:nvPr/>
        </p:nvSpPr>
        <p:spPr>
          <a:xfrm>
            <a:off x="888371"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HTTPRoute</a:t>
            </a:r>
            <a:endParaRPr lang="en-US" sz="1200" dirty="0"/>
          </a:p>
        </p:txBody>
      </p:sp>
      <p:sp>
        <p:nvSpPr>
          <p:cNvPr id="5" name="Text 3"/>
          <p:cNvSpPr/>
          <p:nvPr/>
        </p:nvSpPr>
        <p:spPr>
          <a:xfrm>
            <a:off x="888371"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or port-forward</a:t>
            </a:r>
            <a:endParaRPr lang="en-US" sz="1200" dirty="0"/>
          </a:p>
        </p:txBody>
      </p:sp>
      <p:pic>
        <p:nvPicPr>
          <p:cNvPr id="6" name="Image 0" descr="arrow-right">    </p:cNvPr>
          <p:cNvPicPr>
            <a:picLocks noChangeAspect="1"/>
          </p:cNvPicPr>
          <p:nvPr/>
        </p:nvPicPr>
        <p:blipFill>
          <a:blip r:embed="rId1"/>
          <a:srcRect l="0" r="0" t="0" b="0"/>
          <a:stretch/>
        </p:blipFill>
        <p:spPr>
          <a:xfrm>
            <a:off x="3188970" y="1717042"/>
            <a:ext cx="304800" cy="152400"/>
          </a:xfrm>
          <a:prstGeom prst="rect">
            <a:avLst/>
          </a:prstGeom>
        </p:spPr>
      </p:pic>
      <p:sp>
        <p:nvSpPr>
          <p:cNvPr id="7" name="Shape 4"/>
          <p:cNvSpPr/>
          <p:nvPr/>
        </p:nvSpPr>
        <p:spPr>
          <a:xfrm>
            <a:off x="3582670" y="1490985"/>
            <a:ext cx="2277110" cy="604520"/>
          </a:xfrm>
          <a:prstGeom prst="roundRect">
            <a:avLst>
              <a:gd name="adj" fmla="val 14706"/>
            </a:avLst>
          </a:prstGeom>
          <a:solidFill>
            <a:srgbClr val="E4DDFF"/>
          </a:solidFill>
          <a:ln/>
        </p:spPr>
      </p:sp>
      <p:sp>
        <p:nvSpPr>
          <p:cNvPr id="8" name="Text 5"/>
          <p:cNvSpPr/>
          <p:nvPr/>
        </p:nvSpPr>
        <p:spPr>
          <a:xfrm>
            <a:off x="3653161"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web</a:t>
            </a:r>
            <a:endParaRPr lang="en-US" sz="1200" dirty="0"/>
          </a:p>
        </p:txBody>
      </p:sp>
      <p:sp>
        <p:nvSpPr>
          <p:cNvPr id="9" name="Text 6"/>
          <p:cNvSpPr/>
          <p:nvPr/>
        </p:nvSpPr>
        <p:spPr>
          <a:xfrm>
            <a:off x="3653161"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Deployment ×2</a:t>
            </a:r>
            <a:endParaRPr lang="en-US" sz="1200" dirty="0"/>
          </a:p>
        </p:txBody>
      </p:sp>
      <p:pic>
        <p:nvPicPr>
          <p:cNvPr id="10" name="Image 1" descr="arrow-right">    </p:cNvPr>
          <p:cNvPicPr>
            <a:picLocks noChangeAspect="1"/>
          </p:cNvPicPr>
          <p:nvPr/>
        </p:nvPicPr>
        <p:blipFill>
          <a:blip r:embed="rId2"/>
          <a:srcRect l="0" r="0" t="0" b="0"/>
          <a:stretch/>
        </p:blipFill>
        <p:spPr>
          <a:xfrm>
            <a:off x="5948680" y="1717042"/>
            <a:ext cx="304800" cy="152400"/>
          </a:xfrm>
          <a:prstGeom prst="rect">
            <a:avLst/>
          </a:prstGeom>
        </p:spPr>
      </p:pic>
      <p:sp>
        <p:nvSpPr>
          <p:cNvPr id="11" name="Shape 7"/>
          <p:cNvSpPr/>
          <p:nvPr/>
        </p:nvSpPr>
        <p:spPr>
          <a:xfrm>
            <a:off x="6342380" y="1490985"/>
            <a:ext cx="2277110" cy="604520"/>
          </a:xfrm>
          <a:prstGeom prst="roundRect">
            <a:avLst>
              <a:gd name="adj" fmla="val 14706"/>
            </a:avLst>
          </a:prstGeom>
          <a:solidFill>
            <a:srgbClr val="5A3FD0"/>
          </a:solidFill>
          <a:ln/>
        </p:spPr>
      </p:sp>
      <p:sp>
        <p:nvSpPr>
          <p:cNvPr id="12" name="Text 8"/>
          <p:cNvSpPr/>
          <p:nvPr/>
        </p:nvSpPr>
        <p:spPr>
          <a:xfrm>
            <a:off x="6412871"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api</a:t>
            </a:r>
            <a:endParaRPr lang="en-US" sz="1200" dirty="0"/>
          </a:p>
        </p:txBody>
      </p:sp>
      <p:sp>
        <p:nvSpPr>
          <p:cNvPr id="13" name="Text 9"/>
          <p:cNvSpPr/>
          <p:nvPr/>
        </p:nvSpPr>
        <p:spPr>
          <a:xfrm>
            <a:off x="6412871"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4DDFF"/>
                </a:solidFill>
                <a:latin typeface="IBM Plex Sans" pitchFamily="34" charset="0"/>
                <a:ea typeface="IBM Plex Sans" pitchFamily="34" charset="-122"/>
                <a:cs typeface="IBM Plex Sans" pitchFamily="34" charset="-120"/>
              </a:rPr>
              <a:t>Deployment + HPA</a:t>
            </a:r>
            <a:endParaRPr lang="en-US" sz="1200" dirty="0"/>
          </a:p>
        </p:txBody>
      </p:sp>
      <p:pic>
        <p:nvPicPr>
          <p:cNvPr id="14" name="Image 2" descr="arrow-right">    </p:cNvPr>
          <p:cNvPicPr>
            <a:picLocks noChangeAspect="1"/>
          </p:cNvPicPr>
          <p:nvPr/>
        </p:nvPicPr>
        <p:blipFill>
          <a:blip r:embed="rId3"/>
          <a:srcRect l="0" r="0" t="0" b="0"/>
          <a:stretch/>
        </p:blipFill>
        <p:spPr>
          <a:xfrm>
            <a:off x="8708390" y="1717042"/>
            <a:ext cx="304800" cy="152400"/>
          </a:xfrm>
          <a:prstGeom prst="rect">
            <a:avLst/>
          </a:prstGeom>
        </p:spPr>
      </p:pic>
      <p:sp>
        <p:nvSpPr>
          <p:cNvPr id="15" name="Shape 10"/>
          <p:cNvSpPr/>
          <p:nvPr/>
        </p:nvSpPr>
        <p:spPr>
          <a:xfrm>
            <a:off x="9102090" y="1490985"/>
            <a:ext cx="2277110" cy="604520"/>
          </a:xfrm>
          <a:prstGeom prst="roundRect">
            <a:avLst>
              <a:gd name="adj" fmla="val 14706"/>
            </a:avLst>
          </a:prstGeom>
          <a:solidFill>
            <a:srgbClr val="121722"/>
          </a:solidFill>
          <a:ln/>
        </p:spPr>
      </p:sp>
      <p:sp>
        <p:nvSpPr>
          <p:cNvPr id="16" name="Text 11"/>
          <p:cNvSpPr/>
          <p:nvPr/>
        </p:nvSpPr>
        <p:spPr>
          <a:xfrm>
            <a:off x="9172582" y="1579885"/>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db</a:t>
            </a:r>
            <a:endParaRPr lang="en-US" sz="1200" dirty="0"/>
          </a:p>
        </p:txBody>
      </p:sp>
      <p:sp>
        <p:nvSpPr>
          <p:cNvPr id="17" name="Text 12"/>
          <p:cNvSpPr/>
          <p:nvPr/>
        </p:nvSpPr>
        <p:spPr>
          <a:xfrm>
            <a:off x="9172582" y="1793242"/>
            <a:ext cx="213612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StatefulSet + PVC</a:t>
            </a:r>
            <a:endParaRPr lang="en-US" sz="1200" dirty="0"/>
          </a:p>
        </p:txBody>
      </p:sp>
      <p:sp>
        <p:nvSpPr>
          <p:cNvPr id="18" name="Text 13"/>
          <p:cNvSpPr/>
          <p:nvPr/>
        </p:nvSpPr>
        <p:spPr>
          <a:xfrm>
            <a:off x="812800" y="2354585"/>
            <a:ext cx="68361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Tasks</a:t>
            </a:r>
            <a:endParaRPr lang="en-US" sz="1800" dirty="0"/>
          </a:p>
        </p:txBody>
      </p:sp>
      <p:sp>
        <p:nvSpPr>
          <p:cNvPr id="19" name="Text 14"/>
          <p:cNvSpPr/>
          <p:nvPr/>
        </p:nvSpPr>
        <p:spPr>
          <a:xfrm>
            <a:off x="897890" y="2705100"/>
            <a:ext cx="6743421" cy="1625600"/>
          </a:xfrm>
          <a:prstGeom prst="rect">
            <a:avLst/>
          </a:prstGeom>
          <a:noFill/>
          <a:ln/>
        </p:spPr>
        <p:txBody>
          <a:bodyPr wrap="square" lIns="0" tIns="0" rIns="0" bIns="0" rtlCol="0" anchor="t">
            <a:normAutofit/>
          </a:bodyPr>
          <a:lstStyle/>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Create the kind cluster from slide 7 and a namespace called shop</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Load your Docker lab images with kind load docker-image, or push them to a registry</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Run Postgres as a StatefulSet with a PVC; take its password from a Secret</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Run the API as a Deployment with a ConfigMap, probes, requests and limits, plus a Service</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Run web as a Deployment and Service; route to it with an HTTPRoute</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Roll out API v2, then roll it back</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Add an HPA (2–6 replicas), generate load and watch it scale</a:t>
            </a:r>
            <a:endParaRPr lang="en-US" sz="1200" dirty="0"/>
          </a:p>
        </p:txBody>
      </p:sp>
      <p:sp>
        <p:nvSpPr>
          <p:cNvPr id="20" name="Shape 15"/>
          <p:cNvSpPr/>
          <p:nvPr/>
        </p:nvSpPr>
        <p:spPr>
          <a:xfrm>
            <a:off x="7808595" y="2357760"/>
            <a:ext cx="3567430" cy="999490"/>
          </a:xfrm>
          <a:prstGeom prst="roundRect">
            <a:avLst>
              <a:gd name="adj" fmla="val 9848"/>
            </a:avLst>
          </a:prstGeom>
          <a:solidFill>
            <a:srgbClr val="FDFCFA"/>
          </a:solidFill>
          <a:ln w="6350">
            <a:solidFill>
              <a:srgbClr val="E2DED5"/>
            </a:solidFill>
            <a:prstDash val="solid"/>
          </a:ln>
        </p:spPr>
      </p:sp>
      <p:sp>
        <p:nvSpPr>
          <p:cNvPr id="21" name="Text 16"/>
          <p:cNvSpPr/>
          <p:nvPr/>
        </p:nvSpPr>
        <p:spPr>
          <a:xfrm>
            <a:off x="7988300" y="2512058"/>
            <a:ext cx="33042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3FD0"/>
                </a:solidFill>
                <a:latin typeface="IBM Plex Sans" pitchFamily="34" charset="0"/>
                <a:ea typeface="IBM Plex Sans" pitchFamily="34" charset="-122"/>
                <a:cs typeface="IBM Plex Sans" pitchFamily="34" charset="-120"/>
              </a:rPr>
              <a:t>STRETCH</a:t>
            </a:r>
            <a:endParaRPr lang="en-US" sz="1200" dirty="0"/>
          </a:p>
        </p:txBody>
      </p:sp>
      <p:sp>
        <p:nvSpPr>
          <p:cNvPr id="22" name="Text 17"/>
          <p:cNvSpPr/>
          <p:nvPr/>
        </p:nvSpPr>
        <p:spPr>
          <a:xfrm>
            <a:off x="7988300" y="2776227"/>
            <a:ext cx="33042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Delete Pods and watch them heal; spread API replicas with a topology constraint.</a:t>
            </a:r>
            <a:endParaRPr lang="en-US" sz="1200" dirty="0"/>
          </a:p>
        </p:txBody>
      </p:sp>
      <p:sp>
        <p:nvSpPr>
          <p:cNvPr id="23" name="Shape 18"/>
          <p:cNvSpPr/>
          <p:nvPr/>
        </p:nvSpPr>
        <p:spPr>
          <a:xfrm>
            <a:off x="7805420" y="3512827"/>
            <a:ext cx="3573780" cy="1209040"/>
          </a:xfrm>
          <a:prstGeom prst="roundRect">
            <a:avLst>
              <a:gd name="adj" fmla="val 8403"/>
            </a:avLst>
          </a:prstGeom>
          <a:solidFill>
            <a:srgbClr val="5A3FD0"/>
          </a:solidFill>
          <a:ln/>
        </p:spPr>
      </p:sp>
      <p:sp>
        <p:nvSpPr>
          <p:cNvPr id="24" name="Text 19"/>
          <p:cNvSpPr/>
          <p:nvPr/>
        </p:nvSpPr>
        <p:spPr>
          <a:xfrm>
            <a:off x="7983220" y="3665227"/>
            <a:ext cx="33147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DDFF"/>
                </a:solidFill>
                <a:latin typeface="IBM Plex Sans" pitchFamily="34" charset="0"/>
                <a:ea typeface="IBM Plex Sans" pitchFamily="34" charset="-122"/>
                <a:cs typeface="IBM Plex Sans" pitchFamily="34" charset="-120"/>
              </a:rPr>
              <a:t>DONE WHEN</a:t>
            </a:r>
            <a:endParaRPr lang="en-US" sz="1200" dirty="0"/>
          </a:p>
        </p:txBody>
      </p:sp>
      <p:sp>
        <p:nvSpPr>
          <p:cNvPr id="25" name="Text 20"/>
          <p:cNvSpPr/>
          <p:nvPr/>
        </p:nvSpPr>
        <p:spPr>
          <a:xfrm>
            <a:off x="7983220" y="3929385"/>
            <a:ext cx="331472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The app is reachable, data survives Pod deletion, and a rollout causes no failed requests.</a:t>
            </a:r>
            <a:endParaRPr lang="en-US" sz="1200" dirty="0"/>
          </a:p>
        </p:txBody>
      </p:sp>
      <p:sp>
        <p:nvSpPr>
          <p:cNvPr id="26" name="Text 21"/>
          <p:cNvSpPr/>
          <p:nvPr/>
        </p:nvSpPr>
        <p:spPr>
          <a:xfrm>
            <a:off x="812800" y="6238242"/>
            <a:ext cx="30276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Wrap-up</a:t>
            </a:r>
            <a:endParaRPr lang="en-US" sz="1200" dirty="0"/>
          </a:p>
        </p:txBody>
      </p:sp>
      <p:sp>
        <p:nvSpPr>
          <p:cNvPr id="27" name="Text 2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Recap quiz</a:t>
            </a:r>
            <a:endParaRPr lang="en-US" sz="3000" dirty="0"/>
          </a:p>
        </p:txBody>
      </p:sp>
      <p:sp>
        <p:nvSpPr>
          <p:cNvPr id="3" name="Shape 1"/>
          <p:cNvSpPr/>
          <p:nvPr/>
        </p:nvSpPr>
        <p:spPr>
          <a:xfrm>
            <a:off x="815975" y="1539875"/>
            <a:ext cx="3397250" cy="1431290"/>
          </a:xfrm>
          <a:prstGeom prst="roundRect">
            <a:avLst>
              <a:gd name="adj" fmla="val 6877"/>
            </a:avLst>
          </a:prstGeom>
          <a:solidFill>
            <a:srgbClr val="FDFCFA"/>
          </a:solidFill>
          <a:ln w="6350">
            <a:solidFill>
              <a:srgbClr val="E2DED5"/>
            </a:solidFill>
            <a:prstDash val="solid"/>
          </a:ln>
        </p:spPr>
      </p:sp>
      <p:sp>
        <p:nvSpPr>
          <p:cNvPr id="4" name="Text 2"/>
          <p:cNvSpPr/>
          <p:nvPr/>
        </p:nvSpPr>
        <p:spPr>
          <a:xfrm>
            <a:off x="10210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A3FD0"/>
                </a:solidFill>
                <a:latin typeface="JetBrains Mono" pitchFamily="49" charset="0"/>
                <a:ea typeface="JetBrains Mono" pitchFamily="49" charset="-122"/>
                <a:cs typeface="JetBrains Mono" pitchFamily="49" charset="-120"/>
              </a:rPr>
              <a:t>Q1</a:t>
            </a:r>
            <a:endParaRPr lang="en-US" sz="1400" dirty="0"/>
          </a:p>
        </p:txBody>
      </p:sp>
      <p:sp>
        <p:nvSpPr>
          <p:cNvPr id="5" name="Text 3"/>
          <p:cNvSpPr/>
          <p:nvPr/>
        </p:nvSpPr>
        <p:spPr>
          <a:xfrm>
            <a:off x="1021080" y="2044700"/>
            <a:ext cx="307665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Which control-plane component is the only one that reads and writes etcd?</a:t>
            </a:r>
            <a:endParaRPr lang="en-US" sz="1400" dirty="0"/>
          </a:p>
        </p:txBody>
      </p:sp>
      <p:sp>
        <p:nvSpPr>
          <p:cNvPr id="6" name="Shape 4"/>
          <p:cNvSpPr/>
          <p:nvPr/>
        </p:nvSpPr>
        <p:spPr>
          <a:xfrm>
            <a:off x="4397375" y="1539875"/>
            <a:ext cx="3397250" cy="1431290"/>
          </a:xfrm>
          <a:prstGeom prst="roundRect">
            <a:avLst>
              <a:gd name="adj" fmla="val 6877"/>
            </a:avLst>
          </a:prstGeom>
          <a:solidFill>
            <a:srgbClr val="FDFCFA"/>
          </a:solidFill>
          <a:ln w="6350">
            <a:solidFill>
              <a:srgbClr val="E2DED5"/>
            </a:solidFill>
            <a:prstDash val="solid"/>
          </a:ln>
        </p:spPr>
      </p:sp>
      <p:sp>
        <p:nvSpPr>
          <p:cNvPr id="7" name="Text 5"/>
          <p:cNvSpPr/>
          <p:nvPr/>
        </p:nvSpPr>
        <p:spPr>
          <a:xfrm>
            <a:off x="46024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A3FD0"/>
                </a:solidFill>
                <a:latin typeface="JetBrains Mono" pitchFamily="49" charset="0"/>
                <a:ea typeface="JetBrains Mono" pitchFamily="49" charset="-122"/>
                <a:cs typeface="JetBrains Mono" pitchFamily="49" charset="-120"/>
              </a:rPr>
              <a:t>Q2</a:t>
            </a:r>
            <a:endParaRPr lang="en-US" sz="1400" dirty="0"/>
          </a:p>
        </p:txBody>
      </p:sp>
      <p:sp>
        <p:nvSpPr>
          <p:cNvPr id="8" name="Text 6"/>
          <p:cNvSpPr/>
          <p:nvPr/>
        </p:nvSpPr>
        <p:spPr>
          <a:xfrm>
            <a:off x="4602480" y="2044700"/>
            <a:ext cx="307665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Pod is Running, but its Service sends it no traffic. What do you check first?</a:t>
            </a:r>
            <a:endParaRPr lang="en-US" sz="1400" dirty="0"/>
          </a:p>
        </p:txBody>
      </p:sp>
      <p:sp>
        <p:nvSpPr>
          <p:cNvPr id="9" name="Shape 7"/>
          <p:cNvSpPr/>
          <p:nvPr/>
        </p:nvSpPr>
        <p:spPr>
          <a:xfrm>
            <a:off x="7978775" y="1539875"/>
            <a:ext cx="3397250" cy="1431290"/>
          </a:xfrm>
          <a:prstGeom prst="roundRect">
            <a:avLst>
              <a:gd name="adj" fmla="val 6877"/>
            </a:avLst>
          </a:prstGeom>
          <a:solidFill>
            <a:srgbClr val="FDFCFA"/>
          </a:solidFill>
          <a:ln w="6350">
            <a:solidFill>
              <a:srgbClr val="E2DED5"/>
            </a:solidFill>
            <a:prstDash val="solid"/>
          </a:ln>
        </p:spPr>
      </p:sp>
      <p:sp>
        <p:nvSpPr>
          <p:cNvPr id="10" name="Text 8"/>
          <p:cNvSpPr/>
          <p:nvPr/>
        </p:nvSpPr>
        <p:spPr>
          <a:xfrm>
            <a:off x="81838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A3FD0"/>
                </a:solidFill>
                <a:latin typeface="JetBrains Mono" pitchFamily="49" charset="0"/>
                <a:ea typeface="JetBrains Mono" pitchFamily="49" charset="-122"/>
                <a:cs typeface="JetBrains Mono" pitchFamily="49" charset="-120"/>
              </a:rPr>
              <a:t>Q3</a:t>
            </a:r>
            <a:endParaRPr lang="en-US" sz="1400" dirty="0"/>
          </a:p>
        </p:txBody>
      </p:sp>
      <p:sp>
        <p:nvSpPr>
          <p:cNvPr id="11" name="Text 9"/>
          <p:cNvSpPr/>
          <p:nvPr/>
        </p:nvSpPr>
        <p:spPr>
          <a:xfrm>
            <a:off x="8183880" y="2044700"/>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What happens when a container goes over its memory limit? Its CPU limit?</a:t>
            </a:r>
            <a:endParaRPr lang="en-US" sz="1400" dirty="0"/>
          </a:p>
        </p:txBody>
      </p:sp>
      <p:sp>
        <p:nvSpPr>
          <p:cNvPr id="12" name="Shape 10"/>
          <p:cNvSpPr/>
          <p:nvPr/>
        </p:nvSpPr>
        <p:spPr>
          <a:xfrm>
            <a:off x="815975" y="3155317"/>
            <a:ext cx="3397250" cy="1431290"/>
          </a:xfrm>
          <a:prstGeom prst="roundRect">
            <a:avLst>
              <a:gd name="adj" fmla="val 6877"/>
            </a:avLst>
          </a:prstGeom>
          <a:solidFill>
            <a:srgbClr val="FDFCFA"/>
          </a:solidFill>
          <a:ln w="6350">
            <a:solidFill>
              <a:srgbClr val="E2DED5"/>
            </a:solidFill>
            <a:prstDash val="solid"/>
          </a:ln>
        </p:spPr>
      </p:sp>
      <p:sp>
        <p:nvSpPr>
          <p:cNvPr id="13" name="Text 11"/>
          <p:cNvSpPr/>
          <p:nvPr/>
        </p:nvSpPr>
        <p:spPr>
          <a:xfrm>
            <a:off x="1021080" y="3335027"/>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A3FD0"/>
                </a:solidFill>
                <a:latin typeface="JetBrains Mono" pitchFamily="49" charset="0"/>
                <a:ea typeface="JetBrains Mono" pitchFamily="49" charset="-122"/>
                <a:cs typeface="JetBrains Mono" pitchFamily="49" charset="-120"/>
              </a:rPr>
              <a:t>Q4</a:t>
            </a:r>
            <a:endParaRPr lang="en-US" sz="1400" dirty="0"/>
          </a:p>
        </p:txBody>
      </p:sp>
      <p:sp>
        <p:nvSpPr>
          <p:cNvPr id="14" name="Text 12"/>
          <p:cNvSpPr/>
          <p:nvPr/>
        </p:nvSpPr>
        <p:spPr>
          <a:xfrm>
            <a:off x="1021080" y="36601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Why run a database as a StatefulSet rather than a Deployment?</a:t>
            </a:r>
            <a:endParaRPr lang="en-US" sz="1400" dirty="0"/>
          </a:p>
        </p:txBody>
      </p:sp>
      <p:sp>
        <p:nvSpPr>
          <p:cNvPr id="15" name="Shape 13"/>
          <p:cNvSpPr/>
          <p:nvPr/>
        </p:nvSpPr>
        <p:spPr>
          <a:xfrm>
            <a:off x="4397375" y="3155317"/>
            <a:ext cx="3397250" cy="1431290"/>
          </a:xfrm>
          <a:prstGeom prst="roundRect">
            <a:avLst>
              <a:gd name="adj" fmla="val 6877"/>
            </a:avLst>
          </a:prstGeom>
          <a:solidFill>
            <a:srgbClr val="FDFCFA"/>
          </a:solidFill>
          <a:ln w="6350">
            <a:solidFill>
              <a:srgbClr val="E2DED5"/>
            </a:solidFill>
            <a:prstDash val="solid"/>
          </a:ln>
        </p:spPr>
      </p:sp>
      <p:sp>
        <p:nvSpPr>
          <p:cNvPr id="16" name="Text 14"/>
          <p:cNvSpPr/>
          <p:nvPr/>
        </p:nvSpPr>
        <p:spPr>
          <a:xfrm>
            <a:off x="4602480" y="3335027"/>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A3FD0"/>
                </a:solidFill>
                <a:latin typeface="JetBrains Mono" pitchFamily="49" charset="0"/>
                <a:ea typeface="JetBrains Mono" pitchFamily="49" charset="-122"/>
                <a:cs typeface="JetBrains Mono" pitchFamily="49" charset="-120"/>
              </a:rPr>
              <a:t>Q5</a:t>
            </a:r>
            <a:endParaRPr lang="en-US" sz="1400" dirty="0"/>
          </a:p>
        </p:txBody>
      </p:sp>
      <p:sp>
        <p:nvSpPr>
          <p:cNvPr id="17" name="Text 15"/>
          <p:cNvSpPr/>
          <p:nvPr/>
        </p:nvSpPr>
        <p:spPr>
          <a:xfrm>
            <a:off x="4602480" y="3660142"/>
            <a:ext cx="307665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Your Secret YAML, with base64 values, is committed to Git. Is that safe?</a:t>
            </a:r>
            <a:endParaRPr lang="en-US" sz="1400" dirty="0"/>
          </a:p>
        </p:txBody>
      </p:sp>
      <p:sp>
        <p:nvSpPr>
          <p:cNvPr id="18" name="Shape 16"/>
          <p:cNvSpPr/>
          <p:nvPr/>
        </p:nvSpPr>
        <p:spPr>
          <a:xfrm>
            <a:off x="7978775" y="3155317"/>
            <a:ext cx="3397250" cy="1431290"/>
          </a:xfrm>
          <a:prstGeom prst="roundRect">
            <a:avLst>
              <a:gd name="adj" fmla="val 6877"/>
            </a:avLst>
          </a:prstGeom>
          <a:solidFill>
            <a:srgbClr val="FDFCFA"/>
          </a:solidFill>
          <a:ln w="6350">
            <a:solidFill>
              <a:srgbClr val="E2DED5"/>
            </a:solidFill>
            <a:prstDash val="solid"/>
          </a:ln>
        </p:spPr>
      </p:sp>
      <p:sp>
        <p:nvSpPr>
          <p:cNvPr id="19" name="Text 17"/>
          <p:cNvSpPr/>
          <p:nvPr/>
        </p:nvSpPr>
        <p:spPr>
          <a:xfrm>
            <a:off x="8183880" y="3335027"/>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A3FD0"/>
                </a:solidFill>
                <a:latin typeface="JetBrains Mono" pitchFamily="49" charset="0"/>
                <a:ea typeface="JetBrains Mono" pitchFamily="49" charset="-122"/>
                <a:cs typeface="JetBrains Mono" pitchFamily="49" charset="-120"/>
              </a:rPr>
              <a:t>Q6</a:t>
            </a:r>
            <a:endParaRPr lang="en-US" sz="1400" dirty="0"/>
          </a:p>
        </p:txBody>
      </p:sp>
      <p:sp>
        <p:nvSpPr>
          <p:cNvPr id="20" name="Text 18"/>
          <p:cNvSpPr/>
          <p:nvPr/>
        </p:nvSpPr>
        <p:spPr>
          <a:xfrm>
            <a:off x="8183880" y="3660142"/>
            <a:ext cx="307665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Taints or node affinity: which repels Pods from nodes, and which attracts them?</a:t>
            </a:r>
            <a:endParaRPr lang="en-US" sz="1400" dirty="0"/>
          </a:p>
        </p:txBody>
      </p:sp>
      <p:sp>
        <p:nvSpPr>
          <p:cNvPr id="21" name="Text 19"/>
          <p:cNvSpPr/>
          <p:nvPr/>
        </p:nvSpPr>
        <p:spPr>
          <a:xfrm>
            <a:off x="812800" y="6238242"/>
            <a:ext cx="30276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Kubernetes Fundamentals · Wrap-up</a:t>
            </a:r>
            <a:endParaRPr lang="en-US" sz="1200" dirty="0"/>
          </a:p>
        </p:txBody>
      </p:sp>
      <p:sp>
        <p:nvSpPr>
          <p:cNvPr id="22" name="Text 2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17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9A9FF"/>
                </a:solidFill>
                <a:latin typeface="IBM Plex Sans" pitchFamily="34" charset="0"/>
                <a:ea typeface="IBM Plex Sans" pitchFamily="34" charset="-122"/>
                <a:cs typeface="IBM Plex Sans" pitchFamily="34" charset="-120"/>
              </a:rPr>
              <a:t>RESOURCES AND Q&amp;A</a:t>
            </a:r>
            <a:endParaRPr lang="en-US" sz="1200" dirty="0"/>
          </a:p>
        </p:txBody>
      </p:sp>
      <p:sp>
        <p:nvSpPr>
          <p:cNvPr id="3" name="Text 1"/>
          <p:cNvSpPr/>
          <p:nvPr>
            <p:ph type="title"/>
          </p:nvPr>
        </p:nvSpPr>
        <p:spPr>
          <a:xfrm>
            <a:off x="812800" y="1178558"/>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Questions?</a:t>
            </a:r>
            <a:endParaRPr lang="en-US" sz="5600" dirty="0"/>
          </a:p>
        </p:txBody>
      </p:sp>
      <p:sp>
        <p:nvSpPr>
          <p:cNvPr id="4" name="Shape 2"/>
          <p:cNvSpPr/>
          <p:nvPr/>
        </p:nvSpPr>
        <p:spPr>
          <a:xfrm>
            <a:off x="812800" y="4865377"/>
            <a:ext cx="3318907" cy="0"/>
          </a:xfrm>
          <a:prstGeom prst="line">
            <a:avLst/>
          </a:prstGeom>
          <a:noFill/>
          <a:ln w="12700">
            <a:solidFill>
              <a:srgbClr val="2E2A55"/>
            </a:solidFill>
            <a:prstDash val="solid"/>
          </a:ln>
        </p:spPr>
      </p:sp>
      <p:sp>
        <p:nvSpPr>
          <p:cNvPr id="5" name="Text 3"/>
          <p:cNvSpPr/>
          <p:nvPr/>
        </p:nvSpPr>
        <p:spPr>
          <a:xfrm>
            <a:off x="812800" y="5021585"/>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A9FF"/>
                </a:solidFill>
                <a:latin typeface="IBM Plex Sans" pitchFamily="34" charset="0"/>
                <a:ea typeface="IBM Plex Sans" pitchFamily="34" charset="-122"/>
                <a:cs typeface="IBM Plex Sans" pitchFamily="34" charset="-120"/>
              </a:rPr>
              <a:t>DOCUMENTATION</a:t>
            </a:r>
            <a:endParaRPr lang="en-US" sz="1200" dirty="0"/>
          </a:p>
        </p:txBody>
      </p:sp>
      <p:sp>
        <p:nvSpPr>
          <p:cNvPr id="6" name="Text 4"/>
          <p:cNvSpPr/>
          <p:nvPr/>
        </p:nvSpPr>
        <p:spPr>
          <a:xfrm>
            <a:off x="812800" y="5298442"/>
            <a:ext cx="3418474" cy="772160"/>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C9CED8"/>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kubernetes.io/docs</a:t>
            </a:r>
            <a:r>
              <a:rPr lang="en-US" sz="1400" dirty="0">
                <a:solidFill>
                  <a:srgbClr val="C9CED8"/>
                </a:solidFill>
                <a:latin typeface="IBM Plex Sans" pitchFamily="34" charset="0"/>
                <a:ea typeface="IBM Plex Sans" pitchFamily="34" charset="-122"/>
                <a:cs typeface="IBM Plex Sans" pitchFamily="34" charset="-120"/>
              </a:rPr>
              <a:t> — concepts, tasks and the kubectl reference; </a:t>
            </a:r>
            <a:r>
              <a:rPr lang="en-US" sz="1400" u="sng" dirty="0">
                <a:solidFill>
                  <a:srgbClr val="C9CED8"/>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gateway-api.sigs.k8s.io</a:t>
            </a:r>
            <a:endParaRPr lang="en-US" sz="1400" dirty="0"/>
          </a:p>
        </p:txBody>
      </p:sp>
      <p:sp>
        <p:nvSpPr>
          <p:cNvPr id="7" name="Shape 5"/>
          <p:cNvSpPr/>
          <p:nvPr/>
        </p:nvSpPr>
        <p:spPr>
          <a:xfrm>
            <a:off x="4436507" y="4865377"/>
            <a:ext cx="3318986" cy="0"/>
          </a:xfrm>
          <a:prstGeom prst="line">
            <a:avLst/>
          </a:prstGeom>
          <a:noFill/>
          <a:ln w="12700">
            <a:solidFill>
              <a:srgbClr val="2E2A55"/>
            </a:solidFill>
            <a:prstDash val="solid"/>
          </a:ln>
        </p:spPr>
      </p:sp>
      <p:sp>
        <p:nvSpPr>
          <p:cNvPr id="8" name="Text 6"/>
          <p:cNvSpPr/>
          <p:nvPr/>
        </p:nvSpPr>
        <p:spPr>
          <a:xfrm>
            <a:off x="4436507" y="5021585"/>
            <a:ext cx="34185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A9FF"/>
                </a:solidFill>
                <a:latin typeface="IBM Plex Sans" pitchFamily="34" charset="0"/>
                <a:ea typeface="IBM Plex Sans" pitchFamily="34" charset="-122"/>
                <a:cs typeface="IBM Plex Sans" pitchFamily="34" charset="-120"/>
              </a:rPr>
              <a:t>PRACTICE AND CERTIFY</a:t>
            </a:r>
            <a:endParaRPr lang="en-US" sz="1200" dirty="0"/>
          </a:p>
        </p:txBody>
      </p:sp>
      <p:sp>
        <p:nvSpPr>
          <p:cNvPr id="9" name="Text 7"/>
          <p:cNvSpPr/>
          <p:nvPr/>
        </p:nvSpPr>
        <p:spPr>
          <a:xfrm>
            <a:off x="4436507" y="5298442"/>
            <a:ext cx="3418556" cy="772160"/>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C9CED8"/>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kind.sigs.k8s.io</a:t>
            </a:r>
            <a:r>
              <a:rPr lang="en-US" sz="1400" dirty="0">
                <a:solidFill>
                  <a:srgbClr val="C9CED8"/>
                </a:solidFill>
                <a:latin typeface="IBM Plex Sans" pitchFamily="34" charset="0"/>
                <a:ea typeface="IBM Plex Sans" pitchFamily="34" charset="-122"/>
                <a:cs typeface="IBM Plex Sans" pitchFamily="34" charset="-120"/>
              </a:rPr>
              <a:t> for local clusters; certification path KCNA, then CKAD or CKA</a:t>
            </a:r>
            <a:endParaRPr lang="en-US" sz="1400" dirty="0"/>
          </a:p>
        </p:txBody>
      </p:sp>
      <p:sp>
        <p:nvSpPr>
          <p:cNvPr id="10" name="Shape 8"/>
          <p:cNvSpPr/>
          <p:nvPr/>
        </p:nvSpPr>
        <p:spPr>
          <a:xfrm>
            <a:off x="8060293" y="4865377"/>
            <a:ext cx="3318907" cy="0"/>
          </a:xfrm>
          <a:prstGeom prst="line">
            <a:avLst/>
          </a:prstGeom>
          <a:noFill/>
          <a:ln w="12700">
            <a:solidFill>
              <a:srgbClr val="2E2A55"/>
            </a:solidFill>
            <a:prstDash val="solid"/>
          </a:ln>
        </p:spPr>
      </p:sp>
      <p:sp>
        <p:nvSpPr>
          <p:cNvPr id="11" name="Text 9"/>
          <p:cNvSpPr/>
          <p:nvPr/>
        </p:nvSpPr>
        <p:spPr>
          <a:xfrm>
            <a:off x="8060293" y="5021585"/>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A9FF"/>
                </a:solidFill>
                <a:latin typeface="IBM Plex Sans" pitchFamily="34" charset="0"/>
                <a:ea typeface="IBM Plex Sans" pitchFamily="34" charset="-122"/>
                <a:cs typeface="IBM Plex Sans" pitchFamily="34" charset="-120"/>
              </a:rPr>
              <a:t>NEXT IN THE SERIES</a:t>
            </a:r>
            <a:endParaRPr lang="en-US" sz="1200" dirty="0"/>
          </a:p>
        </p:txBody>
      </p:sp>
      <p:sp>
        <p:nvSpPr>
          <p:cNvPr id="12" name="Text 10"/>
          <p:cNvSpPr/>
          <p:nvPr/>
        </p:nvSpPr>
        <p:spPr>
          <a:xfrm>
            <a:off x="8060293" y="5298442"/>
            <a:ext cx="34184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GitHub Actions Fundamentals — automating build, test and deploy</a:t>
            </a:r>
            <a:endParaRPr lang="en-US" sz="1400" dirty="0"/>
          </a:p>
        </p:txBody>
      </p:sp>
    </p:spTree>
  </p:cSld>
  <p:clrMapOvr>
    <a:masterClrMapping/>
  </p:clrMapOvr>
</p:sld>
</file>

<file path=ppt/theme/theme1.xml><?xml version="1.0" encoding="utf-8"?>
<a:theme xmlns:a="http://schemas.openxmlformats.org/drawingml/2006/main" name="Kubernetes Fundamentals">
  <a:themeElements>
    <a:clrScheme name="Kubernetes Fundamentals">
      <a:dk1>
        <a:srgbClr val="2B3240"/>
      </a:dk1>
      <a:lt1>
        <a:srgbClr val="F6F5F1"/>
      </a:lt1>
      <a:dk2>
        <a:srgbClr val="5E636C"/>
      </a:dk2>
      <a:lt2>
        <a:srgbClr val="E2E2DF"/>
      </a:lt2>
      <a:accent1>
        <a:srgbClr val="5A3FD0"/>
      </a:accent1>
      <a:accent2>
        <a:srgbClr val="B9A9FF"/>
      </a:accent2>
      <a:accent3>
        <a:srgbClr val="121722"/>
      </a:accent3>
      <a:accent4>
        <a:srgbClr val="5D6470"/>
      </a:accent4>
      <a:accent5>
        <a:srgbClr val="161B26"/>
      </a:accent5>
      <a:accent6>
        <a:srgbClr val="C9CED8"/>
      </a:accent6>
      <a:hlink>
        <a:srgbClr val="0563C1"/>
      </a:hlink>
      <a:folHlink>
        <a:srgbClr val="954F72"/>
      </a:folHlink>
    </a:clrScheme>
    <a:fontScheme name="Kubernetes Fundamental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Fundamentals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2026-10-30T07:07:56Z</dcterms:created>
  <dcterms:modified xsi:type="dcterms:W3CDTF">2026-10-30T07:07:56Z</dcterms:modified>
</cp:coreProperties>
</file>