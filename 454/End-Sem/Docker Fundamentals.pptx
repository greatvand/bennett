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embeddedFontLst>
    <p:embeddedFont>
      <p:font typeface="JetBrains Mono" panose="02000009000000000000" pitchFamily="49" charset="0"/>
      <p:regular r:id="rId37"/>
      <p:bold r:id="rId38"/>
    </p:embeddedFont>
    <p:embeddedFont>
      <p:font typeface="Space Grotesk" pitchFamily="34" charset="0"/>
      <p:regular r:id="rId39"/>
      <p:bold r:id="rId4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part 1 of a three-part series: Docker, then Kubernetes, then GitHub Actions. We go from first principles (what a container actually is) to running a multi-container app with Compose. One sample app — a web front end, an API and a Postgres database — runs through all three labs, so what students build today gets deployed to Kubernetes next and automated with GitHub Actions after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about two-thirds concepts and live demos, one-third hands-on. Every command on these slides can be typed as-is on a machine with Docker installed. The lab on slide 28 builds the three-tier app we will reuse in the Kubernetes and GitHub Actions decks.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who has hit this. Most students have: a project that ran for them but not for a teammate or the evaluator. The three causes on the slide are the usual suspects. A container image freezes all three into one artifact, so the thing you tested is exactly the thing that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difference is the kernel. Each VM boots its own operating system on virtual hardware; containers share the host’s kernel and only package what sits above it. That is why containers are small and start fast — and also why their isolation is lighter. A Linux container needs a Linux kernel, which is why Docker Desktop on macOS and Windows runs a small Linux VM behind the scenes.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docker run --rm alpine ps lists only the container’s own processes, with ps itself as PID 1 — that is the pid namespace. Then run docker run --rm --memory 64m alpine cat /sys/fs/cgroup/memory.max to show the cgroup limit (on cgroup v2 hosts). The storage driver docker uses for this layering is called overlay2; docker info shows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chain left to right. The CLI is only a client: it talks to dockerd through /var/run/docker.sock, which is why access to that socket is effectively root access. dockerd hands container work to containerd, a CNCF graduated project; containerd starts a small shim per container and calls runc, the reference OCI runtime, to create the isolated process. Kubernetes removed its Docker Engine integration (dockershim) in v1.24 — a point students often misread as “Kubernetes dropped Docker images”. It didn’t: images are OCI images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Engine is the open-source daemon you install directly on Linux. Docker Desktop wraps the same engine in a small Linux VM so it works on macOS and Windows, and adds Compose, a GUI and an optional single-node Kubernetes. Check the licence terms for your institution: education use is free. Podman is a daemonless alternative from Red Hat with a Docker-compatible CLI; Compose files work through podman compose.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Dockerfile step that changes the filesystem produces a layer; the stack is read top-down by the union filesystem. Show docker image history myapi:1.0 to see the layers and their sizes. Start two containers from one image and point out that only the dashed writable layers are new — which is why starting the hundredth container is as cheap as the first. Anything written only to the writable layer disappears with docker rm, which sets up the volumes section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docker pull nginx:1.27, then docker images --digests to show the digest next to the tag. Pull by digest with docker pull nginx@sha256:… to prove it resolves to exactly one image. Teams usually pull by tag in development and pin by digest in production manifests. If no registry is given, Docker assumes Docker Hub; if no namespace is given, it assumes the official library namespace.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in this order: run nginx, open localhost:8080 in a browser, docker ps, docker logs -f web while refreshing the page, docker exec -it web sh and look around (cat /etc/os-release), then stop, start and rm. Point out that docker run is really docker create plus docker start, and that containers can be referred to by name or by a unique prefix of their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run is create plus start in one step. Exit codes above 128 mean “killed by signal (code − 128)”: 137 is signal 9 (SIGKILL, also what the kernel’s OOM killer sends) and 143 is signal 15 (SIGTERM). A common bug: an app started through a shell script never sees SIGTERM, so every docker stop takes the full 10 seconds and ends in SIGKILL. Restart policies are a single-host safety net; Kubernetes takes this much further in the next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number in -p is always the host port and the right one the container port. A frequent mistake is publishing a database to 0.0.0.0 on a shared or cloud machine; bind it to 127.0.0.1 or keep it unpublished on an internal network (slide 23). For configuration, the idea comes from the twelve-factor app: build one image, inject settings at run time. Real secrets belong in a secrets manager or orchestrator secrets, which the Kubernetes deck 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Dockerfile top to bottom: start from a slim Python base, set the working folder, install dependencies, copy the code, then declare how to run it. RUN executes while building and its result is saved as a layer; CMD only records what to run later. Prefer COPY over ADD — ADD also unpacks archives and fetches URLs, which surprises people. ARG values exist only during the build; ENV values are baked into the image and visible at run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of thumb: ENTRYPOINT for the program that must always run, CMD for defaults a user may want to change. Demo the table live with a tiny image so students see the third column change. The shell-form problem connects back to slide 11: with /bin/sh as PID 1, docker stop’s SIGTERM is often not forwarded, so the container is killed after the 10-second timeout instead of shutting down cleanly.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difference live: build once without a .dockerignore in a project with node_modules or a virtual environment, watch the “transferring context” size in the build output, then add the file and build again. Point out the security angle: COPY . . copies everything in the context, so an .env file or private key that isn’t ignored lands in a layer — and stays in that layer’s history even if a later step deletes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build the “before” version, change one line of app.py, rebuild and watch pip install run again. Do the same with the “after” version and the install step shows CACHED. For the apt-get tip, the reason is that a separate RUN apt-get update can be cached forever while a later install line changes, leading to stale package lists. Full cache-mount example: RUN --mount=type=cache,target=/root/.cache/pip pip install -r requirements.txt.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both a single-stage and a multi-stage version of the same app and compare them with docker images — the difference is the clearest argument for this pattern. CGO_ENABLED=0 produces a statically linked Go binary, which is why it can run on the distroless “static” image that has no C library. The :nonroot tag of distroless runs as an unprivileged user by default. Students can also name stages and build one directly: docker build --target build -t myapp:build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Smaller images pull faster and have fewer packages that can carry vulnerabilities. Alpine is tempting but uses musl instead of glibc, so some compiled Python wheels and binaries either fail or must be compiled from source, which can make builds slower and images larger in the end. Distroless images (from Google’s distroless project) contain only the runtime your app needs. Let students run docker images after pulling python:3.13, python:3.13-slim and python:3.13-alpine to see the size differences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tag is just a label; docker tag adds a new name to the same image without copying anything, so both tags share one digest. For GitHub Container Registry, docker login ghcr.io asks for your GitHub username and a personal access token with package write permission; in GitHub Actions the built-in GITHUB_TOKEN does this job (third deck). After pushing, docker push prints the digest — that is what you would pin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Volumes are the default answer for data: Docker manages where they live, they work the same on every platform, and docker volume ls, inspect and rm manage them. Bind mounts map a host path straight in, which is perfect for editing code on your laptop and seeing changes in the container, but ties the container to that machine’s folder layout. The -v name:path syntax creates a named volume when the left side is a name, and a bind mount when it is a path. The longer --mount type=volume,src=pgdata,dst=/var/lib/postgresql/data form is more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Postgres a few seconds after docker run before the first psql call (docker logs db shows “ready to accept connections”). The demo pins postgres:16 on purpose: from PostgreSQL 18 the official image keeps its data under /var/lib/postgresql/18/docker and expects the volume at /var/lib/postgresql instead, so mount paths differ by major version — check the image docs when upgrading. To back up a volume, run a throwaway container that mounts it and writes a tar file to a bind-mounted folder, or use pg_dump.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new container joins the default bridge network unless told otherwise. host networking removes the network namespace entirely, so the container’s ports are the host’s ports — fast, but no isolation, and historically Linux-only. overlay matters for Docker Swarm; in the Kubernetes deck, the cluster’s CNI plugin plays this role instead. Run docker network inspect bridge while a container is running to see its IP address in the Containers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that db is not published with -p: only the api container can reach it, over appnet. Demo name resolution with docker run --rm --network appnet alpine nslookup db, then try the same on the default bridge to show it fails. This is the same pattern Compose builds for you on the next slide, and the same idea Kubernetes Services provide at cluster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Compose turns the commands from the last few slides into a declarative file. Mention two details students trip over: the top-level version: key is obsolete and ignored, and Compose v2 is invoked as docker compose (with a space) — the old docker-compose binary is retired. Only web publishes a port; api and db stay on the project network, exactly like the appnet example. docker compose down keeps the pgdata volume unless you add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healthcheck, the API often crashes on first start with “connection refused”, and students conclude Compose is flaky. pg_isready is a small tool shipped in the Postgres image that reports whether the server accepts connections. docker compose ps shows the health status column (starting, healthy, unhealthy). Kubernetes splits this same idea into readiness and liveness probes in the next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habits that make Compose pleasant day to day. ${PG_VERSION:-16} means “use PG_VERSION from the environment or .env, else 16”. Profiles keep helper tools such as pgAdmin or a mail catcher out of the default up. Watch replaces the old trick of bind-mounting source code: sync copies changed files into the container, sync+restart also restarts it, and rebuild rebuilds the image. Compose also merges a compose.override.yaml automatically if it exists, which is a common place for development-only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line maps back to a slide: pinning (9, 18), caching and .dockerignore (15, 16), multi-stage (17), USER (13), volumes (20–21), exec form and SIGTERM (11, 14). For secrets during builds, BuildKit supports RUN --mount=type=secret so the value is never written to a layer. Scanning images for known vulnerabilities (for example with docker scout or Trivy) is a good next step beyond this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60–90 minutes. Provide students with a tiny starter repository: a static index.html for web, a small Flask or FastAPI app for api that reads DB_HOST and writes a row to Postgres, and an empty compose.yaml. Ask them to record docker images output before and after the multi-stage change. Keep their repositories: the Kubernetes lab deploys these same images, and the GitHub Actions lab builds them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cgroups limit what a process can use (CPU, memory); namespaces control what it can see. Q2: copying all source code first means any code change invalidates that layer, so the dependency install after it reruns; copy the requirements file first. Q3: the digest — tags can be moved. Q4: a volume; the data lived in the container’s writable layer, which docker rm deletes. Q5: a healthcheck on db plus depends_on with condition: service_healthy. Q6: user-defined networks have built-in DNS that resolves container names; the default bridge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connecting to the next deck: Docker answers “how do I package and run one app on one machine?” Kubernetes answers “how do I run many copies across many machines, keep them healthy and update them safely?” Ask students to bring their working Compose project to the next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21722"/>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536700"/>
            <a:ext cx="10566400" cy="4508500"/>
          </a:xfrm>
          <a:prstGeom prst="rect">
            <a:avLst/>
          </a:prstGeom>
          <a:noFill/>
          <a:ln/>
        </p:spPr>
        <p:txBody>
          <a:bodyPr wrap="square" lIns="0" tIns="0" rIns="0" bIns="0" rtlCol="0" anchor="t"/>
          <a:lstStyle>
            <a:lvl1pPr algn="l" indent="0" marL="0">
              <a:lnSpc>
                <a:spcPct val="140000"/>
              </a:lnSpc>
              <a:buNone/>
              <a:defRPr lang="en-US" sz="1600" dirty="0">
                <a:solidFill>
                  <a:srgbClr val="121722"/>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21722"/>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536700"/>
            <a:ext cx="10566400" cy="4508500"/>
          </a:xfrm>
          <a:prstGeom prst="rect">
            <a:avLst/>
          </a:prstGeom>
          <a:noFill/>
          <a:ln/>
        </p:spPr>
        <p:txBody>
          <a:bodyPr wrap="square" lIns="0" tIns="0" rIns="0" bIns="0" rtlCol="0" anchor="t"/>
          <a:lstStyle>
            <a:lvl1pPr algn="l" indent="0" marL="0">
              <a:lnSpc>
                <a:spcPct val="140000"/>
              </a:lnSpc>
              <a:buNone/>
              <a:defRPr lang="en-US" sz="1600" dirty="0">
                <a:solidFill>
                  <a:srgbClr val="121722"/>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2.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docs.docker.com" TargetMode="External"/><Relationship Id="rId2" Type="http://schemas.openxmlformats.org/officeDocument/2006/relationships/hyperlink" Target="https://opencontainers.org" TargetMode="External"/><Relationship Id="rId3" Type="http://schemas.openxmlformats.org/officeDocument/2006/relationships/slideLayout" Target="../slideLayouts/slideLayout2.xml"/><Relationship Id="rId4"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722"/>
        </a:solidFill>
      </p:bgPr>
    </p:bg>
    <p:spTree>
      <p:nvGrpSpPr>
        <p:cNvPr id="1" name=""/>
        <p:cNvGrpSpPr/>
        <p:nvPr/>
      </p:nvGrpSpPr>
      <p:grpSpPr>
        <a:xfrm>
          <a:off x="0" y="0"/>
          <a:ext cx="0" cy="0"/>
          <a:chOff x="0" y="0"/>
          <a:chExt cx="0" cy="0"/>
        </a:xfrm>
      </p:grpSpPr>
      <p:pic>
        <p:nvPicPr>
          <p:cNvPr id="2" name="Image 0" descr="Abstract grid of stacked container blocks">    </p:cNvPr>
          <p:cNvPicPr>
            <a:picLocks noChangeAspect="1"/>
          </p:cNvPicPr>
          <p:nvPr/>
        </p:nvPicPr>
        <p:blipFill>
          <a:blip r:embed="rId1"/>
          <a:srcRect l="0" r="0" t="0" b="0"/>
          <a:stretch/>
        </p:blipFill>
        <p:spPr>
          <a:xfrm>
            <a:off x="7874000" y="812800"/>
            <a:ext cx="3505200" cy="2692400"/>
          </a:xfrm>
          <a:prstGeom prst="rect">
            <a:avLst/>
          </a:prstGeom>
        </p:spPr>
      </p:pic>
      <p:sp>
        <p:nvSpPr>
          <p:cNvPr id="3"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EBBFF"/>
                </a:solidFill>
                <a:latin typeface="IBM Plex Sans" pitchFamily="34" charset="0"/>
                <a:ea typeface="IBM Plex Sans" pitchFamily="34" charset="-122"/>
                <a:cs typeface="IBM Plex Sans" pitchFamily="34" charset="-120"/>
              </a:rPr>
              <a:t>DEVOPS FOUNDATIONS · PART 1 OF 3</a:t>
            </a:r>
            <a:endParaRPr lang="en-US" sz="1200" dirty="0"/>
          </a:p>
        </p:txBody>
      </p:sp>
      <p:sp>
        <p:nvSpPr>
          <p:cNvPr id="4" name="Text 1"/>
          <p:cNvSpPr/>
          <p:nvPr>
            <p:ph type="title"/>
          </p:nvPr>
        </p:nvSpPr>
        <p:spPr>
          <a:xfrm>
            <a:off x="812800" y="4330700"/>
            <a:ext cx="10883392" cy="772160"/>
          </a:xfrm>
          <a:prstGeom prst="rect">
            <a:avLst/>
          </a:prstGeom>
          <a:noFill/>
          <a:ln/>
        </p:spPr>
        <p:txBody>
          <a:bodyPr wrap="square" lIns="0" tIns="0" rIns="0" bIns="0" rtlCol="0" anchor="t">
            <a:normAutofit/>
          </a:bodyPr>
          <a:lstStyle/>
          <a:p>
            <a:pPr algn="l" indent="0" marL="0">
              <a:lnSpc>
                <a:spcPts val="5880"/>
              </a:lnSpc>
              <a:buNone/>
            </a:pPr>
            <a:r>
              <a:rPr lang="en-US" sz="5600" b="1" i="0" spc="-150" kern="0" dirty="0">
                <a:solidFill>
                  <a:srgbClr val="F6F5F1"/>
                </a:solidFill>
                <a:latin typeface="Space Grotesk" pitchFamily="34" charset="0"/>
                <a:ea typeface="Space Grotesk" pitchFamily="34" charset="-122"/>
                <a:cs typeface="Space Grotesk" pitchFamily="34" charset="-120"/>
              </a:rPr>
              <a:t>Docker Fundamentals</a:t>
            </a:r>
            <a:endParaRPr lang="en-US" sz="5600" dirty="0"/>
          </a:p>
        </p:txBody>
      </p:sp>
      <p:sp>
        <p:nvSpPr>
          <p:cNvPr id="5" name="Text 2"/>
          <p:cNvSpPr/>
          <p:nvPr/>
        </p:nvSpPr>
        <p:spPr>
          <a:xfrm>
            <a:off x="812800" y="5229860"/>
            <a:ext cx="10883392" cy="3225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C9CED8"/>
                </a:solidFill>
                <a:latin typeface="IBM Plex Sans" pitchFamily="34" charset="0"/>
                <a:ea typeface="IBM Plex Sans" pitchFamily="34" charset="-122"/>
                <a:cs typeface="IBM Plex Sans" pitchFamily="34" charset="-120"/>
              </a:rPr>
              <a:t>Packaging and running applications as containers</a:t>
            </a:r>
            <a:endParaRPr lang="en-US" sz="1800" dirty="0"/>
          </a:p>
        </p:txBody>
      </p:sp>
      <p:sp>
        <p:nvSpPr>
          <p:cNvPr id="6" name="Text 3"/>
          <p:cNvSpPr/>
          <p:nvPr/>
        </p:nvSpPr>
        <p:spPr>
          <a:xfrm>
            <a:off x="812800" y="58318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3B2"/>
                </a:solidFill>
                <a:latin typeface="IBM Plex Sans" pitchFamily="34" charset="0"/>
                <a:ea typeface="IBM Plex Sans" pitchFamily="34" charset="-122"/>
                <a:cs typeface="IBM Plex Sans" pitchFamily="34" charset="-120"/>
              </a:rPr>
              <a:t>Foundations · Running containers · Building images · Storage and networking · Compose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Agenda and learning outcomes</a:t>
            </a:r>
            <a:endParaRPr lang="en-US" sz="3000" dirty="0"/>
          </a:p>
        </p:txBody>
      </p:sp>
      <p:sp>
        <p:nvSpPr>
          <p:cNvPr id="3" name="Text 1"/>
          <p:cNvSpPr/>
          <p:nvPr/>
        </p:nvSpPr>
        <p:spPr>
          <a:xfrm>
            <a:off x="812800" y="1536700"/>
            <a:ext cx="523240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What we’ll cover</a:t>
            </a:r>
            <a:endParaRPr lang="en-US" sz="1800" dirty="0"/>
          </a:p>
        </p:txBody>
      </p:sp>
      <p:sp>
        <p:nvSpPr>
          <p:cNvPr id="4" name="Shape 2"/>
          <p:cNvSpPr/>
          <p:nvPr/>
        </p:nvSpPr>
        <p:spPr>
          <a:xfrm>
            <a:off x="812800" y="2315845"/>
            <a:ext cx="5080000" cy="0"/>
          </a:xfrm>
          <a:prstGeom prst="line">
            <a:avLst/>
          </a:prstGeom>
          <a:noFill/>
          <a:ln w="6350">
            <a:solidFill>
              <a:srgbClr val="E2DED5"/>
            </a:solidFill>
            <a:prstDash val="solid"/>
          </a:ln>
        </p:spPr>
      </p:sp>
      <p:sp>
        <p:nvSpPr>
          <p:cNvPr id="5" name="Text 3"/>
          <p:cNvSpPr/>
          <p:nvPr/>
        </p:nvSpPr>
        <p:spPr>
          <a:xfrm>
            <a:off x="812800" y="2014220"/>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5FC4"/>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1148080" y="1988820"/>
            <a:ext cx="463590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Why containers</a:t>
            </a:r>
            <a:endParaRPr lang="en-US" sz="1400" dirty="0"/>
          </a:p>
        </p:txBody>
      </p:sp>
      <p:sp>
        <p:nvSpPr>
          <p:cNvPr id="7" name="Text 5"/>
          <p:cNvSpPr/>
          <p:nvPr/>
        </p:nvSpPr>
        <p:spPr>
          <a:xfrm>
            <a:off x="5801360" y="2014220"/>
            <a:ext cx="1422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3</a:t>
            </a:r>
            <a:endParaRPr lang="en-US" sz="1200" dirty="0"/>
          </a:p>
        </p:txBody>
      </p:sp>
      <p:sp>
        <p:nvSpPr>
          <p:cNvPr id="8" name="Shape 6"/>
          <p:cNvSpPr/>
          <p:nvPr/>
        </p:nvSpPr>
        <p:spPr>
          <a:xfrm>
            <a:off x="812800" y="2722245"/>
            <a:ext cx="5080000" cy="0"/>
          </a:xfrm>
          <a:prstGeom prst="line">
            <a:avLst/>
          </a:prstGeom>
          <a:noFill/>
          <a:ln w="6350">
            <a:solidFill>
              <a:srgbClr val="E2DED5"/>
            </a:solidFill>
            <a:prstDash val="solid"/>
          </a:ln>
        </p:spPr>
      </p:sp>
      <p:sp>
        <p:nvSpPr>
          <p:cNvPr id="9" name="Text 7"/>
          <p:cNvSpPr/>
          <p:nvPr/>
        </p:nvSpPr>
        <p:spPr>
          <a:xfrm>
            <a:off x="812800" y="2420620"/>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5FC4"/>
                </a:solidFill>
                <a:latin typeface="JetBrains Mono" pitchFamily="49" charset="0"/>
                <a:ea typeface="JetBrains Mono" pitchFamily="49" charset="-122"/>
                <a:cs typeface="JetBrains Mono" pitchFamily="49" charset="-120"/>
              </a:rPr>
              <a:t>02</a:t>
            </a:r>
            <a:endParaRPr lang="en-US" sz="1200" dirty="0"/>
          </a:p>
        </p:txBody>
      </p:sp>
      <p:sp>
        <p:nvSpPr>
          <p:cNvPr id="10" name="Text 8"/>
          <p:cNvSpPr/>
          <p:nvPr/>
        </p:nvSpPr>
        <p:spPr>
          <a:xfrm>
            <a:off x="1148080" y="2395220"/>
            <a:ext cx="444942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Foundations</a:t>
            </a:r>
            <a:endParaRPr lang="en-US" sz="1400" dirty="0"/>
          </a:p>
        </p:txBody>
      </p:sp>
      <p:sp>
        <p:nvSpPr>
          <p:cNvPr id="11" name="Text 9"/>
          <p:cNvSpPr/>
          <p:nvPr/>
        </p:nvSpPr>
        <p:spPr>
          <a:xfrm>
            <a:off x="5620306" y="2420620"/>
            <a:ext cx="3232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4–9</a:t>
            </a:r>
            <a:endParaRPr lang="en-US" sz="1200" dirty="0"/>
          </a:p>
        </p:txBody>
      </p:sp>
      <p:sp>
        <p:nvSpPr>
          <p:cNvPr id="12" name="Shape 10"/>
          <p:cNvSpPr/>
          <p:nvPr/>
        </p:nvSpPr>
        <p:spPr>
          <a:xfrm>
            <a:off x="812800" y="3128645"/>
            <a:ext cx="5080000" cy="0"/>
          </a:xfrm>
          <a:prstGeom prst="line">
            <a:avLst/>
          </a:prstGeom>
          <a:noFill/>
          <a:ln w="6350">
            <a:solidFill>
              <a:srgbClr val="E2DED5"/>
            </a:solidFill>
            <a:prstDash val="solid"/>
          </a:ln>
        </p:spPr>
      </p:sp>
      <p:sp>
        <p:nvSpPr>
          <p:cNvPr id="13" name="Text 11"/>
          <p:cNvSpPr/>
          <p:nvPr/>
        </p:nvSpPr>
        <p:spPr>
          <a:xfrm>
            <a:off x="812800" y="2827020"/>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5FC4"/>
                </a:solidFill>
                <a:latin typeface="JetBrains Mono" pitchFamily="49" charset="0"/>
                <a:ea typeface="JetBrains Mono" pitchFamily="49" charset="-122"/>
                <a:cs typeface="JetBrains Mono" pitchFamily="49" charset="-120"/>
              </a:rPr>
              <a:t>03</a:t>
            </a:r>
            <a:endParaRPr lang="en-US" sz="1200" dirty="0"/>
          </a:p>
        </p:txBody>
      </p:sp>
      <p:sp>
        <p:nvSpPr>
          <p:cNvPr id="14" name="Text 12"/>
          <p:cNvSpPr/>
          <p:nvPr/>
        </p:nvSpPr>
        <p:spPr>
          <a:xfrm>
            <a:off x="1148080" y="2801620"/>
            <a:ext cx="426105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Running containers</a:t>
            </a:r>
            <a:endParaRPr lang="en-US" sz="1400" dirty="0"/>
          </a:p>
        </p:txBody>
      </p:sp>
      <p:sp>
        <p:nvSpPr>
          <p:cNvPr id="15" name="Text 13"/>
          <p:cNvSpPr/>
          <p:nvPr/>
        </p:nvSpPr>
        <p:spPr>
          <a:xfrm>
            <a:off x="5437426" y="2827020"/>
            <a:ext cx="5061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10–12</a:t>
            </a:r>
            <a:endParaRPr lang="en-US" sz="1200" dirty="0"/>
          </a:p>
        </p:txBody>
      </p:sp>
      <p:sp>
        <p:nvSpPr>
          <p:cNvPr id="16" name="Shape 14"/>
          <p:cNvSpPr/>
          <p:nvPr/>
        </p:nvSpPr>
        <p:spPr>
          <a:xfrm>
            <a:off x="812800" y="3535045"/>
            <a:ext cx="5080000" cy="0"/>
          </a:xfrm>
          <a:prstGeom prst="line">
            <a:avLst/>
          </a:prstGeom>
          <a:noFill/>
          <a:ln w="6350">
            <a:solidFill>
              <a:srgbClr val="E2DED5"/>
            </a:solidFill>
            <a:prstDash val="solid"/>
          </a:ln>
        </p:spPr>
      </p:sp>
      <p:sp>
        <p:nvSpPr>
          <p:cNvPr id="17" name="Text 15"/>
          <p:cNvSpPr/>
          <p:nvPr/>
        </p:nvSpPr>
        <p:spPr>
          <a:xfrm>
            <a:off x="812800" y="3233420"/>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5FC4"/>
                </a:solidFill>
                <a:latin typeface="JetBrains Mono" pitchFamily="49" charset="0"/>
                <a:ea typeface="JetBrains Mono" pitchFamily="49" charset="-122"/>
                <a:cs typeface="JetBrains Mono" pitchFamily="49" charset="-120"/>
              </a:rPr>
              <a:t>04</a:t>
            </a:r>
            <a:endParaRPr lang="en-US" sz="1200" dirty="0"/>
          </a:p>
        </p:txBody>
      </p:sp>
      <p:sp>
        <p:nvSpPr>
          <p:cNvPr id="18" name="Text 16"/>
          <p:cNvSpPr/>
          <p:nvPr/>
        </p:nvSpPr>
        <p:spPr>
          <a:xfrm>
            <a:off x="1148080" y="3208020"/>
            <a:ext cx="426105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Building images</a:t>
            </a:r>
            <a:endParaRPr lang="en-US" sz="1400" dirty="0"/>
          </a:p>
        </p:txBody>
      </p:sp>
      <p:sp>
        <p:nvSpPr>
          <p:cNvPr id="19" name="Text 17"/>
          <p:cNvSpPr/>
          <p:nvPr/>
        </p:nvSpPr>
        <p:spPr>
          <a:xfrm>
            <a:off x="5437426" y="3233420"/>
            <a:ext cx="5061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13–19</a:t>
            </a:r>
            <a:endParaRPr lang="en-US" sz="1200" dirty="0"/>
          </a:p>
        </p:txBody>
      </p:sp>
      <p:sp>
        <p:nvSpPr>
          <p:cNvPr id="20" name="Shape 18"/>
          <p:cNvSpPr/>
          <p:nvPr/>
        </p:nvSpPr>
        <p:spPr>
          <a:xfrm>
            <a:off x="812800" y="3941445"/>
            <a:ext cx="5080000" cy="0"/>
          </a:xfrm>
          <a:prstGeom prst="line">
            <a:avLst/>
          </a:prstGeom>
          <a:noFill/>
          <a:ln w="6350">
            <a:solidFill>
              <a:srgbClr val="E2DED5"/>
            </a:solidFill>
            <a:prstDash val="solid"/>
          </a:ln>
        </p:spPr>
      </p:sp>
      <p:sp>
        <p:nvSpPr>
          <p:cNvPr id="21" name="Text 19"/>
          <p:cNvSpPr/>
          <p:nvPr/>
        </p:nvSpPr>
        <p:spPr>
          <a:xfrm>
            <a:off x="812800" y="3639820"/>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5FC4"/>
                </a:solidFill>
                <a:latin typeface="JetBrains Mono" pitchFamily="49" charset="0"/>
                <a:ea typeface="JetBrains Mono" pitchFamily="49" charset="-122"/>
                <a:cs typeface="JetBrains Mono" pitchFamily="49" charset="-120"/>
              </a:rPr>
              <a:t>05</a:t>
            </a:r>
            <a:endParaRPr lang="en-US" sz="1200" dirty="0"/>
          </a:p>
        </p:txBody>
      </p:sp>
      <p:sp>
        <p:nvSpPr>
          <p:cNvPr id="22" name="Text 20"/>
          <p:cNvSpPr/>
          <p:nvPr/>
        </p:nvSpPr>
        <p:spPr>
          <a:xfrm>
            <a:off x="1148080" y="3614420"/>
            <a:ext cx="426105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Storage and networking</a:t>
            </a:r>
            <a:endParaRPr lang="en-US" sz="1400" dirty="0"/>
          </a:p>
        </p:txBody>
      </p:sp>
      <p:sp>
        <p:nvSpPr>
          <p:cNvPr id="23" name="Text 21"/>
          <p:cNvSpPr/>
          <p:nvPr/>
        </p:nvSpPr>
        <p:spPr>
          <a:xfrm>
            <a:off x="5437426" y="3639820"/>
            <a:ext cx="5061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20–23</a:t>
            </a:r>
            <a:endParaRPr lang="en-US" sz="1200" dirty="0"/>
          </a:p>
        </p:txBody>
      </p:sp>
      <p:sp>
        <p:nvSpPr>
          <p:cNvPr id="24" name="Shape 22"/>
          <p:cNvSpPr/>
          <p:nvPr/>
        </p:nvSpPr>
        <p:spPr>
          <a:xfrm>
            <a:off x="812800" y="4347845"/>
            <a:ext cx="5080000" cy="0"/>
          </a:xfrm>
          <a:prstGeom prst="line">
            <a:avLst/>
          </a:prstGeom>
          <a:noFill/>
          <a:ln w="6350">
            <a:solidFill>
              <a:srgbClr val="E2DED5"/>
            </a:solidFill>
            <a:prstDash val="solid"/>
          </a:ln>
        </p:spPr>
      </p:sp>
      <p:sp>
        <p:nvSpPr>
          <p:cNvPr id="25" name="Text 23"/>
          <p:cNvSpPr/>
          <p:nvPr/>
        </p:nvSpPr>
        <p:spPr>
          <a:xfrm>
            <a:off x="812800" y="4046220"/>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5FC4"/>
                </a:solidFill>
                <a:latin typeface="JetBrains Mono" pitchFamily="49" charset="0"/>
                <a:ea typeface="JetBrains Mono" pitchFamily="49" charset="-122"/>
                <a:cs typeface="JetBrains Mono" pitchFamily="49" charset="-120"/>
              </a:rPr>
              <a:t>06</a:t>
            </a:r>
            <a:endParaRPr lang="en-US" sz="1200" dirty="0"/>
          </a:p>
        </p:txBody>
      </p:sp>
      <p:sp>
        <p:nvSpPr>
          <p:cNvPr id="26" name="Text 24"/>
          <p:cNvSpPr/>
          <p:nvPr/>
        </p:nvSpPr>
        <p:spPr>
          <a:xfrm>
            <a:off x="1148080" y="4020820"/>
            <a:ext cx="426105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Docker Compose</a:t>
            </a:r>
            <a:endParaRPr lang="en-US" sz="1400" dirty="0"/>
          </a:p>
        </p:txBody>
      </p:sp>
      <p:sp>
        <p:nvSpPr>
          <p:cNvPr id="27" name="Text 25"/>
          <p:cNvSpPr/>
          <p:nvPr/>
        </p:nvSpPr>
        <p:spPr>
          <a:xfrm>
            <a:off x="5437426" y="4046220"/>
            <a:ext cx="5061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24–26</a:t>
            </a:r>
            <a:endParaRPr lang="en-US" sz="1200" dirty="0"/>
          </a:p>
        </p:txBody>
      </p:sp>
      <p:sp>
        <p:nvSpPr>
          <p:cNvPr id="28" name="Shape 26"/>
          <p:cNvSpPr/>
          <p:nvPr/>
        </p:nvSpPr>
        <p:spPr>
          <a:xfrm>
            <a:off x="812800" y="4754245"/>
            <a:ext cx="5080000" cy="0"/>
          </a:xfrm>
          <a:prstGeom prst="line">
            <a:avLst/>
          </a:prstGeom>
          <a:noFill/>
          <a:ln w="6350">
            <a:solidFill>
              <a:srgbClr val="E2DED5"/>
            </a:solidFill>
            <a:prstDash val="solid"/>
          </a:ln>
        </p:spPr>
      </p:sp>
      <p:sp>
        <p:nvSpPr>
          <p:cNvPr id="29" name="Text 27"/>
          <p:cNvSpPr/>
          <p:nvPr/>
        </p:nvSpPr>
        <p:spPr>
          <a:xfrm>
            <a:off x="812800" y="4452620"/>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5FC4"/>
                </a:solidFill>
                <a:latin typeface="JetBrains Mono" pitchFamily="49" charset="0"/>
                <a:ea typeface="JetBrains Mono" pitchFamily="49" charset="-122"/>
                <a:cs typeface="JetBrains Mono" pitchFamily="49" charset="-120"/>
              </a:rPr>
              <a:t>07</a:t>
            </a:r>
            <a:endParaRPr lang="en-US" sz="1200" dirty="0"/>
          </a:p>
        </p:txBody>
      </p:sp>
      <p:sp>
        <p:nvSpPr>
          <p:cNvPr id="30" name="Text 28"/>
          <p:cNvSpPr/>
          <p:nvPr/>
        </p:nvSpPr>
        <p:spPr>
          <a:xfrm>
            <a:off x="1148080" y="4427220"/>
            <a:ext cx="426105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Best practices, lab and quiz</a:t>
            </a:r>
            <a:endParaRPr lang="en-US" sz="1400" dirty="0"/>
          </a:p>
        </p:txBody>
      </p:sp>
      <p:sp>
        <p:nvSpPr>
          <p:cNvPr id="31" name="Text 29"/>
          <p:cNvSpPr/>
          <p:nvPr/>
        </p:nvSpPr>
        <p:spPr>
          <a:xfrm>
            <a:off x="5437426" y="4452620"/>
            <a:ext cx="5061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27–30</a:t>
            </a:r>
            <a:endParaRPr lang="en-US" sz="1200" dirty="0"/>
          </a:p>
        </p:txBody>
      </p:sp>
      <p:sp>
        <p:nvSpPr>
          <p:cNvPr id="32" name="Text 30"/>
          <p:cNvSpPr/>
          <p:nvPr/>
        </p:nvSpPr>
        <p:spPr>
          <a:xfrm>
            <a:off x="6299200" y="1536700"/>
            <a:ext cx="523240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By the end, you can</a:t>
            </a:r>
            <a:endParaRPr lang="en-US" sz="1800" dirty="0"/>
          </a:p>
        </p:txBody>
      </p:sp>
      <p:pic>
        <p:nvPicPr>
          <p:cNvPr id="33" name="Image 0" descr="CheckCircle">    </p:cNvPr>
          <p:cNvPicPr>
            <a:picLocks noChangeAspect="1"/>
          </p:cNvPicPr>
          <p:nvPr/>
        </p:nvPicPr>
        <p:blipFill>
          <a:blip r:embed="rId1"/>
          <a:srcRect l="0" r="0" t="0" b="0"/>
          <a:stretch/>
        </p:blipFill>
        <p:spPr>
          <a:xfrm>
            <a:off x="6299200" y="1988820"/>
            <a:ext cx="203200" cy="203200"/>
          </a:xfrm>
          <a:prstGeom prst="rect">
            <a:avLst/>
          </a:prstGeom>
        </p:spPr>
      </p:pic>
      <p:sp>
        <p:nvSpPr>
          <p:cNvPr id="34" name="Text 31"/>
          <p:cNvSpPr/>
          <p:nvPr/>
        </p:nvSpPr>
        <p:spPr>
          <a:xfrm>
            <a:off x="6629400" y="1988820"/>
            <a:ext cx="489229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Explain how containers isolate processes and how they differ from VMs</a:t>
            </a:r>
            <a:endParaRPr lang="en-US" sz="1400" dirty="0"/>
          </a:p>
        </p:txBody>
      </p:sp>
      <p:pic>
        <p:nvPicPr>
          <p:cNvPr id="35" name="Image 1" descr="CheckCircle">    </p:cNvPr>
          <p:cNvPicPr>
            <a:picLocks noChangeAspect="1"/>
          </p:cNvPicPr>
          <p:nvPr/>
        </p:nvPicPr>
        <p:blipFill>
          <a:blip r:embed="rId2"/>
          <a:srcRect l="0" r="0" t="0" b="0"/>
          <a:stretch/>
        </p:blipFill>
        <p:spPr>
          <a:xfrm>
            <a:off x="6299200" y="2613660"/>
            <a:ext cx="203200" cy="203200"/>
          </a:xfrm>
          <a:prstGeom prst="rect">
            <a:avLst/>
          </a:prstGeom>
        </p:spPr>
      </p:pic>
      <p:sp>
        <p:nvSpPr>
          <p:cNvPr id="36" name="Text 32"/>
          <p:cNvSpPr/>
          <p:nvPr/>
        </p:nvSpPr>
        <p:spPr>
          <a:xfrm>
            <a:off x="6629400" y="2613660"/>
            <a:ext cx="55626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Run, inspect and debug containers from the command line</a:t>
            </a:r>
            <a:endParaRPr lang="en-US" sz="1400" dirty="0"/>
          </a:p>
        </p:txBody>
      </p:sp>
      <p:pic>
        <p:nvPicPr>
          <p:cNvPr id="37" name="Image 2" descr="CheckCircle">    </p:cNvPr>
          <p:cNvPicPr>
            <a:picLocks noChangeAspect="1"/>
          </p:cNvPicPr>
          <p:nvPr/>
        </p:nvPicPr>
        <p:blipFill>
          <a:blip r:embed="rId3"/>
          <a:srcRect l="0" r="0" t="0" b="0"/>
          <a:stretch/>
        </p:blipFill>
        <p:spPr>
          <a:xfrm>
            <a:off x="6299200" y="2989580"/>
            <a:ext cx="203200" cy="203200"/>
          </a:xfrm>
          <a:prstGeom prst="rect">
            <a:avLst/>
          </a:prstGeom>
        </p:spPr>
      </p:pic>
      <p:sp>
        <p:nvSpPr>
          <p:cNvPr id="38" name="Text 33"/>
          <p:cNvSpPr/>
          <p:nvPr/>
        </p:nvSpPr>
        <p:spPr>
          <a:xfrm>
            <a:off x="6629400" y="2989580"/>
            <a:ext cx="489229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Write cache-friendly, multi-stage Dockerfiles and publish images</a:t>
            </a:r>
            <a:endParaRPr lang="en-US" sz="1400" dirty="0"/>
          </a:p>
        </p:txBody>
      </p:sp>
      <p:pic>
        <p:nvPicPr>
          <p:cNvPr id="39" name="Image 3" descr="CheckCircle">    </p:cNvPr>
          <p:cNvPicPr>
            <a:picLocks noChangeAspect="1"/>
          </p:cNvPicPr>
          <p:nvPr/>
        </p:nvPicPr>
        <p:blipFill>
          <a:blip r:embed="rId4"/>
          <a:srcRect l="0" r="0" t="0" b="0"/>
          <a:stretch/>
        </p:blipFill>
        <p:spPr>
          <a:xfrm>
            <a:off x="6299200" y="3614420"/>
            <a:ext cx="203200" cy="203200"/>
          </a:xfrm>
          <a:prstGeom prst="rect">
            <a:avLst/>
          </a:prstGeom>
        </p:spPr>
      </p:pic>
      <p:sp>
        <p:nvSpPr>
          <p:cNvPr id="40" name="Text 34"/>
          <p:cNvSpPr/>
          <p:nvPr/>
        </p:nvSpPr>
        <p:spPr>
          <a:xfrm>
            <a:off x="6629400" y="3614420"/>
            <a:ext cx="489229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Persist data with volumes and connect services on networks</a:t>
            </a:r>
            <a:endParaRPr lang="en-US" sz="1400" dirty="0"/>
          </a:p>
        </p:txBody>
      </p:sp>
      <p:pic>
        <p:nvPicPr>
          <p:cNvPr id="41" name="Image 4" descr="CheckCircle">    </p:cNvPr>
          <p:cNvPicPr>
            <a:picLocks noChangeAspect="1"/>
          </p:cNvPicPr>
          <p:nvPr/>
        </p:nvPicPr>
        <p:blipFill>
          <a:blip r:embed="rId5"/>
          <a:srcRect l="0" r="0" t="0" b="0"/>
          <a:stretch/>
        </p:blipFill>
        <p:spPr>
          <a:xfrm>
            <a:off x="6299200" y="4239260"/>
            <a:ext cx="203200" cy="203200"/>
          </a:xfrm>
          <a:prstGeom prst="rect">
            <a:avLst/>
          </a:prstGeom>
        </p:spPr>
      </p:pic>
      <p:sp>
        <p:nvSpPr>
          <p:cNvPr id="42" name="Text 35"/>
          <p:cNvSpPr/>
          <p:nvPr/>
        </p:nvSpPr>
        <p:spPr>
          <a:xfrm>
            <a:off x="6629400" y="4239260"/>
            <a:ext cx="489229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Run a multi-service app with Docker Compose</a:t>
            </a:r>
            <a:endParaRPr lang="en-US" sz="1400" dirty="0"/>
          </a:p>
        </p:txBody>
      </p:sp>
      <p:sp>
        <p:nvSpPr>
          <p:cNvPr id="43" name="Text 36"/>
          <p:cNvSpPr/>
          <p:nvPr/>
        </p:nvSpPr>
        <p:spPr>
          <a:xfrm>
            <a:off x="812800" y="6238241"/>
            <a:ext cx="296875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Docker Fundamentals · Introduction</a:t>
            </a:r>
            <a:endParaRPr lang="en-US" sz="1200" dirty="0"/>
          </a:p>
        </p:txBody>
      </p:sp>
      <p:sp>
        <p:nvSpPr>
          <p:cNvPr id="44" name="Text 37"/>
          <p:cNvSpPr/>
          <p:nvPr/>
        </p:nvSpPr>
        <p:spPr>
          <a:xfrm>
            <a:off x="11145520" y="6238241"/>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D5FC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DCE6FA"/>
                </a:solidFill>
                <a:latin typeface="IBM Plex Sans" pitchFamily="34" charset="0"/>
                <a:ea typeface="IBM Plex Sans" pitchFamily="34" charset="-122"/>
                <a:cs typeface="IBM Plex Sans" pitchFamily="34" charset="-120"/>
              </a:rPr>
              <a:t>WHY CONTAINERS</a:t>
            </a:r>
            <a:endParaRPr lang="en-US" sz="1200" dirty="0"/>
          </a:p>
        </p:txBody>
      </p:sp>
      <p:sp>
        <p:nvSpPr>
          <p:cNvPr id="3" name="Text 1"/>
          <p:cNvSpPr/>
          <p:nvPr>
            <p:ph type="title"/>
          </p:nvPr>
        </p:nvSpPr>
        <p:spPr>
          <a:xfrm>
            <a:off x="812800" y="1178561"/>
            <a:ext cx="10883392" cy="772160"/>
          </a:xfrm>
          <a:prstGeom prst="rect">
            <a:avLst/>
          </a:prstGeom>
          <a:noFill/>
          <a:ln/>
        </p:spPr>
        <p:txBody>
          <a:bodyPr wrap="square" lIns="0" tIns="0" rIns="0" bIns="0" rtlCol="0" anchor="t">
            <a:normAutofit/>
          </a:bodyPr>
          <a:lstStyle/>
          <a:p>
            <a:pPr algn="l" indent="0" marL="0">
              <a:lnSpc>
                <a:spcPts val="5880"/>
              </a:lnSpc>
              <a:buNone/>
            </a:pPr>
            <a:r>
              <a:rPr lang="en-US" sz="5600" b="1" i="0" spc="-150" kern="0" dirty="0">
                <a:solidFill>
                  <a:srgbClr val="F6F5F1"/>
                </a:solidFill>
                <a:latin typeface="Space Grotesk" pitchFamily="34" charset="0"/>
                <a:ea typeface="Space Grotesk" pitchFamily="34" charset="-122"/>
                <a:cs typeface="Space Grotesk" pitchFamily="34" charset="-120"/>
              </a:rPr>
              <a:t>“It works on my machine.”</a:t>
            </a:r>
            <a:endParaRPr lang="en-US" sz="5600" dirty="0"/>
          </a:p>
        </p:txBody>
      </p:sp>
      <p:sp>
        <p:nvSpPr>
          <p:cNvPr id="4" name="Shape 2"/>
          <p:cNvSpPr/>
          <p:nvPr/>
        </p:nvSpPr>
        <p:spPr>
          <a:xfrm>
            <a:off x="812800" y="3135630"/>
            <a:ext cx="3318907" cy="0"/>
          </a:xfrm>
          <a:prstGeom prst="line">
            <a:avLst/>
          </a:prstGeom>
          <a:noFill/>
          <a:ln w="12700">
            <a:solidFill>
              <a:srgbClr val="8FB4EC"/>
            </a:solidFill>
            <a:prstDash val="solid"/>
          </a:ln>
        </p:spPr>
      </p:sp>
      <p:sp>
        <p:nvSpPr>
          <p:cNvPr id="5" name="Text 3"/>
          <p:cNvSpPr/>
          <p:nvPr/>
        </p:nvSpPr>
        <p:spPr>
          <a:xfrm>
            <a:off x="812800" y="3291841"/>
            <a:ext cx="341847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5F1"/>
                </a:solidFill>
                <a:latin typeface="Space Grotesk" pitchFamily="34" charset="0"/>
                <a:ea typeface="Space Grotesk" pitchFamily="34" charset="-122"/>
                <a:cs typeface="Space Grotesk" pitchFamily="34" charset="-120"/>
              </a:rPr>
              <a:t>Different versions</a:t>
            </a:r>
            <a:endParaRPr lang="en-US" sz="1800" dirty="0"/>
          </a:p>
        </p:txBody>
      </p:sp>
      <p:sp>
        <p:nvSpPr>
          <p:cNvPr id="6" name="Text 4"/>
          <p:cNvSpPr/>
          <p:nvPr/>
        </p:nvSpPr>
        <p:spPr>
          <a:xfrm>
            <a:off x="812800" y="3642361"/>
            <a:ext cx="341847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5F1"/>
                </a:solidFill>
                <a:latin typeface="IBM Plex Sans" pitchFamily="34" charset="0"/>
                <a:ea typeface="IBM Plex Sans" pitchFamily="34" charset="-122"/>
                <a:cs typeface="IBM Plex Sans" pitchFamily="34" charset="-120"/>
              </a:rPr>
              <a:t>Python 3.12 on the laptop, 3.9 on the server.</a:t>
            </a:r>
            <a:endParaRPr lang="en-US" sz="1400" dirty="0"/>
          </a:p>
        </p:txBody>
      </p:sp>
      <p:sp>
        <p:nvSpPr>
          <p:cNvPr id="7" name="Shape 5"/>
          <p:cNvSpPr/>
          <p:nvPr/>
        </p:nvSpPr>
        <p:spPr>
          <a:xfrm>
            <a:off x="4436507" y="3135630"/>
            <a:ext cx="3318986" cy="0"/>
          </a:xfrm>
          <a:prstGeom prst="line">
            <a:avLst/>
          </a:prstGeom>
          <a:noFill/>
          <a:ln w="12700">
            <a:solidFill>
              <a:srgbClr val="8FB4EC"/>
            </a:solidFill>
            <a:prstDash val="solid"/>
          </a:ln>
        </p:spPr>
      </p:sp>
      <p:sp>
        <p:nvSpPr>
          <p:cNvPr id="8" name="Text 6"/>
          <p:cNvSpPr/>
          <p:nvPr/>
        </p:nvSpPr>
        <p:spPr>
          <a:xfrm>
            <a:off x="4436507" y="3291841"/>
            <a:ext cx="341855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5F1"/>
                </a:solidFill>
                <a:latin typeface="Space Grotesk" pitchFamily="34" charset="0"/>
                <a:ea typeface="Space Grotesk" pitchFamily="34" charset="-122"/>
                <a:cs typeface="Space Grotesk" pitchFamily="34" charset="-120"/>
              </a:rPr>
              <a:t>Missing libraries</a:t>
            </a:r>
            <a:endParaRPr lang="en-US" sz="1800" dirty="0"/>
          </a:p>
        </p:txBody>
      </p:sp>
      <p:sp>
        <p:nvSpPr>
          <p:cNvPr id="9" name="Text 7"/>
          <p:cNvSpPr/>
          <p:nvPr/>
        </p:nvSpPr>
        <p:spPr>
          <a:xfrm>
            <a:off x="4436507" y="3642361"/>
            <a:ext cx="341855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5F1"/>
                </a:solidFill>
                <a:latin typeface="IBM Plex Sans" pitchFamily="34" charset="0"/>
                <a:ea typeface="IBM Plex Sans" pitchFamily="34" charset="-122"/>
                <a:cs typeface="IBM Plex Sans" pitchFamily="34" charset="-120"/>
              </a:rPr>
              <a:t>An OS package installed on one machine but not the next.</a:t>
            </a:r>
            <a:endParaRPr lang="en-US" sz="1400" dirty="0"/>
          </a:p>
        </p:txBody>
      </p:sp>
      <p:sp>
        <p:nvSpPr>
          <p:cNvPr id="10" name="Shape 8"/>
          <p:cNvSpPr/>
          <p:nvPr/>
        </p:nvSpPr>
        <p:spPr>
          <a:xfrm>
            <a:off x="8060293" y="3135630"/>
            <a:ext cx="3318907" cy="0"/>
          </a:xfrm>
          <a:prstGeom prst="line">
            <a:avLst/>
          </a:prstGeom>
          <a:noFill/>
          <a:ln w="12700">
            <a:solidFill>
              <a:srgbClr val="8FB4EC"/>
            </a:solidFill>
            <a:prstDash val="solid"/>
          </a:ln>
        </p:spPr>
      </p:sp>
      <p:sp>
        <p:nvSpPr>
          <p:cNvPr id="11" name="Text 9"/>
          <p:cNvSpPr/>
          <p:nvPr/>
        </p:nvSpPr>
        <p:spPr>
          <a:xfrm>
            <a:off x="8060293" y="3291841"/>
            <a:ext cx="341847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5F1"/>
                </a:solidFill>
                <a:latin typeface="Space Grotesk" pitchFamily="34" charset="0"/>
                <a:ea typeface="Space Grotesk" pitchFamily="34" charset="-122"/>
                <a:cs typeface="Space Grotesk" pitchFamily="34" charset="-120"/>
              </a:rPr>
              <a:t>Configuration drift</a:t>
            </a:r>
            <a:endParaRPr lang="en-US" sz="1800" dirty="0"/>
          </a:p>
        </p:txBody>
      </p:sp>
      <p:sp>
        <p:nvSpPr>
          <p:cNvPr id="12" name="Text 10"/>
          <p:cNvSpPr/>
          <p:nvPr/>
        </p:nvSpPr>
        <p:spPr>
          <a:xfrm>
            <a:off x="8060293" y="3642361"/>
            <a:ext cx="341847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5F1"/>
                </a:solidFill>
                <a:latin typeface="IBM Plex Sans" pitchFamily="34" charset="0"/>
                <a:ea typeface="IBM Plex Sans" pitchFamily="34" charset="-122"/>
                <a:cs typeface="IBM Plex Sans" pitchFamily="34" charset="-120"/>
              </a:rPr>
              <a:t>Paths, ports and environment variables that differ per machine.</a:t>
            </a:r>
            <a:endParaRPr lang="en-US" sz="1400" dirty="0"/>
          </a:p>
        </p:txBody>
      </p:sp>
      <p:sp>
        <p:nvSpPr>
          <p:cNvPr id="13" name="Text 11"/>
          <p:cNvSpPr/>
          <p:nvPr/>
        </p:nvSpPr>
        <p:spPr>
          <a:xfrm>
            <a:off x="812800" y="5344161"/>
            <a:ext cx="1088339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5F1"/>
                </a:solidFill>
                <a:latin typeface="IBM Plex Sans" pitchFamily="34" charset="0"/>
                <a:ea typeface="IBM Plex Sans" pitchFamily="34" charset="-122"/>
                <a:cs typeface="IBM Plex Sans" pitchFamily="34" charset="-120"/>
              </a:rPr>
              <a:t>Containers package the app with its runtime, libraries and configuration — one image that runs the same on a laptop, in CI and in production.</a:t>
            </a:r>
            <a:endParaRPr lang="en-US" sz="1400" dirty="0"/>
          </a:p>
        </p:txBody>
      </p:sp>
      <p:sp>
        <p:nvSpPr>
          <p:cNvPr id="14" name="Text 12"/>
          <p:cNvSpPr/>
          <p:nvPr/>
        </p:nvSpPr>
        <p:spPr>
          <a:xfrm>
            <a:off x="812800" y="6238241"/>
            <a:ext cx="320573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6FA"/>
                </a:solidFill>
                <a:latin typeface="IBM Plex Sans" pitchFamily="34" charset="0"/>
                <a:ea typeface="IBM Plex Sans" pitchFamily="34" charset="-122"/>
                <a:cs typeface="IBM Plex Sans" pitchFamily="34" charset="-120"/>
              </a:rPr>
              <a:t>Docker Fundamentals · Why containers</a:t>
            </a:r>
            <a:endParaRPr lang="en-US" sz="1200" dirty="0"/>
          </a:p>
        </p:txBody>
      </p:sp>
      <p:sp>
        <p:nvSpPr>
          <p:cNvPr id="15" name="Text 13"/>
          <p:cNvSpPr/>
          <p:nvPr/>
        </p:nvSpPr>
        <p:spPr>
          <a:xfrm>
            <a:off x="11145520" y="6238241"/>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DCE6FA"/>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Virtual machines vs containers</a:t>
            </a:r>
            <a:endParaRPr lang="en-US" sz="3000" dirty="0"/>
          </a:p>
        </p:txBody>
      </p:sp>
      <p:sp>
        <p:nvSpPr>
          <p:cNvPr id="3" name="Text 1"/>
          <p:cNvSpPr/>
          <p:nvPr/>
        </p:nvSpPr>
        <p:spPr>
          <a:xfrm>
            <a:off x="812800" y="1536700"/>
            <a:ext cx="251155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Virtual machines</a:t>
            </a:r>
            <a:endParaRPr lang="en-US" sz="1800" dirty="0"/>
          </a:p>
        </p:txBody>
      </p:sp>
      <p:sp>
        <p:nvSpPr>
          <p:cNvPr id="4" name="Text 2"/>
          <p:cNvSpPr/>
          <p:nvPr/>
        </p:nvSpPr>
        <p:spPr>
          <a:xfrm>
            <a:off x="812800" y="1912620"/>
            <a:ext cx="1193800" cy="365760"/>
          </a:xfrm>
          <a:prstGeom prst="roundRect">
            <a:avLst>
              <a:gd name="adj" fmla="val 17361"/>
            </a:avLst>
          </a:prstGeom>
          <a:solidFill>
            <a:srgbClr val="1D5FC4"/>
          </a:solidFill>
          <a:ln/>
        </p:spPr>
        <p:txBody>
          <a:bodyPr wrap="square" lIns="57601" tIns="57601" rIns="57601" bIns="32201" rtlCol="0" anchor="t">
            <a:normAutofit/>
          </a:bodyPr>
          <a:lstStyle/>
          <a:p>
            <a:pPr algn="ctr" indent="0" marL="0">
              <a:lnSpc>
                <a:spcPts val="1680"/>
              </a:lnSpc>
              <a:buNone/>
            </a:pPr>
            <a:r>
              <a:rPr lang="en-US" sz="1200" dirty="0">
                <a:solidFill>
                  <a:srgbClr val="F6F5F1"/>
                </a:solidFill>
                <a:latin typeface="IBM Plex Sans" pitchFamily="34" charset="0"/>
                <a:ea typeface="IBM Plex Sans" pitchFamily="34" charset="-122"/>
                <a:cs typeface="IBM Plex Sans" pitchFamily="34" charset="-120"/>
              </a:rPr>
              <a:t>App A</a:t>
            </a:r>
            <a:endParaRPr lang="en-US" sz="1200" dirty="0"/>
          </a:p>
        </p:txBody>
      </p:sp>
      <p:sp>
        <p:nvSpPr>
          <p:cNvPr id="5" name="Text 3"/>
          <p:cNvSpPr/>
          <p:nvPr/>
        </p:nvSpPr>
        <p:spPr>
          <a:xfrm>
            <a:off x="2057400" y="1912620"/>
            <a:ext cx="1193800" cy="365760"/>
          </a:xfrm>
          <a:prstGeom prst="roundRect">
            <a:avLst>
              <a:gd name="adj" fmla="val 17361"/>
            </a:avLst>
          </a:prstGeom>
          <a:solidFill>
            <a:srgbClr val="1D5FC4"/>
          </a:solidFill>
          <a:ln/>
        </p:spPr>
        <p:txBody>
          <a:bodyPr wrap="square" lIns="57601" tIns="57601" rIns="57601" bIns="32201" rtlCol="0" anchor="t">
            <a:normAutofit/>
          </a:bodyPr>
          <a:lstStyle/>
          <a:p>
            <a:pPr algn="ctr" indent="0" marL="0">
              <a:lnSpc>
                <a:spcPts val="1680"/>
              </a:lnSpc>
              <a:buNone/>
            </a:pPr>
            <a:r>
              <a:rPr lang="en-US" sz="1200" dirty="0">
                <a:solidFill>
                  <a:srgbClr val="F6F5F1"/>
                </a:solidFill>
                <a:latin typeface="IBM Plex Sans" pitchFamily="34" charset="0"/>
                <a:ea typeface="IBM Plex Sans" pitchFamily="34" charset="-122"/>
                <a:cs typeface="IBM Plex Sans" pitchFamily="34" charset="-120"/>
              </a:rPr>
              <a:t>App B</a:t>
            </a:r>
            <a:endParaRPr lang="en-US" sz="1200" dirty="0"/>
          </a:p>
        </p:txBody>
      </p:sp>
      <p:sp>
        <p:nvSpPr>
          <p:cNvPr id="6" name="Text 4"/>
          <p:cNvSpPr/>
          <p:nvPr/>
        </p:nvSpPr>
        <p:spPr>
          <a:xfrm>
            <a:off x="812800" y="2329180"/>
            <a:ext cx="1193800" cy="365760"/>
          </a:xfrm>
          <a:prstGeom prst="roundRect">
            <a:avLst>
              <a:gd name="adj" fmla="val 17361"/>
            </a:avLst>
          </a:prstGeom>
          <a:solidFill>
            <a:srgbClr val="DCE6FA"/>
          </a:solidFill>
          <a:ln/>
        </p:spPr>
        <p:txBody>
          <a:bodyPr wrap="square" lIns="57601" tIns="57601" rIns="57601" bIns="32201" rtlCol="0" anchor="t">
            <a:normAutofit/>
          </a:bodyPr>
          <a:lstStyle/>
          <a:p>
            <a:pPr algn="ctr" indent="0" marL="0">
              <a:lnSpc>
                <a:spcPts val="1680"/>
              </a:lnSpc>
              <a:buNone/>
            </a:pPr>
            <a:r>
              <a:rPr lang="en-US" sz="1200" dirty="0">
                <a:solidFill>
                  <a:srgbClr val="121722"/>
                </a:solidFill>
                <a:latin typeface="IBM Plex Sans" pitchFamily="34" charset="0"/>
                <a:ea typeface="IBM Plex Sans" pitchFamily="34" charset="-122"/>
                <a:cs typeface="IBM Plex Sans" pitchFamily="34" charset="-120"/>
              </a:rPr>
              <a:t>Bins / libs</a:t>
            </a:r>
            <a:endParaRPr lang="en-US" sz="1200" dirty="0"/>
          </a:p>
        </p:txBody>
      </p:sp>
      <p:sp>
        <p:nvSpPr>
          <p:cNvPr id="7" name="Text 5"/>
          <p:cNvSpPr/>
          <p:nvPr/>
        </p:nvSpPr>
        <p:spPr>
          <a:xfrm>
            <a:off x="2057400" y="2329180"/>
            <a:ext cx="1193800" cy="365760"/>
          </a:xfrm>
          <a:prstGeom prst="roundRect">
            <a:avLst>
              <a:gd name="adj" fmla="val 17361"/>
            </a:avLst>
          </a:prstGeom>
          <a:solidFill>
            <a:srgbClr val="DCE6FA"/>
          </a:solidFill>
          <a:ln/>
        </p:spPr>
        <p:txBody>
          <a:bodyPr wrap="square" lIns="57601" tIns="57601" rIns="57601" bIns="32201" rtlCol="0" anchor="t">
            <a:normAutofit/>
          </a:bodyPr>
          <a:lstStyle/>
          <a:p>
            <a:pPr algn="ctr" indent="0" marL="0">
              <a:lnSpc>
                <a:spcPts val="1680"/>
              </a:lnSpc>
              <a:buNone/>
            </a:pPr>
            <a:r>
              <a:rPr lang="en-US" sz="1200" dirty="0">
                <a:solidFill>
                  <a:srgbClr val="121722"/>
                </a:solidFill>
                <a:latin typeface="IBM Plex Sans" pitchFamily="34" charset="0"/>
                <a:ea typeface="IBM Plex Sans" pitchFamily="34" charset="-122"/>
                <a:cs typeface="IBM Plex Sans" pitchFamily="34" charset="-120"/>
              </a:rPr>
              <a:t>Bins / libs</a:t>
            </a:r>
            <a:endParaRPr lang="en-US" sz="1200" dirty="0"/>
          </a:p>
        </p:txBody>
      </p:sp>
      <p:sp>
        <p:nvSpPr>
          <p:cNvPr id="8" name="Text 6"/>
          <p:cNvSpPr/>
          <p:nvPr/>
        </p:nvSpPr>
        <p:spPr>
          <a:xfrm>
            <a:off x="812800" y="2745741"/>
            <a:ext cx="1193800" cy="365760"/>
          </a:xfrm>
          <a:prstGeom prst="roundRect">
            <a:avLst>
              <a:gd name="adj" fmla="val 17361"/>
            </a:avLst>
          </a:prstGeom>
          <a:solidFill>
            <a:srgbClr val="D6D2C8"/>
          </a:solidFill>
          <a:ln/>
        </p:spPr>
        <p:txBody>
          <a:bodyPr wrap="square" lIns="57601" tIns="57601" rIns="57601" bIns="32201" rtlCol="0" anchor="t">
            <a:normAutofit/>
          </a:bodyPr>
          <a:lstStyle/>
          <a:p>
            <a:pPr algn="ctr" indent="0" marL="0">
              <a:lnSpc>
                <a:spcPts val="1680"/>
              </a:lnSpc>
              <a:buNone/>
            </a:pPr>
            <a:r>
              <a:rPr lang="en-US" sz="1200" dirty="0">
                <a:solidFill>
                  <a:srgbClr val="121722"/>
                </a:solidFill>
                <a:latin typeface="IBM Plex Sans" pitchFamily="34" charset="0"/>
                <a:ea typeface="IBM Plex Sans" pitchFamily="34" charset="-122"/>
                <a:cs typeface="IBM Plex Sans" pitchFamily="34" charset="-120"/>
              </a:rPr>
              <a:t>Guest OS</a:t>
            </a:r>
            <a:endParaRPr lang="en-US" sz="1200" dirty="0"/>
          </a:p>
        </p:txBody>
      </p:sp>
      <p:sp>
        <p:nvSpPr>
          <p:cNvPr id="9" name="Text 7"/>
          <p:cNvSpPr/>
          <p:nvPr/>
        </p:nvSpPr>
        <p:spPr>
          <a:xfrm>
            <a:off x="2057400" y="2745741"/>
            <a:ext cx="1193800" cy="365760"/>
          </a:xfrm>
          <a:prstGeom prst="roundRect">
            <a:avLst>
              <a:gd name="adj" fmla="val 17361"/>
            </a:avLst>
          </a:prstGeom>
          <a:solidFill>
            <a:srgbClr val="D6D2C8"/>
          </a:solidFill>
          <a:ln/>
        </p:spPr>
        <p:txBody>
          <a:bodyPr wrap="square" lIns="57601" tIns="57601" rIns="57601" bIns="32201" rtlCol="0" anchor="t">
            <a:normAutofit/>
          </a:bodyPr>
          <a:lstStyle/>
          <a:p>
            <a:pPr algn="ctr" indent="0" marL="0">
              <a:lnSpc>
                <a:spcPts val="1680"/>
              </a:lnSpc>
              <a:buNone/>
            </a:pPr>
            <a:r>
              <a:rPr lang="en-US" sz="1200" dirty="0">
                <a:solidFill>
                  <a:srgbClr val="121722"/>
                </a:solidFill>
                <a:latin typeface="IBM Plex Sans" pitchFamily="34" charset="0"/>
                <a:ea typeface="IBM Plex Sans" pitchFamily="34" charset="-122"/>
                <a:cs typeface="IBM Plex Sans" pitchFamily="34" charset="-120"/>
              </a:rPr>
              <a:t>Guest OS</a:t>
            </a:r>
            <a:endParaRPr lang="en-US" sz="1200" dirty="0"/>
          </a:p>
        </p:txBody>
      </p:sp>
      <p:sp>
        <p:nvSpPr>
          <p:cNvPr id="10" name="Text 8"/>
          <p:cNvSpPr/>
          <p:nvPr/>
        </p:nvSpPr>
        <p:spPr>
          <a:xfrm>
            <a:off x="812800" y="3162300"/>
            <a:ext cx="2438400" cy="365760"/>
          </a:xfrm>
          <a:prstGeom prst="roundRect">
            <a:avLst>
              <a:gd name="adj" fmla="val 17361"/>
            </a:avLst>
          </a:prstGeom>
          <a:solidFill>
            <a:srgbClr val="121722"/>
          </a:solidFill>
          <a:ln/>
        </p:spPr>
        <p:txBody>
          <a:bodyPr wrap="square" lIns="49473" tIns="57601" rIns="49473" bIns="32201" rtlCol="0" anchor="t">
            <a:normAutofit/>
          </a:bodyPr>
          <a:lstStyle/>
          <a:p>
            <a:pPr algn="ctr" indent="0" marL="0">
              <a:lnSpc>
                <a:spcPts val="1680"/>
              </a:lnSpc>
              <a:buNone/>
            </a:pPr>
            <a:r>
              <a:rPr lang="en-US" sz="1200" dirty="0">
                <a:solidFill>
                  <a:srgbClr val="F6F5F1"/>
                </a:solidFill>
                <a:latin typeface="IBM Plex Sans" pitchFamily="34" charset="0"/>
                <a:ea typeface="IBM Plex Sans" pitchFamily="34" charset="-122"/>
                <a:cs typeface="IBM Plex Sans" pitchFamily="34" charset="-120"/>
              </a:rPr>
              <a:t>Hypervisor</a:t>
            </a:r>
            <a:endParaRPr lang="en-US" sz="1200" dirty="0"/>
          </a:p>
        </p:txBody>
      </p:sp>
      <p:sp>
        <p:nvSpPr>
          <p:cNvPr id="11" name="Text 9"/>
          <p:cNvSpPr/>
          <p:nvPr/>
        </p:nvSpPr>
        <p:spPr>
          <a:xfrm>
            <a:off x="815975" y="3582036"/>
            <a:ext cx="2432050" cy="369570"/>
          </a:xfrm>
          <a:prstGeom prst="roundRect">
            <a:avLst>
              <a:gd name="adj" fmla="val 16323"/>
            </a:avLst>
          </a:prstGeom>
          <a:solidFill>
            <a:srgbClr val="ECE9E2"/>
          </a:solidFill>
          <a:ln w="6350">
            <a:solidFill>
              <a:srgbClr val="D6D2C8"/>
            </a:solidFill>
            <a:prstDash val="solid"/>
          </a:ln>
        </p:spPr>
        <p:txBody>
          <a:bodyPr wrap="square" lIns="52461" tIns="60436" rIns="52461" bIns="35036" rtlCol="0" anchor="t">
            <a:normAutofit/>
          </a:bodyPr>
          <a:lstStyle/>
          <a:p>
            <a:pPr algn="ctr" indent="0" marL="0">
              <a:lnSpc>
                <a:spcPts val="1680"/>
              </a:lnSpc>
              <a:buNone/>
            </a:pPr>
            <a:r>
              <a:rPr lang="en-US" sz="1200" dirty="0">
                <a:solidFill>
                  <a:srgbClr val="121722"/>
                </a:solidFill>
                <a:latin typeface="IBM Plex Sans" pitchFamily="34" charset="0"/>
                <a:ea typeface="IBM Plex Sans" pitchFamily="34" charset="-122"/>
                <a:cs typeface="IBM Plex Sans" pitchFamily="34" charset="-120"/>
              </a:rPr>
              <a:t>Host OS and hardware</a:t>
            </a:r>
            <a:endParaRPr lang="en-US" sz="1200" dirty="0"/>
          </a:p>
        </p:txBody>
      </p:sp>
      <p:sp>
        <p:nvSpPr>
          <p:cNvPr id="12" name="Text 10"/>
          <p:cNvSpPr/>
          <p:nvPr/>
        </p:nvSpPr>
        <p:spPr>
          <a:xfrm>
            <a:off x="3454400" y="1536700"/>
            <a:ext cx="251155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Containers</a:t>
            </a:r>
            <a:endParaRPr lang="en-US" sz="1800" dirty="0"/>
          </a:p>
        </p:txBody>
      </p:sp>
      <p:sp>
        <p:nvSpPr>
          <p:cNvPr id="13" name="Text 11"/>
          <p:cNvSpPr/>
          <p:nvPr/>
        </p:nvSpPr>
        <p:spPr>
          <a:xfrm>
            <a:off x="3454400" y="1912620"/>
            <a:ext cx="1193800" cy="365760"/>
          </a:xfrm>
          <a:prstGeom prst="roundRect">
            <a:avLst>
              <a:gd name="adj" fmla="val 17361"/>
            </a:avLst>
          </a:prstGeom>
          <a:solidFill>
            <a:srgbClr val="1D5FC4"/>
          </a:solidFill>
          <a:ln/>
        </p:spPr>
        <p:txBody>
          <a:bodyPr wrap="square" lIns="57601" tIns="57601" rIns="57601" bIns="32201" rtlCol="0" anchor="t">
            <a:normAutofit/>
          </a:bodyPr>
          <a:lstStyle/>
          <a:p>
            <a:pPr algn="ctr" indent="0" marL="0">
              <a:lnSpc>
                <a:spcPts val="1680"/>
              </a:lnSpc>
              <a:buNone/>
            </a:pPr>
            <a:r>
              <a:rPr lang="en-US" sz="1200" dirty="0">
                <a:solidFill>
                  <a:srgbClr val="F6F5F1"/>
                </a:solidFill>
                <a:latin typeface="IBM Plex Sans" pitchFamily="34" charset="0"/>
                <a:ea typeface="IBM Plex Sans" pitchFamily="34" charset="-122"/>
                <a:cs typeface="IBM Plex Sans" pitchFamily="34" charset="-120"/>
              </a:rPr>
              <a:t>App A</a:t>
            </a:r>
            <a:endParaRPr lang="en-US" sz="1200" dirty="0"/>
          </a:p>
        </p:txBody>
      </p:sp>
      <p:sp>
        <p:nvSpPr>
          <p:cNvPr id="14" name="Text 12"/>
          <p:cNvSpPr/>
          <p:nvPr/>
        </p:nvSpPr>
        <p:spPr>
          <a:xfrm>
            <a:off x="4699000" y="1912620"/>
            <a:ext cx="1193800" cy="365760"/>
          </a:xfrm>
          <a:prstGeom prst="roundRect">
            <a:avLst>
              <a:gd name="adj" fmla="val 17361"/>
            </a:avLst>
          </a:prstGeom>
          <a:solidFill>
            <a:srgbClr val="1D5FC4"/>
          </a:solidFill>
          <a:ln/>
        </p:spPr>
        <p:txBody>
          <a:bodyPr wrap="square" lIns="57601" tIns="57601" rIns="57601" bIns="32201" rtlCol="0" anchor="t">
            <a:normAutofit/>
          </a:bodyPr>
          <a:lstStyle/>
          <a:p>
            <a:pPr algn="ctr" indent="0" marL="0">
              <a:lnSpc>
                <a:spcPts val="1680"/>
              </a:lnSpc>
              <a:buNone/>
            </a:pPr>
            <a:r>
              <a:rPr lang="en-US" sz="1200" dirty="0">
                <a:solidFill>
                  <a:srgbClr val="F6F5F1"/>
                </a:solidFill>
                <a:latin typeface="IBM Plex Sans" pitchFamily="34" charset="0"/>
                <a:ea typeface="IBM Plex Sans" pitchFamily="34" charset="-122"/>
                <a:cs typeface="IBM Plex Sans" pitchFamily="34" charset="-120"/>
              </a:rPr>
              <a:t>App B</a:t>
            </a:r>
            <a:endParaRPr lang="en-US" sz="1200" dirty="0"/>
          </a:p>
        </p:txBody>
      </p:sp>
      <p:sp>
        <p:nvSpPr>
          <p:cNvPr id="15" name="Text 13"/>
          <p:cNvSpPr/>
          <p:nvPr/>
        </p:nvSpPr>
        <p:spPr>
          <a:xfrm>
            <a:off x="3454400" y="2329180"/>
            <a:ext cx="1193800" cy="365760"/>
          </a:xfrm>
          <a:prstGeom prst="roundRect">
            <a:avLst>
              <a:gd name="adj" fmla="val 17361"/>
            </a:avLst>
          </a:prstGeom>
          <a:solidFill>
            <a:srgbClr val="DCE6FA"/>
          </a:solidFill>
          <a:ln/>
        </p:spPr>
        <p:txBody>
          <a:bodyPr wrap="square" lIns="57601" tIns="57601" rIns="57601" bIns="32201" rtlCol="0" anchor="t">
            <a:normAutofit/>
          </a:bodyPr>
          <a:lstStyle/>
          <a:p>
            <a:pPr algn="ctr" indent="0" marL="0">
              <a:lnSpc>
                <a:spcPts val="1680"/>
              </a:lnSpc>
              <a:buNone/>
            </a:pPr>
            <a:r>
              <a:rPr lang="en-US" sz="1200" dirty="0">
                <a:solidFill>
                  <a:srgbClr val="121722"/>
                </a:solidFill>
                <a:latin typeface="IBM Plex Sans" pitchFamily="34" charset="0"/>
                <a:ea typeface="IBM Plex Sans" pitchFamily="34" charset="-122"/>
                <a:cs typeface="IBM Plex Sans" pitchFamily="34" charset="-120"/>
              </a:rPr>
              <a:t>Bins / libs</a:t>
            </a:r>
            <a:endParaRPr lang="en-US" sz="1200" dirty="0"/>
          </a:p>
        </p:txBody>
      </p:sp>
      <p:sp>
        <p:nvSpPr>
          <p:cNvPr id="16" name="Text 14"/>
          <p:cNvSpPr/>
          <p:nvPr/>
        </p:nvSpPr>
        <p:spPr>
          <a:xfrm>
            <a:off x="4699000" y="2329180"/>
            <a:ext cx="1193800" cy="365760"/>
          </a:xfrm>
          <a:prstGeom prst="roundRect">
            <a:avLst>
              <a:gd name="adj" fmla="val 17361"/>
            </a:avLst>
          </a:prstGeom>
          <a:solidFill>
            <a:srgbClr val="DCE6FA"/>
          </a:solidFill>
          <a:ln/>
        </p:spPr>
        <p:txBody>
          <a:bodyPr wrap="square" lIns="57601" tIns="57601" rIns="57601" bIns="32201" rtlCol="0" anchor="t">
            <a:normAutofit/>
          </a:bodyPr>
          <a:lstStyle/>
          <a:p>
            <a:pPr algn="ctr" indent="0" marL="0">
              <a:lnSpc>
                <a:spcPts val="1680"/>
              </a:lnSpc>
              <a:buNone/>
            </a:pPr>
            <a:r>
              <a:rPr lang="en-US" sz="1200" dirty="0">
                <a:solidFill>
                  <a:srgbClr val="121722"/>
                </a:solidFill>
                <a:latin typeface="IBM Plex Sans" pitchFamily="34" charset="0"/>
                <a:ea typeface="IBM Plex Sans" pitchFamily="34" charset="-122"/>
                <a:cs typeface="IBM Plex Sans" pitchFamily="34" charset="-120"/>
              </a:rPr>
              <a:t>Bins / libs</a:t>
            </a:r>
            <a:endParaRPr lang="en-US" sz="1200" dirty="0"/>
          </a:p>
        </p:txBody>
      </p:sp>
      <p:sp>
        <p:nvSpPr>
          <p:cNvPr id="17" name="Text 15"/>
          <p:cNvSpPr/>
          <p:nvPr/>
        </p:nvSpPr>
        <p:spPr>
          <a:xfrm>
            <a:off x="3454400" y="2745741"/>
            <a:ext cx="2438400" cy="365760"/>
          </a:xfrm>
          <a:prstGeom prst="roundRect">
            <a:avLst>
              <a:gd name="adj" fmla="val 17361"/>
            </a:avLst>
          </a:prstGeom>
          <a:solidFill>
            <a:srgbClr val="121722"/>
          </a:solidFill>
          <a:ln/>
        </p:spPr>
        <p:txBody>
          <a:bodyPr wrap="square" lIns="49473" tIns="57601" rIns="49473" bIns="32201" rtlCol="0" anchor="t">
            <a:normAutofit/>
          </a:bodyPr>
          <a:lstStyle/>
          <a:p>
            <a:pPr algn="ctr" indent="0" marL="0">
              <a:lnSpc>
                <a:spcPts val="1680"/>
              </a:lnSpc>
              <a:buNone/>
            </a:pPr>
            <a:r>
              <a:rPr lang="en-US" sz="1200" dirty="0">
                <a:solidFill>
                  <a:srgbClr val="F6F5F1"/>
                </a:solidFill>
                <a:latin typeface="IBM Plex Sans" pitchFamily="34" charset="0"/>
                <a:ea typeface="IBM Plex Sans" pitchFamily="34" charset="-122"/>
                <a:cs typeface="IBM Plex Sans" pitchFamily="34" charset="-120"/>
              </a:rPr>
              <a:t>Container runtime</a:t>
            </a:r>
            <a:endParaRPr lang="en-US" sz="1200" dirty="0"/>
          </a:p>
        </p:txBody>
      </p:sp>
      <p:sp>
        <p:nvSpPr>
          <p:cNvPr id="18" name="Text 16"/>
          <p:cNvSpPr/>
          <p:nvPr/>
        </p:nvSpPr>
        <p:spPr>
          <a:xfrm>
            <a:off x="3457575" y="3165475"/>
            <a:ext cx="2432050" cy="369570"/>
          </a:xfrm>
          <a:prstGeom prst="roundRect">
            <a:avLst>
              <a:gd name="adj" fmla="val 16323"/>
            </a:avLst>
          </a:prstGeom>
          <a:solidFill>
            <a:srgbClr val="ECE9E2"/>
          </a:solidFill>
          <a:ln w="6350">
            <a:solidFill>
              <a:srgbClr val="D6D2C8"/>
            </a:solidFill>
            <a:prstDash val="solid"/>
          </a:ln>
        </p:spPr>
        <p:txBody>
          <a:bodyPr wrap="square" lIns="52461" tIns="60436" rIns="52461" bIns="35036" rtlCol="0" anchor="t">
            <a:normAutofit/>
          </a:bodyPr>
          <a:lstStyle/>
          <a:p>
            <a:pPr algn="ctr" indent="0" marL="0">
              <a:lnSpc>
                <a:spcPts val="1680"/>
              </a:lnSpc>
              <a:buNone/>
            </a:pPr>
            <a:r>
              <a:rPr lang="en-US" sz="1200" dirty="0">
                <a:solidFill>
                  <a:srgbClr val="121722"/>
                </a:solidFill>
                <a:latin typeface="IBM Plex Sans" pitchFamily="34" charset="0"/>
                <a:ea typeface="IBM Plex Sans" pitchFamily="34" charset="-122"/>
                <a:cs typeface="IBM Plex Sans" pitchFamily="34" charset="-120"/>
              </a:rPr>
              <a:t>Host OS kernel (shared)</a:t>
            </a:r>
            <a:endParaRPr lang="en-US" sz="1200" dirty="0"/>
          </a:p>
        </p:txBody>
      </p:sp>
      <p:sp>
        <p:nvSpPr>
          <p:cNvPr id="19" name="Text 17"/>
          <p:cNvSpPr/>
          <p:nvPr/>
        </p:nvSpPr>
        <p:spPr>
          <a:xfrm>
            <a:off x="3457575" y="3592195"/>
            <a:ext cx="2432050" cy="369570"/>
          </a:xfrm>
          <a:prstGeom prst="roundRect">
            <a:avLst>
              <a:gd name="adj" fmla="val 16323"/>
            </a:avLst>
          </a:prstGeom>
          <a:solidFill>
            <a:srgbClr val="ECE9E2"/>
          </a:solidFill>
          <a:ln w="6350">
            <a:solidFill>
              <a:srgbClr val="D6D2C8"/>
            </a:solidFill>
            <a:prstDash val="solid"/>
          </a:ln>
        </p:spPr>
        <p:txBody>
          <a:bodyPr wrap="square" lIns="52461" tIns="60436" rIns="52461" bIns="35036" rtlCol="0" anchor="t">
            <a:normAutofit/>
          </a:bodyPr>
          <a:lstStyle/>
          <a:p>
            <a:pPr algn="ctr" indent="0" marL="0">
              <a:lnSpc>
                <a:spcPts val="1680"/>
              </a:lnSpc>
              <a:buNone/>
            </a:pPr>
            <a:r>
              <a:rPr lang="en-US" sz="1200" dirty="0">
                <a:solidFill>
                  <a:srgbClr val="121722"/>
                </a:solidFill>
                <a:latin typeface="IBM Plex Sans" pitchFamily="34" charset="0"/>
                <a:ea typeface="IBM Plex Sans" pitchFamily="34" charset="-122"/>
                <a:cs typeface="IBM Plex Sans" pitchFamily="34" charset="-120"/>
              </a:rPr>
              <a:t>Hardware</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309360" y="1546860"/>
          <a:ext cx="5069840" cy="2407920"/>
        </p:xfrm>
        <a:graphic>
          <a:graphicData uri="http://schemas.openxmlformats.org/drawingml/2006/table">
            <a:tbl>
              <a:tblPr/>
              <a:tblGrid>
                <a:gridCol w="1723746"/>
                <a:gridCol w="1673047"/>
                <a:gridCol w="1673047"/>
              </a:tblGrid>
              <a:tr h="330200">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VMs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Containers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Isolates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 whole guest 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 process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Typical size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Gigabytes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Megabytes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Starts 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Seconds to minutes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Milliseconds to seconds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Kernel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Its own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Shared with the host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Isolation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Stronger (hardware level)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Lighter (shared kernel)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21" name="Text 18"/>
          <p:cNvSpPr/>
          <p:nvPr/>
        </p:nvSpPr>
        <p:spPr>
          <a:xfrm>
            <a:off x="6299200" y="4157980"/>
            <a:ext cx="523240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They complement each other: in the cloud, containers usually run </a:t>
            </a:r>
            <a:r>
              <a:rPr lang="en-US" sz="1400" b="1" dirty="0">
                <a:solidFill>
                  <a:srgbClr val="2B3240"/>
                </a:solidFill>
                <a:latin typeface="IBM Plex Sans" pitchFamily="34" charset="0"/>
                <a:ea typeface="IBM Plex Sans" pitchFamily="34" charset="-122"/>
                <a:cs typeface="IBM Plex Sans" pitchFamily="34" charset="-120"/>
              </a:rPr>
              <a:t>inside</a:t>
            </a:r>
            <a:r>
              <a:rPr lang="en-US" sz="1400" dirty="0">
                <a:solidFill>
                  <a:srgbClr val="2B3240"/>
                </a:solidFill>
                <a:latin typeface="IBM Plex Sans" pitchFamily="34" charset="0"/>
                <a:ea typeface="IBM Plex Sans" pitchFamily="34" charset="-122"/>
                <a:cs typeface="IBM Plex Sans" pitchFamily="34" charset="-120"/>
              </a:rPr>
              <a:t> VMs.</a:t>
            </a:r>
            <a:endParaRPr lang="en-US" sz="1400" dirty="0"/>
          </a:p>
        </p:txBody>
      </p:sp>
      <p:sp>
        <p:nvSpPr>
          <p:cNvPr id="22" name="Text 19"/>
          <p:cNvSpPr/>
          <p:nvPr/>
        </p:nvSpPr>
        <p:spPr>
          <a:xfrm>
            <a:off x="812800" y="6238239"/>
            <a:ext cx="29576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Docker Fundamentals · Foundations</a:t>
            </a:r>
            <a:endParaRPr lang="en-US" sz="1200" dirty="0"/>
          </a:p>
        </p:txBody>
      </p:sp>
      <p:sp>
        <p:nvSpPr>
          <p:cNvPr id="23" name="Text 20"/>
          <p:cNvSpPr/>
          <p:nvPr/>
        </p:nvSpPr>
        <p:spPr>
          <a:xfrm>
            <a:off x="11145520" y="6238239"/>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Namespaces, cgroups and OverlayFS</a:t>
            </a:r>
            <a:endParaRPr lang="en-US" sz="3000" dirty="0"/>
          </a:p>
        </p:txBody>
      </p:sp>
      <p:sp>
        <p:nvSpPr>
          <p:cNvPr id="3" name="Shape 1"/>
          <p:cNvSpPr/>
          <p:nvPr/>
        </p:nvSpPr>
        <p:spPr>
          <a:xfrm>
            <a:off x="815975" y="1539875"/>
            <a:ext cx="3380264" cy="2452370"/>
          </a:xfrm>
          <a:prstGeom prst="roundRect">
            <a:avLst>
              <a:gd name="adj" fmla="val 4013"/>
            </a:avLst>
          </a:prstGeom>
          <a:solidFill>
            <a:srgbClr val="FDFCFA"/>
          </a:solidFill>
          <a:ln w="6350">
            <a:solidFill>
              <a:srgbClr val="E2DED5"/>
            </a:solidFill>
            <a:prstDash val="solid"/>
          </a:ln>
        </p:spPr>
      </p:sp>
      <p:sp>
        <p:nvSpPr>
          <p:cNvPr id="4" name="Text 2"/>
          <p:cNvSpPr/>
          <p:nvPr/>
        </p:nvSpPr>
        <p:spPr>
          <a:xfrm>
            <a:off x="1046480" y="1744982"/>
            <a:ext cx="300683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5FC4"/>
                </a:solidFill>
                <a:latin typeface="IBM Plex Sans" pitchFamily="34" charset="0"/>
                <a:ea typeface="IBM Plex Sans" pitchFamily="34" charset="-122"/>
                <a:cs typeface="IBM Plex Sans" pitchFamily="34" charset="-120"/>
              </a:rPr>
              <a:t>WHAT IT CAN SEE</a:t>
            </a:r>
            <a:endParaRPr lang="en-US" sz="1200" dirty="0"/>
          </a:p>
        </p:txBody>
      </p:sp>
      <p:sp>
        <p:nvSpPr>
          <p:cNvPr id="5" name="Text 3"/>
          <p:cNvSpPr/>
          <p:nvPr/>
        </p:nvSpPr>
        <p:spPr>
          <a:xfrm>
            <a:off x="1046480" y="2034539"/>
            <a:ext cx="300683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Namespaces</a:t>
            </a:r>
            <a:endParaRPr lang="en-US" sz="1800" dirty="0"/>
          </a:p>
        </p:txBody>
      </p:sp>
      <p:sp>
        <p:nvSpPr>
          <p:cNvPr id="6" name="Text 4"/>
          <p:cNvSpPr/>
          <p:nvPr/>
        </p:nvSpPr>
        <p:spPr>
          <a:xfrm>
            <a:off x="1046480" y="2385061"/>
            <a:ext cx="3006831"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Each container gets its own view of process IDs, network, mounts, hostname, users and IPC.</a:t>
            </a:r>
            <a:endParaRPr lang="en-US" sz="1400" dirty="0"/>
          </a:p>
        </p:txBody>
      </p:sp>
      <p:sp>
        <p:nvSpPr>
          <p:cNvPr id="7" name="Text 5"/>
          <p:cNvSpPr/>
          <p:nvPr/>
        </p:nvSpPr>
        <p:spPr>
          <a:xfrm>
            <a:off x="1046480" y="3208021"/>
            <a:ext cx="426720" cy="264160"/>
          </a:xfrm>
          <a:prstGeom prst="roundRect">
            <a:avLst>
              <a:gd name="adj" fmla="val 19231"/>
            </a:avLst>
          </a:prstGeom>
          <a:solidFill>
            <a:srgbClr val="ECE9E2"/>
          </a:solidFill>
          <a:ln/>
        </p:spPr>
        <p:txBody>
          <a:bodyPr wrap="none" lIns="0" tIns="0" rIns="0" bIns="0" rtlCol="0" anchor="ctr">
            <a:normAutofit/>
          </a:bodyPr>
          <a:lstStyle/>
          <a:p>
            <a:pPr algn="ctr" indent="0" marL="0">
              <a:lnSpc>
                <a:spcPts val="1680"/>
              </a:lnSpc>
              <a:buNone/>
            </a:pPr>
            <a:r>
              <a:rPr lang="en-US" sz="1200" dirty="0">
                <a:solidFill>
                  <a:srgbClr val="2B3240"/>
                </a:solidFill>
                <a:latin typeface="JetBrains Mono" pitchFamily="49" charset="0"/>
                <a:ea typeface="JetBrains Mono" pitchFamily="49" charset="-122"/>
                <a:cs typeface="JetBrains Mono" pitchFamily="49" charset="-120"/>
              </a:rPr>
              <a:t>pid</a:t>
            </a:r>
            <a:endParaRPr lang="en-US" sz="1200" dirty="0"/>
          </a:p>
        </p:txBody>
      </p:sp>
      <p:sp>
        <p:nvSpPr>
          <p:cNvPr id="8" name="Text 6"/>
          <p:cNvSpPr/>
          <p:nvPr/>
        </p:nvSpPr>
        <p:spPr>
          <a:xfrm>
            <a:off x="1524000" y="3208021"/>
            <a:ext cx="426720" cy="264160"/>
          </a:xfrm>
          <a:prstGeom prst="roundRect">
            <a:avLst>
              <a:gd name="adj" fmla="val 19231"/>
            </a:avLst>
          </a:prstGeom>
          <a:solidFill>
            <a:srgbClr val="ECE9E2"/>
          </a:solidFill>
          <a:ln/>
        </p:spPr>
        <p:txBody>
          <a:bodyPr wrap="none" lIns="0" tIns="0" rIns="0" bIns="0" rtlCol="0" anchor="ctr">
            <a:normAutofit/>
          </a:bodyPr>
          <a:lstStyle/>
          <a:p>
            <a:pPr algn="ctr" indent="0" marL="0">
              <a:lnSpc>
                <a:spcPts val="1680"/>
              </a:lnSpc>
              <a:buNone/>
            </a:pPr>
            <a:r>
              <a:rPr lang="en-US" sz="1200" dirty="0">
                <a:solidFill>
                  <a:srgbClr val="2B3240"/>
                </a:solidFill>
                <a:latin typeface="JetBrains Mono" pitchFamily="49" charset="0"/>
                <a:ea typeface="JetBrains Mono" pitchFamily="49" charset="-122"/>
                <a:cs typeface="JetBrains Mono" pitchFamily="49" charset="-120"/>
              </a:rPr>
              <a:t>net</a:t>
            </a:r>
            <a:endParaRPr lang="en-US" sz="1200" dirty="0"/>
          </a:p>
        </p:txBody>
      </p:sp>
      <p:sp>
        <p:nvSpPr>
          <p:cNvPr id="9" name="Text 7"/>
          <p:cNvSpPr/>
          <p:nvPr/>
        </p:nvSpPr>
        <p:spPr>
          <a:xfrm>
            <a:off x="2001520" y="3208021"/>
            <a:ext cx="426720" cy="264160"/>
          </a:xfrm>
          <a:prstGeom prst="roundRect">
            <a:avLst>
              <a:gd name="adj" fmla="val 19231"/>
            </a:avLst>
          </a:prstGeom>
          <a:solidFill>
            <a:srgbClr val="ECE9E2"/>
          </a:solidFill>
          <a:ln/>
        </p:spPr>
        <p:txBody>
          <a:bodyPr wrap="none" lIns="0" tIns="0" rIns="0" bIns="0" rtlCol="0" anchor="ctr">
            <a:normAutofit/>
          </a:bodyPr>
          <a:lstStyle/>
          <a:p>
            <a:pPr algn="ctr" indent="0" marL="0">
              <a:lnSpc>
                <a:spcPts val="1680"/>
              </a:lnSpc>
              <a:buNone/>
            </a:pPr>
            <a:r>
              <a:rPr lang="en-US" sz="1200" dirty="0">
                <a:solidFill>
                  <a:srgbClr val="2B3240"/>
                </a:solidFill>
                <a:latin typeface="JetBrains Mono" pitchFamily="49" charset="0"/>
                <a:ea typeface="JetBrains Mono" pitchFamily="49" charset="-122"/>
                <a:cs typeface="JetBrains Mono" pitchFamily="49" charset="-120"/>
              </a:rPr>
              <a:t>mnt</a:t>
            </a:r>
            <a:endParaRPr lang="en-US" sz="1200" dirty="0"/>
          </a:p>
        </p:txBody>
      </p:sp>
      <p:sp>
        <p:nvSpPr>
          <p:cNvPr id="10" name="Text 8"/>
          <p:cNvSpPr/>
          <p:nvPr/>
        </p:nvSpPr>
        <p:spPr>
          <a:xfrm>
            <a:off x="2479040" y="3208021"/>
            <a:ext cx="426720" cy="264160"/>
          </a:xfrm>
          <a:prstGeom prst="roundRect">
            <a:avLst>
              <a:gd name="adj" fmla="val 19231"/>
            </a:avLst>
          </a:prstGeom>
          <a:solidFill>
            <a:srgbClr val="ECE9E2"/>
          </a:solidFill>
          <a:ln/>
        </p:spPr>
        <p:txBody>
          <a:bodyPr wrap="none" lIns="0" tIns="0" rIns="0" bIns="0" rtlCol="0" anchor="ctr">
            <a:normAutofit/>
          </a:bodyPr>
          <a:lstStyle/>
          <a:p>
            <a:pPr algn="ctr" indent="0" marL="0">
              <a:lnSpc>
                <a:spcPts val="1680"/>
              </a:lnSpc>
              <a:buNone/>
            </a:pPr>
            <a:r>
              <a:rPr lang="en-US" sz="1200" dirty="0">
                <a:solidFill>
                  <a:srgbClr val="2B3240"/>
                </a:solidFill>
                <a:latin typeface="JetBrains Mono" pitchFamily="49" charset="0"/>
                <a:ea typeface="JetBrains Mono" pitchFamily="49" charset="-122"/>
                <a:cs typeface="JetBrains Mono" pitchFamily="49" charset="-120"/>
              </a:rPr>
              <a:t>uts</a:t>
            </a:r>
            <a:endParaRPr lang="en-US" sz="1200" dirty="0"/>
          </a:p>
        </p:txBody>
      </p:sp>
      <p:sp>
        <p:nvSpPr>
          <p:cNvPr id="11" name="Text 9"/>
          <p:cNvSpPr/>
          <p:nvPr/>
        </p:nvSpPr>
        <p:spPr>
          <a:xfrm>
            <a:off x="2956560" y="3208021"/>
            <a:ext cx="426720" cy="264160"/>
          </a:xfrm>
          <a:prstGeom prst="roundRect">
            <a:avLst>
              <a:gd name="adj" fmla="val 19231"/>
            </a:avLst>
          </a:prstGeom>
          <a:solidFill>
            <a:srgbClr val="ECE9E2"/>
          </a:solidFill>
          <a:ln/>
        </p:spPr>
        <p:txBody>
          <a:bodyPr wrap="none" lIns="0" tIns="0" rIns="0" bIns="0" rtlCol="0" anchor="ctr">
            <a:normAutofit/>
          </a:bodyPr>
          <a:lstStyle/>
          <a:p>
            <a:pPr algn="ctr" indent="0" marL="0">
              <a:lnSpc>
                <a:spcPts val="1680"/>
              </a:lnSpc>
              <a:buNone/>
            </a:pPr>
            <a:r>
              <a:rPr lang="en-US" sz="1200" dirty="0">
                <a:solidFill>
                  <a:srgbClr val="2B3240"/>
                </a:solidFill>
                <a:latin typeface="JetBrains Mono" pitchFamily="49" charset="0"/>
                <a:ea typeface="JetBrains Mono" pitchFamily="49" charset="-122"/>
                <a:cs typeface="JetBrains Mono" pitchFamily="49" charset="-120"/>
              </a:rPr>
              <a:t>ipc</a:t>
            </a:r>
            <a:endParaRPr lang="en-US" sz="1200" dirty="0"/>
          </a:p>
        </p:txBody>
      </p:sp>
      <p:sp>
        <p:nvSpPr>
          <p:cNvPr id="12" name="Text 10"/>
          <p:cNvSpPr/>
          <p:nvPr/>
        </p:nvSpPr>
        <p:spPr>
          <a:xfrm>
            <a:off x="3434080" y="3208021"/>
            <a:ext cx="518160" cy="264160"/>
          </a:xfrm>
          <a:prstGeom prst="roundRect">
            <a:avLst>
              <a:gd name="adj" fmla="val 19231"/>
            </a:avLst>
          </a:prstGeom>
          <a:solidFill>
            <a:srgbClr val="ECE9E2"/>
          </a:solidFill>
          <a:ln/>
        </p:spPr>
        <p:txBody>
          <a:bodyPr wrap="none" lIns="0" tIns="0" rIns="0" bIns="0" rtlCol="0" anchor="ctr">
            <a:normAutofit/>
          </a:bodyPr>
          <a:lstStyle/>
          <a:p>
            <a:pPr algn="ctr" indent="0" marL="0">
              <a:lnSpc>
                <a:spcPts val="1680"/>
              </a:lnSpc>
              <a:buNone/>
            </a:pPr>
            <a:r>
              <a:rPr lang="en-US" sz="1200" dirty="0">
                <a:solidFill>
                  <a:srgbClr val="2B3240"/>
                </a:solidFill>
                <a:latin typeface="JetBrains Mono" pitchFamily="49" charset="0"/>
                <a:ea typeface="JetBrains Mono" pitchFamily="49" charset="-122"/>
                <a:cs typeface="JetBrains Mono" pitchFamily="49" charset="-120"/>
              </a:rPr>
              <a:t>user</a:t>
            </a:r>
            <a:endParaRPr lang="en-US" sz="1200" dirty="0"/>
          </a:p>
        </p:txBody>
      </p:sp>
      <p:sp>
        <p:nvSpPr>
          <p:cNvPr id="13" name="Text 11"/>
          <p:cNvSpPr/>
          <p:nvPr/>
        </p:nvSpPr>
        <p:spPr>
          <a:xfrm>
            <a:off x="1046480" y="3522982"/>
            <a:ext cx="701040" cy="264160"/>
          </a:xfrm>
          <a:prstGeom prst="roundRect">
            <a:avLst>
              <a:gd name="adj" fmla="val 19231"/>
            </a:avLst>
          </a:prstGeom>
          <a:solidFill>
            <a:srgbClr val="ECE9E2"/>
          </a:solidFill>
          <a:ln/>
        </p:spPr>
        <p:txBody>
          <a:bodyPr wrap="none" lIns="0" tIns="0" rIns="0" bIns="0" rtlCol="0" anchor="ctr">
            <a:normAutofit/>
          </a:bodyPr>
          <a:lstStyle/>
          <a:p>
            <a:pPr algn="ctr" indent="0" marL="0">
              <a:lnSpc>
                <a:spcPts val="1680"/>
              </a:lnSpc>
              <a:buNone/>
            </a:pPr>
            <a:r>
              <a:rPr lang="en-US" sz="1200" dirty="0">
                <a:solidFill>
                  <a:srgbClr val="2B3240"/>
                </a:solidFill>
                <a:latin typeface="JetBrains Mono" pitchFamily="49" charset="0"/>
                <a:ea typeface="JetBrains Mono" pitchFamily="49" charset="-122"/>
                <a:cs typeface="JetBrains Mono" pitchFamily="49" charset="-120"/>
              </a:rPr>
              <a:t>cgroup</a:t>
            </a:r>
            <a:endParaRPr lang="en-US" sz="1200" dirty="0"/>
          </a:p>
        </p:txBody>
      </p:sp>
      <p:sp>
        <p:nvSpPr>
          <p:cNvPr id="14" name="Shape 12"/>
          <p:cNvSpPr/>
          <p:nvPr/>
        </p:nvSpPr>
        <p:spPr>
          <a:xfrm>
            <a:off x="4405789" y="1539875"/>
            <a:ext cx="3380343" cy="2452370"/>
          </a:xfrm>
          <a:prstGeom prst="roundRect">
            <a:avLst>
              <a:gd name="adj" fmla="val 4013"/>
            </a:avLst>
          </a:prstGeom>
          <a:solidFill>
            <a:srgbClr val="FDFCFA"/>
          </a:solidFill>
          <a:ln w="6350">
            <a:solidFill>
              <a:srgbClr val="E2DED5"/>
            </a:solidFill>
            <a:prstDash val="solid"/>
          </a:ln>
        </p:spPr>
      </p:sp>
      <p:sp>
        <p:nvSpPr>
          <p:cNvPr id="15" name="Text 13"/>
          <p:cNvSpPr/>
          <p:nvPr/>
        </p:nvSpPr>
        <p:spPr>
          <a:xfrm>
            <a:off x="4636294" y="1744982"/>
            <a:ext cx="300691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5FC4"/>
                </a:solidFill>
                <a:latin typeface="IBM Plex Sans" pitchFamily="34" charset="0"/>
                <a:ea typeface="IBM Plex Sans" pitchFamily="34" charset="-122"/>
                <a:cs typeface="IBM Plex Sans" pitchFamily="34" charset="-120"/>
              </a:rPr>
              <a:t>WHAT IT CAN USE</a:t>
            </a:r>
            <a:endParaRPr lang="en-US" sz="1200" dirty="0"/>
          </a:p>
        </p:txBody>
      </p:sp>
      <p:sp>
        <p:nvSpPr>
          <p:cNvPr id="16" name="Text 14"/>
          <p:cNvSpPr/>
          <p:nvPr/>
        </p:nvSpPr>
        <p:spPr>
          <a:xfrm>
            <a:off x="4636294" y="2034539"/>
            <a:ext cx="300691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cgroups</a:t>
            </a:r>
            <a:endParaRPr lang="en-US" sz="1800" dirty="0"/>
          </a:p>
        </p:txBody>
      </p:sp>
      <p:sp>
        <p:nvSpPr>
          <p:cNvPr id="17" name="Text 15"/>
          <p:cNvSpPr/>
          <p:nvPr/>
        </p:nvSpPr>
        <p:spPr>
          <a:xfrm>
            <a:off x="4636294" y="2385061"/>
            <a:ext cx="300691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Limits and accounting for CPU, memory, disk I/O and the number of processes.</a:t>
            </a:r>
            <a:endParaRPr lang="en-US" sz="1400" dirty="0"/>
          </a:p>
        </p:txBody>
      </p:sp>
      <p:sp>
        <p:nvSpPr>
          <p:cNvPr id="18" name="Text 16"/>
          <p:cNvSpPr/>
          <p:nvPr/>
        </p:nvSpPr>
        <p:spPr>
          <a:xfrm>
            <a:off x="4636294" y="3208021"/>
            <a:ext cx="426720" cy="264160"/>
          </a:xfrm>
          <a:prstGeom prst="roundRect">
            <a:avLst>
              <a:gd name="adj" fmla="val 19231"/>
            </a:avLst>
          </a:prstGeom>
          <a:solidFill>
            <a:srgbClr val="ECE9E2"/>
          </a:solidFill>
          <a:ln/>
        </p:spPr>
        <p:txBody>
          <a:bodyPr wrap="none" lIns="0" tIns="0" rIns="0" bIns="0" rtlCol="0" anchor="ctr">
            <a:normAutofit/>
          </a:bodyPr>
          <a:lstStyle/>
          <a:p>
            <a:pPr algn="ctr" indent="0" marL="0">
              <a:lnSpc>
                <a:spcPts val="1680"/>
              </a:lnSpc>
              <a:buNone/>
            </a:pPr>
            <a:r>
              <a:rPr lang="en-US" sz="1200" dirty="0">
                <a:solidFill>
                  <a:srgbClr val="2B3240"/>
                </a:solidFill>
                <a:latin typeface="JetBrains Mono" pitchFamily="49" charset="0"/>
                <a:ea typeface="JetBrains Mono" pitchFamily="49" charset="-122"/>
                <a:cs typeface="JetBrains Mono" pitchFamily="49" charset="-120"/>
              </a:rPr>
              <a:t>cpu</a:t>
            </a:r>
            <a:endParaRPr lang="en-US" sz="1200" dirty="0"/>
          </a:p>
        </p:txBody>
      </p:sp>
      <p:sp>
        <p:nvSpPr>
          <p:cNvPr id="19" name="Text 17"/>
          <p:cNvSpPr/>
          <p:nvPr/>
        </p:nvSpPr>
        <p:spPr>
          <a:xfrm>
            <a:off x="5113814" y="3208021"/>
            <a:ext cx="701040" cy="264160"/>
          </a:xfrm>
          <a:prstGeom prst="roundRect">
            <a:avLst>
              <a:gd name="adj" fmla="val 19231"/>
            </a:avLst>
          </a:prstGeom>
          <a:solidFill>
            <a:srgbClr val="ECE9E2"/>
          </a:solidFill>
          <a:ln/>
        </p:spPr>
        <p:txBody>
          <a:bodyPr wrap="none" lIns="0" tIns="0" rIns="0" bIns="0" rtlCol="0" anchor="ctr">
            <a:normAutofit/>
          </a:bodyPr>
          <a:lstStyle/>
          <a:p>
            <a:pPr algn="ctr" indent="0" marL="0">
              <a:lnSpc>
                <a:spcPts val="1680"/>
              </a:lnSpc>
              <a:buNone/>
            </a:pPr>
            <a:r>
              <a:rPr lang="en-US" sz="1200" dirty="0">
                <a:solidFill>
                  <a:srgbClr val="2B3240"/>
                </a:solidFill>
                <a:latin typeface="JetBrains Mono" pitchFamily="49" charset="0"/>
                <a:ea typeface="JetBrains Mono" pitchFamily="49" charset="-122"/>
                <a:cs typeface="JetBrains Mono" pitchFamily="49" charset="-120"/>
              </a:rPr>
              <a:t>memory</a:t>
            </a:r>
            <a:endParaRPr lang="en-US" sz="1200" dirty="0"/>
          </a:p>
        </p:txBody>
      </p:sp>
      <p:sp>
        <p:nvSpPr>
          <p:cNvPr id="20" name="Text 18"/>
          <p:cNvSpPr/>
          <p:nvPr/>
        </p:nvSpPr>
        <p:spPr>
          <a:xfrm>
            <a:off x="5865654" y="3208021"/>
            <a:ext cx="335280" cy="264160"/>
          </a:xfrm>
          <a:prstGeom prst="roundRect">
            <a:avLst>
              <a:gd name="adj" fmla="val 19231"/>
            </a:avLst>
          </a:prstGeom>
          <a:solidFill>
            <a:srgbClr val="ECE9E2"/>
          </a:solidFill>
          <a:ln/>
        </p:spPr>
        <p:txBody>
          <a:bodyPr wrap="none" lIns="0" tIns="0" rIns="0" bIns="0" rtlCol="0" anchor="ctr">
            <a:normAutofit/>
          </a:bodyPr>
          <a:lstStyle/>
          <a:p>
            <a:pPr algn="ctr" indent="0" marL="0">
              <a:lnSpc>
                <a:spcPts val="1680"/>
              </a:lnSpc>
              <a:buNone/>
            </a:pPr>
            <a:r>
              <a:rPr lang="en-US" sz="1200" dirty="0">
                <a:solidFill>
                  <a:srgbClr val="2B3240"/>
                </a:solidFill>
                <a:latin typeface="JetBrains Mono" pitchFamily="49" charset="0"/>
                <a:ea typeface="JetBrains Mono" pitchFamily="49" charset="-122"/>
                <a:cs typeface="JetBrains Mono" pitchFamily="49" charset="-120"/>
              </a:rPr>
              <a:t>io</a:t>
            </a:r>
            <a:endParaRPr lang="en-US" sz="1200" dirty="0"/>
          </a:p>
        </p:txBody>
      </p:sp>
      <p:sp>
        <p:nvSpPr>
          <p:cNvPr id="21" name="Text 19"/>
          <p:cNvSpPr/>
          <p:nvPr/>
        </p:nvSpPr>
        <p:spPr>
          <a:xfrm>
            <a:off x="6251734" y="3208021"/>
            <a:ext cx="518160" cy="264160"/>
          </a:xfrm>
          <a:prstGeom prst="roundRect">
            <a:avLst>
              <a:gd name="adj" fmla="val 19231"/>
            </a:avLst>
          </a:prstGeom>
          <a:solidFill>
            <a:srgbClr val="ECE9E2"/>
          </a:solidFill>
          <a:ln/>
        </p:spPr>
        <p:txBody>
          <a:bodyPr wrap="none" lIns="0" tIns="0" rIns="0" bIns="0" rtlCol="0" anchor="ctr">
            <a:normAutofit/>
          </a:bodyPr>
          <a:lstStyle/>
          <a:p>
            <a:pPr algn="ctr" indent="0" marL="0">
              <a:lnSpc>
                <a:spcPts val="1680"/>
              </a:lnSpc>
              <a:buNone/>
            </a:pPr>
            <a:r>
              <a:rPr lang="en-US" sz="1200" dirty="0">
                <a:solidFill>
                  <a:srgbClr val="2B3240"/>
                </a:solidFill>
                <a:latin typeface="JetBrains Mono" pitchFamily="49" charset="0"/>
                <a:ea typeface="JetBrains Mono" pitchFamily="49" charset="-122"/>
                <a:cs typeface="JetBrains Mono" pitchFamily="49" charset="-120"/>
              </a:rPr>
              <a:t>pids</a:t>
            </a:r>
            <a:endParaRPr lang="en-US" sz="1200" dirty="0"/>
          </a:p>
        </p:txBody>
      </p:sp>
      <p:sp>
        <p:nvSpPr>
          <p:cNvPr id="22" name="Shape 20"/>
          <p:cNvSpPr/>
          <p:nvPr/>
        </p:nvSpPr>
        <p:spPr>
          <a:xfrm>
            <a:off x="7995682" y="1539875"/>
            <a:ext cx="3380343" cy="2452370"/>
          </a:xfrm>
          <a:prstGeom prst="roundRect">
            <a:avLst>
              <a:gd name="adj" fmla="val 4013"/>
            </a:avLst>
          </a:prstGeom>
          <a:solidFill>
            <a:srgbClr val="FDFCFA"/>
          </a:solidFill>
          <a:ln w="6350">
            <a:solidFill>
              <a:srgbClr val="E2DED5"/>
            </a:solidFill>
            <a:prstDash val="solid"/>
          </a:ln>
        </p:spPr>
      </p:sp>
      <p:sp>
        <p:nvSpPr>
          <p:cNvPr id="23" name="Text 21"/>
          <p:cNvSpPr/>
          <p:nvPr/>
        </p:nvSpPr>
        <p:spPr>
          <a:xfrm>
            <a:off x="8226187" y="1744982"/>
            <a:ext cx="300691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5FC4"/>
                </a:solidFill>
                <a:latin typeface="IBM Plex Sans" pitchFamily="34" charset="0"/>
                <a:ea typeface="IBM Plex Sans" pitchFamily="34" charset="-122"/>
                <a:cs typeface="IBM Plex Sans" pitchFamily="34" charset="-120"/>
              </a:rPr>
              <a:t>WHAT IT STORES</a:t>
            </a:r>
            <a:endParaRPr lang="en-US" sz="1200" dirty="0"/>
          </a:p>
        </p:txBody>
      </p:sp>
      <p:sp>
        <p:nvSpPr>
          <p:cNvPr id="24" name="Text 22"/>
          <p:cNvSpPr/>
          <p:nvPr/>
        </p:nvSpPr>
        <p:spPr>
          <a:xfrm>
            <a:off x="8226187" y="2034539"/>
            <a:ext cx="300691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OverlayFS</a:t>
            </a:r>
            <a:endParaRPr lang="en-US" sz="1800" dirty="0"/>
          </a:p>
        </p:txBody>
      </p:sp>
      <p:sp>
        <p:nvSpPr>
          <p:cNvPr id="25" name="Text 23"/>
          <p:cNvSpPr/>
          <p:nvPr/>
        </p:nvSpPr>
        <p:spPr>
          <a:xfrm>
            <a:off x="8226187" y="2385061"/>
            <a:ext cx="300691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Read-only image layers stacked under one thin writable layer per container.</a:t>
            </a:r>
            <a:endParaRPr lang="en-US" sz="1400" dirty="0"/>
          </a:p>
        </p:txBody>
      </p:sp>
      <p:sp>
        <p:nvSpPr>
          <p:cNvPr id="26" name="Text 24"/>
          <p:cNvSpPr/>
          <p:nvPr/>
        </p:nvSpPr>
        <p:spPr>
          <a:xfrm>
            <a:off x="8226187" y="3208021"/>
            <a:ext cx="883920" cy="264160"/>
          </a:xfrm>
          <a:prstGeom prst="roundRect">
            <a:avLst>
              <a:gd name="adj" fmla="val 19231"/>
            </a:avLst>
          </a:prstGeom>
          <a:solidFill>
            <a:srgbClr val="ECE9E2"/>
          </a:solidFill>
          <a:ln/>
        </p:spPr>
        <p:txBody>
          <a:bodyPr wrap="none" lIns="0" tIns="0" rIns="0" bIns="0" rtlCol="0" anchor="ctr">
            <a:normAutofit/>
          </a:bodyPr>
          <a:lstStyle/>
          <a:p>
            <a:pPr algn="ctr" indent="0" marL="0">
              <a:lnSpc>
                <a:spcPts val="1680"/>
              </a:lnSpc>
              <a:buNone/>
            </a:pPr>
            <a:r>
              <a:rPr lang="en-US" sz="1200" dirty="0">
                <a:solidFill>
                  <a:srgbClr val="2B3240"/>
                </a:solidFill>
                <a:latin typeface="JetBrains Mono" pitchFamily="49" charset="0"/>
                <a:ea typeface="JetBrains Mono" pitchFamily="49" charset="-122"/>
                <a:cs typeface="JetBrains Mono" pitchFamily="49" charset="-120"/>
              </a:rPr>
              <a:t>lowerdir</a:t>
            </a:r>
            <a:endParaRPr lang="en-US" sz="1200" dirty="0"/>
          </a:p>
        </p:txBody>
      </p:sp>
      <p:sp>
        <p:nvSpPr>
          <p:cNvPr id="27" name="Text 25"/>
          <p:cNvSpPr/>
          <p:nvPr/>
        </p:nvSpPr>
        <p:spPr>
          <a:xfrm>
            <a:off x="9160907" y="3208021"/>
            <a:ext cx="883920" cy="264160"/>
          </a:xfrm>
          <a:prstGeom prst="roundRect">
            <a:avLst>
              <a:gd name="adj" fmla="val 19231"/>
            </a:avLst>
          </a:prstGeom>
          <a:solidFill>
            <a:srgbClr val="ECE9E2"/>
          </a:solidFill>
          <a:ln/>
        </p:spPr>
        <p:txBody>
          <a:bodyPr wrap="none" lIns="0" tIns="0" rIns="0" bIns="0" rtlCol="0" anchor="ctr">
            <a:normAutofit/>
          </a:bodyPr>
          <a:lstStyle/>
          <a:p>
            <a:pPr algn="ctr" indent="0" marL="0">
              <a:lnSpc>
                <a:spcPts val="1680"/>
              </a:lnSpc>
              <a:buNone/>
            </a:pPr>
            <a:r>
              <a:rPr lang="en-US" sz="1200" dirty="0">
                <a:solidFill>
                  <a:srgbClr val="2B3240"/>
                </a:solidFill>
                <a:latin typeface="JetBrains Mono" pitchFamily="49" charset="0"/>
                <a:ea typeface="JetBrains Mono" pitchFamily="49" charset="-122"/>
                <a:cs typeface="JetBrains Mono" pitchFamily="49" charset="-120"/>
              </a:rPr>
              <a:t>upperdir</a:t>
            </a:r>
            <a:endParaRPr lang="en-US" sz="1200" dirty="0"/>
          </a:p>
        </p:txBody>
      </p:sp>
      <p:sp>
        <p:nvSpPr>
          <p:cNvPr id="28" name="Text 26"/>
          <p:cNvSpPr/>
          <p:nvPr/>
        </p:nvSpPr>
        <p:spPr>
          <a:xfrm>
            <a:off x="10095627" y="3208021"/>
            <a:ext cx="701040" cy="264160"/>
          </a:xfrm>
          <a:prstGeom prst="roundRect">
            <a:avLst>
              <a:gd name="adj" fmla="val 19231"/>
            </a:avLst>
          </a:prstGeom>
          <a:solidFill>
            <a:srgbClr val="ECE9E2"/>
          </a:solidFill>
          <a:ln/>
        </p:spPr>
        <p:txBody>
          <a:bodyPr wrap="none" lIns="0" tIns="0" rIns="0" bIns="0" rtlCol="0" anchor="ctr">
            <a:normAutofit/>
          </a:bodyPr>
          <a:lstStyle/>
          <a:p>
            <a:pPr algn="ctr" indent="0" marL="0">
              <a:lnSpc>
                <a:spcPts val="1680"/>
              </a:lnSpc>
              <a:buNone/>
            </a:pPr>
            <a:r>
              <a:rPr lang="en-US" sz="1200" dirty="0">
                <a:solidFill>
                  <a:srgbClr val="2B3240"/>
                </a:solidFill>
                <a:latin typeface="JetBrains Mono" pitchFamily="49" charset="0"/>
                <a:ea typeface="JetBrains Mono" pitchFamily="49" charset="-122"/>
                <a:cs typeface="JetBrains Mono" pitchFamily="49" charset="-120"/>
              </a:rPr>
              <a:t>merged</a:t>
            </a:r>
            <a:endParaRPr lang="en-US" sz="1200" dirty="0"/>
          </a:p>
        </p:txBody>
      </p:sp>
      <p:sp>
        <p:nvSpPr>
          <p:cNvPr id="29" name="Shape 27"/>
          <p:cNvSpPr/>
          <p:nvPr/>
        </p:nvSpPr>
        <p:spPr>
          <a:xfrm>
            <a:off x="812800" y="4300221"/>
            <a:ext cx="10566400" cy="853440"/>
          </a:xfrm>
          <a:prstGeom prst="roundRect">
            <a:avLst>
              <a:gd name="adj" fmla="val 11905"/>
            </a:avLst>
          </a:prstGeom>
          <a:solidFill>
            <a:srgbClr val="ECE9E2"/>
          </a:solidFill>
          <a:ln/>
        </p:spPr>
      </p:sp>
      <p:sp>
        <p:nvSpPr>
          <p:cNvPr id="30" name="Text 28"/>
          <p:cNvSpPr/>
          <p:nvPr/>
        </p:nvSpPr>
        <p:spPr>
          <a:xfrm>
            <a:off x="1041400" y="4478021"/>
            <a:ext cx="7398614"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240"/>
                </a:solidFill>
                <a:latin typeface="IBM Plex Sans" pitchFamily="34" charset="0"/>
                <a:ea typeface="IBM Plex Sans" pitchFamily="34" charset="-122"/>
                <a:cs typeface="IBM Plex Sans" pitchFamily="34" charset="-120"/>
              </a:rPr>
              <a:t>A container is an ordinary Linux process</a:t>
            </a:r>
            <a:r>
              <a:rPr lang="en-US" sz="1400" dirty="0">
                <a:solidFill>
                  <a:srgbClr val="2B3240"/>
                </a:solidFill>
                <a:latin typeface="IBM Plex Sans" pitchFamily="34" charset="0"/>
                <a:ea typeface="IBM Plex Sans" pitchFamily="34" charset="-122"/>
                <a:cs typeface="IBM Plex Sans" pitchFamily="34" charset="-120"/>
              </a:rPr>
              <a:t> with these three applied — no hypervisor, no guest OS.</a:t>
            </a:r>
            <a:endParaRPr lang="en-US" sz="1400" dirty="0"/>
          </a:p>
        </p:txBody>
      </p:sp>
      <p:sp>
        <p:nvSpPr>
          <p:cNvPr id="31" name="Text 29"/>
          <p:cNvSpPr/>
          <p:nvPr/>
        </p:nvSpPr>
        <p:spPr>
          <a:xfrm>
            <a:off x="8427720" y="4544061"/>
            <a:ext cx="2722880" cy="365760"/>
          </a:xfrm>
          <a:prstGeom prst="roundRect">
            <a:avLst>
              <a:gd name="adj" fmla="val 17361"/>
            </a:avLst>
          </a:prstGeom>
          <a:solidFill>
            <a:srgbClr val="161B26"/>
          </a:solidFill>
          <a:ln/>
        </p:spPr>
        <p:txBody>
          <a:bodyPr wrap="none" lIns="0" tIns="0" rIns="0" bIns="0" rtlCol="0" anchor="ctr">
            <a:normAutofit/>
          </a:bodyPr>
          <a:lstStyle/>
          <a:p>
            <a:pPr algn="ctr" indent="0" marL="0">
              <a:lnSpc>
                <a:spcPts val="1680"/>
              </a:lnSpc>
              <a:buNone/>
            </a:pPr>
            <a:r>
              <a:rPr lang="en-US" sz="1200" dirty="0">
                <a:solidFill>
                  <a:srgbClr val="E4E7EC"/>
                </a:solidFill>
                <a:latin typeface="JetBrains Mono" pitchFamily="49" charset="0"/>
                <a:ea typeface="JetBrains Mono" pitchFamily="49" charset="-122"/>
                <a:cs typeface="JetBrains Mono" pitchFamily="49" charset="-120"/>
              </a:rPr>
              <a:t>$ docker run --rm alpine ps</a:t>
            </a:r>
            <a:endParaRPr lang="en-US" sz="1200" dirty="0"/>
          </a:p>
        </p:txBody>
      </p:sp>
      <p:sp>
        <p:nvSpPr>
          <p:cNvPr id="32" name="Text 30"/>
          <p:cNvSpPr/>
          <p:nvPr/>
        </p:nvSpPr>
        <p:spPr>
          <a:xfrm>
            <a:off x="812800" y="6238239"/>
            <a:ext cx="29576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Docker Fundamentals · Foundations</a:t>
            </a:r>
            <a:endParaRPr lang="en-US" sz="1200" dirty="0"/>
          </a:p>
        </p:txBody>
      </p:sp>
      <p:sp>
        <p:nvSpPr>
          <p:cNvPr id="33" name="Text 31"/>
          <p:cNvSpPr/>
          <p:nvPr/>
        </p:nvSpPr>
        <p:spPr>
          <a:xfrm>
            <a:off x="11145520" y="6238239"/>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Docker architecture</a:t>
            </a:r>
            <a:endParaRPr lang="en-US" sz="3000" dirty="0"/>
          </a:p>
        </p:txBody>
      </p:sp>
      <p:sp>
        <p:nvSpPr>
          <p:cNvPr id="3" name="Shape 1"/>
          <p:cNvSpPr/>
          <p:nvPr/>
        </p:nvSpPr>
        <p:spPr>
          <a:xfrm>
            <a:off x="815975" y="1539875"/>
            <a:ext cx="1743154" cy="1563370"/>
          </a:xfrm>
          <a:prstGeom prst="roundRect">
            <a:avLst>
              <a:gd name="adj" fmla="val 6296"/>
            </a:avLst>
          </a:prstGeom>
          <a:solidFill>
            <a:srgbClr val="FDFCFA"/>
          </a:solidFill>
          <a:ln w="6350">
            <a:solidFill>
              <a:srgbClr val="E2DED5"/>
            </a:solidFill>
            <a:prstDash val="solid"/>
          </a:ln>
        </p:spPr>
      </p:sp>
      <p:sp>
        <p:nvSpPr>
          <p:cNvPr id="4" name="Text 2"/>
          <p:cNvSpPr/>
          <p:nvPr/>
        </p:nvSpPr>
        <p:spPr>
          <a:xfrm>
            <a:off x="970280" y="1719582"/>
            <a:ext cx="148534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docker CLI</a:t>
            </a:r>
            <a:endParaRPr lang="en-US" sz="1800" dirty="0"/>
          </a:p>
        </p:txBody>
      </p:sp>
      <p:sp>
        <p:nvSpPr>
          <p:cNvPr id="5" name="Text 3"/>
          <p:cNvSpPr/>
          <p:nvPr/>
        </p:nvSpPr>
        <p:spPr>
          <a:xfrm>
            <a:off x="970280" y="2070100"/>
            <a:ext cx="1485344"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Sends your commands to the daemon’s REST API over a Unix socket</a:t>
            </a:r>
            <a:endParaRPr lang="en-US" sz="1200" dirty="0"/>
          </a:p>
        </p:txBody>
      </p:sp>
      <p:pic>
        <p:nvPicPr>
          <p:cNvPr id="6" name="Image 0" descr="arrow-right">    </p:cNvPr>
          <p:cNvPicPr>
            <a:picLocks noChangeAspect="1"/>
          </p:cNvPicPr>
          <p:nvPr/>
        </p:nvPicPr>
        <p:blipFill>
          <a:blip r:embed="rId1"/>
          <a:srcRect l="0" r="0" t="0" b="0"/>
          <a:stretch/>
        </p:blipFill>
        <p:spPr>
          <a:xfrm>
            <a:off x="2663904" y="2258061"/>
            <a:ext cx="254000" cy="127000"/>
          </a:xfrm>
          <a:prstGeom prst="rect">
            <a:avLst/>
          </a:prstGeom>
        </p:spPr>
      </p:pic>
      <p:sp>
        <p:nvSpPr>
          <p:cNvPr id="7" name="Shape 4"/>
          <p:cNvSpPr/>
          <p:nvPr/>
        </p:nvSpPr>
        <p:spPr>
          <a:xfrm>
            <a:off x="3022679" y="1539875"/>
            <a:ext cx="1743234" cy="1563370"/>
          </a:xfrm>
          <a:prstGeom prst="roundRect">
            <a:avLst>
              <a:gd name="adj" fmla="val 6296"/>
            </a:avLst>
          </a:prstGeom>
          <a:solidFill>
            <a:srgbClr val="FDFCFA"/>
          </a:solidFill>
          <a:ln w="6350">
            <a:solidFill>
              <a:srgbClr val="E2DED5"/>
            </a:solidFill>
            <a:prstDash val="solid"/>
          </a:ln>
        </p:spPr>
      </p:sp>
      <p:sp>
        <p:nvSpPr>
          <p:cNvPr id="8" name="Text 5"/>
          <p:cNvSpPr/>
          <p:nvPr/>
        </p:nvSpPr>
        <p:spPr>
          <a:xfrm>
            <a:off x="3176984" y="1719582"/>
            <a:ext cx="148542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dockerd</a:t>
            </a:r>
            <a:endParaRPr lang="en-US" sz="1800" dirty="0"/>
          </a:p>
        </p:txBody>
      </p:sp>
      <p:sp>
        <p:nvSpPr>
          <p:cNvPr id="9" name="Text 6"/>
          <p:cNvSpPr/>
          <p:nvPr/>
        </p:nvSpPr>
        <p:spPr>
          <a:xfrm>
            <a:off x="3176984" y="2070100"/>
            <a:ext cx="1485424"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Builds images and manages networks, volumes and the API</a:t>
            </a:r>
            <a:endParaRPr lang="en-US" sz="1200" dirty="0"/>
          </a:p>
        </p:txBody>
      </p:sp>
      <p:pic>
        <p:nvPicPr>
          <p:cNvPr id="10" name="Image 1" descr="arrow-right">    </p:cNvPr>
          <p:cNvPicPr>
            <a:picLocks noChangeAspect="1"/>
          </p:cNvPicPr>
          <p:nvPr/>
        </p:nvPicPr>
        <p:blipFill>
          <a:blip r:embed="rId2"/>
          <a:srcRect l="0" r="0" t="0" b="0"/>
          <a:stretch/>
        </p:blipFill>
        <p:spPr>
          <a:xfrm>
            <a:off x="4870688" y="2258061"/>
            <a:ext cx="254000" cy="127000"/>
          </a:xfrm>
          <a:prstGeom prst="rect">
            <a:avLst/>
          </a:prstGeom>
        </p:spPr>
      </p:pic>
      <p:sp>
        <p:nvSpPr>
          <p:cNvPr id="11" name="Shape 7"/>
          <p:cNvSpPr/>
          <p:nvPr/>
        </p:nvSpPr>
        <p:spPr>
          <a:xfrm>
            <a:off x="5229463" y="1539875"/>
            <a:ext cx="1743154" cy="1563370"/>
          </a:xfrm>
          <a:prstGeom prst="roundRect">
            <a:avLst>
              <a:gd name="adj" fmla="val 6296"/>
            </a:avLst>
          </a:prstGeom>
          <a:solidFill>
            <a:srgbClr val="FDFCFA"/>
          </a:solidFill>
          <a:ln w="6350">
            <a:solidFill>
              <a:srgbClr val="E2DED5"/>
            </a:solidFill>
            <a:prstDash val="solid"/>
          </a:ln>
        </p:spPr>
      </p:sp>
      <p:sp>
        <p:nvSpPr>
          <p:cNvPr id="12" name="Text 8"/>
          <p:cNvSpPr/>
          <p:nvPr/>
        </p:nvSpPr>
        <p:spPr>
          <a:xfrm>
            <a:off x="5383768" y="1719582"/>
            <a:ext cx="148534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containerd</a:t>
            </a:r>
            <a:endParaRPr lang="en-US" sz="1800" dirty="0"/>
          </a:p>
        </p:txBody>
      </p:sp>
      <p:sp>
        <p:nvSpPr>
          <p:cNvPr id="13" name="Text 9"/>
          <p:cNvSpPr/>
          <p:nvPr/>
        </p:nvSpPr>
        <p:spPr>
          <a:xfrm>
            <a:off x="5383768" y="2070100"/>
            <a:ext cx="1485344"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Pulls and stores images; supervises each container’s lifecycle</a:t>
            </a:r>
            <a:endParaRPr lang="en-US" sz="1200" dirty="0"/>
          </a:p>
        </p:txBody>
      </p:sp>
      <p:pic>
        <p:nvPicPr>
          <p:cNvPr id="14" name="Image 2" descr="arrow-right">    </p:cNvPr>
          <p:cNvPicPr>
            <a:picLocks noChangeAspect="1"/>
          </p:cNvPicPr>
          <p:nvPr/>
        </p:nvPicPr>
        <p:blipFill>
          <a:blip r:embed="rId3"/>
          <a:srcRect l="0" r="0" t="0" b="0"/>
          <a:stretch/>
        </p:blipFill>
        <p:spPr>
          <a:xfrm>
            <a:off x="7077393" y="2258061"/>
            <a:ext cx="254000" cy="127000"/>
          </a:xfrm>
          <a:prstGeom prst="rect">
            <a:avLst/>
          </a:prstGeom>
        </p:spPr>
      </p:pic>
      <p:sp>
        <p:nvSpPr>
          <p:cNvPr id="15" name="Shape 10"/>
          <p:cNvSpPr/>
          <p:nvPr/>
        </p:nvSpPr>
        <p:spPr>
          <a:xfrm>
            <a:off x="7436168" y="1539875"/>
            <a:ext cx="1743234" cy="1563370"/>
          </a:xfrm>
          <a:prstGeom prst="roundRect">
            <a:avLst>
              <a:gd name="adj" fmla="val 6296"/>
            </a:avLst>
          </a:prstGeom>
          <a:solidFill>
            <a:srgbClr val="FDFCFA"/>
          </a:solidFill>
          <a:ln w="6350">
            <a:solidFill>
              <a:srgbClr val="E2DED5"/>
            </a:solidFill>
            <a:prstDash val="solid"/>
          </a:ln>
        </p:spPr>
      </p:sp>
      <p:sp>
        <p:nvSpPr>
          <p:cNvPr id="16" name="Text 11"/>
          <p:cNvSpPr/>
          <p:nvPr/>
        </p:nvSpPr>
        <p:spPr>
          <a:xfrm>
            <a:off x="7590472" y="1719582"/>
            <a:ext cx="148542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runc</a:t>
            </a:r>
            <a:endParaRPr lang="en-US" sz="1800" dirty="0"/>
          </a:p>
        </p:txBody>
      </p:sp>
      <p:sp>
        <p:nvSpPr>
          <p:cNvPr id="17" name="Text 12"/>
          <p:cNvSpPr/>
          <p:nvPr/>
        </p:nvSpPr>
        <p:spPr>
          <a:xfrm>
            <a:off x="7590472" y="2070100"/>
            <a:ext cx="1485424"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Creates the namespaces and cgroups, then starts the process</a:t>
            </a:r>
            <a:endParaRPr lang="en-US" sz="1200" dirty="0"/>
          </a:p>
        </p:txBody>
      </p:sp>
      <p:pic>
        <p:nvPicPr>
          <p:cNvPr id="18" name="Image 3" descr="arrow-right">    </p:cNvPr>
          <p:cNvPicPr>
            <a:picLocks noChangeAspect="1"/>
          </p:cNvPicPr>
          <p:nvPr/>
        </p:nvPicPr>
        <p:blipFill>
          <a:blip r:embed="rId4"/>
          <a:srcRect l="0" r="0" t="0" b="0"/>
          <a:stretch/>
        </p:blipFill>
        <p:spPr>
          <a:xfrm>
            <a:off x="9284177" y="2258061"/>
            <a:ext cx="254000" cy="127000"/>
          </a:xfrm>
          <a:prstGeom prst="rect">
            <a:avLst/>
          </a:prstGeom>
        </p:spPr>
      </p:pic>
      <p:sp>
        <p:nvSpPr>
          <p:cNvPr id="19" name="Shape 13"/>
          <p:cNvSpPr/>
          <p:nvPr/>
        </p:nvSpPr>
        <p:spPr>
          <a:xfrm>
            <a:off x="9639777" y="1536700"/>
            <a:ext cx="1739424" cy="1569720"/>
          </a:xfrm>
          <a:prstGeom prst="roundRect">
            <a:avLst>
              <a:gd name="adj" fmla="val 6472"/>
            </a:avLst>
          </a:prstGeom>
          <a:solidFill>
            <a:srgbClr val="1D5FC4"/>
          </a:solidFill>
          <a:ln/>
        </p:spPr>
      </p:sp>
      <p:sp>
        <p:nvSpPr>
          <p:cNvPr id="20" name="Text 14"/>
          <p:cNvSpPr/>
          <p:nvPr/>
        </p:nvSpPr>
        <p:spPr>
          <a:xfrm>
            <a:off x="9792177" y="1714500"/>
            <a:ext cx="148542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5F1"/>
                </a:solidFill>
                <a:latin typeface="Space Grotesk" pitchFamily="34" charset="0"/>
                <a:ea typeface="Space Grotesk" pitchFamily="34" charset="-122"/>
                <a:cs typeface="Space Grotesk" pitchFamily="34" charset="-120"/>
              </a:rPr>
              <a:t>Your app</a:t>
            </a:r>
            <a:endParaRPr lang="en-US" sz="1800" dirty="0"/>
          </a:p>
        </p:txBody>
      </p:sp>
      <p:sp>
        <p:nvSpPr>
          <p:cNvPr id="21" name="Text 15"/>
          <p:cNvSpPr/>
          <p:nvPr/>
        </p:nvSpPr>
        <p:spPr>
          <a:xfrm>
            <a:off x="9792177" y="2065021"/>
            <a:ext cx="1485424"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5F1"/>
                </a:solidFill>
                <a:latin typeface="IBM Plex Sans" pitchFamily="34" charset="0"/>
                <a:ea typeface="IBM Plex Sans" pitchFamily="34" charset="-122"/>
                <a:cs typeface="IBM Plex Sans" pitchFamily="34" charset="-120"/>
              </a:rPr>
              <a:t>Runs as an isolated process on the host’s kernel</a:t>
            </a:r>
            <a:endParaRPr lang="en-US" sz="1200" dirty="0"/>
          </a:p>
        </p:txBody>
      </p:sp>
      <p:sp>
        <p:nvSpPr>
          <p:cNvPr id="22" name="Shape 16"/>
          <p:cNvSpPr/>
          <p:nvPr/>
        </p:nvSpPr>
        <p:spPr>
          <a:xfrm>
            <a:off x="812800" y="3411221"/>
            <a:ext cx="5181600" cy="1503680"/>
          </a:xfrm>
          <a:prstGeom prst="roundRect">
            <a:avLst>
              <a:gd name="adj" fmla="val 6757"/>
            </a:avLst>
          </a:prstGeom>
          <a:solidFill>
            <a:srgbClr val="ECE9E2"/>
          </a:solidFill>
          <a:ln/>
        </p:spPr>
      </p:sp>
      <p:sp>
        <p:nvSpPr>
          <p:cNvPr id="23" name="Text 17"/>
          <p:cNvSpPr/>
          <p:nvPr/>
        </p:nvSpPr>
        <p:spPr>
          <a:xfrm>
            <a:off x="1041400" y="3614421"/>
            <a:ext cx="486613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OCI standards</a:t>
            </a:r>
            <a:endParaRPr lang="en-US" sz="1800" dirty="0"/>
          </a:p>
        </p:txBody>
      </p:sp>
      <p:sp>
        <p:nvSpPr>
          <p:cNvPr id="24" name="Text 18"/>
          <p:cNvSpPr/>
          <p:nvPr/>
        </p:nvSpPr>
        <p:spPr>
          <a:xfrm>
            <a:off x="1041400" y="3964939"/>
            <a:ext cx="4866132"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The Open Container Initiative image, runtime and distribution specs make images portable: the same image runs on Docker, Podman, containerd or CRI-O.</a:t>
            </a:r>
            <a:endParaRPr lang="en-US" sz="1400" dirty="0"/>
          </a:p>
        </p:txBody>
      </p:sp>
      <p:sp>
        <p:nvSpPr>
          <p:cNvPr id="25" name="Shape 19"/>
          <p:cNvSpPr/>
          <p:nvPr/>
        </p:nvSpPr>
        <p:spPr>
          <a:xfrm>
            <a:off x="6197600" y="3411221"/>
            <a:ext cx="5181600" cy="1503680"/>
          </a:xfrm>
          <a:prstGeom prst="roundRect">
            <a:avLst>
              <a:gd name="adj" fmla="val 6757"/>
            </a:avLst>
          </a:prstGeom>
          <a:solidFill>
            <a:srgbClr val="ECE9E2"/>
          </a:solidFill>
          <a:ln/>
        </p:spPr>
      </p:sp>
      <p:sp>
        <p:nvSpPr>
          <p:cNvPr id="26" name="Text 20"/>
          <p:cNvSpPr/>
          <p:nvPr/>
        </p:nvSpPr>
        <p:spPr>
          <a:xfrm>
            <a:off x="6426200" y="3614421"/>
            <a:ext cx="486613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Where Kubernetes fits</a:t>
            </a:r>
            <a:endParaRPr lang="en-US" sz="1800" dirty="0"/>
          </a:p>
        </p:txBody>
      </p:sp>
      <p:sp>
        <p:nvSpPr>
          <p:cNvPr id="27" name="Text 21"/>
          <p:cNvSpPr/>
          <p:nvPr/>
        </p:nvSpPr>
        <p:spPr>
          <a:xfrm>
            <a:off x="6426200" y="3964939"/>
            <a:ext cx="4866132"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Kubernetes talks to containerd or CRI-O directly through the Container Runtime Interface — no dockerd needed. Images you build with Docker run there unchanged.</a:t>
            </a:r>
            <a:endParaRPr lang="en-US" sz="1400" dirty="0"/>
          </a:p>
        </p:txBody>
      </p:sp>
      <p:sp>
        <p:nvSpPr>
          <p:cNvPr id="28" name="Text 22"/>
          <p:cNvSpPr/>
          <p:nvPr/>
        </p:nvSpPr>
        <p:spPr>
          <a:xfrm>
            <a:off x="812800" y="6238239"/>
            <a:ext cx="29576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Docker Fundamentals · Foundations</a:t>
            </a:r>
            <a:endParaRPr lang="en-US" sz="1200" dirty="0"/>
          </a:p>
        </p:txBody>
      </p:sp>
      <p:sp>
        <p:nvSpPr>
          <p:cNvPr id="29" name="Text 23"/>
          <p:cNvSpPr/>
          <p:nvPr/>
        </p:nvSpPr>
        <p:spPr>
          <a:xfrm>
            <a:off x="11145520" y="6238239"/>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Docker Engine, Docker Desktop and Podman</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496060"/>
          <a:ext cx="10556240" cy="2717800"/>
        </p:xfrm>
        <a:graphic>
          <a:graphicData uri="http://schemas.openxmlformats.org/drawingml/2006/table">
            <a:tbl>
              <a:tblPr/>
              <a:tblGrid>
                <a:gridCol w="2005686"/>
                <a:gridCol w="2850185"/>
                <a:gridCol w="2850185"/>
                <a:gridCol w="2850185"/>
              </a:tblGrid>
              <a:tr h="330200">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Docker Engine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Docker Desktop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Podman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Platforms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Linux</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macOS, Windows, Linux</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Linux, macOS, Windows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How it runs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Native daemon (dockerd)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Engine inside a lightweight VM, plus a desktop app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No daemon, rootless by default; a VM on macOS and Windows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Includes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CLI, Engine, containerd, BuildKit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Engine, Compose, BuildKit, optional Kubernetes, GUI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Docker-compatible CLI, pods; optional Podman Desktop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97028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Licence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Open source (Apache 2.0)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Free for personal use, education, non-commercial open source and small businesses*; a paid plan for larger companies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Open source (Apache 2.0)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4" name="Text 1"/>
          <p:cNvSpPr/>
          <p:nvPr/>
        </p:nvSpPr>
        <p:spPr>
          <a:xfrm>
            <a:off x="812800" y="446786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*Small business: fewer than 250 employees and under US$10 million in annual revenue (Docker Desktop licence agreement).</a:t>
            </a:r>
            <a:endParaRPr lang="en-US" sz="1200" dirty="0"/>
          </a:p>
        </p:txBody>
      </p:sp>
      <p:sp>
        <p:nvSpPr>
          <p:cNvPr id="5" name="Text 2"/>
          <p:cNvSpPr/>
          <p:nvPr/>
        </p:nvSpPr>
        <p:spPr>
          <a:xfrm>
            <a:off x="812800" y="4782821"/>
            <a:ext cx="10883392"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240"/>
                </a:solidFill>
                <a:latin typeface="IBM Plex Sans" pitchFamily="34" charset="0"/>
                <a:ea typeface="IBM Plex Sans" pitchFamily="34" charset="-122"/>
                <a:cs typeface="IBM Plex Sans" pitchFamily="34" charset="-120"/>
              </a:rPr>
              <a:t>For this course:</a:t>
            </a:r>
            <a:r>
              <a:rPr lang="en-US" sz="1400" dirty="0">
                <a:solidFill>
                  <a:srgbClr val="2B3240"/>
                </a:solidFill>
                <a:latin typeface="IBM Plex Sans" pitchFamily="34" charset="0"/>
                <a:ea typeface="IBM Plex Sans" pitchFamily="34" charset="-122"/>
                <a:cs typeface="IBM Plex Sans" pitchFamily="34" charset="-120"/>
              </a:rPr>
              <a:t> Docker Desktop on Windows and macOS, Docker Engine on Linux. Podman runs most commands in this deck unchanged with </a:t>
            </a:r>
            <a:r>
              <a:rPr lang="en-US" sz="1400" dirty="0">
                <a:solidFill>
                  <a:srgbClr val="1D5FC4"/>
                </a:solidFill>
                <a:latin typeface="IBM Plex Sans" pitchFamily="34" charset="0"/>
                <a:ea typeface="IBM Plex Sans" pitchFamily="34" charset="-122"/>
                <a:cs typeface="IBM Plex Sans" pitchFamily="34" charset="-120"/>
              </a:rPr>
              <a:t>alias docker=podman</a:t>
            </a:r>
            <a:r>
              <a:rPr lang="en-US" sz="1400" dirty="0">
                <a:solidFill>
                  <a:srgbClr val="2B3240"/>
                </a:solidFill>
                <a:latin typeface="IBM Plex Sans" pitchFamily="34" charset="0"/>
                <a:ea typeface="IBM Plex Sans" pitchFamily="34" charset="-122"/>
                <a:cs typeface="IBM Plex Sans" pitchFamily="34" charset="-120"/>
              </a:rPr>
              <a:t>.</a:t>
            </a:r>
            <a:endParaRPr lang="en-US" sz="1400" dirty="0"/>
          </a:p>
        </p:txBody>
      </p:sp>
      <p:sp>
        <p:nvSpPr>
          <p:cNvPr id="6" name="Text 3"/>
          <p:cNvSpPr/>
          <p:nvPr/>
        </p:nvSpPr>
        <p:spPr>
          <a:xfrm>
            <a:off x="812800" y="6238239"/>
            <a:ext cx="29576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Docker Fundamentals · Foundations</a:t>
            </a:r>
            <a:endParaRPr lang="en-US" sz="1200" dirty="0"/>
          </a:p>
        </p:txBody>
      </p:sp>
      <p:sp>
        <p:nvSpPr>
          <p:cNvPr id="7" name="Text 4"/>
          <p:cNvSpPr/>
          <p:nvPr/>
        </p:nvSpPr>
        <p:spPr>
          <a:xfrm>
            <a:off x="11145520" y="6238239"/>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Images vs containers</a:t>
            </a:r>
            <a:endParaRPr lang="en-US" sz="3000" dirty="0"/>
          </a:p>
        </p:txBody>
      </p:sp>
      <p:sp>
        <p:nvSpPr>
          <p:cNvPr id="3" name="Text 1"/>
          <p:cNvSpPr/>
          <p:nvPr/>
        </p:nvSpPr>
        <p:spPr>
          <a:xfrm>
            <a:off x="819150" y="1543050"/>
            <a:ext cx="2501900" cy="398780"/>
          </a:xfrm>
          <a:prstGeom prst="roundRect">
            <a:avLst>
              <a:gd name="adj" fmla="val 14331"/>
            </a:avLst>
          </a:prstGeom>
          <a:solidFill>
            <a:srgbClr val="FDFCFA"/>
          </a:solidFill>
          <a:ln w="12700">
            <a:solidFill>
              <a:srgbClr val="1D5FC4"/>
            </a:solidFill>
            <a:prstDash val="dash"/>
          </a:ln>
        </p:spPr>
        <p:txBody>
          <a:bodyPr wrap="square" lIns="54305" tIns="75971" rIns="54305" bIns="50571" rtlCol="0" anchor="t">
            <a:normAutofit/>
          </a:bodyPr>
          <a:lstStyle/>
          <a:p>
            <a:pPr algn="ctr" indent="0" marL="0">
              <a:lnSpc>
                <a:spcPts val="1680"/>
              </a:lnSpc>
              <a:buNone/>
            </a:pPr>
            <a:r>
              <a:rPr lang="en-US" sz="1200" b="1" dirty="0">
                <a:solidFill>
                  <a:srgbClr val="1D5FC4"/>
                </a:solidFill>
                <a:latin typeface="IBM Plex Sans" pitchFamily="34" charset="0"/>
                <a:ea typeface="IBM Plex Sans" pitchFamily="34" charset="-122"/>
                <a:cs typeface="IBM Plex Sans" pitchFamily="34" charset="-120"/>
              </a:rPr>
              <a:t>web-1 · writable layer</a:t>
            </a:r>
            <a:endParaRPr lang="en-US" sz="1200" dirty="0"/>
          </a:p>
        </p:txBody>
      </p:sp>
      <p:sp>
        <p:nvSpPr>
          <p:cNvPr id="4" name="Text 2"/>
          <p:cNvSpPr/>
          <p:nvPr/>
        </p:nvSpPr>
        <p:spPr>
          <a:xfrm>
            <a:off x="3384550" y="1543050"/>
            <a:ext cx="2501900" cy="398780"/>
          </a:xfrm>
          <a:prstGeom prst="roundRect">
            <a:avLst>
              <a:gd name="adj" fmla="val 14331"/>
            </a:avLst>
          </a:prstGeom>
          <a:solidFill>
            <a:srgbClr val="FDFCFA"/>
          </a:solidFill>
          <a:ln w="12700">
            <a:solidFill>
              <a:srgbClr val="1D5FC4"/>
            </a:solidFill>
            <a:prstDash val="dash"/>
          </a:ln>
        </p:spPr>
        <p:txBody>
          <a:bodyPr wrap="square" lIns="54305" tIns="75971" rIns="54305" bIns="50571" rtlCol="0" anchor="t">
            <a:normAutofit/>
          </a:bodyPr>
          <a:lstStyle/>
          <a:p>
            <a:pPr algn="ctr" indent="0" marL="0">
              <a:lnSpc>
                <a:spcPts val="1680"/>
              </a:lnSpc>
              <a:buNone/>
            </a:pPr>
            <a:r>
              <a:rPr lang="en-US" sz="1200" b="1" dirty="0">
                <a:solidFill>
                  <a:srgbClr val="1D5FC4"/>
                </a:solidFill>
                <a:latin typeface="IBM Plex Sans" pitchFamily="34" charset="0"/>
                <a:ea typeface="IBM Plex Sans" pitchFamily="34" charset="-122"/>
                <a:cs typeface="IBM Plex Sans" pitchFamily="34" charset="-120"/>
              </a:rPr>
              <a:t>web-2 · writable layer</a:t>
            </a:r>
            <a:endParaRPr lang="en-US" sz="1200" dirty="0"/>
          </a:p>
        </p:txBody>
      </p:sp>
      <p:sp>
        <p:nvSpPr>
          <p:cNvPr id="5" name="Text 3"/>
          <p:cNvSpPr/>
          <p:nvPr/>
        </p:nvSpPr>
        <p:spPr>
          <a:xfrm>
            <a:off x="812800" y="1998982"/>
            <a:ext cx="5080000" cy="391160"/>
          </a:xfrm>
          <a:prstGeom prst="roundRect">
            <a:avLst>
              <a:gd name="adj" fmla="val 16234"/>
            </a:avLst>
          </a:prstGeom>
          <a:solidFill>
            <a:srgbClr val="DCE6FA"/>
          </a:solidFill>
          <a:ln/>
        </p:spPr>
        <p:txBody>
          <a:bodyPr wrap="square" lIns="108401" tIns="70301" rIns="0" bIns="44901" rtlCol="0" anchor="t">
            <a:normAutofit/>
          </a:bodyPr>
          <a:lstStyle/>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COPY . .</a:t>
            </a:r>
            <a:endParaRPr lang="en-US" sz="1200" dirty="0"/>
          </a:p>
        </p:txBody>
      </p:sp>
      <p:sp>
        <p:nvSpPr>
          <p:cNvPr id="6" name="Text 4"/>
          <p:cNvSpPr/>
          <p:nvPr/>
        </p:nvSpPr>
        <p:spPr>
          <a:xfrm>
            <a:off x="812800" y="2440939"/>
            <a:ext cx="5080000" cy="391160"/>
          </a:xfrm>
          <a:prstGeom prst="roundRect">
            <a:avLst>
              <a:gd name="adj" fmla="val 16234"/>
            </a:avLst>
          </a:prstGeom>
          <a:solidFill>
            <a:srgbClr val="DCE6FA"/>
          </a:solidFill>
          <a:ln/>
        </p:spPr>
        <p:txBody>
          <a:bodyPr wrap="square" lIns="108401" tIns="70301" rIns="0" bIns="44901" rtlCol="0" anchor="t">
            <a:normAutofit/>
          </a:bodyPr>
          <a:lstStyle/>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RUN pip install -r requirements.txt</a:t>
            </a:r>
            <a:endParaRPr lang="en-US" sz="1200" dirty="0"/>
          </a:p>
        </p:txBody>
      </p:sp>
      <p:sp>
        <p:nvSpPr>
          <p:cNvPr id="7" name="Text 5"/>
          <p:cNvSpPr/>
          <p:nvPr/>
        </p:nvSpPr>
        <p:spPr>
          <a:xfrm>
            <a:off x="812800" y="2882900"/>
            <a:ext cx="5080000" cy="391160"/>
          </a:xfrm>
          <a:prstGeom prst="roundRect">
            <a:avLst>
              <a:gd name="adj" fmla="val 16234"/>
            </a:avLst>
          </a:prstGeom>
          <a:solidFill>
            <a:srgbClr val="DCE6FA"/>
          </a:solidFill>
          <a:ln/>
        </p:spPr>
        <p:txBody>
          <a:bodyPr wrap="square" lIns="108401" tIns="70301" rIns="0" bIns="44901" rtlCol="0" anchor="t">
            <a:normAutofit/>
          </a:bodyPr>
          <a:lstStyle/>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COPY requirements.txt .</a:t>
            </a:r>
            <a:endParaRPr lang="en-US" sz="1200" dirty="0"/>
          </a:p>
        </p:txBody>
      </p:sp>
      <p:sp>
        <p:nvSpPr>
          <p:cNvPr id="8" name="Text 6"/>
          <p:cNvSpPr/>
          <p:nvPr/>
        </p:nvSpPr>
        <p:spPr>
          <a:xfrm>
            <a:off x="812800" y="3324861"/>
            <a:ext cx="5080000" cy="391160"/>
          </a:xfrm>
          <a:prstGeom prst="roundRect">
            <a:avLst>
              <a:gd name="adj" fmla="val 16234"/>
            </a:avLst>
          </a:prstGeom>
          <a:solidFill>
            <a:srgbClr val="C3D4F2"/>
          </a:solidFill>
          <a:ln/>
        </p:spPr>
        <p:txBody>
          <a:bodyPr wrap="square" lIns="108401" tIns="70301" rIns="0" bIns="44901" rtlCol="0" anchor="t">
            <a:normAutofit/>
          </a:bodyPr>
          <a:lstStyle/>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FROM python:3.13-slim</a:t>
            </a:r>
            <a:endParaRPr lang="en-US" sz="1200" dirty="0"/>
          </a:p>
        </p:txBody>
      </p:sp>
      <p:sp>
        <p:nvSpPr>
          <p:cNvPr id="9" name="Text 7"/>
          <p:cNvSpPr/>
          <p:nvPr/>
        </p:nvSpPr>
        <p:spPr>
          <a:xfrm>
            <a:off x="812800" y="3817621"/>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Image myapi:1.0 — read-only layers, shared by both containers</a:t>
            </a:r>
            <a:endParaRPr lang="en-US" sz="1200" dirty="0"/>
          </a:p>
        </p:txBody>
      </p:sp>
      <p:sp>
        <p:nvSpPr>
          <p:cNvPr id="10" name="Text 8"/>
          <p:cNvSpPr/>
          <p:nvPr/>
        </p:nvSpPr>
        <p:spPr>
          <a:xfrm>
            <a:off x="6299200" y="1536700"/>
            <a:ext cx="5232400"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240"/>
                </a:solidFill>
                <a:latin typeface="IBM Plex Sans" pitchFamily="34" charset="0"/>
                <a:ea typeface="IBM Plex Sans" pitchFamily="34" charset="-122"/>
                <a:cs typeface="IBM Plex Sans" pitchFamily="34" charset="-120"/>
              </a:rPr>
              <a:t>Image</a:t>
            </a:r>
            <a:r>
              <a:rPr lang="en-US" sz="1400" dirty="0">
                <a:solidFill>
                  <a:srgbClr val="2B3240"/>
                </a:solidFill>
                <a:latin typeface="IBM Plex Sans" pitchFamily="34" charset="0"/>
                <a:ea typeface="IBM Plex Sans" pitchFamily="34" charset="-122"/>
                <a:cs typeface="IBM Plex Sans" pitchFamily="34" charset="-120"/>
              </a:rPr>
              <a:t> — a read-only template: ordered layers plus config (start command, env, ports).</a:t>
            </a:r>
            <a:endParaRPr lang="en-US" sz="1400" dirty="0"/>
          </a:p>
        </p:txBody>
      </p:sp>
      <p:sp>
        <p:nvSpPr>
          <p:cNvPr id="11" name="Text 9"/>
          <p:cNvSpPr/>
          <p:nvPr/>
        </p:nvSpPr>
        <p:spPr>
          <a:xfrm>
            <a:off x="6299200" y="2161539"/>
            <a:ext cx="5232400"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240"/>
                </a:solidFill>
                <a:latin typeface="IBM Plex Sans" pitchFamily="34" charset="0"/>
                <a:ea typeface="IBM Plex Sans" pitchFamily="34" charset="-122"/>
                <a:cs typeface="IBM Plex Sans" pitchFamily="34" charset="-120"/>
              </a:rPr>
              <a:t>Container</a:t>
            </a:r>
            <a:r>
              <a:rPr lang="en-US" sz="1400" dirty="0">
                <a:solidFill>
                  <a:srgbClr val="2B3240"/>
                </a:solidFill>
                <a:latin typeface="IBM Plex Sans" pitchFamily="34" charset="0"/>
                <a:ea typeface="IBM Plex Sans" pitchFamily="34" charset="-122"/>
                <a:cs typeface="IBM Plex Sans" pitchFamily="34" charset="-120"/>
              </a:rPr>
              <a:t> — a running instance of an image, with its own thin writable layer.</a:t>
            </a:r>
            <a:endParaRPr lang="en-US" sz="1400" dirty="0"/>
          </a:p>
        </p:txBody>
      </p:sp>
      <p:sp>
        <p:nvSpPr>
          <p:cNvPr id="12" name="Text 10"/>
          <p:cNvSpPr/>
          <p:nvPr/>
        </p:nvSpPr>
        <p:spPr>
          <a:xfrm>
            <a:off x="6299200" y="2786382"/>
            <a:ext cx="5232400"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240"/>
                </a:solidFill>
                <a:latin typeface="IBM Plex Sans" pitchFamily="34" charset="0"/>
                <a:ea typeface="IBM Plex Sans" pitchFamily="34" charset="-122"/>
                <a:cs typeface="IBM Plex Sans" pitchFamily="34" charset="-120"/>
              </a:rPr>
              <a:t>Shared layers</a:t>
            </a:r>
            <a:r>
              <a:rPr lang="en-US" sz="1400" dirty="0">
                <a:solidFill>
                  <a:srgbClr val="2B3240"/>
                </a:solidFill>
                <a:latin typeface="IBM Plex Sans" pitchFamily="34" charset="0"/>
                <a:ea typeface="IBM Plex Sans" pitchFamily="34" charset="-122"/>
                <a:cs typeface="IBM Plex Sans" pitchFamily="34" charset="-120"/>
              </a:rPr>
              <a:t> — many images and containers reuse the same layers on disk and when pulling.</a:t>
            </a:r>
            <a:endParaRPr lang="en-US" sz="1400" dirty="0"/>
          </a:p>
        </p:txBody>
      </p:sp>
      <p:sp>
        <p:nvSpPr>
          <p:cNvPr id="13" name="Text 11"/>
          <p:cNvSpPr/>
          <p:nvPr/>
        </p:nvSpPr>
        <p:spPr>
          <a:xfrm>
            <a:off x="6299200" y="3411221"/>
            <a:ext cx="5232400"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240"/>
                </a:solidFill>
                <a:latin typeface="IBM Plex Sans" pitchFamily="34" charset="0"/>
                <a:ea typeface="IBM Plex Sans" pitchFamily="34" charset="-122"/>
                <a:cs typeface="IBM Plex Sans" pitchFamily="34" charset="-120"/>
              </a:rPr>
              <a:t>Copy-on-write</a:t>
            </a:r>
            <a:r>
              <a:rPr lang="en-US" sz="1400" dirty="0">
                <a:solidFill>
                  <a:srgbClr val="2B3240"/>
                </a:solidFill>
                <a:latin typeface="IBM Plex Sans" pitchFamily="34" charset="0"/>
                <a:ea typeface="IBM Plex Sans" pitchFamily="34" charset="-122"/>
                <a:cs typeface="IBM Plex Sans" pitchFamily="34" charset="-120"/>
              </a:rPr>
              <a:t> — editing a file copies it into the writable layer, which is deleted with the container.</a:t>
            </a:r>
            <a:endParaRPr lang="en-US" sz="1400" dirty="0"/>
          </a:p>
        </p:txBody>
      </p:sp>
      <p:sp>
        <p:nvSpPr>
          <p:cNvPr id="14" name="Text 12"/>
          <p:cNvSpPr/>
          <p:nvPr/>
        </p:nvSpPr>
        <p:spPr>
          <a:xfrm>
            <a:off x="6299200" y="4036064"/>
            <a:ext cx="52324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D6470"/>
                </a:solidFill>
                <a:latin typeface="IBM Plex Sans" pitchFamily="34" charset="0"/>
                <a:ea typeface="IBM Plex Sans" pitchFamily="34" charset="-122"/>
                <a:cs typeface="IBM Plex Sans" pitchFamily="34" charset="-120"/>
              </a:rPr>
              <a:t>Analogy: image = class, container = object.</a:t>
            </a:r>
            <a:endParaRPr lang="en-US" sz="1400" dirty="0"/>
          </a:p>
        </p:txBody>
      </p:sp>
      <p:sp>
        <p:nvSpPr>
          <p:cNvPr id="15" name="Text 13"/>
          <p:cNvSpPr/>
          <p:nvPr/>
        </p:nvSpPr>
        <p:spPr>
          <a:xfrm>
            <a:off x="812800" y="6238242"/>
            <a:ext cx="29576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Docker Fundamentals · Foundations</a:t>
            </a:r>
            <a:endParaRPr lang="en-US" sz="1200" dirty="0"/>
          </a:p>
        </p:txBody>
      </p:sp>
      <p:sp>
        <p:nvSpPr>
          <p:cNvPr id="16" name="Text 14"/>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Registries, tags and digests</a:t>
            </a:r>
            <a:endParaRPr lang="en-US" sz="3000" dirty="0"/>
          </a:p>
        </p:txBody>
      </p:sp>
      <p:sp>
        <p:nvSpPr>
          <p:cNvPr id="3" name="Shape 1"/>
          <p:cNvSpPr/>
          <p:nvPr/>
        </p:nvSpPr>
        <p:spPr>
          <a:xfrm>
            <a:off x="812800" y="1485900"/>
            <a:ext cx="10566400" cy="1092200"/>
          </a:xfrm>
          <a:prstGeom prst="roundRect">
            <a:avLst>
              <a:gd name="adj" fmla="val 9302"/>
            </a:avLst>
          </a:prstGeom>
          <a:solidFill>
            <a:srgbClr val="161B26"/>
          </a:solidFill>
          <a:ln/>
        </p:spPr>
      </p:sp>
      <p:sp>
        <p:nvSpPr>
          <p:cNvPr id="4" name="Text 2"/>
          <p:cNvSpPr/>
          <p:nvPr/>
        </p:nvSpPr>
        <p:spPr>
          <a:xfrm>
            <a:off x="1117600" y="1714500"/>
            <a:ext cx="10255504" cy="345440"/>
          </a:xfrm>
          <a:prstGeom prst="rect">
            <a:avLst/>
          </a:prstGeom>
          <a:noFill/>
          <a:ln/>
        </p:spPr>
        <p:txBody>
          <a:bodyPr wrap="none" lIns="0" tIns="0" rIns="0" bIns="0" rtlCol="0" anchor="t">
            <a:normAutofit/>
          </a:bodyPr>
          <a:lstStyle/>
          <a:p>
            <a:pPr algn="l" indent="0" marL="0">
              <a:lnSpc>
                <a:spcPts val="2520"/>
              </a:lnSpc>
              <a:buNone/>
            </a:pPr>
            <a:r>
              <a:rPr lang="en-US" sz="1800" dirty="0">
                <a:solidFill>
                  <a:srgbClr val="8EBBFF"/>
                </a:solidFill>
                <a:latin typeface="JetBrains Mono" pitchFamily="49" charset="0"/>
                <a:ea typeface="JetBrains Mono" pitchFamily="49" charset="-122"/>
                <a:cs typeface="JetBrains Mono" pitchFamily="49" charset="-120"/>
              </a:rPr>
              <a:t>ghcr.io</a:t>
            </a:r>
            <a:r>
              <a:rPr lang="en-US" sz="1800" dirty="0">
                <a:solidFill>
                  <a:srgbClr val="E4E7EC"/>
                </a:solidFill>
                <a:latin typeface="JetBrains Mono" pitchFamily="49" charset="0"/>
                <a:ea typeface="JetBrains Mono" pitchFamily="49" charset="-122"/>
                <a:cs typeface="JetBrains Mono" pitchFamily="49" charset="-120"/>
              </a:rPr>
              <a:t>/acme/web</a:t>
            </a:r>
            <a:r>
              <a:rPr lang="en-US" sz="1800" dirty="0">
                <a:solidFill>
                  <a:srgbClr val="8EBBFF"/>
                </a:solidFill>
                <a:latin typeface="JetBrains Mono" pitchFamily="49" charset="0"/>
                <a:ea typeface="JetBrains Mono" pitchFamily="49" charset="-122"/>
                <a:cs typeface="JetBrains Mono" pitchFamily="49" charset="-120"/>
              </a:rPr>
              <a:t>:1.4.2</a:t>
            </a:r>
            <a:r>
              <a:rPr lang="en-US" sz="1800" dirty="0">
                <a:solidFill>
                  <a:srgbClr val="9AA3B2"/>
                </a:solidFill>
                <a:latin typeface="JetBrains Mono" pitchFamily="49" charset="0"/>
                <a:ea typeface="JetBrains Mono" pitchFamily="49" charset="-122"/>
                <a:cs typeface="JetBrains Mono" pitchFamily="49" charset="-120"/>
              </a:rPr>
              <a:t>@sha256:9f2c…</a:t>
            </a:r>
            <a:endParaRPr lang="en-US" sz="1800" dirty="0"/>
          </a:p>
        </p:txBody>
      </p:sp>
      <p:sp>
        <p:nvSpPr>
          <p:cNvPr id="5" name="Text 3"/>
          <p:cNvSpPr/>
          <p:nvPr/>
        </p:nvSpPr>
        <p:spPr>
          <a:xfrm>
            <a:off x="1117600" y="2136142"/>
            <a:ext cx="1025550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9AA3B2"/>
                </a:solidFill>
                <a:latin typeface="JetBrains Mono" pitchFamily="49" charset="0"/>
                <a:ea typeface="JetBrains Mono" pitchFamily="49" charset="-122"/>
                <a:cs typeface="JetBrains Mono" pitchFamily="49" charset="-120"/>
              </a:rPr>
              <a:t>registry / namespace / repository : tag @ digest</a:t>
            </a:r>
            <a:endParaRPr lang="en-US" sz="1200" dirty="0"/>
          </a:p>
        </p:txBody>
      </p:sp>
      <p:sp>
        <p:nvSpPr>
          <p:cNvPr id="6" name="Shape 4"/>
          <p:cNvSpPr/>
          <p:nvPr/>
        </p:nvSpPr>
        <p:spPr>
          <a:xfrm>
            <a:off x="815975" y="2835275"/>
            <a:ext cx="5175250" cy="1507490"/>
          </a:xfrm>
          <a:prstGeom prst="roundRect">
            <a:avLst>
              <a:gd name="adj" fmla="val 6529"/>
            </a:avLst>
          </a:prstGeom>
          <a:solidFill>
            <a:srgbClr val="FDFCFA"/>
          </a:solidFill>
          <a:ln w="6350">
            <a:solidFill>
              <a:srgbClr val="E2DED5"/>
            </a:solidFill>
            <a:prstDash val="solid"/>
          </a:ln>
        </p:spPr>
      </p:sp>
      <p:sp>
        <p:nvSpPr>
          <p:cNvPr id="7" name="Text 5"/>
          <p:cNvSpPr/>
          <p:nvPr/>
        </p:nvSpPr>
        <p:spPr>
          <a:xfrm>
            <a:off x="1046480" y="3040379"/>
            <a:ext cx="485566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Tag — mutable</a:t>
            </a:r>
            <a:endParaRPr lang="en-US" sz="1800" dirty="0"/>
          </a:p>
        </p:txBody>
      </p:sp>
      <p:sp>
        <p:nvSpPr>
          <p:cNvPr id="8" name="Text 6"/>
          <p:cNvSpPr/>
          <p:nvPr/>
        </p:nvSpPr>
        <p:spPr>
          <a:xfrm>
            <a:off x="1046480" y="3390900"/>
            <a:ext cx="4855667"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A friendly name such as 1.4.2 or latest. It can be moved to a different image at any time. </a:t>
            </a:r>
            <a:r>
              <a:rPr lang="en-US" sz="1400" b="1" dirty="0">
                <a:solidFill>
                  <a:srgbClr val="2B3240"/>
                </a:solidFill>
                <a:latin typeface="IBM Plex Sans" pitchFamily="34" charset="0"/>
                <a:ea typeface="IBM Plex Sans" pitchFamily="34" charset="-122"/>
                <a:cs typeface="IBM Plex Sans" pitchFamily="34" charset="-120"/>
              </a:rPr>
              <a:t>latest</a:t>
            </a:r>
            <a:r>
              <a:rPr lang="en-US" sz="1400" dirty="0">
                <a:solidFill>
                  <a:srgbClr val="2B3240"/>
                </a:solidFill>
                <a:latin typeface="IBM Plex Sans" pitchFamily="34" charset="0"/>
                <a:ea typeface="IBM Plex Sans" pitchFamily="34" charset="-122"/>
                <a:cs typeface="IBM Plex Sans" pitchFamily="34" charset="-120"/>
              </a:rPr>
              <a:t> is only the default tag, not “the newest”.</a:t>
            </a:r>
            <a:endParaRPr lang="en-US" sz="1400" dirty="0"/>
          </a:p>
        </p:txBody>
      </p:sp>
      <p:sp>
        <p:nvSpPr>
          <p:cNvPr id="9" name="Shape 7"/>
          <p:cNvSpPr/>
          <p:nvPr/>
        </p:nvSpPr>
        <p:spPr>
          <a:xfrm>
            <a:off x="6200775" y="2835275"/>
            <a:ext cx="5175250" cy="1507490"/>
          </a:xfrm>
          <a:prstGeom prst="roundRect">
            <a:avLst>
              <a:gd name="adj" fmla="val 6529"/>
            </a:avLst>
          </a:prstGeom>
          <a:solidFill>
            <a:srgbClr val="FDFCFA"/>
          </a:solidFill>
          <a:ln w="6350">
            <a:solidFill>
              <a:srgbClr val="E2DED5"/>
            </a:solidFill>
            <a:prstDash val="solid"/>
          </a:ln>
        </p:spPr>
      </p:sp>
      <p:sp>
        <p:nvSpPr>
          <p:cNvPr id="10" name="Text 8"/>
          <p:cNvSpPr/>
          <p:nvPr/>
        </p:nvSpPr>
        <p:spPr>
          <a:xfrm>
            <a:off x="6431280" y="3040379"/>
            <a:ext cx="485566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Digest — immutable</a:t>
            </a:r>
            <a:endParaRPr lang="en-US" sz="1800" dirty="0"/>
          </a:p>
        </p:txBody>
      </p:sp>
      <p:sp>
        <p:nvSpPr>
          <p:cNvPr id="11" name="Text 9"/>
          <p:cNvSpPr/>
          <p:nvPr/>
        </p:nvSpPr>
        <p:spPr>
          <a:xfrm>
            <a:off x="6431280" y="3390900"/>
            <a:ext cx="4855667"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A SHA-256 hash of the image manifest. It always means exactly the same content — pin digests for reproducible deployments.</a:t>
            </a:r>
            <a:endParaRPr lang="en-US" sz="1400" dirty="0"/>
          </a:p>
        </p:txBody>
      </p:sp>
      <p:sp>
        <p:nvSpPr>
          <p:cNvPr id="12" name="Text 10"/>
          <p:cNvSpPr/>
          <p:nvPr/>
        </p:nvSpPr>
        <p:spPr>
          <a:xfrm>
            <a:off x="812800" y="4599942"/>
            <a:ext cx="10883392"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240"/>
                </a:solidFill>
                <a:latin typeface="IBM Plex Sans" pitchFamily="34" charset="0"/>
                <a:ea typeface="IBM Plex Sans" pitchFamily="34" charset="-122"/>
                <a:cs typeface="IBM Plex Sans" pitchFamily="34" charset="-120"/>
              </a:rPr>
              <a:t>Registries:</a:t>
            </a:r>
            <a:r>
              <a:rPr lang="en-US" sz="1400" dirty="0">
                <a:solidFill>
                  <a:srgbClr val="2B3240"/>
                </a:solidFill>
                <a:latin typeface="IBM Plex Sans" pitchFamily="34" charset="0"/>
                <a:ea typeface="IBM Plex Sans" pitchFamily="34" charset="-122"/>
                <a:cs typeface="IBM Plex Sans" pitchFamily="34" charset="-120"/>
              </a:rPr>
              <a:t> Docker Hub (the default), GitHub Container Registry, Amazon ECR, Google Artifact Registry, Azure Container Registry, Harbor. </a:t>
            </a:r>
            <a:r>
              <a:rPr lang="en-US" sz="1400" dirty="0">
                <a:solidFill>
                  <a:srgbClr val="5D6470"/>
                </a:solidFill>
                <a:latin typeface="IBM Plex Sans" pitchFamily="34" charset="0"/>
                <a:ea typeface="IBM Plex Sans" pitchFamily="34" charset="-122"/>
                <a:cs typeface="IBM Plex Sans" pitchFamily="34" charset="-120"/>
              </a:rPr>
              <a:t>nginx is short for docker.io/library/nginx:latest.</a:t>
            </a:r>
            <a:endParaRPr lang="en-US" sz="1400" dirty="0"/>
          </a:p>
        </p:txBody>
      </p:sp>
      <p:sp>
        <p:nvSpPr>
          <p:cNvPr id="13" name="Text 11"/>
          <p:cNvSpPr/>
          <p:nvPr/>
        </p:nvSpPr>
        <p:spPr>
          <a:xfrm>
            <a:off x="812800" y="6238242"/>
            <a:ext cx="29576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Docker Fundamentals · Foundations</a:t>
            </a:r>
            <a:endParaRPr lang="en-US" sz="1200" dirty="0"/>
          </a:p>
        </p:txBody>
      </p:sp>
      <p:sp>
        <p:nvSpPr>
          <p:cNvPr id="14" name="Text 12"/>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Core CLI commands</a:t>
            </a:r>
            <a:endParaRPr lang="en-US" sz="3000" dirty="0"/>
          </a:p>
        </p:txBody>
      </p:sp>
      <p:sp>
        <p:nvSpPr>
          <p:cNvPr id="3" name="Text 1"/>
          <p:cNvSpPr/>
          <p:nvPr/>
        </p:nvSpPr>
        <p:spPr>
          <a:xfrm>
            <a:off x="812800" y="1485900"/>
            <a:ext cx="10566400" cy="576580"/>
          </a:xfrm>
          <a:prstGeom prst="roundRect">
            <a:avLst>
              <a:gd name="adj" fmla="val 17621"/>
            </a:avLst>
          </a:prstGeom>
          <a:solidFill>
            <a:srgbClr val="161B26"/>
          </a:solidFill>
          <a:ln/>
        </p:spPr>
        <p:txBody>
          <a:bodyPr wrap="none" lIns="224242" tIns="148042" rIns="0" bIns="1226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docker run -d --name web -p 8080:80 nginx:1.27 </a:t>
            </a:r>
            <a:r>
              <a:rPr lang="en-US" sz="1200" dirty="0">
                <a:solidFill>
                  <a:srgbClr val="8C95A5"/>
                </a:solidFill>
                <a:latin typeface="JetBrains Mono" pitchFamily="49" charset="0"/>
                <a:ea typeface="JetBrains Mono" pitchFamily="49" charset="-122"/>
                <a:cs typeface="JetBrains Mono" pitchFamily="49" charset="-120"/>
              </a:rPr>
              <a:t>  # create + start, in the background, on :8080</a:t>
            </a:r>
            <a:endParaRPr lang="en-US" sz="1200" dirty="0"/>
          </a:p>
        </p:txBody>
      </p:sp>
      <p:sp>
        <p:nvSpPr>
          <p:cNvPr id="4" name="Text 2"/>
          <p:cNvSpPr/>
          <p:nvPr/>
        </p:nvSpPr>
        <p:spPr>
          <a:xfrm>
            <a:off x="812800" y="2316479"/>
            <a:ext cx="575564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Everyday commands</a:t>
            </a:r>
            <a:endParaRPr lang="en-US" sz="1800" dirty="0"/>
          </a:p>
        </p:txBody>
      </p:sp>
      <p:sp>
        <p:nvSpPr>
          <p:cNvPr id="5" name="Shape 3"/>
          <p:cNvSpPr/>
          <p:nvPr/>
        </p:nvSpPr>
        <p:spPr>
          <a:xfrm>
            <a:off x="812800" y="2983865"/>
            <a:ext cx="5588000" cy="0"/>
          </a:xfrm>
          <a:prstGeom prst="line">
            <a:avLst/>
          </a:prstGeom>
          <a:noFill/>
          <a:ln w="6350">
            <a:solidFill>
              <a:srgbClr val="E2DED5"/>
            </a:solidFill>
            <a:prstDash val="solid"/>
          </a:ln>
        </p:spPr>
      </p:sp>
      <p:sp>
        <p:nvSpPr>
          <p:cNvPr id="6" name="Text 4"/>
          <p:cNvSpPr/>
          <p:nvPr/>
        </p:nvSpPr>
        <p:spPr>
          <a:xfrm>
            <a:off x="812800" y="2717800"/>
            <a:ext cx="22237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docker ps</a:t>
            </a:r>
            <a:endParaRPr lang="en-US" sz="1200" dirty="0"/>
          </a:p>
        </p:txBody>
      </p:sp>
      <p:sp>
        <p:nvSpPr>
          <p:cNvPr id="7" name="Text 5"/>
          <p:cNvSpPr/>
          <p:nvPr/>
        </p:nvSpPr>
        <p:spPr>
          <a:xfrm>
            <a:off x="3124200" y="2717800"/>
            <a:ext cx="337489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List running containers (-a: all)</a:t>
            </a:r>
            <a:endParaRPr lang="en-US" sz="1200" dirty="0"/>
          </a:p>
        </p:txBody>
      </p:sp>
      <p:sp>
        <p:nvSpPr>
          <p:cNvPr id="8" name="Shape 6"/>
          <p:cNvSpPr/>
          <p:nvPr/>
        </p:nvSpPr>
        <p:spPr>
          <a:xfrm>
            <a:off x="812800" y="3303907"/>
            <a:ext cx="5588000" cy="0"/>
          </a:xfrm>
          <a:prstGeom prst="line">
            <a:avLst/>
          </a:prstGeom>
          <a:noFill/>
          <a:ln w="6350">
            <a:solidFill>
              <a:srgbClr val="E2DED5"/>
            </a:solidFill>
            <a:prstDash val="solid"/>
          </a:ln>
        </p:spPr>
      </p:sp>
      <p:sp>
        <p:nvSpPr>
          <p:cNvPr id="9" name="Text 7"/>
          <p:cNvSpPr/>
          <p:nvPr/>
        </p:nvSpPr>
        <p:spPr>
          <a:xfrm>
            <a:off x="812800" y="3037842"/>
            <a:ext cx="22237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docker logs -f web</a:t>
            </a:r>
            <a:endParaRPr lang="en-US" sz="1200" dirty="0"/>
          </a:p>
        </p:txBody>
      </p:sp>
      <p:sp>
        <p:nvSpPr>
          <p:cNvPr id="10" name="Text 8"/>
          <p:cNvSpPr/>
          <p:nvPr/>
        </p:nvSpPr>
        <p:spPr>
          <a:xfrm>
            <a:off x="3124200" y="3037842"/>
            <a:ext cx="337489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Follow a container’s output</a:t>
            </a:r>
            <a:endParaRPr lang="en-US" sz="1200" dirty="0"/>
          </a:p>
        </p:txBody>
      </p:sp>
      <p:sp>
        <p:nvSpPr>
          <p:cNvPr id="11" name="Shape 9"/>
          <p:cNvSpPr/>
          <p:nvPr/>
        </p:nvSpPr>
        <p:spPr>
          <a:xfrm>
            <a:off x="812800" y="3623944"/>
            <a:ext cx="5588000" cy="0"/>
          </a:xfrm>
          <a:prstGeom prst="line">
            <a:avLst/>
          </a:prstGeom>
          <a:noFill/>
          <a:ln w="6350">
            <a:solidFill>
              <a:srgbClr val="E2DED5"/>
            </a:solidFill>
            <a:prstDash val="solid"/>
          </a:ln>
        </p:spPr>
      </p:sp>
      <p:sp>
        <p:nvSpPr>
          <p:cNvPr id="12" name="Text 10"/>
          <p:cNvSpPr/>
          <p:nvPr/>
        </p:nvSpPr>
        <p:spPr>
          <a:xfrm>
            <a:off x="812800" y="3357879"/>
            <a:ext cx="22237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docker exec -it web sh</a:t>
            </a:r>
            <a:endParaRPr lang="en-US" sz="1200" dirty="0"/>
          </a:p>
        </p:txBody>
      </p:sp>
      <p:sp>
        <p:nvSpPr>
          <p:cNvPr id="13" name="Text 11"/>
          <p:cNvSpPr/>
          <p:nvPr/>
        </p:nvSpPr>
        <p:spPr>
          <a:xfrm>
            <a:off x="3124200" y="3357879"/>
            <a:ext cx="337489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Open a shell inside it</a:t>
            </a:r>
            <a:endParaRPr lang="en-US" sz="1200" dirty="0"/>
          </a:p>
        </p:txBody>
      </p:sp>
      <p:sp>
        <p:nvSpPr>
          <p:cNvPr id="14" name="Shape 12"/>
          <p:cNvSpPr/>
          <p:nvPr/>
        </p:nvSpPr>
        <p:spPr>
          <a:xfrm>
            <a:off x="812800" y="3943986"/>
            <a:ext cx="5588000" cy="0"/>
          </a:xfrm>
          <a:prstGeom prst="line">
            <a:avLst/>
          </a:prstGeom>
          <a:noFill/>
          <a:ln w="6350">
            <a:solidFill>
              <a:srgbClr val="E2DED5"/>
            </a:solidFill>
            <a:prstDash val="solid"/>
          </a:ln>
        </p:spPr>
      </p:sp>
      <p:sp>
        <p:nvSpPr>
          <p:cNvPr id="15" name="Text 13"/>
          <p:cNvSpPr/>
          <p:nvPr/>
        </p:nvSpPr>
        <p:spPr>
          <a:xfrm>
            <a:off x="812800" y="3677921"/>
            <a:ext cx="22237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docker inspect web</a:t>
            </a:r>
            <a:endParaRPr lang="en-US" sz="1200" dirty="0"/>
          </a:p>
        </p:txBody>
      </p:sp>
      <p:sp>
        <p:nvSpPr>
          <p:cNvPr id="16" name="Text 14"/>
          <p:cNvSpPr/>
          <p:nvPr/>
        </p:nvSpPr>
        <p:spPr>
          <a:xfrm>
            <a:off x="3124200" y="3677921"/>
            <a:ext cx="337489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Full JSON details</a:t>
            </a:r>
            <a:endParaRPr lang="en-US" sz="1200" dirty="0"/>
          </a:p>
        </p:txBody>
      </p:sp>
      <p:sp>
        <p:nvSpPr>
          <p:cNvPr id="17" name="Shape 15"/>
          <p:cNvSpPr/>
          <p:nvPr/>
        </p:nvSpPr>
        <p:spPr>
          <a:xfrm>
            <a:off x="812800" y="4264029"/>
            <a:ext cx="5588000" cy="0"/>
          </a:xfrm>
          <a:prstGeom prst="line">
            <a:avLst/>
          </a:prstGeom>
          <a:noFill/>
          <a:ln w="6350">
            <a:solidFill>
              <a:srgbClr val="E2DED5"/>
            </a:solidFill>
            <a:prstDash val="solid"/>
          </a:ln>
        </p:spPr>
      </p:sp>
      <p:sp>
        <p:nvSpPr>
          <p:cNvPr id="18" name="Text 16"/>
          <p:cNvSpPr/>
          <p:nvPr/>
        </p:nvSpPr>
        <p:spPr>
          <a:xfrm>
            <a:off x="812800" y="3997964"/>
            <a:ext cx="22237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docker stop web</a:t>
            </a:r>
            <a:endParaRPr lang="en-US" sz="1200" dirty="0"/>
          </a:p>
        </p:txBody>
      </p:sp>
      <p:sp>
        <p:nvSpPr>
          <p:cNvPr id="19" name="Text 17"/>
          <p:cNvSpPr/>
          <p:nvPr/>
        </p:nvSpPr>
        <p:spPr>
          <a:xfrm>
            <a:off x="3124200" y="3997964"/>
            <a:ext cx="337489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Graceful stop</a:t>
            </a:r>
            <a:endParaRPr lang="en-US" sz="1200" dirty="0"/>
          </a:p>
        </p:txBody>
      </p:sp>
      <p:sp>
        <p:nvSpPr>
          <p:cNvPr id="20" name="Shape 18"/>
          <p:cNvSpPr/>
          <p:nvPr/>
        </p:nvSpPr>
        <p:spPr>
          <a:xfrm>
            <a:off x="812800" y="4584065"/>
            <a:ext cx="5588000" cy="0"/>
          </a:xfrm>
          <a:prstGeom prst="line">
            <a:avLst/>
          </a:prstGeom>
          <a:noFill/>
          <a:ln w="6350">
            <a:solidFill>
              <a:srgbClr val="E2DED5"/>
            </a:solidFill>
            <a:prstDash val="solid"/>
          </a:ln>
        </p:spPr>
      </p:sp>
      <p:sp>
        <p:nvSpPr>
          <p:cNvPr id="21" name="Text 19"/>
          <p:cNvSpPr/>
          <p:nvPr/>
        </p:nvSpPr>
        <p:spPr>
          <a:xfrm>
            <a:off x="812800" y="4318000"/>
            <a:ext cx="22237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docker start web</a:t>
            </a:r>
            <a:endParaRPr lang="en-US" sz="1200" dirty="0"/>
          </a:p>
        </p:txBody>
      </p:sp>
      <p:sp>
        <p:nvSpPr>
          <p:cNvPr id="22" name="Text 20"/>
          <p:cNvSpPr/>
          <p:nvPr/>
        </p:nvSpPr>
        <p:spPr>
          <a:xfrm>
            <a:off x="3124200" y="4318000"/>
            <a:ext cx="337489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Start it again</a:t>
            </a:r>
            <a:endParaRPr lang="en-US" sz="1200" dirty="0"/>
          </a:p>
        </p:txBody>
      </p:sp>
      <p:sp>
        <p:nvSpPr>
          <p:cNvPr id="23" name="Shape 21"/>
          <p:cNvSpPr/>
          <p:nvPr/>
        </p:nvSpPr>
        <p:spPr>
          <a:xfrm>
            <a:off x="812800" y="4904107"/>
            <a:ext cx="5588000" cy="0"/>
          </a:xfrm>
          <a:prstGeom prst="line">
            <a:avLst/>
          </a:prstGeom>
          <a:noFill/>
          <a:ln w="6350">
            <a:solidFill>
              <a:srgbClr val="E2DED5"/>
            </a:solidFill>
            <a:prstDash val="solid"/>
          </a:ln>
        </p:spPr>
      </p:sp>
      <p:sp>
        <p:nvSpPr>
          <p:cNvPr id="24" name="Text 22"/>
          <p:cNvSpPr/>
          <p:nvPr/>
        </p:nvSpPr>
        <p:spPr>
          <a:xfrm>
            <a:off x="812800" y="4638042"/>
            <a:ext cx="22237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docker rm web</a:t>
            </a:r>
            <a:endParaRPr lang="en-US" sz="1200" dirty="0"/>
          </a:p>
        </p:txBody>
      </p:sp>
      <p:sp>
        <p:nvSpPr>
          <p:cNvPr id="25" name="Text 23"/>
          <p:cNvSpPr/>
          <p:nvPr/>
        </p:nvSpPr>
        <p:spPr>
          <a:xfrm>
            <a:off x="3124200" y="4638042"/>
            <a:ext cx="337489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Remove it (-f: even if running)</a:t>
            </a:r>
            <a:endParaRPr lang="en-US" sz="1200" dirty="0"/>
          </a:p>
        </p:txBody>
      </p:sp>
      <p:sp>
        <p:nvSpPr>
          <p:cNvPr id="26" name="Shape 24"/>
          <p:cNvSpPr/>
          <p:nvPr/>
        </p:nvSpPr>
        <p:spPr>
          <a:xfrm>
            <a:off x="812800" y="5224144"/>
            <a:ext cx="5588000" cy="0"/>
          </a:xfrm>
          <a:prstGeom prst="line">
            <a:avLst/>
          </a:prstGeom>
          <a:noFill/>
          <a:ln w="6350">
            <a:solidFill>
              <a:srgbClr val="E2DED5"/>
            </a:solidFill>
            <a:prstDash val="solid"/>
          </a:ln>
        </p:spPr>
      </p:sp>
      <p:sp>
        <p:nvSpPr>
          <p:cNvPr id="27" name="Text 25"/>
          <p:cNvSpPr/>
          <p:nvPr/>
        </p:nvSpPr>
        <p:spPr>
          <a:xfrm>
            <a:off x="812800" y="4958079"/>
            <a:ext cx="22237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docker images</a:t>
            </a:r>
            <a:endParaRPr lang="en-US" sz="1200" dirty="0"/>
          </a:p>
        </p:txBody>
      </p:sp>
      <p:sp>
        <p:nvSpPr>
          <p:cNvPr id="28" name="Text 26"/>
          <p:cNvSpPr/>
          <p:nvPr/>
        </p:nvSpPr>
        <p:spPr>
          <a:xfrm>
            <a:off x="3124200" y="4958079"/>
            <a:ext cx="337489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List local images</a:t>
            </a:r>
            <a:endParaRPr lang="en-US" sz="1200" dirty="0"/>
          </a:p>
        </p:txBody>
      </p:sp>
      <p:sp>
        <p:nvSpPr>
          <p:cNvPr id="29" name="Shape 27"/>
          <p:cNvSpPr/>
          <p:nvPr/>
        </p:nvSpPr>
        <p:spPr>
          <a:xfrm>
            <a:off x="812800" y="5544186"/>
            <a:ext cx="5588000" cy="0"/>
          </a:xfrm>
          <a:prstGeom prst="line">
            <a:avLst/>
          </a:prstGeom>
          <a:noFill/>
          <a:ln w="6350">
            <a:solidFill>
              <a:srgbClr val="E2DED5"/>
            </a:solidFill>
            <a:prstDash val="solid"/>
          </a:ln>
        </p:spPr>
      </p:sp>
      <p:sp>
        <p:nvSpPr>
          <p:cNvPr id="30" name="Text 28"/>
          <p:cNvSpPr/>
          <p:nvPr/>
        </p:nvSpPr>
        <p:spPr>
          <a:xfrm>
            <a:off x="812800" y="5278121"/>
            <a:ext cx="22237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docker rmi nginx:1.27</a:t>
            </a:r>
            <a:endParaRPr lang="en-US" sz="1200" dirty="0"/>
          </a:p>
        </p:txBody>
      </p:sp>
      <p:sp>
        <p:nvSpPr>
          <p:cNvPr id="31" name="Text 29"/>
          <p:cNvSpPr/>
          <p:nvPr/>
        </p:nvSpPr>
        <p:spPr>
          <a:xfrm>
            <a:off x="3124200" y="5278121"/>
            <a:ext cx="337489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Remove an image</a:t>
            </a:r>
            <a:endParaRPr lang="en-US" sz="1200" dirty="0"/>
          </a:p>
        </p:txBody>
      </p:sp>
      <p:sp>
        <p:nvSpPr>
          <p:cNvPr id="32" name="Text 30"/>
          <p:cNvSpPr/>
          <p:nvPr/>
        </p:nvSpPr>
        <p:spPr>
          <a:xfrm>
            <a:off x="6807200" y="2316479"/>
            <a:ext cx="470916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Flags you’ll use daily</a:t>
            </a:r>
            <a:endParaRPr lang="en-US" sz="1800" dirty="0"/>
          </a:p>
        </p:txBody>
      </p:sp>
      <p:sp>
        <p:nvSpPr>
          <p:cNvPr id="33" name="Shape 31"/>
          <p:cNvSpPr/>
          <p:nvPr/>
        </p:nvSpPr>
        <p:spPr>
          <a:xfrm>
            <a:off x="6807200" y="2983865"/>
            <a:ext cx="4572000" cy="0"/>
          </a:xfrm>
          <a:prstGeom prst="line">
            <a:avLst/>
          </a:prstGeom>
          <a:noFill/>
          <a:ln w="6350">
            <a:solidFill>
              <a:srgbClr val="E2DED5"/>
            </a:solidFill>
            <a:prstDash val="solid"/>
          </a:ln>
        </p:spPr>
      </p:sp>
      <p:sp>
        <p:nvSpPr>
          <p:cNvPr id="34" name="Text 32"/>
          <p:cNvSpPr/>
          <p:nvPr/>
        </p:nvSpPr>
        <p:spPr>
          <a:xfrm>
            <a:off x="6807200" y="2717800"/>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5FC4"/>
                </a:solidFill>
                <a:latin typeface="JetBrains Mono" pitchFamily="49" charset="0"/>
                <a:ea typeface="JetBrains Mono" pitchFamily="49" charset="-122"/>
                <a:cs typeface="JetBrains Mono" pitchFamily="49" charset="-120"/>
              </a:rPr>
              <a:t>-d</a:t>
            </a:r>
            <a:endParaRPr lang="en-US" sz="1200" dirty="0"/>
          </a:p>
        </p:txBody>
      </p:sp>
      <p:sp>
        <p:nvSpPr>
          <p:cNvPr id="35" name="Text 33"/>
          <p:cNvSpPr/>
          <p:nvPr/>
        </p:nvSpPr>
        <p:spPr>
          <a:xfrm>
            <a:off x="7721600" y="2717800"/>
            <a:ext cx="37673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Run detached, in the background</a:t>
            </a:r>
            <a:endParaRPr lang="en-US" sz="1200" dirty="0"/>
          </a:p>
        </p:txBody>
      </p:sp>
      <p:sp>
        <p:nvSpPr>
          <p:cNvPr id="36" name="Shape 34"/>
          <p:cNvSpPr/>
          <p:nvPr/>
        </p:nvSpPr>
        <p:spPr>
          <a:xfrm>
            <a:off x="6807200" y="3303907"/>
            <a:ext cx="4572000" cy="0"/>
          </a:xfrm>
          <a:prstGeom prst="line">
            <a:avLst/>
          </a:prstGeom>
          <a:noFill/>
          <a:ln w="6350">
            <a:solidFill>
              <a:srgbClr val="E2DED5"/>
            </a:solidFill>
            <a:prstDash val="solid"/>
          </a:ln>
        </p:spPr>
      </p:sp>
      <p:sp>
        <p:nvSpPr>
          <p:cNvPr id="37" name="Text 35"/>
          <p:cNvSpPr/>
          <p:nvPr/>
        </p:nvSpPr>
        <p:spPr>
          <a:xfrm>
            <a:off x="6807200" y="3037842"/>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5FC4"/>
                </a:solidFill>
                <a:latin typeface="JetBrains Mono" pitchFamily="49" charset="0"/>
                <a:ea typeface="JetBrains Mono" pitchFamily="49" charset="-122"/>
                <a:cs typeface="JetBrains Mono" pitchFamily="49" charset="-120"/>
              </a:rPr>
              <a:t>-it</a:t>
            </a:r>
            <a:endParaRPr lang="en-US" sz="1200" dirty="0"/>
          </a:p>
        </p:txBody>
      </p:sp>
      <p:sp>
        <p:nvSpPr>
          <p:cNvPr id="38" name="Text 36"/>
          <p:cNvSpPr/>
          <p:nvPr/>
        </p:nvSpPr>
        <p:spPr>
          <a:xfrm>
            <a:off x="7721600" y="3037842"/>
            <a:ext cx="37673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Interactive terminal</a:t>
            </a:r>
            <a:endParaRPr lang="en-US" sz="1200" dirty="0"/>
          </a:p>
        </p:txBody>
      </p:sp>
      <p:sp>
        <p:nvSpPr>
          <p:cNvPr id="39" name="Shape 37"/>
          <p:cNvSpPr/>
          <p:nvPr/>
        </p:nvSpPr>
        <p:spPr>
          <a:xfrm>
            <a:off x="6807200" y="3623944"/>
            <a:ext cx="4572000" cy="0"/>
          </a:xfrm>
          <a:prstGeom prst="line">
            <a:avLst/>
          </a:prstGeom>
          <a:noFill/>
          <a:ln w="6350">
            <a:solidFill>
              <a:srgbClr val="E2DED5"/>
            </a:solidFill>
            <a:prstDash val="solid"/>
          </a:ln>
        </p:spPr>
      </p:sp>
      <p:sp>
        <p:nvSpPr>
          <p:cNvPr id="40" name="Text 38"/>
          <p:cNvSpPr/>
          <p:nvPr/>
        </p:nvSpPr>
        <p:spPr>
          <a:xfrm>
            <a:off x="6807200" y="3357879"/>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5FC4"/>
                </a:solidFill>
                <a:latin typeface="JetBrains Mono" pitchFamily="49" charset="0"/>
                <a:ea typeface="JetBrains Mono" pitchFamily="49" charset="-122"/>
                <a:cs typeface="JetBrains Mono" pitchFamily="49" charset="-120"/>
              </a:rPr>
              <a:t>--rm</a:t>
            </a:r>
            <a:endParaRPr lang="en-US" sz="1200" dirty="0"/>
          </a:p>
        </p:txBody>
      </p:sp>
      <p:sp>
        <p:nvSpPr>
          <p:cNvPr id="41" name="Text 39"/>
          <p:cNvSpPr/>
          <p:nvPr/>
        </p:nvSpPr>
        <p:spPr>
          <a:xfrm>
            <a:off x="7721600" y="3357879"/>
            <a:ext cx="37673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Delete the container when it exits</a:t>
            </a:r>
            <a:endParaRPr lang="en-US" sz="1200" dirty="0"/>
          </a:p>
        </p:txBody>
      </p:sp>
      <p:sp>
        <p:nvSpPr>
          <p:cNvPr id="42" name="Shape 40"/>
          <p:cNvSpPr/>
          <p:nvPr/>
        </p:nvSpPr>
        <p:spPr>
          <a:xfrm>
            <a:off x="6807200" y="3943986"/>
            <a:ext cx="4572000" cy="0"/>
          </a:xfrm>
          <a:prstGeom prst="line">
            <a:avLst/>
          </a:prstGeom>
          <a:noFill/>
          <a:ln w="6350">
            <a:solidFill>
              <a:srgbClr val="E2DED5"/>
            </a:solidFill>
            <a:prstDash val="solid"/>
          </a:ln>
        </p:spPr>
      </p:sp>
      <p:sp>
        <p:nvSpPr>
          <p:cNvPr id="43" name="Text 41"/>
          <p:cNvSpPr/>
          <p:nvPr/>
        </p:nvSpPr>
        <p:spPr>
          <a:xfrm>
            <a:off x="6807200" y="3677921"/>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5FC4"/>
                </a:solidFill>
                <a:latin typeface="JetBrains Mono" pitchFamily="49" charset="0"/>
                <a:ea typeface="JetBrains Mono" pitchFamily="49" charset="-122"/>
                <a:cs typeface="JetBrains Mono" pitchFamily="49" charset="-120"/>
              </a:rPr>
              <a:t>--name</a:t>
            </a:r>
            <a:endParaRPr lang="en-US" sz="1200" dirty="0"/>
          </a:p>
        </p:txBody>
      </p:sp>
      <p:sp>
        <p:nvSpPr>
          <p:cNvPr id="44" name="Text 42"/>
          <p:cNvSpPr/>
          <p:nvPr/>
        </p:nvSpPr>
        <p:spPr>
          <a:xfrm>
            <a:off x="7721600" y="3677921"/>
            <a:ext cx="37673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Name it instead of using the ID</a:t>
            </a:r>
            <a:endParaRPr lang="en-US" sz="1200" dirty="0"/>
          </a:p>
        </p:txBody>
      </p:sp>
      <p:sp>
        <p:nvSpPr>
          <p:cNvPr id="45" name="Shape 43"/>
          <p:cNvSpPr/>
          <p:nvPr/>
        </p:nvSpPr>
        <p:spPr>
          <a:xfrm>
            <a:off x="6807200" y="4264029"/>
            <a:ext cx="4572000" cy="0"/>
          </a:xfrm>
          <a:prstGeom prst="line">
            <a:avLst/>
          </a:prstGeom>
          <a:noFill/>
          <a:ln w="6350">
            <a:solidFill>
              <a:srgbClr val="E2DED5"/>
            </a:solidFill>
            <a:prstDash val="solid"/>
          </a:ln>
        </p:spPr>
      </p:sp>
      <p:sp>
        <p:nvSpPr>
          <p:cNvPr id="46" name="Text 44"/>
          <p:cNvSpPr/>
          <p:nvPr/>
        </p:nvSpPr>
        <p:spPr>
          <a:xfrm>
            <a:off x="6807200" y="3997964"/>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5FC4"/>
                </a:solidFill>
                <a:latin typeface="JetBrains Mono" pitchFamily="49" charset="0"/>
                <a:ea typeface="JetBrains Mono" pitchFamily="49" charset="-122"/>
                <a:cs typeface="JetBrains Mono" pitchFamily="49" charset="-120"/>
              </a:rPr>
              <a:t>-p</a:t>
            </a:r>
            <a:endParaRPr lang="en-US" sz="1200" dirty="0"/>
          </a:p>
        </p:txBody>
      </p:sp>
      <p:sp>
        <p:nvSpPr>
          <p:cNvPr id="47" name="Text 45"/>
          <p:cNvSpPr/>
          <p:nvPr/>
        </p:nvSpPr>
        <p:spPr>
          <a:xfrm>
            <a:off x="7721600" y="3997964"/>
            <a:ext cx="37673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Publish a port, host:container</a:t>
            </a:r>
            <a:endParaRPr lang="en-US" sz="1200" dirty="0"/>
          </a:p>
        </p:txBody>
      </p:sp>
      <p:sp>
        <p:nvSpPr>
          <p:cNvPr id="48" name="Shape 46"/>
          <p:cNvSpPr/>
          <p:nvPr/>
        </p:nvSpPr>
        <p:spPr>
          <a:xfrm>
            <a:off x="6807200" y="4584065"/>
            <a:ext cx="4572000" cy="0"/>
          </a:xfrm>
          <a:prstGeom prst="line">
            <a:avLst/>
          </a:prstGeom>
          <a:noFill/>
          <a:ln w="6350">
            <a:solidFill>
              <a:srgbClr val="E2DED5"/>
            </a:solidFill>
            <a:prstDash val="solid"/>
          </a:ln>
        </p:spPr>
      </p:sp>
      <p:sp>
        <p:nvSpPr>
          <p:cNvPr id="49" name="Text 47"/>
          <p:cNvSpPr/>
          <p:nvPr/>
        </p:nvSpPr>
        <p:spPr>
          <a:xfrm>
            <a:off x="6807200" y="4318000"/>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5FC4"/>
                </a:solidFill>
                <a:latin typeface="JetBrains Mono" pitchFamily="49" charset="0"/>
                <a:ea typeface="JetBrains Mono" pitchFamily="49" charset="-122"/>
                <a:cs typeface="JetBrains Mono" pitchFamily="49" charset="-120"/>
              </a:rPr>
              <a:t>-e</a:t>
            </a:r>
            <a:endParaRPr lang="en-US" sz="1200" dirty="0"/>
          </a:p>
        </p:txBody>
      </p:sp>
      <p:sp>
        <p:nvSpPr>
          <p:cNvPr id="50" name="Text 48"/>
          <p:cNvSpPr/>
          <p:nvPr/>
        </p:nvSpPr>
        <p:spPr>
          <a:xfrm>
            <a:off x="7721600" y="4318000"/>
            <a:ext cx="37673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Set an environment variable</a:t>
            </a:r>
            <a:endParaRPr lang="en-US" sz="1200" dirty="0"/>
          </a:p>
        </p:txBody>
      </p:sp>
      <p:sp>
        <p:nvSpPr>
          <p:cNvPr id="51" name="Shape 49"/>
          <p:cNvSpPr/>
          <p:nvPr/>
        </p:nvSpPr>
        <p:spPr>
          <a:xfrm>
            <a:off x="6807200" y="4904107"/>
            <a:ext cx="4572000" cy="0"/>
          </a:xfrm>
          <a:prstGeom prst="line">
            <a:avLst/>
          </a:prstGeom>
          <a:noFill/>
          <a:ln w="6350">
            <a:solidFill>
              <a:srgbClr val="E2DED5"/>
            </a:solidFill>
            <a:prstDash val="solid"/>
          </a:ln>
        </p:spPr>
      </p:sp>
      <p:sp>
        <p:nvSpPr>
          <p:cNvPr id="52" name="Text 50"/>
          <p:cNvSpPr/>
          <p:nvPr/>
        </p:nvSpPr>
        <p:spPr>
          <a:xfrm>
            <a:off x="6807200" y="4638042"/>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5FC4"/>
                </a:solidFill>
                <a:latin typeface="JetBrains Mono" pitchFamily="49" charset="0"/>
                <a:ea typeface="JetBrains Mono" pitchFamily="49" charset="-122"/>
                <a:cs typeface="JetBrains Mono" pitchFamily="49" charset="-120"/>
              </a:rPr>
              <a:t>-v</a:t>
            </a:r>
            <a:endParaRPr lang="en-US" sz="1200" dirty="0"/>
          </a:p>
        </p:txBody>
      </p:sp>
      <p:sp>
        <p:nvSpPr>
          <p:cNvPr id="53" name="Text 51"/>
          <p:cNvSpPr/>
          <p:nvPr/>
        </p:nvSpPr>
        <p:spPr>
          <a:xfrm>
            <a:off x="7721600" y="4638042"/>
            <a:ext cx="37673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Mount a volume or a folder</a:t>
            </a:r>
            <a:endParaRPr lang="en-US" sz="1200" dirty="0"/>
          </a:p>
        </p:txBody>
      </p:sp>
      <p:sp>
        <p:nvSpPr>
          <p:cNvPr id="54" name="Text 52"/>
          <p:cNvSpPr/>
          <p:nvPr/>
        </p:nvSpPr>
        <p:spPr>
          <a:xfrm>
            <a:off x="812800" y="6238242"/>
            <a:ext cx="352396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Docker Fundamentals · Running containers</a:t>
            </a:r>
            <a:endParaRPr lang="en-US" sz="1200" dirty="0"/>
          </a:p>
        </p:txBody>
      </p:sp>
      <p:sp>
        <p:nvSpPr>
          <p:cNvPr id="55" name="Text 53"/>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Container lifecycle and restart policies</a:t>
            </a:r>
            <a:endParaRPr lang="en-US" sz="3000" dirty="0"/>
          </a:p>
        </p:txBody>
      </p:sp>
      <p:sp>
        <p:nvSpPr>
          <p:cNvPr id="3" name="Text 1"/>
          <p:cNvSpPr/>
          <p:nvPr/>
        </p:nvSpPr>
        <p:spPr>
          <a:xfrm>
            <a:off x="815975" y="1628775"/>
            <a:ext cx="1532890" cy="506730"/>
          </a:xfrm>
          <a:prstGeom prst="roundRect">
            <a:avLst>
              <a:gd name="adj" fmla="val 19424"/>
            </a:avLst>
          </a:prstGeom>
          <a:solidFill>
            <a:srgbClr val="FDFCFA"/>
          </a:solidFill>
          <a:ln w="6350">
            <a:solidFill>
              <a:srgbClr val="E2DED5"/>
            </a:solidFill>
            <a:prstDash val="solid"/>
          </a:ln>
        </p:spPr>
        <p:txBody>
          <a:bodyPr wrap="square" lIns="100077" tIns="100077" rIns="100077" bIns="74677" rtlCol="0" anchor="t">
            <a:normAutofit/>
          </a:bodyPr>
          <a:lstStyle/>
          <a:p>
            <a:pPr algn="ctr" indent="0" marL="0">
              <a:lnSpc>
                <a:spcPts val="1960"/>
              </a:lnSpc>
              <a:buNone/>
            </a:pPr>
            <a:r>
              <a:rPr lang="en-US" sz="1400" b="1" dirty="0">
                <a:solidFill>
                  <a:srgbClr val="121722"/>
                </a:solidFill>
                <a:latin typeface="Space Grotesk" pitchFamily="34" charset="0"/>
                <a:ea typeface="Space Grotesk" pitchFamily="34" charset="-122"/>
                <a:cs typeface="Space Grotesk" pitchFamily="34" charset="-120"/>
              </a:rPr>
              <a:t>Created</a:t>
            </a:r>
            <a:endParaRPr lang="en-US" sz="1400" dirty="0"/>
          </a:p>
        </p:txBody>
      </p:sp>
      <p:sp>
        <p:nvSpPr>
          <p:cNvPr id="4" name="Text 2"/>
          <p:cNvSpPr/>
          <p:nvPr/>
        </p:nvSpPr>
        <p:spPr>
          <a:xfrm>
            <a:off x="2814320" y="1661164"/>
            <a:ext cx="54864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D6470"/>
                </a:solidFill>
                <a:latin typeface="JetBrains Mono" pitchFamily="49" charset="0"/>
                <a:ea typeface="JetBrains Mono" pitchFamily="49" charset="-122"/>
                <a:cs typeface="JetBrains Mono" pitchFamily="49" charset="-120"/>
              </a:rPr>
              <a:t>start</a:t>
            </a:r>
            <a:endParaRPr lang="en-US" sz="1200" dirty="0"/>
          </a:p>
        </p:txBody>
      </p:sp>
      <p:pic>
        <p:nvPicPr>
          <p:cNvPr id="5" name="Image 0" descr="arrow-right">    </p:cNvPr>
          <p:cNvPicPr>
            <a:picLocks noChangeAspect="1"/>
          </p:cNvPicPr>
          <p:nvPr/>
        </p:nvPicPr>
        <p:blipFill>
          <a:blip r:embed="rId1"/>
          <a:srcRect l="0" r="0" t="0" b="0"/>
          <a:stretch/>
        </p:blipFill>
        <p:spPr>
          <a:xfrm>
            <a:off x="2885440" y="1925321"/>
            <a:ext cx="406400" cy="177800"/>
          </a:xfrm>
          <a:prstGeom prst="rect">
            <a:avLst/>
          </a:prstGeom>
        </p:spPr>
      </p:pic>
      <p:sp>
        <p:nvSpPr>
          <p:cNvPr id="6" name="Shape 3"/>
          <p:cNvSpPr/>
          <p:nvPr/>
        </p:nvSpPr>
        <p:spPr>
          <a:xfrm>
            <a:off x="3825240" y="1511300"/>
            <a:ext cx="1529080" cy="741680"/>
          </a:xfrm>
          <a:prstGeom prst="roundRect">
            <a:avLst>
              <a:gd name="adj" fmla="val 13699"/>
            </a:avLst>
          </a:prstGeom>
          <a:solidFill>
            <a:srgbClr val="1D5FC4"/>
          </a:solidFill>
          <a:ln/>
        </p:spPr>
      </p:sp>
      <p:sp>
        <p:nvSpPr>
          <p:cNvPr id="7" name="Text 4"/>
          <p:cNvSpPr/>
          <p:nvPr/>
        </p:nvSpPr>
        <p:spPr>
          <a:xfrm>
            <a:off x="3952240" y="1638300"/>
            <a:ext cx="1275080"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6F5F1"/>
                </a:solidFill>
                <a:latin typeface="Space Grotesk" pitchFamily="34" charset="0"/>
                <a:ea typeface="Space Grotesk" pitchFamily="34" charset="-122"/>
                <a:cs typeface="Space Grotesk" pitchFamily="34" charset="-120"/>
              </a:rPr>
              <a:t>Running</a:t>
            </a:r>
            <a:endParaRPr lang="en-US" sz="1400" dirty="0"/>
          </a:p>
        </p:txBody>
      </p:sp>
      <p:sp>
        <p:nvSpPr>
          <p:cNvPr id="8" name="Text 5"/>
          <p:cNvSpPr/>
          <p:nvPr/>
        </p:nvSpPr>
        <p:spPr>
          <a:xfrm>
            <a:off x="3952240" y="1912621"/>
            <a:ext cx="127508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CE6FA"/>
                </a:solidFill>
                <a:latin typeface="IBM Plex Sans" pitchFamily="34" charset="0"/>
                <a:ea typeface="IBM Plex Sans" pitchFamily="34" charset="-122"/>
                <a:cs typeface="IBM Plex Sans" pitchFamily="34" charset="-120"/>
              </a:rPr>
              <a:t>pause / unpause</a:t>
            </a:r>
            <a:endParaRPr lang="en-US" sz="1200" dirty="0"/>
          </a:p>
        </p:txBody>
      </p:sp>
      <p:sp>
        <p:nvSpPr>
          <p:cNvPr id="9" name="Text 6"/>
          <p:cNvSpPr/>
          <p:nvPr/>
        </p:nvSpPr>
        <p:spPr>
          <a:xfrm>
            <a:off x="5487416" y="1661164"/>
            <a:ext cx="1207008"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D6470"/>
                </a:solidFill>
                <a:latin typeface="JetBrains Mono" pitchFamily="49" charset="0"/>
                <a:ea typeface="JetBrains Mono" pitchFamily="49" charset="-122"/>
                <a:cs typeface="JetBrains Mono" pitchFamily="49" charset="-120"/>
              </a:rPr>
              <a:t>stop / exit</a:t>
            </a:r>
            <a:endParaRPr lang="en-US" sz="1200" dirty="0"/>
          </a:p>
        </p:txBody>
      </p:sp>
      <p:pic>
        <p:nvPicPr>
          <p:cNvPr id="10" name="Image 1" descr="arrow-right">    </p:cNvPr>
          <p:cNvPicPr>
            <a:picLocks noChangeAspect="1"/>
          </p:cNvPicPr>
          <p:nvPr/>
        </p:nvPicPr>
        <p:blipFill>
          <a:blip r:embed="rId2"/>
          <a:srcRect l="0" r="0" t="0" b="0"/>
          <a:stretch/>
        </p:blipFill>
        <p:spPr>
          <a:xfrm>
            <a:off x="5887720" y="1925321"/>
            <a:ext cx="406400" cy="177800"/>
          </a:xfrm>
          <a:prstGeom prst="rect">
            <a:avLst/>
          </a:prstGeom>
        </p:spPr>
      </p:pic>
      <p:sp>
        <p:nvSpPr>
          <p:cNvPr id="11" name="Text 7"/>
          <p:cNvSpPr/>
          <p:nvPr/>
        </p:nvSpPr>
        <p:spPr>
          <a:xfrm>
            <a:off x="6830695" y="1628775"/>
            <a:ext cx="1532890" cy="506730"/>
          </a:xfrm>
          <a:prstGeom prst="roundRect">
            <a:avLst>
              <a:gd name="adj" fmla="val 19424"/>
            </a:avLst>
          </a:prstGeom>
          <a:solidFill>
            <a:srgbClr val="FDFCFA"/>
          </a:solidFill>
          <a:ln w="6350">
            <a:solidFill>
              <a:srgbClr val="E2DED5"/>
            </a:solidFill>
            <a:prstDash val="solid"/>
          </a:ln>
        </p:spPr>
        <p:txBody>
          <a:bodyPr wrap="square" lIns="100077" tIns="100077" rIns="100078" bIns="74677" rtlCol="0" anchor="t">
            <a:normAutofit/>
          </a:bodyPr>
          <a:lstStyle/>
          <a:p>
            <a:pPr algn="ctr" indent="0" marL="0">
              <a:lnSpc>
                <a:spcPts val="1960"/>
              </a:lnSpc>
              <a:buNone/>
            </a:pPr>
            <a:r>
              <a:rPr lang="en-US" sz="1400" b="1" dirty="0">
                <a:solidFill>
                  <a:srgbClr val="121722"/>
                </a:solidFill>
                <a:latin typeface="Space Grotesk" pitchFamily="34" charset="0"/>
                <a:ea typeface="Space Grotesk" pitchFamily="34" charset="-122"/>
                <a:cs typeface="Space Grotesk" pitchFamily="34" charset="-120"/>
              </a:rPr>
              <a:t>Exited</a:t>
            </a:r>
            <a:endParaRPr lang="en-US" sz="1400" dirty="0"/>
          </a:p>
        </p:txBody>
      </p:sp>
      <p:sp>
        <p:nvSpPr>
          <p:cNvPr id="12" name="Text 8"/>
          <p:cNvSpPr/>
          <p:nvPr/>
        </p:nvSpPr>
        <p:spPr>
          <a:xfrm>
            <a:off x="8986520" y="1661164"/>
            <a:ext cx="23368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D6470"/>
                </a:solidFill>
                <a:latin typeface="JetBrains Mono" pitchFamily="49" charset="0"/>
                <a:ea typeface="JetBrains Mono" pitchFamily="49" charset="-122"/>
                <a:cs typeface="JetBrains Mono" pitchFamily="49" charset="-120"/>
              </a:rPr>
              <a:t>rm</a:t>
            </a:r>
            <a:endParaRPr lang="en-US" sz="1200" dirty="0"/>
          </a:p>
        </p:txBody>
      </p:sp>
      <p:pic>
        <p:nvPicPr>
          <p:cNvPr id="13" name="Image 2" descr="arrow-right">    </p:cNvPr>
          <p:cNvPicPr>
            <a:picLocks noChangeAspect="1"/>
          </p:cNvPicPr>
          <p:nvPr/>
        </p:nvPicPr>
        <p:blipFill>
          <a:blip r:embed="rId3"/>
          <a:srcRect l="0" r="0" t="0" b="0"/>
          <a:stretch/>
        </p:blipFill>
        <p:spPr>
          <a:xfrm>
            <a:off x="8900160" y="1925321"/>
            <a:ext cx="406400" cy="177800"/>
          </a:xfrm>
          <a:prstGeom prst="rect">
            <a:avLst/>
          </a:prstGeom>
        </p:spPr>
      </p:pic>
      <p:sp>
        <p:nvSpPr>
          <p:cNvPr id="14" name="Text 9"/>
          <p:cNvSpPr/>
          <p:nvPr/>
        </p:nvSpPr>
        <p:spPr>
          <a:xfrm>
            <a:off x="9843135" y="1628775"/>
            <a:ext cx="1532890" cy="506730"/>
          </a:xfrm>
          <a:prstGeom prst="roundRect">
            <a:avLst>
              <a:gd name="adj" fmla="val 19424"/>
            </a:avLst>
          </a:prstGeom>
          <a:solidFill>
            <a:srgbClr val="ECE9E2"/>
          </a:solidFill>
          <a:ln w="6350">
            <a:solidFill>
              <a:srgbClr val="9AA3B2"/>
            </a:solidFill>
            <a:prstDash val="dash"/>
          </a:ln>
        </p:spPr>
        <p:txBody>
          <a:bodyPr wrap="square" lIns="100078" tIns="100077" rIns="100077" bIns="74677" rtlCol="0" anchor="t">
            <a:normAutofit/>
          </a:bodyPr>
          <a:lstStyle/>
          <a:p>
            <a:pPr algn="ctr" indent="0" marL="0">
              <a:lnSpc>
                <a:spcPts val="1960"/>
              </a:lnSpc>
              <a:buNone/>
            </a:pPr>
            <a:r>
              <a:rPr lang="en-US" sz="1400" b="1" dirty="0">
                <a:solidFill>
                  <a:srgbClr val="5D6470"/>
                </a:solidFill>
                <a:latin typeface="Space Grotesk" pitchFamily="34" charset="0"/>
                <a:ea typeface="Space Grotesk" pitchFamily="34" charset="-122"/>
                <a:cs typeface="Space Grotesk" pitchFamily="34" charset="-120"/>
              </a:rPr>
              <a:t>Removed</a:t>
            </a:r>
            <a:endParaRPr lang="en-US" sz="1400" dirty="0"/>
          </a:p>
        </p:txBody>
      </p:sp>
      <p:sp>
        <p:nvSpPr>
          <p:cNvPr id="15" name="Shape 10"/>
          <p:cNvSpPr/>
          <p:nvPr/>
        </p:nvSpPr>
        <p:spPr>
          <a:xfrm>
            <a:off x="815975" y="2535554"/>
            <a:ext cx="4912916" cy="2574290"/>
          </a:xfrm>
          <a:prstGeom prst="roundRect">
            <a:avLst>
              <a:gd name="adj" fmla="val 3823"/>
            </a:avLst>
          </a:prstGeom>
          <a:solidFill>
            <a:srgbClr val="FDFCFA"/>
          </a:solidFill>
          <a:ln w="6350">
            <a:solidFill>
              <a:srgbClr val="E2DED5"/>
            </a:solidFill>
            <a:prstDash val="solid"/>
          </a:ln>
        </p:spPr>
      </p:sp>
      <p:sp>
        <p:nvSpPr>
          <p:cNvPr id="16" name="Text 11"/>
          <p:cNvSpPr/>
          <p:nvPr/>
        </p:nvSpPr>
        <p:spPr>
          <a:xfrm>
            <a:off x="1046480" y="2740664"/>
            <a:ext cx="458546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Stopping gracefully</a:t>
            </a:r>
            <a:endParaRPr lang="en-US" sz="1800" dirty="0"/>
          </a:p>
        </p:txBody>
      </p:sp>
      <p:sp>
        <p:nvSpPr>
          <p:cNvPr id="17" name="Text 12"/>
          <p:cNvSpPr/>
          <p:nvPr/>
        </p:nvSpPr>
        <p:spPr>
          <a:xfrm>
            <a:off x="1046480" y="3103879"/>
            <a:ext cx="458546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docker stop sends SIGTERM, waits 10 seconds, then sends SIGKILL. Handle SIGTERM so your app can finish in-flight work.</a:t>
            </a:r>
            <a:endParaRPr lang="en-US" sz="1400" dirty="0"/>
          </a:p>
        </p:txBody>
      </p:sp>
      <p:sp>
        <p:nvSpPr>
          <p:cNvPr id="18" name="Text 13"/>
          <p:cNvSpPr/>
          <p:nvPr/>
        </p:nvSpPr>
        <p:spPr>
          <a:xfrm>
            <a:off x="1046480" y="3990342"/>
            <a:ext cx="558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5FC4"/>
                </a:solidFill>
                <a:latin typeface="JetBrains Mono" pitchFamily="49" charset="0"/>
                <a:ea typeface="JetBrains Mono" pitchFamily="49" charset="-122"/>
                <a:cs typeface="JetBrains Mono" pitchFamily="49" charset="-120"/>
              </a:rPr>
              <a:t>0</a:t>
            </a:r>
            <a:endParaRPr lang="en-US" sz="1200" dirty="0"/>
          </a:p>
        </p:txBody>
      </p:sp>
      <p:sp>
        <p:nvSpPr>
          <p:cNvPr id="19" name="Text 14"/>
          <p:cNvSpPr/>
          <p:nvPr/>
        </p:nvSpPr>
        <p:spPr>
          <a:xfrm>
            <a:off x="1681480" y="3990342"/>
            <a:ext cx="39314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Exited normally</a:t>
            </a:r>
            <a:endParaRPr lang="en-US" sz="1200" dirty="0"/>
          </a:p>
        </p:txBody>
      </p:sp>
      <p:sp>
        <p:nvSpPr>
          <p:cNvPr id="20" name="Text 15"/>
          <p:cNvSpPr/>
          <p:nvPr/>
        </p:nvSpPr>
        <p:spPr>
          <a:xfrm>
            <a:off x="1046480" y="4292600"/>
            <a:ext cx="558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5FC4"/>
                </a:solidFill>
                <a:latin typeface="JetBrains Mono" pitchFamily="49" charset="0"/>
                <a:ea typeface="JetBrains Mono" pitchFamily="49" charset="-122"/>
                <a:cs typeface="JetBrains Mono" pitchFamily="49" charset="-120"/>
              </a:rPr>
              <a:t>137</a:t>
            </a:r>
            <a:endParaRPr lang="en-US" sz="1200" dirty="0"/>
          </a:p>
        </p:txBody>
      </p:sp>
      <p:sp>
        <p:nvSpPr>
          <p:cNvPr id="21" name="Text 16"/>
          <p:cNvSpPr/>
          <p:nvPr/>
        </p:nvSpPr>
        <p:spPr>
          <a:xfrm>
            <a:off x="1681480" y="4292600"/>
            <a:ext cx="39314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Killed — SIGKILL or out of memory</a:t>
            </a:r>
            <a:endParaRPr lang="en-US" sz="1200" dirty="0"/>
          </a:p>
        </p:txBody>
      </p:sp>
      <p:sp>
        <p:nvSpPr>
          <p:cNvPr id="22" name="Text 17"/>
          <p:cNvSpPr/>
          <p:nvPr/>
        </p:nvSpPr>
        <p:spPr>
          <a:xfrm>
            <a:off x="1046480" y="4594864"/>
            <a:ext cx="558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5FC4"/>
                </a:solidFill>
                <a:latin typeface="JetBrains Mono" pitchFamily="49" charset="0"/>
                <a:ea typeface="JetBrains Mono" pitchFamily="49" charset="-122"/>
                <a:cs typeface="JetBrains Mono" pitchFamily="49" charset="-120"/>
              </a:rPr>
              <a:t>143</a:t>
            </a:r>
            <a:endParaRPr lang="en-US" sz="1200" dirty="0"/>
          </a:p>
        </p:txBody>
      </p:sp>
      <p:sp>
        <p:nvSpPr>
          <p:cNvPr id="23" name="Text 18"/>
          <p:cNvSpPr/>
          <p:nvPr/>
        </p:nvSpPr>
        <p:spPr>
          <a:xfrm>
            <a:off x="1681480" y="4594864"/>
            <a:ext cx="39314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Stopped by SIGTERM</a:t>
            </a:r>
            <a:endParaRPr lang="en-US" sz="1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047026" y="2542539"/>
          <a:ext cx="5332174" cy="2077720"/>
        </p:xfrm>
        <a:graphic>
          <a:graphicData uri="http://schemas.openxmlformats.org/drawingml/2006/table">
            <a:tbl>
              <a:tblPr/>
              <a:tblGrid>
                <a:gridCol w="1919583"/>
                <a:gridCol w="3412592"/>
              </a:tblGrid>
              <a:tr h="330200">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Restart policy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Restarts the container…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no (default)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Never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on-failure[:N]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Only after a non-zero exit, up to N times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always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Whenever it stops; a manual stop holds until the daemon restarts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unless-stopped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Like always, but a manual stop survives daemon restarts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25" name="Text 19"/>
          <p:cNvSpPr/>
          <p:nvPr/>
        </p:nvSpPr>
        <p:spPr>
          <a:xfrm>
            <a:off x="6036866" y="4721864"/>
            <a:ext cx="5342334" cy="391160"/>
          </a:xfrm>
          <a:prstGeom prst="roundRect">
            <a:avLst>
              <a:gd name="adj" fmla="val 16234"/>
            </a:avLst>
          </a:prstGeom>
          <a:solidFill>
            <a:srgbClr val="161B26"/>
          </a:solidFill>
          <a:ln/>
        </p:spPr>
        <p:txBody>
          <a:bodyPr wrap="none" lIns="108401" tIns="70301" rIns="0" bIns="44901" rtlCol="0" anchor="t">
            <a:normAutofit/>
          </a:bodyPr>
          <a:lstStyle/>
          <a:p>
            <a:pPr algn="l" indent="0" marL="0">
              <a:lnSpc>
                <a:spcPts val="1680"/>
              </a:lnSpc>
              <a:buNone/>
            </a:pPr>
            <a:r>
              <a:rPr lang="en-US" sz="1200" dirty="0">
                <a:solidFill>
                  <a:srgbClr val="E4E7EC"/>
                </a:solidFill>
                <a:latin typeface="JetBrains Mono" pitchFamily="49" charset="0"/>
                <a:ea typeface="JetBrains Mono" pitchFamily="49" charset="-122"/>
                <a:cs typeface="JetBrains Mono" pitchFamily="49" charset="-120"/>
              </a:rPr>
              <a:t>$ docker run -d --restart unless-stopped nginx:1.27</a:t>
            </a:r>
            <a:endParaRPr lang="en-US" sz="1200" dirty="0"/>
          </a:p>
        </p:txBody>
      </p:sp>
      <p:sp>
        <p:nvSpPr>
          <p:cNvPr id="26" name="Text 20"/>
          <p:cNvSpPr/>
          <p:nvPr/>
        </p:nvSpPr>
        <p:spPr>
          <a:xfrm>
            <a:off x="812800" y="6238242"/>
            <a:ext cx="352396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Docker Fundamentals · Running containers</a:t>
            </a:r>
            <a:endParaRPr lang="en-US" sz="1200" dirty="0"/>
          </a:p>
        </p:txBody>
      </p:sp>
      <p:sp>
        <p:nvSpPr>
          <p:cNvPr id="27" name="Text 21"/>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Publishing ports and passing configuration</a:t>
            </a:r>
            <a:endParaRPr lang="en-US" sz="3000" dirty="0"/>
          </a:p>
        </p:txBody>
      </p:sp>
      <p:sp>
        <p:nvSpPr>
          <p:cNvPr id="3" name="Text 1"/>
          <p:cNvSpPr/>
          <p:nvPr/>
        </p:nvSpPr>
        <p:spPr>
          <a:xfrm>
            <a:off x="812800" y="1536700"/>
            <a:ext cx="523240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Ports</a:t>
            </a:r>
            <a:endParaRPr lang="en-US" sz="1800" dirty="0"/>
          </a:p>
        </p:txBody>
      </p:sp>
      <p:sp>
        <p:nvSpPr>
          <p:cNvPr id="4" name="Shape 2"/>
          <p:cNvSpPr/>
          <p:nvPr/>
        </p:nvSpPr>
        <p:spPr>
          <a:xfrm>
            <a:off x="815975" y="1966596"/>
            <a:ext cx="1954530" cy="694690"/>
          </a:xfrm>
          <a:prstGeom prst="roundRect">
            <a:avLst>
              <a:gd name="adj" fmla="val 12340"/>
            </a:avLst>
          </a:prstGeom>
          <a:solidFill>
            <a:srgbClr val="FDFCFA"/>
          </a:solidFill>
          <a:ln w="6350">
            <a:solidFill>
              <a:srgbClr val="E2DED5"/>
            </a:solidFill>
            <a:prstDash val="solid"/>
          </a:ln>
        </p:spPr>
      </p:sp>
      <p:sp>
        <p:nvSpPr>
          <p:cNvPr id="5" name="Text 3"/>
          <p:cNvSpPr/>
          <p:nvPr/>
        </p:nvSpPr>
        <p:spPr>
          <a:xfrm>
            <a:off x="919429" y="2082800"/>
            <a:ext cx="1747622"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Your machine</a:t>
            </a:r>
            <a:endParaRPr lang="en-US" sz="1200" dirty="0"/>
          </a:p>
        </p:txBody>
      </p:sp>
      <p:sp>
        <p:nvSpPr>
          <p:cNvPr id="6" name="Text 4"/>
          <p:cNvSpPr/>
          <p:nvPr/>
        </p:nvSpPr>
        <p:spPr>
          <a:xfrm>
            <a:off x="919429" y="2296164"/>
            <a:ext cx="1747622" cy="274320"/>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121722"/>
                </a:solidFill>
                <a:latin typeface="JetBrains Mono" pitchFamily="49" charset="0"/>
                <a:ea typeface="JetBrains Mono" pitchFamily="49" charset="-122"/>
                <a:cs typeface="JetBrains Mono" pitchFamily="49" charset="-120"/>
              </a:rPr>
              <a:t>localhost:8080</a:t>
            </a:r>
            <a:endParaRPr lang="en-US" sz="1400" dirty="0"/>
          </a:p>
        </p:txBody>
      </p:sp>
      <p:sp>
        <p:nvSpPr>
          <p:cNvPr id="7" name="Text 5"/>
          <p:cNvSpPr/>
          <p:nvPr/>
        </p:nvSpPr>
        <p:spPr>
          <a:xfrm>
            <a:off x="2900680" y="2099314"/>
            <a:ext cx="1041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5FC4"/>
                </a:solidFill>
                <a:latin typeface="JetBrains Mono" pitchFamily="49" charset="0"/>
                <a:ea typeface="JetBrains Mono" pitchFamily="49" charset="-122"/>
                <a:cs typeface="JetBrains Mono" pitchFamily="49" charset="-120"/>
              </a:rPr>
              <a:t>-p 8080:80</a:t>
            </a:r>
            <a:endParaRPr lang="en-US" sz="1200" dirty="0"/>
          </a:p>
        </p:txBody>
      </p:sp>
      <p:pic>
        <p:nvPicPr>
          <p:cNvPr id="8" name="Image 0" descr="arrow-right">    </p:cNvPr>
          <p:cNvPicPr>
            <a:picLocks noChangeAspect="1"/>
          </p:cNvPicPr>
          <p:nvPr/>
        </p:nvPicPr>
        <p:blipFill>
          <a:blip r:embed="rId1"/>
          <a:srcRect l="0" r="0" t="0" b="0"/>
          <a:stretch/>
        </p:blipFill>
        <p:spPr>
          <a:xfrm>
            <a:off x="3154680" y="2350771"/>
            <a:ext cx="406400" cy="177800"/>
          </a:xfrm>
          <a:prstGeom prst="rect">
            <a:avLst/>
          </a:prstGeom>
        </p:spPr>
      </p:pic>
      <p:sp>
        <p:nvSpPr>
          <p:cNvPr id="9" name="Shape 6"/>
          <p:cNvSpPr/>
          <p:nvPr/>
        </p:nvSpPr>
        <p:spPr>
          <a:xfrm>
            <a:off x="3942080" y="1968500"/>
            <a:ext cx="1950720" cy="690880"/>
          </a:xfrm>
          <a:prstGeom prst="roundRect">
            <a:avLst>
              <a:gd name="adj" fmla="val 12868"/>
            </a:avLst>
          </a:prstGeom>
          <a:solidFill>
            <a:srgbClr val="1D5FC4"/>
          </a:solidFill>
          <a:ln/>
        </p:spPr>
      </p:sp>
      <p:sp>
        <p:nvSpPr>
          <p:cNvPr id="10" name="Text 7"/>
          <p:cNvSpPr/>
          <p:nvPr/>
        </p:nvSpPr>
        <p:spPr>
          <a:xfrm>
            <a:off x="4043629" y="2082800"/>
            <a:ext cx="1747622"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CE6FA"/>
                </a:solidFill>
                <a:latin typeface="IBM Plex Sans" pitchFamily="34" charset="0"/>
                <a:ea typeface="IBM Plex Sans" pitchFamily="34" charset="-122"/>
                <a:cs typeface="IBM Plex Sans" pitchFamily="34" charset="-120"/>
              </a:rPr>
              <a:t>Container</a:t>
            </a:r>
            <a:endParaRPr lang="en-US" sz="1200" dirty="0"/>
          </a:p>
        </p:txBody>
      </p:sp>
      <p:sp>
        <p:nvSpPr>
          <p:cNvPr id="11" name="Text 8"/>
          <p:cNvSpPr/>
          <p:nvPr/>
        </p:nvSpPr>
        <p:spPr>
          <a:xfrm>
            <a:off x="4043629" y="2296164"/>
            <a:ext cx="1747622" cy="274320"/>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F6F5F1"/>
                </a:solidFill>
                <a:latin typeface="JetBrains Mono" pitchFamily="49" charset="0"/>
                <a:ea typeface="JetBrains Mono" pitchFamily="49" charset="-122"/>
                <a:cs typeface="JetBrains Mono" pitchFamily="49" charset="-120"/>
              </a:rPr>
              <a:t>:80</a:t>
            </a:r>
            <a:endParaRPr lang="en-US" sz="1400" dirty="0"/>
          </a:p>
        </p:txBody>
      </p:sp>
      <p:sp>
        <p:nvSpPr>
          <p:cNvPr id="12" name="Text 9"/>
          <p:cNvSpPr/>
          <p:nvPr/>
        </p:nvSpPr>
        <p:spPr>
          <a:xfrm>
            <a:off x="812800" y="2816864"/>
            <a:ext cx="523240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Each container has its own network namespace, so its ports are closed to the host until you publish them.</a:t>
            </a:r>
            <a:endParaRPr lang="en-US" sz="1400" dirty="0"/>
          </a:p>
        </p:txBody>
      </p:sp>
      <p:sp>
        <p:nvSpPr>
          <p:cNvPr id="13" name="Text 10"/>
          <p:cNvSpPr/>
          <p:nvPr/>
        </p:nvSpPr>
        <p:spPr>
          <a:xfrm>
            <a:off x="812800" y="3467100"/>
            <a:ext cx="52324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5FC4"/>
                </a:solidFill>
                <a:latin typeface="IBM Plex Sans" pitchFamily="34" charset="0"/>
                <a:ea typeface="IBM Plex Sans" pitchFamily="34" charset="-122"/>
                <a:cs typeface="IBM Plex Sans" pitchFamily="34" charset="-120"/>
              </a:rPr>
              <a:t>-p 127.0.0.1:8080:80</a:t>
            </a:r>
            <a:r>
              <a:rPr lang="en-US" sz="1400" dirty="0">
                <a:solidFill>
                  <a:srgbClr val="2B3240"/>
                </a:solidFill>
                <a:latin typeface="IBM Plex Sans" pitchFamily="34" charset="0"/>
                <a:ea typeface="IBM Plex Sans" pitchFamily="34" charset="-122"/>
                <a:cs typeface="IBM Plex Sans" pitchFamily="34" charset="-120"/>
              </a:rPr>
              <a:t> publishes on localhost only.</a:t>
            </a:r>
            <a:endParaRPr lang="en-US" sz="1400" dirty="0"/>
          </a:p>
        </p:txBody>
      </p:sp>
      <p:sp>
        <p:nvSpPr>
          <p:cNvPr id="14" name="Text 11"/>
          <p:cNvSpPr/>
          <p:nvPr/>
        </p:nvSpPr>
        <p:spPr>
          <a:xfrm>
            <a:off x="812800" y="3868421"/>
            <a:ext cx="54864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240"/>
                </a:solidFill>
                <a:latin typeface="IBM Plex Sans" pitchFamily="34" charset="0"/>
                <a:ea typeface="IBM Plex Sans" pitchFamily="34" charset="-122"/>
                <a:cs typeface="IBM Plex Sans" pitchFamily="34" charset="-120"/>
              </a:rPr>
              <a:t>EXPOSE</a:t>
            </a:r>
            <a:r>
              <a:rPr lang="en-US" sz="1400" dirty="0">
                <a:solidFill>
                  <a:srgbClr val="2B3240"/>
                </a:solidFill>
                <a:latin typeface="IBM Plex Sans" pitchFamily="34" charset="0"/>
                <a:ea typeface="IBM Plex Sans" pitchFamily="34" charset="-122"/>
                <a:cs typeface="IBM Plex Sans" pitchFamily="34" charset="-120"/>
              </a:rPr>
              <a:t> in a Dockerfile documents a port; it does not publish it.</a:t>
            </a:r>
            <a:endParaRPr lang="en-US" sz="1400" dirty="0"/>
          </a:p>
        </p:txBody>
      </p:sp>
      <p:sp>
        <p:nvSpPr>
          <p:cNvPr id="15" name="Text 12"/>
          <p:cNvSpPr/>
          <p:nvPr/>
        </p:nvSpPr>
        <p:spPr>
          <a:xfrm>
            <a:off x="6299200" y="1536700"/>
            <a:ext cx="523240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Configuration</a:t>
            </a:r>
            <a:endParaRPr lang="en-US" sz="1800" dirty="0"/>
          </a:p>
        </p:txBody>
      </p:sp>
      <p:sp>
        <p:nvSpPr>
          <p:cNvPr id="16" name="Text 13"/>
          <p:cNvSpPr/>
          <p:nvPr/>
        </p:nvSpPr>
        <p:spPr>
          <a:xfrm>
            <a:off x="6299200" y="1963421"/>
            <a:ext cx="5080000" cy="1460500"/>
          </a:xfrm>
          <a:prstGeom prst="roundRect">
            <a:avLst>
              <a:gd name="adj" fmla="val 6957"/>
            </a:avLst>
          </a:prstGeom>
          <a:solidFill>
            <a:srgbClr val="161B26"/>
          </a:solidFill>
          <a:ln/>
        </p:spPr>
        <p:txBody>
          <a:bodyPr wrap="none" lIns="198842" tIns="148042" rIns="60158" bIns="1226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docker run -d --name db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-e POSTGRES_PASSWORD=devpass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-p 5432:5432 postgres:16</a:t>
            </a:r>
            <a:endParaRPr lang="en-US" sz="1200" dirty="0"/>
          </a:p>
          <a:p>
            <a:pPr algn="l" indent="0" marL="0">
              <a:lnSpc>
                <a:spcPts val="1740"/>
              </a:lnSpc>
              <a:buNone/>
            </a:pP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docker run --env-file .env myapi:1.0</a:t>
            </a:r>
            <a:endParaRPr lang="en-US" sz="1200" dirty="0"/>
          </a:p>
        </p:txBody>
      </p:sp>
      <p:sp>
        <p:nvSpPr>
          <p:cNvPr id="17" name="Text 14"/>
          <p:cNvSpPr/>
          <p:nvPr/>
        </p:nvSpPr>
        <p:spPr>
          <a:xfrm>
            <a:off x="6299200" y="3576321"/>
            <a:ext cx="523240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Same image, different settings per environment — configuration comes from the environment, not the image.</a:t>
            </a:r>
            <a:endParaRPr lang="en-US" sz="1400" dirty="0"/>
          </a:p>
        </p:txBody>
      </p:sp>
      <p:sp>
        <p:nvSpPr>
          <p:cNvPr id="18" name="Text 15"/>
          <p:cNvSpPr/>
          <p:nvPr/>
        </p:nvSpPr>
        <p:spPr>
          <a:xfrm>
            <a:off x="6299200" y="4226564"/>
            <a:ext cx="523240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Environment variables show up in </a:t>
            </a:r>
            <a:r>
              <a:rPr lang="en-US" sz="1400" b="1" dirty="0">
                <a:solidFill>
                  <a:srgbClr val="2B3240"/>
                </a:solidFill>
                <a:latin typeface="IBM Plex Sans" pitchFamily="34" charset="0"/>
                <a:ea typeface="IBM Plex Sans" pitchFamily="34" charset="-122"/>
                <a:cs typeface="IBM Plex Sans" pitchFamily="34" charset="-120"/>
              </a:rPr>
              <a:t>docker inspect</a:t>
            </a:r>
            <a:r>
              <a:rPr lang="en-US" sz="1400" dirty="0">
                <a:solidFill>
                  <a:srgbClr val="2B3240"/>
                </a:solidFill>
                <a:latin typeface="IBM Plex Sans" pitchFamily="34" charset="0"/>
                <a:ea typeface="IBM Plex Sans" pitchFamily="34" charset="-122"/>
                <a:cs typeface="IBM Plex Sans" pitchFamily="34" charset="-120"/>
              </a:rPr>
              <a:t>, so they are not a safe home for production secrets.</a:t>
            </a:r>
            <a:endParaRPr lang="en-US" sz="1400" dirty="0"/>
          </a:p>
        </p:txBody>
      </p:sp>
      <p:sp>
        <p:nvSpPr>
          <p:cNvPr id="19" name="Text 16"/>
          <p:cNvSpPr/>
          <p:nvPr/>
        </p:nvSpPr>
        <p:spPr>
          <a:xfrm>
            <a:off x="812800" y="6238242"/>
            <a:ext cx="352396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Docker Fundamentals · Running containers</a:t>
            </a:r>
            <a:endParaRPr lang="en-US" sz="1200" dirty="0"/>
          </a:p>
        </p:txBody>
      </p:sp>
      <p:sp>
        <p:nvSpPr>
          <p:cNvPr id="20" name="Text 17"/>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Dockerfile instructions</a:t>
            </a:r>
            <a:endParaRPr lang="en-US" sz="3000" dirty="0"/>
          </a:p>
        </p:txBody>
      </p:sp>
      <p:sp>
        <p:nvSpPr>
          <p:cNvPr id="3" name="Text 1"/>
          <p:cNvSpPr/>
          <p:nvPr/>
        </p:nvSpPr>
        <p:spPr>
          <a:xfrm>
            <a:off x="812800" y="1536700"/>
            <a:ext cx="539337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5FC4"/>
                </a:solidFill>
                <a:latin typeface="IBM Plex Sans" pitchFamily="34" charset="0"/>
                <a:ea typeface="IBM Plex Sans" pitchFamily="34" charset="-122"/>
                <a:cs typeface="IBM Plex Sans" pitchFamily="34" charset="-120"/>
              </a:rPr>
              <a:t>DOCKERFILE</a:t>
            </a:r>
            <a:endParaRPr lang="en-US" sz="1200" dirty="0"/>
          </a:p>
        </p:txBody>
      </p:sp>
      <p:sp>
        <p:nvSpPr>
          <p:cNvPr id="4" name="Text 2"/>
          <p:cNvSpPr/>
          <p:nvPr/>
        </p:nvSpPr>
        <p:spPr>
          <a:xfrm>
            <a:off x="812800" y="1851664"/>
            <a:ext cx="5236289" cy="3058160"/>
          </a:xfrm>
          <a:prstGeom prst="roundRect">
            <a:avLst>
              <a:gd name="adj" fmla="val 3322"/>
            </a:avLst>
          </a:prstGeom>
          <a:solidFill>
            <a:srgbClr val="161B26"/>
          </a:solidFill>
          <a:ln/>
        </p:spPr>
        <p:txBody>
          <a:bodyPr wrap="none" lIns="224242" tIns="173442" rIns="82394" bIns="148042" rtlCol="0" anchor="t">
            <a:normAutofit/>
          </a:bodyPr>
          <a:lstStyle/>
          <a:p>
            <a:pPr algn="l" indent="0" marL="0">
              <a:lnSpc>
                <a:spcPts val="1740"/>
              </a:lnSpc>
              <a:buNone/>
            </a:pPr>
            <a:r>
              <a:rPr lang="en-US" sz="1200" dirty="0">
                <a:solidFill>
                  <a:srgbClr val="8EBBFF"/>
                </a:solidFill>
                <a:latin typeface="JetBrains Mono" pitchFamily="49" charset="0"/>
                <a:ea typeface="JetBrains Mono" pitchFamily="49" charset="-122"/>
                <a:cs typeface="JetBrains Mono" pitchFamily="49" charset="-120"/>
              </a:rPr>
              <a:t>FROM</a:t>
            </a:r>
            <a:r>
              <a:rPr lang="en-US" sz="1200" dirty="0">
                <a:solidFill>
                  <a:srgbClr val="E4E7EC"/>
                </a:solidFill>
                <a:latin typeface="JetBrains Mono" pitchFamily="49" charset="0"/>
                <a:ea typeface="JetBrains Mono" pitchFamily="49" charset="-122"/>
                <a:cs typeface="JetBrains Mono" pitchFamily="49" charset="-120"/>
              </a:rPr>
              <a:t> python:3.13-slim</a:t>
            </a:r>
            <a:endParaRPr lang="en-US" sz="1200" dirty="0"/>
          </a:p>
          <a:p>
            <a:pPr algn="l" indent="0" marL="0">
              <a:lnSpc>
                <a:spcPts val="1740"/>
              </a:lnSpc>
              <a:buNone/>
            </a:pPr>
            <a:r>
              <a:rPr lang="en-US" sz="1200" dirty="0">
                <a:solidFill>
                  <a:srgbClr val="8EBBFF"/>
                </a:solidFill>
                <a:latin typeface="JetBrains Mono" pitchFamily="49" charset="0"/>
                <a:ea typeface="JetBrains Mono" pitchFamily="49" charset="-122"/>
                <a:cs typeface="JetBrains Mono" pitchFamily="49" charset="-120"/>
              </a:rPr>
              <a:t>WORKDIR</a:t>
            </a:r>
            <a:r>
              <a:rPr lang="en-US" sz="1200" dirty="0">
                <a:solidFill>
                  <a:srgbClr val="E4E7EC"/>
                </a:solidFill>
                <a:latin typeface="JetBrains Mono" pitchFamily="49" charset="0"/>
                <a:ea typeface="JetBrains Mono" pitchFamily="49" charset="-122"/>
                <a:cs typeface="JetBrains Mono" pitchFamily="49" charset="-120"/>
              </a:rPr>
              <a:t> /app</a:t>
            </a:r>
            <a:endParaRPr lang="en-US" sz="1200" dirty="0"/>
          </a:p>
          <a:p>
            <a:pPr algn="l" indent="0" marL="0">
              <a:lnSpc>
                <a:spcPts val="1740"/>
              </a:lnSpc>
              <a:buNone/>
            </a:pPr>
            <a:r>
              <a:rPr lang="en-US" sz="1200" dirty="0">
                <a:solidFill>
                  <a:srgbClr val="8EBBFF"/>
                </a:solidFill>
                <a:latin typeface="JetBrains Mono" pitchFamily="49" charset="0"/>
                <a:ea typeface="JetBrains Mono" pitchFamily="49" charset="-122"/>
                <a:cs typeface="JetBrains Mono" pitchFamily="49" charset="-120"/>
              </a:rPr>
              <a:t>COPY</a:t>
            </a:r>
            <a:r>
              <a:rPr lang="en-US" sz="1200" dirty="0">
                <a:solidFill>
                  <a:srgbClr val="E4E7EC"/>
                </a:solidFill>
                <a:latin typeface="JetBrains Mono" pitchFamily="49" charset="0"/>
                <a:ea typeface="JetBrains Mono" pitchFamily="49" charset="-122"/>
                <a:cs typeface="JetBrains Mono" pitchFamily="49" charset="-120"/>
              </a:rPr>
              <a:t> requirements.txt .</a:t>
            </a:r>
            <a:endParaRPr lang="en-US" sz="1200" dirty="0"/>
          </a:p>
          <a:p>
            <a:pPr algn="l" indent="0" marL="0">
              <a:lnSpc>
                <a:spcPts val="1740"/>
              </a:lnSpc>
              <a:buNone/>
            </a:pPr>
            <a:r>
              <a:rPr lang="en-US" sz="1200" dirty="0">
                <a:solidFill>
                  <a:srgbClr val="8EBBFF"/>
                </a:solidFill>
                <a:latin typeface="JetBrains Mono" pitchFamily="49" charset="0"/>
                <a:ea typeface="JetBrains Mono" pitchFamily="49" charset="-122"/>
                <a:cs typeface="JetBrains Mono" pitchFamily="49" charset="-120"/>
              </a:rPr>
              <a:t>RUN</a:t>
            </a:r>
            <a:r>
              <a:rPr lang="en-US" sz="1200" dirty="0">
                <a:solidFill>
                  <a:srgbClr val="E4E7EC"/>
                </a:solidFill>
                <a:latin typeface="JetBrains Mono" pitchFamily="49" charset="0"/>
                <a:ea typeface="JetBrains Mono" pitchFamily="49" charset="-122"/>
                <a:cs typeface="JetBrains Mono" pitchFamily="49" charset="-120"/>
              </a:rPr>
              <a:t> pip install --no-cache-dir -r requirements.txt</a:t>
            </a:r>
            <a:endParaRPr lang="en-US" sz="1200" dirty="0"/>
          </a:p>
          <a:p>
            <a:pPr algn="l" indent="0" marL="0">
              <a:lnSpc>
                <a:spcPts val="1740"/>
              </a:lnSpc>
              <a:buNone/>
            </a:pPr>
            <a:r>
              <a:rPr lang="en-US" sz="1200" dirty="0">
                <a:solidFill>
                  <a:srgbClr val="8EBBFF"/>
                </a:solidFill>
                <a:latin typeface="JetBrains Mono" pitchFamily="49" charset="0"/>
                <a:ea typeface="JetBrains Mono" pitchFamily="49" charset="-122"/>
                <a:cs typeface="JetBrains Mono" pitchFamily="49" charset="-120"/>
              </a:rPr>
              <a:t>COPY</a:t>
            </a:r>
            <a:r>
              <a:rPr lang="en-US" sz="1200" dirty="0">
                <a:solidFill>
                  <a:srgbClr val="E4E7EC"/>
                </a:solidFill>
                <a:latin typeface="JetBrains Mono" pitchFamily="49" charset="0"/>
                <a:ea typeface="JetBrains Mono" pitchFamily="49" charset="-122"/>
                <a:cs typeface="JetBrains Mono" pitchFamily="49" charset="-120"/>
              </a:rPr>
              <a:t> . .</a:t>
            </a:r>
            <a:endParaRPr lang="en-US" sz="1200" dirty="0"/>
          </a:p>
          <a:p>
            <a:pPr algn="l" indent="0" marL="0">
              <a:lnSpc>
                <a:spcPts val="1740"/>
              </a:lnSpc>
              <a:buNone/>
            </a:pPr>
            <a:r>
              <a:rPr lang="en-US" sz="1200" dirty="0">
                <a:solidFill>
                  <a:srgbClr val="8EBBFF"/>
                </a:solidFill>
                <a:latin typeface="JetBrains Mono" pitchFamily="49" charset="0"/>
                <a:ea typeface="JetBrains Mono" pitchFamily="49" charset="-122"/>
                <a:cs typeface="JetBrains Mono" pitchFamily="49" charset="-120"/>
              </a:rPr>
              <a:t>ENV</a:t>
            </a:r>
            <a:r>
              <a:rPr lang="en-US" sz="1200" dirty="0">
                <a:solidFill>
                  <a:srgbClr val="E4E7EC"/>
                </a:solidFill>
                <a:latin typeface="JetBrains Mono" pitchFamily="49" charset="0"/>
                <a:ea typeface="JetBrains Mono" pitchFamily="49" charset="-122"/>
                <a:cs typeface="JetBrains Mono" pitchFamily="49" charset="-120"/>
              </a:rPr>
              <a:t> PORT=8000</a:t>
            </a:r>
            <a:endParaRPr lang="en-US" sz="1200" dirty="0"/>
          </a:p>
          <a:p>
            <a:pPr algn="l" indent="0" marL="0">
              <a:lnSpc>
                <a:spcPts val="1740"/>
              </a:lnSpc>
              <a:buNone/>
            </a:pPr>
            <a:r>
              <a:rPr lang="en-US" sz="1200" dirty="0">
                <a:solidFill>
                  <a:srgbClr val="8EBBFF"/>
                </a:solidFill>
                <a:latin typeface="JetBrains Mono" pitchFamily="49" charset="0"/>
                <a:ea typeface="JetBrains Mono" pitchFamily="49" charset="-122"/>
                <a:cs typeface="JetBrains Mono" pitchFamily="49" charset="-120"/>
              </a:rPr>
              <a:t>EXPOSE</a:t>
            </a:r>
            <a:r>
              <a:rPr lang="en-US" sz="1200" dirty="0">
                <a:solidFill>
                  <a:srgbClr val="E4E7EC"/>
                </a:solidFill>
                <a:latin typeface="JetBrains Mono" pitchFamily="49" charset="0"/>
                <a:ea typeface="JetBrains Mono" pitchFamily="49" charset="-122"/>
                <a:cs typeface="JetBrains Mono" pitchFamily="49" charset="-120"/>
              </a:rPr>
              <a:t> 8000</a:t>
            </a:r>
            <a:endParaRPr lang="en-US" sz="1200" dirty="0"/>
          </a:p>
          <a:p>
            <a:pPr algn="l" indent="0" marL="0">
              <a:lnSpc>
                <a:spcPts val="1740"/>
              </a:lnSpc>
              <a:buNone/>
            </a:pPr>
            <a:r>
              <a:rPr lang="en-US" sz="1200" dirty="0">
                <a:solidFill>
                  <a:srgbClr val="8EBBFF"/>
                </a:solidFill>
                <a:latin typeface="JetBrains Mono" pitchFamily="49" charset="0"/>
                <a:ea typeface="JetBrains Mono" pitchFamily="49" charset="-122"/>
                <a:cs typeface="JetBrains Mono" pitchFamily="49" charset="-120"/>
              </a:rPr>
              <a:t>USER</a:t>
            </a:r>
            <a:r>
              <a:rPr lang="en-US" sz="1200" dirty="0">
                <a:solidFill>
                  <a:srgbClr val="E4E7EC"/>
                </a:solidFill>
                <a:latin typeface="JetBrains Mono" pitchFamily="49" charset="0"/>
                <a:ea typeface="JetBrains Mono" pitchFamily="49" charset="-122"/>
                <a:cs typeface="JetBrains Mono" pitchFamily="49" charset="-120"/>
              </a:rPr>
              <a:t> 1000</a:t>
            </a:r>
            <a:endParaRPr lang="en-US" sz="1200" dirty="0"/>
          </a:p>
          <a:p>
            <a:pPr algn="l" indent="0" marL="0">
              <a:lnSpc>
                <a:spcPts val="1740"/>
              </a:lnSpc>
              <a:buNone/>
            </a:pPr>
            <a:r>
              <a:rPr lang="en-US" sz="1200" dirty="0">
                <a:solidFill>
                  <a:srgbClr val="8EBBFF"/>
                </a:solidFill>
                <a:latin typeface="JetBrains Mono" pitchFamily="49" charset="0"/>
                <a:ea typeface="JetBrains Mono" pitchFamily="49" charset="-122"/>
                <a:cs typeface="JetBrains Mono" pitchFamily="49" charset="-120"/>
              </a:rPr>
              <a:t>CMD</a:t>
            </a:r>
            <a:r>
              <a:rPr lang="en-US" sz="1200" dirty="0">
                <a:solidFill>
                  <a:srgbClr val="E4E7EC"/>
                </a:solidFill>
                <a:latin typeface="JetBrains Mono" pitchFamily="49" charset="0"/>
                <a:ea typeface="JetBrains Mono" pitchFamily="49" charset="-122"/>
                <a:cs typeface="JetBrains Mono" pitchFamily="49" charset="-120"/>
              </a:rPr>
              <a:t> ["python", "app.py"]</a:t>
            </a:r>
            <a:endParaRPr lang="en-US" sz="1200" dirty="0"/>
          </a:p>
          <a:p>
            <a:pPr algn="l" indent="0" marL="0">
              <a:lnSpc>
                <a:spcPts val="1740"/>
              </a:lnSpc>
              <a:buNone/>
            </a:pPr>
            <a:endParaRPr lang="en-US" sz="1200" dirty="0"/>
          </a:p>
          <a:p>
            <a:pPr algn="l" indent="0" marL="0">
              <a:lnSpc>
                <a:spcPts val="1740"/>
              </a:lnSpc>
              <a:buNone/>
            </a:pPr>
            <a:r>
              <a:rPr lang="en-US" sz="1200" dirty="0">
                <a:solidFill>
                  <a:srgbClr val="8C95A5"/>
                </a:solidFill>
                <a:latin typeface="JetBrains Mono" pitchFamily="49" charset="0"/>
                <a:ea typeface="JetBrains Mono" pitchFamily="49" charset="-122"/>
                <a:cs typeface="JetBrains Mono" pitchFamily="49" charset="-120"/>
              </a:rPr>
              <a:t># build it, tagged myapi:1.0</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docker build -t myapi:1.0 .</a:t>
            </a:r>
            <a:endParaRPr lang="en-US" sz="1200" dirty="0"/>
          </a:p>
        </p:txBody>
      </p:sp>
      <p:sp>
        <p:nvSpPr>
          <p:cNvPr id="5" name="Shape 3"/>
          <p:cNvSpPr/>
          <p:nvPr/>
        </p:nvSpPr>
        <p:spPr>
          <a:xfrm>
            <a:off x="6404689" y="1878965"/>
            <a:ext cx="4974511" cy="0"/>
          </a:xfrm>
          <a:prstGeom prst="line">
            <a:avLst/>
          </a:prstGeom>
          <a:noFill/>
          <a:ln w="6350">
            <a:solidFill>
              <a:srgbClr val="E2DED5"/>
            </a:solidFill>
            <a:prstDash val="solid"/>
          </a:ln>
        </p:spPr>
      </p:sp>
      <p:sp>
        <p:nvSpPr>
          <p:cNvPr id="6" name="Text 4"/>
          <p:cNvSpPr/>
          <p:nvPr/>
        </p:nvSpPr>
        <p:spPr>
          <a:xfrm>
            <a:off x="6404689" y="1600200"/>
            <a:ext cx="1638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22"/>
                </a:solidFill>
                <a:latin typeface="JetBrains Mono" pitchFamily="49" charset="0"/>
                <a:ea typeface="JetBrains Mono" pitchFamily="49" charset="-122"/>
                <a:cs typeface="JetBrains Mono" pitchFamily="49" charset="-120"/>
              </a:rPr>
              <a:t>FROM</a:t>
            </a:r>
            <a:endParaRPr lang="en-US" sz="1200" dirty="0"/>
          </a:p>
        </p:txBody>
      </p:sp>
      <p:sp>
        <p:nvSpPr>
          <p:cNvPr id="7" name="Text 5"/>
          <p:cNvSpPr/>
          <p:nvPr/>
        </p:nvSpPr>
        <p:spPr>
          <a:xfrm>
            <a:off x="8144590" y="1600200"/>
            <a:ext cx="333164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The base image to build on</a:t>
            </a:r>
            <a:endParaRPr lang="en-US" sz="1200" dirty="0"/>
          </a:p>
        </p:txBody>
      </p:sp>
      <p:sp>
        <p:nvSpPr>
          <p:cNvPr id="8" name="Shape 6"/>
          <p:cNvSpPr/>
          <p:nvPr/>
        </p:nvSpPr>
        <p:spPr>
          <a:xfrm>
            <a:off x="6404689" y="2224407"/>
            <a:ext cx="4974511" cy="0"/>
          </a:xfrm>
          <a:prstGeom prst="line">
            <a:avLst/>
          </a:prstGeom>
          <a:noFill/>
          <a:ln w="6350">
            <a:solidFill>
              <a:srgbClr val="E2DED5"/>
            </a:solidFill>
            <a:prstDash val="solid"/>
          </a:ln>
        </p:spPr>
      </p:sp>
      <p:sp>
        <p:nvSpPr>
          <p:cNvPr id="9" name="Text 7"/>
          <p:cNvSpPr/>
          <p:nvPr/>
        </p:nvSpPr>
        <p:spPr>
          <a:xfrm>
            <a:off x="6404689" y="1945642"/>
            <a:ext cx="1638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22"/>
                </a:solidFill>
                <a:latin typeface="JetBrains Mono" pitchFamily="49" charset="0"/>
                <a:ea typeface="JetBrains Mono" pitchFamily="49" charset="-122"/>
                <a:cs typeface="JetBrains Mono" pitchFamily="49" charset="-120"/>
              </a:rPr>
              <a:t>WORKDIR</a:t>
            </a:r>
            <a:endParaRPr lang="en-US" sz="1200" dirty="0"/>
          </a:p>
        </p:txBody>
      </p:sp>
      <p:sp>
        <p:nvSpPr>
          <p:cNvPr id="10" name="Text 8"/>
          <p:cNvSpPr/>
          <p:nvPr/>
        </p:nvSpPr>
        <p:spPr>
          <a:xfrm>
            <a:off x="8144590" y="1945642"/>
            <a:ext cx="333164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Folder for the steps that follow</a:t>
            </a:r>
            <a:endParaRPr lang="en-US" sz="1200" dirty="0"/>
          </a:p>
        </p:txBody>
      </p:sp>
      <p:sp>
        <p:nvSpPr>
          <p:cNvPr id="11" name="Shape 9"/>
          <p:cNvSpPr/>
          <p:nvPr/>
        </p:nvSpPr>
        <p:spPr>
          <a:xfrm>
            <a:off x="6404689" y="2569844"/>
            <a:ext cx="4974511" cy="0"/>
          </a:xfrm>
          <a:prstGeom prst="line">
            <a:avLst/>
          </a:prstGeom>
          <a:noFill/>
          <a:ln w="6350">
            <a:solidFill>
              <a:srgbClr val="E2DED5"/>
            </a:solidFill>
            <a:prstDash val="solid"/>
          </a:ln>
        </p:spPr>
      </p:sp>
      <p:sp>
        <p:nvSpPr>
          <p:cNvPr id="12" name="Text 10"/>
          <p:cNvSpPr/>
          <p:nvPr/>
        </p:nvSpPr>
        <p:spPr>
          <a:xfrm>
            <a:off x="6404689" y="2291079"/>
            <a:ext cx="1638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22"/>
                </a:solidFill>
                <a:latin typeface="JetBrains Mono" pitchFamily="49" charset="0"/>
                <a:ea typeface="JetBrains Mono" pitchFamily="49" charset="-122"/>
                <a:cs typeface="JetBrains Mono" pitchFamily="49" charset="-120"/>
              </a:rPr>
              <a:t>COPY / ADD</a:t>
            </a:r>
            <a:endParaRPr lang="en-US" sz="1200" dirty="0"/>
          </a:p>
        </p:txBody>
      </p:sp>
      <p:sp>
        <p:nvSpPr>
          <p:cNvPr id="13" name="Text 11"/>
          <p:cNvSpPr/>
          <p:nvPr/>
        </p:nvSpPr>
        <p:spPr>
          <a:xfrm>
            <a:off x="8144590" y="2291079"/>
            <a:ext cx="333164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Copy files in (prefer COPY)</a:t>
            </a:r>
            <a:endParaRPr lang="en-US" sz="1200" dirty="0"/>
          </a:p>
        </p:txBody>
      </p:sp>
      <p:sp>
        <p:nvSpPr>
          <p:cNvPr id="14" name="Shape 12"/>
          <p:cNvSpPr/>
          <p:nvPr/>
        </p:nvSpPr>
        <p:spPr>
          <a:xfrm>
            <a:off x="6404689" y="2915286"/>
            <a:ext cx="4974511" cy="0"/>
          </a:xfrm>
          <a:prstGeom prst="line">
            <a:avLst/>
          </a:prstGeom>
          <a:noFill/>
          <a:ln w="6350">
            <a:solidFill>
              <a:srgbClr val="E2DED5"/>
            </a:solidFill>
            <a:prstDash val="solid"/>
          </a:ln>
        </p:spPr>
      </p:sp>
      <p:sp>
        <p:nvSpPr>
          <p:cNvPr id="15" name="Text 13"/>
          <p:cNvSpPr/>
          <p:nvPr/>
        </p:nvSpPr>
        <p:spPr>
          <a:xfrm>
            <a:off x="6404689" y="2636521"/>
            <a:ext cx="1638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22"/>
                </a:solidFill>
                <a:latin typeface="JetBrains Mono" pitchFamily="49" charset="0"/>
                <a:ea typeface="JetBrains Mono" pitchFamily="49" charset="-122"/>
                <a:cs typeface="JetBrains Mono" pitchFamily="49" charset="-120"/>
              </a:rPr>
              <a:t>RUN</a:t>
            </a:r>
            <a:endParaRPr lang="en-US" sz="1200" dirty="0"/>
          </a:p>
        </p:txBody>
      </p:sp>
      <p:sp>
        <p:nvSpPr>
          <p:cNvPr id="16" name="Text 14"/>
          <p:cNvSpPr/>
          <p:nvPr/>
        </p:nvSpPr>
        <p:spPr>
          <a:xfrm>
            <a:off x="8144590" y="2636521"/>
            <a:ext cx="333164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Run a command at build time; adds a layer</a:t>
            </a:r>
            <a:endParaRPr lang="en-US" sz="1200" dirty="0"/>
          </a:p>
        </p:txBody>
      </p:sp>
      <p:sp>
        <p:nvSpPr>
          <p:cNvPr id="17" name="Shape 15"/>
          <p:cNvSpPr/>
          <p:nvPr/>
        </p:nvSpPr>
        <p:spPr>
          <a:xfrm>
            <a:off x="6404689" y="3260729"/>
            <a:ext cx="4974511" cy="0"/>
          </a:xfrm>
          <a:prstGeom prst="line">
            <a:avLst/>
          </a:prstGeom>
          <a:noFill/>
          <a:ln w="6350">
            <a:solidFill>
              <a:srgbClr val="E2DED5"/>
            </a:solidFill>
            <a:prstDash val="solid"/>
          </a:ln>
        </p:spPr>
      </p:sp>
      <p:sp>
        <p:nvSpPr>
          <p:cNvPr id="18" name="Text 16"/>
          <p:cNvSpPr/>
          <p:nvPr/>
        </p:nvSpPr>
        <p:spPr>
          <a:xfrm>
            <a:off x="6404689" y="2981964"/>
            <a:ext cx="1638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22"/>
                </a:solidFill>
                <a:latin typeface="JetBrains Mono" pitchFamily="49" charset="0"/>
                <a:ea typeface="JetBrains Mono" pitchFamily="49" charset="-122"/>
                <a:cs typeface="JetBrains Mono" pitchFamily="49" charset="-120"/>
              </a:rPr>
              <a:t>ENV / ARG</a:t>
            </a:r>
            <a:endParaRPr lang="en-US" sz="1200" dirty="0"/>
          </a:p>
        </p:txBody>
      </p:sp>
      <p:sp>
        <p:nvSpPr>
          <p:cNvPr id="19" name="Text 17"/>
          <p:cNvSpPr/>
          <p:nvPr/>
        </p:nvSpPr>
        <p:spPr>
          <a:xfrm>
            <a:off x="8144590" y="2981964"/>
            <a:ext cx="333164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Runtime variable / build-time variable</a:t>
            </a:r>
            <a:endParaRPr lang="en-US" sz="1200" dirty="0"/>
          </a:p>
        </p:txBody>
      </p:sp>
      <p:sp>
        <p:nvSpPr>
          <p:cNvPr id="20" name="Shape 18"/>
          <p:cNvSpPr/>
          <p:nvPr/>
        </p:nvSpPr>
        <p:spPr>
          <a:xfrm>
            <a:off x="6404689" y="3606165"/>
            <a:ext cx="4974511" cy="0"/>
          </a:xfrm>
          <a:prstGeom prst="line">
            <a:avLst/>
          </a:prstGeom>
          <a:noFill/>
          <a:ln w="6350">
            <a:solidFill>
              <a:srgbClr val="E2DED5"/>
            </a:solidFill>
            <a:prstDash val="solid"/>
          </a:ln>
        </p:spPr>
      </p:sp>
      <p:sp>
        <p:nvSpPr>
          <p:cNvPr id="21" name="Text 19"/>
          <p:cNvSpPr/>
          <p:nvPr/>
        </p:nvSpPr>
        <p:spPr>
          <a:xfrm>
            <a:off x="6404689" y="3327400"/>
            <a:ext cx="1638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22"/>
                </a:solidFill>
                <a:latin typeface="JetBrains Mono" pitchFamily="49" charset="0"/>
                <a:ea typeface="JetBrains Mono" pitchFamily="49" charset="-122"/>
                <a:cs typeface="JetBrains Mono" pitchFamily="49" charset="-120"/>
              </a:rPr>
              <a:t>EXPOSE</a:t>
            </a:r>
            <a:endParaRPr lang="en-US" sz="1200" dirty="0"/>
          </a:p>
        </p:txBody>
      </p:sp>
      <p:sp>
        <p:nvSpPr>
          <p:cNvPr id="22" name="Text 20"/>
          <p:cNvSpPr/>
          <p:nvPr/>
        </p:nvSpPr>
        <p:spPr>
          <a:xfrm>
            <a:off x="8144590" y="3327400"/>
            <a:ext cx="333164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Document the port the app listens on</a:t>
            </a:r>
            <a:endParaRPr lang="en-US" sz="1200" dirty="0"/>
          </a:p>
        </p:txBody>
      </p:sp>
      <p:sp>
        <p:nvSpPr>
          <p:cNvPr id="23" name="Shape 21"/>
          <p:cNvSpPr/>
          <p:nvPr/>
        </p:nvSpPr>
        <p:spPr>
          <a:xfrm>
            <a:off x="6404689" y="3951607"/>
            <a:ext cx="4974511" cy="0"/>
          </a:xfrm>
          <a:prstGeom prst="line">
            <a:avLst/>
          </a:prstGeom>
          <a:noFill/>
          <a:ln w="6350">
            <a:solidFill>
              <a:srgbClr val="E2DED5"/>
            </a:solidFill>
            <a:prstDash val="solid"/>
          </a:ln>
        </p:spPr>
      </p:sp>
      <p:sp>
        <p:nvSpPr>
          <p:cNvPr id="24" name="Text 22"/>
          <p:cNvSpPr/>
          <p:nvPr/>
        </p:nvSpPr>
        <p:spPr>
          <a:xfrm>
            <a:off x="6404689" y="3672842"/>
            <a:ext cx="1638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22"/>
                </a:solidFill>
                <a:latin typeface="JetBrains Mono" pitchFamily="49" charset="0"/>
                <a:ea typeface="JetBrains Mono" pitchFamily="49" charset="-122"/>
                <a:cs typeface="JetBrains Mono" pitchFamily="49" charset="-120"/>
              </a:rPr>
              <a:t>USER</a:t>
            </a:r>
            <a:endParaRPr lang="en-US" sz="1200" dirty="0"/>
          </a:p>
        </p:txBody>
      </p:sp>
      <p:sp>
        <p:nvSpPr>
          <p:cNvPr id="25" name="Text 23"/>
          <p:cNvSpPr/>
          <p:nvPr/>
        </p:nvSpPr>
        <p:spPr>
          <a:xfrm>
            <a:off x="8144590" y="3672842"/>
            <a:ext cx="333164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Switch to a non-root user</a:t>
            </a:r>
            <a:endParaRPr lang="en-US" sz="1200" dirty="0"/>
          </a:p>
        </p:txBody>
      </p:sp>
      <p:sp>
        <p:nvSpPr>
          <p:cNvPr id="26" name="Shape 24"/>
          <p:cNvSpPr/>
          <p:nvPr/>
        </p:nvSpPr>
        <p:spPr>
          <a:xfrm>
            <a:off x="6404689" y="4297044"/>
            <a:ext cx="4974511" cy="0"/>
          </a:xfrm>
          <a:prstGeom prst="line">
            <a:avLst/>
          </a:prstGeom>
          <a:noFill/>
          <a:ln w="6350">
            <a:solidFill>
              <a:srgbClr val="E2DED5"/>
            </a:solidFill>
            <a:prstDash val="solid"/>
          </a:ln>
        </p:spPr>
      </p:sp>
      <p:sp>
        <p:nvSpPr>
          <p:cNvPr id="27" name="Text 25"/>
          <p:cNvSpPr/>
          <p:nvPr/>
        </p:nvSpPr>
        <p:spPr>
          <a:xfrm>
            <a:off x="6404689" y="4018279"/>
            <a:ext cx="1638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22"/>
                </a:solidFill>
                <a:latin typeface="JetBrains Mono" pitchFamily="49" charset="0"/>
                <a:ea typeface="JetBrains Mono" pitchFamily="49" charset="-122"/>
                <a:cs typeface="JetBrains Mono" pitchFamily="49" charset="-120"/>
              </a:rPr>
              <a:t>CMD / ENTRYPOINT</a:t>
            </a:r>
            <a:endParaRPr lang="en-US" sz="1200" dirty="0"/>
          </a:p>
        </p:txBody>
      </p:sp>
      <p:sp>
        <p:nvSpPr>
          <p:cNvPr id="28" name="Text 26"/>
          <p:cNvSpPr/>
          <p:nvPr/>
        </p:nvSpPr>
        <p:spPr>
          <a:xfrm>
            <a:off x="8144590" y="4018279"/>
            <a:ext cx="333164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What runs when the container starts</a:t>
            </a:r>
            <a:endParaRPr lang="en-US" sz="1200" dirty="0"/>
          </a:p>
        </p:txBody>
      </p:sp>
      <p:sp>
        <p:nvSpPr>
          <p:cNvPr id="29" name="Shape 27"/>
          <p:cNvSpPr/>
          <p:nvPr/>
        </p:nvSpPr>
        <p:spPr>
          <a:xfrm>
            <a:off x="6404689" y="4642486"/>
            <a:ext cx="4974511" cy="0"/>
          </a:xfrm>
          <a:prstGeom prst="line">
            <a:avLst/>
          </a:prstGeom>
          <a:noFill/>
          <a:ln w="6350">
            <a:solidFill>
              <a:srgbClr val="E2DED5"/>
            </a:solidFill>
            <a:prstDash val="solid"/>
          </a:ln>
        </p:spPr>
      </p:sp>
      <p:sp>
        <p:nvSpPr>
          <p:cNvPr id="30" name="Text 28"/>
          <p:cNvSpPr/>
          <p:nvPr/>
        </p:nvSpPr>
        <p:spPr>
          <a:xfrm>
            <a:off x="6404689" y="4363721"/>
            <a:ext cx="1638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22"/>
                </a:solidFill>
                <a:latin typeface="JetBrains Mono" pitchFamily="49" charset="0"/>
                <a:ea typeface="JetBrains Mono" pitchFamily="49" charset="-122"/>
                <a:cs typeface="JetBrains Mono" pitchFamily="49" charset="-120"/>
              </a:rPr>
              <a:t>HEALTHCHECK</a:t>
            </a:r>
            <a:endParaRPr lang="en-US" sz="1200" dirty="0"/>
          </a:p>
        </p:txBody>
      </p:sp>
      <p:sp>
        <p:nvSpPr>
          <p:cNvPr id="31" name="Text 29"/>
          <p:cNvSpPr/>
          <p:nvPr/>
        </p:nvSpPr>
        <p:spPr>
          <a:xfrm>
            <a:off x="8144590" y="4363721"/>
            <a:ext cx="333164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How Docker tests that the app is healthy</a:t>
            </a:r>
            <a:endParaRPr lang="en-US" sz="1200" dirty="0"/>
          </a:p>
        </p:txBody>
      </p:sp>
      <p:sp>
        <p:nvSpPr>
          <p:cNvPr id="32" name="Text 30"/>
          <p:cNvSpPr/>
          <p:nvPr/>
        </p:nvSpPr>
        <p:spPr>
          <a:xfrm>
            <a:off x="812800" y="6238242"/>
            <a:ext cx="32428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Docker Fundamentals · Building images</a:t>
            </a:r>
            <a:endParaRPr lang="en-US" sz="1200" dirty="0"/>
          </a:p>
        </p:txBody>
      </p:sp>
      <p:sp>
        <p:nvSpPr>
          <p:cNvPr id="33" name="Text 31"/>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CMD vs ENTRYPOINT</a:t>
            </a:r>
            <a:endParaRPr lang="en-US" sz="3000" dirty="0"/>
          </a:p>
        </p:txBody>
      </p:sp>
      <p:sp>
        <p:nvSpPr>
          <p:cNvPr id="3" name="Shape 1"/>
          <p:cNvSpPr/>
          <p:nvPr/>
        </p:nvSpPr>
        <p:spPr>
          <a:xfrm>
            <a:off x="815975" y="1489075"/>
            <a:ext cx="5175250" cy="1195070"/>
          </a:xfrm>
          <a:prstGeom prst="roundRect">
            <a:avLst>
              <a:gd name="adj" fmla="val 8236"/>
            </a:avLst>
          </a:prstGeom>
          <a:solidFill>
            <a:srgbClr val="FDFCFA"/>
          </a:solidFill>
          <a:ln w="6350">
            <a:solidFill>
              <a:srgbClr val="E2DED5"/>
            </a:solidFill>
            <a:prstDash val="solid"/>
          </a:ln>
        </p:spPr>
      </p:sp>
      <p:sp>
        <p:nvSpPr>
          <p:cNvPr id="4" name="Text 2"/>
          <p:cNvSpPr/>
          <p:nvPr/>
        </p:nvSpPr>
        <p:spPr>
          <a:xfrm>
            <a:off x="1046480" y="1668779"/>
            <a:ext cx="485566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5FC4"/>
                </a:solidFill>
                <a:latin typeface="JetBrains Mono" pitchFamily="49" charset="0"/>
                <a:ea typeface="JetBrains Mono" pitchFamily="49" charset="-122"/>
                <a:cs typeface="JetBrains Mono" pitchFamily="49" charset="-120"/>
              </a:rPr>
              <a:t>ENTRYPOINT</a:t>
            </a:r>
            <a:endParaRPr lang="en-US" sz="1800" dirty="0"/>
          </a:p>
        </p:txBody>
      </p:sp>
      <p:sp>
        <p:nvSpPr>
          <p:cNvPr id="5" name="Text 3"/>
          <p:cNvSpPr/>
          <p:nvPr/>
        </p:nvSpPr>
        <p:spPr>
          <a:xfrm>
            <a:off x="1046480" y="2006600"/>
            <a:ext cx="485566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The executable. Fixed unless you pass --entrypoint.</a:t>
            </a:r>
            <a:endParaRPr lang="en-US" sz="1400" dirty="0"/>
          </a:p>
        </p:txBody>
      </p:sp>
      <p:sp>
        <p:nvSpPr>
          <p:cNvPr id="6" name="Shape 4"/>
          <p:cNvSpPr/>
          <p:nvPr/>
        </p:nvSpPr>
        <p:spPr>
          <a:xfrm>
            <a:off x="6200775" y="1489075"/>
            <a:ext cx="5175250" cy="1195070"/>
          </a:xfrm>
          <a:prstGeom prst="roundRect">
            <a:avLst>
              <a:gd name="adj" fmla="val 8236"/>
            </a:avLst>
          </a:prstGeom>
          <a:solidFill>
            <a:srgbClr val="FDFCFA"/>
          </a:solidFill>
          <a:ln w="6350">
            <a:solidFill>
              <a:srgbClr val="E2DED5"/>
            </a:solidFill>
            <a:prstDash val="solid"/>
          </a:ln>
        </p:spPr>
      </p:sp>
      <p:sp>
        <p:nvSpPr>
          <p:cNvPr id="7" name="Text 5"/>
          <p:cNvSpPr/>
          <p:nvPr/>
        </p:nvSpPr>
        <p:spPr>
          <a:xfrm>
            <a:off x="6431280" y="1668779"/>
            <a:ext cx="485566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5FC4"/>
                </a:solidFill>
                <a:latin typeface="JetBrains Mono" pitchFamily="49" charset="0"/>
                <a:ea typeface="JetBrains Mono" pitchFamily="49" charset="-122"/>
                <a:cs typeface="JetBrains Mono" pitchFamily="49" charset="-120"/>
              </a:rPr>
              <a:t>CMD</a:t>
            </a:r>
            <a:endParaRPr lang="en-US" sz="1800" dirty="0"/>
          </a:p>
        </p:txBody>
      </p:sp>
      <p:sp>
        <p:nvSpPr>
          <p:cNvPr id="8" name="Text 6"/>
          <p:cNvSpPr/>
          <p:nvPr/>
        </p:nvSpPr>
        <p:spPr>
          <a:xfrm>
            <a:off x="6431280" y="2006600"/>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Default arguments or command. Replaced by anything typed after the image name.</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2960" y="2951481"/>
          <a:ext cx="10556240" cy="1320800"/>
        </p:xfrm>
        <a:graphic>
          <a:graphicData uri="http://schemas.openxmlformats.org/drawingml/2006/table">
            <a:tbl>
              <a:tblPr/>
              <a:tblGrid>
                <a:gridCol w="4644746"/>
                <a:gridCol w="2533498"/>
                <a:gridCol w="3377997"/>
              </a:tblGrid>
              <a:tr h="330200">
                <a:tc>
                  <a:txBody>
                    <a:bodyPr/>
                    <a:lstStyle/>
                    <a:p>
                      <a:pPr indent="0" marL="0">
                        <a:lnSpc>
                          <a:spcPts val="1680"/>
                        </a:lnSpc>
                        <a:buNone/>
                      </a:pPr>
                      <a:r>
                        <a:rPr lang="en-US" sz="1200" b="1" dirty="0">
                          <a:solidFill>
                            <a:srgbClr val="2B3240"/>
                          </a:solidFill>
                          <a:latin typeface="JetBrains Mono" pitchFamily="49" charset="0"/>
                          <a:ea typeface="JetBrains Mono" pitchFamily="49" charset="-122"/>
                          <a:cs typeface="JetBrains Mono" pitchFamily="49" charset="-120"/>
                        </a:rPr>
                        <a:t>In the Dockerfile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JetBrains Mono" pitchFamily="49" charset="0"/>
                          <a:ea typeface="JetBrains Mono" pitchFamily="49" charset="-122"/>
                          <a:cs typeface="JetBrains Mono" pitchFamily="49" charset="-120"/>
                        </a:rPr>
                        <a:t>docker run img</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JetBrains Mono" pitchFamily="49" charset="0"/>
                          <a:ea typeface="JetBrains Mono" pitchFamily="49" charset="-122"/>
                          <a:cs typeface="JetBrains Mono" pitchFamily="49" charset="-120"/>
                        </a:rPr>
                        <a:t>docker run img --help</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r>
              <a:tr h="330200">
                <a:tc>
                  <a:txBody>
                    <a:bodyPr/>
                    <a:lstStyle/>
                    <a:p>
                      <a:pPr indent="0" marL="0">
                        <a:lnSpc>
                          <a:spcPts val="1680"/>
                        </a:lnSpc>
                        <a:buNone/>
                      </a:pPr>
                      <a:r>
                        <a:rPr lang="en-US" sz="1200" dirty="0">
                          <a:solidFill>
                            <a:srgbClr val="2B3240"/>
                          </a:solidFill>
                          <a:latin typeface="JetBrains Mono" pitchFamily="49" charset="0"/>
                          <a:ea typeface="JetBrains Mono" pitchFamily="49" charset="-122"/>
                          <a:cs typeface="JetBrains Mono" pitchFamily="49" charset="-120"/>
                        </a:rPr>
                        <a:t>CMD ["python", "app.py"]</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JetBrains Mono" pitchFamily="49" charset="0"/>
                          <a:ea typeface="JetBrains Mono" pitchFamily="49" charset="-122"/>
                          <a:cs typeface="JetBrains Mono" pitchFamily="49" charset="-120"/>
                        </a:rPr>
                        <a:t>python app.py</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JetBrains Mono" pitchFamily="49" charset="0"/>
                          <a:ea typeface="JetBrains Mono" pitchFamily="49" charset="-122"/>
                          <a:cs typeface="JetBrains Mono" pitchFamily="49" charset="-120"/>
                        </a:rPr>
                        <a:t>fails: --help is not a program</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JetBrains Mono" pitchFamily="49" charset="0"/>
                          <a:ea typeface="JetBrains Mono" pitchFamily="49" charset="-122"/>
                          <a:cs typeface="JetBrains Mono" pitchFamily="49" charset="-120"/>
                        </a:rPr>
                        <a:t>ENTRYPOINT ["python", "app.py"]</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JetBrains Mono" pitchFamily="49" charset="0"/>
                          <a:ea typeface="JetBrains Mono" pitchFamily="49" charset="-122"/>
                          <a:cs typeface="JetBrains Mono" pitchFamily="49" charset="-120"/>
                        </a:rPr>
                        <a:t>python app.py</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JetBrains Mono" pitchFamily="49" charset="0"/>
                          <a:ea typeface="JetBrains Mono" pitchFamily="49" charset="-122"/>
                          <a:cs typeface="JetBrains Mono" pitchFamily="49" charset="-120"/>
                        </a:rPr>
                        <a:t>python app.py --help</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JetBrains Mono" pitchFamily="49" charset="0"/>
                          <a:ea typeface="JetBrains Mono" pitchFamily="49" charset="-122"/>
                          <a:cs typeface="JetBrains Mono" pitchFamily="49" charset="-120"/>
                        </a:rPr>
                        <a:t>ENTRYPOINT ["python"] + CMD ["app.py"]</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JetBrains Mono" pitchFamily="49" charset="0"/>
                          <a:ea typeface="JetBrains Mono" pitchFamily="49" charset="-122"/>
                          <a:cs typeface="JetBrains Mono" pitchFamily="49" charset="-120"/>
                        </a:rPr>
                        <a:t>python app.py</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JetBrains Mono" pitchFamily="49" charset="0"/>
                          <a:ea typeface="JetBrains Mono" pitchFamily="49" charset="-122"/>
                          <a:cs typeface="JetBrains Mono" pitchFamily="49" charset="-120"/>
                        </a:rPr>
                        <a:t>python --help</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10" name="Text 7"/>
          <p:cNvSpPr/>
          <p:nvPr/>
        </p:nvSpPr>
        <p:spPr>
          <a:xfrm>
            <a:off x="812800" y="4526279"/>
            <a:ext cx="10566400" cy="853440"/>
          </a:xfrm>
          <a:prstGeom prst="roundRect">
            <a:avLst>
              <a:gd name="adj" fmla="val 11905"/>
            </a:avLst>
          </a:prstGeom>
          <a:solidFill>
            <a:srgbClr val="ECE9E2"/>
          </a:solidFill>
          <a:ln/>
        </p:spPr>
        <p:txBody>
          <a:bodyPr wrap="square" lIns="198842" tIns="148042" rIns="0" bIns="122642" rtlCol="0" anchor="t">
            <a:normAutofit/>
          </a:bodyPr>
          <a:lstStyle/>
          <a:p>
            <a:pPr algn="l" indent="0" marL="0">
              <a:lnSpc>
                <a:spcPts val="1960"/>
              </a:lnSpc>
              <a:buNone/>
            </a:pPr>
            <a:r>
              <a:rPr lang="en-US" sz="1400" b="1" dirty="0">
                <a:solidFill>
                  <a:srgbClr val="2B3240"/>
                </a:solidFill>
                <a:latin typeface="IBM Plex Sans" pitchFamily="34" charset="0"/>
                <a:ea typeface="IBM Plex Sans" pitchFamily="34" charset="-122"/>
                <a:cs typeface="IBM Plex Sans" pitchFamily="34" charset="-120"/>
              </a:rPr>
              <a:t>Always use the exec form</a:t>
            </a:r>
            <a:r>
              <a:rPr lang="en-US" sz="1400" dirty="0">
                <a:solidFill>
                  <a:srgbClr val="2B3240"/>
                </a:solidFill>
                <a:latin typeface="IBM Plex Sans" pitchFamily="34" charset="0"/>
                <a:ea typeface="IBM Plex Sans" pitchFamily="34" charset="-122"/>
                <a:cs typeface="IBM Plex Sans" pitchFamily="34" charset="-120"/>
              </a:rPr>
              <a:t> (a JSON array). The shell form — CMD python app.py — runs under /bin/sh -c, so your app may never receive SIGTERM.</a:t>
            </a:r>
            <a:endParaRPr lang="en-US" sz="1400" dirty="0"/>
          </a:p>
        </p:txBody>
      </p:sp>
      <p:sp>
        <p:nvSpPr>
          <p:cNvPr id="11" name="Text 8"/>
          <p:cNvSpPr/>
          <p:nvPr/>
        </p:nvSpPr>
        <p:spPr>
          <a:xfrm>
            <a:off x="812800" y="6238242"/>
            <a:ext cx="32428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Docker Fundamentals · Building images</a:t>
            </a:r>
            <a:endParaRPr lang="en-US" sz="1200" dirty="0"/>
          </a:p>
        </p:txBody>
      </p:sp>
      <p:sp>
        <p:nvSpPr>
          <p:cNvPr id="12" name="Text 9"/>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Build context and .dockerignore</a:t>
            </a:r>
            <a:endParaRPr lang="en-US" sz="3000" dirty="0"/>
          </a:p>
        </p:txBody>
      </p:sp>
      <p:sp>
        <p:nvSpPr>
          <p:cNvPr id="3" name="Text 1"/>
          <p:cNvSpPr/>
          <p:nvPr/>
        </p:nvSpPr>
        <p:spPr>
          <a:xfrm>
            <a:off x="812800" y="1562100"/>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5FC4"/>
                </a:solidFill>
                <a:latin typeface="JetBrains Mono" pitchFamily="49" charset="0"/>
                <a:ea typeface="JetBrains Mono" pitchFamily="49" charset="-122"/>
                <a:cs typeface="JetBrains Mono" pitchFamily="49" charset="-120"/>
              </a:rPr>
              <a:t>01</a:t>
            </a:r>
            <a:endParaRPr lang="en-US" sz="1200" dirty="0"/>
          </a:p>
        </p:txBody>
      </p:sp>
      <p:sp>
        <p:nvSpPr>
          <p:cNvPr id="4" name="Text 2"/>
          <p:cNvSpPr/>
          <p:nvPr/>
        </p:nvSpPr>
        <p:spPr>
          <a:xfrm>
            <a:off x="1122680" y="1536700"/>
            <a:ext cx="595970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240"/>
                </a:solidFill>
                <a:latin typeface="IBM Plex Sans" pitchFamily="34" charset="0"/>
                <a:ea typeface="IBM Plex Sans" pitchFamily="34" charset="-122"/>
                <a:cs typeface="IBM Plex Sans" pitchFamily="34" charset="-120"/>
              </a:rPr>
              <a:t>docker build .</a:t>
            </a:r>
            <a:r>
              <a:rPr lang="en-US" sz="1400" dirty="0">
                <a:solidFill>
                  <a:srgbClr val="2B3240"/>
                </a:solidFill>
                <a:latin typeface="IBM Plex Sans" pitchFamily="34" charset="0"/>
                <a:ea typeface="IBM Plex Sans" pitchFamily="34" charset="-122"/>
                <a:cs typeface="IBM Plex Sans" pitchFamily="34" charset="-120"/>
              </a:rPr>
              <a:t> sends the folder “.” — the build context — to the builder.</a:t>
            </a:r>
            <a:endParaRPr lang="en-US" sz="1400" dirty="0"/>
          </a:p>
        </p:txBody>
      </p:sp>
      <p:sp>
        <p:nvSpPr>
          <p:cNvPr id="5" name="Text 3"/>
          <p:cNvSpPr/>
          <p:nvPr/>
        </p:nvSpPr>
        <p:spPr>
          <a:xfrm>
            <a:off x="812800" y="1963421"/>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5FC4"/>
                </a:solidFill>
                <a:latin typeface="JetBrains Mono" pitchFamily="49" charset="0"/>
                <a:ea typeface="JetBrains Mono" pitchFamily="49" charset="-122"/>
                <a:cs typeface="JetBrains Mono" pitchFamily="49" charset="-120"/>
              </a:rPr>
              <a:t>02</a:t>
            </a:r>
            <a:endParaRPr lang="en-US" sz="1200" dirty="0"/>
          </a:p>
        </p:txBody>
      </p:sp>
      <p:sp>
        <p:nvSpPr>
          <p:cNvPr id="6" name="Text 4"/>
          <p:cNvSpPr/>
          <p:nvPr/>
        </p:nvSpPr>
        <p:spPr>
          <a:xfrm>
            <a:off x="1122680" y="1938021"/>
            <a:ext cx="595970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COPY can only reach files inside that context.</a:t>
            </a:r>
            <a:endParaRPr lang="en-US" sz="1400" dirty="0"/>
          </a:p>
        </p:txBody>
      </p:sp>
      <p:sp>
        <p:nvSpPr>
          <p:cNvPr id="7" name="Text 5"/>
          <p:cNvSpPr/>
          <p:nvPr/>
        </p:nvSpPr>
        <p:spPr>
          <a:xfrm>
            <a:off x="812800" y="23647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5FC4"/>
                </a:solidFill>
                <a:latin typeface="JetBrains Mono" pitchFamily="49" charset="0"/>
                <a:ea typeface="JetBrains Mono" pitchFamily="49" charset="-122"/>
                <a:cs typeface="JetBrains Mono" pitchFamily="49" charset="-120"/>
              </a:rPr>
              <a:t>03</a:t>
            </a:r>
            <a:endParaRPr lang="en-US" sz="1200" dirty="0"/>
          </a:p>
        </p:txBody>
      </p:sp>
      <p:sp>
        <p:nvSpPr>
          <p:cNvPr id="8" name="Text 6"/>
          <p:cNvSpPr/>
          <p:nvPr/>
        </p:nvSpPr>
        <p:spPr>
          <a:xfrm>
            <a:off x="1122680" y="2339342"/>
            <a:ext cx="595970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A large context slows every build, and a stray .env or key file can end up inside the image.</a:t>
            </a:r>
            <a:endParaRPr lang="en-US" sz="1400" dirty="0"/>
          </a:p>
        </p:txBody>
      </p:sp>
      <p:sp>
        <p:nvSpPr>
          <p:cNvPr id="9" name="Text 7"/>
          <p:cNvSpPr/>
          <p:nvPr/>
        </p:nvSpPr>
        <p:spPr>
          <a:xfrm>
            <a:off x="812800" y="3014979"/>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5FC4"/>
                </a:solidFill>
                <a:latin typeface="JetBrains Mono" pitchFamily="49" charset="0"/>
                <a:ea typeface="JetBrains Mono" pitchFamily="49" charset="-122"/>
                <a:cs typeface="JetBrains Mono" pitchFamily="49" charset="-120"/>
              </a:rPr>
              <a:t>04</a:t>
            </a:r>
            <a:endParaRPr lang="en-US" sz="1200" dirty="0"/>
          </a:p>
        </p:txBody>
      </p:sp>
      <p:sp>
        <p:nvSpPr>
          <p:cNvPr id="10" name="Text 8"/>
          <p:cNvSpPr/>
          <p:nvPr/>
        </p:nvSpPr>
        <p:spPr>
          <a:xfrm>
            <a:off x="1122680" y="2989579"/>
            <a:ext cx="5959704"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240"/>
                </a:solidFill>
                <a:latin typeface="IBM Plex Sans" pitchFamily="34" charset="0"/>
                <a:ea typeface="IBM Plex Sans" pitchFamily="34" charset="-122"/>
                <a:cs typeface="IBM Plex Sans" pitchFamily="34" charset="-120"/>
              </a:rPr>
              <a:t>.dockerignore</a:t>
            </a:r>
            <a:r>
              <a:rPr lang="en-US" sz="1400" dirty="0">
                <a:solidFill>
                  <a:srgbClr val="2B3240"/>
                </a:solidFill>
                <a:latin typeface="IBM Plex Sans" pitchFamily="34" charset="0"/>
                <a:ea typeface="IBM Plex Sans" pitchFamily="34" charset="-122"/>
                <a:cs typeface="IBM Plex Sans" pitchFamily="34" charset="-120"/>
              </a:rPr>
              <a:t> excludes files from the context, with .gitignore-style patterns.</a:t>
            </a:r>
            <a:endParaRPr lang="en-US" sz="1400" dirty="0"/>
          </a:p>
        </p:txBody>
      </p:sp>
      <p:sp>
        <p:nvSpPr>
          <p:cNvPr id="11" name="Text 9"/>
          <p:cNvSpPr/>
          <p:nvPr/>
        </p:nvSpPr>
        <p:spPr>
          <a:xfrm>
            <a:off x="812800" y="3665221"/>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5FC4"/>
                </a:solidFill>
                <a:latin typeface="JetBrains Mono" pitchFamily="49" charset="0"/>
                <a:ea typeface="JetBrains Mono" pitchFamily="49" charset="-122"/>
                <a:cs typeface="JetBrains Mono" pitchFamily="49" charset="-120"/>
              </a:rPr>
              <a:t>05</a:t>
            </a:r>
            <a:endParaRPr lang="en-US" sz="1200" dirty="0"/>
          </a:p>
        </p:txBody>
      </p:sp>
      <p:sp>
        <p:nvSpPr>
          <p:cNvPr id="12" name="Text 10"/>
          <p:cNvSpPr/>
          <p:nvPr/>
        </p:nvSpPr>
        <p:spPr>
          <a:xfrm>
            <a:off x="1122680" y="3639821"/>
            <a:ext cx="595970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Dockerfile somewhere else? </a:t>
            </a:r>
            <a:r>
              <a:rPr lang="en-US" sz="1400" dirty="0">
                <a:solidFill>
                  <a:srgbClr val="1D5FC4"/>
                </a:solidFill>
                <a:latin typeface="IBM Plex Sans" pitchFamily="34" charset="0"/>
                <a:ea typeface="IBM Plex Sans" pitchFamily="34" charset="-122"/>
                <a:cs typeface="IBM Plex Sans" pitchFamily="34" charset="-120"/>
              </a:rPr>
              <a:t>docker build -f docker/Dockerfile .</a:t>
            </a:r>
            <a:endParaRPr lang="en-US" sz="1400" dirty="0"/>
          </a:p>
        </p:txBody>
      </p:sp>
      <p:sp>
        <p:nvSpPr>
          <p:cNvPr id="13" name="Text 11"/>
          <p:cNvSpPr/>
          <p:nvPr/>
        </p:nvSpPr>
        <p:spPr>
          <a:xfrm>
            <a:off x="7315200" y="1536700"/>
            <a:ext cx="418592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5FC4"/>
                </a:solidFill>
                <a:latin typeface="IBM Plex Sans" pitchFamily="34" charset="0"/>
                <a:ea typeface="IBM Plex Sans" pitchFamily="34" charset="-122"/>
                <a:cs typeface="IBM Plex Sans" pitchFamily="34" charset="-120"/>
              </a:rPr>
              <a:t>.DOCKERIGNORE</a:t>
            </a:r>
            <a:endParaRPr lang="en-US" sz="1200" dirty="0"/>
          </a:p>
        </p:txBody>
      </p:sp>
      <p:sp>
        <p:nvSpPr>
          <p:cNvPr id="14" name="Text 12"/>
          <p:cNvSpPr/>
          <p:nvPr/>
        </p:nvSpPr>
        <p:spPr>
          <a:xfrm>
            <a:off x="7315200" y="1851664"/>
            <a:ext cx="4064000" cy="3500120"/>
          </a:xfrm>
          <a:prstGeom prst="roundRect">
            <a:avLst>
              <a:gd name="adj" fmla="val 2903"/>
            </a:avLst>
          </a:prstGeom>
          <a:solidFill>
            <a:srgbClr val="161B26"/>
          </a:solidFill>
          <a:ln/>
        </p:spPr>
        <p:txBody>
          <a:bodyPr wrap="none" lIns="224242" tIns="173442" rIns="117562" bIns="148042" rtlCol="0" anchor="t">
            <a:normAutofit/>
          </a:bodyPr>
          <a:lstStyle/>
          <a:p>
            <a:pPr algn="l" indent="0" marL="0">
              <a:lnSpc>
                <a:spcPts val="1740"/>
              </a:lnSpc>
              <a:buNone/>
            </a:pPr>
            <a:r>
              <a:rPr lang="en-US" sz="1200" dirty="0">
                <a:solidFill>
                  <a:srgbClr val="8C95A5"/>
                </a:solidFill>
                <a:latin typeface="JetBrains Mono" pitchFamily="49" charset="0"/>
                <a:ea typeface="JetBrains Mono" pitchFamily="49" charset="-122"/>
                <a:cs typeface="JetBrains Mono" pitchFamily="49" charset="-120"/>
              </a:rPr>
              <a:t># version control and secrets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.git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.env</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*.pem</a:t>
            </a:r>
            <a:endParaRPr lang="en-US" sz="1200" dirty="0"/>
          </a:p>
          <a:p>
            <a:pPr algn="l" indent="0" marL="0">
              <a:lnSpc>
                <a:spcPts val="1740"/>
              </a:lnSpc>
              <a:buNone/>
            </a:pPr>
            <a:endParaRPr lang="en-US" sz="1200" dirty="0"/>
          </a:p>
          <a:p>
            <a:pPr algn="l" indent="0" marL="0">
              <a:lnSpc>
                <a:spcPts val="1740"/>
              </a:lnSpc>
              <a:buNone/>
            </a:pPr>
            <a:r>
              <a:rPr lang="en-US" sz="1200" dirty="0">
                <a:solidFill>
                  <a:srgbClr val="8C95A5"/>
                </a:solidFill>
                <a:latin typeface="JetBrains Mono" pitchFamily="49" charset="0"/>
                <a:ea typeface="JetBrains Mono" pitchFamily="49" charset="-122"/>
                <a:cs typeface="JetBrains Mono" pitchFamily="49" charset="-120"/>
              </a:rPr>
              <a:t># dependencies and build output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node_modules/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__pycache__/</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.venv/</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dist/</a:t>
            </a:r>
            <a:endParaRPr lang="en-US" sz="1200" dirty="0"/>
          </a:p>
          <a:p>
            <a:pPr algn="l" indent="0" marL="0">
              <a:lnSpc>
                <a:spcPts val="1740"/>
              </a:lnSpc>
              <a:buNone/>
            </a:pPr>
            <a:endParaRPr lang="en-US" sz="1200" dirty="0"/>
          </a:p>
          <a:p>
            <a:pPr algn="l" indent="0" marL="0">
              <a:lnSpc>
                <a:spcPts val="1740"/>
              </a:lnSpc>
              <a:buNone/>
            </a:pPr>
            <a:r>
              <a:rPr lang="en-US" sz="1200" dirty="0">
                <a:solidFill>
                  <a:srgbClr val="8C95A5"/>
                </a:solidFill>
                <a:latin typeface="JetBrains Mono" pitchFamily="49" charset="0"/>
                <a:ea typeface="JetBrains Mono" pitchFamily="49" charset="-122"/>
                <a:cs typeface="JetBrains Mono" pitchFamily="49" charset="-120"/>
              </a:rPr>
              <a:t># noise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*.log</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coverage/</a:t>
            </a:r>
            <a:endParaRPr lang="en-US" sz="1200" dirty="0"/>
          </a:p>
        </p:txBody>
      </p:sp>
      <p:sp>
        <p:nvSpPr>
          <p:cNvPr id="15" name="Text 13"/>
          <p:cNvSpPr/>
          <p:nvPr/>
        </p:nvSpPr>
        <p:spPr>
          <a:xfrm>
            <a:off x="812800" y="6238242"/>
            <a:ext cx="32428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Docker Fundamentals · Building images</a:t>
            </a:r>
            <a:endParaRPr lang="en-US" sz="1200" dirty="0"/>
          </a:p>
        </p:txBody>
      </p:sp>
      <p:sp>
        <p:nvSpPr>
          <p:cNvPr id="16" name="Text 14"/>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Layer caching</a:t>
            </a:r>
            <a:endParaRPr lang="en-US" sz="3000" dirty="0"/>
          </a:p>
        </p:txBody>
      </p:sp>
      <p:sp>
        <p:nvSpPr>
          <p:cNvPr id="3" name="Text 1"/>
          <p:cNvSpPr/>
          <p:nvPr/>
        </p:nvSpPr>
        <p:spPr>
          <a:xfrm>
            <a:off x="812800" y="1460500"/>
            <a:ext cx="1088339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Each instruction makes a layer. If an instruction and its inputs haven’t changed, the cached layer is reused — but once one layer changes, </a:t>
            </a:r>
            <a:r>
              <a:rPr lang="en-US" sz="1400" b="1" dirty="0">
                <a:solidFill>
                  <a:srgbClr val="2B3240"/>
                </a:solidFill>
                <a:latin typeface="IBM Plex Sans" pitchFamily="34" charset="0"/>
                <a:ea typeface="IBM Plex Sans" pitchFamily="34" charset="-122"/>
                <a:cs typeface="IBM Plex Sans" pitchFamily="34" charset="-120"/>
              </a:rPr>
              <a:t>every layer after it is rebuilt</a:t>
            </a:r>
            <a:r>
              <a:rPr lang="en-US" sz="1400" dirty="0">
                <a:solidFill>
                  <a:srgbClr val="2B3240"/>
                </a:solidFill>
                <a:latin typeface="IBM Plex Sans" pitchFamily="34" charset="0"/>
                <a:ea typeface="IBM Plex Sans" pitchFamily="34" charset="-122"/>
                <a:cs typeface="IBM Plex Sans" pitchFamily="34" charset="-120"/>
              </a:rPr>
              <a:t>.</a:t>
            </a:r>
            <a:endParaRPr lang="en-US" sz="1400" dirty="0"/>
          </a:p>
        </p:txBody>
      </p:sp>
      <p:sp>
        <p:nvSpPr>
          <p:cNvPr id="4" name="Text 2"/>
          <p:cNvSpPr/>
          <p:nvPr/>
        </p:nvSpPr>
        <p:spPr>
          <a:xfrm>
            <a:off x="812800" y="2186942"/>
            <a:ext cx="533704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D6470"/>
                </a:solidFill>
                <a:latin typeface="IBM Plex Sans" pitchFamily="34" charset="0"/>
                <a:ea typeface="IBM Plex Sans" pitchFamily="34" charset="-122"/>
                <a:cs typeface="IBM Plex Sans" pitchFamily="34" charset="-120"/>
              </a:rPr>
              <a:t>BEFORE — reinstalls on every code edit</a:t>
            </a:r>
            <a:endParaRPr lang="en-US" sz="1200" dirty="0"/>
          </a:p>
        </p:txBody>
      </p:sp>
      <p:sp>
        <p:nvSpPr>
          <p:cNvPr id="5" name="Text 3"/>
          <p:cNvSpPr/>
          <p:nvPr/>
        </p:nvSpPr>
        <p:spPr>
          <a:xfrm>
            <a:off x="812800" y="2476500"/>
            <a:ext cx="5181600" cy="1681480"/>
          </a:xfrm>
          <a:prstGeom prst="roundRect">
            <a:avLst>
              <a:gd name="adj" fmla="val 6042"/>
            </a:avLst>
          </a:prstGeom>
          <a:solidFill>
            <a:srgbClr val="161B26"/>
          </a:solidFill>
          <a:ln/>
        </p:spPr>
        <p:txBody>
          <a:bodyPr wrap="none" lIns="198842" tIns="148042" rIns="57110" bIns="1226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FROM python:3.13-slim</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WORKDIR /app</a:t>
            </a:r>
            <a:endParaRPr lang="en-US" sz="1200" dirty="0"/>
          </a:p>
          <a:p>
            <a:pPr algn="l" indent="0" marL="0">
              <a:lnSpc>
                <a:spcPts val="1740"/>
              </a:lnSpc>
              <a:buNone/>
            </a:pPr>
            <a:r>
              <a:rPr lang="en-US" sz="1200" dirty="0">
                <a:solidFill>
                  <a:srgbClr val="8EBBFF"/>
                </a:solidFill>
                <a:latin typeface="JetBrains Mono" pitchFamily="49" charset="0"/>
                <a:ea typeface="JetBrains Mono" pitchFamily="49" charset="-122"/>
                <a:cs typeface="JetBrains Mono" pitchFamily="49" charset="-120"/>
              </a:rPr>
              <a:t>COPY .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RUN pip install -r requirements.txt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CMD ["python", "app.py"]</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endParaRPr lang="en-US" sz="1200" dirty="0"/>
          </a:p>
        </p:txBody>
      </p:sp>
      <p:sp>
        <p:nvSpPr>
          <p:cNvPr id="6" name="Text 4"/>
          <p:cNvSpPr/>
          <p:nvPr/>
        </p:nvSpPr>
        <p:spPr>
          <a:xfrm>
            <a:off x="6197600" y="2186942"/>
            <a:ext cx="533704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5FC4"/>
                </a:solidFill>
                <a:latin typeface="IBM Plex Sans" pitchFamily="34" charset="0"/>
                <a:ea typeface="IBM Plex Sans" pitchFamily="34" charset="-122"/>
                <a:cs typeface="IBM Plex Sans" pitchFamily="34" charset="-120"/>
              </a:rPr>
              <a:t>AFTER — reinstalls only when requirements change</a:t>
            </a:r>
            <a:endParaRPr lang="en-US" sz="1200" dirty="0"/>
          </a:p>
        </p:txBody>
      </p:sp>
      <p:sp>
        <p:nvSpPr>
          <p:cNvPr id="7" name="Text 5"/>
          <p:cNvSpPr/>
          <p:nvPr/>
        </p:nvSpPr>
        <p:spPr>
          <a:xfrm>
            <a:off x="6197600" y="2476500"/>
            <a:ext cx="5181600" cy="1681480"/>
          </a:xfrm>
          <a:prstGeom prst="roundRect">
            <a:avLst>
              <a:gd name="adj" fmla="val 6042"/>
            </a:avLst>
          </a:prstGeom>
          <a:solidFill>
            <a:srgbClr val="161B26"/>
          </a:solidFill>
          <a:ln/>
        </p:spPr>
        <p:txBody>
          <a:bodyPr wrap="none" lIns="198842" tIns="148042" rIns="57110" bIns="1226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FROM python:3.13-slim</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WORKDIR /app</a:t>
            </a:r>
            <a:endParaRPr lang="en-US" sz="1200" dirty="0"/>
          </a:p>
          <a:p>
            <a:pPr algn="l" indent="0" marL="0">
              <a:lnSpc>
                <a:spcPts val="1740"/>
              </a:lnSpc>
              <a:buNone/>
            </a:pPr>
            <a:r>
              <a:rPr lang="en-US" sz="1200" dirty="0">
                <a:solidFill>
                  <a:srgbClr val="8EBBFF"/>
                </a:solidFill>
                <a:latin typeface="JetBrains Mono" pitchFamily="49" charset="0"/>
                <a:ea typeface="JetBrains Mono" pitchFamily="49" charset="-122"/>
                <a:cs typeface="JetBrains Mono" pitchFamily="49" charset="-120"/>
              </a:rPr>
              <a:t>COPY requirements.txt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RUN pip install -r requirements.txt</a:t>
            </a:r>
            <a:endParaRPr lang="en-US" sz="1200" dirty="0"/>
          </a:p>
          <a:p>
            <a:pPr algn="l" indent="0" marL="0">
              <a:lnSpc>
                <a:spcPts val="1740"/>
              </a:lnSpc>
              <a:buNone/>
            </a:pPr>
            <a:r>
              <a:rPr lang="en-US" sz="1200" dirty="0">
                <a:solidFill>
                  <a:srgbClr val="8EBBFF"/>
                </a:solidFill>
                <a:latin typeface="JetBrains Mono" pitchFamily="49" charset="0"/>
                <a:ea typeface="JetBrains Mono" pitchFamily="49" charset="-122"/>
                <a:cs typeface="JetBrains Mono" pitchFamily="49" charset="-120"/>
              </a:rPr>
              <a:t>COPY .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CMD ["python", "app.py"]</a:t>
            </a:r>
            <a:endParaRPr lang="en-US" sz="1200" dirty="0"/>
          </a:p>
        </p:txBody>
      </p:sp>
      <p:sp>
        <p:nvSpPr>
          <p:cNvPr id="8" name="Text 6"/>
          <p:cNvSpPr/>
          <p:nvPr/>
        </p:nvSpPr>
        <p:spPr>
          <a:xfrm>
            <a:off x="815975" y="4389760"/>
            <a:ext cx="3380264" cy="948690"/>
          </a:xfrm>
          <a:prstGeom prst="roundRect">
            <a:avLst>
              <a:gd name="adj" fmla="val 10375"/>
            </a:avLst>
          </a:prstGeom>
          <a:solidFill>
            <a:srgbClr val="FDFCFA"/>
          </a:solidFill>
          <a:ln w="6350">
            <a:solidFill>
              <a:srgbClr val="E2DED5"/>
            </a:solidFill>
            <a:prstDash val="solid"/>
          </a:ln>
        </p:spPr>
        <p:txBody>
          <a:bodyPr wrap="square" lIns="150877" tIns="125477" rIns="60252" bIns="125477"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Order steps from </a:t>
            </a:r>
            <a:r>
              <a:rPr lang="en-US" sz="1200" b="1" dirty="0">
                <a:solidFill>
                  <a:srgbClr val="2B3240"/>
                </a:solidFill>
                <a:latin typeface="IBM Plex Sans" pitchFamily="34" charset="0"/>
                <a:ea typeface="IBM Plex Sans" pitchFamily="34" charset="-122"/>
                <a:cs typeface="IBM Plex Sans" pitchFamily="34" charset="-120"/>
              </a:rPr>
              <a:t>least</a:t>
            </a:r>
            <a:r>
              <a:rPr lang="en-US" sz="1200" dirty="0">
                <a:solidFill>
                  <a:srgbClr val="2B3240"/>
                </a:solidFill>
                <a:latin typeface="IBM Plex Sans" pitchFamily="34" charset="0"/>
                <a:ea typeface="IBM Plex Sans" pitchFamily="34" charset="-122"/>
                <a:cs typeface="IBM Plex Sans" pitchFamily="34" charset="-120"/>
              </a:rPr>
              <a:t> to </a:t>
            </a:r>
            <a:r>
              <a:rPr lang="en-US" sz="1200" b="1" dirty="0">
                <a:solidFill>
                  <a:srgbClr val="2B3240"/>
                </a:solidFill>
                <a:latin typeface="IBM Plex Sans" pitchFamily="34" charset="0"/>
                <a:ea typeface="IBM Plex Sans" pitchFamily="34" charset="-122"/>
                <a:cs typeface="IBM Plex Sans" pitchFamily="34" charset="-120"/>
              </a:rPr>
              <a:t>most</a:t>
            </a:r>
            <a:r>
              <a:rPr lang="en-US" sz="1200" dirty="0">
                <a:solidFill>
                  <a:srgbClr val="2B3240"/>
                </a:solidFill>
                <a:latin typeface="IBM Plex Sans" pitchFamily="34" charset="0"/>
                <a:ea typeface="IBM Plex Sans" pitchFamily="34" charset="-122"/>
                <a:cs typeface="IBM Plex Sans" pitchFamily="34" charset="-120"/>
              </a:rPr>
              <a:t> frequently changing.</a:t>
            </a:r>
            <a:endParaRPr lang="en-US" sz="1200" dirty="0"/>
          </a:p>
        </p:txBody>
      </p:sp>
      <p:sp>
        <p:nvSpPr>
          <p:cNvPr id="9" name="Text 7"/>
          <p:cNvSpPr/>
          <p:nvPr/>
        </p:nvSpPr>
        <p:spPr>
          <a:xfrm>
            <a:off x="4405789" y="4389760"/>
            <a:ext cx="3380343" cy="948690"/>
          </a:xfrm>
          <a:prstGeom prst="roundRect">
            <a:avLst>
              <a:gd name="adj" fmla="val 10375"/>
            </a:avLst>
          </a:prstGeom>
          <a:solidFill>
            <a:srgbClr val="FDFCFA"/>
          </a:solidFill>
          <a:ln w="6350">
            <a:solidFill>
              <a:srgbClr val="E2DED5"/>
            </a:solidFill>
            <a:prstDash val="solid"/>
          </a:ln>
        </p:spPr>
        <p:txBody>
          <a:bodyPr wrap="square" lIns="150877" tIns="125477" rIns="60249" bIns="125477"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Chain apt-get update and install in one RUN, and clean caches in that same step.</a:t>
            </a:r>
            <a:endParaRPr lang="en-US" sz="1200" dirty="0"/>
          </a:p>
        </p:txBody>
      </p:sp>
      <p:sp>
        <p:nvSpPr>
          <p:cNvPr id="10" name="Text 8"/>
          <p:cNvSpPr/>
          <p:nvPr/>
        </p:nvSpPr>
        <p:spPr>
          <a:xfrm>
            <a:off x="7995682" y="4389760"/>
            <a:ext cx="3380343" cy="948690"/>
          </a:xfrm>
          <a:prstGeom prst="roundRect">
            <a:avLst>
              <a:gd name="adj" fmla="val 10375"/>
            </a:avLst>
          </a:prstGeom>
          <a:solidFill>
            <a:srgbClr val="FDFCFA"/>
          </a:solidFill>
          <a:ln w="6350">
            <a:solidFill>
              <a:srgbClr val="E2DED5"/>
            </a:solidFill>
            <a:prstDash val="solid"/>
          </a:ln>
        </p:spPr>
        <p:txBody>
          <a:bodyPr wrap="square" lIns="150878" tIns="125477" rIns="60249" bIns="100077"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BuildKit cache mounts (RUN --mount=type=cache) keep package caches between builds.</a:t>
            </a:r>
            <a:endParaRPr lang="en-US" sz="1200" dirty="0"/>
          </a:p>
        </p:txBody>
      </p:sp>
      <p:sp>
        <p:nvSpPr>
          <p:cNvPr id="11" name="Text 9"/>
          <p:cNvSpPr/>
          <p:nvPr/>
        </p:nvSpPr>
        <p:spPr>
          <a:xfrm>
            <a:off x="812800" y="6238242"/>
            <a:ext cx="32428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Docker Fundamentals · Building images</a:t>
            </a:r>
            <a:endParaRPr lang="en-US" sz="1200" dirty="0"/>
          </a:p>
        </p:txBody>
      </p:sp>
      <p:sp>
        <p:nvSpPr>
          <p:cNvPr id="12" name="Text 10"/>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Multi-stage builds</a:t>
            </a:r>
            <a:endParaRPr lang="en-US" sz="3000" dirty="0"/>
          </a:p>
        </p:txBody>
      </p:sp>
      <p:sp>
        <p:nvSpPr>
          <p:cNvPr id="3" name="Text 1"/>
          <p:cNvSpPr/>
          <p:nvPr/>
        </p:nvSpPr>
        <p:spPr>
          <a:xfrm>
            <a:off x="812800" y="1536700"/>
            <a:ext cx="6087110" cy="3296920"/>
          </a:xfrm>
          <a:prstGeom prst="roundRect">
            <a:avLst>
              <a:gd name="adj" fmla="val 3082"/>
            </a:avLst>
          </a:prstGeom>
          <a:solidFill>
            <a:srgbClr val="161B26"/>
          </a:solidFill>
          <a:ln/>
        </p:spPr>
        <p:txBody>
          <a:bodyPr wrap="none" lIns="224242" tIns="173442" rIns="56869" bIns="173442" rtlCol="0" anchor="t">
            <a:normAutofit/>
          </a:bodyPr>
          <a:lstStyle/>
          <a:p>
            <a:pPr algn="l" indent="0" marL="0">
              <a:lnSpc>
                <a:spcPts val="1740"/>
              </a:lnSpc>
              <a:buNone/>
            </a:pPr>
            <a:r>
              <a:rPr lang="en-US" sz="1200" dirty="0">
                <a:solidFill>
                  <a:srgbClr val="8C95A5"/>
                </a:solidFill>
                <a:latin typeface="JetBrains Mono" pitchFamily="49" charset="0"/>
                <a:ea typeface="JetBrains Mono" pitchFamily="49" charset="-122"/>
                <a:cs typeface="JetBrains Mono" pitchFamily="49" charset="-120"/>
              </a:rPr>
              <a:t># Stage 1: build with the full toolchain</a:t>
            </a:r>
            <a:endParaRPr lang="en-US" sz="1200" dirty="0"/>
          </a:p>
          <a:p>
            <a:pPr algn="l" indent="0" marL="0">
              <a:lnSpc>
                <a:spcPts val="1740"/>
              </a:lnSpc>
              <a:buNone/>
            </a:pPr>
            <a:r>
              <a:rPr lang="en-US" sz="1200" dirty="0">
                <a:solidFill>
                  <a:srgbClr val="8EBBFF"/>
                </a:solidFill>
                <a:latin typeface="JetBrains Mono" pitchFamily="49" charset="0"/>
                <a:ea typeface="JetBrains Mono" pitchFamily="49" charset="-122"/>
                <a:cs typeface="JetBrains Mono" pitchFamily="49" charset="-120"/>
              </a:rPr>
              <a:t>FROM golang:1.25 AS build</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WORKDIR /src</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COPY go.mod go.sum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RUN go mod download</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COPY .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RUN CGO_ENABLED=0 go build -o /out/app .</a:t>
            </a:r>
            <a:endParaRPr lang="en-US" sz="1200" dirty="0"/>
          </a:p>
          <a:p>
            <a:pPr algn="l" indent="0" marL="0">
              <a:lnSpc>
                <a:spcPts val="1740"/>
              </a:lnSpc>
              <a:buNone/>
            </a:pPr>
            <a:endParaRPr lang="en-US" sz="1200" dirty="0"/>
          </a:p>
          <a:p>
            <a:pPr algn="l" indent="0" marL="0">
              <a:lnSpc>
                <a:spcPts val="1740"/>
              </a:lnSpc>
              <a:buNone/>
            </a:pPr>
            <a:r>
              <a:rPr lang="en-US" sz="1200" dirty="0">
                <a:solidFill>
                  <a:srgbClr val="8C95A5"/>
                </a:solidFill>
                <a:latin typeface="JetBrains Mono" pitchFamily="49" charset="0"/>
                <a:ea typeface="JetBrains Mono" pitchFamily="49" charset="-122"/>
                <a:cs typeface="JetBrains Mono" pitchFamily="49" charset="-120"/>
              </a:rPr>
              <a:t># Stage 2: ship only the binary</a:t>
            </a:r>
            <a:endParaRPr lang="en-US" sz="1200" dirty="0"/>
          </a:p>
          <a:p>
            <a:pPr algn="l" indent="0" marL="0">
              <a:lnSpc>
                <a:spcPts val="1740"/>
              </a:lnSpc>
              <a:buNone/>
            </a:pPr>
            <a:r>
              <a:rPr lang="en-US" sz="1200" dirty="0">
                <a:solidFill>
                  <a:srgbClr val="8EBBFF"/>
                </a:solidFill>
                <a:latin typeface="JetBrains Mono" pitchFamily="49" charset="0"/>
                <a:ea typeface="JetBrains Mono" pitchFamily="49" charset="-122"/>
                <a:cs typeface="JetBrains Mono" pitchFamily="49" charset="-120"/>
              </a:rPr>
              <a:t>FROM gcr.io/distroless/static-debian12:nonroot</a:t>
            </a:r>
            <a:endParaRPr lang="en-US" sz="1200" dirty="0"/>
          </a:p>
          <a:p>
            <a:pPr algn="l" indent="0" marL="0">
              <a:lnSpc>
                <a:spcPts val="1740"/>
              </a:lnSpc>
              <a:buNone/>
            </a:pPr>
            <a:r>
              <a:rPr lang="en-US" sz="1200" dirty="0">
                <a:solidFill>
                  <a:srgbClr val="8EBBFF"/>
                </a:solidFill>
                <a:latin typeface="JetBrains Mono" pitchFamily="49" charset="0"/>
                <a:ea typeface="JetBrains Mono" pitchFamily="49" charset="-122"/>
                <a:cs typeface="JetBrains Mono" pitchFamily="49" charset="-120"/>
              </a:rPr>
              <a:t>COPY --from=build</a:t>
            </a:r>
            <a:r>
              <a:rPr lang="en-US" sz="1200" dirty="0">
                <a:solidFill>
                  <a:srgbClr val="E4E7EC"/>
                </a:solidFill>
                <a:latin typeface="JetBrains Mono" pitchFamily="49" charset="0"/>
                <a:ea typeface="JetBrains Mono" pitchFamily="49" charset="-122"/>
                <a:cs typeface="JetBrains Mono" pitchFamily="49" charset="-120"/>
              </a:rPr>
              <a:t> /out/app /app</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ENTRYPOINT ["/app"]</a:t>
            </a:r>
            <a:endParaRPr lang="en-US" sz="1200" dirty="0"/>
          </a:p>
        </p:txBody>
      </p:sp>
      <p:sp>
        <p:nvSpPr>
          <p:cNvPr id="4" name="Text 2"/>
          <p:cNvSpPr/>
          <p:nvPr/>
        </p:nvSpPr>
        <p:spPr>
          <a:xfrm>
            <a:off x="7255510" y="1536700"/>
            <a:ext cx="424740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Each </a:t>
            </a:r>
            <a:r>
              <a:rPr lang="en-US" sz="1400" b="1" dirty="0">
                <a:solidFill>
                  <a:srgbClr val="2B3240"/>
                </a:solidFill>
                <a:latin typeface="IBM Plex Sans" pitchFamily="34" charset="0"/>
                <a:ea typeface="IBM Plex Sans" pitchFamily="34" charset="-122"/>
                <a:cs typeface="IBM Plex Sans" pitchFamily="34" charset="-120"/>
              </a:rPr>
              <a:t>FROM</a:t>
            </a:r>
            <a:r>
              <a:rPr lang="en-US" sz="1400" dirty="0">
                <a:solidFill>
                  <a:srgbClr val="2B3240"/>
                </a:solidFill>
                <a:latin typeface="IBM Plex Sans" pitchFamily="34" charset="0"/>
                <a:ea typeface="IBM Plex Sans" pitchFamily="34" charset="-122"/>
                <a:cs typeface="IBM Plex Sans" pitchFamily="34" charset="-120"/>
              </a:rPr>
              <a:t> starts a new stage; only the last stage becomes the image.</a:t>
            </a:r>
            <a:endParaRPr lang="en-US" sz="1400" dirty="0"/>
          </a:p>
        </p:txBody>
      </p:sp>
      <p:sp>
        <p:nvSpPr>
          <p:cNvPr id="5" name="Text 3"/>
          <p:cNvSpPr/>
          <p:nvPr/>
        </p:nvSpPr>
        <p:spPr>
          <a:xfrm>
            <a:off x="7255510" y="2174242"/>
            <a:ext cx="4247401"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240"/>
                </a:solidFill>
                <a:latin typeface="IBM Plex Sans" pitchFamily="34" charset="0"/>
                <a:ea typeface="IBM Plex Sans" pitchFamily="34" charset="-122"/>
                <a:cs typeface="IBM Plex Sans" pitchFamily="34" charset="-120"/>
              </a:rPr>
              <a:t>COPY --from=build</a:t>
            </a:r>
            <a:r>
              <a:rPr lang="en-US" sz="1400" dirty="0">
                <a:solidFill>
                  <a:srgbClr val="2B3240"/>
                </a:solidFill>
                <a:latin typeface="IBM Plex Sans" pitchFamily="34" charset="0"/>
                <a:ea typeface="IBM Plex Sans" pitchFamily="34" charset="-122"/>
                <a:cs typeface="IBM Plex Sans" pitchFamily="34" charset="-120"/>
              </a:rPr>
              <a:t> pulls files out of an earlier stage.</a:t>
            </a:r>
            <a:endParaRPr lang="en-US" sz="1400" dirty="0"/>
          </a:p>
        </p:txBody>
      </p:sp>
      <p:sp>
        <p:nvSpPr>
          <p:cNvPr id="6" name="Text 4"/>
          <p:cNvSpPr/>
          <p:nvPr/>
        </p:nvSpPr>
        <p:spPr>
          <a:xfrm>
            <a:off x="7255510" y="2811785"/>
            <a:ext cx="4247401"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Compilers, caches and source code never reach production — megabytes instead of hundreds of megabytes.</a:t>
            </a:r>
            <a:endParaRPr lang="en-US" sz="1400" dirty="0"/>
          </a:p>
        </p:txBody>
      </p:sp>
      <p:sp>
        <p:nvSpPr>
          <p:cNvPr id="7" name="Text 5"/>
          <p:cNvSpPr/>
          <p:nvPr/>
        </p:nvSpPr>
        <p:spPr>
          <a:xfrm>
            <a:off x="7255510" y="3698242"/>
            <a:ext cx="4247401"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240"/>
                </a:solidFill>
                <a:latin typeface="IBM Plex Sans" pitchFamily="34" charset="0"/>
                <a:ea typeface="IBM Plex Sans" pitchFamily="34" charset="-122"/>
                <a:cs typeface="IBM Plex Sans" pitchFamily="34" charset="-120"/>
              </a:rPr>
              <a:t>--target build</a:t>
            </a:r>
            <a:r>
              <a:rPr lang="en-US" sz="1400" dirty="0">
                <a:solidFill>
                  <a:srgbClr val="2B3240"/>
                </a:solidFill>
                <a:latin typeface="IBM Plex Sans" pitchFamily="34" charset="0"/>
                <a:ea typeface="IBM Plex Sans" pitchFamily="34" charset="-122"/>
                <a:cs typeface="IBM Plex Sans" pitchFamily="34" charset="-120"/>
              </a:rPr>
              <a:t> stops at a stage, which is handy for running tests.</a:t>
            </a:r>
            <a:endParaRPr lang="en-US" sz="1400" dirty="0"/>
          </a:p>
        </p:txBody>
      </p:sp>
      <p:sp>
        <p:nvSpPr>
          <p:cNvPr id="8" name="Text 6"/>
          <p:cNvSpPr/>
          <p:nvPr/>
        </p:nvSpPr>
        <p:spPr>
          <a:xfrm>
            <a:off x="7255510" y="4335785"/>
            <a:ext cx="424740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D6470"/>
                </a:solidFill>
                <a:latin typeface="IBM Plex Sans" pitchFamily="34" charset="0"/>
                <a:ea typeface="IBM Plex Sans" pitchFamily="34" charset="-122"/>
                <a:cs typeface="IBM Plex Sans" pitchFamily="34" charset="-120"/>
              </a:rPr>
              <a:t>Same pattern elsewhere: Node build → nginx serving static files; JDK build → JRE runtime.</a:t>
            </a:r>
            <a:endParaRPr lang="en-US" sz="1400" dirty="0"/>
          </a:p>
        </p:txBody>
      </p:sp>
      <p:sp>
        <p:nvSpPr>
          <p:cNvPr id="9" name="Text 7"/>
          <p:cNvSpPr/>
          <p:nvPr/>
        </p:nvSpPr>
        <p:spPr>
          <a:xfrm>
            <a:off x="812800" y="6238242"/>
            <a:ext cx="32428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Docker Fundamentals · Building images</a:t>
            </a:r>
            <a:endParaRPr lang="en-US" sz="1200" dirty="0"/>
          </a:p>
        </p:txBody>
      </p:sp>
      <p:sp>
        <p:nvSpPr>
          <p:cNvPr id="10" name="Text 8"/>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Choosing a base image</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496060"/>
          <a:ext cx="10556240" cy="2834640"/>
        </p:xfrm>
        <a:graphic>
          <a:graphicData uri="http://schemas.openxmlformats.org/drawingml/2006/table">
            <a:tbl>
              <a:tblPr/>
              <a:tblGrid>
                <a:gridCol w="2322373"/>
                <a:gridCol w="2744622"/>
                <a:gridCol w="2533498"/>
                <a:gridCol w="2955747"/>
              </a:tblGrid>
              <a:tr h="330200">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Base image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What’s inside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Good for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Watch out for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Full · python:3.13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Debian plus compilers and dev headers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Building and debugging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Large; more packages to patch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Slim · python:3.13-slim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Minimal Debian with the language runtime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Most apps — a sensible default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Add build tools yourself when needed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Alpine · python:3.13-alpine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musl libc and apk; very small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Small images for simple apps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musl can break some prebuilt binaries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Distroless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The runtime only — no shell, no package manager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The final stage in production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Hard to debug without a shell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scratch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Nothing at all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Static binaries (Go, Rust)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You add CA certificates, users and time zones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4" name="Text 1"/>
          <p:cNvSpPr/>
          <p:nvPr/>
        </p:nvSpPr>
        <p:spPr>
          <a:xfrm>
            <a:off x="812800" y="4584700"/>
            <a:ext cx="10566400" cy="853440"/>
          </a:xfrm>
          <a:prstGeom prst="roundRect">
            <a:avLst>
              <a:gd name="adj" fmla="val 11905"/>
            </a:avLst>
          </a:prstGeom>
          <a:solidFill>
            <a:srgbClr val="ECE9E2"/>
          </a:solidFill>
          <a:ln/>
        </p:spPr>
        <p:txBody>
          <a:bodyPr wrap="square" lIns="198842" tIns="148042" rIns="0" bIns="122642" rtlCol="0" anchor="t">
            <a:normAutofit/>
          </a:bodyPr>
          <a:lstStyle/>
          <a:p>
            <a:pPr algn="l" indent="0" marL="0">
              <a:lnSpc>
                <a:spcPts val="1960"/>
              </a:lnSpc>
              <a:buNone/>
            </a:pPr>
            <a:r>
              <a:rPr lang="en-US" sz="1400" b="1" dirty="0">
                <a:solidFill>
                  <a:srgbClr val="2B3240"/>
                </a:solidFill>
                <a:latin typeface="IBM Plex Sans" pitchFamily="34" charset="0"/>
                <a:ea typeface="IBM Plex Sans" pitchFamily="34" charset="-122"/>
                <a:cs typeface="IBM Plex Sans" pitchFamily="34" charset="-120"/>
              </a:rPr>
              <a:t>Rule of thumb:</a:t>
            </a:r>
            <a:r>
              <a:rPr lang="en-US" sz="1400" dirty="0">
                <a:solidFill>
                  <a:srgbClr val="2B3240"/>
                </a:solidFill>
                <a:latin typeface="IBM Plex Sans" pitchFamily="34" charset="0"/>
                <a:ea typeface="IBM Plex Sans" pitchFamily="34" charset="-122"/>
                <a:cs typeface="IBM Plex Sans" pitchFamily="34" charset="-120"/>
              </a:rPr>
              <a:t> start with -slim, pin a version tag (never latest), and use distroless or scratch for the final stage of a multi-stage build.</a:t>
            </a:r>
            <a:endParaRPr lang="en-US" sz="1400" dirty="0"/>
          </a:p>
        </p:txBody>
      </p:sp>
      <p:sp>
        <p:nvSpPr>
          <p:cNvPr id="5" name="Text 2"/>
          <p:cNvSpPr/>
          <p:nvPr/>
        </p:nvSpPr>
        <p:spPr>
          <a:xfrm>
            <a:off x="812800" y="6238242"/>
            <a:ext cx="32428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Docker Fundamentals · Building images</a:t>
            </a:r>
            <a:endParaRPr lang="en-US" sz="1200" dirty="0"/>
          </a:p>
        </p:txBody>
      </p:sp>
      <p:sp>
        <p:nvSpPr>
          <p:cNvPr id="6" name="Text 3"/>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Tagging and pushing images</a:t>
            </a:r>
            <a:endParaRPr lang="en-US" sz="3000" dirty="0"/>
          </a:p>
        </p:txBody>
      </p:sp>
      <p:sp>
        <p:nvSpPr>
          <p:cNvPr id="3" name="Text 1"/>
          <p:cNvSpPr/>
          <p:nvPr/>
        </p:nvSpPr>
        <p:spPr>
          <a:xfrm>
            <a:off x="812800" y="1536700"/>
            <a:ext cx="6087110" cy="3484880"/>
          </a:xfrm>
          <a:prstGeom prst="roundRect">
            <a:avLst>
              <a:gd name="adj" fmla="val 2915"/>
            </a:avLst>
          </a:prstGeom>
          <a:solidFill>
            <a:srgbClr val="161B26"/>
          </a:solidFill>
          <a:ln/>
        </p:spPr>
        <p:txBody>
          <a:bodyPr wrap="none" lIns="224242" tIns="173442" rIns="56869" bIns="1734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docker build -t myapi:1.4.2 .</a:t>
            </a:r>
            <a:endParaRPr lang="en-US" sz="1200" dirty="0"/>
          </a:p>
          <a:p>
            <a:pPr algn="l" indent="0" marL="0">
              <a:lnSpc>
                <a:spcPts val="1740"/>
              </a:lnSpc>
              <a:buNone/>
            </a:pPr>
            <a:endParaRPr lang="en-US" sz="1200" dirty="0"/>
          </a:p>
          <a:p>
            <a:pPr algn="l" indent="0" marL="0">
              <a:lnSpc>
                <a:spcPts val="1740"/>
              </a:lnSpc>
              <a:buNone/>
            </a:pPr>
            <a:r>
              <a:rPr lang="en-US" sz="1200" dirty="0">
                <a:solidFill>
                  <a:srgbClr val="8C95A5"/>
                </a:solidFill>
                <a:latin typeface="JetBrains Mono" pitchFamily="49" charset="0"/>
                <a:ea typeface="JetBrains Mono" pitchFamily="49" charset="-122"/>
                <a:cs typeface="JetBrains Mono" pitchFamily="49" charset="-120"/>
              </a:rPr>
              <a:t># name it for the registry (two tags, one image)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docker tag myapi:1.4.2 </a:t>
            </a:r>
            <a:r>
              <a:rPr lang="en-US" sz="1200" dirty="0">
                <a:solidFill>
                  <a:srgbClr val="8EBBFF"/>
                </a:solidFill>
                <a:latin typeface="JetBrains Mono" pitchFamily="49" charset="0"/>
                <a:ea typeface="JetBrains Mono" pitchFamily="49" charset="-122"/>
                <a:cs typeface="JetBrains Mono" pitchFamily="49" charset="-120"/>
              </a:rPr>
              <a:t>ghcr.io/acme/myapi:1.4.2</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docker tag myapi:1.4.2 </a:t>
            </a:r>
            <a:r>
              <a:rPr lang="en-US" sz="1200" dirty="0">
                <a:solidFill>
                  <a:srgbClr val="8EBBFF"/>
                </a:solidFill>
                <a:latin typeface="JetBrains Mono" pitchFamily="49" charset="0"/>
                <a:ea typeface="JetBrains Mono" pitchFamily="49" charset="-122"/>
                <a:cs typeface="JetBrains Mono" pitchFamily="49" charset="-120"/>
              </a:rPr>
              <a:t>ghcr.io/acme/myapi:1.4</a:t>
            </a:r>
            <a:endParaRPr lang="en-US" sz="1200" dirty="0"/>
          </a:p>
          <a:p>
            <a:pPr algn="l" indent="0" marL="0">
              <a:lnSpc>
                <a:spcPts val="1740"/>
              </a:lnSpc>
              <a:buNone/>
            </a:pPr>
            <a:endParaRPr lang="en-US" sz="1200" dirty="0"/>
          </a:p>
          <a:p>
            <a:pPr algn="l" indent="0" marL="0">
              <a:lnSpc>
                <a:spcPts val="1740"/>
              </a:lnSpc>
              <a:buNone/>
            </a:pPr>
            <a:r>
              <a:rPr lang="en-US" sz="1200" dirty="0">
                <a:solidFill>
                  <a:srgbClr val="8C95A5"/>
                </a:solidFill>
                <a:latin typeface="JetBrains Mono" pitchFamily="49" charset="0"/>
                <a:ea typeface="JetBrains Mono" pitchFamily="49" charset="-122"/>
                <a:cs typeface="JetBrains Mono" pitchFamily="49" charset="-120"/>
              </a:rPr>
              <a:t># authenticate, then upload</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docker login ghcr.io</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docker push ghcr.io/acme/myapi:1.4.2</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docker push ghcr.io/acme/myapi:1.4</a:t>
            </a:r>
            <a:endParaRPr lang="en-US" sz="1200" dirty="0"/>
          </a:p>
        </p:txBody>
      </p:sp>
      <p:sp>
        <p:nvSpPr>
          <p:cNvPr id="4" name="Shape 2"/>
          <p:cNvSpPr/>
          <p:nvPr/>
        </p:nvSpPr>
        <p:spPr>
          <a:xfrm>
            <a:off x="7258685" y="1539875"/>
            <a:ext cx="4117340" cy="1070610"/>
          </a:xfrm>
          <a:prstGeom prst="roundRect">
            <a:avLst>
              <a:gd name="adj" fmla="val 9193"/>
            </a:avLst>
          </a:prstGeom>
          <a:solidFill>
            <a:srgbClr val="FDFCFA"/>
          </a:solidFill>
          <a:ln w="6350">
            <a:solidFill>
              <a:srgbClr val="E2DED5"/>
            </a:solidFill>
            <a:prstDash val="solid"/>
          </a:ln>
        </p:spPr>
      </p:sp>
      <p:sp>
        <p:nvSpPr>
          <p:cNvPr id="5" name="Text 3"/>
          <p:cNvSpPr/>
          <p:nvPr/>
        </p:nvSpPr>
        <p:spPr>
          <a:xfrm>
            <a:off x="7438390" y="1694185"/>
            <a:ext cx="387066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5FC4"/>
                </a:solidFill>
                <a:latin typeface="IBM Plex Sans" pitchFamily="34" charset="0"/>
                <a:ea typeface="IBM Plex Sans" pitchFamily="34" charset="-122"/>
                <a:cs typeface="IBM Plex Sans" pitchFamily="34" charset="-120"/>
              </a:rPr>
              <a:t>SEMANTIC VERSION</a:t>
            </a:r>
            <a:endParaRPr lang="en-US" sz="1200" dirty="0"/>
          </a:p>
        </p:txBody>
      </p:sp>
      <p:sp>
        <p:nvSpPr>
          <p:cNvPr id="6" name="Text 4"/>
          <p:cNvSpPr/>
          <p:nvPr/>
        </p:nvSpPr>
        <p:spPr>
          <a:xfrm>
            <a:off x="7438390" y="1958342"/>
            <a:ext cx="387066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1.4.2 — plus 1.4 and 1 for users who want patch updates.</a:t>
            </a:r>
            <a:endParaRPr lang="en-US" sz="1400" dirty="0"/>
          </a:p>
        </p:txBody>
      </p:sp>
      <p:sp>
        <p:nvSpPr>
          <p:cNvPr id="7" name="Shape 5"/>
          <p:cNvSpPr/>
          <p:nvPr/>
        </p:nvSpPr>
        <p:spPr>
          <a:xfrm>
            <a:off x="7258685" y="2743833"/>
            <a:ext cx="4117340" cy="1070610"/>
          </a:xfrm>
          <a:prstGeom prst="roundRect">
            <a:avLst>
              <a:gd name="adj" fmla="val 9193"/>
            </a:avLst>
          </a:prstGeom>
          <a:solidFill>
            <a:srgbClr val="FDFCFA"/>
          </a:solidFill>
          <a:ln w="6350">
            <a:solidFill>
              <a:srgbClr val="E2DED5"/>
            </a:solidFill>
            <a:prstDash val="solid"/>
          </a:ln>
        </p:spPr>
      </p:sp>
      <p:sp>
        <p:nvSpPr>
          <p:cNvPr id="8" name="Text 6"/>
          <p:cNvSpPr/>
          <p:nvPr/>
        </p:nvSpPr>
        <p:spPr>
          <a:xfrm>
            <a:off x="7438390" y="2898142"/>
            <a:ext cx="387066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5FC4"/>
                </a:solidFill>
                <a:latin typeface="IBM Plex Sans" pitchFamily="34" charset="0"/>
                <a:ea typeface="IBM Plex Sans" pitchFamily="34" charset="-122"/>
                <a:cs typeface="IBM Plex Sans" pitchFamily="34" charset="-120"/>
              </a:rPr>
              <a:t>COMMIT SHA</a:t>
            </a:r>
            <a:endParaRPr lang="en-US" sz="1200" dirty="0"/>
          </a:p>
        </p:txBody>
      </p:sp>
      <p:sp>
        <p:nvSpPr>
          <p:cNvPr id="9" name="Text 7"/>
          <p:cNvSpPr/>
          <p:nvPr/>
        </p:nvSpPr>
        <p:spPr>
          <a:xfrm>
            <a:off x="7438390" y="3162300"/>
            <a:ext cx="387066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sha-3f2c1ab traces an image back to its exact source.</a:t>
            </a:r>
            <a:endParaRPr lang="en-US" sz="1400" dirty="0"/>
          </a:p>
        </p:txBody>
      </p:sp>
      <p:sp>
        <p:nvSpPr>
          <p:cNvPr id="10" name="Shape 8"/>
          <p:cNvSpPr/>
          <p:nvPr/>
        </p:nvSpPr>
        <p:spPr>
          <a:xfrm>
            <a:off x="7258685" y="3947802"/>
            <a:ext cx="4117340" cy="1070610"/>
          </a:xfrm>
          <a:prstGeom prst="roundRect">
            <a:avLst>
              <a:gd name="adj" fmla="val 9193"/>
            </a:avLst>
          </a:prstGeom>
          <a:solidFill>
            <a:srgbClr val="FDFCFA"/>
          </a:solidFill>
          <a:ln w="6350">
            <a:solidFill>
              <a:srgbClr val="E2DED5"/>
            </a:solidFill>
            <a:prstDash val="solid"/>
          </a:ln>
        </p:spPr>
      </p:sp>
      <p:sp>
        <p:nvSpPr>
          <p:cNvPr id="11" name="Text 9"/>
          <p:cNvSpPr/>
          <p:nvPr/>
        </p:nvSpPr>
        <p:spPr>
          <a:xfrm>
            <a:off x="7438390" y="4102100"/>
            <a:ext cx="387066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5FC4"/>
                </a:solidFill>
                <a:latin typeface="IBM Plex Sans" pitchFamily="34" charset="0"/>
                <a:ea typeface="IBM Plex Sans" pitchFamily="34" charset="-122"/>
                <a:cs typeface="IBM Plex Sans" pitchFamily="34" charset="-120"/>
              </a:rPr>
              <a:t>AVOID FOR DEPLOYS</a:t>
            </a:r>
            <a:endParaRPr lang="en-US" sz="1200" dirty="0"/>
          </a:p>
        </p:txBody>
      </p:sp>
      <p:sp>
        <p:nvSpPr>
          <p:cNvPr id="12" name="Text 10"/>
          <p:cNvSpPr/>
          <p:nvPr/>
        </p:nvSpPr>
        <p:spPr>
          <a:xfrm>
            <a:off x="7438390" y="4366258"/>
            <a:ext cx="387066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latest — it moves, so you can’t tell what is running.</a:t>
            </a:r>
            <a:endParaRPr lang="en-US" sz="1400" dirty="0"/>
          </a:p>
        </p:txBody>
      </p:sp>
      <p:sp>
        <p:nvSpPr>
          <p:cNvPr id="13" name="Text 11"/>
          <p:cNvSpPr/>
          <p:nvPr/>
        </p:nvSpPr>
        <p:spPr>
          <a:xfrm>
            <a:off x="812800" y="6238242"/>
            <a:ext cx="32428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Docker Fundamentals · Building images</a:t>
            </a:r>
            <a:endParaRPr lang="en-US" sz="1200" dirty="0"/>
          </a:p>
        </p:txBody>
      </p:sp>
      <p:sp>
        <p:nvSpPr>
          <p:cNvPr id="14" name="Text 12"/>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Volumes, bind mounts and tmpfs</a:t>
            </a:r>
            <a:endParaRPr lang="en-US" sz="3000" dirty="0"/>
          </a:p>
        </p:txBody>
      </p:sp>
      <p:sp>
        <p:nvSpPr>
          <p:cNvPr id="3" name="Text 1"/>
          <p:cNvSpPr/>
          <p:nvPr/>
        </p:nvSpPr>
        <p:spPr>
          <a:xfrm>
            <a:off x="812800" y="14351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A container’s writable layer is deleted with the container. Anything worth keeping lives outside it.</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97387"/>
          <a:ext cx="10556240" cy="1320800"/>
        </p:xfrm>
        <a:graphic>
          <a:graphicData uri="http://schemas.openxmlformats.org/drawingml/2006/table">
            <a:tbl>
              <a:tblPr/>
              <a:tblGrid>
                <a:gridCol w="2322373"/>
                <a:gridCol w="2744622"/>
                <a:gridCol w="2744622"/>
                <a:gridCol w="2744622"/>
              </a:tblGrid>
              <a:tr h="330200">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Volume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Bind mount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tmpfs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Lives 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Storage managed by Docker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Any host folder you choose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Host memory (RAM)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Survives docker rm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Yes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Yes — they’re your files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No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Best for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Databases and app data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Live code in development, config files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Scratch or sensitive temporary data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5" name="Text 2"/>
          <p:cNvSpPr/>
          <p:nvPr/>
        </p:nvSpPr>
        <p:spPr>
          <a:xfrm>
            <a:off x="812800" y="3421385"/>
            <a:ext cx="10566400" cy="1681480"/>
          </a:xfrm>
          <a:prstGeom prst="roundRect">
            <a:avLst>
              <a:gd name="adj" fmla="val 6042"/>
            </a:avLst>
          </a:prstGeom>
          <a:solidFill>
            <a:srgbClr val="161B26"/>
          </a:solidFill>
          <a:ln/>
        </p:spPr>
        <p:txBody>
          <a:bodyPr wrap="none" lIns="224242" tIns="148042" rIns="0" bIns="122642" rtlCol="0" anchor="t">
            <a:normAutofit/>
          </a:bodyPr>
          <a:lstStyle/>
          <a:p>
            <a:pPr algn="l" indent="0" marL="0">
              <a:lnSpc>
                <a:spcPts val="1740"/>
              </a:lnSpc>
              <a:buNone/>
            </a:pPr>
            <a:r>
              <a:rPr lang="en-US" sz="1200" dirty="0">
                <a:solidFill>
                  <a:srgbClr val="8C95A5"/>
                </a:solidFill>
                <a:latin typeface="JetBrains Mono" pitchFamily="49" charset="0"/>
                <a:ea typeface="JetBrains Mono" pitchFamily="49" charset="-122"/>
                <a:cs typeface="JetBrains Mono" pitchFamily="49" charset="-120"/>
              </a:rPr>
              <a:t># volume</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docker run -d -e POSTGRES_PASSWORD=devpass -v </a:t>
            </a:r>
            <a:r>
              <a:rPr lang="en-US" sz="1200" dirty="0">
                <a:solidFill>
                  <a:srgbClr val="8EBBFF"/>
                </a:solidFill>
                <a:latin typeface="JetBrains Mono" pitchFamily="49" charset="0"/>
                <a:ea typeface="JetBrains Mono" pitchFamily="49" charset="-122"/>
                <a:cs typeface="JetBrains Mono" pitchFamily="49" charset="-120"/>
              </a:rPr>
              <a:t>pgdata</a:t>
            </a:r>
            <a:r>
              <a:rPr lang="en-US" sz="1200" dirty="0">
                <a:solidFill>
                  <a:srgbClr val="E4E7EC"/>
                </a:solidFill>
                <a:latin typeface="JetBrains Mono" pitchFamily="49" charset="0"/>
                <a:ea typeface="JetBrains Mono" pitchFamily="49" charset="-122"/>
                <a:cs typeface="JetBrains Mono" pitchFamily="49" charset="-120"/>
              </a:rPr>
              <a:t>:/var/lib/postgresql/data postgres:16</a:t>
            </a:r>
            <a:endParaRPr lang="en-US" sz="1200" dirty="0"/>
          </a:p>
          <a:p>
            <a:pPr algn="l" indent="0" marL="0">
              <a:lnSpc>
                <a:spcPts val="1740"/>
              </a:lnSpc>
              <a:buNone/>
            </a:pPr>
            <a:r>
              <a:rPr lang="en-US" sz="1200" dirty="0">
                <a:solidFill>
                  <a:srgbClr val="8C95A5"/>
                </a:solidFill>
                <a:latin typeface="JetBrains Mono" pitchFamily="49" charset="0"/>
                <a:ea typeface="JetBrains Mono" pitchFamily="49" charset="-122"/>
                <a:cs typeface="JetBrains Mono" pitchFamily="49" charset="-120"/>
              </a:rPr>
              <a:t># bind mount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docker run --rm -v </a:t>
            </a:r>
            <a:r>
              <a:rPr lang="en-US" sz="1200" dirty="0">
                <a:solidFill>
                  <a:srgbClr val="8EBBFF"/>
                </a:solidFill>
                <a:latin typeface="JetBrains Mono" pitchFamily="49" charset="0"/>
                <a:ea typeface="JetBrains Mono" pitchFamily="49" charset="-122"/>
                <a:cs typeface="JetBrains Mono" pitchFamily="49" charset="-120"/>
              </a:rPr>
              <a:t>"$(pwd)"</a:t>
            </a:r>
            <a:r>
              <a:rPr lang="en-US" sz="1200" dirty="0">
                <a:solidFill>
                  <a:srgbClr val="E4E7EC"/>
                </a:solidFill>
                <a:latin typeface="JetBrains Mono" pitchFamily="49" charset="0"/>
                <a:ea typeface="JetBrains Mono" pitchFamily="49" charset="-122"/>
                <a:cs typeface="JetBrains Mono" pitchFamily="49" charset="-120"/>
              </a:rPr>
              <a:t>:/app -w /app python:3.13-slim python app.py</a:t>
            </a:r>
            <a:endParaRPr lang="en-US" sz="1200" dirty="0"/>
          </a:p>
          <a:p>
            <a:pPr algn="l" indent="0" marL="0">
              <a:lnSpc>
                <a:spcPts val="1740"/>
              </a:lnSpc>
              <a:buNone/>
            </a:pPr>
            <a:r>
              <a:rPr lang="en-US" sz="1200" dirty="0">
                <a:solidFill>
                  <a:srgbClr val="8C95A5"/>
                </a:solidFill>
                <a:latin typeface="JetBrains Mono" pitchFamily="49" charset="0"/>
                <a:ea typeface="JetBrains Mono" pitchFamily="49" charset="-122"/>
                <a:cs typeface="JetBrains Mono" pitchFamily="49" charset="-120"/>
              </a:rPr>
              <a:t># tmpfs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docker run --rm --tmpfs </a:t>
            </a:r>
            <a:r>
              <a:rPr lang="en-US" sz="1200" dirty="0">
                <a:solidFill>
                  <a:srgbClr val="8EBBFF"/>
                </a:solidFill>
                <a:latin typeface="JetBrains Mono" pitchFamily="49" charset="0"/>
                <a:ea typeface="JetBrains Mono" pitchFamily="49" charset="-122"/>
                <a:cs typeface="JetBrains Mono" pitchFamily="49" charset="-120"/>
              </a:rPr>
              <a:t>/tmp</a:t>
            </a:r>
            <a:r>
              <a:rPr lang="en-US" sz="1200" dirty="0">
                <a:solidFill>
                  <a:srgbClr val="E4E7EC"/>
                </a:solidFill>
                <a:latin typeface="JetBrains Mono" pitchFamily="49" charset="0"/>
                <a:ea typeface="JetBrains Mono" pitchFamily="49" charset="-122"/>
                <a:cs typeface="JetBrains Mono" pitchFamily="49" charset="-120"/>
              </a:rPr>
              <a:t> myapi:1.0</a:t>
            </a:r>
            <a:endParaRPr lang="en-US" sz="1200" dirty="0"/>
          </a:p>
        </p:txBody>
      </p:sp>
      <p:sp>
        <p:nvSpPr>
          <p:cNvPr id="6" name="Text 3"/>
          <p:cNvSpPr/>
          <p:nvPr/>
        </p:nvSpPr>
        <p:spPr>
          <a:xfrm>
            <a:off x="812800" y="6238242"/>
            <a:ext cx="388677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Docker Fundamentals · Storage and networking</a:t>
            </a:r>
            <a:endParaRPr lang="en-US" sz="1200" dirty="0"/>
          </a:p>
        </p:txBody>
      </p:sp>
      <p:sp>
        <p:nvSpPr>
          <p:cNvPr id="7" name="Text 4"/>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Demo: persisting a database with a volume</a:t>
            </a:r>
            <a:endParaRPr lang="en-US" sz="3000" dirty="0"/>
          </a:p>
        </p:txBody>
      </p:sp>
      <p:sp>
        <p:nvSpPr>
          <p:cNvPr id="3" name="Text 1"/>
          <p:cNvSpPr/>
          <p:nvPr/>
        </p:nvSpPr>
        <p:spPr>
          <a:xfrm>
            <a:off x="812800" y="1536700"/>
            <a:ext cx="6329680" cy="3058160"/>
          </a:xfrm>
          <a:prstGeom prst="roundRect">
            <a:avLst>
              <a:gd name="adj" fmla="val 3322"/>
            </a:avLst>
          </a:prstGeom>
          <a:solidFill>
            <a:srgbClr val="161B26"/>
          </a:solidFill>
          <a:ln/>
        </p:spPr>
        <p:txBody>
          <a:bodyPr wrap="none" lIns="224242" tIns="173442" rIns="49592" bIns="1480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docker volume create pgdata</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docker run -d --name db -e POSTGRES_PASSWORD=devpass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-v </a:t>
            </a:r>
            <a:r>
              <a:rPr lang="en-US" sz="1200" dirty="0">
                <a:solidFill>
                  <a:srgbClr val="8EBBFF"/>
                </a:solidFill>
                <a:latin typeface="JetBrains Mono" pitchFamily="49" charset="0"/>
                <a:ea typeface="JetBrains Mono" pitchFamily="49" charset="-122"/>
                <a:cs typeface="JetBrains Mono" pitchFamily="49" charset="-120"/>
              </a:rPr>
              <a:t>pgdata</a:t>
            </a:r>
            <a:r>
              <a:rPr lang="en-US" sz="1200" dirty="0">
                <a:solidFill>
                  <a:srgbClr val="E4E7EC"/>
                </a:solidFill>
                <a:latin typeface="JetBrains Mono" pitchFamily="49" charset="0"/>
                <a:ea typeface="JetBrains Mono" pitchFamily="49" charset="-122"/>
                <a:cs typeface="JetBrains Mono" pitchFamily="49" charset="-120"/>
              </a:rPr>
              <a:t>:/var/lib/postgresql/data postgres:16</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docker exec -it db psql -U postgres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-c "CREATE TABLE notes (id int);"</a:t>
            </a:r>
            <a:endParaRPr lang="en-US" sz="1200" dirty="0"/>
          </a:p>
          <a:p>
            <a:pPr algn="l" indent="0" marL="0">
              <a:lnSpc>
                <a:spcPts val="1740"/>
              </a:lnSpc>
              <a:buNone/>
            </a:pP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docker rm -f db   </a:t>
            </a:r>
            <a:r>
              <a:rPr lang="en-US" sz="1200" dirty="0">
                <a:solidFill>
                  <a:srgbClr val="8C95A5"/>
                </a:solidFill>
                <a:latin typeface="JetBrains Mono" pitchFamily="49" charset="0"/>
                <a:ea typeface="JetBrains Mono" pitchFamily="49" charset="-122"/>
                <a:cs typeface="JetBrains Mono" pitchFamily="49" charset="-120"/>
              </a:rPr>
              <a:t># the container is gone…</a:t>
            </a:r>
            <a:endParaRPr lang="en-US" sz="1200" dirty="0"/>
          </a:p>
          <a:p>
            <a:pPr algn="l" indent="0" marL="0">
              <a:lnSpc>
                <a:spcPts val="1740"/>
              </a:lnSpc>
              <a:buNone/>
            </a:pP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docker run -d --name db -e POSTGRES_PASSWORD=devpass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-v </a:t>
            </a:r>
            <a:r>
              <a:rPr lang="en-US" sz="1200" dirty="0">
                <a:solidFill>
                  <a:srgbClr val="8EBBFF"/>
                </a:solidFill>
                <a:latin typeface="JetBrains Mono" pitchFamily="49" charset="0"/>
                <a:ea typeface="JetBrains Mono" pitchFamily="49" charset="-122"/>
                <a:cs typeface="JetBrains Mono" pitchFamily="49" charset="-120"/>
              </a:rPr>
              <a:t>pgdata</a:t>
            </a:r>
            <a:r>
              <a:rPr lang="en-US" sz="1200" dirty="0">
                <a:solidFill>
                  <a:srgbClr val="E4E7EC"/>
                </a:solidFill>
                <a:latin typeface="JetBrains Mono" pitchFamily="49" charset="0"/>
                <a:ea typeface="JetBrains Mono" pitchFamily="49" charset="-122"/>
                <a:cs typeface="JetBrains Mono" pitchFamily="49" charset="-120"/>
              </a:rPr>
              <a:t>:/var/lib/postgresql/data postgres:16</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docker exec -it db psql -U postgres -c "\dt"</a:t>
            </a:r>
            <a:endParaRPr lang="en-US" sz="1200" dirty="0"/>
          </a:p>
          <a:p>
            <a:pPr algn="l" indent="0" marL="0">
              <a:lnSpc>
                <a:spcPts val="1740"/>
              </a:lnSpc>
              <a:buNone/>
            </a:pPr>
            <a:r>
              <a:rPr lang="en-US" sz="1200" dirty="0">
                <a:solidFill>
                  <a:srgbClr val="8C95A5"/>
                </a:solidFill>
                <a:latin typeface="JetBrains Mono" pitchFamily="49" charset="0"/>
                <a:ea typeface="JetBrains Mono" pitchFamily="49" charset="-122"/>
                <a:cs typeface="JetBrains Mono" pitchFamily="49" charset="-120"/>
              </a:rPr>
              <a:t># …but the notes table is still there</a:t>
            </a:r>
            <a:endParaRPr lang="en-US" sz="1200" dirty="0"/>
          </a:p>
        </p:txBody>
      </p:sp>
      <p:sp>
        <p:nvSpPr>
          <p:cNvPr id="4" name="Text 2"/>
          <p:cNvSpPr/>
          <p:nvPr/>
        </p:nvSpPr>
        <p:spPr>
          <a:xfrm>
            <a:off x="7498080" y="1562100"/>
            <a:ext cx="304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5FC4"/>
                </a:solidFill>
                <a:latin typeface="JetBrains Mono" pitchFamily="49" charset="0"/>
                <a:ea typeface="JetBrains Mono" pitchFamily="49" charset="-122"/>
                <a:cs typeface="JetBrains Mono" pitchFamily="49" charset="-120"/>
              </a:rPr>
              <a:t>1</a:t>
            </a:r>
            <a:endParaRPr lang="en-US" sz="1200" dirty="0"/>
          </a:p>
        </p:txBody>
      </p:sp>
      <p:sp>
        <p:nvSpPr>
          <p:cNvPr id="5" name="Text 3"/>
          <p:cNvSpPr/>
          <p:nvPr/>
        </p:nvSpPr>
        <p:spPr>
          <a:xfrm>
            <a:off x="7866380" y="1536700"/>
            <a:ext cx="361820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Create a named volume</a:t>
            </a:r>
            <a:endParaRPr lang="en-US" sz="1400" dirty="0"/>
          </a:p>
        </p:txBody>
      </p:sp>
      <p:sp>
        <p:nvSpPr>
          <p:cNvPr id="6" name="Text 4"/>
          <p:cNvSpPr/>
          <p:nvPr/>
        </p:nvSpPr>
        <p:spPr>
          <a:xfrm>
            <a:off x="7498080" y="1925327"/>
            <a:ext cx="304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5FC4"/>
                </a:solidFill>
                <a:latin typeface="JetBrains Mono" pitchFamily="49" charset="0"/>
                <a:ea typeface="JetBrains Mono" pitchFamily="49" charset="-122"/>
                <a:cs typeface="JetBrains Mono" pitchFamily="49" charset="-120"/>
              </a:rPr>
              <a:t>2</a:t>
            </a:r>
            <a:endParaRPr lang="en-US" sz="1200" dirty="0"/>
          </a:p>
        </p:txBody>
      </p:sp>
      <p:sp>
        <p:nvSpPr>
          <p:cNvPr id="7" name="Text 5"/>
          <p:cNvSpPr/>
          <p:nvPr/>
        </p:nvSpPr>
        <p:spPr>
          <a:xfrm>
            <a:off x="7866380" y="1899927"/>
            <a:ext cx="361820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Mount it at Postgres’s data directory</a:t>
            </a:r>
            <a:endParaRPr lang="en-US" sz="1400" dirty="0"/>
          </a:p>
        </p:txBody>
      </p:sp>
      <p:sp>
        <p:nvSpPr>
          <p:cNvPr id="8" name="Text 6"/>
          <p:cNvSpPr/>
          <p:nvPr/>
        </p:nvSpPr>
        <p:spPr>
          <a:xfrm>
            <a:off x="7498080" y="2288542"/>
            <a:ext cx="304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5FC4"/>
                </a:solidFill>
                <a:latin typeface="JetBrains Mono" pitchFamily="49" charset="0"/>
                <a:ea typeface="JetBrains Mono" pitchFamily="49" charset="-122"/>
                <a:cs typeface="JetBrains Mono" pitchFamily="49" charset="-120"/>
              </a:rPr>
              <a:t>3</a:t>
            </a:r>
            <a:endParaRPr lang="en-US" sz="1200" dirty="0"/>
          </a:p>
        </p:txBody>
      </p:sp>
      <p:sp>
        <p:nvSpPr>
          <p:cNvPr id="9" name="Text 7"/>
          <p:cNvSpPr/>
          <p:nvPr/>
        </p:nvSpPr>
        <p:spPr>
          <a:xfrm>
            <a:off x="7866380" y="2263142"/>
            <a:ext cx="361820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Write some data</a:t>
            </a:r>
            <a:endParaRPr lang="en-US" sz="1400" dirty="0"/>
          </a:p>
        </p:txBody>
      </p:sp>
      <p:sp>
        <p:nvSpPr>
          <p:cNvPr id="10" name="Text 8"/>
          <p:cNvSpPr/>
          <p:nvPr/>
        </p:nvSpPr>
        <p:spPr>
          <a:xfrm>
            <a:off x="7498080" y="2651758"/>
            <a:ext cx="304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5FC4"/>
                </a:solidFill>
                <a:latin typeface="JetBrains Mono" pitchFamily="49" charset="0"/>
                <a:ea typeface="JetBrains Mono" pitchFamily="49" charset="-122"/>
                <a:cs typeface="JetBrains Mono" pitchFamily="49" charset="-120"/>
              </a:rPr>
              <a:t>4</a:t>
            </a:r>
            <a:endParaRPr lang="en-US" sz="1200" dirty="0"/>
          </a:p>
        </p:txBody>
      </p:sp>
      <p:sp>
        <p:nvSpPr>
          <p:cNvPr id="11" name="Text 9"/>
          <p:cNvSpPr/>
          <p:nvPr/>
        </p:nvSpPr>
        <p:spPr>
          <a:xfrm>
            <a:off x="7866380" y="2626358"/>
            <a:ext cx="361820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Delete the container</a:t>
            </a:r>
            <a:endParaRPr lang="en-US" sz="1400" dirty="0"/>
          </a:p>
        </p:txBody>
      </p:sp>
      <p:sp>
        <p:nvSpPr>
          <p:cNvPr id="12" name="Text 10"/>
          <p:cNvSpPr/>
          <p:nvPr/>
        </p:nvSpPr>
        <p:spPr>
          <a:xfrm>
            <a:off x="7498080" y="3014985"/>
            <a:ext cx="304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5FC4"/>
                </a:solidFill>
                <a:latin typeface="JetBrains Mono" pitchFamily="49" charset="0"/>
                <a:ea typeface="JetBrains Mono" pitchFamily="49" charset="-122"/>
                <a:cs typeface="JetBrains Mono" pitchFamily="49" charset="-120"/>
              </a:rPr>
              <a:t>5</a:t>
            </a:r>
            <a:endParaRPr lang="en-US" sz="1200" dirty="0"/>
          </a:p>
        </p:txBody>
      </p:sp>
      <p:sp>
        <p:nvSpPr>
          <p:cNvPr id="13" name="Text 11"/>
          <p:cNvSpPr/>
          <p:nvPr/>
        </p:nvSpPr>
        <p:spPr>
          <a:xfrm>
            <a:off x="7866380" y="2989585"/>
            <a:ext cx="361820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Start a fresh one on the same volume — the data is back</a:t>
            </a:r>
            <a:endParaRPr lang="en-US" sz="1400" dirty="0"/>
          </a:p>
        </p:txBody>
      </p:sp>
      <p:sp>
        <p:nvSpPr>
          <p:cNvPr id="14" name="Text 12"/>
          <p:cNvSpPr/>
          <p:nvPr/>
        </p:nvSpPr>
        <p:spPr>
          <a:xfrm>
            <a:off x="7498080" y="3601727"/>
            <a:ext cx="3881120" cy="802640"/>
          </a:xfrm>
          <a:prstGeom prst="roundRect">
            <a:avLst>
              <a:gd name="adj" fmla="val 12658"/>
            </a:avLst>
          </a:prstGeom>
          <a:solidFill>
            <a:srgbClr val="1D5FC4"/>
          </a:solidFill>
          <a:ln/>
        </p:spPr>
        <p:txBody>
          <a:bodyPr wrap="square" lIns="148042" tIns="122642" rIns="42277" bIns="97242" rtlCol="0" anchor="t">
            <a:normAutofit/>
          </a:bodyPr>
          <a:lstStyle/>
          <a:p>
            <a:pPr algn="l" indent="0" marL="0">
              <a:lnSpc>
                <a:spcPts val="1960"/>
              </a:lnSpc>
              <a:buNone/>
            </a:pPr>
            <a:r>
              <a:rPr lang="en-US" sz="1400" b="1" dirty="0">
                <a:solidFill>
                  <a:srgbClr val="F6F5F1"/>
                </a:solidFill>
                <a:latin typeface="IBM Plex Sans" pitchFamily="34" charset="0"/>
                <a:ea typeface="IBM Plex Sans" pitchFamily="34" charset="-122"/>
                <a:cs typeface="IBM Plex Sans" pitchFamily="34" charset="-120"/>
              </a:rPr>
              <a:t>Containers are disposable. Volumes hold the state.</a:t>
            </a:r>
            <a:endParaRPr lang="en-US" sz="1400" dirty="0"/>
          </a:p>
        </p:txBody>
      </p:sp>
      <p:sp>
        <p:nvSpPr>
          <p:cNvPr id="15" name="Text 13"/>
          <p:cNvSpPr/>
          <p:nvPr/>
        </p:nvSpPr>
        <p:spPr>
          <a:xfrm>
            <a:off x="812800" y="6238242"/>
            <a:ext cx="388677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Docker Fundamentals · Storage and networking</a:t>
            </a:r>
            <a:endParaRPr lang="en-US" sz="1200" dirty="0"/>
          </a:p>
        </p:txBody>
      </p:sp>
      <p:sp>
        <p:nvSpPr>
          <p:cNvPr id="16" name="Text 14"/>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Network drivers</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496060"/>
          <a:ext cx="10556240" cy="2194560"/>
        </p:xfrm>
        <a:graphic>
          <a:graphicData uri="http://schemas.openxmlformats.org/drawingml/2006/table">
            <a:tbl>
              <a:tblPr/>
              <a:tblGrid>
                <a:gridCol w="2111248"/>
                <a:gridCol w="4855870"/>
                <a:gridCol w="3589122"/>
              </a:tblGrid>
              <a:tr h="330200">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Driver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What it does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c>
                  <a:txBody>
                    <a:bodyPr/>
                    <a:lstStyle/>
                    <a:p>
                      <a:pPr indent="0" marL="0">
                        <a:lnSpc>
                          <a:spcPts val="1680"/>
                        </a:lnSpc>
                        <a:buNone/>
                      </a:pPr>
                      <a:r>
                        <a:rPr lang="en-US" sz="1200" b="1" dirty="0">
                          <a:solidFill>
                            <a:srgbClr val="2B3240"/>
                          </a:solidFill>
                          <a:latin typeface="IBM Plex Sans" pitchFamily="34" charset="0"/>
                          <a:ea typeface="IBM Plex Sans" pitchFamily="34" charset="-122"/>
                          <a:cs typeface="IBM Plex Sans" pitchFamily="34" charset="-120"/>
                        </a:rPr>
                        <a:t>Use it for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2"/>
                    </a:solidFill>
                  </a:tcPr>
                </a:tc>
              </a:tr>
              <a:tr h="54356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bridge (default)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A private network on one host; containers reach the outside world through NAT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Containers on a single machine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host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Shares the host’s network stack — no isolation, no -p needed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Maximum network performance on Linux hosts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none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No networking at all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Isolated batch jobs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overlay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One network spanning several Docker hosts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Swarm services across machines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30200">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macvlan / ipvlan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Gives a container its own address on the physical LAN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Legacy apps that expect a real LAN address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4" name="Text 1"/>
          <p:cNvSpPr/>
          <p:nvPr/>
        </p:nvSpPr>
        <p:spPr>
          <a:xfrm>
            <a:off x="812800" y="3944627"/>
            <a:ext cx="1991360" cy="391160"/>
          </a:xfrm>
          <a:prstGeom prst="roundRect">
            <a:avLst>
              <a:gd name="adj" fmla="val 16234"/>
            </a:avLst>
          </a:prstGeom>
          <a:solidFill>
            <a:srgbClr val="161B26"/>
          </a:solidFill>
          <a:ln/>
        </p:spPr>
        <p:txBody>
          <a:bodyPr wrap="none" lIns="0" tIns="0" rIns="0" bIns="0" rtlCol="0" anchor="ctr">
            <a:normAutofit/>
          </a:bodyPr>
          <a:lstStyle/>
          <a:p>
            <a:pPr algn="ctr" indent="0" marL="0">
              <a:lnSpc>
                <a:spcPts val="1680"/>
              </a:lnSpc>
              <a:buNone/>
            </a:pPr>
            <a:r>
              <a:rPr lang="en-US" sz="1200" dirty="0">
                <a:solidFill>
                  <a:srgbClr val="E4E7EC"/>
                </a:solidFill>
                <a:latin typeface="JetBrains Mono" pitchFamily="49" charset="0"/>
                <a:ea typeface="JetBrains Mono" pitchFamily="49" charset="-122"/>
                <a:cs typeface="JetBrains Mono" pitchFamily="49" charset="-120"/>
              </a:rPr>
              <a:t>$ docker network ls</a:t>
            </a:r>
            <a:endParaRPr lang="en-US" sz="1200" dirty="0"/>
          </a:p>
        </p:txBody>
      </p:sp>
      <p:sp>
        <p:nvSpPr>
          <p:cNvPr id="5" name="Text 2"/>
          <p:cNvSpPr/>
          <p:nvPr/>
        </p:nvSpPr>
        <p:spPr>
          <a:xfrm>
            <a:off x="2956560" y="3944627"/>
            <a:ext cx="3088640" cy="391160"/>
          </a:xfrm>
          <a:prstGeom prst="roundRect">
            <a:avLst>
              <a:gd name="adj" fmla="val 16234"/>
            </a:avLst>
          </a:prstGeom>
          <a:solidFill>
            <a:srgbClr val="161B26"/>
          </a:solidFill>
          <a:ln/>
        </p:spPr>
        <p:txBody>
          <a:bodyPr wrap="none" lIns="0" tIns="0" rIns="0" bIns="0" rtlCol="0" anchor="ctr">
            <a:normAutofit/>
          </a:bodyPr>
          <a:lstStyle/>
          <a:p>
            <a:pPr algn="ctr" indent="0" marL="0">
              <a:lnSpc>
                <a:spcPts val="1680"/>
              </a:lnSpc>
              <a:buNone/>
            </a:pPr>
            <a:r>
              <a:rPr lang="en-US" sz="1200" dirty="0">
                <a:solidFill>
                  <a:srgbClr val="E4E7EC"/>
                </a:solidFill>
                <a:latin typeface="JetBrains Mono" pitchFamily="49" charset="0"/>
                <a:ea typeface="JetBrains Mono" pitchFamily="49" charset="-122"/>
                <a:cs typeface="JetBrains Mono" pitchFamily="49" charset="-120"/>
              </a:rPr>
              <a:t>$ docker network inspect bridge</a:t>
            </a:r>
            <a:endParaRPr lang="en-US" sz="1200" dirty="0"/>
          </a:p>
        </p:txBody>
      </p:sp>
      <p:sp>
        <p:nvSpPr>
          <p:cNvPr id="6" name="Text 3"/>
          <p:cNvSpPr/>
          <p:nvPr/>
        </p:nvSpPr>
        <p:spPr>
          <a:xfrm>
            <a:off x="6197600" y="4015742"/>
            <a:ext cx="533704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D6470"/>
                </a:solidFill>
                <a:latin typeface="IBM Plex Sans" pitchFamily="34" charset="0"/>
                <a:ea typeface="IBM Plex Sans" pitchFamily="34" charset="-122"/>
                <a:cs typeface="IBM Plex Sans" pitchFamily="34" charset="-120"/>
              </a:rPr>
              <a:t>For most single-host apps, you only need bridge.</a:t>
            </a:r>
            <a:endParaRPr lang="en-US" sz="1400" dirty="0"/>
          </a:p>
        </p:txBody>
      </p:sp>
      <p:sp>
        <p:nvSpPr>
          <p:cNvPr id="7" name="Text 4"/>
          <p:cNvSpPr/>
          <p:nvPr/>
        </p:nvSpPr>
        <p:spPr>
          <a:xfrm>
            <a:off x="812800" y="6238242"/>
            <a:ext cx="388677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Docker Fundamentals · Storage and networking</a:t>
            </a:r>
            <a:endParaRPr lang="en-US" sz="1200" dirty="0"/>
          </a:p>
        </p:txBody>
      </p:sp>
      <p:sp>
        <p:nvSpPr>
          <p:cNvPr id="8" name="Text 5"/>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User-defined networks and DNS</a:t>
            </a:r>
            <a:endParaRPr lang="en-US" sz="3000" dirty="0"/>
          </a:p>
        </p:txBody>
      </p:sp>
      <p:sp>
        <p:nvSpPr>
          <p:cNvPr id="3" name="Shape 1"/>
          <p:cNvSpPr/>
          <p:nvPr/>
        </p:nvSpPr>
        <p:spPr>
          <a:xfrm>
            <a:off x="819150" y="1543050"/>
            <a:ext cx="5603240" cy="1079500"/>
          </a:xfrm>
          <a:prstGeom prst="roundRect">
            <a:avLst>
              <a:gd name="adj" fmla="val 8824"/>
            </a:avLst>
          </a:prstGeom>
          <a:solidFill>
            <a:srgbClr val="FDFCFA"/>
          </a:solidFill>
          <a:ln w="12700">
            <a:solidFill>
              <a:srgbClr val="1D5FC4"/>
            </a:solidFill>
            <a:prstDash val="dash"/>
          </a:ln>
        </p:spPr>
      </p:sp>
      <p:sp>
        <p:nvSpPr>
          <p:cNvPr id="4" name="Text 2"/>
          <p:cNvSpPr/>
          <p:nvPr/>
        </p:nvSpPr>
        <p:spPr>
          <a:xfrm>
            <a:off x="1000760" y="1699258"/>
            <a:ext cx="539722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5FC4"/>
                </a:solidFill>
                <a:latin typeface="JetBrains Mono" pitchFamily="49" charset="0"/>
                <a:ea typeface="JetBrains Mono" pitchFamily="49" charset="-122"/>
                <a:cs typeface="JetBrains Mono" pitchFamily="49" charset="-120"/>
              </a:rPr>
              <a:t>network: appnet</a:t>
            </a:r>
            <a:endParaRPr lang="en-US" sz="1200" dirty="0"/>
          </a:p>
        </p:txBody>
      </p:sp>
      <p:sp>
        <p:nvSpPr>
          <p:cNvPr id="5" name="Text 3"/>
          <p:cNvSpPr/>
          <p:nvPr/>
        </p:nvSpPr>
        <p:spPr>
          <a:xfrm>
            <a:off x="1000760" y="2014227"/>
            <a:ext cx="2198370" cy="452120"/>
          </a:xfrm>
          <a:prstGeom prst="roundRect">
            <a:avLst>
              <a:gd name="adj" fmla="val 16854"/>
            </a:avLst>
          </a:prstGeom>
          <a:solidFill>
            <a:srgbClr val="1D5FC4"/>
          </a:solidFill>
          <a:ln/>
        </p:spPr>
        <p:txBody>
          <a:bodyPr wrap="square" lIns="75516" tIns="79282" rIns="75516" bIns="53882" rtlCol="0" anchor="t">
            <a:normAutofit/>
          </a:bodyPr>
          <a:lstStyle/>
          <a:p>
            <a:pPr algn="ctr" indent="0" marL="0">
              <a:lnSpc>
                <a:spcPts val="1960"/>
              </a:lnSpc>
              <a:buNone/>
            </a:pPr>
            <a:r>
              <a:rPr lang="en-US" sz="1400" dirty="0">
                <a:solidFill>
                  <a:srgbClr val="F6F5F1"/>
                </a:solidFill>
                <a:latin typeface="JetBrains Mono" pitchFamily="49" charset="0"/>
                <a:ea typeface="JetBrains Mono" pitchFamily="49" charset="-122"/>
                <a:cs typeface="JetBrains Mono" pitchFamily="49" charset="-120"/>
              </a:rPr>
              <a:t>api</a:t>
            </a:r>
            <a:endParaRPr lang="en-US" sz="1400" dirty="0"/>
          </a:p>
        </p:txBody>
      </p:sp>
      <p:sp>
        <p:nvSpPr>
          <p:cNvPr id="6" name="Text 4"/>
          <p:cNvSpPr/>
          <p:nvPr/>
        </p:nvSpPr>
        <p:spPr>
          <a:xfrm>
            <a:off x="3300730" y="2025650"/>
            <a:ext cx="741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JetBrains Mono" pitchFamily="49" charset="0"/>
                <a:ea typeface="JetBrains Mono" pitchFamily="49" charset="-122"/>
                <a:cs typeface="JetBrains Mono" pitchFamily="49" charset="-120"/>
              </a:rPr>
              <a:t>db:5432</a:t>
            </a:r>
            <a:endParaRPr lang="en-US" sz="1200" dirty="0"/>
          </a:p>
        </p:txBody>
      </p:sp>
      <p:pic>
        <p:nvPicPr>
          <p:cNvPr id="7" name="Image 0" descr="arrow-right">    </p:cNvPr>
          <p:cNvPicPr>
            <a:picLocks noChangeAspect="1"/>
          </p:cNvPicPr>
          <p:nvPr/>
        </p:nvPicPr>
        <p:blipFill>
          <a:blip r:embed="rId1"/>
          <a:srcRect l="0" r="0" t="0" b="0"/>
          <a:stretch/>
        </p:blipFill>
        <p:spPr>
          <a:xfrm>
            <a:off x="3417570" y="2277108"/>
            <a:ext cx="406400" cy="177800"/>
          </a:xfrm>
          <a:prstGeom prst="rect">
            <a:avLst/>
          </a:prstGeom>
        </p:spPr>
      </p:pic>
      <p:sp>
        <p:nvSpPr>
          <p:cNvPr id="8" name="Text 5"/>
          <p:cNvSpPr/>
          <p:nvPr/>
        </p:nvSpPr>
        <p:spPr>
          <a:xfrm>
            <a:off x="4042410" y="2014227"/>
            <a:ext cx="2198370" cy="452120"/>
          </a:xfrm>
          <a:prstGeom prst="roundRect">
            <a:avLst>
              <a:gd name="adj" fmla="val 16854"/>
            </a:avLst>
          </a:prstGeom>
          <a:solidFill>
            <a:srgbClr val="121722"/>
          </a:solidFill>
          <a:ln/>
        </p:spPr>
        <p:txBody>
          <a:bodyPr wrap="square" lIns="75516" tIns="79282" rIns="75516" bIns="53882" rtlCol="0" anchor="t">
            <a:normAutofit/>
          </a:bodyPr>
          <a:lstStyle/>
          <a:p>
            <a:pPr algn="ctr" indent="0" marL="0">
              <a:lnSpc>
                <a:spcPts val="1960"/>
              </a:lnSpc>
              <a:buNone/>
            </a:pPr>
            <a:r>
              <a:rPr lang="en-US" sz="1400" dirty="0">
                <a:solidFill>
                  <a:srgbClr val="F6F5F1"/>
                </a:solidFill>
                <a:latin typeface="JetBrains Mono" pitchFamily="49" charset="0"/>
                <a:ea typeface="JetBrains Mono" pitchFamily="49" charset="-122"/>
                <a:cs typeface="JetBrains Mono" pitchFamily="49" charset="-120"/>
              </a:rPr>
              <a:t>db</a:t>
            </a:r>
            <a:endParaRPr lang="en-US" sz="1400" dirty="0"/>
          </a:p>
        </p:txBody>
      </p:sp>
      <p:sp>
        <p:nvSpPr>
          <p:cNvPr id="9" name="Text 6"/>
          <p:cNvSpPr/>
          <p:nvPr/>
        </p:nvSpPr>
        <p:spPr>
          <a:xfrm>
            <a:off x="812800" y="2806700"/>
            <a:ext cx="5615940" cy="1460500"/>
          </a:xfrm>
          <a:prstGeom prst="roundRect">
            <a:avLst>
              <a:gd name="adj" fmla="val 6957"/>
            </a:avLst>
          </a:prstGeom>
          <a:solidFill>
            <a:srgbClr val="161B26"/>
          </a:solidFill>
          <a:ln/>
        </p:spPr>
        <p:txBody>
          <a:bodyPr wrap="none" lIns="198842" tIns="148042" rIns="44080" bIns="1226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docker network create appnet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docker run -d --name db --network appnet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-e POSTGRES_PASSWORD=devpass postgres:16</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docker run -d --name api --network appnet \</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-e DB_HOST=</a:t>
            </a:r>
            <a:r>
              <a:rPr lang="en-US" sz="1200" dirty="0">
                <a:solidFill>
                  <a:srgbClr val="8EBBFF"/>
                </a:solidFill>
                <a:latin typeface="JetBrains Mono" pitchFamily="49" charset="0"/>
                <a:ea typeface="JetBrains Mono" pitchFamily="49" charset="-122"/>
                <a:cs typeface="JetBrains Mono" pitchFamily="49" charset="-120"/>
              </a:rPr>
              <a:t>db</a:t>
            </a:r>
            <a:r>
              <a:rPr lang="en-US" sz="1200" dirty="0">
                <a:solidFill>
                  <a:srgbClr val="E4E7EC"/>
                </a:solidFill>
                <a:latin typeface="JetBrains Mono" pitchFamily="49" charset="0"/>
                <a:ea typeface="JetBrains Mono" pitchFamily="49" charset="-122"/>
                <a:cs typeface="JetBrains Mono" pitchFamily="49" charset="-120"/>
              </a:rPr>
              <a:t> -p 8000:8000 myapi:1.0</a:t>
            </a:r>
            <a:endParaRPr lang="en-US" sz="1200" dirty="0"/>
          </a:p>
        </p:txBody>
      </p:sp>
      <p:sp>
        <p:nvSpPr>
          <p:cNvPr id="10" name="Text 7"/>
          <p:cNvSpPr/>
          <p:nvPr/>
        </p:nvSpPr>
        <p:spPr>
          <a:xfrm>
            <a:off x="6784340" y="1536700"/>
            <a:ext cx="473270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On the default bridge, containers can reach each other only by IP address.</a:t>
            </a:r>
            <a:endParaRPr lang="en-US" sz="1400" dirty="0"/>
          </a:p>
        </p:txBody>
      </p:sp>
      <p:sp>
        <p:nvSpPr>
          <p:cNvPr id="11" name="Text 8"/>
          <p:cNvSpPr/>
          <p:nvPr/>
        </p:nvSpPr>
        <p:spPr>
          <a:xfrm>
            <a:off x="6784340" y="2174242"/>
            <a:ext cx="473270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A </a:t>
            </a:r>
            <a:r>
              <a:rPr lang="en-US" sz="1400" b="1" dirty="0">
                <a:solidFill>
                  <a:srgbClr val="2B3240"/>
                </a:solidFill>
                <a:latin typeface="IBM Plex Sans" pitchFamily="34" charset="0"/>
                <a:ea typeface="IBM Plex Sans" pitchFamily="34" charset="-122"/>
                <a:cs typeface="IBM Plex Sans" pitchFamily="34" charset="-120"/>
              </a:rPr>
              <a:t>user-defined network</a:t>
            </a:r>
            <a:r>
              <a:rPr lang="en-US" sz="1400" dirty="0">
                <a:solidFill>
                  <a:srgbClr val="2B3240"/>
                </a:solidFill>
                <a:latin typeface="IBM Plex Sans" pitchFamily="34" charset="0"/>
                <a:ea typeface="IBM Plex Sans" pitchFamily="34" charset="-122"/>
                <a:cs typeface="IBM Plex Sans" pitchFamily="34" charset="-120"/>
              </a:rPr>
              <a:t> adds built-in DNS: containers find each other </a:t>
            </a:r>
            <a:r>
              <a:rPr lang="en-US" sz="1400" b="1" dirty="0">
                <a:solidFill>
                  <a:srgbClr val="2B3240"/>
                </a:solidFill>
                <a:latin typeface="IBM Plex Sans" pitchFamily="34" charset="0"/>
                <a:ea typeface="IBM Plex Sans" pitchFamily="34" charset="-122"/>
                <a:cs typeface="IBM Plex Sans" pitchFamily="34" charset="-120"/>
              </a:rPr>
              <a:t>by name</a:t>
            </a:r>
            <a:r>
              <a:rPr lang="en-US" sz="1400" dirty="0">
                <a:solidFill>
                  <a:srgbClr val="2B3240"/>
                </a:solidFill>
                <a:latin typeface="IBM Plex Sans" pitchFamily="34" charset="0"/>
                <a:ea typeface="IBM Plex Sans" pitchFamily="34" charset="-122"/>
                <a:cs typeface="IBM Plex Sans" pitchFamily="34" charset="-120"/>
              </a:rPr>
              <a:t>.</a:t>
            </a:r>
            <a:endParaRPr lang="en-US" sz="1400" dirty="0"/>
          </a:p>
        </p:txBody>
      </p:sp>
      <p:sp>
        <p:nvSpPr>
          <p:cNvPr id="12" name="Text 9"/>
          <p:cNvSpPr/>
          <p:nvPr/>
        </p:nvSpPr>
        <p:spPr>
          <a:xfrm>
            <a:off x="6784340" y="2811785"/>
            <a:ext cx="473270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Only containers on the same network can talk — isolation by default.</a:t>
            </a:r>
            <a:endParaRPr lang="en-US" sz="1400" dirty="0"/>
          </a:p>
        </p:txBody>
      </p:sp>
      <p:sp>
        <p:nvSpPr>
          <p:cNvPr id="13" name="Text 10"/>
          <p:cNvSpPr/>
          <p:nvPr/>
        </p:nvSpPr>
        <p:spPr>
          <a:xfrm>
            <a:off x="6784340" y="3449327"/>
            <a:ext cx="473270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One container can join several networks with </a:t>
            </a:r>
            <a:r>
              <a:rPr lang="en-US" sz="1400" dirty="0">
                <a:solidFill>
                  <a:srgbClr val="1D5FC4"/>
                </a:solidFill>
                <a:latin typeface="IBM Plex Sans" pitchFamily="34" charset="0"/>
                <a:ea typeface="IBM Plex Sans" pitchFamily="34" charset="-122"/>
                <a:cs typeface="IBM Plex Sans" pitchFamily="34" charset="-120"/>
              </a:rPr>
              <a:t>docker network connect</a:t>
            </a:r>
            <a:r>
              <a:rPr lang="en-US" sz="1400" dirty="0">
                <a:solidFill>
                  <a:srgbClr val="2B3240"/>
                </a:solidFill>
                <a:latin typeface="IBM Plex Sans" pitchFamily="34" charset="0"/>
                <a:ea typeface="IBM Plex Sans" pitchFamily="34" charset="-122"/>
                <a:cs typeface="IBM Plex Sans" pitchFamily="34" charset="-120"/>
              </a:rPr>
              <a:t>.</a:t>
            </a:r>
            <a:endParaRPr lang="en-US" sz="1400" dirty="0"/>
          </a:p>
        </p:txBody>
      </p:sp>
      <p:sp>
        <p:nvSpPr>
          <p:cNvPr id="14" name="Text 11"/>
          <p:cNvSpPr/>
          <p:nvPr/>
        </p:nvSpPr>
        <p:spPr>
          <a:xfrm>
            <a:off x="6784340" y="4086858"/>
            <a:ext cx="473270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D6470"/>
                </a:solidFill>
                <a:latin typeface="IBM Plex Sans" pitchFamily="34" charset="0"/>
                <a:ea typeface="IBM Plex Sans" pitchFamily="34" charset="-122"/>
                <a:cs typeface="IBM Plex Sans" pitchFamily="34" charset="-120"/>
              </a:rPr>
              <a:t>Compose creates one of these for every project automatically.</a:t>
            </a:r>
            <a:endParaRPr lang="en-US" sz="1400" dirty="0"/>
          </a:p>
        </p:txBody>
      </p:sp>
      <p:sp>
        <p:nvSpPr>
          <p:cNvPr id="15" name="Text 12"/>
          <p:cNvSpPr/>
          <p:nvPr/>
        </p:nvSpPr>
        <p:spPr>
          <a:xfrm>
            <a:off x="812800" y="6238242"/>
            <a:ext cx="388677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Docker Fundamentals · Storage and networking</a:t>
            </a:r>
            <a:endParaRPr lang="en-US" sz="1200" dirty="0"/>
          </a:p>
        </p:txBody>
      </p:sp>
      <p:sp>
        <p:nvSpPr>
          <p:cNvPr id="16" name="Text 13"/>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Docker Compose: the compose.yaml file</a:t>
            </a:r>
            <a:endParaRPr lang="en-US" sz="3000" dirty="0"/>
          </a:p>
        </p:txBody>
      </p:sp>
      <p:sp>
        <p:nvSpPr>
          <p:cNvPr id="3" name="Text 1"/>
          <p:cNvSpPr/>
          <p:nvPr/>
        </p:nvSpPr>
        <p:spPr>
          <a:xfrm>
            <a:off x="812800" y="1536700"/>
            <a:ext cx="5116830" cy="3891280"/>
          </a:xfrm>
          <a:prstGeom prst="roundRect">
            <a:avLst>
              <a:gd name="adj" fmla="val 2611"/>
            </a:avLst>
          </a:prstGeom>
          <a:solidFill>
            <a:srgbClr val="161B26"/>
          </a:solidFill>
          <a:ln/>
        </p:spPr>
        <p:txBody>
          <a:bodyPr wrap="none" lIns="224242" tIns="148042" rIns="85977" bIns="122642" rtlCol="0" anchor="t">
            <a:normAutofit/>
          </a:bodyPr>
          <a:lstStyle/>
          <a:p>
            <a:pPr algn="l" indent="0" marL="0">
              <a:lnSpc>
                <a:spcPts val="1740"/>
              </a:lnSpc>
              <a:buNone/>
            </a:pPr>
            <a:r>
              <a:rPr lang="en-US" sz="1200" dirty="0">
                <a:solidFill>
                  <a:srgbClr val="8EBBFF"/>
                </a:solidFill>
                <a:latin typeface="JetBrains Mono" pitchFamily="49" charset="0"/>
                <a:ea typeface="JetBrains Mono" pitchFamily="49" charset="-122"/>
                <a:cs typeface="JetBrains Mono" pitchFamily="49" charset="-120"/>
              </a:rPr>
              <a:t>services: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web:</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build: ./web</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ports: ["8080:80"]</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api:</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build: ./api</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environment: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DB_HOST: db</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db:</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image: postgres:16</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environment: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POSTGRES_PASSWORD: devpass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volumes: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pgdata:/var/lib/postgresql/data</a:t>
            </a:r>
            <a:endParaRPr lang="en-US" sz="1200" dirty="0"/>
          </a:p>
          <a:p>
            <a:pPr algn="l" indent="0" marL="0">
              <a:lnSpc>
                <a:spcPts val="1740"/>
              </a:lnSpc>
              <a:buNone/>
            </a:pPr>
            <a:r>
              <a:rPr lang="en-US" sz="1200" dirty="0">
                <a:solidFill>
                  <a:srgbClr val="8EBBFF"/>
                </a:solidFill>
                <a:latin typeface="JetBrains Mono" pitchFamily="49" charset="0"/>
                <a:ea typeface="JetBrains Mono" pitchFamily="49" charset="-122"/>
                <a:cs typeface="JetBrains Mono" pitchFamily="49" charset="-120"/>
              </a:rPr>
              <a:t>volumes: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pgdata:</a:t>
            </a:r>
            <a:endParaRPr lang="en-US" sz="1200" dirty="0"/>
          </a:p>
        </p:txBody>
      </p:sp>
      <p:sp>
        <p:nvSpPr>
          <p:cNvPr id="4" name="Text 2"/>
          <p:cNvSpPr/>
          <p:nvPr/>
        </p:nvSpPr>
        <p:spPr>
          <a:xfrm>
            <a:off x="6285230" y="1536700"/>
            <a:ext cx="52467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Describe the whole app — services, networks, volumes — in one file.</a:t>
            </a:r>
            <a:endParaRPr lang="en-US" sz="1400" dirty="0"/>
          </a:p>
        </p:txBody>
      </p:sp>
      <p:sp>
        <p:nvSpPr>
          <p:cNvPr id="5" name="Text 3"/>
          <p:cNvSpPr/>
          <p:nvPr/>
        </p:nvSpPr>
        <p:spPr>
          <a:xfrm>
            <a:off x="6285230" y="2161542"/>
            <a:ext cx="52467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Each service is one container’s config: an image or a build, plus ports, env and volumes.</a:t>
            </a:r>
            <a:endParaRPr lang="en-US" sz="1400" dirty="0"/>
          </a:p>
        </p:txBody>
      </p:sp>
      <p:sp>
        <p:nvSpPr>
          <p:cNvPr id="6" name="Text 4"/>
          <p:cNvSpPr/>
          <p:nvPr/>
        </p:nvSpPr>
        <p:spPr>
          <a:xfrm>
            <a:off x="6285230" y="2786385"/>
            <a:ext cx="52467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Compose creates a network per project, so services reach each other by name: </a:t>
            </a:r>
            <a:r>
              <a:rPr lang="en-US" sz="1400" b="1" dirty="0">
                <a:solidFill>
                  <a:srgbClr val="2B3240"/>
                </a:solidFill>
                <a:latin typeface="IBM Plex Sans" pitchFamily="34" charset="0"/>
                <a:ea typeface="IBM Plex Sans" pitchFamily="34" charset="-122"/>
                <a:cs typeface="IBM Plex Sans" pitchFamily="34" charset="-120"/>
              </a:rPr>
              <a:t>api → db</a:t>
            </a:r>
            <a:r>
              <a:rPr lang="en-US" sz="1400" dirty="0">
                <a:solidFill>
                  <a:srgbClr val="2B3240"/>
                </a:solidFill>
                <a:latin typeface="IBM Plex Sans" pitchFamily="34" charset="0"/>
                <a:ea typeface="IBM Plex Sans" pitchFamily="34" charset="-122"/>
                <a:cs typeface="IBM Plex Sans" pitchFamily="34" charset="-120"/>
              </a:rPr>
              <a:t>.</a:t>
            </a:r>
            <a:endParaRPr lang="en-US" sz="1400" dirty="0"/>
          </a:p>
        </p:txBody>
      </p:sp>
      <p:sp>
        <p:nvSpPr>
          <p:cNvPr id="7" name="Shape 5"/>
          <p:cNvSpPr/>
          <p:nvPr/>
        </p:nvSpPr>
        <p:spPr>
          <a:xfrm>
            <a:off x="6285230" y="3804292"/>
            <a:ext cx="5093970" cy="0"/>
          </a:xfrm>
          <a:prstGeom prst="line">
            <a:avLst/>
          </a:prstGeom>
          <a:noFill/>
          <a:ln w="6350">
            <a:solidFill>
              <a:srgbClr val="E2DED5"/>
            </a:solidFill>
            <a:prstDash val="solid"/>
          </a:ln>
        </p:spPr>
      </p:sp>
      <p:sp>
        <p:nvSpPr>
          <p:cNvPr id="8" name="Text 6"/>
          <p:cNvSpPr/>
          <p:nvPr/>
        </p:nvSpPr>
        <p:spPr>
          <a:xfrm>
            <a:off x="6285230" y="3525527"/>
            <a:ext cx="2616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docker compose up -d</a:t>
            </a:r>
            <a:endParaRPr lang="en-US" sz="1200" dirty="0"/>
          </a:p>
        </p:txBody>
      </p:sp>
      <p:sp>
        <p:nvSpPr>
          <p:cNvPr id="9" name="Text 7"/>
          <p:cNvSpPr/>
          <p:nvPr/>
        </p:nvSpPr>
        <p:spPr>
          <a:xfrm>
            <a:off x="8952230" y="3525527"/>
            <a:ext cx="249977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Build, create and start it all</a:t>
            </a:r>
            <a:endParaRPr lang="en-US" sz="1200" dirty="0"/>
          </a:p>
        </p:txBody>
      </p:sp>
      <p:sp>
        <p:nvSpPr>
          <p:cNvPr id="10" name="Shape 8"/>
          <p:cNvSpPr/>
          <p:nvPr/>
        </p:nvSpPr>
        <p:spPr>
          <a:xfrm>
            <a:off x="6285230" y="4149723"/>
            <a:ext cx="5093970" cy="0"/>
          </a:xfrm>
          <a:prstGeom prst="line">
            <a:avLst/>
          </a:prstGeom>
          <a:noFill/>
          <a:ln w="6350">
            <a:solidFill>
              <a:srgbClr val="E2DED5"/>
            </a:solidFill>
            <a:prstDash val="solid"/>
          </a:ln>
        </p:spPr>
      </p:sp>
      <p:sp>
        <p:nvSpPr>
          <p:cNvPr id="11" name="Text 9"/>
          <p:cNvSpPr/>
          <p:nvPr/>
        </p:nvSpPr>
        <p:spPr>
          <a:xfrm>
            <a:off x="6285230" y="3870958"/>
            <a:ext cx="2616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docker compose ps</a:t>
            </a:r>
            <a:endParaRPr lang="en-US" sz="1200" dirty="0"/>
          </a:p>
        </p:txBody>
      </p:sp>
      <p:sp>
        <p:nvSpPr>
          <p:cNvPr id="12" name="Text 10"/>
          <p:cNvSpPr/>
          <p:nvPr/>
        </p:nvSpPr>
        <p:spPr>
          <a:xfrm>
            <a:off x="8952230" y="3870958"/>
            <a:ext cx="249977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Status of each service</a:t>
            </a:r>
            <a:endParaRPr lang="en-US" sz="1200" dirty="0"/>
          </a:p>
        </p:txBody>
      </p:sp>
      <p:sp>
        <p:nvSpPr>
          <p:cNvPr id="13" name="Shape 11"/>
          <p:cNvSpPr/>
          <p:nvPr/>
        </p:nvSpPr>
        <p:spPr>
          <a:xfrm>
            <a:off x="6285230" y="4495165"/>
            <a:ext cx="5093970" cy="0"/>
          </a:xfrm>
          <a:prstGeom prst="line">
            <a:avLst/>
          </a:prstGeom>
          <a:noFill/>
          <a:ln w="6350">
            <a:solidFill>
              <a:srgbClr val="E2DED5"/>
            </a:solidFill>
            <a:prstDash val="solid"/>
          </a:ln>
        </p:spPr>
      </p:sp>
      <p:sp>
        <p:nvSpPr>
          <p:cNvPr id="14" name="Text 12"/>
          <p:cNvSpPr/>
          <p:nvPr/>
        </p:nvSpPr>
        <p:spPr>
          <a:xfrm>
            <a:off x="6285230" y="4216400"/>
            <a:ext cx="2616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docker compose logs -f</a:t>
            </a:r>
            <a:endParaRPr lang="en-US" sz="1200" dirty="0"/>
          </a:p>
        </p:txBody>
      </p:sp>
      <p:sp>
        <p:nvSpPr>
          <p:cNvPr id="15" name="Text 13"/>
          <p:cNvSpPr/>
          <p:nvPr/>
        </p:nvSpPr>
        <p:spPr>
          <a:xfrm>
            <a:off x="8952230" y="4216400"/>
            <a:ext cx="249977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Follow logs from every service</a:t>
            </a:r>
            <a:endParaRPr lang="en-US" sz="1200" dirty="0"/>
          </a:p>
        </p:txBody>
      </p:sp>
      <p:sp>
        <p:nvSpPr>
          <p:cNvPr id="16" name="Shape 14"/>
          <p:cNvSpPr/>
          <p:nvPr/>
        </p:nvSpPr>
        <p:spPr>
          <a:xfrm>
            <a:off x="6285230" y="4840607"/>
            <a:ext cx="5093970" cy="0"/>
          </a:xfrm>
          <a:prstGeom prst="line">
            <a:avLst/>
          </a:prstGeom>
          <a:noFill/>
          <a:ln w="6350">
            <a:solidFill>
              <a:srgbClr val="E2DED5"/>
            </a:solidFill>
            <a:prstDash val="solid"/>
          </a:ln>
        </p:spPr>
      </p:sp>
      <p:sp>
        <p:nvSpPr>
          <p:cNvPr id="17" name="Text 15"/>
          <p:cNvSpPr/>
          <p:nvPr/>
        </p:nvSpPr>
        <p:spPr>
          <a:xfrm>
            <a:off x="6285230" y="4561842"/>
            <a:ext cx="2616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docker compose down</a:t>
            </a:r>
            <a:endParaRPr lang="en-US" sz="1200" dirty="0"/>
          </a:p>
        </p:txBody>
      </p:sp>
      <p:sp>
        <p:nvSpPr>
          <p:cNvPr id="18" name="Text 16"/>
          <p:cNvSpPr/>
          <p:nvPr/>
        </p:nvSpPr>
        <p:spPr>
          <a:xfrm>
            <a:off x="8952230" y="4561842"/>
            <a:ext cx="249977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Stop and remove (-v: also volumes)</a:t>
            </a:r>
            <a:endParaRPr lang="en-US" sz="1200" dirty="0"/>
          </a:p>
        </p:txBody>
      </p:sp>
      <p:sp>
        <p:nvSpPr>
          <p:cNvPr id="19" name="Text 17"/>
          <p:cNvSpPr/>
          <p:nvPr/>
        </p:nvSpPr>
        <p:spPr>
          <a:xfrm>
            <a:off x="812800" y="6238242"/>
            <a:ext cx="27143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Docker Fundamentals · Compose</a:t>
            </a:r>
            <a:endParaRPr lang="en-US" sz="1200" dirty="0"/>
          </a:p>
        </p:txBody>
      </p:sp>
      <p:sp>
        <p:nvSpPr>
          <p:cNvPr id="20" name="Text 18"/>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depends_on with healthchecks</a:t>
            </a:r>
            <a:endParaRPr lang="en-US" sz="3000" dirty="0"/>
          </a:p>
        </p:txBody>
      </p:sp>
      <p:sp>
        <p:nvSpPr>
          <p:cNvPr id="3" name="Text 1"/>
          <p:cNvSpPr/>
          <p:nvPr/>
        </p:nvSpPr>
        <p:spPr>
          <a:xfrm>
            <a:off x="812800" y="1536700"/>
            <a:ext cx="5896848" cy="3670300"/>
          </a:xfrm>
          <a:prstGeom prst="roundRect">
            <a:avLst>
              <a:gd name="adj" fmla="val 2768"/>
            </a:avLst>
          </a:prstGeom>
          <a:solidFill>
            <a:srgbClr val="161B26"/>
          </a:solidFill>
          <a:ln/>
        </p:spPr>
        <p:txBody>
          <a:bodyPr wrap="none" lIns="173442" tIns="148042" rIns="8729" bIns="12264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services: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db:</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image: postgres:16</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environment: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POSTGRES_PASSWORD: devpass</a:t>
            </a:r>
            <a:endParaRPr lang="en-US" sz="1200" dirty="0"/>
          </a:p>
          <a:p>
            <a:pPr algn="l" indent="0" marL="0">
              <a:lnSpc>
                <a:spcPts val="1740"/>
              </a:lnSpc>
              <a:buNone/>
            </a:pPr>
            <a:r>
              <a:rPr lang="en-US" sz="1200" dirty="0">
                <a:solidFill>
                  <a:srgbClr val="8EBBFF"/>
                </a:solidFill>
                <a:latin typeface="JetBrains Mono" pitchFamily="49" charset="0"/>
                <a:ea typeface="JetBrains Mono" pitchFamily="49" charset="-122"/>
                <a:cs typeface="JetBrains Mono" pitchFamily="49" charset="-120"/>
              </a:rPr>
              <a:t>    healthcheck:</a:t>
            </a:r>
            <a:endParaRPr lang="en-US" sz="1200" dirty="0"/>
          </a:p>
          <a:p>
            <a:pPr algn="l" indent="0" marL="0">
              <a:lnSpc>
                <a:spcPts val="1740"/>
              </a:lnSpc>
              <a:buNone/>
            </a:pPr>
            <a:r>
              <a:rPr lang="en-US" sz="1200" dirty="0">
                <a:solidFill>
                  <a:srgbClr val="8EBBFF"/>
                </a:solidFill>
                <a:latin typeface="JetBrains Mono" pitchFamily="49" charset="0"/>
                <a:ea typeface="JetBrains Mono" pitchFamily="49" charset="-122"/>
                <a:cs typeface="JetBrains Mono" pitchFamily="49" charset="-120"/>
              </a:rPr>
              <a:t>      test: ["CMD-SHELL", "pg_isready -U postgres"]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interval: 5s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timeout: 3s</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retries: 10</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api:</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build: ./api</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depends_on:</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db:</a:t>
            </a:r>
            <a:endParaRPr lang="en-US" sz="1200" dirty="0"/>
          </a:p>
          <a:p>
            <a:pPr algn="l" indent="0" marL="0">
              <a:lnSpc>
                <a:spcPts val="1740"/>
              </a:lnSpc>
              <a:buNone/>
            </a:pPr>
            <a:r>
              <a:rPr lang="en-US" sz="1200" dirty="0">
                <a:solidFill>
                  <a:srgbClr val="8EBBFF"/>
                </a:solidFill>
                <a:latin typeface="JetBrains Mono" pitchFamily="49" charset="0"/>
                <a:ea typeface="JetBrains Mono" pitchFamily="49" charset="-122"/>
                <a:cs typeface="JetBrains Mono" pitchFamily="49" charset="-120"/>
              </a:rPr>
              <a:t>        condition: service_healthy</a:t>
            </a:r>
            <a:endParaRPr lang="en-US" sz="1200" dirty="0"/>
          </a:p>
        </p:txBody>
      </p:sp>
      <p:sp>
        <p:nvSpPr>
          <p:cNvPr id="4" name="Text 2"/>
          <p:cNvSpPr/>
          <p:nvPr/>
        </p:nvSpPr>
        <p:spPr>
          <a:xfrm>
            <a:off x="7065249" y="1536700"/>
            <a:ext cx="512675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3240"/>
                </a:solidFill>
                <a:latin typeface="IBM Plex Sans" pitchFamily="34" charset="0"/>
                <a:ea typeface="IBM Plex Sans" pitchFamily="34" charset="-122"/>
                <a:cs typeface="IBM Plex Sans" pitchFamily="34" charset="-120"/>
              </a:rPr>
              <a:t>depends_on alone</a:t>
            </a:r>
            <a:r>
              <a:rPr lang="en-US" sz="1400" dirty="0">
                <a:solidFill>
                  <a:srgbClr val="2B3240"/>
                </a:solidFill>
                <a:latin typeface="IBM Plex Sans" pitchFamily="34" charset="0"/>
                <a:ea typeface="IBM Plex Sans" pitchFamily="34" charset="-122"/>
                <a:cs typeface="IBM Plex Sans" pitchFamily="34" charset="-120"/>
              </a:rPr>
              <a:t> controls start order, not readiness.</a:t>
            </a:r>
            <a:endParaRPr lang="en-US" sz="1400" dirty="0"/>
          </a:p>
        </p:txBody>
      </p:sp>
      <p:sp>
        <p:nvSpPr>
          <p:cNvPr id="5" name="Text 3"/>
          <p:cNvSpPr/>
          <p:nvPr/>
        </p:nvSpPr>
        <p:spPr>
          <a:xfrm>
            <a:off x="7065249" y="1912627"/>
            <a:ext cx="444337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“Started” isn’t “ready”: Postgres needs a few seconds before it accepts connections.</a:t>
            </a:r>
            <a:endParaRPr lang="en-US" sz="1400" dirty="0"/>
          </a:p>
        </p:txBody>
      </p:sp>
      <p:sp>
        <p:nvSpPr>
          <p:cNvPr id="6" name="Shape 4"/>
          <p:cNvSpPr/>
          <p:nvPr/>
        </p:nvSpPr>
        <p:spPr>
          <a:xfrm>
            <a:off x="7065249" y="3169283"/>
            <a:ext cx="4313952" cy="0"/>
          </a:xfrm>
          <a:prstGeom prst="line">
            <a:avLst/>
          </a:prstGeom>
          <a:noFill/>
          <a:ln w="6350">
            <a:solidFill>
              <a:srgbClr val="E2DED5"/>
            </a:solidFill>
            <a:prstDash val="solid"/>
          </a:ln>
        </p:spPr>
      </p:sp>
      <p:sp>
        <p:nvSpPr>
          <p:cNvPr id="7" name="Text 5"/>
          <p:cNvSpPr/>
          <p:nvPr/>
        </p:nvSpPr>
        <p:spPr>
          <a:xfrm>
            <a:off x="7065249" y="2639058"/>
            <a:ext cx="44433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service_started</a:t>
            </a:r>
            <a:endParaRPr lang="en-US" sz="1200" dirty="0"/>
          </a:p>
        </p:txBody>
      </p:sp>
      <p:sp>
        <p:nvSpPr>
          <p:cNvPr id="8" name="Text 6"/>
          <p:cNvSpPr/>
          <p:nvPr/>
        </p:nvSpPr>
        <p:spPr>
          <a:xfrm>
            <a:off x="7065249" y="2877827"/>
            <a:ext cx="44433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The default: wait only for the container to start</a:t>
            </a:r>
            <a:endParaRPr lang="en-US" sz="1200" dirty="0"/>
          </a:p>
        </p:txBody>
      </p:sp>
      <p:sp>
        <p:nvSpPr>
          <p:cNvPr id="9" name="Shape 7"/>
          <p:cNvSpPr/>
          <p:nvPr/>
        </p:nvSpPr>
        <p:spPr>
          <a:xfrm>
            <a:off x="7065249" y="3778883"/>
            <a:ext cx="4313952" cy="0"/>
          </a:xfrm>
          <a:prstGeom prst="line">
            <a:avLst/>
          </a:prstGeom>
          <a:noFill/>
          <a:ln w="6350">
            <a:solidFill>
              <a:srgbClr val="E2DED5"/>
            </a:solidFill>
            <a:prstDash val="solid"/>
          </a:ln>
        </p:spPr>
      </p:sp>
      <p:sp>
        <p:nvSpPr>
          <p:cNvPr id="10" name="Text 8"/>
          <p:cNvSpPr/>
          <p:nvPr/>
        </p:nvSpPr>
        <p:spPr>
          <a:xfrm>
            <a:off x="7065249" y="3248658"/>
            <a:ext cx="44433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5FC4"/>
                </a:solidFill>
                <a:latin typeface="JetBrains Mono" pitchFamily="49" charset="0"/>
                <a:ea typeface="JetBrains Mono" pitchFamily="49" charset="-122"/>
                <a:cs typeface="JetBrains Mono" pitchFamily="49" charset="-120"/>
              </a:rPr>
              <a:t>service_healthy</a:t>
            </a:r>
            <a:endParaRPr lang="en-US" sz="1200" dirty="0"/>
          </a:p>
        </p:txBody>
      </p:sp>
      <p:sp>
        <p:nvSpPr>
          <p:cNvPr id="11" name="Text 9"/>
          <p:cNvSpPr/>
          <p:nvPr/>
        </p:nvSpPr>
        <p:spPr>
          <a:xfrm>
            <a:off x="7065249" y="3487427"/>
            <a:ext cx="44433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Wait until its healthcheck passes</a:t>
            </a:r>
            <a:endParaRPr lang="en-US" sz="1200" dirty="0"/>
          </a:p>
        </p:txBody>
      </p:sp>
      <p:sp>
        <p:nvSpPr>
          <p:cNvPr id="12" name="Shape 10"/>
          <p:cNvSpPr/>
          <p:nvPr/>
        </p:nvSpPr>
        <p:spPr>
          <a:xfrm>
            <a:off x="7065249" y="4388483"/>
            <a:ext cx="4313952" cy="0"/>
          </a:xfrm>
          <a:prstGeom prst="line">
            <a:avLst/>
          </a:prstGeom>
          <a:noFill/>
          <a:ln w="6350">
            <a:solidFill>
              <a:srgbClr val="E2DED5"/>
            </a:solidFill>
            <a:prstDash val="solid"/>
          </a:ln>
        </p:spPr>
      </p:sp>
      <p:sp>
        <p:nvSpPr>
          <p:cNvPr id="13" name="Text 11"/>
          <p:cNvSpPr/>
          <p:nvPr/>
        </p:nvSpPr>
        <p:spPr>
          <a:xfrm>
            <a:off x="7065249" y="3858258"/>
            <a:ext cx="44433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22"/>
                </a:solidFill>
                <a:latin typeface="JetBrains Mono" pitchFamily="49" charset="0"/>
                <a:ea typeface="JetBrains Mono" pitchFamily="49" charset="-122"/>
                <a:cs typeface="JetBrains Mono" pitchFamily="49" charset="-120"/>
              </a:rPr>
              <a:t>service_completed_successfully</a:t>
            </a:r>
            <a:endParaRPr lang="en-US" sz="1200" dirty="0"/>
          </a:p>
        </p:txBody>
      </p:sp>
      <p:sp>
        <p:nvSpPr>
          <p:cNvPr id="14" name="Text 12"/>
          <p:cNvSpPr/>
          <p:nvPr/>
        </p:nvSpPr>
        <p:spPr>
          <a:xfrm>
            <a:off x="7065249" y="4097027"/>
            <a:ext cx="44433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Wait for a one-off job, such as migrations, to exit with 0</a:t>
            </a:r>
            <a:endParaRPr lang="en-US" sz="1200" dirty="0"/>
          </a:p>
        </p:txBody>
      </p:sp>
      <p:sp>
        <p:nvSpPr>
          <p:cNvPr id="15" name="Text 13"/>
          <p:cNvSpPr/>
          <p:nvPr/>
        </p:nvSpPr>
        <p:spPr>
          <a:xfrm>
            <a:off x="7065249" y="4518658"/>
            <a:ext cx="444337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D6470"/>
                </a:solidFill>
                <a:latin typeface="IBM Plex Sans" pitchFamily="34" charset="0"/>
                <a:ea typeface="IBM Plex Sans" pitchFamily="34" charset="-122"/>
                <a:cs typeface="IBM Plex Sans" pitchFamily="34" charset="-120"/>
              </a:rPr>
              <a:t>Apps should still retry connections — dependencies can fail later, too.</a:t>
            </a:r>
            <a:endParaRPr lang="en-US" sz="1400" dirty="0"/>
          </a:p>
        </p:txBody>
      </p:sp>
      <p:sp>
        <p:nvSpPr>
          <p:cNvPr id="16" name="Text 14"/>
          <p:cNvSpPr/>
          <p:nvPr/>
        </p:nvSpPr>
        <p:spPr>
          <a:xfrm>
            <a:off x="812800" y="6238242"/>
            <a:ext cx="27143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Docker Fundamentals · Compose</a:t>
            </a:r>
            <a:endParaRPr lang="en-US" sz="1200" dirty="0"/>
          </a:p>
        </p:txBody>
      </p:sp>
      <p:sp>
        <p:nvSpPr>
          <p:cNvPr id="17" name="Text 15"/>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The dev loop: .env, profiles and watch</a:t>
            </a:r>
            <a:endParaRPr lang="en-US" sz="3000" dirty="0"/>
          </a:p>
        </p:txBody>
      </p:sp>
      <p:sp>
        <p:nvSpPr>
          <p:cNvPr id="3" name="Shape 1"/>
          <p:cNvSpPr/>
          <p:nvPr/>
        </p:nvSpPr>
        <p:spPr>
          <a:xfrm>
            <a:off x="815975" y="1539875"/>
            <a:ext cx="4620022" cy="1586230"/>
          </a:xfrm>
          <a:prstGeom prst="roundRect">
            <a:avLst>
              <a:gd name="adj" fmla="val 6205"/>
            </a:avLst>
          </a:prstGeom>
          <a:solidFill>
            <a:srgbClr val="FDFCFA"/>
          </a:solidFill>
          <a:ln w="6350">
            <a:solidFill>
              <a:srgbClr val="E2DED5"/>
            </a:solidFill>
            <a:prstDash val="solid"/>
          </a:ln>
        </p:spPr>
      </p:sp>
      <p:sp>
        <p:nvSpPr>
          <p:cNvPr id="4" name="Text 2"/>
          <p:cNvSpPr/>
          <p:nvPr/>
        </p:nvSpPr>
        <p:spPr>
          <a:xfrm>
            <a:off x="1021080" y="1694185"/>
            <a:ext cx="433610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.env files</a:t>
            </a:r>
            <a:endParaRPr lang="en-US" sz="1800" dirty="0"/>
          </a:p>
        </p:txBody>
      </p:sp>
      <p:sp>
        <p:nvSpPr>
          <p:cNvPr id="5" name="Text 3"/>
          <p:cNvSpPr/>
          <p:nvPr/>
        </p:nvSpPr>
        <p:spPr>
          <a:xfrm>
            <a:off x="1021080" y="2044700"/>
            <a:ext cx="4209812" cy="424180"/>
          </a:xfrm>
          <a:prstGeom prst="roundRect">
            <a:avLst>
              <a:gd name="adj" fmla="val 17964"/>
            </a:avLst>
          </a:prstGeom>
          <a:solidFill>
            <a:srgbClr val="161B26"/>
          </a:solidFill>
          <a:ln/>
        </p:spPr>
        <p:txBody>
          <a:bodyPr wrap="none" lIns="130082" tIns="79282" rIns="12931" bIns="5388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image: postgres:</a:t>
            </a:r>
            <a:r>
              <a:rPr lang="en-US" sz="1200" dirty="0">
                <a:solidFill>
                  <a:srgbClr val="8EBBFF"/>
                </a:solidFill>
                <a:latin typeface="JetBrains Mono" pitchFamily="49" charset="0"/>
                <a:ea typeface="JetBrains Mono" pitchFamily="49" charset="-122"/>
                <a:cs typeface="JetBrains Mono" pitchFamily="49" charset="-120"/>
              </a:rPr>
              <a:t>${PG_VERSION:-16}</a:t>
            </a:r>
            <a:endParaRPr lang="en-US" sz="1200" dirty="0"/>
          </a:p>
        </p:txBody>
      </p:sp>
      <p:sp>
        <p:nvSpPr>
          <p:cNvPr id="6" name="Text 4"/>
          <p:cNvSpPr/>
          <p:nvPr/>
        </p:nvSpPr>
        <p:spPr>
          <a:xfrm>
            <a:off x="1021080" y="2545085"/>
            <a:ext cx="433610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Compose reads .env from the project folder to fill ${VARIABLES}; env_file: passes variables into a container.</a:t>
            </a:r>
            <a:endParaRPr lang="en-US" sz="1200" dirty="0"/>
          </a:p>
        </p:txBody>
      </p:sp>
      <p:sp>
        <p:nvSpPr>
          <p:cNvPr id="7" name="Shape 5"/>
          <p:cNvSpPr/>
          <p:nvPr/>
        </p:nvSpPr>
        <p:spPr>
          <a:xfrm>
            <a:off x="815975" y="3284860"/>
            <a:ext cx="4620022" cy="2035810"/>
          </a:xfrm>
          <a:prstGeom prst="roundRect">
            <a:avLst>
              <a:gd name="adj" fmla="val 4835"/>
            </a:avLst>
          </a:prstGeom>
          <a:solidFill>
            <a:srgbClr val="FDFCFA"/>
          </a:solidFill>
          <a:ln w="6350">
            <a:solidFill>
              <a:srgbClr val="E2DED5"/>
            </a:solidFill>
            <a:prstDash val="solid"/>
          </a:ln>
        </p:spPr>
      </p:sp>
      <p:sp>
        <p:nvSpPr>
          <p:cNvPr id="8" name="Text 6"/>
          <p:cNvSpPr/>
          <p:nvPr/>
        </p:nvSpPr>
        <p:spPr>
          <a:xfrm>
            <a:off x="1021080" y="3439158"/>
            <a:ext cx="433610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Profiles</a:t>
            </a:r>
            <a:endParaRPr lang="en-US" sz="1800" dirty="0"/>
          </a:p>
        </p:txBody>
      </p:sp>
      <p:sp>
        <p:nvSpPr>
          <p:cNvPr id="9" name="Text 7"/>
          <p:cNvSpPr/>
          <p:nvPr/>
        </p:nvSpPr>
        <p:spPr>
          <a:xfrm>
            <a:off x="1021080" y="3789685"/>
            <a:ext cx="4209812" cy="1087120"/>
          </a:xfrm>
          <a:prstGeom prst="roundRect">
            <a:avLst>
              <a:gd name="adj" fmla="val 7009"/>
            </a:avLst>
          </a:prstGeom>
          <a:solidFill>
            <a:srgbClr val="161B26"/>
          </a:solidFill>
          <a:ln/>
        </p:spPr>
        <p:txBody>
          <a:bodyPr wrap="none" lIns="130082" tIns="79282" rIns="12931" bIns="5388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pgadmin:</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image: dpage/pgadmin4</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8EBBFF"/>
                </a:solidFill>
                <a:latin typeface="JetBrains Mono" pitchFamily="49" charset="0"/>
                <a:ea typeface="JetBrains Mono" pitchFamily="49" charset="-122"/>
                <a:cs typeface="JetBrains Mono" pitchFamily="49" charset="-120"/>
              </a:rPr>
              <a:t>profiles: [debug]</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docker compose --profile debug up</a:t>
            </a:r>
            <a:endParaRPr lang="en-US" sz="1200" dirty="0"/>
          </a:p>
        </p:txBody>
      </p:sp>
      <p:sp>
        <p:nvSpPr>
          <p:cNvPr id="10" name="Text 8"/>
          <p:cNvSpPr/>
          <p:nvPr/>
        </p:nvSpPr>
        <p:spPr>
          <a:xfrm>
            <a:off x="1021080" y="4953000"/>
            <a:ext cx="433610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Optional services start only when you ask for them.</a:t>
            </a:r>
            <a:endParaRPr lang="en-US" sz="1200" dirty="0"/>
          </a:p>
        </p:txBody>
      </p:sp>
      <p:sp>
        <p:nvSpPr>
          <p:cNvPr id="11" name="Shape 9"/>
          <p:cNvSpPr/>
          <p:nvPr/>
        </p:nvSpPr>
        <p:spPr>
          <a:xfrm>
            <a:off x="5645547" y="1539875"/>
            <a:ext cx="5730478" cy="3780790"/>
          </a:xfrm>
          <a:prstGeom prst="roundRect">
            <a:avLst>
              <a:gd name="adj" fmla="val 2603"/>
            </a:avLst>
          </a:prstGeom>
          <a:solidFill>
            <a:srgbClr val="FDFCFA"/>
          </a:solidFill>
          <a:ln w="6350">
            <a:solidFill>
              <a:srgbClr val="E2DED5"/>
            </a:solidFill>
            <a:prstDash val="solid"/>
          </a:ln>
        </p:spPr>
      </p:sp>
      <p:sp>
        <p:nvSpPr>
          <p:cNvPr id="12" name="Text 10"/>
          <p:cNvSpPr/>
          <p:nvPr/>
        </p:nvSpPr>
        <p:spPr>
          <a:xfrm>
            <a:off x="5850652" y="1694185"/>
            <a:ext cx="547987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Watch</a:t>
            </a:r>
            <a:endParaRPr lang="en-US" sz="1800" dirty="0"/>
          </a:p>
        </p:txBody>
      </p:sp>
      <p:sp>
        <p:nvSpPr>
          <p:cNvPr id="13" name="Text 11"/>
          <p:cNvSpPr/>
          <p:nvPr/>
        </p:nvSpPr>
        <p:spPr>
          <a:xfrm>
            <a:off x="5850652" y="2044700"/>
            <a:ext cx="5320268" cy="2413000"/>
          </a:xfrm>
          <a:prstGeom prst="roundRect">
            <a:avLst>
              <a:gd name="adj" fmla="val 3158"/>
            </a:avLst>
          </a:prstGeom>
          <a:solidFill>
            <a:srgbClr val="161B26"/>
          </a:solidFill>
          <a:ln/>
        </p:spPr>
        <p:txBody>
          <a:bodyPr wrap="none" lIns="130082" tIns="79282" rIns="0" bIns="53882" rtlCol="0" anchor="t">
            <a:normAutofit/>
          </a:bodyPr>
          <a:lstStyle/>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api:</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build: ./api</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a:t>
            </a:r>
            <a:r>
              <a:rPr lang="en-US" sz="1200" dirty="0">
                <a:solidFill>
                  <a:srgbClr val="8EBBFF"/>
                </a:solidFill>
                <a:latin typeface="JetBrains Mono" pitchFamily="49" charset="0"/>
                <a:ea typeface="JetBrains Mono" pitchFamily="49" charset="-122"/>
                <a:cs typeface="JetBrains Mono" pitchFamily="49" charset="-120"/>
              </a:rPr>
              <a:t>develop:</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watch:</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action: sync</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path: ./api/src</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target: /app/src</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 action: rebuild</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path: ./api/requirements.txt</a:t>
            </a:r>
            <a:endParaRPr lang="en-US" sz="1200" dirty="0"/>
          </a:p>
          <a:p>
            <a:pPr algn="l" indent="0" marL="0">
              <a:lnSpc>
                <a:spcPts val="1740"/>
              </a:lnSpc>
              <a:buNone/>
            </a:pPr>
            <a:r>
              <a:rPr lang="en-US" sz="1200" dirty="0">
                <a:solidFill>
                  <a:srgbClr val="E4E7EC"/>
                </a:solidFill>
                <a:latin typeface="JetBrains Mono" pitchFamily="49" charset="0"/>
                <a:ea typeface="JetBrains Mono" pitchFamily="49" charset="-122"/>
                <a:cs typeface="JetBrains Mono" pitchFamily="49" charset="-120"/>
              </a:rPr>
              <a:t>$ docker compose watch</a:t>
            </a:r>
            <a:endParaRPr lang="en-US" sz="1200" dirty="0"/>
          </a:p>
        </p:txBody>
      </p:sp>
      <p:sp>
        <p:nvSpPr>
          <p:cNvPr id="14" name="Text 12"/>
          <p:cNvSpPr/>
          <p:nvPr/>
        </p:nvSpPr>
        <p:spPr>
          <a:xfrm>
            <a:off x="5850652" y="4533900"/>
            <a:ext cx="547987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Edits to source files are synced into the running container; a change to dependencies triggers a rebuild.</a:t>
            </a:r>
            <a:endParaRPr lang="en-US" sz="1200" dirty="0"/>
          </a:p>
        </p:txBody>
      </p:sp>
      <p:sp>
        <p:nvSpPr>
          <p:cNvPr id="15" name="Text 13"/>
          <p:cNvSpPr/>
          <p:nvPr/>
        </p:nvSpPr>
        <p:spPr>
          <a:xfrm>
            <a:off x="812800" y="6238242"/>
            <a:ext cx="27143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Docker Fundamentals · Compose</a:t>
            </a:r>
            <a:endParaRPr lang="en-US" sz="1200" dirty="0"/>
          </a:p>
        </p:txBody>
      </p:sp>
      <p:sp>
        <p:nvSpPr>
          <p:cNvPr id="16" name="Text 14"/>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Best practices</a:t>
            </a:r>
            <a:endParaRPr lang="en-US" sz="3000" dirty="0"/>
          </a:p>
        </p:txBody>
      </p:sp>
      <p:sp>
        <p:nvSpPr>
          <p:cNvPr id="3" name="Shape 1"/>
          <p:cNvSpPr/>
          <p:nvPr/>
        </p:nvSpPr>
        <p:spPr>
          <a:xfrm>
            <a:off x="815975" y="1539875"/>
            <a:ext cx="5149850" cy="2345690"/>
          </a:xfrm>
          <a:prstGeom prst="roundRect">
            <a:avLst>
              <a:gd name="adj" fmla="val 4196"/>
            </a:avLst>
          </a:prstGeom>
          <a:solidFill>
            <a:srgbClr val="FDFCFA"/>
          </a:solidFill>
          <a:ln w="6350">
            <a:solidFill>
              <a:srgbClr val="E2DED5"/>
            </a:solidFill>
            <a:prstDash val="solid"/>
          </a:ln>
        </p:spPr>
      </p:sp>
      <p:pic>
        <p:nvPicPr>
          <p:cNvPr id="4" name="Image 0" descr="CheckCircle">    </p:cNvPr>
          <p:cNvPicPr>
            <a:picLocks noChangeAspect="1"/>
          </p:cNvPicPr>
          <p:nvPr/>
        </p:nvPicPr>
        <p:blipFill>
          <a:blip r:embed="rId1"/>
          <a:srcRect l="0" r="0" t="0" b="0"/>
          <a:stretch/>
        </p:blipFill>
        <p:spPr>
          <a:xfrm>
            <a:off x="1046480" y="1767842"/>
            <a:ext cx="228600" cy="228600"/>
          </a:xfrm>
          <a:prstGeom prst="rect">
            <a:avLst/>
          </a:prstGeom>
        </p:spPr>
      </p:pic>
      <p:sp>
        <p:nvSpPr>
          <p:cNvPr id="5" name="Text 2"/>
          <p:cNvSpPr/>
          <p:nvPr/>
        </p:nvSpPr>
        <p:spPr>
          <a:xfrm>
            <a:off x="1363980" y="1744985"/>
            <a:ext cx="35061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Do</a:t>
            </a:r>
            <a:endParaRPr lang="en-US" sz="1800" dirty="0"/>
          </a:p>
        </p:txBody>
      </p:sp>
      <p:sp>
        <p:nvSpPr>
          <p:cNvPr id="6" name="Text 3"/>
          <p:cNvSpPr/>
          <p:nvPr/>
        </p:nvSpPr>
        <p:spPr>
          <a:xfrm>
            <a:off x="1124712" y="2133600"/>
            <a:ext cx="4743653" cy="1572260"/>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Pin base image versions; pin digests in production</a:t>
            </a:r>
            <a:endParaRPr lang="en-US" sz="1400" dirty="0"/>
          </a:p>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Order Dockerfile steps for caching; add a .dockerignore</a:t>
            </a:r>
            <a:endParaRPr lang="en-US" sz="1400" dirty="0"/>
          </a:p>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Use multi-stage builds and slim or distroless bases</a:t>
            </a:r>
            <a:endParaRPr lang="en-US" sz="1400" dirty="0"/>
          </a:p>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Run as a non-root USER</a:t>
            </a:r>
            <a:endParaRPr lang="en-US" sz="1400" dirty="0"/>
          </a:p>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Keep state in volumes; treat containers as disposable</a:t>
            </a:r>
            <a:endParaRPr lang="en-US" sz="1400" dirty="0"/>
          </a:p>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Use exec-form CMD and handle SIGTERM</a:t>
            </a:r>
            <a:endParaRPr lang="en-US" sz="1400" dirty="0"/>
          </a:p>
        </p:txBody>
      </p:sp>
      <p:sp>
        <p:nvSpPr>
          <p:cNvPr id="7" name="Shape 4"/>
          <p:cNvSpPr/>
          <p:nvPr/>
        </p:nvSpPr>
        <p:spPr>
          <a:xfrm>
            <a:off x="6226175" y="1539875"/>
            <a:ext cx="5149850" cy="2345690"/>
          </a:xfrm>
          <a:prstGeom prst="roundRect">
            <a:avLst>
              <a:gd name="adj" fmla="val 4196"/>
            </a:avLst>
          </a:prstGeom>
          <a:solidFill>
            <a:srgbClr val="FDFCFA"/>
          </a:solidFill>
          <a:ln w="6350">
            <a:solidFill>
              <a:srgbClr val="E2DED5"/>
            </a:solidFill>
            <a:prstDash val="solid"/>
          </a:ln>
        </p:spPr>
      </p:sp>
      <p:pic>
        <p:nvPicPr>
          <p:cNvPr id="8" name="Image 1" descr="Warning">    </p:cNvPr>
          <p:cNvPicPr>
            <a:picLocks noChangeAspect="1"/>
          </p:cNvPicPr>
          <p:nvPr/>
        </p:nvPicPr>
        <p:blipFill>
          <a:blip r:embed="rId2"/>
          <a:srcRect l="0" r="0" t="0" b="0"/>
          <a:stretch/>
        </p:blipFill>
        <p:spPr>
          <a:xfrm>
            <a:off x="6456680" y="1767842"/>
            <a:ext cx="228600" cy="228600"/>
          </a:xfrm>
          <a:prstGeom prst="rect">
            <a:avLst/>
          </a:prstGeom>
        </p:spPr>
      </p:pic>
      <p:sp>
        <p:nvSpPr>
          <p:cNvPr id="9" name="Text 5"/>
          <p:cNvSpPr/>
          <p:nvPr/>
        </p:nvSpPr>
        <p:spPr>
          <a:xfrm>
            <a:off x="6774180" y="1744985"/>
            <a:ext cx="73094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Avoid</a:t>
            </a:r>
            <a:endParaRPr lang="en-US" sz="1800" dirty="0"/>
          </a:p>
        </p:txBody>
      </p:sp>
      <p:sp>
        <p:nvSpPr>
          <p:cNvPr id="10" name="Text 6"/>
          <p:cNvSpPr/>
          <p:nvPr/>
        </p:nvSpPr>
        <p:spPr>
          <a:xfrm>
            <a:off x="6534912" y="2133600"/>
            <a:ext cx="4743653" cy="1572260"/>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Deploying the latest tag</a:t>
            </a:r>
            <a:endParaRPr lang="en-US" sz="1400" dirty="0"/>
          </a:p>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Baking secrets into images through ENV, ARG or COPY</a:t>
            </a:r>
            <a:endParaRPr lang="en-US" sz="1400" dirty="0"/>
          </a:p>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One container running many unrelated processes</a:t>
            </a:r>
            <a:endParaRPr lang="en-US" sz="1400" dirty="0"/>
          </a:p>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Editing a running container by hand — rebuild instead</a:t>
            </a:r>
            <a:endParaRPr lang="en-US" sz="1400" dirty="0"/>
          </a:p>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Publishing database ports to the outside world</a:t>
            </a:r>
            <a:endParaRPr lang="en-US" sz="1400" dirty="0"/>
          </a:p>
          <a:p>
            <a:pPr algn="l" marL="175768" indent="-175768">
              <a:lnSpc>
                <a:spcPts val="2030"/>
              </a:lnSpc>
              <a:buSzPct val="100000"/>
              <a:buChar char="•"/>
            </a:pPr>
            <a:r>
              <a:rPr lang="en-US" sz="1400" dirty="0">
                <a:solidFill>
                  <a:srgbClr val="2B3240"/>
                </a:solidFill>
                <a:latin typeface="IBM Plex Sans" pitchFamily="34" charset="0"/>
                <a:ea typeface="IBM Plex Sans" pitchFamily="34" charset="-122"/>
                <a:cs typeface="IBM Plex Sans" pitchFamily="34" charset="-120"/>
              </a:rPr>
              <a:t>Huge build contexts full of .git and node_modules</a:t>
            </a:r>
            <a:endParaRPr lang="en-US" sz="1400" dirty="0"/>
          </a:p>
        </p:txBody>
      </p:sp>
      <p:sp>
        <p:nvSpPr>
          <p:cNvPr id="11" name="Text 7"/>
          <p:cNvSpPr/>
          <p:nvPr/>
        </p:nvSpPr>
        <p:spPr>
          <a:xfrm>
            <a:off x="812800" y="6238242"/>
            <a:ext cx="26567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Docker Fundamentals · Wrap-up</a:t>
            </a:r>
            <a:endParaRPr lang="en-US" sz="1200" dirty="0"/>
          </a:p>
        </p:txBody>
      </p:sp>
      <p:sp>
        <p:nvSpPr>
          <p:cNvPr id="12" name="Text 8"/>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Hands-on lab: containerize a three-tier app</a:t>
            </a:r>
            <a:endParaRPr lang="en-US" sz="3000" dirty="0"/>
          </a:p>
        </p:txBody>
      </p:sp>
      <p:sp>
        <p:nvSpPr>
          <p:cNvPr id="3" name="Shape 1"/>
          <p:cNvSpPr/>
          <p:nvPr/>
        </p:nvSpPr>
        <p:spPr>
          <a:xfrm>
            <a:off x="815975" y="1489075"/>
            <a:ext cx="2444829" cy="669290"/>
          </a:xfrm>
          <a:prstGeom prst="roundRect">
            <a:avLst>
              <a:gd name="adj" fmla="val 12808"/>
            </a:avLst>
          </a:prstGeom>
          <a:solidFill>
            <a:srgbClr val="FDFCFA"/>
          </a:solidFill>
          <a:ln w="6350">
            <a:solidFill>
              <a:srgbClr val="E2DED5"/>
            </a:solidFill>
            <a:prstDash val="solid"/>
          </a:ln>
        </p:spPr>
      </p:sp>
      <p:sp>
        <p:nvSpPr>
          <p:cNvPr id="4" name="Text 2"/>
          <p:cNvSpPr/>
          <p:nvPr/>
        </p:nvSpPr>
        <p:spPr>
          <a:xfrm>
            <a:off x="912075" y="1592585"/>
            <a:ext cx="2252630" cy="274320"/>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121722"/>
                </a:solidFill>
                <a:latin typeface="JetBrains Mono" pitchFamily="49" charset="0"/>
                <a:ea typeface="JetBrains Mono" pitchFamily="49" charset="-122"/>
                <a:cs typeface="JetBrains Mono" pitchFamily="49" charset="-120"/>
              </a:rPr>
              <a:t>web</a:t>
            </a:r>
            <a:endParaRPr lang="en-US" sz="1400" dirty="0"/>
          </a:p>
        </p:txBody>
      </p:sp>
      <p:sp>
        <p:nvSpPr>
          <p:cNvPr id="5" name="Text 3"/>
          <p:cNvSpPr/>
          <p:nvPr/>
        </p:nvSpPr>
        <p:spPr>
          <a:xfrm>
            <a:off x="912075" y="1841500"/>
            <a:ext cx="225263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nginx, port 8080</a:t>
            </a:r>
            <a:endParaRPr lang="en-US" sz="1200" dirty="0"/>
          </a:p>
        </p:txBody>
      </p:sp>
      <p:pic>
        <p:nvPicPr>
          <p:cNvPr id="6" name="Image 0" descr="arrow-right">    </p:cNvPr>
          <p:cNvPicPr>
            <a:picLocks noChangeAspect="1"/>
          </p:cNvPicPr>
          <p:nvPr/>
        </p:nvPicPr>
        <p:blipFill>
          <a:blip r:embed="rId1"/>
          <a:srcRect l="0" r="0" t="0" b="0"/>
          <a:stretch/>
        </p:blipFill>
        <p:spPr>
          <a:xfrm>
            <a:off x="3365579" y="1741177"/>
            <a:ext cx="355600" cy="165100"/>
          </a:xfrm>
          <a:prstGeom prst="rect">
            <a:avLst/>
          </a:prstGeom>
        </p:spPr>
      </p:pic>
      <p:sp>
        <p:nvSpPr>
          <p:cNvPr id="7" name="Shape 4"/>
          <p:cNvSpPr/>
          <p:nvPr/>
        </p:nvSpPr>
        <p:spPr>
          <a:xfrm>
            <a:off x="3822779" y="1490985"/>
            <a:ext cx="2441099" cy="665480"/>
          </a:xfrm>
          <a:prstGeom prst="roundRect">
            <a:avLst>
              <a:gd name="adj" fmla="val 13359"/>
            </a:avLst>
          </a:prstGeom>
          <a:solidFill>
            <a:srgbClr val="1D5FC4"/>
          </a:solidFill>
          <a:ln/>
        </p:spPr>
      </p:sp>
      <p:sp>
        <p:nvSpPr>
          <p:cNvPr id="8" name="Text 5"/>
          <p:cNvSpPr/>
          <p:nvPr/>
        </p:nvSpPr>
        <p:spPr>
          <a:xfrm>
            <a:off x="3916973" y="1592585"/>
            <a:ext cx="2252712" cy="274320"/>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F6F5F1"/>
                </a:solidFill>
                <a:latin typeface="JetBrains Mono" pitchFamily="49" charset="0"/>
                <a:ea typeface="JetBrains Mono" pitchFamily="49" charset="-122"/>
                <a:cs typeface="JetBrains Mono" pitchFamily="49" charset="-120"/>
              </a:rPr>
              <a:t>api</a:t>
            </a:r>
            <a:endParaRPr lang="en-US" sz="1400" dirty="0"/>
          </a:p>
        </p:txBody>
      </p:sp>
      <p:sp>
        <p:nvSpPr>
          <p:cNvPr id="9" name="Text 6"/>
          <p:cNvSpPr/>
          <p:nvPr/>
        </p:nvSpPr>
        <p:spPr>
          <a:xfrm>
            <a:off x="3916973" y="1841500"/>
            <a:ext cx="2252712"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DCE6FA"/>
                </a:solidFill>
                <a:latin typeface="IBM Plex Sans" pitchFamily="34" charset="0"/>
                <a:ea typeface="IBM Plex Sans" pitchFamily="34" charset="-122"/>
                <a:cs typeface="IBM Plex Sans" pitchFamily="34" charset="-120"/>
              </a:rPr>
              <a:t>Python, internal only</a:t>
            </a:r>
            <a:endParaRPr lang="en-US" sz="1200" dirty="0"/>
          </a:p>
        </p:txBody>
      </p:sp>
      <p:pic>
        <p:nvPicPr>
          <p:cNvPr id="10" name="Image 1" descr="arrow-right">    </p:cNvPr>
          <p:cNvPicPr>
            <a:picLocks noChangeAspect="1"/>
          </p:cNvPicPr>
          <p:nvPr/>
        </p:nvPicPr>
        <p:blipFill>
          <a:blip r:embed="rId2"/>
          <a:srcRect l="0" r="0" t="0" b="0"/>
          <a:stretch/>
        </p:blipFill>
        <p:spPr>
          <a:xfrm>
            <a:off x="6365478" y="1741177"/>
            <a:ext cx="355600" cy="165100"/>
          </a:xfrm>
          <a:prstGeom prst="rect">
            <a:avLst/>
          </a:prstGeom>
        </p:spPr>
      </p:pic>
      <p:sp>
        <p:nvSpPr>
          <p:cNvPr id="11" name="Shape 7"/>
          <p:cNvSpPr/>
          <p:nvPr/>
        </p:nvSpPr>
        <p:spPr>
          <a:xfrm>
            <a:off x="6822678" y="1490985"/>
            <a:ext cx="2441099" cy="665480"/>
          </a:xfrm>
          <a:prstGeom prst="roundRect">
            <a:avLst>
              <a:gd name="adj" fmla="val 13359"/>
            </a:avLst>
          </a:prstGeom>
          <a:solidFill>
            <a:srgbClr val="121722"/>
          </a:solidFill>
          <a:ln/>
        </p:spPr>
      </p:sp>
      <p:sp>
        <p:nvSpPr>
          <p:cNvPr id="12" name="Text 8"/>
          <p:cNvSpPr/>
          <p:nvPr/>
        </p:nvSpPr>
        <p:spPr>
          <a:xfrm>
            <a:off x="6916872" y="1592585"/>
            <a:ext cx="2252712" cy="274320"/>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F6F5F1"/>
                </a:solidFill>
                <a:latin typeface="JetBrains Mono" pitchFamily="49" charset="0"/>
                <a:ea typeface="JetBrains Mono" pitchFamily="49" charset="-122"/>
                <a:cs typeface="JetBrains Mono" pitchFamily="49" charset="-120"/>
              </a:rPr>
              <a:t>db</a:t>
            </a:r>
            <a:endParaRPr lang="en-US" sz="1400" dirty="0"/>
          </a:p>
        </p:txBody>
      </p:sp>
      <p:sp>
        <p:nvSpPr>
          <p:cNvPr id="13" name="Text 9"/>
          <p:cNvSpPr/>
          <p:nvPr/>
        </p:nvSpPr>
        <p:spPr>
          <a:xfrm>
            <a:off x="6916872" y="1841500"/>
            <a:ext cx="2252712"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9CED8"/>
                </a:solidFill>
                <a:latin typeface="IBM Plex Sans" pitchFamily="34" charset="0"/>
                <a:ea typeface="IBM Plex Sans" pitchFamily="34" charset="-122"/>
                <a:cs typeface="IBM Plex Sans" pitchFamily="34" charset="-120"/>
              </a:rPr>
              <a:t>Postgres, internal only</a:t>
            </a:r>
            <a:endParaRPr lang="en-US" sz="1200" dirty="0"/>
          </a:p>
        </p:txBody>
      </p:sp>
      <p:sp>
        <p:nvSpPr>
          <p:cNvPr id="14" name="Shape 10"/>
          <p:cNvSpPr/>
          <p:nvPr/>
        </p:nvSpPr>
        <p:spPr>
          <a:xfrm>
            <a:off x="9368552" y="1489075"/>
            <a:ext cx="2007473" cy="669290"/>
          </a:xfrm>
          <a:prstGeom prst="roundRect">
            <a:avLst>
              <a:gd name="adj" fmla="val 12808"/>
            </a:avLst>
          </a:prstGeom>
          <a:solidFill>
            <a:srgbClr val="ECE9E2"/>
          </a:solidFill>
          <a:ln w="6350">
            <a:solidFill>
              <a:srgbClr val="9AA3B2"/>
            </a:solidFill>
            <a:prstDash val="dash"/>
          </a:ln>
        </p:spPr>
      </p:sp>
      <p:sp>
        <p:nvSpPr>
          <p:cNvPr id="15" name="Text 11"/>
          <p:cNvSpPr/>
          <p:nvPr/>
        </p:nvSpPr>
        <p:spPr>
          <a:xfrm>
            <a:off x="9471212" y="1592585"/>
            <a:ext cx="1802153" cy="274320"/>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121722"/>
                </a:solidFill>
                <a:latin typeface="JetBrains Mono" pitchFamily="49" charset="0"/>
                <a:ea typeface="JetBrains Mono" pitchFamily="49" charset="-122"/>
                <a:cs typeface="JetBrains Mono" pitchFamily="49" charset="-120"/>
              </a:rPr>
              <a:t>pgdata</a:t>
            </a:r>
            <a:endParaRPr lang="en-US" sz="1400" dirty="0"/>
          </a:p>
        </p:txBody>
      </p:sp>
      <p:sp>
        <p:nvSpPr>
          <p:cNvPr id="16" name="Text 12"/>
          <p:cNvSpPr/>
          <p:nvPr/>
        </p:nvSpPr>
        <p:spPr>
          <a:xfrm>
            <a:off x="9471212" y="1841500"/>
            <a:ext cx="1802153"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named volume</a:t>
            </a:r>
            <a:endParaRPr lang="en-US" sz="1200" dirty="0"/>
          </a:p>
        </p:txBody>
      </p:sp>
      <p:sp>
        <p:nvSpPr>
          <p:cNvPr id="17" name="Text 13"/>
          <p:cNvSpPr/>
          <p:nvPr/>
        </p:nvSpPr>
        <p:spPr>
          <a:xfrm>
            <a:off x="812800" y="2415542"/>
            <a:ext cx="683613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722"/>
                </a:solidFill>
                <a:latin typeface="Space Grotesk" pitchFamily="34" charset="0"/>
                <a:ea typeface="Space Grotesk" pitchFamily="34" charset="-122"/>
                <a:cs typeface="Space Grotesk" pitchFamily="34" charset="-120"/>
              </a:rPr>
              <a:t>Tasks</a:t>
            </a:r>
            <a:endParaRPr lang="en-US" sz="1800" dirty="0"/>
          </a:p>
        </p:txBody>
      </p:sp>
      <p:sp>
        <p:nvSpPr>
          <p:cNvPr id="18" name="Text 14"/>
          <p:cNvSpPr/>
          <p:nvPr/>
        </p:nvSpPr>
        <p:spPr>
          <a:xfrm>
            <a:off x="897890" y="2766058"/>
            <a:ext cx="6743421" cy="1625600"/>
          </a:xfrm>
          <a:prstGeom prst="rect">
            <a:avLst/>
          </a:prstGeom>
          <a:noFill/>
          <a:ln/>
        </p:spPr>
        <p:txBody>
          <a:bodyPr wrap="square" lIns="0" tIns="0" rIns="0" bIns="0" rtlCol="0" anchor="t">
            <a:normAutofit/>
          </a:bodyPr>
          <a:lstStyle/>
          <a:p>
            <a:pPr algn="l" marL="168910" indent="-168910">
              <a:lnSpc>
                <a:spcPts val="1800"/>
              </a:lnSpc>
              <a:buSzPct val="100000"/>
              <a:buFontTx/>
              <a:buAutoNum type="arabicPeriod" startAt="1"/>
            </a:pPr>
            <a:r>
              <a:rPr lang="en-US" sz="1200" dirty="0">
                <a:solidFill>
                  <a:srgbClr val="2B3240"/>
                </a:solidFill>
                <a:latin typeface="IBM Plex Sans" pitchFamily="34" charset="0"/>
                <a:ea typeface="IBM Plex Sans" pitchFamily="34" charset="-122"/>
                <a:cs typeface="IBM Plex Sans" pitchFamily="34" charset="-120"/>
              </a:rPr>
              <a:t>Write the API’s Dockerfile: slim base, cached dependencies, non-root user</a:t>
            </a:r>
            <a:endParaRPr lang="en-US" sz="1200" dirty="0"/>
          </a:p>
          <a:p>
            <a:pPr algn="l" marL="168910" indent="-168910">
              <a:lnSpc>
                <a:spcPts val="1800"/>
              </a:lnSpc>
              <a:buSzPct val="100000"/>
              <a:buFontTx/>
              <a:buAutoNum type="arabicPeriod" startAt="1"/>
            </a:pPr>
            <a:r>
              <a:rPr lang="en-US" sz="1200" dirty="0">
                <a:solidFill>
                  <a:srgbClr val="2B3240"/>
                </a:solidFill>
                <a:latin typeface="IBM Plex Sans" pitchFamily="34" charset="0"/>
                <a:ea typeface="IBM Plex Sans" pitchFamily="34" charset="-122"/>
                <a:cs typeface="IBM Plex Sans" pitchFamily="34" charset="-120"/>
              </a:rPr>
              <a:t>Make it multi-stage; compare image sizes with docker images</a:t>
            </a:r>
            <a:endParaRPr lang="en-US" sz="1200" dirty="0"/>
          </a:p>
          <a:p>
            <a:pPr algn="l" marL="168910" indent="-168910">
              <a:lnSpc>
                <a:spcPts val="1800"/>
              </a:lnSpc>
              <a:buSzPct val="100000"/>
              <a:buFontTx/>
              <a:buAutoNum type="arabicPeriod" startAt="1"/>
            </a:pPr>
            <a:r>
              <a:rPr lang="en-US" sz="1200" dirty="0">
                <a:solidFill>
                  <a:srgbClr val="2B3240"/>
                </a:solidFill>
                <a:latin typeface="IBM Plex Sans" pitchFamily="34" charset="0"/>
                <a:ea typeface="IBM Plex Sans" pitchFamily="34" charset="-122"/>
                <a:cs typeface="IBM Plex Sans" pitchFamily="34" charset="-120"/>
              </a:rPr>
              <a:t>Add a .dockerignore</a:t>
            </a:r>
            <a:endParaRPr lang="en-US" sz="1200" dirty="0"/>
          </a:p>
          <a:p>
            <a:pPr algn="l" marL="168910" indent="-168910">
              <a:lnSpc>
                <a:spcPts val="1800"/>
              </a:lnSpc>
              <a:buSzPct val="100000"/>
              <a:buFontTx/>
              <a:buAutoNum type="arabicPeriod" startAt="1"/>
            </a:pPr>
            <a:r>
              <a:rPr lang="en-US" sz="1200" dirty="0">
                <a:solidFill>
                  <a:srgbClr val="2B3240"/>
                </a:solidFill>
                <a:latin typeface="IBM Plex Sans" pitchFamily="34" charset="0"/>
                <a:ea typeface="IBM Plex Sans" pitchFamily="34" charset="-122"/>
                <a:cs typeface="IBM Plex Sans" pitchFamily="34" charset="-120"/>
              </a:rPr>
              <a:t>Write compose.yaml with web, api, db and the pgdata volume</a:t>
            </a:r>
            <a:endParaRPr lang="en-US" sz="1200" dirty="0"/>
          </a:p>
          <a:p>
            <a:pPr algn="l" marL="168910" indent="-168910">
              <a:lnSpc>
                <a:spcPts val="1800"/>
              </a:lnSpc>
              <a:buSzPct val="100000"/>
              <a:buFontTx/>
              <a:buAutoNum type="arabicPeriod" startAt="1"/>
            </a:pPr>
            <a:r>
              <a:rPr lang="en-US" sz="1200" dirty="0">
                <a:solidFill>
                  <a:srgbClr val="2B3240"/>
                </a:solidFill>
                <a:latin typeface="IBM Plex Sans" pitchFamily="34" charset="0"/>
                <a:ea typeface="IBM Plex Sans" pitchFamily="34" charset="-122"/>
                <a:cs typeface="IBM Plex Sans" pitchFamily="34" charset="-120"/>
              </a:rPr>
              <a:t>Add a db healthcheck; make api wait for service_healthy</a:t>
            </a:r>
            <a:endParaRPr lang="en-US" sz="1200" dirty="0"/>
          </a:p>
          <a:p>
            <a:pPr algn="l" marL="168910" indent="-168910">
              <a:lnSpc>
                <a:spcPts val="1800"/>
              </a:lnSpc>
              <a:buSzPct val="100000"/>
              <a:buFontTx/>
              <a:buAutoNum type="arabicPeriod" startAt="1"/>
            </a:pPr>
            <a:r>
              <a:rPr lang="en-US" sz="1200" dirty="0">
                <a:solidFill>
                  <a:srgbClr val="2B3240"/>
                </a:solidFill>
                <a:latin typeface="IBM Plex Sans" pitchFamily="34" charset="0"/>
                <a:ea typeface="IBM Plex Sans" pitchFamily="34" charset="-122"/>
                <a:cs typeface="IBM Plex Sans" pitchFamily="34" charset="-120"/>
              </a:rPr>
              <a:t>Publish only the web port; keep api and db internal</a:t>
            </a:r>
            <a:endParaRPr lang="en-US" sz="1200" dirty="0"/>
          </a:p>
          <a:p>
            <a:pPr algn="l" marL="168910" indent="-168910">
              <a:lnSpc>
                <a:spcPts val="1800"/>
              </a:lnSpc>
              <a:buSzPct val="100000"/>
              <a:buFontTx/>
              <a:buAutoNum type="arabicPeriod" startAt="1"/>
            </a:pPr>
            <a:r>
              <a:rPr lang="en-US" sz="1200" dirty="0">
                <a:solidFill>
                  <a:srgbClr val="2B3240"/>
                </a:solidFill>
                <a:latin typeface="IBM Plex Sans" pitchFamily="34" charset="0"/>
                <a:ea typeface="IBM Plex Sans" pitchFamily="34" charset="-122"/>
                <a:cs typeface="IBM Plex Sans" pitchFamily="34" charset="-120"/>
              </a:rPr>
              <a:t>Prove persistence: docker compose down, then up — the data survives</a:t>
            </a:r>
            <a:endParaRPr lang="en-US" sz="1200" dirty="0"/>
          </a:p>
        </p:txBody>
      </p:sp>
      <p:sp>
        <p:nvSpPr>
          <p:cNvPr id="19" name="Shape 15"/>
          <p:cNvSpPr/>
          <p:nvPr/>
        </p:nvSpPr>
        <p:spPr>
          <a:xfrm>
            <a:off x="7808595" y="2418717"/>
            <a:ext cx="3567430" cy="999490"/>
          </a:xfrm>
          <a:prstGeom prst="roundRect">
            <a:avLst>
              <a:gd name="adj" fmla="val 9848"/>
            </a:avLst>
          </a:prstGeom>
          <a:solidFill>
            <a:srgbClr val="FDFCFA"/>
          </a:solidFill>
          <a:ln w="6350">
            <a:solidFill>
              <a:srgbClr val="E2DED5"/>
            </a:solidFill>
            <a:prstDash val="solid"/>
          </a:ln>
        </p:spPr>
      </p:sp>
      <p:sp>
        <p:nvSpPr>
          <p:cNvPr id="20" name="Text 16"/>
          <p:cNvSpPr/>
          <p:nvPr/>
        </p:nvSpPr>
        <p:spPr>
          <a:xfrm>
            <a:off x="7988300" y="2573027"/>
            <a:ext cx="330426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5FC4"/>
                </a:solidFill>
                <a:latin typeface="IBM Plex Sans" pitchFamily="34" charset="0"/>
                <a:ea typeface="IBM Plex Sans" pitchFamily="34" charset="-122"/>
                <a:cs typeface="IBM Plex Sans" pitchFamily="34" charset="-120"/>
              </a:rPr>
              <a:t>STRETCH</a:t>
            </a:r>
            <a:endParaRPr lang="en-US" sz="1200" dirty="0"/>
          </a:p>
        </p:txBody>
      </p:sp>
      <p:sp>
        <p:nvSpPr>
          <p:cNvPr id="21" name="Text 17"/>
          <p:cNvSpPr/>
          <p:nvPr/>
        </p:nvSpPr>
        <p:spPr>
          <a:xfrm>
            <a:off x="7988300" y="2837185"/>
            <a:ext cx="330426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240"/>
                </a:solidFill>
                <a:latin typeface="IBM Plex Sans" pitchFamily="34" charset="0"/>
                <a:ea typeface="IBM Plex Sans" pitchFamily="34" charset="-122"/>
                <a:cs typeface="IBM Plex Sans" pitchFamily="34" charset="-120"/>
              </a:rPr>
              <a:t>Live reload with docker compose watch; pgAdmin behind a debug profile.</a:t>
            </a:r>
            <a:endParaRPr lang="en-US" sz="1200" dirty="0"/>
          </a:p>
        </p:txBody>
      </p:sp>
      <p:sp>
        <p:nvSpPr>
          <p:cNvPr id="22" name="Shape 18"/>
          <p:cNvSpPr/>
          <p:nvPr/>
        </p:nvSpPr>
        <p:spPr>
          <a:xfrm>
            <a:off x="7805420" y="3573785"/>
            <a:ext cx="3573780" cy="995680"/>
          </a:xfrm>
          <a:prstGeom prst="roundRect">
            <a:avLst>
              <a:gd name="adj" fmla="val 10204"/>
            </a:avLst>
          </a:prstGeom>
          <a:solidFill>
            <a:srgbClr val="1D5FC4"/>
          </a:solidFill>
          <a:ln/>
        </p:spPr>
      </p:sp>
      <p:sp>
        <p:nvSpPr>
          <p:cNvPr id="23" name="Text 19"/>
          <p:cNvSpPr/>
          <p:nvPr/>
        </p:nvSpPr>
        <p:spPr>
          <a:xfrm>
            <a:off x="7983220" y="3726185"/>
            <a:ext cx="331472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CE6FA"/>
                </a:solidFill>
                <a:latin typeface="IBM Plex Sans" pitchFamily="34" charset="0"/>
                <a:ea typeface="IBM Plex Sans" pitchFamily="34" charset="-122"/>
                <a:cs typeface="IBM Plex Sans" pitchFamily="34" charset="-120"/>
              </a:rPr>
              <a:t>DONE WHEN</a:t>
            </a:r>
            <a:endParaRPr lang="en-US" sz="1200" dirty="0"/>
          </a:p>
        </p:txBody>
      </p:sp>
      <p:sp>
        <p:nvSpPr>
          <p:cNvPr id="24" name="Text 20"/>
          <p:cNvSpPr/>
          <p:nvPr/>
        </p:nvSpPr>
        <p:spPr>
          <a:xfrm>
            <a:off x="7983220" y="3990342"/>
            <a:ext cx="331472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5F1"/>
                </a:solidFill>
                <a:latin typeface="IBM Plex Sans" pitchFamily="34" charset="0"/>
                <a:ea typeface="IBM Plex Sans" pitchFamily="34" charset="-122"/>
                <a:cs typeface="IBM Plex Sans" pitchFamily="34" charset="-120"/>
              </a:rPr>
              <a:t>A fresh clone runs with one command: docker compose up.</a:t>
            </a:r>
            <a:endParaRPr lang="en-US" sz="1200" dirty="0"/>
          </a:p>
        </p:txBody>
      </p:sp>
      <p:sp>
        <p:nvSpPr>
          <p:cNvPr id="25" name="Text 21"/>
          <p:cNvSpPr/>
          <p:nvPr/>
        </p:nvSpPr>
        <p:spPr>
          <a:xfrm>
            <a:off x="812800" y="6238242"/>
            <a:ext cx="26567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Docker Fundamentals · Wrap-up</a:t>
            </a:r>
            <a:endParaRPr lang="en-US" sz="1200" dirty="0"/>
          </a:p>
        </p:txBody>
      </p:sp>
      <p:sp>
        <p:nvSpPr>
          <p:cNvPr id="26" name="Text 22"/>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21722"/>
                </a:solidFill>
                <a:latin typeface="Space Grotesk" pitchFamily="34" charset="0"/>
                <a:ea typeface="Space Grotesk" pitchFamily="34" charset="-122"/>
                <a:cs typeface="Space Grotesk" pitchFamily="34" charset="-120"/>
              </a:rPr>
              <a:t>Recap quiz</a:t>
            </a:r>
            <a:endParaRPr lang="en-US" sz="3000" dirty="0"/>
          </a:p>
        </p:txBody>
      </p:sp>
      <p:sp>
        <p:nvSpPr>
          <p:cNvPr id="3" name="Shape 1"/>
          <p:cNvSpPr/>
          <p:nvPr/>
        </p:nvSpPr>
        <p:spPr>
          <a:xfrm>
            <a:off x="815975" y="1539875"/>
            <a:ext cx="3397250" cy="1431290"/>
          </a:xfrm>
          <a:prstGeom prst="roundRect">
            <a:avLst>
              <a:gd name="adj" fmla="val 6877"/>
            </a:avLst>
          </a:prstGeom>
          <a:solidFill>
            <a:srgbClr val="FDFCFA"/>
          </a:solidFill>
          <a:ln w="6350">
            <a:solidFill>
              <a:srgbClr val="E2DED5"/>
            </a:solidFill>
            <a:prstDash val="solid"/>
          </a:ln>
        </p:spPr>
      </p:sp>
      <p:sp>
        <p:nvSpPr>
          <p:cNvPr id="4" name="Text 2"/>
          <p:cNvSpPr/>
          <p:nvPr/>
        </p:nvSpPr>
        <p:spPr>
          <a:xfrm>
            <a:off x="1021080" y="1719585"/>
            <a:ext cx="307665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5FC4"/>
                </a:solidFill>
                <a:latin typeface="JetBrains Mono" pitchFamily="49" charset="0"/>
                <a:ea typeface="JetBrains Mono" pitchFamily="49" charset="-122"/>
                <a:cs typeface="JetBrains Mono" pitchFamily="49" charset="-120"/>
              </a:rPr>
              <a:t>Q1</a:t>
            </a:r>
            <a:endParaRPr lang="en-US" sz="1400" dirty="0"/>
          </a:p>
        </p:txBody>
      </p:sp>
      <p:sp>
        <p:nvSpPr>
          <p:cNvPr id="5" name="Text 3"/>
          <p:cNvSpPr/>
          <p:nvPr/>
        </p:nvSpPr>
        <p:spPr>
          <a:xfrm>
            <a:off x="1021080" y="2044700"/>
            <a:ext cx="3076651"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Namespaces or cgroups: which limits memory, and which controls what a process can see?</a:t>
            </a:r>
            <a:endParaRPr lang="en-US" sz="1400" dirty="0"/>
          </a:p>
        </p:txBody>
      </p:sp>
      <p:sp>
        <p:nvSpPr>
          <p:cNvPr id="6" name="Shape 4"/>
          <p:cNvSpPr/>
          <p:nvPr/>
        </p:nvSpPr>
        <p:spPr>
          <a:xfrm>
            <a:off x="4397375" y="1539875"/>
            <a:ext cx="3397250" cy="1431290"/>
          </a:xfrm>
          <a:prstGeom prst="roundRect">
            <a:avLst>
              <a:gd name="adj" fmla="val 6877"/>
            </a:avLst>
          </a:prstGeom>
          <a:solidFill>
            <a:srgbClr val="FDFCFA"/>
          </a:solidFill>
          <a:ln w="6350">
            <a:solidFill>
              <a:srgbClr val="E2DED5"/>
            </a:solidFill>
            <a:prstDash val="solid"/>
          </a:ln>
        </p:spPr>
      </p:sp>
      <p:sp>
        <p:nvSpPr>
          <p:cNvPr id="7" name="Text 5"/>
          <p:cNvSpPr/>
          <p:nvPr/>
        </p:nvSpPr>
        <p:spPr>
          <a:xfrm>
            <a:off x="4602480" y="1719585"/>
            <a:ext cx="307665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5FC4"/>
                </a:solidFill>
                <a:latin typeface="JetBrains Mono" pitchFamily="49" charset="0"/>
                <a:ea typeface="JetBrains Mono" pitchFamily="49" charset="-122"/>
                <a:cs typeface="JetBrains Mono" pitchFamily="49" charset="-120"/>
              </a:rPr>
              <a:t>Q2</a:t>
            </a:r>
            <a:endParaRPr lang="en-US" sz="1400" dirty="0"/>
          </a:p>
        </p:txBody>
      </p:sp>
      <p:sp>
        <p:nvSpPr>
          <p:cNvPr id="8" name="Text 6"/>
          <p:cNvSpPr/>
          <p:nvPr/>
        </p:nvSpPr>
        <p:spPr>
          <a:xfrm>
            <a:off x="4602480" y="2044700"/>
            <a:ext cx="307665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Why does COPY . . before pip install make every rebuild slow?</a:t>
            </a:r>
            <a:endParaRPr lang="en-US" sz="1400" dirty="0"/>
          </a:p>
        </p:txBody>
      </p:sp>
      <p:sp>
        <p:nvSpPr>
          <p:cNvPr id="9" name="Shape 7"/>
          <p:cNvSpPr/>
          <p:nvPr/>
        </p:nvSpPr>
        <p:spPr>
          <a:xfrm>
            <a:off x="7978775" y="1539875"/>
            <a:ext cx="3397250" cy="1431290"/>
          </a:xfrm>
          <a:prstGeom prst="roundRect">
            <a:avLst>
              <a:gd name="adj" fmla="val 6877"/>
            </a:avLst>
          </a:prstGeom>
          <a:solidFill>
            <a:srgbClr val="FDFCFA"/>
          </a:solidFill>
          <a:ln w="6350">
            <a:solidFill>
              <a:srgbClr val="E2DED5"/>
            </a:solidFill>
            <a:prstDash val="solid"/>
          </a:ln>
        </p:spPr>
      </p:sp>
      <p:sp>
        <p:nvSpPr>
          <p:cNvPr id="10" name="Text 8"/>
          <p:cNvSpPr/>
          <p:nvPr/>
        </p:nvSpPr>
        <p:spPr>
          <a:xfrm>
            <a:off x="8183880" y="1719585"/>
            <a:ext cx="307665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5FC4"/>
                </a:solidFill>
                <a:latin typeface="JetBrains Mono" pitchFamily="49" charset="0"/>
                <a:ea typeface="JetBrains Mono" pitchFamily="49" charset="-122"/>
                <a:cs typeface="JetBrains Mono" pitchFamily="49" charset="-120"/>
              </a:rPr>
              <a:t>Q3</a:t>
            </a:r>
            <a:endParaRPr lang="en-US" sz="1400" dirty="0"/>
          </a:p>
        </p:txBody>
      </p:sp>
      <p:sp>
        <p:nvSpPr>
          <p:cNvPr id="11" name="Text 9"/>
          <p:cNvSpPr/>
          <p:nvPr/>
        </p:nvSpPr>
        <p:spPr>
          <a:xfrm>
            <a:off x="8183880" y="2044700"/>
            <a:ext cx="307665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A tag or a digest: which one always points to the same image?</a:t>
            </a:r>
            <a:endParaRPr lang="en-US" sz="1400" dirty="0"/>
          </a:p>
        </p:txBody>
      </p:sp>
      <p:sp>
        <p:nvSpPr>
          <p:cNvPr id="12" name="Shape 10"/>
          <p:cNvSpPr/>
          <p:nvPr/>
        </p:nvSpPr>
        <p:spPr>
          <a:xfrm>
            <a:off x="815975" y="3155317"/>
            <a:ext cx="3397250" cy="1182370"/>
          </a:xfrm>
          <a:prstGeom prst="roundRect">
            <a:avLst>
              <a:gd name="adj" fmla="val 8324"/>
            </a:avLst>
          </a:prstGeom>
          <a:solidFill>
            <a:srgbClr val="FDFCFA"/>
          </a:solidFill>
          <a:ln w="6350">
            <a:solidFill>
              <a:srgbClr val="E2DED5"/>
            </a:solidFill>
            <a:prstDash val="solid"/>
          </a:ln>
        </p:spPr>
      </p:sp>
      <p:sp>
        <p:nvSpPr>
          <p:cNvPr id="13" name="Text 11"/>
          <p:cNvSpPr/>
          <p:nvPr/>
        </p:nvSpPr>
        <p:spPr>
          <a:xfrm>
            <a:off x="1021080" y="3335027"/>
            <a:ext cx="307665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5FC4"/>
                </a:solidFill>
                <a:latin typeface="JetBrains Mono" pitchFamily="49" charset="0"/>
                <a:ea typeface="JetBrains Mono" pitchFamily="49" charset="-122"/>
                <a:cs typeface="JetBrains Mono" pitchFamily="49" charset="-120"/>
              </a:rPr>
              <a:t>Q4</a:t>
            </a:r>
            <a:endParaRPr lang="en-US" sz="1400" dirty="0"/>
          </a:p>
        </p:txBody>
      </p:sp>
      <p:sp>
        <p:nvSpPr>
          <p:cNvPr id="14" name="Text 12"/>
          <p:cNvSpPr/>
          <p:nvPr/>
        </p:nvSpPr>
        <p:spPr>
          <a:xfrm>
            <a:off x="1021080" y="3660142"/>
            <a:ext cx="307665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Your database lost its data after docker rm. What was missing?</a:t>
            </a:r>
            <a:endParaRPr lang="en-US" sz="1400" dirty="0"/>
          </a:p>
        </p:txBody>
      </p:sp>
      <p:sp>
        <p:nvSpPr>
          <p:cNvPr id="15" name="Shape 13"/>
          <p:cNvSpPr/>
          <p:nvPr/>
        </p:nvSpPr>
        <p:spPr>
          <a:xfrm>
            <a:off x="4397375" y="3155317"/>
            <a:ext cx="3397250" cy="1182370"/>
          </a:xfrm>
          <a:prstGeom prst="roundRect">
            <a:avLst>
              <a:gd name="adj" fmla="val 8324"/>
            </a:avLst>
          </a:prstGeom>
          <a:solidFill>
            <a:srgbClr val="FDFCFA"/>
          </a:solidFill>
          <a:ln w="6350">
            <a:solidFill>
              <a:srgbClr val="E2DED5"/>
            </a:solidFill>
            <a:prstDash val="solid"/>
          </a:ln>
        </p:spPr>
      </p:sp>
      <p:sp>
        <p:nvSpPr>
          <p:cNvPr id="16" name="Text 14"/>
          <p:cNvSpPr/>
          <p:nvPr/>
        </p:nvSpPr>
        <p:spPr>
          <a:xfrm>
            <a:off x="4602480" y="3335027"/>
            <a:ext cx="307665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5FC4"/>
                </a:solidFill>
                <a:latin typeface="JetBrains Mono" pitchFamily="49" charset="0"/>
                <a:ea typeface="JetBrains Mono" pitchFamily="49" charset="-122"/>
                <a:cs typeface="JetBrains Mono" pitchFamily="49" charset="-120"/>
              </a:rPr>
              <a:t>Q5</a:t>
            </a:r>
            <a:endParaRPr lang="en-US" sz="1400" dirty="0"/>
          </a:p>
        </p:txBody>
      </p:sp>
      <p:sp>
        <p:nvSpPr>
          <p:cNvPr id="17" name="Text 15"/>
          <p:cNvSpPr/>
          <p:nvPr/>
        </p:nvSpPr>
        <p:spPr>
          <a:xfrm>
            <a:off x="4602480" y="3660142"/>
            <a:ext cx="307665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The API started before Postgres was ready. What do you add in Compose?</a:t>
            </a:r>
            <a:endParaRPr lang="en-US" sz="1400" dirty="0"/>
          </a:p>
        </p:txBody>
      </p:sp>
      <p:sp>
        <p:nvSpPr>
          <p:cNvPr id="18" name="Shape 16"/>
          <p:cNvSpPr/>
          <p:nvPr/>
        </p:nvSpPr>
        <p:spPr>
          <a:xfrm>
            <a:off x="7978775" y="3155317"/>
            <a:ext cx="3397250" cy="1182370"/>
          </a:xfrm>
          <a:prstGeom prst="roundRect">
            <a:avLst>
              <a:gd name="adj" fmla="val 8324"/>
            </a:avLst>
          </a:prstGeom>
          <a:solidFill>
            <a:srgbClr val="FDFCFA"/>
          </a:solidFill>
          <a:ln w="6350">
            <a:solidFill>
              <a:srgbClr val="E2DED5"/>
            </a:solidFill>
            <a:prstDash val="solid"/>
          </a:ln>
        </p:spPr>
      </p:sp>
      <p:sp>
        <p:nvSpPr>
          <p:cNvPr id="19" name="Text 17"/>
          <p:cNvSpPr/>
          <p:nvPr/>
        </p:nvSpPr>
        <p:spPr>
          <a:xfrm>
            <a:off x="8183880" y="3335027"/>
            <a:ext cx="307665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5FC4"/>
                </a:solidFill>
                <a:latin typeface="JetBrains Mono" pitchFamily="49" charset="0"/>
                <a:ea typeface="JetBrains Mono" pitchFamily="49" charset="-122"/>
                <a:cs typeface="JetBrains Mono" pitchFamily="49" charset="-120"/>
              </a:rPr>
              <a:t>Q6</a:t>
            </a:r>
            <a:endParaRPr lang="en-US" sz="1400" dirty="0"/>
          </a:p>
        </p:txBody>
      </p:sp>
      <p:sp>
        <p:nvSpPr>
          <p:cNvPr id="20" name="Text 18"/>
          <p:cNvSpPr/>
          <p:nvPr/>
        </p:nvSpPr>
        <p:spPr>
          <a:xfrm>
            <a:off x="8183880" y="3660142"/>
            <a:ext cx="307665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240"/>
                </a:solidFill>
                <a:latin typeface="IBM Plex Sans" pitchFamily="34" charset="0"/>
                <a:ea typeface="IBM Plex Sans" pitchFamily="34" charset="-122"/>
                <a:cs typeface="IBM Plex Sans" pitchFamily="34" charset="-120"/>
              </a:rPr>
              <a:t>Why can api reach db by name on appnet but not on the default bridge?</a:t>
            </a:r>
            <a:endParaRPr lang="en-US" sz="1400" dirty="0"/>
          </a:p>
        </p:txBody>
      </p:sp>
      <p:sp>
        <p:nvSpPr>
          <p:cNvPr id="21" name="Text 19"/>
          <p:cNvSpPr/>
          <p:nvPr/>
        </p:nvSpPr>
        <p:spPr>
          <a:xfrm>
            <a:off x="812800" y="6238242"/>
            <a:ext cx="26567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Docker Fundamentals · Wrap-up</a:t>
            </a:r>
            <a:endParaRPr lang="en-US" sz="1200" dirty="0"/>
          </a:p>
        </p:txBody>
      </p:sp>
      <p:sp>
        <p:nvSpPr>
          <p:cNvPr id="22" name="Text 20"/>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470"/>
                </a:solidFill>
                <a:latin typeface="IBM Plex Sans" pitchFamily="34" charset="0"/>
                <a:ea typeface="IBM Plex Sans" pitchFamily="34" charset="-122"/>
                <a:cs typeface="IBM Plex Sans"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2172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EBBFF"/>
                </a:solidFill>
                <a:latin typeface="IBM Plex Sans" pitchFamily="34" charset="0"/>
                <a:ea typeface="IBM Plex Sans" pitchFamily="34" charset="-122"/>
                <a:cs typeface="IBM Plex Sans" pitchFamily="34" charset="-120"/>
              </a:rPr>
              <a:t>RESOURCES AND Q&amp;A</a:t>
            </a:r>
            <a:endParaRPr lang="en-US" sz="1200" dirty="0"/>
          </a:p>
        </p:txBody>
      </p:sp>
      <p:sp>
        <p:nvSpPr>
          <p:cNvPr id="3" name="Text 1"/>
          <p:cNvSpPr/>
          <p:nvPr>
            <p:ph type="title"/>
          </p:nvPr>
        </p:nvSpPr>
        <p:spPr>
          <a:xfrm>
            <a:off x="812800" y="1178558"/>
            <a:ext cx="10883392" cy="772160"/>
          </a:xfrm>
          <a:prstGeom prst="rect">
            <a:avLst/>
          </a:prstGeom>
          <a:noFill/>
          <a:ln/>
        </p:spPr>
        <p:txBody>
          <a:bodyPr wrap="square" lIns="0" tIns="0" rIns="0" bIns="0" rtlCol="0" anchor="t">
            <a:normAutofit/>
          </a:bodyPr>
          <a:lstStyle/>
          <a:p>
            <a:pPr algn="l" indent="0" marL="0">
              <a:lnSpc>
                <a:spcPts val="5880"/>
              </a:lnSpc>
              <a:buNone/>
            </a:pPr>
            <a:r>
              <a:rPr lang="en-US" sz="5600" b="1" i="0" spc="-150" kern="0" dirty="0">
                <a:solidFill>
                  <a:srgbClr val="F6F5F1"/>
                </a:solidFill>
                <a:latin typeface="Space Grotesk" pitchFamily="34" charset="0"/>
                <a:ea typeface="Space Grotesk" pitchFamily="34" charset="-122"/>
                <a:cs typeface="Space Grotesk" pitchFamily="34" charset="-120"/>
              </a:rPr>
              <a:t>Questions?</a:t>
            </a:r>
            <a:endParaRPr lang="en-US" sz="5600" dirty="0"/>
          </a:p>
        </p:txBody>
      </p:sp>
      <p:sp>
        <p:nvSpPr>
          <p:cNvPr id="4" name="Shape 2"/>
          <p:cNvSpPr/>
          <p:nvPr/>
        </p:nvSpPr>
        <p:spPr>
          <a:xfrm>
            <a:off x="812800" y="4865377"/>
            <a:ext cx="3318907" cy="0"/>
          </a:xfrm>
          <a:prstGeom prst="line">
            <a:avLst/>
          </a:prstGeom>
          <a:noFill/>
          <a:ln w="12700">
            <a:solidFill>
              <a:srgbClr val="2E3B55"/>
            </a:solidFill>
            <a:prstDash val="solid"/>
          </a:ln>
        </p:spPr>
      </p:sp>
      <p:sp>
        <p:nvSpPr>
          <p:cNvPr id="5" name="Text 3"/>
          <p:cNvSpPr/>
          <p:nvPr/>
        </p:nvSpPr>
        <p:spPr>
          <a:xfrm>
            <a:off x="812800" y="5021585"/>
            <a:ext cx="341847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EBBFF"/>
                </a:solidFill>
                <a:latin typeface="IBM Plex Sans" pitchFamily="34" charset="0"/>
                <a:ea typeface="IBM Plex Sans" pitchFamily="34" charset="-122"/>
                <a:cs typeface="IBM Plex Sans" pitchFamily="34" charset="-120"/>
              </a:rPr>
              <a:t>DOCUMENTATION</a:t>
            </a:r>
            <a:endParaRPr lang="en-US" sz="1200" dirty="0"/>
          </a:p>
        </p:txBody>
      </p:sp>
      <p:sp>
        <p:nvSpPr>
          <p:cNvPr id="6" name="Text 4"/>
          <p:cNvSpPr/>
          <p:nvPr/>
        </p:nvSpPr>
        <p:spPr>
          <a:xfrm>
            <a:off x="812800" y="5298442"/>
            <a:ext cx="3418474" cy="772160"/>
          </a:xfrm>
          <a:prstGeom prst="rect">
            <a:avLst/>
          </a:prstGeom>
          <a:noFill/>
          <a:ln/>
        </p:spPr>
        <p:txBody>
          <a:bodyPr wrap="square" lIns="0" tIns="0" rIns="0" bIns="0" rtlCol="0" anchor="t">
            <a:normAutofit/>
          </a:bodyPr>
          <a:lstStyle/>
          <a:p>
            <a:pPr algn="l" indent="0" marL="0">
              <a:lnSpc>
                <a:spcPts val="1960"/>
              </a:lnSpc>
              <a:buNone/>
            </a:pPr>
            <a:r>
              <a:rPr lang="en-US" sz="1400" u="sng" dirty="0">
                <a:solidFill>
                  <a:srgbClr val="C9CED8"/>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docs.docker.com</a:t>
            </a:r>
            <a:r>
              <a:rPr lang="en-US" sz="1400" dirty="0">
                <a:solidFill>
                  <a:srgbClr val="C9CED8"/>
                </a:solidFill>
                <a:latin typeface="IBM Plex Sans" pitchFamily="34" charset="0"/>
                <a:ea typeface="IBM Plex Sans" pitchFamily="34" charset="-122"/>
                <a:cs typeface="IBM Plex Sans" pitchFamily="34" charset="-120"/>
              </a:rPr>
              <a:t> — get-started guide, Dockerfile reference, Compose file reference</a:t>
            </a:r>
            <a:endParaRPr lang="en-US" sz="1400" dirty="0"/>
          </a:p>
        </p:txBody>
      </p:sp>
      <p:sp>
        <p:nvSpPr>
          <p:cNvPr id="7" name="Shape 5"/>
          <p:cNvSpPr/>
          <p:nvPr/>
        </p:nvSpPr>
        <p:spPr>
          <a:xfrm>
            <a:off x="4436507" y="4865377"/>
            <a:ext cx="3318986" cy="0"/>
          </a:xfrm>
          <a:prstGeom prst="line">
            <a:avLst/>
          </a:prstGeom>
          <a:noFill/>
          <a:ln w="12700">
            <a:solidFill>
              <a:srgbClr val="2E3B55"/>
            </a:solidFill>
            <a:prstDash val="solid"/>
          </a:ln>
        </p:spPr>
      </p:sp>
      <p:sp>
        <p:nvSpPr>
          <p:cNvPr id="8" name="Text 6"/>
          <p:cNvSpPr/>
          <p:nvPr/>
        </p:nvSpPr>
        <p:spPr>
          <a:xfrm>
            <a:off x="4436507" y="5021585"/>
            <a:ext cx="341855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EBBFF"/>
                </a:solidFill>
                <a:latin typeface="IBM Plex Sans" pitchFamily="34" charset="0"/>
                <a:ea typeface="IBM Plex Sans" pitchFamily="34" charset="-122"/>
                <a:cs typeface="IBM Plex Sans" pitchFamily="34" charset="-120"/>
              </a:rPr>
              <a:t>GOING DEEPER</a:t>
            </a:r>
            <a:endParaRPr lang="en-US" sz="1200" dirty="0"/>
          </a:p>
        </p:txBody>
      </p:sp>
      <p:sp>
        <p:nvSpPr>
          <p:cNvPr id="9" name="Text 7"/>
          <p:cNvSpPr/>
          <p:nvPr/>
        </p:nvSpPr>
        <p:spPr>
          <a:xfrm>
            <a:off x="4436507" y="5298442"/>
            <a:ext cx="341855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ED8"/>
                </a:solidFill>
                <a:latin typeface="IBM Plex Sans" pitchFamily="34" charset="0"/>
                <a:ea typeface="IBM Plex Sans" pitchFamily="34" charset="-122"/>
                <a:cs typeface="IBM Plex Sans" pitchFamily="34" charset="-120"/>
              </a:rPr>
              <a:t>Docker’s build best-practices guide; the OCI specifications at </a:t>
            </a:r>
            <a:r>
              <a:rPr lang="en-US" sz="1400" u="sng" dirty="0">
                <a:solidFill>
                  <a:srgbClr val="C9CED8"/>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opencontainers.org</a:t>
            </a:r>
            <a:endParaRPr lang="en-US" sz="1400" dirty="0"/>
          </a:p>
        </p:txBody>
      </p:sp>
      <p:sp>
        <p:nvSpPr>
          <p:cNvPr id="10" name="Shape 8"/>
          <p:cNvSpPr/>
          <p:nvPr/>
        </p:nvSpPr>
        <p:spPr>
          <a:xfrm>
            <a:off x="8060293" y="4865377"/>
            <a:ext cx="3318907" cy="0"/>
          </a:xfrm>
          <a:prstGeom prst="line">
            <a:avLst/>
          </a:prstGeom>
          <a:noFill/>
          <a:ln w="12700">
            <a:solidFill>
              <a:srgbClr val="2E3B55"/>
            </a:solidFill>
            <a:prstDash val="solid"/>
          </a:ln>
        </p:spPr>
      </p:sp>
      <p:sp>
        <p:nvSpPr>
          <p:cNvPr id="11" name="Text 9"/>
          <p:cNvSpPr/>
          <p:nvPr/>
        </p:nvSpPr>
        <p:spPr>
          <a:xfrm>
            <a:off x="8060293" y="5021585"/>
            <a:ext cx="341847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EBBFF"/>
                </a:solidFill>
                <a:latin typeface="IBM Plex Sans" pitchFamily="34" charset="0"/>
                <a:ea typeface="IBM Plex Sans" pitchFamily="34" charset="-122"/>
                <a:cs typeface="IBM Plex Sans" pitchFamily="34" charset="-120"/>
              </a:rPr>
              <a:t>NEXT IN THE SERIES</a:t>
            </a:r>
            <a:endParaRPr lang="en-US" sz="1200" dirty="0"/>
          </a:p>
        </p:txBody>
      </p:sp>
      <p:sp>
        <p:nvSpPr>
          <p:cNvPr id="12" name="Text 10"/>
          <p:cNvSpPr/>
          <p:nvPr/>
        </p:nvSpPr>
        <p:spPr>
          <a:xfrm>
            <a:off x="8060293" y="5298442"/>
            <a:ext cx="341847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ED8"/>
                </a:solidFill>
                <a:latin typeface="IBM Plex Sans" pitchFamily="34" charset="0"/>
                <a:ea typeface="IBM Plex Sans" pitchFamily="34" charset="-122"/>
                <a:cs typeface="IBM Plex Sans" pitchFamily="34" charset="-120"/>
              </a:rPr>
              <a:t>Kubernetes Fundamentals — running these containers across a cluster</a:t>
            </a:r>
            <a:endParaRPr lang="en-US" sz="1400" dirty="0"/>
          </a:p>
        </p:txBody>
      </p:sp>
    </p:spTree>
  </p:cSld>
  <p:clrMapOvr>
    <a:masterClrMapping/>
  </p:clrMapOvr>
</p:sld>
</file>

<file path=ppt/theme/theme1.xml><?xml version="1.0" encoding="utf-8"?>
<a:theme xmlns:a="http://schemas.openxmlformats.org/drawingml/2006/main" name="Docker Fundamentals">
  <a:themeElements>
    <a:clrScheme name="Docker Fundamentals">
      <a:dk1>
        <a:srgbClr val="121722"/>
      </a:dk1>
      <a:lt1>
        <a:srgbClr val="F6F5F1"/>
      </a:lt1>
      <a:dk2>
        <a:srgbClr val="4B4F56"/>
      </a:dk2>
      <a:lt2>
        <a:srgbClr val="DFDFDC"/>
      </a:lt2>
      <a:accent1>
        <a:srgbClr val="1D5FC4"/>
      </a:accent1>
      <a:accent2>
        <a:srgbClr val="8EBBFF"/>
      </a:accent2>
      <a:accent3>
        <a:srgbClr val="C3D4F2"/>
      </a:accent3>
      <a:accent4>
        <a:srgbClr val="2B3240"/>
      </a:accent4>
      <a:accent5>
        <a:srgbClr val="5D6470"/>
      </a:accent5>
      <a:accent6>
        <a:srgbClr val="DCE6FA"/>
      </a:accent6>
      <a:hlink>
        <a:srgbClr val="0563C1"/>
      </a:hlink>
      <a:folHlink>
        <a:srgbClr val="954F72"/>
      </a:folHlink>
    </a:clrScheme>
    <a:fontScheme name="Docker Fundamentals">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Docker Fundamentals</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2026-10-30T06:56:43Z</dcterms:created>
  <dcterms:modified xsi:type="dcterms:W3CDTF">2026-10-30T06:56:43Z</dcterms:modified>
</cp:coreProperties>
</file>