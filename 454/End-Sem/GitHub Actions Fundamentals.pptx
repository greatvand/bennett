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JetBrains Mono" panose="02000009000000000000" pitchFamily="49" charset="0"/>
      <p:regular r:id="rId37"/>
      <p:bold r:id="rId38"/>
    </p:embeddedFont>
    <p:embeddedFont>
      <p:font typeface="Space Grotesk" pitchFamily="34" charset="0"/>
      <p:regular r:id="rId39"/>
      <p:bold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of the series. Students can now package an app with Docker and run it on Kubernetes; this deck automates the path from a git push to a tested, deployable build. All examples use the action versions current in October 2026 (checkout v7, setup-node v7, setup-python v7, cache v6, upload-artifact v7, download-artifact v8); students can paste them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a GitHub account and a repository they can push to; a fork of the sample app from the Docker lab works well. Public repositories get free minutes on GitHub-hosted runners, so ask students to make their lab repository public unless they have a reason not to. Slides 25 and 26 assemble everything into one complete workflow; the lab on slide 28 has students build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 to stress: fast feedback on every change, fewer surprises when merging, releases that are repeatable instead of heroic, and an audit trail of what was deployed and when. Continuous delivery and continuous deployment differ only in the final step: a human approval versus none. In this deck, the environment approval on slide 24 is what makes a pipeline “delivery” rather than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tools do the same core job; the choice usually follows where the code already lives. Jenkins is still common in organizations with on-premises infrastructure and long-standing custom pipelines. GitHub Actions’ big advantages are zero setup for repositories already on GitHub and the event model: a workflow can react to almost anything that happens in a repository, not only pushes.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nesting matters for everything that follows. Steps within a job share one machine and its files, so a checkout in step 1 is visible to step 2. Jobs are isolated from each other: each gets a fresh runner, which is why they can run in parallel, and why passing data between jobs needs outputs or artifacts (slides 11 and 20). A repository can have many workflows, each in its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file top to bottom: a name, the events that trigger it, the permissions of the automatic GITHUB_TOKEN, then one or more jobs. Each job names its runner and lists steps. The first step almost always checks out the repository, because a fresh runner starts empty. Recommend an editor with the GitHub Actions extension or YAML schema validation; it catches most indentation mistakes before 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can listen to many events at once, and each event can be narrowed with activity types. The timezone key for schedules is a 2026 addition: it takes an IANA name such as Asia/Kolkata, and without it the cron expression is read as UTC, so older tutorials convert times by hand (20:30 UTC is 02:00 IST). workflow_dispatch adds a “Run workflow” button in the Actions tab, and its inputs appear as a form; it can also be triggered with gh workflow run. In public repositories, scheduled workflows are disabled automatically after 60 days without repository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Filters are the cheapest speed-up there is: a docs-only change shouldn’t run the full test suite. Quote patterns that start with special YAML characters, such as '**.md' or '*'. One gotcha to mention: if a workflow is a required status check under branch protection, skipping it with path filters can leave the check “pending” and block the merge — teams then use a small always-running job or path checks inside the job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check out the repository; install Python 3.13 with setup-python; install dependencies; run the tests. Every step starts in the repository folder, and a non-zero exit code from any run step fails the job. A good classroom moment: the first push goes green, then a deliberately broken test shows the red cross on the commit and the pull request — that red cross is the whole point of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debugging starts with the failing step’s log; expand it and read from the bottom up. Annotations created with workflow commands appear on the run summary and next to the code in a pull request, which makes linters and test reporters much more useful. The gh CLI is worth introducing here because students can stay in the terminal: gh run view --log-failed prints only the logs of failed steps. Re-running is safe for flaky infrastructure; a test that only passes on re-run is a flaky test worth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flow: the step with id ver writes version=… into the special $GITHUB_OUTPUT file; the job maps that step output to a job output; the test job declares needs: build and reads it through the needs context. GITHUB_RUN_NUMBER increases with every run of the workflow, which makes it a handy build number. needs also accepts a list, such as needs: [lint, test], and the graph view on the run page draws exactly this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reach for an action when someone has already packaged a task well (checking out code, installing a language, logging in to a cloud), and use run for your project’s own commands. defaults.run.working-directory saves repeating cd api in every step when the project lives in a subfolder; it applies to run steps only, not to actions. Any language with an interpreter on the runner can be the shell, as the Python example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 at github.com/marketplace?type=actions. Case study worth telling: in March 2025 the popular tj-actions/changed-files action was compromised and its version tags were re-pointed to malicious code that printed secrets into build logs; workflows pinned to a full commit SHA were not affected. Dependabot understands SHA pins with a version comment and updates both. GitHub-authored actions under actions/ are generally safe to reference by major tag for coursework.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Expressions are evaluated before a step runs, and the result is pasted into the YAML — so they are not shell variables. To inspect a context while learning, put it in an environment variable and print that: env: CTX: ${{ toJSON(github) }} then run: echo "$CTX". Never paste untrusted values such as an issue title or branch name straight into a run: script with ${{ }}; pass them through env: instead, otherwise a crafted value can inject shell commands. hashFiles is mostly used to build cache keys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an if, a step runs only when everything before it succeeded — an implicit success(). The middle example is the classic pattern for test reports: upload them even when tests fail, but not when someone cancelled the run. Prefer !cancelled() over always(), because always() also runs after cancellation and can keep a cancelled run going. Job-level if is handy for things like deploying only when a pull request carries a deploy label: contains(github.event.pull_request.labels.*.name,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pass values between steps: $GITHUB_ENV makes a plain environment variable for every later step in the job, while $GITHUB_OUTPUT creates a named output you reference through the steps context and can promote to a job output (slide 11). ${GITHUB_SHA::7} is bash substring syntax for the short commit hash. Older tutorials use ::set-output and ::set-env workflow commands; both are deprecated and disabled for security reasons, so these files are the current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Masking is a safety net, not a guarantee: transformed values (base64, JSON fragments) are not recognized, so never print secrets on purpose; ::add-mask:: can mask a derived value. Setting permissions: contents: read at the top of every workflow limits what the automatic GITHUB_TOKEN can do if a step is compromised; grant more per job only where needed, such as packages: write to push images. OIDC lets a workflow request a short-lived credential from AWS, Azure or Google Cloud with permissions: id-token: write, so no long-lived cloud keys are stored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matrix answers “does it work on every OS and version we support?” without copy-pasting jobs. The grid on the right is what GitHub generates from the YAML on the left: every combination of os and python, minus the excluded pair. fail-fast: false is common in test matrices so you see every failing combination, not just the first. Keep an eye on cost: macOS and Windows minutes are more expensive than Linux on private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usually saves the most time per line of YAML. The setup-* actions handle the key for you; since setup-node v6, npm caching even switches on automatically when package.json declares npm as its package manager. With actions/cache, the key decides correctness: include the OS and a hash of the lockfile so a dependency change creates a fresh cache, and use restore-keys to start from the closest older cache. When a repository goes over its cache limit, the least recently used entries are evicted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build-once, deploy-many pattern: the build job uploads dist/, and the deploy job downloads exactly those files instead of rebuilding them, so what you tested is what you ship. Artifacts are zipped by default; recent versions of upload-artifact can also upload a single file unzipped with archive: false. Uploading twice to the same artifact name in one run fails, which is why matrix jobs add the matrix value to the name, and download-artifact can merge several of them back with pattern and merge-multiple.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reflects the runner-images repository in October 2026: ubuntu-latest still points to Ubuntu 24.04 while Ubuntu 26.04 is available by its own label, windows-latest is Windows Server 2025, and macos-latest moved to macOS 26 on Apple silicon in mid-2026. These mappings change once or twice a year with advance notice, which is exactly why production pipelines pin a version. The runner-images repository lists every preinstalled tool per image. Larger runners offer more CPU and memory, GPUs and static IP addresses on paid plans; macOS minutes are the most expensive on private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Self-hosted runners are registered to a repository, an organization or an enterprise. The main risk is persistence: a long-lived runner keeps files and credentials between jobs, and on a public repository anyone could open a pull request that runs code on your machine. ARC solves both problems on Kubernetes: the controller watches GitHub for queued jobs and creates a fresh runner Pod per job, then deletes it. The installation name of the runner scale set becomes the runs-on label. For production, authenticate ARC with a GitHub App instead of a personal access token. This ties the series together: the runners themselves run on the Kubernetes skills from deck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Concurrency groups are keyed by any string you build from expressions. Grouping by workflow and ref means each branch or pull request has its own lane, so a fresh push cancels the stale run on the same PR without touching others. For deployments, never cancel mid-deploy; with the default behaviour, a burst of pushes deploys the current one and then only the newest waiting one. Since May 2026 you can add queue: max (only when cancel-in-progress is false) to keep up to 100 waiting runs and process them in order — useful when every version must be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environments under Settings → Environments. When a job references an environment with required reviewers, the run pauses and the reviewers get a notification with Approve and Reject buttons; the environment’s secrets are only released after approval. Availability depends on the plan: everything here works on public repositories, while on private repositories environments need a paid plan and some protection rules, such as required reviewers, need GitHub Enterprise — check GitHub’s docs for your plan before the lab. A 2026 addition: deployment: false under environment lets a job use an environment’s secrets and variables without recording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and the next slide are one file, .github/workflows/ci-cd.yml; the orange numbers in the left margin are teaching markers, not YAML, and the numbers in brackets point back to the slides where each idea was introduced. The concurrency expression evaluates to true only for pull requests, so stale PR runs are cancelled while pushes to main queue instead — you never want a deployment cancelled halfway. Quoting '${{ matrix.node }}' is needed because the value sits inside a flow mapping that already uses braces.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same file. build only starts when every matrix leg of test passed; deploy only runs for pushes (the if skips it on pull requests) and only after build, and it downloads the exact files build produced rather than rebuilding them. Pointing the deploy job at the production environment brings in the reviewer approval and the production-only secret from slide 24. In the Docker and Kubernetes context, deploy.sh would build and push an image and run kubectl apply; that variation is the lab’s stretch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protect against two failure modes: slow, wasteful pipelines and supply-chain or secret leaks. The injection point deserves a live example: a step like run: echo "${{ github.event.issue.title }}" lets anyone who can open an issue run shell commands on your runner, because the title is pasted into the script before it runs. Passing it as env: TITLE: ${{ github.event.issue.title }} and using "$TITLE" treats it as plain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90 minutes, in a public repository so hosted-runner minutes are free. Ask students to screenshot the run graph and the timing of the first and the cached run as evidence. The deploy step can simply print the version and list the downloaded files; the point is the flow, not a real server. For the stretch goal, pushing to GHCR needs permissions: packages: write and docker/login-action with the GITHUB_TOKEN; deploying to a local kind cluster needs a self-hosted runner on the same machine (slide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steps in the same job share the runner’s filesystem; each job gets a fresh machine. Q2: write it to $GITHUB_OUTPUT in a step, expose it as a job output, and read it in the other job with needs.&lt;job&gt;.outputs.&lt;name&gt; after declaring needs. Q3: schedules use UTC unless you set a time zone, and midnight UTC is 5:30 a.m. IST; add timezone: "Asia/Kolkata" next to the cron. Q4: a branch can change at any moment, including to malicious code; pin a full commit SHA. Q5: cache for dependencies (speed), artifact for the report (a file to keep). Q6: a concurrency group with cancel-in-progress: false on the deploy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series by retelling one change’s journey: a developer pushes a commit; GitHub Actions tests it across a matrix, builds a Docker image and stores it in a registry; after approval, the workflow updates the Kubernetes Deployment, which rolls out the new Pods behind readiness probes. Every piece of that sentence is now a slide students have seen. Suggested follow-ups for advanced students: reusable workflows, OIDC deployments to a cloud, and GitOps with Argo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7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2B324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7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2B324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github.com/actions" TargetMode="External"/><Relationship Id="rId2" Type="http://schemas.openxmlformats.org/officeDocument/2006/relationships/hyperlink" Target="https://github.com/actions/runner-images" TargetMode="External"/><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22"/>
        </a:solidFill>
      </p:bgPr>
    </p:bg>
    <p:spTree>
      <p:nvGrpSpPr>
        <p:cNvPr id="1" name=""/>
        <p:cNvGrpSpPr/>
        <p:nvPr/>
      </p:nvGrpSpPr>
      <p:grpSpPr>
        <a:xfrm>
          <a:off x="0" y="0"/>
          <a:ext cx="0" cy="0"/>
          <a:chOff x="0" y="0"/>
          <a:chExt cx="0" cy="0"/>
        </a:xfrm>
      </p:grpSpPr>
      <p:pic>
        <p:nvPicPr>
          <p:cNvPr id="2" name="Image 0" descr="Abstract workflow graph: one job fanning out to three parallel jobs, then joining and finishing">    </p:cNvPr>
          <p:cNvPicPr>
            <a:picLocks noChangeAspect="1"/>
          </p:cNvPicPr>
          <p:nvPr/>
        </p:nvPicPr>
        <p:blipFill>
          <a:blip r:embed="rId1"/>
          <a:srcRect l="0" r="0" t="0" b="0"/>
          <a:stretch/>
        </p:blipFill>
        <p:spPr>
          <a:xfrm>
            <a:off x="7874000" y="812800"/>
            <a:ext cx="3505200" cy="26924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A06A"/>
                </a:solidFill>
                <a:latin typeface="IBM Plex Sans" pitchFamily="34" charset="0"/>
                <a:ea typeface="IBM Plex Sans" pitchFamily="34" charset="-122"/>
                <a:cs typeface="IBM Plex Sans" pitchFamily="34" charset="-120"/>
              </a:rPr>
              <a:t>DEVOPS FOUNDATIONS · PART 3 OF 3</a:t>
            </a:r>
            <a:endParaRPr lang="en-US" sz="1200" dirty="0"/>
          </a:p>
        </p:txBody>
      </p:sp>
      <p:sp>
        <p:nvSpPr>
          <p:cNvPr id="4" name="Text 1"/>
          <p:cNvSpPr/>
          <p:nvPr>
            <p:ph type="title"/>
          </p:nvPr>
        </p:nvSpPr>
        <p:spPr>
          <a:xfrm>
            <a:off x="812800" y="4330700"/>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GitHub Actions Fundamentals</a:t>
            </a:r>
            <a:endParaRPr lang="en-US" sz="5600" dirty="0"/>
          </a:p>
        </p:txBody>
      </p:sp>
      <p:sp>
        <p:nvSpPr>
          <p:cNvPr id="5" name="Text 2"/>
          <p:cNvSpPr/>
          <p:nvPr/>
        </p:nvSpPr>
        <p:spPr>
          <a:xfrm>
            <a:off x="812800" y="522986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CED8"/>
                </a:solidFill>
                <a:latin typeface="IBM Plex Sans" pitchFamily="34" charset="0"/>
                <a:ea typeface="IBM Plex Sans" pitchFamily="34" charset="-122"/>
                <a:cs typeface="IBM Plex Sans" pitchFamily="34" charset="-120"/>
              </a:rPr>
              <a:t>Automating build, test and deploy with workflows as code</a:t>
            </a:r>
            <a:endParaRPr lang="en-US" sz="1800" dirty="0"/>
          </a:p>
        </p:txBody>
      </p:sp>
      <p:sp>
        <p:nvSpPr>
          <p:cNvPr id="6"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2"/>
                </a:solidFill>
                <a:latin typeface="IBM Plex Sans" pitchFamily="34" charset="0"/>
                <a:ea typeface="IBM Plex Sans" pitchFamily="34" charset="-122"/>
                <a:cs typeface="IBM Plex Sans" pitchFamily="34" charset="-120"/>
              </a:rPr>
              <a:t>Fundamentals · Workflow logic · Scale and runners · A complete pipeline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Agenda and learning outcomes</a:t>
            </a:r>
            <a:endParaRPr lang="en-US" sz="3000" dirty="0"/>
          </a:p>
        </p:txBody>
      </p:sp>
      <p:sp>
        <p:nvSpPr>
          <p:cNvPr id="3" name="Text 1"/>
          <p:cNvSpPr/>
          <p:nvPr/>
        </p:nvSpPr>
        <p:spPr>
          <a:xfrm>
            <a:off x="8128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What we’ll cover</a:t>
            </a:r>
            <a:endParaRPr lang="en-US" sz="1800" dirty="0"/>
          </a:p>
        </p:txBody>
      </p:sp>
      <p:sp>
        <p:nvSpPr>
          <p:cNvPr id="4" name="Shape 2"/>
          <p:cNvSpPr/>
          <p:nvPr/>
        </p:nvSpPr>
        <p:spPr>
          <a:xfrm>
            <a:off x="812800" y="2315845"/>
            <a:ext cx="5080000" cy="0"/>
          </a:xfrm>
          <a:prstGeom prst="line">
            <a:avLst/>
          </a:prstGeom>
          <a:noFill/>
          <a:ln w="6350">
            <a:solidFill>
              <a:srgbClr val="E2DED5"/>
            </a:solidFill>
            <a:prstDash val="solid"/>
          </a:ln>
        </p:spPr>
      </p:sp>
      <p:sp>
        <p:nvSpPr>
          <p:cNvPr id="5" name="Text 3"/>
          <p:cNvSpPr/>
          <p:nvPr/>
        </p:nvSpPr>
        <p:spPr>
          <a:xfrm>
            <a:off x="812800" y="20142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148080" y="1988820"/>
            <a:ext cx="463590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CI/CD refresher</a:t>
            </a:r>
            <a:endParaRPr lang="en-US" sz="1400" dirty="0"/>
          </a:p>
        </p:txBody>
      </p:sp>
      <p:sp>
        <p:nvSpPr>
          <p:cNvPr id="7" name="Text 5"/>
          <p:cNvSpPr/>
          <p:nvPr/>
        </p:nvSpPr>
        <p:spPr>
          <a:xfrm>
            <a:off x="5801360" y="2014220"/>
            <a:ext cx="142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3</a:t>
            </a:r>
            <a:endParaRPr lang="en-US" sz="1200" dirty="0"/>
          </a:p>
        </p:txBody>
      </p:sp>
      <p:sp>
        <p:nvSpPr>
          <p:cNvPr id="8" name="Shape 6"/>
          <p:cNvSpPr/>
          <p:nvPr/>
        </p:nvSpPr>
        <p:spPr>
          <a:xfrm>
            <a:off x="812800" y="2722245"/>
            <a:ext cx="5080000" cy="0"/>
          </a:xfrm>
          <a:prstGeom prst="line">
            <a:avLst/>
          </a:prstGeom>
          <a:noFill/>
          <a:ln w="6350">
            <a:solidFill>
              <a:srgbClr val="E2DED5"/>
            </a:solidFill>
            <a:prstDash val="solid"/>
          </a:ln>
        </p:spPr>
      </p:sp>
      <p:sp>
        <p:nvSpPr>
          <p:cNvPr id="9" name="Text 7"/>
          <p:cNvSpPr/>
          <p:nvPr/>
        </p:nvSpPr>
        <p:spPr>
          <a:xfrm>
            <a:off x="812800" y="24206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1148080" y="2395220"/>
            <a:ext cx="435523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Fundamentals</a:t>
            </a:r>
            <a:endParaRPr lang="en-US" sz="1400" dirty="0"/>
          </a:p>
        </p:txBody>
      </p:sp>
      <p:sp>
        <p:nvSpPr>
          <p:cNvPr id="11" name="Text 9"/>
          <p:cNvSpPr/>
          <p:nvPr/>
        </p:nvSpPr>
        <p:spPr>
          <a:xfrm>
            <a:off x="5528866" y="2420620"/>
            <a:ext cx="4147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4–10</a:t>
            </a:r>
            <a:endParaRPr lang="en-US" sz="1200" dirty="0"/>
          </a:p>
        </p:txBody>
      </p:sp>
      <p:sp>
        <p:nvSpPr>
          <p:cNvPr id="12" name="Shape 10"/>
          <p:cNvSpPr/>
          <p:nvPr/>
        </p:nvSpPr>
        <p:spPr>
          <a:xfrm>
            <a:off x="812800" y="3128645"/>
            <a:ext cx="5080000" cy="0"/>
          </a:xfrm>
          <a:prstGeom prst="line">
            <a:avLst/>
          </a:prstGeom>
          <a:noFill/>
          <a:ln w="6350">
            <a:solidFill>
              <a:srgbClr val="E2DED5"/>
            </a:solidFill>
            <a:prstDash val="solid"/>
          </a:ln>
        </p:spPr>
      </p:sp>
      <p:sp>
        <p:nvSpPr>
          <p:cNvPr id="13" name="Text 11"/>
          <p:cNvSpPr/>
          <p:nvPr/>
        </p:nvSpPr>
        <p:spPr>
          <a:xfrm>
            <a:off x="812800" y="28270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1148080" y="28016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Workflow logic</a:t>
            </a:r>
            <a:endParaRPr lang="en-US" sz="1400" dirty="0"/>
          </a:p>
        </p:txBody>
      </p:sp>
      <p:sp>
        <p:nvSpPr>
          <p:cNvPr id="15" name="Text 13"/>
          <p:cNvSpPr/>
          <p:nvPr/>
        </p:nvSpPr>
        <p:spPr>
          <a:xfrm>
            <a:off x="5437426" y="28270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11–17</a:t>
            </a:r>
            <a:endParaRPr lang="en-US" sz="1200" dirty="0"/>
          </a:p>
        </p:txBody>
      </p:sp>
      <p:sp>
        <p:nvSpPr>
          <p:cNvPr id="16" name="Shape 14"/>
          <p:cNvSpPr/>
          <p:nvPr/>
        </p:nvSpPr>
        <p:spPr>
          <a:xfrm>
            <a:off x="812800" y="3535045"/>
            <a:ext cx="5080000" cy="0"/>
          </a:xfrm>
          <a:prstGeom prst="line">
            <a:avLst/>
          </a:prstGeom>
          <a:noFill/>
          <a:ln w="6350">
            <a:solidFill>
              <a:srgbClr val="E2DED5"/>
            </a:solidFill>
            <a:prstDash val="solid"/>
          </a:ln>
        </p:spPr>
      </p:sp>
      <p:sp>
        <p:nvSpPr>
          <p:cNvPr id="17" name="Text 15"/>
          <p:cNvSpPr/>
          <p:nvPr/>
        </p:nvSpPr>
        <p:spPr>
          <a:xfrm>
            <a:off x="812800" y="32334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148080" y="32080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Scale and runners</a:t>
            </a:r>
            <a:endParaRPr lang="en-US" sz="1400" dirty="0"/>
          </a:p>
        </p:txBody>
      </p:sp>
      <p:sp>
        <p:nvSpPr>
          <p:cNvPr id="19" name="Text 17"/>
          <p:cNvSpPr/>
          <p:nvPr/>
        </p:nvSpPr>
        <p:spPr>
          <a:xfrm>
            <a:off x="5437426" y="32334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18–24</a:t>
            </a:r>
            <a:endParaRPr lang="en-US" sz="1200" dirty="0"/>
          </a:p>
        </p:txBody>
      </p:sp>
      <p:sp>
        <p:nvSpPr>
          <p:cNvPr id="20" name="Shape 18"/>
          <p:cNvSpPr/>
          <p:nvPr/>
        </p:nvSpPr>
        <p:spPr>
          <a:xfrm>
            <a:off x="812800" y="3941445"/>
            <a:ext cx="5080000" cy="0"/>
          </a:xfrm>
          <a:prstGeom prst="line">
            <a:avLst/>
          </a:prstGeom>
          <a:noFill/>
          <a:ln w="6350">
            <a:solidFill>
              <a:srgbClr val="E2DED5"/>
            </a:solidFill>
            <a:prstDash val="solid"/>
          </a:ln>
        </p:spPr>
      </p:sp>
      <p:sp>
        <p:nvSpPr>
          <p:cNvPr id="21" name="Text 19"/>
          <p:cNvSpPr/>
          <p:nvPr/>
        </p:nvSpPr>
        <p:spPr>
          <a:xfrm>
            <a:off x="812800" y="36398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1148080" y="36144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Putting it together</a:t>
            </a:r>
            <a:endParaRPr lang="en-US" sz="1400" dirty="0"/>
          </a:p>
        </p:txBody>
      </p:sp>
      <p:sp>
        <p:nvSpPr>
          <p:cNvPr id="23" name="Text 21"/>
          <p:cNvSpPr/>
          <p:nvPr/>
        </p:nvSpPr>
        <p:spPr>
          <a:xfrm>
            <a:off x="5437426" y="36398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25–26</a:t>
            </a:r>
            <a:endParaRPr lang="en-US" sz="1200" dirty="0"/>
          </a:p>
        </p:txBody>
      </p:sp>
      <p:sp>
        <p:nvSpPr>
          <p:cNvPr id="24" name="Shape 22"/>
          <p:cNvSpPr/>
          <p:nvPr/>
        </p:nvSpPr>
        <p:spPr>
          <a:xfrm>
            <a:off x="812800" y="4347845"/>
            <a:ext cx="5080000" cy="0"/>
          </a:xfrm>
          <a:prstGeom prst="line">
            <a:avLst/>
          </a:prstGeom>
          <a:noFill/>
          <a:ln w="6350">
            <a:solidFill>
              <a:srgbClr val="E2DED5"/>
            </a:solidFill>
            <a:prstDash val="solid"/>
          </a:ln>
        </p:spPr>
      </p:sp>
      <p:sp>
        <p:nvSpPr>
          <p:cNvPr id="25" name="Text 23"/>
          <p:cNvSpPr/>
          <p:nvPr/>
        </p:nvSpPr>
        <p:spPr>
          <a:xfrm>
            <a:off x="812800" y="40462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1148080" y="40208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Best practices, lab and quiz</a:t>
            </a:r>
            <a:endParaRPr lang="en-US" sz="1400" dirty="0"/>
          </a:p>
        </p:txBody>
      </p:sp>
      <p:sp>
        <p:nvSpPr>
          <p:cNvPr id="27" name="Text 25"/>
          <p:cNvSpPr/>
          <p:nvPr/>
        </p:nvSpPr>
        <p:spPr>
          <a:xfrm>
            <a:off x="5437426" y="40462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27–30</a:t>
            </a:r>
            <a:endParaRPr lang="en-US" sz="1200" dirty="0"/>
          </a:p>
        </p:txBody>
      </p:sp>
      <p:sp>
        <p:nvSpPr>
          <p:cNvPr id="28" name="Text 26"/>
          <p:cNvSpPr/>
          <p:nvPr/>
        </p:nvSpPr>
        <p:spPr>
          <a:xfrm>
            <a:off x="62992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By the end, you can</a:t>
            </a:r>
            <a:endParaRPr lang="en-US" sz="1800" dirty="0"/>
          </a:p>
        </p:txBody>
      </p:sp>
      <p:pic>
        <p:nvPicPr>
          <p:cNvPr id="29" name="Image 0" descr="CheckCircle">    </p:cNvPr>
          <p:cNvPicPr>
            <a:picLocks noChangeAspect="1"/>
          </p:cNvPicPr>
          <p:nvPr/>
        </p:nvPicPr>
        <p:blipFill>
          <a:blip r:embed="rId1"/>
          <a:srcRect l="0" r="0" t="0" b="0"/>
          <a:stretch/>
        </p:blipFill>
        <p:spPr>
          <a:xfrm>
            <a:off x="6299200" y="1988820"/>
            <a:ext cx="203200" cy="203200"/>
          </a:xfrm>
          <a:prstGeom prst="rect">
            <a:avLst/>
          </a:prstGeom>
        </p:spPr>
      </p:pic>
      <p:sp>
        <p:nvSpPr>
          <p:cNvPr id="30" name="Text 27"/>
          <p:cNvSpPr/>
          <p:nvPr/>
        </p:nvSpPr>
        <p:spPr>
          <a:xfrm>
            <a:off x="6629400" y="1988820"/>
            <a:ext cx="4892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Write workflows triggered by pushes, pull requests, schedules and buttons</a:t>
            </a:r>
            <a:endParaRPr lang="en-US" sz="1400" dirty="0"/>
          </a:p>
        </p:txBody>
      </p:sp>
      <p:pic>
        <p:nvPicPr>
          <p:cNvPr id="31" name="Image 1" descr="CheckCircle">    </p:cNvPr>
          <p:cNvPicPr>
            <a:picLocks noChangeAspect="1"/>
          </p:cNvPicPr>
          <p:nvPr/>
        </p:nvPicPr>
        <p:blipFill>
          <a:blip r:embed="rId2"/>
          <a:srcRect l="0" r="0" t="0" b="0"/>
          <a:stretch/>
        </p:blipFill>
        <p:spPr>
          <a:xfrm>
            <a:off x="6299200" y="2613660"/>
            <a:ext cx="203200" cy="203200"/>
          </a:xfrm>
          <a:prstGeom prst="rect">
            <a:avLst/>
          </a:prstGeom>
        </p:spPr>
      </p:pic>
      <p:sp>
        <p:nvSpPr>
          <p:cNvPr id="32" name="Text 28"/>
          <p:cNvSpPr/>
          <p:nvPr/>
        </p:nvSpPr>
        <p:spPr>
          <a:xfrm>
            <a:off x="6629400" y="261366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Structure jobs with dependencies, conditions and outputs</a:t>
            </a:r>
            <a:endParaRPr lang="en-US" sz="1400" dirty="0"/>
          </a:p>
        </p:txBody>
      </p:sp>
      <p:pic>
        <p:nvPicPr>
          <p:cNvPr id="33" name="Image 2" descr="CheckCircle">    </p:cNvPr>
          <p:cNvPicPr>
            <a:picLocks noChangeAspect="1"/>
          </p:cNvPicPr>
          <p:nvPr/>
        </p:nvPicPr>
        <p:blipFill>
          <a:blip r:embed="rId3"/>
          <a:srcRect l="0" r="0" t="0" b="0"/>
          <a:stretch/>
        </p:blipFill>
        <p:spPr>
          <a:xfrm>
            <a:off x="6299200" y="2989580"/>
            <a:ext cx="203200" cy="203200"/>
          </a:xfrm>
          <a:prstGeom prst="rect">
            <a:avLst/>
          </a:prstGeom>
        </p:spPr>
      </p:pic>
      <p:sp>
        <p:nvSpPr>
          <p:cNvPr id="34" name="Text 29"/>
          <p:cNvSpPr/>
          <p:nvPr/>
        </p:nvSpPr>
        <p:spPr>
          <a:xfrm>
            <a:off x="6629400" y="298958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Use variables and secrets safely</a:t>
            </a:r>
            <a:endParaRPr lang="en-US" sz="1400" dirty="0"/>
          </a:p>
        </p:txBody>
      </p:sp>
      <p:pic>
        <p:nvPicPr>
          <p:cNvPr id="35" name="Image 3" descr="CheckCircle">    </p:cNvPr>
          <p:cNvPicPr>
            <a:picLocks noChangeAspect="1"/>
          </p:cNvPicPr>
          <p:nvPr/>
        </p:nvPicPr>
        <p:blipFill>
          <a:blip r:embed="rId4"/>
          <a:srcRect l="0" r="0" t="0" b="0"/>
          <a:stretch/>
        </p:blipFill>
        <p:spPr>
          <a:xfrm>
            <a:off x="6299200" y="3365500"/>
            <a:ext cx="203200" cy="203200"/>
          </a:xfrm>
          <a:prstGeom prst="rect">
            <a:avLst/>
          </a:prstGeom>
        </p:spPr>
      </p:pic>
      <p:sp>
        <p:nvSpPr>
          <p:cNvPr id="36" name="Text 30"/>
          <p:cNvSpPr/>
          <p:nvPr/>
        </p:nvSpPr>
        <p:spPr>
          <a:xfrm>
            <a:off x="6629400" y="336550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Speed up pipelines with matrices, caching and artifacts</a:t>
            </a:r>
            <a:endParaRPr lang="en-US" sz="1400" dirty="0"/>
          </a:p>
        </p:txBody>
      </p:sp>
      <p:pic>
        <p:nvPicPr>
          <p:cNvPr id="37" name="Image 4" descr="CheckCircle">    </p:cNvPr>
          <p:cNvPicPr>
            <a:picLocks noChangeAspect="1"/>
          </p:cNvPicPr>
          <p:nvPr/>
        </p:nvPicPr>
        <p:blipFill>
          <a:blip r:embed="rId5"/>
          <a:srcRect l="0" r="0" t="0" b="0"/>
          <a:stretch/>
        </p:blipFill>
        <p:spPr>
          <a:xfrm>
            <a:off x="6299200" y="3741420"/>
            <a:ext cx="203200" cy="203200"/>
          </a:xfrm>
          <a:prstGeom prst="rect">
            <a:avLst/>
          </a:prstGeom>
        </p:spPr>
      </p:pic>
      <p:sp>
        <p:nvSpPr>
          <p:cNvPr id="38" name="Text 31"/>
          <p:cNvSpPr/>
          <p:nvPr/>
        </p:nvSpPr>
        <p:spPr>
          <a:xfrm>
            <a:off x="6629400" y="374142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Choose runners and gate deployments with environments</a:t>
            </a:r>
            <a:endParaRPr lang="en-US" sz="1400" dirty="0"/>
          </a:p>
        </p:txBody>
      </p:sp>
      <p:sp>
        <p:nvSpPr>
          <p:cNvPr id="39" name="Text 32"/>
          <p:cNvSpPr/>
          <p:nvPr/>
        </p:nvSpPr>
        <p:spPr>
          <a:xfrm>
            <a:off x="812800" y="6238241"/>
            <a:ext cx="3624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Introduction</a:t>
            </a:r>
            <a:endParaRPr lang="en-US" sz="1200" dirty="0"/>
          </a:p>
        </p:txBody>
      </p:sp>
      <p:sp>
        <p:nvSpPr>
          <p:cNvPr id="40" name="Text 33"/>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D420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3D3"/>
                </a:solidFill>
                <a:latin typeface="IBM Plex Sans" pitchFamily="34" charset="0"/>
                <a:ea typeface="IBM Plex Sans" pitchFamily="34" charset="-122"/>
                <a:cs typeface="IBM Plex Sans" pitchFamily="34" charset="-120"/>
              </a:rPr>
              <a:t>CI/CD REFRESHER</a:t>
            </a:r>
            <a:endParaRPr lang="en-US" sz="1200" dirty="0"/>
          </a:p>
        </p:txBody>
      </p:sp>
      <p:sp>
        <p:nvSpPr>
          <p:cNvPr id="3" name="Text 1"/>
          <p:cNvSpPr/>
          <p:nvPr>
            <p:ph type="title"/>
          </p:nvPr>
        </p:nvSpPr>
        <p:spPr>
          <a:xfrm>
            <a:off x="812800" y="1153161"/>
            <a:ext cx="10883392" cy="151892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Every push, tested automatically.</a:t>
            </a:r>
            <a:endParaRPr lang="en-US" sz="5600" dirty="0"/>
          </a:p>
        </p:txBody>
      </p:sp>
      <p:sp>
        <p:nvSpPr>
          <p:cNvPr id="4" name="Text 2"/>
          <p:cNvSpPr/>
          <p:nvPr/>
        </p:nvSpPr>
        <p:spPr>
          <a:xfrm>
            <a:off x="819150" y="3552191"/>
            <a:ext cx="1173083" cy="373380"/>
          </a:xfrm>
          <a:custGeom>
            <a:avLst/>
            <a:gdLst/>
            <a:ahLst/>
            <a:cxnLst/>
            <a:rect l="l" t="t" r="r" b="b"/>
            <a:pathLst>
              <a:path w="1173083" h="373380">
                <a:moveTo>
                  <a:pt x="69850" y="0"/>
                </a:moveTo>
                <a:lnTo>
                  <a:pt x="1103233" y="0"/>
                </a:lnTo>
                <a:arcTo hR="69850" wR="69850" stAng="16200000" swAng="5400000"/>
                <a:lnTo>
                  <a:pt x="1173083" y="303530"/>
                </a:lnTo>
                <a:arcTo hR="69850" wR="69850" stAng="0" swAng="5400000"/>
                <a:lnTo>
                  <a:pt x="69850" y="373380"/>
                </a:lnTo>
                <a:arcTo hR="69850" wR="69850" stAng="5400000" swAng="5400000"/>
                <a:lnTo>
                  <a:pt x="0" y="69850"/>
                </a:lnTo>
                <a:arcTo hR="69850" wR="69850" stAng="10800000" swAng="5400000"/>
                <a:close/>
              </a:path>
            </a:pathLst>
          </a:custGeom>
          <a:noFill/>
          <a:ln w="12700">
            <a:solidFill>
              <a:srgbClr val="FFE3D3"/>
            </a:solidFill>
            <a:prstDash val="solid"/>
          </a:ln>
        </p:spPr>
        <p:txBody>
          <a:bodyPr wrap="square" lIns="29210" tIns="80010" rIns="29210" bIns="5461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commit</a:t>
            </a:r>
            <a:endParaRPr lang="en-US" sz="1200" dirty="0"/>
          </a:p>
        </p:txBody>
      </p:sp>
      <p:pic>
        <p:nvPicPr>
          <p:cNvPr id="5" name="Image 0" descr="arrow-right">    </p:cNvPr>
          <p:cNvPicPr>
            <a:picLocks noChangeAspect="1"/>
          </p:cNvPicPr>
          <p:nvPr/>
        </p:nvPicPr>
        <p:blipFill>
          <a:blip r:embed="rId1"/>
          <a:srcRect l="0" r="0" t="0" b="0"/>
          <a:stretch/>
        </p:blipFill>
        <p:spPr>
          <a:xfrm>
            <a:off x="2074783" y="3681730"/>
            <a:ext cx="228600" cy="114300"/>
          </a:xfrm>
          <a:prstGeom prst="rect">
            <a:avLst/>
          </a:prstGeom>
        </p:spPr>
      </p:pic>
      <p:sp>
        <p:nvSpPr>
          <p:cNvPr id="6" name="Text 3"/>
          <p:cNvSpPr/>
          <p:nvPr/>
        </p:nvSpPr>
        <p:spPr>
          <a:xfrm>
            <a:off x="2385933" y="3552191"/>
            <a:ext cx="1173163" cy="373380"/>
          </a:xfrm>
          <a:custGeom>
            <a:avLst/>
            <a:gdLst/>
            <a:ahLst/>
            <a:cxnLst/>
            <a:rect l="l" t="t" r="r" b="b"/>
            <a:pathLst>
              <a:path w="1173163" h="373380">
                <a:moveTo>
                  <a:pt x="69850" y="0"/>
                </a:moveTo>
                <a:lnTo>
                  <a:pt x="1103313" y="0"/>
                </a:lnTo>
                <a:arcTo hR="69850" wR="69850" stAng="16200000" swAng="5400000"/>
                <a:lnTo>
                  <a:pt x="1173163" y="303530"/>
                </a:lnTo>
                <a:arcTo hR="69850" wR="69850" stAng="0" swAng="5400000"/>
                <a:lnTo>
                  <a:pt x="69850" y="373380"/>
                </a:lnTo>
                <a:arcTo hR="69850" wR="69850" stAng="5400000" swAng="5400000"/>
                <a:lnTo>
                  <a:pt x="0" y="69850"/>
                </a:lnTo>
                <a:arcTo hR="69850" wR="69850" stAng="10800000" swAng="5400000"/>
                <a:close/>
              </a:path>
            </a:pathLst>
          </a:custGeom>
          <a:noFill/>
          <a:ln w="12700">
            <a:solidFill>
              <a:srgbClr val="FFE3D3"/>
            </a:solidFill>
            <a:prstDash val="solid"/>
          </a:ln>
        </p:spPr>
        <p:txBody>
          <a:bodyPr wrap="square" lIns="29210" tIns="80010" rIns="29210" bIns="5461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build</a:t>
            </a:r>
            <a:endParaRPr lang="en-US" sz="1200" dirty="0"/>
          </a:p>
        </p:txBody>
      </p:sp>
      <p:pic>
        <p:nvPicPr>
          <p:cNvPr id="7" name="Image 1" descr="arrow-right">    </p:cNvPr>
          <p:cNvPicPr>
            <a:picLocks noChangeAspect="1"/>
          </p:cNvPicPr>
          <p:nvPr/>
        </p:nvPicPr>
        <p:blipFill>
          <a:blip r:embed="rId2"/>
          <a:srcRect l="0" r="0" t="0" b="0"/>
          <a:stretch/>
        </p:blipFill>
        <p:spPr>
          <a:xfrm>
            <a:off x="3641646" y="3681730"/>
            <a:ext cx="228600" cy="114300"/>
          </a:xfrm>
          <a:prstGeom prst="rect">
            <a:avLst/>
          </a:prstGeom>
        </p:spPr>
      </p:pic>
      <p:sp>
        <p:nvSpPr>
          <p:cNvPr id="8" name="Text 4"/>
          <p:cNvSpPr/>
          <p:nvPr/>
        </p:nvSpPr>
        <p:spPr>
          <a:xfrm>
            <a:off x="3952796" y="3552191"/>
            <a:ext cx="1173083" cy="373380"/>
          </a:xfrm>
          <a:custGeom>
            <a:avLst/>
            <a:gdLst/>
            <a:ahLst/>
            <a:cxnLst/>
            <a:rect l="l" t="t" r="r" b="b"/>
            <a:pathLst>
              <a:path w="1173083" h="373380">
                <a:moveTo>
                  <a:pt x="69850" y="0"/>
                </a:moveTo>
                <a:lnTo>
                  <a:pt x="1103233" y="0"/>
                </a:lnTo>
                <a:arcTo hR="69850" wR="69850" stAng="16200000" swAng="5400000"/>
                <a:lnTo>
                  <a:pt x="1173083" y="303530"/>
                </a:lnTo>
                <a:arcTo hR="69850" wR="69850" stAng="0" swAng="5400000"/>
                <a:lnTo>
                  <a:pt x="69850" y="373380"/>
                </a:lnTo>
                <a:arcTo hR="69850" wR="69850" stAng="5400000" swAng="5400000"/>
                <a:lnTo>
                  <a:pt x="0" y="69850"/>
                </a:lnTo>
                <a:arcTo hR="69850" wR="69850" stAng="10800000" swAng="5400000"/>
                <a:close/>
              </a:path>
            </a:pathLst>
          </a:custGeom>
          <a:noFill/>
          <a:ln w="12700">
            <a:solidFill>
              <a:srgbClr val="FFE3D3"/>
            </a:solidFill>
            <a:prstDash val="solid"/>
          </a:ln>
        </p:spPr>
        <p:txBody>
          <a:bodyPr wrap="square" lIns="29210" tIns="80010" rIns="29210" bIns="5461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test</a:t>
            </a:r>
            <a:endParaRPr lang="en-US" sz="1200" dirty="0"/>
          </a:p>
        </p:txBody>
      </p:sp>
      <p:pic>
        <p:nvPicPr>
          <p:cNvPr id="9" name="Image 2" descr="arrow-right">    </p:cNvPr>
          <p:cNvPicPr>
            <a:picLocks noChangeAspect="1"/>
          </p:cNvPicPr>
          <p:nvPr/>
        </p:nvPicPr>
        <p:blipFill>
          <a:blip r:embed="rId3"/>
          <a:srcRect l="0" r="0" t="0" b="0"/>
          <a:stretch/>
        </p:blipFill>
        <p:spPr>
          <a:xfrm>
            <a:off x="5208429" y="3681730"/>
            <a:ext cx="228600" cy="114300"/>
          </a:xfrm>
          <a:prstGeom prst="rect">
            <a:avLst/>
          </a:prstGeom>
        </p:spPr>
      </p:pic>
      <p:sp>
        <p:nvSpPr>
          <p:cNvPr id="10" name="Text 5"/>
          <p:cNvSpPr/>
          <p:nvPr/>
        </p:nvSpPr>
        <p:spPr>
          <a:xfrm>
            <a:off x="5519579" y="3552191"/>
            <a:ext cx="1173163" cy="373380"/>
          </a:xfrm>
          <a:custGeom>
            <a:avLst/>
            <a:gdLst/>
            <a:ahLst/>
            <a:cxnLst/>
            <a:rect l="l" t="t" r="r" b="b"/>
            <a:pathLst>
              <a:path w="1173163" h="373380">
                <a:moveTo>
                  <a:pt x="69850" y="0"/>
                </a:moveTo>
                <a:lnTo>
                  <a:pt x="1103313" y="0"/>
                </a:lnTo>
                <a:arcTo hR="69850" wR="69850" stAng="16200000" swAng="5400000"/>
                <a:lnTo>
                  <a:pt x="1173163" y="303530"/>
                </a:lnTo>
                <a:arcTo hR="69850" wR="69850" stAng="0" swAng="5400000"/>
                <a:lnTo>
                  <a:pt x="69850" y="373380"/>
                </a:lnTo>
                <a:arcTo hR="69850" wR="69850" stAng="5400000" swAng="5400000"/>
                <a:lnTo>
                  <a:pt x="0" y="69850"/>
                </a:lnTo>
                <a:arcTo hR="69850" wR="69850" stAng="10800000" swAng="5400000"/>
                <a:close/>
              </a:path>
            </a:pathLst>
          </a:custGeom>
          <a:noFill/>
          <a:ln w="12700">
            <a:solidFill>
              <a:srgbClr val="FFE3D3"/>
            </a:solidFill>
            <a:prstDash val="solid"/>
          </a:ln>
        </p:spPr>
        <p:txBody>
          <a:bodyPr wrap="square" lIns="29210" tIns="80010" rIns="29210" bIns="5461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package</a:t>
            </a:r>
            <a:endParaRPr lang="en-US" sz="1200" dirty="0"/>
          </a:p>
        </p:txBody>
      </p:sp>
      <p:pic>
        <p:nvPicPr>
          <p:cNvPr id="11" name="Image 3" descr="arrow-right">    </p:cNvPr>
          <p:cNvPicPr>
            <a:picLocks noChangeAspect="1"/>
          </p:cNvPicPr>
          <p:nvPr/>
        </p:nvPicPr>
        <p:blipFill>
          <a:blip r:embed="rId4"/>
          <a:srcRect l="0" r="0" t="0" b="0"/>
          <a:stretch/>
        </p:blipFill>
        <p:spPr>
          <a:xfrm>
            <a:off x="6775291" y="3681730"/>
            <a:ext cx="228600" cy="114300"/>
          </a:xfrm>
          <a:prstGeom prst="rect">
            <a:avLst/>
          </a:prstGeom>
        </p:spPr>
      </p:pic>
      <p:sp>
        <p:nvSpPr>
          <p:cNvPr id="12" name="Text 6"/>
          <p:cNvSpPr/>
          <p:nvPr/>
        </p:nvSpPr>
        <p:spPr>
          <a:xfrm>
            <a:off x="7086441" y="3552191"/>
            <a:ext cx="1173083" cy="373380"/>
          </a:xfrm>
          <a:custGeom>
            <a:avLst/>
            <a:gdLst/>
            <a:ahLst/>
            <a:cxnLst/>
            <a:rect l="l" t="t" r="r" b="b"/>
            <a:pathLst>
              <a:path w="1173083" h="373380">
                <a:moveTo>
                  <a:pt x="69850" y="0"/>
                </a:moveTo>
                <a:lnTo>
                  <a:pt x="1103233" y="0"/>
                </a:lnTo>
                <a:arcTo hR="69850" wR="69850" stAng="16200000" swAng="5400000"/>
                <a:lnTo>
                  <a:pt x="1173083" y="303530"/>
                </a:lnTo>
                <a:arcTo hR="69850" wR="69850" stAng="0" swAng="5400000"/>
                <a:lnTo>
                  <a:pt x="69850" y="373380"/>
                </a:lnTo>
                <a:arcTo hR="69850" wR="69850" stAng="5400000" swAng="5400000"/>
                <a:lnTo>
                  <a:pt x="0" y="69850"/>
                </a:lnTo>
                <a:arcTo hR="69850" wR="69850" stAng="10800000" swAng="5400000"/>
                <a:close/>
              </a:path>
            </a:pathLst>
          </a:custGeom>
          <a:noFill/>
          <a:ln w="12700">
            <a:solidFill>
              <a:srgbClr val="FFE3D3"/>
            </a:solidFill>
            <a:prstDash val="solid"/>
          </a:ln>
        </p:spPr>
        <p:txBody>
          <a:bodyPr wrap="square" lIns="29211" tIns="80010" rIns="29209" bIns="5461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staging</a:t>
            </a:r>
            <a:endParaRPr lang="en-US" sz="1200" dirty="0"/>
          </a:p>
        </p:txBody>
      </p:sp>
      <p:pic>
        <p:nvPicPr>
          <p:cNvPr id="13" name="Image 4" descr="arrow-right">    </p:cNvPr>
          <p:cNvPicPr>
            <a:picLocks noChangeAspect="1"/>
          </p:cNvPicPr>
          <p:nvPr/>
        </p:nvPicPr>
        <p:blipFill>
          <a:blip r:embed="rId5"/>
          <a:srcRect l="0" r="0" t="0" b="0"/>
          <a:stretch/>
        </p:blipFill>
        <p:spPr>
          <a:xfrm>
            <a:off x="8342075" y="3681730"/>
            <a:ext cx="228600" cy="114300"/>
          </a:xfrm>
          <a:prstGeom prst="rect">
            <a:avLst/>
          </a:prstGeom>
        </p:spPr>
      </p:pic>
      <p:sp>
        <p:nvSpPr>
          <p:cNvPr id="14" name="Text 7"/>
          <p:cNvSpPr/>
          <p:nvPr/>
        </p:nvSpPr>
        <p:spPr>
          <a:xfrm>
            <a:off x="8653225" y="3552191"/>
            <a:ext cx="1173163" cy="373380"/>
          </a:xfrm>
          <a:custGeom>
            <a:avLst/>
            <a:gdLst/>
            <a:ahLst/>
            <a:cxnLst/>
            <a:rect l="l" t="t" r="r" b="b"/>
            <a:pathLst>
              <a:path w="1173163" h="373380">
                <a:moveTo>
                  <a:pt x="69850" y="0"/>
                </a:moveTo>
                <a:lnTo>
                  <a:pt x="1103313" y="0"/>
                </a:lnTo>
                <a:arcTo hR="69850" wR="69850" stAng="16200000" swAng="5400000"/>
                <a:lnTo>
                  <a:pt x="1173163" y="303530"/>
                </a:lnTo>
                <a:arcTo hR="69850" wR="69850" stAng="0" swAng="5400000"/>
                <a:lnTo>
                  <a:pt x="69850" y="373380"/>
                </a:lnTo>
                <a:arcTo hR="69850" wR="69850" stAng="5400000" swAng="5400000"/>
                <a:lnTo>
                  <a:pt x="0" y="69850"/>
                </a:lnTo>
                <a:arcTo hR="69850" wR="69850" stAng="10800000" swAng="5400000"/>
                <a:close/>
              </a:path>
            </a:pathLst>
          </a:custGeom>
          <a:noFill/>
          <a:ln w="12700">
            <a:solidFill>
              <a:srgbClr val="FFE3D3"/>
            </a:solidFill>
            <a:prstDash val="solid"/>
          </a:ln>
        </p:spPr>
        <p:txBody>
          <a:bodyPr wrap="square" lIns="29210" tIns="80010" rIns="29210" bIns="5461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approve</a:t>
            </a:r>
            <a:endParaRPr lang="en-US" sz="1200" dirty="0"/>
          </a:p>
        </p:txBody>
      </p:sp>
      <p:pic>
        <p:nvPicPr>
          <p:cNvPr id="15" name="Image 5" descr="arrow-right">    </p:cNvPr>
          <p:cNvPicPr>
            <a:picLocks noChangeAspect="1"/>
          </p:cNvPicPr>
          <p:nvPr/>
        </p:nvPicPr>
        <p:blipFill>
          <a:blip r:embed="rId6"/>
          <a:srcRect l="0" r="0" t="0" b="0"/>
          <a:stretch/>
        </p:blipFill>
        <p:spPr>
          <a:xfrm>
            <a:off x="9908937" y="3681730"/>
            <a:ext cx="228600" cy="114300"/>
          </a:xfrm>
          <a:prstGeom prst="rect">
            <a:avLst/>
          </a:prstGeom>
        </p:spPr>
      </p:pic>
      <p:sp>
        <p:nvSpPr>
          <p:cNvPr id="16" name="Text 8"/>
          <p:cNvSpPr/>
          <p:nvPr/>
        </p:nvSpPr>
        <p:spPr>
          <a:xfrm>
            <a:off x="10213737" y="3543300"/>
            <a:ext cx="1165463" cy="391160"/>
          </a:xfrm>
          <a:custGeom>
            <a:avLst/>
            <a:gdLst/>
            <a:ahLst/>
            <a:cxnLst/>
            <a:rect l="l" t="t" r="r" b="b"/>
            <a:pathLst>
              <a:path w="1165463" h="391160">
                <a:moveTo>
                  <a:pt x="76200" y="0"/>
                </a:moveTo>
                <a:lnTo>
                  <a:pt x="1089263" y="0"/>
                </a:lnTo>
                <a:arcTo hR="76200" wR="76200" stAng="16200000" swAng="5400000"/>
                <a:lnTo>
                  <a:pt x="1165463" y="314960"/>
                </a:lnTo>
                <a:arcTo hR="76200" wR="76200" stAng="0" swAng="5400000"/>
                <a:lnTo>
                  <a:pt x="76200" y="391160"/>
                </a:lnTo>
                <a:arcTo hR="76200" wR="76200" stAng="5400000" swAng="5400000"/>
                <a:lnTo>
                  <a:pt x="0" y="76200"/>
                </a:lnTo>
                <a:arcTo hR="76200" wR="76200" stAng="10800000" swAng="5400000"/>
                <a:close/>
              </a:path>
            </a:pathLst>
          </a:custGeom>
          <a:solidFill>
            <a:srgbClr val="F6F5F1"/>
          </a:solidFill>
          <a:ln/>
        </p:spPr>
        <p:txBody>
          <a:bodyPr wrap="square" lIns="25400" tIns="88900" rIns="25400" bIns="63500" rtlCol="0" anchor="t">
            <a:normAutofit/>
          </a:bodyPr>
          <a:lstStyle/>
          <a:p>
            <a:pPr algn="ctr"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production</a:t>
            </a:r>
            <a:endParaRPr lang="en-US" sz="1200" dirty="0"/>
          </a:p>
        </p:txBody>
      </p:sp>
      <p:sp>
        <p:nvSpPr>
          <p:cNvPr id="17" name="Shape 9"/>
          <p:cNvSpPr/>
          <p:nvPr/>
        </p:nvSpPr>
        <p:spPr>
          <a:xfrm>
            <a:off x="812800" y="4837430"/>
            <a:ext cx="3318907" cy="0"/>
          </a:xfrm>
          <a:prstGeom prst="line">
            <a:avLst/>
          </a:prstGeom>
          <a:noFill/>
          <a:ln w="12700">
            <a:solidFill>
              <a:srgbClr val="E59A73"/>
            </a:solidFill>
            <a:prstDash val="solid"/>
          </a:ln>
        </p:spPr>
      </p:sp>
      <p:sp>
        <p:nvSpPr>
          <p:cNvPr id="18" name="Text 10"/>
          <p:cNvSpPr/>
          <p:nvPr/>
        </p:nvSpPr>
        <p:spPr>
          <a:xfrm>
            <a:off x="812800" y="4993641"/>
            <a:ext cx="3418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Continuous integration</a:t>
            </a:r>
            <a:endParaRPr lang="en-US" sz="1800" dirty="0"/>
          </a:p>
        </p:txBody>
      </p:sp>
      <p:sp>
        <p:nvSpPr>
          <p:cNvPr id="19" name="Text 11"/>
          <p:cNvSpPr/>
          <p:nvPr/>
        </p:nvSpPr>
        <p:spPr>
          <a:xfrm>
            <a:off x="812800" y="5344161"/>
            <a:ext cx="34184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Every push and pull request is built and tested, so breakage shows up in minutes.</a:t>
            </a:r>
            <a:endParaRPr lang="en-US" sz="1400" dirty="0"/>
          </a:p>
        </p:txBody>
      </p:sp>
      <p:sp>
        <p:nvSpPr>
          <p:cNvPr id="20" name="Shape 12"/>
          <p:cNvSpPr/>
          <p:nvPr/>
        </p:nvSpPr>
        <p:spPr>
          <a:xfrm>
            <a:off x="4436507" y="4837430"/>
            <a:ext cx="3318986" cy="0"/>
          </a:xfrm>
          <a:prstGeom prst="line">
            <a:avLst/>
          </a:prstGeom>
          <a:noFill/>
          <a:ln w="12700">
            <a:solidFill>
              <a:srgbClr val="E59A73"/>
            </a:solidFill>
            <a:prstDash val="solid"/>
          </a:ln>
        </p:spPr>
      </p:sp>
      <p:sp>
        <p:nvSpPr>
          <p:cNvPr id="21" name="Text 13"/>
          <p:cNvSpPr/>
          <p:nvPr/>
        </p:nvSpPr>
        <p:spPr>
          <a:xfrm>
            <a:off x="4436507" y="4993641"/>
            <a:ext cx="34185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Continuous delivery</a:t>
            </a:r>
            <a:endParaRPr lang="en-US" sz="1800" dirty="0"/>
          </a:p>
        </p:txBody>
      </p:sp>
      <p:sp>
        <p:nvSpPr>
          <p:cNvPr id="22" name="Text 14"/>
          <p:cNvSpPr/>
          <p:nvPr/>
        </p:nvSpPr>
        <p:spPr>
          <a:xfrm>
            <a:off x="4436507" y="5344161"/>
            <a:ext cx="34185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Every passing change is releasable; going to production takes one approval.</a:t>
            </a:r>
            <a:endParaRPr lang="en-US" sz="1400" dirty="0"/>
          </a:p>
        </p:txBody>
      </p:sp>
      <p:sp>
        <p:nvSpPr>
          <p:cNvPr id="23" name="Shape 15"/>
          <p:cNvSpPr/>
          <p:nvPr/>
        </p:nvSpPr>
        <p:spPr>
          <a:xfrm>
            <a:off x="8060293" y="4837430"/>
            <a:ext cx="3318907" cy="0"/>
          </a:xfrm>
          <a:prstGeom prst="line">
            <a:avLst/>
          </a:prstGeom>
          <a:noFill/>
          <a:ln w="12700">
            <a:solidFill>
              <a:srgbClr val="E59A73"/>
            </a:solidFill>
            <a:prstDash val="solid"/>
          </a:ln>
        </p:spPr>
      </p:sp>
      <p:sp>
        <p:nvSpPr>
          <p:cNvPr id="24" name="Text 16"/>
          <p:cNvSpPr/>
          <p:nvPr/>
        </p:nvSpPr>
        <p:spPr>
          <a:xfrm>
            <a:off x="8060293" y="4993641"/>
            <a:ext cx="3418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Continuous deployment</a:t>
            </a:r>
            <a:endParaRPr lang="en-US" sz="1800" dirty="0"/>
          </a:p>
        </p:txBody>
      </p:sp>
      <p:sp>
        <p:nvSpPr>
          <p:cNvPr id="25" name="Text 17"/>
          <p:cNvSpPr/>
          <p:nvPr/>
        </p:nvSpPr>
        <p:spPr>
          <a:xfrm>
            <a:off x="8060293" y="5344161"/>
            <a:ext cx="34184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Every passing change goes to production automatically.</a:t>
            </a:r>
            <a:endParaRPr lang="en-US" sz="1400" dirty="0"/>
          </a:p>
        </p:txBody>
      </p:sp>
      <p:sp>
        <p:nvSpPr>
          <p:cNvPr id="26" name="Text 18"/>
          <p:cNvSpPr/>
          <p:nvPr/>
        </p:nvSpPr>
        <p:spPr>
          <a:xfrm>
            <a:off x="812800" y="6238241"/>
            <a:ext cx="38831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E3D3"/>
                </a:solidFill>
                <a:latin typeface="IBM Plex Sans" pitchFamily="34" charset="0"/>
                <a:ea typeface="IBM Plex Sans" pitchFamily="34" charset="-122"/>
                <a:cs typeface="IBM Plex Sans" pitchFamily="34" charset="-120"/>
              </a:rPr>
              <a:t>GitHub Actions Fundamentals · CI/CD refresher</a:t>
            </a:r>
            <a:endParaRPr lang="en-US" sz="1200" dirty="0"/>
          </a:p>
        </p:txBody>
      </p:sp>
      <p:sp>
        <p:nvSpPr>
          <p:cNvPr id="27" name="Text 19"/>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FE3D3"/>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Where GitHub Actions fits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2834640"/>
        </p:xfrm>
        <a:graphic>
          <a:graphicData uri="http://schemas.openxmlformats.org/drawingml/2006/table">
            <a:tbl>
              <a:tblPr/>
              <a:tblGrid>
                <a:gridCol w="1688998"/>
                <a:gridCol w="2955747"/>
                <a:gridCol w="2955747"/>
                <a:gridCol w="2955747"/>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GitHub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Jenkins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GitLab CI/CD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Runs 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Built into GitHub; hosted or your own runners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server you install and operate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Built into GitLab, hosted or self-managed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Pipeline 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YAML in .github/workflows/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Jenkinsfile (Groovy)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.gitlab-ci.yml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Marketplace actions, reusable workflows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large plugin ecosystem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Templates, includes, CI/CD components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Triggered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Any GitHub event: push, PR, issue, release, schedule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Webhooks, polling, schedules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GitLab events and schedules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Best fit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Code that lives on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Highly customized or on-premises pipelines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Code that lives on GitLab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4584700"/>
            <a:ext cx="10566400" cy="553720"/>
          </a:xfrm>
          <a:prstGeom prst="roundRect">
            <a:avLst>
              <a:gd name="adj" fmla="val 18349"/>
            </a:avLst>
          </a:prstGeom>
          <a:solidFill>
            <a:srgbClr val="FFE3D3"/>
          </a:solidFill>
          <a:ln/>
        </p:spPr>
        <p:txBody>
          <a:bodyPr wrap="square" lIns="173442" tIns="122642" rIns="0" bIns="97242" rtlCol="0" anchor="t">
            <a:normAutofit/>
          </a:bodyPr>
          <a:lstStyle/>
          <a:p>
            <a:pPr algn="l" indent="0" marL="0">
              <a:lnSpc>
                <a:spcPts val="1960"/>
              </a:lnSpc>
              <a:buNone/>
            </a:pPr>
            <a:r>
              <a:rPr lang="en-US" sz="1400" b="1" dirty="0">
                <a:solidFill>
                  <a:srgbClr val="121722"/>
                </a:solidFill>
                <a:latin typeface="IBM Plex Sans" pitchFamily="34" charset="0"/>
                <a:ea typeface="IBM Plex Sans" pitchFamily="34" charset="-122"/>
                <a:cs typeface="IBM Plex Sans" pitchFamily="34" charset="-120"/>
              </a:rPr>
              <a:t>Not only CI:</a:t>
            </a:r>
            <a:r>
              <a:rPr lang="en-US" sz="1400" dirty="0">
                <a:solidFill>
                  <a:srgbClr val="121722"/>
                </a:solidFill>
                <a:latin typeface="IBM Plex Sans" pitchFamily="34" charset="0"/>
                <a:ea typeface="IBM Plex Sans" pitchFamily="34" charset="-122"/>
                <a:cs typeface="IBM Plex Sans" pitchFamily="34" charset="-120"/>
              </a:rPr>
              <a:t> the same engine automates repository chores — labelling issues, publishing releases, updating dependencies.</a:t>
            </a:r>
            <a:endParaRPr lang="en-US" sz="1400" dirty="0"/>
          </a:p>
        </p:txBody>
      </p:sp>
      <p:sp>
        <p:nvSpPr>
          <p:cNvPr id="5" name="Text 2"/>
          <p:cNvSpPr/>
          <p:nvPr/>
        </p:nvSpPr>
        <p:spPr>
          <a:xfrm>
            <a:off x="812800" y="6238239"/>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6" name="Text 3"/>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The building blocks</a:t>
            </a:r>
            <a:endParaRPr lang="en-US" sz="3000" dirty="0"/>
          </a:p>
        </p:txBody>
      </p:sp>
      <p:sp>
        <p:nvSpPr>
          <p:cNvPr id="3" name="Text 1"/>
          <p:cNvSpPr/>
          <p:nvPr/>
        </p:nvSpPr>
        <p:spPr>
          <a:xfrm>
            <a:off x="812800" y="1536700"/>
            <a:ext cx="1209040" cy="314960"/>
          </a:xfrm>
          <a:prstGeom prst="roundRect">
            <a:avLst>
              <a:gd name="adj" fmla="val 20161"/>
            </a:avLst>
          </a:prstGeom>
          <a:solidFill>
            <a:srgbClr val="AD420E"/>
          </a:solidFill>
          <a:ln/>
        </p:spPr>
        <p:txBody>
          <a:bodyPr wrap="none" lIns="0" tIns="0" rIns="0" bIns="0" rtlCol="0" anchor="ctr">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event: push</a:t>
            </a:r>
            <a:endParaRPr lang="en-US" sz="1200" dirty="0"/>
          </a:p>
        </p:txBody>
      </p:sp>
      <p:sp>
        <p:nvSpPr>
          <p:cNvPr id="4" name="Shape 2"/>
          <p:cNvSpPr/>
          <p:nvPr/>
        </p:nvSpPr>
        <p:spPr>
          <a:xfrm>
            <a:off x="819150" y="1946911"/>
            <a:ext cx="5631180" cy="1963420"/>
          </a:xfrm>
          <a:prstGeom prst="roundRect">
            <a:avLst>
              <a:gd name="adj" fmla="val 4851"/>
            </a:avLst>
          </a:prstGeom>
          <a:solidFill>
            <a:srgbClr val="FDFCFA"/>
          </a:solidFill>
          <a:ln w="12700">
            <a:solidFill>
              <a:srgbClr val="AD420E"/>
            </a:solidFill>
            <a:prstDash val="dash"/>
          </a:ln>
        </p:spPr>
      </p:sp>
      <p:sp>
        <p:nvSpPr>
          <p:cNvPr id="5" name="Text 3"/>
          <p:cNvSpPr/>
          <p:nvPr/>
        </p:nvSpPr>
        <p:spPr>
          <a:xfrm>
            <a:off x="962660" y="2077721"/>
            <a:ext cx="55044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workflow · .github/workflows/ci.yml</a:t>
            </a:r>
            <a:endParaRPr lang="en-US" sz="1200" dirty="0"/>
          </a:p>
        </p:txBody>
      </p:sp>
      <p:sp>
        <p:nvSpPr>
          <p:cNvPr id="6" name="Shape 4"/>
          <p:cNvSpPr/>
          <p:nvPr/>
        </p:nvSpPr>
        <p:spPr>
          <a:xfrm>
            <a:off x="962660" y="2379982"/>
            <a:ext cx="2621280" cy="1399540"/>
          </a:xfrm>
          <a:prstGeom prst="roundRect">
            <a:avLst>
              <a:gd name="adj" fmla="val 5445"/>
            </a:avLst>
          </a:prstGeom>
          <a:solidFill>
            <a:srgbClr val="ECE9E2"/>
          </a:solidFill>
          <a:ln/>
        </p:spPr>
      </p:sp>
      <p:sp>
        <p:nvSpPr>
          <p:cNvPr id="7" name="Text 5"/>
          <p:cNvSpPr/>
          <p:nvPr/>
        </p:nvSpPr>
        <p:spPr>
          <a:xfrm>
            <a:off x="1076960" y="2481582"/>
            <a:ext cx="24644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job: test</a:t>
            </a:r>
            <a:endParaRPr lang="en-US" sz="1200" dirty="0"/>
          </a:p>
        </p:txBody>
      </p:sp>
      <p:sp>
        <p:nvSpPr>
          <p:cNvPr id="8" name="Text 6"/>
          <p:cNvSpPr/>
          <p:nvPr/>
        </p:nvSpPr>
        <p:spPr>
          <a:xfrm>
            <a:off x="1076960" y="2758439"/>
            <a:ext cx="24644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runner: ubuntu-latest</a:t>
            </a:r>
            <a:endParaRPr lang="en-US" sz="1200" dirty="0"/>
          </a:p>
        </p:txBody>
      </p:sp>
      <p:sp>
        <p:nvSpPr>
          <p:cNvPr id="9" name="Text 7"/>
          <p:cNvSpPr/>
          <p:nvPr/>
        </p:nvSpPr>
        <p:spPr>
          <a:xfrm>
            <a:off x="1076960" y="3035300"/>
            <a:ext cx="2392680" cy="289560"/>
          </a:xfrm>
          <a:custGeom>
            <a:avLst/>
            <a:gdLst/>
            <a:ahLst/>
            <a:cxnLst/>
            <a:rect l="l" t="t" r="r" b="b"/>
            <a:pathLst>
              <a:path w="2392680" h="289560">
                <a:moveTo>
                  <a:pt x="50800" y="0"/>
                </a:moveTo>
                <a:lnTo>
                  <a:pt x="2341880" y="0"/>
                </a:lnTo>
                <a:arcTo hR="50800" wR="50800" stAng="16200000" swAng="5400000"/>
                <a:lnTo>
                  <a:pt x="2392680" y="238760"/>
                </a:lnTo>
                <a:arcTo hR="50800" wR="50800" stAng="0" swAng="5400000"/>
                <a:lnTo>
                  <a:pt x="50800" y="289560"/>
                </a:lnTo>
                <a:arcTo hR="50800" wR="50800" stAng="5400000" swAng="5400000"/>
                <a:lnTo>
                  <a:pt x="0" y="50800"/>
                </a:lnTo>
                <a:arcTo hR="50800" wR="50800" stAng="10800000" swAng="5400000"/>
                <a:close/>
              </a:path>
            </a:pathLst>
          </a:custGeom>
          <a:solidFill>
            <a:srgbClr val="FDFCFA"/>
          </a:solidFill>
          <a:ln/>
        </p:spPr>
        <p:txBody>
          <a:bodyPr wrap="square" lIns="63500" tIns="38100" rIns="0" bIns="12700" rtlCol="0" anchor="t">
            <a:normAutofit/>
          </a:bodyPr>
          <a:lstStyle/>
          <a:p>
            <a:pPr algn="l"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uses: checkout</a:t>
            </a:r>
            <a:endParaRPr lang="en-US" sz="1200" dirty="0"/>
          </a:p>
        </p:txBody>
      </p:sp>
      <p:sp>
        <p:nvSpPr>
          <p:cNvPr id="10" name="Text 8"/>
          <p:cNvSpPr/>
          <p:nvPr/>
        </p:nvSpPr>
        <p:spPr>
          <a:xfrm>
            <a:off x="1076960" y="3388361"/>
            <a:ext cx="2392680" cy="289560"/>
          </a:xfrm>
          <a:custGeom>
            <a:avLst/>
            <a:gdLst/>
            <a:ahLst/>
            <a:cxnLst/>
            <a:rect l="l" t="t" r="r" b="b"/>
            <a:pathLst>
              <a:path w="2392680" h="289560">
                <a:moveTo>
                  <a:pt x="50800" y="0"/>
                </a:moveTo>
                <a:lnTo>
                  <a:pt x="2341880" y="0"/>
                </a:lnTo>
                <a:arcTo hR="50800" wR="50800" stAng="16200000" swAng="5400000"/>
                <a:lnTo>
                  <a:pt x="2392680" y="238760"/>
                </a:lnTo>
                <a:arcTo hR="50800" wR="50800" stAng="0" swAng="5400000"/>
                <a:lnTo>
                  <a:pt x="50800" y="289560"/>
                </a:lnTo>
                <a:arcTo hR="50800" wR="50800" stAng="5400000" swAng="5400000"/>
                <a:lnTo>
                  <a:pt x="0" y="50800"/>
                </a:lnTo>
                <a:arcTo hR="50800" wR="50800" stAng="10800000" swAng="5400000"/>
                <a:close/>
              </a:path>
            </a:pathLst>
          </a:custGeom>
          <a:solidFill>
            <a:srgbClr val="FDFCFA"/>
          </a:solidFill>
          <a:ln/>
        </p:spPr>
        <p:txBody>
          <a:bodyPr wrap="square" lIns="63500" tIns="38100" rIns="0" bIns="12700" rtlCol="0" anchor="t">
            <a:normAutofit/>
          </a:bodyPr>
          <a:lstStyle/>
          <a:p>
            <a:pPr algn="l"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run: npm test</a:t>
            </a:r>
            <a:endParaRPr lang="en-US" sz="1200" dirty="0"/>
          </a:p>
        </p:txBody>
      </p:sp>
      <p:sp>
        <p:nvSpPr>
          <p:cNvPr id="11" name="Shape 9"/>
          <p:cNvSpPr/>
          <p:nvPr/>
        </p:nvSpPr>
        <p:spPr>
          <a:xfrm>
            <a:off x="3685540" y="2379982"/>
            <a:ext cx="2621280" cy="1399540"/>
          </a:xfrm>
          <a:prstGeom prst="roundRect">
            <a:avLst>
              <a:gd name="adj" fmla="val 5445"/>
            </a:avLst>
          </a:prstGeom>
          <a:solidFill>
            <a:srgbClr val="ECE9E2"/>
          </a:solidFill>
          <a:ln/>
        </p:spPr>
      </p:sp>
      <p:sp>
        <p:nvSpPr>
          <p:cNvPr id="12" name="Text 10"/>
          <p:cNvSpPr/>
          <p:nvPr/>
        </p:nvSpPr>
        <p:spPr>
          <a:xfrm>
            <a:off x="3799840" y="2481582"/>
            <a:ext cx="24644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job: lint</a:t>
            </a:r>
            <a:endParaRPr lang="en-US" sz="1200" dirty="0"/>
          </a:p>
        </p:txBody>
      </p:sp>
      <p:sp>
        <p:nvSpPr>
          <p:cNvPr id="13" name="Text 11"/>
          <p:cNvSpPr/>
          <p:nvPr/>
        </p:nvSpPr>
        <p:spPr>
          <a:xfrm>
            <a:off x="3799840" y="2758439"/>
            <a:ext cx="24644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runner: ubuntu-latest</a:t>
            </a:r>
            <a:endParaRPr lang="en-US" sz="1200" dirty="0"/>
          </a:p>
        </p:txBody>
      </p:sp>
      <p:sp>
        <p:nvSpPr>
          <p:cNvPr id="14" name="Text 12"/>
          <p:cNvSpPr/>
          <p:nvPr/>
        </p:nvSpPr>
        <p:spPr>
          <a:xfrm>
            <a:off x="3799840" y="3035300"/>
            <a:ext cx="2392680" cy="289560"/>
          </a:xfrm>
          <a:custGeom>
            <a:avLst/>
            <a:gdLst/>
            <a:ahLst/>
            <a:cxnLst/>
            <a:rect l="l" t="t" r="r" b="b"/>
            <a:pathLst>
              <a:path w="2392680" h="289560">
                <a:moveTo>
                  <a:pt x="50800" y="0"/>
                </a:moveTo>
                <a:lnTo>
                  <a:pt x="2341880" y="0"/>
                </a:lnTo>
                <a:arcTo hR="50800" wR="50800" stAng="16200000" swAng="5400000"/>
                <a:lnTo>
                  <a:pt x="2392680" y="238760"/>
                </a:lnTo>
                <a:arcTo hR="50800" wR="50800" stAng="0" swAng="5400000"/>
                <a:lnTo>
                  <a:pt x="50800" y="289560"/>
                </a:lnTo>
                <a:arcTo hR="50800" wR="50800" stAng="5400000" swAng="5400000"/>
                <a:lnTo>
                  <a:pt x="0" y="50800"/>
                </a:lnTo>
                <a:arcTo hR="50800" wR="50800" stAng="10800000" swAng="5400000"/>
                <a:close/>
              </a:path>
            </a:pathLst>
          </a:custGeom>
          <a:solidFill>
            <a:srgbClr val="FDFCFA"/>
          </a:solidFill>
          <a:ln/>
        </p:spPr>
        <p:txBody>
          <a:bodyPr wrap="square" lIns="63500" tIns="38100" rIns="0" bIns="12700" rtlCol="0" anchor="t">
            <a:normAutofit/>
          </a:bodyPr>
          <a:lstStyle/>
          <a:p>
            <a:pPr algn="l"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uses: checkout</a:t>
            </a:r>
            <a:endParaRPr lang="en-US" sz="1200" dirty="0"/>
          </a:p>
        </p:txBody>
      </p:sp>
      <p:sp>
        <p:nvSpPr>
          <p:cNvPr id="15" name="Text 13"/>
          <p:cNvSpPr/>
          <p:nvPr/>
        </p:nvSpPr>
        <p:spPr>
          <a:xfrm>
            <a:off x="3799840" y="3388361"/>
            <a:ext cx="2392680" cy="289560"/>
          </a:xfrm>
          <a:custGeom>
            <a:avLst/>
            <a:gdLst/>
            <a:ahLst/>
            <a:cxnLst/>
            <a:rect l="l" t="t" r="r" b="b"/>
            <a:pathLst>
              <a:path w="2392680" h="289560">
                <a:moveTo>
                  <a:pt x="50800" y="0"/>
                </a:moveTo>
                <a:lnTo>
                  <a:pt x="2341880" y="0"/>
                </a:lnTo>
                <a:arcTo hR="50800" wR="50800" stAng="16200000" swAng="5400000"/>
                <a:lnTo>
                  <a:pt x="2392680" y="238760"/>
                </a:lnTo>
                <a:arcTo hR="50800" wR="50800" stAng="0" swAng="5400000"/>
                <a:lnTo>
                  <a:pt x="50800" y="289560"/>
                </a:lnTo>
                <a:arcTo hR="50800" wR="50800" stAng="5400000" swAng="5400000"/>
                <a:lnTo>
                  <a:pt x="0" y="50800"/>
                </a:lnTo>
                <a:arcTo hR="50800" wR="50800" stAng="10800000" swAng="5400000"/>
                <a:close/>
              </a:path>
            </a:pathLst>
          </a:custGeom>
          <a:solidFill>
            <a:srgbClr val="FDFCFA"/>
          </a:solidFill>
          <a:ln/>
        </p:spPr>
        <p:txBody>
          <a:bodyPr wrap="square" lIns="63500" tIns="38100" rIns="0" bIns="12700" rtlCol="0" anchor="t">
            <a:normAutofit/>
          </a:bodyPr>
          <a:lstStyle/>
          <a:p>
            <a:pPr algn="l"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run: npm run lint</a:t>
            </a:r>
            <a:endParaRPr lang="en-US" sz="1200" dirty="0"/>
          </a:p>
        </p:txBody>
      </p:sp>
      <p:sp>
        <p:nvSpPr>
          <p:cNvPr id="16" name="Shape 14"/>
          <p:cNvSpPr/>
          <p:nvPr/>
        </p:nvSpPr>
        <p:spPr>
          <a:xfrm>
            <a:off x="6761480" y="2117725"/>
            <a:ext cx="4617720" cy="0"/>
          </a:xfrm>
          <a:prstGeom prst="line">
            <a:avLst/>
          </a:prstGeom>
          <a:noFill/>
          <a:ln w="6350">
            <a:solidFill>
              <a:srgbClr val="E2DED5"/>
            </a:solidFill>
            <a:prstDash val="solid"/>
          </a:ln>
        </p:spPr>
      </p:sp>
      <p:sp>
        <p:nvSpPr>
          <p:cNvPr id="17" name="Text 15"/>
          <p:cNvSpPr/>
          <p:nvPr/>
        </p:nvSpPr>
        <p:spPr>
          <a:xfrm>
            <a:off x="6761480" y="1612900"/>
            <a:ext cx="8763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Event</a:t>
            </a:r>
            <a:endParaRPr lang="en-US" sz="1200" dirty="0"/>
          </a:p>
        </p:txBody>
      </p:sp>
      <p:sp>
        <p:nvSpPr>
          <p:cNvPr id="18" name="Text 16"/>
          <p:cNvSpPr/>
          <p:nvPr/>
        </p:nvSpPr>
        <p:spPr>
          <a:xfrm>
            <a:off x="7713980" y="1612900"/>
            <a:ext cx="37751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Something that happens in the repo and starts a workflow</a:t>
            </a:r>
            <a:endParaRPr lang="en-US" sz="1200" dirty="0"/>
          </a:p>
        </p:txBody>
      </p:sp>
      <p:sp>
        <p:nvSpPr>
          <p:cNvPr id="19" name="Shape 17"/>
          <p:cNvSpPr/>
          <p:nvPr/>
        </p:nvSpPr>
        <p:spPr>
          <a:xfrm>
            <a:off x="6761480" y="2488565"/>
            <a:ext cx="4617720" cy="0"/>
          </a:xfrm>
          <a:prstGeom prst="line">
            <a:avLst/>
          </a:prstGeom>
          <a:noFill/>
          <a:ln w="6350">
            <a:solidFill>
              <a:srgbClr val="E2DED5"/>
            </a:solidFill>
            <a:prstDash val="solid"/>
          </a:ln>
        </p:spPr>
      </p:sp>
      <p:sp>
        <p:nvSpPr>
          <p:cNvPr id="20" name="Text 18"/>
          <p:cNvSpPr/>
          <p:nvPr/>
        </p:nvSpPr>
        <p:spPr>
          <a:xfrm>
            <a:off x="6761480" y="2197100"/>
            <a:ext cx="876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Workflow</a:t>
            </a:r>
            <a:endParaRPr lang="en-US" sz="1200" dirty="0"/>
          </a:p>
        </p:txBody>
      </p:sp>
      <p:sp>
        <p:nvSpPr>
          <p:cNvPr id="21" name="Text 19"/>
          <p:cNvSpPr/>
          <p:nvPr/>
        </p:nvSpPr>
        <p:spPr>
          <a:xfrm>
            <a:off x="7713980" y="2197100"/>
            <a:ext cx="37751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An automated process, defined in one YAML file</a:t>
            </a:r>
            <a:endParaRPr lang="en-US" sz="1200" dirty="0"/>
          </a:p>
        </p:txBody>
      </p:sp>
      <p:sp>
        <p:nvSpPr>
          <p:cNvPr id="22" name="Shape 20"/>
          <p:cNvSpPr/>
          <p:nvPr/>
        </p:nvSpPr>
        <p:spPr>
          <a:xfrm>
            <a:off x="6761480" y="3072764"/>
            <a:ext cx="4617720" cy="0"/>
          </a:xfrm>
          <a:prstGeom prst="line">
            <a:avLst/>
          </a:prstGeom>
          <a:noFill/>
          <a:ln w="6350">
            <a:solidFill>
              <a:srgbClr val="E2DED5"/>
            </a:solidFill>
            <a:prstDash val="solid"/>
          </a:ln>
        </p:spPr>
      </p:sp>
      <p:sp>
        <p:nvSpPr>
          <p:cNvPr id="23" name="Text 21"/>
          <p:cNvSpPr/>
          <p:nvPr/>
        </p:nvSpPr>
        <p:spPr>
          <a:xfrm>
            <a:off x="6761480" y="2567939"/>
            <a:ext cx="8763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Job</a:t>
            </a:r>
            <a:endParaRPr lang="en-US" sz="1200" dirty="0"/>
          </a:p>
        </p:txBody>
      </p:sp>
      <p:sp>
        <p:nvSpPr>
          <p:cNvPr id="24" name="Text 22"/>
          <p:cNvSpPr/>
          <p:nvPr/>
        </p:nvSpPr>
        <p:spPr>
          <a:xfrm>
            <a:off x="7713980" y="2567939"/>
            <a:ext cx="37751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Steps that run on one runner; jobs run in parallel by default</a:t>
            </a:r>
            <a:endParaRPr lang="en-US" sz="1200" dirty="0"/>
          </a:p>
        </p:txBody>
      </p:sp>
      <p:sp>
        <p:nvSpPr>
          <p:cNvPr id="25" name="Shape 23"/>
          <p:cNvSpPr/>
          <p:nvPr/>
        </p:nvSpPr>
        <p:spPr>
          <a:xfrm>
            <a:off x="6761480" y="3656964"/>
            <a:ext cx="4617720" cy="0"/>
          </a:xfrm>
          <a:prstGeom prst="line">
            <a:avLst/>
          </a:prstGeom>
          <a:noFill/>
          <a:ln w="6350">
            <a:solidFill>
              <a:srgbClr val="E2DED5"/>
            </a:solidFill>
            <a:prstDash val="solid"/>
          </a:ln>
        </p:spPr>
      </p:sp>
      <p:sp>
        <p:nvSpPr>
          <p:cNvPr id="26" name="Text 24"/>
          <p:cNvSpPr/>
          <p:nvPr/>
        </p:nvSpPr>
        <p:spPr>
          <a:xfrm>
            <a:off x="6761480" y="3152139"/>
            <a:ext cx="8763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Step</a:t>
            </a:r>
            <a:endParaRPr lang="en-US" sz="1200" dirty="0"/>
          </a:p>
        </p:txBody>
      </p:sp>
      <p:sp>
        <p:nvSpPr>
          <p:cNvPr id="27" name="Text 25"/>
          <p:cNvSpPr/>
          <p:nvPr/>
        </p:nvSpPr>
        <p:spPr>
          <a:xfrm>
            <a:off x="7713980" y="3152139"/>
            <a:ext cx="37751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shell command or an action; steps run in order and share files</a:t>
            </a:r>
            <a:endParaRPr lang="en-US" sz="1200" dirty="0"/>
          </a:p>
        </p:txBody>
      </p:sp>
      <p:sp>
        <p:nvSpPr>
          <p:cNvPr id="28" name="Shape 26"/>
          <p:cNvSpPr/>
          <p:nvPr/>
        </p:nvSpPr>
        <p:spPr>
          <a:xfrm>
            <a:off x="6761480" y="4027804"/>
            <a:ext cx="4617720" cy="0"/>
          </a:xfrm>
          <a:prstGeom prst="line">
            <a:avLst/>
          </a:prstGeom>
          <a:noFill/>
          <a:ln w="6350">
            <a:solidFill>
              <a:srgbClr val="E2DED5"/>
            </a:solidFill>
            <a:prstDash val="solid"/>
          </a:ln>
        </p:spPr>
      </p:sp>
      <p:sp>
        <p:nvSpPr>
          <p:cNvPr id="29" name="Text 27"/>
          <p:cNvSpPr/>
          <p:nvPr/>
        </p:nvSpPr>
        <p:spPr>
          <a:xfrm>
            <a:off x="6761480" y="3736339"/>
            <a:ext cx="876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Action</a:t>
            </a:r>
            <a:endParaRPr lang="en-US" sz="1200" dirty="0"/>
          </a:p>
        </p:txBody>
      </p:sp>
      <p:sp>
        <p:nvSpPr>
          <p:cNvPr id="30" name="Text 28"/>
          <p:cNvSpPr/>
          <p:nvPr/>
        </p:nvSpPr>
        <p:spPr>
          <a:xfrm>
            <a:off x="7713980" y="3736339"/>
            <a:ext cx="37751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reusable unit of work, such as actions/checkout</a:t>
            </a:r>
            <a:endParaRPr lang="en-US" sz="1200" dirty="0"/>
          </a:p>
        </p:txBody>
      </p:sp>
      <p:sp>
        <p:nvSpPr>
          <p:cNvPr id="31" name="Shape 29"/>
          <p:cNvSpPr/>
          <p:nvPr/>
        </p:nvSpPr>
        <p:spPr>
          <a:xfrm>
            <a:off x="6761480" y="4612007"/>
            <a:ext cx="4617720" cy="0"/>
          </a:xfrm>
          <a:prstGeom prst="line">
            <a:avLst/>
          </a:prstGeom>
          <a:noFill/>
          <a:ln w="6350">
            <a:solidFill>
              <a:srgbClr val="E2DED5"/>
            </a:solidFill>
            <a:prstDash val="solid"/>
          </a:ln>
        </p:spPr>
      </p:sp>
      <p:sp>
        <p:nvSpPr>
          <p:cNvPr id="32" name="Text 30"/>
          <p:cNvSpPr/>
          <p:nvPr/>
        </p:nvSpPr>
        <p:spPr>
          <a:xfrm>
            <a:off x="6761480" y="4107182"/>
            <a:ext cx="8763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Runner</a:t>
            </a:r>
            <a:endParaRPr lang="en-US" sz="1200" dirty="0"/>
          </a:p>
        </p:txBody>
      </p:sp>
      <p:sp>
        <p:nvSpPr>
          <p:cNvPr id="33" name="Text 31"/>
          <p:cNvSpPr/>
          <p:nvPr/>
        </p:nvSpPr>
        <p:spPr>
          <a:xfrm>
            <a:off x="7713980" y="4107182"/>
            <a:ext cx="37751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machine that runs a job: GitHub-hosted or self-hosted</a:t>
            </a:r>
            <a:endParaRPr lang="en-US" sz="1200" dirty="0"/>
          </a:p>
        </p:txBody>
      </p:sp>
      <p:sp>
        <p:nvSpPr>
          <p:cNvPr id="34" name="Text 32"/>
          <p:cNvSpPr/>
          <p:nvPr/>
        </p:nvSpPr>
        <p:spPr>
          <a:xfrm>
            <a:off x="812800" y="6238239"/>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35" name="Text 33"/>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Anatomy of a workflow file</a:t>
            </a:r>
            <a:endParaRPr lang="en-US" sz="3000" dirty="0"/>
          </a:p>
        </p:txBody>
      </p:sp>
      <p:sp>
        <p:nvSpPr>
          <p:cNvPr id="3" name="Text 1"/>
          <p:cNvSpPr/>
          <p:nvPr/>
        </p:nvSpPr>
        <p:spPr>
          <a:xfrm>
            <a:off x="812800" y="1536700"/>
            <a:ext cx="6572250" cy="3891280"/>
          </a:xfrm>
          <a:prstGeom prst="roundRect">
            <a:avLst>
              <a:gd name="adj" fmla="val 2611"/>
            </a:avLst>
          </a:prstGeom>
          <a:solidFill>
            <a:srgbClr val="161B26"/>
          </a:solidFill>
          <a:ln/>
        </p:spPr>
        <p:txBody>
          <a:bodyPr wrap="none" lIns="224242" tIns="148042" rIns="42315" bIns="122642" rtlCol="0" anchor="t">
            <a:normAutofit/>
          </a:bodyPr>
          <a:lstStyle/>
          <a:p>
            <a:pPr algn="l" indent="0" marL="0">
              <a:lnSpc>
                <a:spcPts val="1740"/>
              </a:lnSpc>
              <a:buNone/>
            </a:pPr>
            <a:r>
              <a:rPr lang="en-US" sz="1200" dirty="0">
                <a:solidFill>
                  <a:srgbClr val="FFA06A"/>
                </a:solidFill>
                <a:latin typeface="JetBrains Mono" pitchFamily="49" charset="0"/>
                <a:ea typeface="JetBrains Mono" pitchFamily="49" charset="-122"/>
                <a:cs typeface="JetBrains Mono" pitchFamily="49" charset="-120"/>
              </a:rPr>
              <a:t>name:</a:t>
            </a:r>
            <a:r>
              <a:rPr lang="en-US" sz="1200" dirty="0">
                <a:solidFill>
                  <a:srgbClr val="E4E7EC"/>
                </a:solidFill>
                <a:latin typeface="JetBrains Mono" pitchFamily="49" charset="0"/>
                <a:ea typeface="JetBrains Mono" pitchFamily="49" charset="-122"/>
                <a:cs typeface="JetBrains Mono" pitchFamily="49" charset="-120"/>
              </a:rPr>
              <a:t> CI                        </a:t>
            </a:r>
            <a:r>
              <a:rPr lang="en-US" sz="1200" dirty="0">
                <a:solidFill>
                  <a:srgbClr val="8C95A5"/>
                </a:solidFill>
                <a:latin typeface="JetBrains Mono" pitchFamily="49" charset="0"/>
                <a:ea typeface="JetBrains Mono" pitchFamily="49" charset="-122"/>
                <a:cs typeface="JetBrains Mono" pitchFamily="49" charset="-120"/>
              </a:rPr>
              <a:t># shown in the Actions tab</a:t>
            </a:r>
            <a:endParaRPr lang="en-US" sz="1200" dirty="0"/>
          </a:p>
          <a:p>
            <a:pPr algn="l" indent="0" marL="0">
              <a:lnSpc>
                <a:spcPts val="1740"/>
              </a:lnSpc>
              <a:buNone/>
            </a:pPr>
            <a:r>
              <a:rPr lang="en-US" sz="1200" dirty="0">
                <a:solidFill>
                  <a:srgbClr val="FFA06A"/>
                </a:solidFill>
                <a:latin typeface="JetBrains Mono" pitchFamily="49" charset="0"/>
                <a:ea typeface="JetBrains Mono" pitchFamily="49" charset="-122"/>
                <a:cs typeface="JetBrains Mono" pitchFamily="49" charset="-120"/>
              </a:rPr>
              <a:t>on:</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triggers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push: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branches: [main]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pull_request:</a:t>
            </a:r>
            <a:endParaRPr lang="en-US" sz="1200" dirty="0"/>
          </a:p>
          <a:p>
            <a:pPr algn="l" indent="0" marL="0">
              <a:lnSpc>
                <a:spcPts val="1740"/>
              </a:lnSpc>
              <a:buNone/>
            </a:pPr>
            <a:r>
              <a:rPr lang="en-US" sz="1200" dirty="0">
                <a:solidFill>
                  <a:srgbClr val="FFA06A"/>
                </a:solidFill>
                <a:latin typeface="JetBrains Mono" pitchFamily="49" charset="0"/>
                <a:ea typeface="JetBrains Mono" pitchFamily="49" charset="-122"/>
                <a:cs typeface="JetBrains Mono" pitchFamily="49" charset="-120"/>
              </a:rPr>
              <a:t>permissions:</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what GITHUB_TOKEN may do</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contents: read</a:t>
            </a:r>
            <a:endParaRPr lang="en-US" sz="1200" dirty="0"/>
          </a:p>
          <a:p>
            <a:pPr algn="l" indent="0" marL="0">
              <a:lnSpc>
                <a:spcPts val="1740"/>
              </a:lnSpc>
              <a:buNone/>
            </a:pPr>
            <a:r>
              <a:rPr lang="en-US" sz="1200" dirty="0">
                <a:solidFill>
                  <a:srgbClr val="FFA06A"/>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test:                         </a:t>
            </a:r>
            <a:r>
              <a:rPr lang="en-US" sz="1200" dirty="0">
                <a:solidFill>
                  <a:srgbClr val="8C95A5"/>
                </a:solidFill>
                <a:latin typeface="JetBrains Mono" pitchFamily="49" charset="0"/>
                <a:ea typeface="JetBrains Mono" pitchFamily="49" charset="-122"/>
                <a:cs typeface="JetBrains Mono" pitchFamily="49" charset="-120"/>
              </a:rPr>
              <a:t># job id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      </a:t>
            </a:r>
            <a:r>
              <a:rPr lang="en-US" sz="1200" dirty="0">
                <a:solidFill>
                  <a:srgbClr val="8C95A5"/>
                </a:solidFill>
                <a:latin typeface="JetBrains Mono" pitchFamily="49" charset="0"/>
                <a:ea typeface="JetBrains Mono" pitchFamily="49" charset="-122"/>
                <a:cs typeface="JetBrains Mono" pitchFamily="49" charset="-120"/>
              </a:rPr>
              <a:t># runner label</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actions/checkout@v7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Run tests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npm ci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npm test</a:t>
            </a:r>
            <a:endParaRPr lang="en-US" sz="1200" dirty="0"/>
          </a:p>
        </p:txBody>
      </p:sp>
      <p:sp>
        <p:nvSpPr>
          <p:cNvPr id="4" name="Text 2"/>
          <p:cNvSpPr/>
          <p:nvPr/>
        </p:nvSpPr>
        <p:spPr>
          <a:xfrm>
            <a:off x="7740650" y="1536700"/>
            <a:ext cx="37477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Files live in </a:t>
            </a:r>
            <a:r>
              <a:rPr lang="en-US" sz="1400" b="1" dirty="0">
                <a:solidFill>
                  <a:srgbClr val="2B3240"/>
                </a:solidFill>
                <a:latin typeface="IBM Plex Sans" pitchFamily="34" charset="0"/>
                <a:ea typeface="IBM Plex Sans" pitchFamily="34" charset="-122"/>
                <a:cs typeface="IBM Plex Sans" pitchFamily="34" charset="-120"/>
              </a:rPr>
              <a:t>.github/workflows/</a:t>
            </a:r>
            <a:r>
              <a:rPr lang="en-US" sz="1400" dirty="0">
                <a:solidFill>
                  <a:srgbClr val="2B3240"/>
                </a:solidFill>
                <a:latin typeface="IBM Plex Sans" pitchFamily="34" charset="0"/>
                <a:ea typeface="IBM Plex Sans" pitchFamily="34" charset="-122"/>
                <a:cs typeface="IBM Plex Sans" pitchFamily="34" charset="-120"/>
              </a:rPr>
              <a:t> and end in .yml or .yaml.</a:t>
            </a:r>
            <a:endParaRPr lang="en-US" sz="1400" dirty="0"/>
          </a:p>
        </p:txBody>
      </p:sp>
      <p:sp>
        <p:nvSpPr>
          <p:cNvPr id="5" name="Text 3"/>
          <p:cNvSpPr/>
          <p:nvPr/>
        </p:nvSpPr>
        <p:spPr>
          <a:xfrm>
            <a:off x="7740650" y="2174239"/>
            <a:ext cx="37477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Indentation is structure: </a:t>
            </a:r>
            <a:r>
              <a:rPr lang="en-US" sz="1400" b="1" dirty="0">
                <a:solidFill>
                  <a:srgbClr val="2B3240"/>
                </a:solidFill>
                <a:latin typeface="IBM Plex Sans" pitchFamily="34" charset="0"/>
                <a:ea typeface="IBM Plex Sans" pitchFamily="34" charset="-122"/>
                <a:cs typeface="IBM Plex Sans" pitchFamily="34" charset="-120"/>
              </a:rPr>
              <a:t>spaces only</a:t>
            </a:r>
            <a:r>
              <a:rPr lang="en-US" sz="1400" dirty="0">
                <a:solidFill>
                  <a:srgbClr val="2B3240"/>
                </a:solidFill>
                <a:latin typeface="IBM Plex Sans" pitchFamily="34" charset="0"/>
                <a:ea typeface="IBM Plex Sans" pitchFamily="34" charset="-122"/>
                <a:cs typeface="IBM Plex Sans" pitchFamily="34" charset="-120"/>
              </a:rPr>
              <a:t>, never tabs.</a:t>
            </a:r>
            <a:endParaRPr lang="en-US" sz="1400" dirty="0"/>
          </a:p>
        </p:txBody>
      </p:sp>
      <p:sp>
        <p:nvSpPr>
          <p:cNvPr id="6" name="Text 4"/>
          <p:cNvSpPr/>
          <p:nvPr/>
        </p:nvSpPr>
        <p:spPr>
          <a:xfrm>
            <a:off x="7740650" y="2811782"/>
            <a:ext cx="374770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a:t>
            </a:r>
            <a:r>
              <a:rPr lang="en-US" sz="1400" dirty="0">
                <a:solidFill>
                  <a:srgbClr val="2B3240"/>
                </a:solidFill>
                <a:latin typeface="IBM Plex Sans" pitchFamily="34" charset="0"/>
                <a:ea typeface="IBM Plex Sans" pitchFamily="34" charset="-122"/>
                <a:cs typeface="IBM Plex Sans" pitchFamily="34" charset="-120"/>
              </a:rPr>
              <a:t> starts a multi-line string — a small shell script per step.</a:t>
            </a:r>
            <a:endParaRPr lang="en-US" sz="1400" dirty="0"/>
          </a:p>
        </p:txBody>
      </p:sp>
      <p:sp>
        <p:nvSpPr>
          <p:cNvPr id="7" name="Text 5"/>
          <p:cNvSpPr/>
          <p:nvPr/>
        </p:nvSpPr>
        <p:spPr>
          <a:xfrm>
            <a:off x="7740650" y="3449321"/>
            <a:ext cx="37477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Lists use a leading dash, or brackets inline: [main, dev].</a:t>
            </a:r>
            <a:endParaRPr lang="en-US" sz="1400" dirty="0"/>
          </a:p>
        </p:txBody>
      </p:sp>
      <p:sp>
        <p:nvSpPr>
          <p:cNvPr id="8" name="Text 6"/>
          <p:cNvSpPr/>
          <p:nvPr/>
        </p:nvSpPr>
        <p:spPr>
          <a:xfrm>
            <a:off x="7740650" y="4086861"/>
            <a:ext cx="37477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A typo in YAML fails the whole workflow, and the Actions tab shows where.</a:t>
            </a:r>
            <a:endParaRPr lang="en-US" sz="1400" dirty="0"/>
          </a:p>
        </p:txBody>
      </p:sp>
      <p:sp>
        <p:nvSpPr>
          <p:cNvPr id="9" name="Text 7"/>
          <p:cNvSpPr/>
          <p:nvPr/>
        </p:nvSpPr>
        <p:spPr>
          <a:xfrm>
            <a:off x="812800" y="6238239"/>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10" name="Text 8"/>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Triggers: push, PRs, schedules and buttons</a:t>
            </a:r>
            <a:endParaRPr lang="en-US" sz="3000" dirty="0"/>
          </a:p>
        </p:txBody>
      </p:sp>
      <p:sp>
        <p:nvSpPr>
          <p:cNvPr id="3" name="Text 1"/>
          <p:cNvSpPr/>
          <p:nvPr/>
        </p:nvSpPr>
        <p:spPr>
          <a:xfrm>
            <a:off x="812800" y="1536700"/>
            <a:ext cx="5604510" cy="3449320"/>
          </a:xfrm>
          <a:prstGeom prst="roundRect">
            <a:avLst>
              <a:gd name="adj" fmla="val 2946"/>
            </a:avLst>
          </a:prstGeom>
          <a:solidFill>
            <a:srgbClr val="161B26"/>
          </a:solidFill>
          <a:ln/>
        </p:spPr>
        <p:txBody>
          <a:bodyPr wrap="none" lIns="198842" tIns="148042" rIns="44423"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push: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pull_request: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types: [opened, synchronize, reopened]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schedule: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cron: "30 2 * * *"        </a:t>
            </a:r>
            <a:r>
              <a:rPr lang="en-US" sz="1200" dirty="0">
                <a:solidFill>
                  <a:srgbClr val="8C95A5"/>
                </a:solidFill>
                <a:latin typeface="JetBrains Mono" pitchFamily="49" charset="0"/>
                <a:ea typeface="JetBrains Mono" pitchFamily="49" charset="-122"/>
                <a:cs typeface="JetBrains Mono" pitchFamily="49" charset="-120"/>
              </a:rPr>
              <a:t># 02:30 every day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timezone: "Asia/Kolkata"  </a:t>
            </a:r>
            <a:r>
              <a:rPr lang="en-US" sz="1200" dirty="0">
                <a:solidFill>
                  <a:srgbClr val="8C95A5"/>
                </a:solidFill>
                <a:latin typeface="JetBrains Mono" pitchFamily="49" charset="0"/>
                <a:ea typeface="JetBrains Mono" pitchFamily="49" charset="-122"/>
                <a:cs typeface="JetBrains Mono" pitchFamily="49" charset="-120"/>
              </a:rPr>
              <a:t># default: UTC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workflow_dispatch:</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manual button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inputs: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environment: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type: choice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options: [staging, production]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release: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types: [published]</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732270" y="1546860"/>
          <a:ext cx="4646930" cy="1981200"/>
        </p:xfrm>
        <a:graphic>
          <a:graphicData uri="http://schemas.openxmlformats.org/drawingml/2006/table">
            <a:tbl>
              <a:tblPr/>
              <a:tblGrid>
                <a:gridCol w="2044649"/>
                <a:gridCol w="2602281"/>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Event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Typical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CI on every commit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pull_request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Checks before merging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schedule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Nightly builds, scans, 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workflow_dispatch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Manual deploys and chores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Publish when a release is cut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6722110" y="3655061"/>
            <a:ext cx="4796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Schedules run on the </a:t>
            </a:r>
            <a:r>
              <a:rPr lang="en-US" sz="1200" b="1" dirty="0">
                <a:solidFill>
                  <a:srgbClr val="2B3240"/>
                </a:solidFill>
                <a:latin typeface="IBM Plex Sans" pitchFamily="34" charset="0"/>
                <a:ea typeface="IBM Plex Sans" pitchFamily="34" charset="-122"/>
                <a:cs typeface="IBM Plex Sans" pitchFamily="34" charset="-120"/>
              </a:rPr>
              <a:t>default branch</a:t>
            </a:r>
            <a:r>
              <a:rPr lang="en-US" sz="1200" dirty="0">
                <a:solidFill>
                  <a:srgbClr val="2B3240"/>
                </a:solidFill>
                <a:latin typeface="IBM Plex Sans" pitchFamily="34" charset="0"/>
                <a:ea typeface="IBM Plex Sans" pitchFamily="34" charset="-122"/>
                <a:cs typeface="IBM Plex Sans" pitchFamily="34" charset="-120"/>
              </a:rPr>
              <a:t>, use UTC unless you set a time zone, and may start late when GitHub is busy.</a:t>
            </a:r>
            <a:endParaRPr lang="en-US" sz="1200" dirty="0"/>
          </a:p>
        </p:txBody>
      </p:sp>
      <p:sp>
        <p:nvSpPr>
          <p:cNvPr id="6" name="Text 3"/>
          <p:cNvSpPr/>
          <p:nvPr/>
        </p:nvSpPr>
        <p:spPr>
          <a:xfrm>
            <a:off x="6722110" y="4208782"/>
            <a:ext cx="4796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Also useful: workflow_call (reuse), workflow_run (chain workflows), issues and repository_dispatch.</a:t>
            </a:r>
            <a:endParaRPr lang="en-US" sz="1200" dirty="0"/>
          </a:p>
        </p:txBody>
      </p:sp>
      <p:sp>
        <p:nvSpPr>
          <p:cNvPr id="7" name="Text 4"/>
          <p:cNvSpPr/>
          <p:nvPr/>
        </p:nvSpPr>
        <p:spPr>
          <a:xfrm>
            <a:off x="812800" y="6238239"/>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8" name="Text 5"/>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Branch, path and tag filters</a:t>
            </a:r>
            <a:endParaRPr lang="en-US" sz="3000" dirty="0"/>
          </a:p>
        </p:txBody>
      </p:sp>
      <p:sp>
        <p:nvSpPr>
          <p:cNvPr id="3" name="Text 1"/>
          <p:cNvSpPr/>
          <p:nvPr/>
        </p:nvSpPr>
        <p:spPr>
          <a:xfrm>
            <a:off x="812800" y="1536700"/>
            <a:ext cx="4874260" cy="3007360"/>
          </a:xfrm>
          <a:prstGeom prst="roundRect">
            <a:avLst>
              <a:gd name="adj" fmla="val 3378"/>
            </a:avLst>
          </a:prstGeom>
          <a:solidFill>
            <a:srgbClr val="161B26"/>
          </a:solidFill>
          <a:ln/>
        </p:spPr>
        <p:txBody>
          <a:bodyPr wrap="none" lIns="224242" tIns="148042" rIns="93255"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push: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branches:</a:t>
            </a:r>
            <a:r>
              <a:rPr lang="en-US" sz="1200" dirty="0">
                <a:solidFill>
                  <a:srgbClr val="E4E7EC"/>
                </a:solidFill>
                <a:latin typeface="JetBrains Mono" pitchFamily="49" charset="0"/>
                <a:ea typeface="JetBrains Mono" pitchFamily="49" charset="-122"/>
                <a:cs typeface="JetBrains Mono" pitchFamily="49" charset="-120"/>
              </a:rPr>
              <a:t> [main, 'release/**']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tags:</a:t>
            </a:r>
            <a:r>
              <a:rPr lang="en-US" sz="1200" dirty="0">
                <a:solidFill>
                  <a:srgbClr val="E4E7EC"/>
                </a:solidFill>
                <a:latin typeface="JetBrains Mono" pitchFamily="49" charset="0"/>
                <a:ea typeface="JetBrains Mono" pitchFamily="49" charset="-122"/>
                <a:cs typeface="JetBrains Mono" pitchFamily="49" charset="-120"/>
              </a:rPr>
              <a:t> ['v*']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paths: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'src/**'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'package.json'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pull_request: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branches:</a:t>
            </a:r>
            <a:r>
              <a:rPr lang="en-US" sz="1200" dirty="0">
                <a:solidFill>
                  <a:srgbClr val="E4E7EC"/>
                </a:solidFill>
                <a:latin typeface="JetBrains Mono" pitchFamily="49" charset="0"/>
                <a:ea typeface="JetBrains Mono" pitchFamily="49" charset="-122"/>
                <a:cs typeface="JetBrains Mono" pitchFamily="49" charset="-120"/>
              </a:rPr>
              <a:t> [main]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paths-ignore: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'docs/**'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'**.md'</a:t>
            </a:r>
            <a:endParaRPr lang="en-US" sz="1200" dirty="0"/>
          </a:p>
        </p:txBody>
      </p:sp>
      <p:sp>
        <p:nvSpPr>
          <p:cNvPr id="4" name="Text 2"/>
          <p:cNvSpPr/>
          <p:nvPr/>
        </p:nvSpPr>
        <p:spPr>
          <a:xfrm>
            <a:off x="6042660" y="1562100"/>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1</a:t>
            </a:r>
            <a:endParaRPr lang="en-US" sz="1200" dirty="0"/>
          </a:p>
        </p:txBody>
      </p:sp>
      <p:sp>
        <p:nvSpPr>
          <p:cNvPr id="5" name="Text 3"/>
          <p:cNvSpPr/>
          <p:nvPr/>
        </p:nvSpPr>
        <p:spPr>
          <a:xfrm>
            <a:off x="6385560" y="1536700"/>
            <a:ext cx="58064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Globs: </a:t>
            </a:r>
            <a:r>
              <a:rPr lang="en-US" sz="1400" b="1" dirty="0">
                <a:solidFill>
                  <a:srgbClr val="2B3240"/>
                </a:solidFill>
                <a:latin typeface="IBM Plex Sans" pitchFamily="34" charset="0"/>
                <a:ea typeface="IBM Plex Sans" pitchFamily="34" charset="-122"/>
                <a:cs typeface="IBM Plex Sans" pitchFamily="34" charset="-120"/>
              </a:rPr>
              <a:t>*</a:t>
            </a:r>
            <a:r>
              <a:rPr lang="en-US" sz="1400" dirty="0">
                <a:solidFill>
                  <a:srgbClr val="2B3240"/>
                </a:solidFill>
                <a:latin typeface="IBM Plex Sans" pitchFamily="34" charset="0"/>
                <a:ea typeface="IBM Plex Sans" pitchFamily="34" charset="-122"/>
                <a:cs typeface="IBM Plex Sans" pitchFamily="34" charset="-120"/>
              </a:rPr>
              <a:t> matches within a folder, </a:t>
            </a:r>
            <a:r>
              <a:rPr lang="en-US" sz="1400" b="1" dirty="0">
                <a:solidFill>
                  <a:srgbClr val="2B3240"/>
                </a:solidFill>
                <a:latin typeface="IBM Plex Sans" pitchFamily="34" charset="0"/>
                <a:ea typeface="IBM Plex Sans" pitchFamily="34" charset="-122"/>
                <a:cs typeface="IBM Plex Sans" pitchFamily="34" charset="-120"/>
              </a:rPr>
              <a:t>**</a:t>
            </a:r>
            <a:r>
              <a:rPr lang="en-US" sz="1400" dirty="0">
                <a:solidFill>
                  <a:srgbClr val="2B3240"/>
                </a:solidFill>
                <a:latin typeface="IBM Plex Sans" pitchFamily="34" charset="0"/>
                <a:ea typeface="IBM Plex Sans" pitchFamily="34" charset="-122"/>
                <a:cs typeface="IBM Plex Sans" pitchFamily="34" charset="-120"/>
              </a:rPr>
              <a:t> across folders, </a:t>
            </a:r>
            <a:r>
              <a:rPr lang="en-US" sz="1400" b="1" dirty="0">
                <a:solidFill>
                  <a:srgbClr val="2B3240"/>
                </a:solidFill>
                <a:latin typeface="IBM Plex Sans" pitchFamily="34" charset="0"/>
                <a:ea typeface="IBM Plex Sans" pitchFamily="34" charset="-122"/>
                <a:cs typeface="IBM Plex Sans" pitchFamily="34" charset="-120"/>
              </a:rPr>
              <a:t>!</a:t>
            </a:r>
            <a:r>
              <a:rPr lang="en-US" sz="1400" dirty="0">
                <a:solidFill>
                  <a:srgbClr val="2B3240"/>
                </a:solidFill>
                <a:latin typeface="IBM Plex Sans" pitchFamily="34" charset="0"/>
                <a:ea typeface="IBM Plex Sans" pitchFamily="34" charset="-122"/>
                <a:cs typeface="IBM Plex Sans" pitchFamily="34" charset="-120"/>
              </a:rPr>
              <a:t> excludes.</a:t>
            </a:r>
            <a:endParaRPr lang="en-US" sz="1400" dirty="0"/>
          </a:p>
        </p:txBody>
      </p:sp>
      <p:sp>
        <p:nvSpPr>
          <p:cNvPr id="6" name="Text 4"/>
          <p:cNvSpPr/>
          <p:nvPr/>
        </p:nvSpPr>
        <p:spPr>
          <a:xfrm>
            <a:off x="6042660" y="193802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2</a:t>
            </a:r>
            <a:endParaRPr lang="en-US" sz="1200" dirty="0"/>
          </a:p>
        </p:txBody>
      </p:sp>
      <p:sp>
        <p:nvSpPr>
          <p:cNvPr id="7" name="Text 5"/>
          <p:cNvSpPr/>
          <p:nvPr/>
        </p:nvSpPr>
        <p:spPr>
          <a:xfrm>
            <a:off x="6385560" y="1912621"/>
            <a:ext cx="51434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With both </a:t>
            </a:r>
            <a:r>
              <a:rPr lang="en-US" sz="1400" b="1" dirty="0">
                <a:solidFill>
                  <a:srgbClr val="2B3240"/>
                </a:solidFill>
                <a:latin typeface="IBM Plex Sans" pitchFamily="34" charset="0"/>
                <a:ea typeface="IBM Plex Sans" pitchFamily="34" charset="-122"/>
                <a:cs typeface="IBM Plex Sans" pitchFamily="34" charset="-120"/>
              </a:rPr>
              <a:t>branches</a:t>
            </a:r>
            <a:r>
              <a:rPr lang="en-US" sz="1400" dirty="0">
                <a:solidFill>
                  <a:srgbClr val="2B3240"/>
                </a:solidFill>
                <a:latin typeface="IBM Plex Sans" pitchFamily="34" charset="0"/>
                <a:ea typeface="IBM Plex Sans" pitchFamily="34" charset="-122"/>
                <a:cs typeface="IBM Plex Sans" pitchFamily="34" charset="-120"/>
              </a:rPr>
              <a:t> and </a:t>
            </a:r>
            <a:r>
              <a:rPr lang="en-US" sz="1400" b="1" dirty="0">
                <a:solidFill>
                  <a:srgbClr val="2B3240"/>
                </a:solidFill>
                <a:latin typeface="IBM Plex Sans" pitchFamily="34" charset="0"/>
                <a:ea typeface="IBM Plex Sans" pitchFamily="34" charset="-122"/>
                <a:cs typeface="IBM Plex Sans" pitchFamily="34" charset="-120"/>
              </a:rPr>
              <a:t>paths</a:t>
            </a:r>
            <a:r>
              <a:rPr lang="en-US" sz="1400" dirty="0">
                <a:solidFill>
                  <a:srgbClr val="2B3240"/>
                </a:solidFill>
                <a:latin typeface="IBM Plex Sans" pitchFamily="34" charset="0"/>
                <a:ea typeface="IBM Plex Sans" pitchFamily="34" charset="-122"/>
                <a:cs typeface="IBM Plex Sans" pitchFamily="34" charset="-120"/>
              </a:rPr>
              <a:t> set, both must match.</a:t>
            </a:r>
            <a:endParaRPr lang="en-US" sz="1400" dirty="0"/>
          </a:p>
        </p:txBody>
      </p:sp>
      <p:sp>
        <p:nvSpPr>
          <p:cNvPr id="8" name="Text 6"/>
          <p:cNvSpPr/>
          <p:nvPr/>
        </p:nvSpPr>
        <p:spPr>
          <a:xfrm>
            <a:off x="6042660" y="2313939"/>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3</a:t>
            </a:r>
            <a:endParaRPr lang="en-US" sz="1200" dirty="0"/>
          </a:p>
        </p:txBody>
      </p:sp>
      <p:sp>
        <p:nvSpPr>
          <p:cNvPr id="9" name="Text 7"/>
          <p:cNvSpPr/>
          <p:nvPr/>
        </p:nvSpPr>
        <p:spPr>
          <a:xfrm>
            <a:off x="6385560" y="2288539"/>
            <a:ext cx="514344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Set only </a:t>
            </a:r>
            <a:r>
              <a:rPr lang="en-US" sz="1400" b="1" dirty="0">
                <a:solidFill>
                  <a:srgbClr val="2B3240"/>
                </a:solidFill>
                <a:latin typeface="IBM Plex Sans" pitchFamily="34" charset="0"/>
                <a:ea typeface="IBM Plex Sans" pitchFamily="34" charset="-122"/>
                <a:cs typeface="IBM Plex Sans" pitchFamily="34" charset="-120"/>
              </a:rPr>
              <a:t>tags</a:t>
            </a:r>
            <a:r>
              <a:rPr lang="en-US" sz="1400" dirty="0">
                <a:solidFill>
                  <a:srgbClr val="2B3240"/>
                </a:solidFill>
                <a:latin typeface="IBM Plex Sans" pitchFamily="34" charset="0"/>
                <a:ea typeface="IBM Plex Sans" pitchFamily="34" charset="-122"/>
                <a:cs typeface="IBM Plex Sans" pitchFamily="34" charset="-120"/>
              </a:rPr>
              <a:t> and branch pushes stop triggering — and the other way round.</a:t>
            </a:r>
            <a:endParaRPr lang="en-US" sz="1400" dirty="0"/>
          </a:p>
        </p:txBody>
      </p:sp>
      <p:sp>
        <p:nvSpPr>
          <p:cNvPr id="10" name="Text 8"/>
          <p:cNvSpPr/>
          <p:nvPr/>
        </p:nvSpPr>
        <p:spPr>
          <a:xfrm>
            <a:off x="6042660" y="2938782"/>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4</a:t>
            </a:r>
            <a:endParaRPr lang="en-US" sz="1200" dirty="0"/>
          </a:p>
        </p:txBody>
      </p:sp>
      <p:sp>
        <p:nvSpPr>
          <p:cNvPr id="11" name="Text 9"/>
          <p:cNvSpPr/>
          <p:nvPr/>
        </p:nvSpPr>
        <p:spPr>
          <a:xfrm>
            <a:off x="6385560" y="2913382"/>
            <a:ext cx="514344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For pull_request, </a:t>
            </a:r>
            <a:r>
              <a:rPr lang="en-US" sz="1400" b="1" dirty="0">
                <a:solidFill>
                  <a:srgbClr val="2B3240"/>
                </a:solidFill>
                <a:latin typeface="IBM Plex Sans" pitchFamily="34" charset="0"/>
                <a:ea typeface="IBM Plex Sans" pitchFamily="34" charset="-122"/>
                <a:cs typeface="IBM Plex Sans" pitchFamily="34" charset="-120"/>
              </a:rPr>
              <a:t>branches</a:t>
            </a:r>
            <a:r>
              <a:rPr lang="en-US" sz="1400" dirty="0">
                <a:solidFill>
                  <a:srgbClr val="2B3240"/>
                </a:solidFill>
                <a:latin typeface="IBM Plex Sans" pitchFamily="34" charset="0"/>
                <a:ea typeface="IBM Plex Sans" pitchFamily="34" charset="-122"/>
                <a:cs typeface="IBM Plex Sans" pitchFamily="34" charset="-120"/>
              </a:rPr>
              <a:t> filters the target branch the PR merges into.</a:t>
            </a:r>
            <a:endParaRPr lang="en-US" sz="1400" dirty="0"/>
          </a:p>
        </p:txBody>
      </p:sp>
      <p:sp>
        <p:nvSpPr>
          <p:cNvPr id="12" name="Text 10"/>
          <p:cNvSpPr/>
          <p:nvPr/>
        </p:nvSpPr>
        <p:spPr>
          <a:xfrm>
            <a:off x="6042660" y="356362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5</a:t>
            </a:r>
            <a:endParaRPr lang="en-US" sz="1200" dirty="0"/>
          </a:p>
        </p:txBody>
      </p:sp>
      <p:sp>
        <p:nvSpPr>
          <p:cNvPr id="13" name="Text 11"/>
          <p:cNvSpPr/>
          <p:nvPr/>
        </p:nvSpPr>
        <p:spPr>
          <a:xfrm>
            <a:off x="6385560" y="3538221"/>
            <a:ext cx="51434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Use either paths or paths-ignore for an event, not both.</a:t>
            </a:r>
            <a:endParaRPr lang="en-US" sz="1400" dirty="0"/>
          </a:p>
        </p:txBody>
      </p:sp>
      <p:sp>
        <p:nvSpPr>
          <p:cNvPr id="14" name="Text 12"/>
          <p:cNvSpPr/>
          <p:nvPr/>
        </p:nvSpPr>
        <p:spPr>
          <a:xfrm>
            <a:off x="812800" y="6238242"/>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15"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Your first workflow</a:t>
            </a:r>
            <a:endParaRPr lang="en-US" sz="3000" dirty="0"/>
          </a:p>
        </p:txBody>
      </p:sp>
      <p:sp>
        <p:nvSpPr>
          <p:cNvPr id="3" name="Text 1"/>
          <p:cNvSpPr/>
          <p:nvPr/>
        </p:nvSpPr>
        <p:spPr>
          <a:xfrm>
            <a:off x="812800" y="1536700"/>
            <a:ext cx="5601970" cy="3228340"/>
          </a:xfrm>
          <a:prstGeom prst="roundRect">
            <a:avLst>
              <a:gd name="adj" fmla="val 3147"/>
            </a:avLst>
          </a:prstGeom>
          <a:solidFill>
            <a:srgbClr val="161B26"/>
          </a:solidFill>
          <a:ln/>
        </p:spPr>
        <p:txBody>
          <a:bodyPr wrap="none" lIns="224242" tIns="148042" rIns="71423" bIns="1226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.github/workflows/ci.yml</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name: CI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on: [push, pull_request]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t>
            </a:r>
            <a:r>
              <a:rPr lang="en-US" sz="1200" dirty="0">
                <a:solidFill>
                  <a:srgbClr val="FFA06A"/>
                </a:solidFill>
                <a:latin typeface="JetBrains Mono" pitchFamily="49" charset="0"/>
                <a:ea typeface="JetBrains Mono" pitchFamily="49" charset="-122"/>
                <a:cs typeface="JetBrains Mono" pitchFamily="49" charset="-120"/>
              </a:rPr>
              <a:t>actions/checkout@v7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t>
            </a:r>
            <a:r>
              <a:rPr lang="en-US" sz="1200" dirty="0">
                <a:solidFill>
                  <a:srgbClr val="FFA06A"/>
                </a:solidFill>
                <a:latin typeface="JetBrains Mono" pitchFamily="49" charset="0"/>
                <a:ea typeface="JetBrains Mono" pitchFamily="49" charset="-122"/>
                <a:cs typeface="JetBrains Mono" pitchFamily="49" charset="-120"/>
              </a:rPr>
              <a:t>actions/setup-python@v7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python-version: '3.13'</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pip install -r requirements.txt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pytest -q</a:t>
            </a:r>
            <a:endParaRPr lang="en-US" sz="1200" dirty="0"/>
          </a:p>
        </p:txBody>
      </p:sp>
      <p:sp>
        <p:nvSpPr>
          <p:cNvPr id="4" name="Text 2"/>
          <p:cNvSpPr/>
          <p:nvPr/>
        </p:nvSpPr>
        <p:spPr>
          <a:xfrm>
            <a:off x="6770370" y="1536700"/>
            <a:ext cx="474709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Try it</a:t>
            </a:r>
            <a:endParaRPr lang="en-US" sz="1800" dirty="0"/>
          </a:p>
        </p:txBody>
      </p:sp>
      <p:sp>
        <p:nvSpPr>
          <p:cNvPr id="5" name="Text 3"/>
          <p:cNvSpPr/>
          <p:nvPr/>
        </p:nvSpPr>
        <p:spPr>
          <a:xfrm>
            <a:off x="6770370" y="196342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7113270" y="1938021"/>
            <a:ext cx="43939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Commit the file on a branch and push.</a:t>
            </a:r>
            <a:endParaRPr lang="en-US" sz="1400" dirty="0"/>
          </a:p>
        </p:txBody>
      </p:sp>
      <p:sp>
        <p:nvSpPr>
          <p:cNvPr id="7" name="Text 5"/>
          <p:cNvSpPr/>
          <p:nvPr/>
        </p:nvSpPr>
        <p:spPr>
          <a:xfrm>
            <a:off x="6770370" y="2339342"/>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2</a:t>
            </a:r>
            <a:endParaRPr lang="en-US" sz="1200" dirty="0"/>
          </a:p>
        </p:txBody>
      </p:sp>
      <p:sp>
        <p:nvSpPr>
          <p:cNvPr id="8" name="Text 6"/>
          <p:cNvSpPr/>
          <p:nvPr/>
        </p:nvSpPr>
        <p:spPr>
          <a:xfrm>
            <a:off x="7113270" y="2313942"/>
            <a:ext cx="43939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Open the </a:t>
            </a:r>
            <a:r>
              <a:rPr lang="en-US" sz="1400" b="1" dirty="0">
                <a:solidFill>
                  <a:srgbClr val="2B3240"/>
                </a:solidFill>
                <a:latin typeface="IBM Plex Sans" pitchFamily="34" charset="0"/>
                <a:ea typeface="IBM Plex Sans" pitchFamily="34" charset="-122"/>
                <a:cs typeface="IBM Plex Sans" pitchFamily="34" charset="-120"/>
              </a:rPr>
              <a:t>Actions</a:t>
            </a:r>
            <a:r>
              <a:rPr lang="en-US" sz="1400" dirty="0">
                <a:solidFill>
                  <a:srgbClr val="2B3240"/>
                </a:solidFill>
                <a:latin typeface="IBM Plex Sans" pitchFamily="34" charset="0"/>
                <a:ea typeface="IBM Plex Sans" pitchFamily="34" charset="-122"/>
                <a:cs typeface="IBM Plex Sans" pitchFamily="34" charset="-120"/>
              </a:rPr>
              <a:t> tab — the run starts within seconds.</a:t>
            </a:r>
            <a:endParaRPr lang="en-US" sz="1400" dirty="0"/>
          </a:p>
        </p:txBody>
      </p:sp>
      <p:sp>
        <p:nvSpPr>
          <p:cNvPr id="9" name="Text 7"/>
          <p:cNvSpPr/>
          <p:nvPr/>
        </p:nvSpPr>
        <p:spPr>
          <a:xfrm>
            <a:off x="6770370" y="2964179"/>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3</a:t>
            </a:r>
            <a:endParaRPr lang="en-US" sz="1200" dirty="0"/>
          </a:p>
        </p:txBody>
      </p:sp>
      <p:sp>
        <p:nvSpPr>
          <p:cNvPr id="10" name="Text 8"/>
          <p:cNvSpPr/>
          <p:nvPr/>
        </p:nvSpPr>
        <p:spPr>
          <a:xfrm>
            <a:off x="7113270" y="2938779"/>
            <a:ext cx="43939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Open a pull request — the result appears as a check on it.</a:t>
            </a:r>
            <a:endParaRPr lang="en-US" sz="1400" dirty="0"/>
          </a:p>
        </p:txBody>
      </p:sp>
      <p:sp>
        <p:nvSpPr>
          <p:cNvPr id="11" name="Text 9"/>
          <p:cNvSpPr/>
          <p:nvPr/>
        </p:nvSpPr>
        <p:spPr>
          <a:xfrm>
            <a:off x="6770370" y="358902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4</a:t>
            </a:r>
            <a:endParaRPr lang="en-US" sz="1200" dirty="0"/>
          </a:p>
        </p:txBody>
      </p:sp>
      <p:sp>
        <p:nvSpPr>
          <p:cNvPr id="12" name="Text 10"/>
          <p:cNvSpPr/>
          <p:nvPr/>
        </p:nvSpPr>
        <p:spPr>
          <a:xfrm>
            <a:off x="7113270" y="3563621"/>
            <a:ext cx="43939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Break a test, push again and watch the check turn red.</a:t>
            </a:r>
            <a:endParaRPr lang="en-US" sz="1400" dirty="0"/>
          </a:p>
        </p:txBody>
      </p:sp>
      <p:sp>
        <p:nvSpPr>
          <p:cNvPr id="13" name="Text 11"/>
          <p:cNvSpPr/>
          <p:nvPr/>
        </p:nvSpPr>
        <p:spPr>
          <a:xfrm>
            <a:off x="812800" y="6238242"/>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14"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Reading runs, logs and re-runs</a:t>
            </a:r>
            <a:endParaRPr lang="en-US" sz="3000" dirty="0"/>
          </a:p>
        </p:txBody>
      </p:sp>
      <p:sp>
        <p:nvSpPr>
          <p:cNvPr id="3" name="Shape 1"/>
          <p:cNvSpPr/>
          <p:nvPr/>
        </p:nvSpPr>
        <p:spPr>
          <a:xfrm>
            <a:off x="815975" y="1489075"/>
            <a:ext cx="5200650" cy="1060450"/>
          </a:xfrm>
          <a:prstGeom prst="roundRect">
            <a:avLst>
              <a:gd name="adj" fmla="val 9281"/>
            </a:avLst>
          </a:prstGeom>
          <a:solidFill>
            <a:srgbClr val="FDFCFA"/>
          </a:solidFill>
          <a:ln w="6350">
            <a:solidFill>
              <a:srgbClr val="E2DED5"/>
            </a:solidFill>
            <a:prstDash val="solid"/>
          </a:ln>
        </p:spPr>
      </p:sp>
      <p:sp>
        <p:nvSpPr>
          <p:cNvPr id="4" name="Text 2"/>
          <p:cNvSpPr/>
          <p:nvPr/>
        </p:nvSpPr>
        <p:spPr>
          <a:xfrm>
            <a:off x="995680" y="1643379"/>
            <a:ext cx="498647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Logs</a:t>
            </a:r>
            <a:endParaRPr lang="en-US" sz="1800" dirty="0"/>
          </a:p>
        </p:txBody>
      </p:sp>
      <p:sp>
        <p:nvSpPr>
          <p:cNvPr id="5" name="Text 3"/>
          <p:cNvSpPr/>
          <p:nvPr/>
        </p:nvSpPr>
        <p:spPr>
          <a:xfrm>
            <a:off x="995680" y="1968500"/>
            <a:ext cx="49864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Actions tab → run → job → expand a step. Logs have timestamps, search and a download button.</a:t>
            </a:r>
            <a:endParaRPr lang="en-US" sz="1200" dirty="0"/>
          </a:p>
        </p:txBody>
      </p:sp>
      <p:sp>
        <p:nvSpPr>
          <p:cNvPr id="6" name="Shape 4"/>
          <p:cNvSpPr/>
          <p:nvPr/>
        </p:nvSpPr>
        <p:spPr>
          <a:xfrm>
            <a:off x="6175375" y="1489075"/>
            <a:ext cx="5200650" cy="1060450"/>
          </a:xfrm>
          <a:prstGeom prst="roundRect">
            <a:avLst>
              <a:gd name="adj" fmla="val 9281"/>
            </a:avLst>
          </a:prstGeom>
          <a:solidFill>
            <a:srgbClr val="FDFCFA"/>
          </a:solidFill>
          <a:ln w="6350">
            <a:solidFill>
              <a:srgbClr val="E2DED5"/>
            </a:solidFill>
            <a:prstDash val="solid"/>
          </a:ln>
        </p:spPr>
      </p:sp>
      <p:sp>
        <p:nvSpPr>
          <p:cNvPr id="7" name="Text 5"/>
          <p:cNvSpPr/>
          <p:nvPr/>
        </p:nvSpPr>
        <p:spPr>
          <a:xfrm>
            <a:off x="6355080" y="1643379"/>
            <a:ext cx="498647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Annotations and summaries</a:t>
            </a:r>
            <a:endParaRPr lang="en-US" sz="1800" dirty="0"/>
          </a:p>
        </p:txBody>
      </p:sp>
      <p:sp>
        <p:nvSpPr>
          <p:cNvPr id="8" name="Text 6"/>
          <p:cNvSpPr/>
          <p:nvPr/>
        </p:nvSpPr>
        <p:spPr>
          <a:xfrm>
            <a:off x="6355080" y="1968500"/>
            <a:ext cx="49864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Print ::error file=app.py,line=10::message to flag a line; write Markdown to $GITHUB_STEP_SUMMARY for a report.</a:t>
            </a:r>
            <a:endParaRPr lang="en-US" sz="1200" dirty="0"/>
          </a:p>
        </p:txBody>
      </p:sp>
      <p:sp>
        <p:nvSpPr>
          <p:cNvPr id="9" name="Shape 7"/>
          <p:cNvSpPr/>
          <p:nvPr/>
        </p:nvSpPr>
        <p:spPr>
          <a:xfrm>
            <a:off x="815975" y="2708275"/>
            <a:ext cx="5200650" cy="1060450"/>
          </a:xfrm>
          <a:prstGeom prst="roundRect">
            <a:avLst>
              <a:gd name="adj" fmla="val 9281"/>
            </a:avLst>
          </a:prstGeom>
          <a:solidFill>
            <a:srgbClr val="FDFCFA"/>
          </a:solidFill>
          <a:ln w="6350">
            <a:solidFill>
              <a:srgbClr val="E2DED5"/>
            </a:solidFill>
            <a:prstDash val="solid"/>
          </a:ln>
        </p:spPr>
      </p:sp>
      <p:sp>
        <p:nvSpPr>
          <p:cNvPr id="10" name="Text 8"/>
          <p:cNvSpPr/>
          <p:nvPr/>
        </p:nvSpPr>
        <p:spPr>
          <a:xfrm>
            <a:off x="995680" y="2862579"/>
            <a:ext cx="498647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Re-runs</a:t>
            </a:r>
            <a:endParaRPr lang="en-US" sz="1800" dirty="0"/>
          </a:p>
        </p:txBody>
      </p:sp>
      <p:sp>
        <p:nvSpPr>
          <p:cNvPr id="11" name="Text 9"/>
          <p:cNvSpPr/>
          <p:nvPr/>
        </p:nvSpPr>
        <p:spPr>
          <a:xfrm>
            <a:off x="995680" y="3187700"/>
            <a:ext cx="49864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Re-run all jobs, only failed jobs or a single job — same commit, same inputs.</a:t>
            </a:r>
            <a:endParaRPr lang="en-US" sz="1200" dirty="0"/>
          </a:p>
        </p:txBody>
      </p:sp>
      <p:sp>
        <p:nvSpPr>
          <p:cNvPr id="12" name="Shape 10"/>
          <p:cNvSpPr/>
          <p:nvPr/>
        </p:nvSpPr>
        <p:spPr>
          <a:xfrm>
            <a:off x="6175375" y="2708275"/>
            <a:ext cx="5200650" cy="1060450"/>
          </a:xfrm>
          <a:prstGeom prst="roundRect">
            <a:avLst>
              <a:gd name="adj" fmla="val 9281"/>
            </a:avLst>
          </a:prstGeom>
          <a:solidFill>
            <a:srgbClr val="FDFCFA"/>
          </a:solidFill>
          <a:ln w="6350">
            <a:solidFill>
              <a:srgbClr val="E2DED5"/>
            </a:solidFill>
            <a:prstDash val="solid"/>
          </a:ln>
        </p:spPr>
      </p:sp>
      <p:sp>
        <p:nvSpPr>
          <p:cNvPr id="13" name="Text 11"/>
          <p:cNvSpPr/>
          <p:nvPr/>
        </p:nvSpPr>
        <p:spPr>
          <a:xfrm>
            <a:off x="6355080" y="2862579"/>
            <a:ext cx="498647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Debug logging</a:t>
            </a:r>
            <a:endParaRPr lang="en-US" sz="1800" dirty="0"/>
          </a:p>
        </p:txBody>
      </p:sp>
      <p:sp>
        <p:nvSpPr>
          <p:cNvPr id="14" name="Text 12"/>
          <p:cNvSpPr/>
          <p:nvPr/>
        </p:nvSpPr>
        <p:spPr>
          <a:xfrm>
            <a:off x="6355080" y="3187700"/>
            <a:ext cx="498647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Re-run with “Enable debug logging”, or set the ACTIONS_STEP_DEBUG secret or variable to true.</a:t>
            </a:r>
            <a:endParaRPr lang="en-US" sz="1200" dirty="0"/>
          </a:p>
        </p:txBody>
      </p:sp>
      <p:sp>
        <p:nvSpPr>
          <p:cNvPr id="15" name="Text 13"/>
          <p:cNvSpPr/>
          <p:nvPr/>
        </p:nvSpPr>
        <p:spPr>
          <a:xfrm>
            <a:off x="812800" y="4025900"/>
            <a:ext cx="10566400" cy="1188720"/>
          </a:xfrm>
          <a:prstGeom prst="roundRect">
            <a:avLst>
              <a:gd name="adj" fmla="val 8547"/>
            </a:avLst>
          </a:prstGeom>
          <a:solidFill>
            <a:srgbClr val="161B26"/>
          </a:solidFill>
          <a:ln/>
        </p:spPr>
        <p:txBody>
          <a:bodyPr wrap="none" lIns="198842" tIns="122642" rIns="0"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gh run list --limit 5            </a:t>
            </a:r>
            <a:r>
              <a:rPr lang="en-US" sz="1200" dirty="0">
                <a:solidFill>
                  <a:srgbClr val="8C95A5"/>
                </a:solidFill>
                <a:latin typeface="JetBrains Mono" pitchFamily="49" charset="0"/>
                <a:ea typeface="JetBrains Mono" pitchFamily="49" charset="-122"/>
                <a:cs typeface="JetBrains Mono" pitchFamily="49" charset="-120"/>
              </a:rPr>
              <a:t># recent runs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gh run watch                     </a:t>
            </a:r>
            <a:r>
              <a:rPr lang="en-US" sz="1200" dirty="0">
                <a:solidFill>
                  <a:srgbClr val="8C95A5"/>
                </a:solidFill>
                <a:latin typeface="JetBrains Mono" pitchFamily="49" charset="0"/>
                <a:ea typeface="JetBrains Mono" pitchFamily="49" charset="-122"/>
                <a:cs typeface="JetBrains Mono" pitchFamily="49" charset="-120"/>
              </a:rPr>
              <a:t># follow one live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gh run view &lt;id&gt; --log-failed   </a:t>
            </a:r>
            <a:r>
              <a:rPr lang="en-US" sz="1200" dirty="0">
                <a:solidFill>
                  <a:srgbClr val="8C95A5"/>
                </a:solidFill>
                <a:latin typeface="JetBrains Mono" pitchFamily="49" charset="0"/>
                <a:ea typeface="JetBrains Mono" pitchFamily="49" charset="-122"/>
                <a:cs typeface="JetBrains Mono" pitchFamily="49" charset="-120"/>
              </a:rPr>
              <a:t># only the failing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gh run rerun &lt;id&gt; --failed       </a:t>
            </a:r>
            <a:r>
              <a:rPr lang="en-US" sz="1200" dirty="0">
                <a:solidFill>
                  <a:srgbClr val="8C95A5"/>
                </a:solidFill>
                <a:latin typeface="JetBrains Mono" pitchFamily="49" charset="0"/>
                <a:ea typeface="JetBrains Mono" pitchFamily="49" charset="-122"/>
                <a:cs typeface="JetBrains Mono" pitchFamily="49" charset="-120"/>
              </a:rPr>
              <a:t># retry failed jobs</a:t>
            </a:r>
            <a:endParaRPr lang="en-US" sz="1200" dirty="0"/>
          </a:p>
        </p:txBody>
      </p:sp>
      <p:sp>
        <p:nvSpPr>
          <p:cNvPr id="16" name="Text 14"/>
          <p:cNvSpPr/>
          <p:nvPr/>
        </p:nvSpPr>
        <p:spPr>
          <a:xfrm>
            <a:off x="812800" y="6238242"/>
            <a:ext cx="3770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Fundamentals</a:t>
            </a:r>
            <a:endParaRPr lang="en-US" sz="1200" dirty="0"/>
          </a:p>
        </p:txBody>
      </p:sp>
      <p:sp>
        <p:nvSpPr>
          <p:cNvPr id="17" name="Text 1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Jobs, needs and job outputs</a:t>
            </a:r>
            <a:endParaRPr lang="en-US" sz="3000" dirty="0"/>
          </a:p>
        </p:txBody>
      </p:sp>
      <p:sp>
        <p:nvSpPr>
          <p:cNvPr id="3" name="Text 1"/>
          <p:cNvSpPr/>
          <p:nvPr/>
        </p:nvSpPr>
        <p:spPr>
          <a:xfrm>
            <a:off x="812800" y="1536700"/>
            <a:ext cx="6604000" cy="3670300"/>
          </a:xfrm>
          <a:prstGeom prst="roundRect">
            <a:avLst>
              <a:gd name="adj" fmla="val 2768"/>
            </a:avLst>
          </a:prstGeom>
          <a:solidFill>
            <a:srgbClr val="161B26"/>
          </a:solidFill>
          <a:ln/>
        </p:spPr>
        <p:txBody>
          <a:bodyPr wrap="none" lIns="224242" tIns="148042" rIns="41362"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outputs: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version: ${{ steps.ver.outputs.version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id: ver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VERSION="1.4.$GITHUB_RUN_NUMBER"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echo "version=$VERSION" &gt;&gt; "$GITHUB_OUTPUT"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needs: 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echo "Testing ${{ needs.build.outputs.version }}"</a:t>
            </a:r>
            <a:endParaRPr lang="en-US" sz="1200" dirty="0"/>
          </a:p>
        </p:txBody>
      </p:sp>
      <p:sp>
        <p:nvSpPr>
          <p:cNvPr id="4" name="Text 2"/>
          <p:cNvSpPr/>
          <p:nvPr/>
        </p:nvSpPr>
        <p:spPr>
          <a:xfrm>
            <a:off x="7721600" y="1536700"/>
            <a:ext cx="999014" cy="340360"/>
          </a:xfrm>
          <a:custGeom>
            <a:avLst/>
            <a:gdLst/>
            <a:ahLst/>
            <a:cxnLst/>
            <a:rect l="l" t="t" r="r" b="b"/>
            <a:pathLst>
              <a:path w="999014" h="340360">
                <a:moveTo>
                  <a:pt x="63500" y="0"/>
                </a:moveTo>
                <a:lnTo>
                  <a:pt x="935514" y="0"/>
                </a:lnTo>
                <a:arcTo hR="63500" wR="63500" stAng="16200000" swAng="5400000"/>
                <a:lnTo>
                  <a:pt x="999014" y="276860"/>
                </a:lnTo>
                <a:arcTo hR="63500" wR="63500" stAng="0" swAng="5400000"/>
                <a:lnTo>
                  <a:pt x="63500" y="340360"/>
                </a:lnTo>
                <a:arcTo hR="63500" wR="63500" stAng="5400000" swAng="5400000"/>
                <a:lnTo>
                  <a:pt x="0" y="63500"/>
                </a:lnTo>
                <a:arcTo hR="63500" wR="63500" stAng="10800000" swAng="5400000"/>
                <a:close/>
              </a:path>
            </a:pathLst>
          </a:custGeom>
          <a:solidFill>
            <a:srgbClr val="FFE3D3"/>
          </a:solidFill>
          <a:ln/>
        </p:spPr>
        <p:txBody>
          <a:bodyPr wrap="square" lIns="12700" tIns="63500" rIns="12700" bIns="381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build</a:t>
            </a:r>
            <a:endParaRPr lang="en-US" sz="1200" dirty="0"/>
          </a:p>
        </p:txBody>
      </p:sp>
      <p:pic>
        <p:nvPicPr>
          <p:cNvPr id="5" name="Image 0" descr="arrow-right">    </p:cNvPr>
          <p:cNvPicPr>
            <a:picLocks noChangeAspect="1"/>
          </p:cNvPicPr>
          <p:nvPr/>
        </p:nvPicPr>
        <p:blipFill>
          <a:blip r:embed="rId1"/>
          <a:srcRect l="0" r="0" t="0" b="0"/>
          <a:stretch/>
        </p:blipFill>
        <p:spPr>
          <a:xfrm>
            <a:off x="8784114" y="1656079"/>
            <a:ext cx="203200" cy="101600"/>
          </a:xfrm>
          <a:prstGeom prst="rect">
            <a:avLst/>
          </a:prstGeom>
        </p:spPr>
      </p:pic>
      <p:sp>
        <p:nvSpPr>
          <p:cNvPr id="6" name="Text 3"/>
          <p:cNvSpPr/>
          <p:nvPr/>
        </p:nvSpPr>
        <p:spPr>
          <a:xfrm>
            <a:off x="9050814" y="1536700"/>
            <a:ext cx="999093" cy="340360"/>
          </a:xfrm>
          <a:custGeom>
            <a:avLst/>
            <a:gdLst/>
            <a:ahLst/>
            <a:cxnLst/>
            <a:rect l="l" t="t" r="r" b="b"/>
            <a:pathLst>
              <a:path w="999093" h="340360">
                <a:moveTo>
                  <a:pt x="63500" y="0"/>
                </a:moveTo>
                <a:lnTo>
                  <a:pt x="935593" y="0"/>
                </a:lnTo>
                <a:arcTo hR="63500" wR="63500" stAng="16200000" swAng="5400000"/>
                <a:lnTo>
                  <a:pt x="999093" y="276860"/>
                </a:lnTo>
                <a:arcTo hR="63500" wR="63500" stAng="0" swAng="5400000"/>
                <a:lnTo>
                  <a:pt x="63500" y="340360"/>
                </a:lnTo>
                <a:arcTo hR="63500" wR="63500" stAng="5400000" swAng="5400000"/>
                <a:lnTo>
                  <a:pt x="0" y="63500"/>
                </a:lnTo>
                <a:arcTo hR="63500" wR="63500" stAng="10800000" swAng="5400000"/>
                <a:close/>
              </a:path>
            </a:pathLst>
          </a:custGeom>
          <a:solidFill>
            <a:srgbClr val="FFE3D3"/>
          </a:solidFill>
          <a:ln/>
        </p:spPr>
        <p:txBody>
          <a:bodyPr wrap="square" lIns="12700" tIns="63500" rIns="12700" bIns="381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test</a:t>
            </a:r>
            <a:endParaRPr lang="en-US" sz="1200" dirty="0"/>
          </a:p>
        </p:txBody>
      </p:sp>
      <p:pic>
        <p:nvPicPr>
          <p:cNvPr id="7" name="Image 1" descr="arrow-right">    </p:cNvPr>
          <p:cNvPicPr>
            <a:picLocks noChangeAspect="1"/>
          </p:cNvPicPr>
          <p:nvPr/>
        </p:nvPicPr>
        <p:blipFill>
          <a:blip r:embed="rId2"/>
          <a:srcRect l="0" r="0" t="0" b="0"/>
          <a:stretch/>
        </p:blipFill>
        <p:spPr>
          <a:xfrm>
            <a:off x="10113407" y="1656079"/>
            <a:ext cx="203200" cy="101600"/>
          </a:xfrm>
          <a:prstGeom prst="rect">
            <a:avLst/>
          </a:prstGeom>
        </p:spPr>
      </p:pic>
      <p:sp>
        <p:nvSpPr>
          <p:cNvPr id="8" name="Text 4"/>
          <p:cNvSpPr/>
          <p:nvPr/>
        </p:nvSpPr>
        <p:spPr>
          <a:xfrm>
            <a:off x="10380107" y="1536700"/>
            <a:ext cx="999093" cy="340360"/>
          </a:xfrm>
          <a:custGeom>
            <a:avLst/>
            <a:gdLst/>
            <a:ahLst/>
            <a:cxnLst/>
            <a:rect l="l" t="t" r="r" b="b"/>
            <a:pathLst>
              <a:path w="999093" h="340360">
                <a:moveTo>
                  <a:pt x="63500" y="0"/>
                </a:moveTo>
                <a:lnTo>
                  <a:pt x="935593" y="0"/>
                </a:lnTo>
                <a:arcTo hR="63500" wR="63500" stAng="16200000" swAng="5400000"/>
                <a:lnTo>
                  <a:pt x="999093" y="276860"/>
                </a:lnTo>
                <a:arcTo hR="63500" wR="63500" stAng="0" swAng="5400000"/>
                <a:lnTo>
                  <a:pt x="63500" y="340360"/>
                </a:lnTo>
                <a:arcTo hR="63500" wR="63500" stAng="5400000" swAng="5400000"/>
                <a:lnTo>
                  <a:pt x="0" y="63500"/>
                </a:lnTo>
                <a:arcTo hR="63500" wR="63500" stAng="10800000" swAng="5400000"/>
                <a:close/>
              </a:path>
            </a:pathLst>
          </a:custGeom>
          <a:solidFill>
            <a:srgbClr val="AD420E"/>
          </a:solidFill>
          <a:ln/>
        </p:spPr>
        <p:txBody>
          <a:bodyPr wrap="square" lIns="12700" tIns="63500" rIns="12700" bIns="3810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deploy</a:t>
            </a:r>
            <a:endParaRPr lang="en-US" sz="1200" dirty="0"/>
          </a:p>
        </p:txBody>
      </p:sp>
      <p:sp>
        <p:nvSpPr>
          <p:cNvPr id="9" name="Text 5"/>
          <p:cNvSpPr/>
          <p:nvPr/>
        </p:nvSpPr>
        <p:spPr>
          <a:xfrm>
            <a:off x="7721600" y="2016764"/>
            <a:ext cx="376732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Jobs run in </a:t>
            </a:r>
            <a:r>
              <a:rPr lang="en-US" sz="1400" b="1" dirty="0">
                <a:solidFill>
                  <a:srgbClr val="2B3240"/>
                </a:solidFill>
                <a:latin typeface="IBM Plex Sans" pitchFamily="34" charset="0"/>
                <a:ea typeface="IBM Plex Sans" pitchFamily="34" charset="-122"/>
                <a:cs typeface="IBM Plex Sans" pitchFamily="34" charset="-120"/>
              </a:rPr>
              <a:t>parallel</a:t>
            </a:r>
            <a:r>
              <a:rPr lang="en-US" sz="1400" dirty="0">
                <a:solidFill>
                  <a:srgbClr val="2B3240"/>
                </a:solidFill>
                <a:latin typeface="IBM Plex Sans" pitchFamily="34" charset="0"/>
                <a:ea typeface="IBM Plex Sans" pitchFamily="34" charset="-122"/>
                <a:cs typeface="IBM Plex Sans" pitchFamily="34" charset="-120"/>
              </a:rPr>
              <a:t> by default, each on a fresh runner — no shared files.</a:t>
            </a:r>
            <a:endParaRPr lang="en-US" sz="1400" dirty="0"/>
          </a:p>
        </p:txBody>
      </p:sp>
      <p:sp>
        <p:nvSpPr>
          <p:cNvPr id="10" name="Text 6"/>
          <p:cNvSpPr/>
          <p:nvPr/>
        </p:nvSpPr>
        <p:spPr>
          <a:xfrm>
            <a:off x="7721600" y="2654300"/>
            <a:ext cx="376732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needs:</a:t>
            </a:r>
            <a:r>
              <a:rPr lang="en-US" sz="1400" dirty="0">
                <a:solidFill>
                  <a:srgbClr val="2B3240"/>
                </a:solidFill>
                <a:latin typeface="IBM Plex Sans" pitchFamily="34" charset="0"/>
                <a:ea typeface="IBM Plex Sans" pitchFamily="34" charset="-122"/>
                <a:cs typeface="IBM Plex Sans" pitchFamily="34" charset="-120"/>
              </a:rPr>
              <a:t> adds dependencies; together they form a graph.</a:t>
            </a:r>
            <a:endParaRPr lang="en-US" sz="1400" dirty="0"/>
          </a:p>
        </p:txBody>
      </p:sp>
      <p:sp>
        <p:nvSpPr>
          <p:cNvPr id="11" name="Text 7"/>
          <p:cNvSpPr/>
          <p:nvPr/>
        </p:nvSpPr>
        <p:spPr>
          <a:xfrm>
            <a:off x="7721600" y="3291842"/>
            <a:ext cx="376732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If a needed job fails, jobs that depend on it are skipped.</a:t>
            </a:r>
            <a:endParaRPr lang="en-US" sz="1400" dirty="0"/>
          </a:p>
        </p:txBody>
      </p:sp>
      <p:sp>
        <p:nvSpPr>
          <p:cNvPr id="12" name="Text 8"/>
          <p:cNvSpPr/>
          <p:nvPr/>
        </p:nvSpPr>
        <p:spPr>
          <a:xfrm>
            <a:off x="7721600" y="3929379"/>
            <a:ext cx="376732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Outputs</a:t>
            </a:r>
            <a:r>
              <a:rPr lang="en-US" sz="1400" dirty="0">
                <a:solidFill>
                  <a:srgbClr val="2B3240"/>
                </a:solidFill>
                <a:latin typeface="IBM Plex Sans" pitchFamily="34" charset="0"/>
                <a:ea typeface="IBM Plex Sans" pitchFamily="34" charset="-122"/>
                <a:cs typeface="IBM Plex Sans" pitchFamily="34" charset="-120"/>
              </a:rPr>
              <a:t> carry small values between jobs; files travel as artifacts.</a:t>
            </a:r>
            <a:endParaRPr lang="en-US" sz="1400" dirty="0"/>
          </a:p>
        </p:txBody>
      </p:sp>
      <p:sp>
        <p:nvSpPr>
          <p:cNvPr id="13" name="Text 9"/>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14" name="Text 1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uses vs run</a:t>
            </a:r>
            <a:endParaRPr lang="en-US" sz="3000" dirty="0"/>
          </a:p>
        </p:txBody>
      </p:sp>
      <p:sp>
        <p:nvSpPr>
          <p:cNvPr id="3" name="Text 1"/>
          <p:cNvSpPr/>
          <p:nvPr/>
        </p:nvSpPr>
        <p:spPr>
          <a:xfrm>
            <a:off x="812800" y="1536700"/>
            <a:ext cx="5384800" cy="3103880"/>
          </a:xfrm>
          <a:prstGeom prst="roundRect">
            <a:avLst>
              <a:gd name="adj" fmla="val 3273"/>
            </a:avLst>
          </a:prstGeom>
          <a:solidFill>
            <a:srgbClr val="161B26"/>
          </a:solidFill>
          <a:ln/>
        </p:spPr>
        <p:txBody>
          <a:bodyPr wrap="none" lIns="224242" tIns="148042" rIns="77938" bIns="1480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defaults: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working-directory: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a:t>
            </a:r>
            <a:r>
              <a:rPr lang="en-US" sz="1200" dirty="0">
                <a:solidFill>
                  <a:srgbClr val="FFA06A"/>
                </a:solidFill>
                <a:latin typeface="JetBrains Mono" pitchFamily="49" charset="0"/>
                <a:ea typeface="JetBrains Mono" pitchFamily="49" charset="-122"/>
                <a:cs typeface="JetBrains Mono" pitchFamily="49" charset="-120"/>
              </a:rPr>
              <a:t>uses:</a:t>
            </a:r>
            <a:r>
              <a:rPr lang="en-US" sz="1200" dirty="0">
                <a:solidFill>
                  <a:srgbClr val="E4E7EC"/>
                </a:solidFill>
                <a:latin typeface="JetBrains Mono" pitchFamily="49" charset="0"/>
                <a:ea typeface="JetBrains Mono" pitchFamily="49" charset="-122"/>
                <a:cs typeface="JetBrains Mono" pitchFamily="49" charset="-120"/>
              </a:rPr>
              <a:t> actions/checkout@v7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a:t>
            </a:r>
            <a:r>
              <a:rPr lang="en-US" sz="1200" dirty="0">
                <a:solidFill>
                  <a:srgbClr val="FFA06A"/>
                </a:solidFill>
                <a:latin typeface="JetBrains Mono" pitchFamily="49" charset="0"/>
                <a:ea typeface="JetBrains Mono" pitchFamily="49" charset="-122"/>
                <a:cs typeface="JetBrains Mono" pitchFamily="49" charset="-120"/>
              </a:rPr>
              <a:t>uses:</a:t>
            </a:r>
            <a:r>
              <a:rPr lang="en-US" sz="1200" dirty="0">
                <a:solidFill>
                  <a:srgbClr val="E4E7EC"/>
                </a:solidFill>
                <a:latin typeface="JetBrains Mono" pitchFamily="49" charset="0"/>
                <a:ea typeface="JetBrains Mono" pitchFamily="49" charset="-122"/>
                <a:cs typeface="JetBrains Mono" pitchFamily="49" charset="-120"/>
              </a:rPr>
              <a:t> actions/setup-node@v7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node-version: 24</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a:t>
            </a:r>
            <a:r>
              <a:rPr lang="en-US" sz="1200" dirty="0">
                <a:solidFill>
                  <a:srgbClr val="FFA06A"/>
                </a:solidFill>
                <a:latin typeface="JetBrains Mono" pitchFamily="49" charset="0"/>
                <a:ea typeface="JetBrains Mono" pitchFamily="49" charset="-122"/>
                <a:cs typeface="JetBrains Mono" pitchFamily="49" charset="-120"/>
              </a:rPr>
              <a:t>run:</a:t>
            </a:r>
            <a:r>
              <a:rPr lang="en-US" sz="1200" dirty="0">
                <a:solidFill>
                  <a:srgbClr val="E4E7EC"/>
                </a:solidFill>
                <a:latin typeface="JetBrains Mono" pitchFamily="49" charset="0"/>
                <a:ea typeface="JetBrains Mono" pitchFamily="49" charset="-122"/>
                <a:cs typeface="JetBrains Mono" pitchFamily="49" charset="-120"/>
              </a:rPr>
              <a:t> npm ci &amp;&amp; npm 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Inline Python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shell: python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run:</a:t>
            </a:r>
            <a:r>
              <a:rPr lang="en-US" sz="1200" dirty="0">
                <a:solidFill>
                  <a:srgbClr val="E4E7EC"/>
                </a:solidFill>
                <a:latin typeface="JetBrains Mono" pitchFamily="49" charset="0"/>
                <a:ea typeface="JetBrains Mono" pitchFamily="49" charset="-122"/>
                <a:cs typeface="JetBrains Mono" pitchFamily="49" charset="-120"/>
              </a:rPr>
              <a:t> print("hello from Python")</a:t>
            </a:r>
            <a:endParaRPr lang="en-US" sz="1200" dirty="0"/>
          </a:p>
        </p:txBody>
      </p:sp>
      <p:sp>
        <p:nvSpPr>
          <p:cNvPr id="4" name="Shape 2"/>
          <p:cNvSpPr/>
          <p:nvPr/>
        </p:nvSpPr>
        <p:spPr>
          <a:xfrm>
            <a:off x="6505575" y="1539875"/>
            <a:ext cx="4870450" cy="1286510"/>
          </a:xfrm>
          <a:prstGeom prst="roundRect">
            <a:avLst>
              <a:gd name="adj" fmla="val 7651"/>
            </a:avLst>
          </a:prstGeom>
          <a:solidFill>
            <a:srgbClr val="FDFCFA"/>
          </a:solidFill>
          <a:ln w="6350">
            <a:solidFill>
              <a:srgbClr val="E2DED5"/>
            </a:solidFill>
            <a:prstDash val="solid"/>
          </a:ln>
        </p:spPr>
      </p:sp>
      <p:sp>
        <p:nvSpPr>
          <p:cNvPr id="5" name="Text 3"/>
          <p:cNvSpPr/>
          <p:nvPr/>
        </p:nvSpPr>
        <p:spPr>
          <a:xfrm>
            <a:off x="6685280" y="1694179"/>
            <a:ext cx="46463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D420E"/>
                </a:solidFill>
                <a:latin typeface="JetBrains Mono" pitchFamily="49" charset="0"/>
                <a:ea typeface="JetBrains Mono" pitchFamily="49" charset="-122"/>
                <a:cs typeface="JetBrains Mono" pitchFamily="49" charset="-120"/>
              </a:rPr>
              <a:t>uses:</a:t>
            </a:r>
            <a:endParaRPr lang="en-US" sz="1800" dirty="0"/>
          </a:p>
        </p:txBody>
      </p:sp>
      <p:sp>
        <p:nvSpPr>
          <p:cNvPr id="6" name="Text 4"/>
          <p:cNvSpPr/>
          <p:nvPr/>
        </p:nvSpPr>
        <p:spPr>
          <a:xfrm>
            <a:off x="6685280" y="2032000"/>
            <a:ext cx="464637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Runs a packaged action — from a repository (actions/checkout@v7), a local folder (./.github/actions/setup) or a container image (docker://alpine:3.20). Inputs go under with:.</a:t>
            </a:r>
            <a:endParaRPr lang="en-US" sz="1200" dirty="0"/>
          </a:p>
        </p:txBody>
      </p:sp>
      <p:sp>
        <p:nvSpPr>
          <p:cNvPr id="7" name="Shape 5"/>
          <p:cNvSpPr/>
          <p:nvPr/>
        </p:nvSpPr>
        <p:spPr>
          <a:xfrm>
            <a:off x="6505575" y="2985139"/>
            <a:ext cx="4870450" cy="1073150"/>
          </a:xfrm>
          <a:prstGeom prst="roundRect">
            <a:avLst>
              <a:gd name="adj" fmla="val 9172"/>
            </a:avLst>
          </a:prstGeom>
          <a:solidFill>
            <a:srgbClr val="FDFCFA"/>
          </a:solidFill>
          <a:ln w="6350">
            <a:solidFill>
              <a:srgbClr val="E2DED5"/>
            </a:solidFill>
            <a:prstDash val="solid"/>
          </a:ln>
        </p:spPr>
      </p:sp>
      <p:sp>
        <p:nvSpPr>
          <p:cNvPr id="8" name="Text 6"/>
          <p:cNvSpPr/>
          <p:nvPr/>
        </p:nvSpPr>
        <p:spPr>
          <a:xfrm>
            <a:off x="6685280" y="3139442"/>
            <a:ext cx="46463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AD420E"/>
                </a:solidFill>
                <a:latin typeface="JetBrains Mono" pitchFamily="49" charset="0"/>
                <a:ea typeface="JetBrains Mono" pitchFamily="49" charset="-122"/>
                <a:cs typeface="JetBrains Mono" pitchFamily="49" charset="-120"/>
              </a:rPr>
              <a:t>run:</a:t>
            </a:r>
            <a:endParaRPr lang="en-US" sz="1800" dirty="0"/>
          </a:p>
        </p:txBody>
      </p:sp>
      <p:sp>
        <p:nvSpPr>
          <p:cNvPr id="9" name="Text 7"/>
          <p:cNvSpPr/>
          <p:nvPr/>
        </p:nvSpPr>
        <p:spPr>
          <a:xfrm>
            <a:off x="6685280" y="3477264"/>
            <a:ext cx="46463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Runs shell commands on the runner. The default shell is bash on Linux and macOS and pwsh on Windows; pick another with shell:.</a:t>
            </a:r>
            <a:endParaRPr lang="en-US" sz="1200" dirty="0"/>
          </a:p>
        </p:txBody>
      </p:sp>
      <p:sp>
        <p:nvSpPr>
          <p:cNvPr id="10" name="Text 8"/>
          <p:cNvSpPr/>
          <p:nvPr/>
        </p:nvSpPr>
        <p:spPr>
          <a:xfrm>
            <a:off x="6502400" y="4213864"/>
            <a:ext cx="50231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A step fails when its command exits with a non-zero code, and the remaining steps are skipped.</a:t>
            </a:r>
            <a:endParaRPr lang="en-US" sz="1200" dirty="0"/>
          </a:p>
        </p:txBody>
      </p:sp>
      <p:sp>
        <p:nvSpPr>
          <p:cNvPr id="11" name="Text 9"/>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12" name="Text 1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Marketplace actions and versioning</a:t>
            </a:r>
            <a:endParaRPr lang="en-US" sz="3000" dirty="0"/>
          </a:p>
        </p:txBody>
      </p:sp>
      <p:sp>
        <p:nvSpPr>
          <p:cNvPr id="3" name="Text 1"/>
          <p:cNvSpPr/>
          <p:nvPr/>
        </p:nvSpPr>
        <p:spPr>
          <a:xfrm>
            <a:off x="812800" y="1485900"/>
            <a:ext cx="634166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Thousands of ready-made actions — language setup, cloud logins, Docker builds, notifications. Reference one as </a:t>
            </a:r>
            <a:r>
              <a:rPr lang="en-US" sz="1400" b="1" dirty="0">
                <a:solidFill>
                  <a:srgbClr val="2B3240"/>
                </a:solidFill>
                <a:latin typeface="IBM Plex Sans" pitchFamily="34" charset="0"/>
                <a:ea typeface="IBM Plex Sans" pitchFamily="34" charset="-122"/>
                <a:cs typeface="IBM Plex Sans" pitchFamily="34" charset="-120"/>
              </a:rPr>
              <a:t>owner/repo@ref</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120902"/>
          <a:ext cx="6146800" cy="2291080"/>
        </p:xfrm>
        <a:graphic>
          <a:graphicData uri="http://schemas.openxmlformats.org/drawingml/2006/table">
            <a:tbl>
              <a:tblPr/>
              <a:tblGrid>
                <a:gridCol w="1598168"/>
                <a:gridCol w="2335784"/>
                <a:gridCol w="2212848"/>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Reference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Trade-off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Major tag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actions/checkout@v7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Gets fixes automatically; the tag can move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Exact version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actions/checkout@v7.0.1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Steadier, but tags can still be re-pointed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Commit SHA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actions/checkout@&lt;full SHA&gt; # v7.0.1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Immutable — safest for third-party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Branch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some-org/some-action@main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Avoid: changes at any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7274560" y="1485900"/>
            <a:ext cx="4104640" cy="1902460"/>
          </a:xfrm>
          <a:prstGeom prst="roundRect">
            <a:avLst>
              <a:gd name="adj" fmla="val 5340"/>
            </a:avLst>
          </a:prstGeom>
          <a:solidFill>
            <a:srgbClr val="161B26"/>
          </a:solidFill>
          <a:ln/>
        </p:spPr>
        <p:txBody>
          <a:bodyPr wrap="none" lIns="173442" tIns="148042" rIns="62495" bIns="1226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.github/dependabot.yml</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version: 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updates: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package-ecosystem: </a:t>
            </a:r>
            <a:r>
              <a:rPr lang="en-US" sz="1200" dirty="0">
                <a:solidFill>
                  <a:srgbClr val="FFA06A"/>
                </a:solidFill>
                <a:latin typeface="JetBrains Mono" pitchFamily="49" charset="0"/>
                <a:ea typeface="JetBrains Mono" pitchFamily="49" charset="-122"/>
                <a:cs typeface="JetBrains Mono" pitchFamily="49" charset="-120"/>
              </a:rPr>
              <a:t>github-actions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directory: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schedule: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interval: weekly</a:t>
            </a:r>
            <a:endParaRPr lang="en-US" sz="1200" dirty="0"/>
          </a:p>
        </p:txBody>
      </p:sp>
      <p:sp>
        <p:nvSpPr>
          <p:cNvPr id="6" name="Text 3"/>
          <p:cNvSpPr/>
          <p:nvPr/>
        </p:nvSpPr>
        <p:spPr>
          <a:xfrm>
            <a:off x="7274560" y="3515364"/>
            <a:ext cx="4104640" cy="944880"/>
          </a:xfrm>
          <a:prstGeom prst="roundRect">
            <a:avLst>
              <a:gd name="adj" fmla="val 10753"/>
            </a:avLst>
          </a:prstGeom>
          <a:solidFill>
            <a:srgbClr val="FFE3D3"/>
          </a:solidFill>
          <a:ln/>
        </p:spPr>
        <p:txBody>
          <a:bodyPr wrap="square" lIns="148042" tIns="122642" rIns="35571" bIns="97242"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An action runs with your workflow’s permissions and secrets.</a:t>
            </a:r>
            <a:r>
              <a:rPr lang="en-US" sz="1200" dirty="0">
                <a:solidFill>
                  <a:srgbClr val="121722"/>
                </a:solidFill>
                <a:latin typeface="IBM Plex Sans" pitchFamily="34" charset="0"/>
                <a:ea typeface="IBM Plex Sans" pitchFamily="34" charset="-122"/>
                <a:cs typeface="IBM Plex Sans" pitchFamily="34" charset="-120"/>
              </a:rPr>
              <a:t> Prefer verified creators, read the source, and let Dependabot propose updates.</a:t>
            </a:r>
            <a:endParaRPr lang="en-US" sz="1200" dirty="0"/>
          </a:p>
        </p:txBody>
      </p:sp>
      <p:sp>
        <p:nvSpPr>
          <p:cNvPr id="7" name="Text 4"/>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8" name="Text 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Expressions and contexts</a:t>
            </a:r>
            <a:endParaRPr lang="en-US" sz="3000" dirty="0"/>
          </a:p>
        </p:txBody>
      </p:sp>
      <p:sp>
        <p:nvSpPr>
          <p:cNvPr id="3" name="Text 1"/>
          <p:cNvSpPr/>
          <p:nvPr/>
        </p:nvSpPr>
        <p:spPr>
          <a:xfrm>
            <a:off x="812800" y="1485900"/>
            <a:ext cx="581319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 … }}</a:t>
            </a:r>
            <a:r>
              <a:rPr lang="en-US" sz="1400" dirty="0">
                <a:solidFill>
                  <a:srgbClr val="2B3240"/>
                </a:solidFill>
                <a:latin typeface="IBM Plex Sans" pitchFamily="34" charset="0"/>
                <a:ea typeface="IBM Plex Sans" pitchFamily="34" charset="-122"/>
                <a:cs typeface="IBM Plex Sans" pitchFamily="34" charset="-120"/>
              </a:rPr>
              <a:t> is evaluated by GitHub before the step runs. Contexts hold everything about the run: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95502"/>
          <a:ext cx="5633720" cy="2524760"/>
        </p:xfrm>
        <a:graphic>
          <a:graphicData uri="http://schemas.openxmlformats.org/drawingml/2006/table">
            <a:tbl>
              <a:tblPr/>
              <a:tblGrid>
                <a:gridCol w="1690116"/>
                <a:gridCol w="3943604"/>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Context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Examples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github.sha, github.ref_name, github.event_name, github.actor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env · vars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env.NODE_ENV, vars.API_URL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secrets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secrets.DEPLOY_TOKEN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steps · needs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steps.build.outputs.version, needs.test.result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matrix · strategy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matrix.os, strategy.job-index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runner · job · inputs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runner.os, job.status, inputs.environment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6761480" y="1485900"/>
            <a:ext cx="4617720" cy="1460500"/>
          </a:xfrm>
          <a:prstGeom prst="roundRect">
            <a:avLst>
              <a:gd name="adj" fmla="val 6957"/>
            </a:avLst>
          </a:prstGeom>
          <a:solidFill>
            <a:srgbClr val="161B26"/>
          </a:solidFill>
          <a:ln/>
        </p:spPr>
        <p:txBody>
          <a:bodyPr wrap="none" lIns="173442" tIns="148042" rIns="47103"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github.ref_name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github.event_name == 'push'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format('v{0}', github.run_number)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hashFiles('**/package-lock.json')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toJSON(github.event) }}</a:t>
            </a:r>
            <a:endParaRPr lang="en-US" sz="1200" dirty="0"/>
          </a:p>
        </p:txBody>
      </p:sp>
      <p:sp>
        <p:nvSpPr>
          <p:cNvPr id="6" name="Text 3"/>
          <p:cNvSpPr/>
          <p:nvPr/>
        </p:nvSpPr>
        <p:spPr>
          <a:xfrm>
            <a:off x="6761480" y="3073400"/>
            <a:ext cx="47562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Operators:</a:t>
            </a:r>
            <a:r>
              <a:rPr lang="en-US" sz="1200" dirty="0">
                <a:solidFill>
                  <a:srgbClr val="2B3240"/>
                </a:solidFill>
                <a:latin typeface="IBM Plex Sans" pitchFamily="34" charset="0"/>
                <a:ea typeface="IBM Plex Sans" pitchFamily="34" charset="-122"/>
                <a:cs typeface="IBM Plex Sans" pitchFamily="34" charset="-120"/>
              </a:rPr>
              <a:t> == != &lt; &gt; &amp;&amp; || !</a:t>
            </a:r>
            <a:endParaRPr lang="en-US" sz="1200" dirty="0"/>
          </a:p>
        </p:txBody>
      </p:sp>
      <p:sp>
        <p:nvSpPr>
          <p:cNvPr id="7" name="Text 4"/>
          <p:cNvSpPr/>
          <p:nvPr/>
        </p:nvSpPr>
        <p:spPr>
          <a:xfrm>
            <a:off x="6761480" y="3413764"/>
            <a:ext cx="4756252"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Functions:</a:t>
            </a:r>
            <a:r>
              <a:rPr lang="en-US" sz="1200" dirty="0">
                <a:solidFill>
                  <a:srgbClr val="2B3240"/>
                </a:solidFill>
                <a:latin typeface="IBM Plex Sans" pitchFamily="34" charset="0"/>
                <a:ea typeface="IBM Plex Sans" pitchFamily="34" charset="-122"/>
                <a:cs typeface="IBM Plex Sans" pitchFamily="34" charset="-120"/>
              </a:rPr>
              <a:t> contains, startsWith, endsWith, format, join, toJSON, fromJSON, hashFiles — plus success, failure, always and cancelled for status checks.</a:t>
            </a:r>
            <a:endParaRPr lang="en-US" sz="1200" dirty="0"/>
          </a:p>
        </p:txBody>
      </p:sp>
      <p:sp>
        <p:nvSpPr>
          <p:cNvPr id="8" name="Text 5"/>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Conditionals</a:t>
            </a:r>
            <a:endParaRPr lang="en-US" sz="3000" dirty="0"/>
          </a:p>
        </p:txBody>
      </p:sp>
      <p:sp>
        <p:nvSpPr>
          <p:cNvPr id="3" name="Text 1"/>
          <p:cNvSpPr/>
          <p:nvPr/>
        </p:nvSpPr>
        <p:spPr>
          <a:xfrm>
            <a:off x="812800" y="1536700"/>
            <a:ext cx="6584950" cy="3408680"/>
          </a:xfrm>
          <a:prstGeom prst="roundRect">
            <a:avLst>
              <a:gd name="adj" fmla="val 2981"/>
            </a:avLst>
          </a:prstGeom>
          <a:solidFill>
            <a:srgbClr val="161B26"/>
          </a:solidFill>
          <a:ln/>
        </p:spPr>
        <p:txBody>
          <a:bodyPr wrap="none" lIns="198842" tIns="148042" rIns="15010" bIns="1480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Deploy only from main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if: github.ref_name == 'main' &amp;&amp; github.event_name == 'push'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 ./deploy.sh</a:t>
            </a:r>
            <a:endParaRPr lang="en-US" sz="1200" dirty="0"/>
          </a:p>
          <a:p>
            <a:pPr algn="l" indent="0" marL="0">
              <a:lnSpc>
                <a:spcPts val="1740"/>
              </a:lnSpc>
              <a:buNone/>
            </a:pP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Upload the test report, even after failures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if: ${{ !cancelled()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uses: actions/upload-artifact@v7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 {name: report, path: reports/}</a:t>
            </a:r>
            <a:endParaRPr lang="en-US" sz="1200" dirty="0"/>
          </a:p>
          <a:p>
            <a:pPr algn="l" indent="0" marL="0">
              <a:lnSpc>
                <a:spcPts val="1740"/>
              </a:lnSpc>
              <a:buNone/>
            </a:pP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Notify on failure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if: failure()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 ./notify.sh "Run ${{ github.run_id }} failed"</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12710" y="1546860"/>
          <a:ext cx="3666490" cy="2077720"/>
        </p:xfrm>
        <a:graphic>
          <a:graphicData uri="http://schemas.openxmlformats.org/drawingml/2006/table">
            <a:tbl>
              <a:tblPr/>
              <a:tblGrid>
                <a:gridCol w="1686585"/>
                <a:gridCol w="1979905"/>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Function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Step runs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success()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All earlier steps passed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An earlier step failed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Always, even if cancelled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!cancelled()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Unless the run was cancelled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7702550" y="3751579"/>
            <a:ext cx="378695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if: works on jobs and steps; ${{ }} is optional there — except when the expression starts with </a:t>
            </a:r>
            <a:r>
              <a:rPr lang="en-US" sz="1200" b="1" dirty="0">
                <a:solidFill>
                  <a:srgbClr val="2B3240"/>
                </a:solidFill>
                <a:latin typeface="IBM Plex Sans" pitchFamily="34" charset="0"/>
                <a:ea typeface="IBM Plex Sans" pitchFamily="34" charset="-122"/>
                <a:cs typeface="IBM Plex Sans" pitchFamily="34" charset="-120"/>
              </a:rPr>
              <a:t>!</a:t>
            </a:r>
            <a:r>
              <a:rPr lang="en-US" sz="1200" dirty="0">
                <a:solidFill>
                  <a:srgbClr val="2B3240"/>
                </a:solidFill>
                <a:latin typeface="IBM Plex Sans" pitchFamily="34" charset="0"/>
                <a:ea typeface="IBM Plex Sans" pitchFamily="34" charset="-122"/>
                <a:cs typeface="IBM Plex Sans" pitchFamily="34" charset="-120"/>
              </a:rPr>
              <a:t>, which YAML treats specially.</a:t>
            </a:r>
            <a:endParaRPr lang="en-US" sz="1200" dirty="0"/>
          </a:p>
        </p:txBody>
      </p:sp>
      <p:sp>
        <p:nvSpPr>
          <p:cNvPr id="6" name="Text 3"/>
          <p:cNvSpPr/>
          <p:nvPr/>
        </p:nvSpPr>
        <p:spPr>
          <a:xfrm>
            <a:off x="7702550" y="4518664"/>
            <a:ext cx="37869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continue-on-error: true lets a step fail without failing the job.</a:t>
            </a:r>
            <a:endParaRPr lang="en-US" sz="1200" dirty="0"/>
          </a:p>
        </p:txBody>
      </p:sp>
      <p:sp>
        <p:nvSpPr>
          <p:cNvPr id="7" name="Text 4"/>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8" name="Text 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Variables, env files and outputs</a:t>
            </a:r>
            <a:endParaRPr lang="en-US" sz="3000" dirty="0"/>
          </a:p>
        </p:txBody>
      </p:sp>
      <p:sp>
        <p:nvSpPr>
          <p:cNvPr id="3" name="Text 1"/>
          <p:cNvSpPr/>
          <p:nvPr/>
        </p:nvSpPr>
        <p:spPr>
          <a:xfrm>
            <a:off x="812800" y="1485900"/>
            <a:ext cx="454433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env:</a:t>
            </a:r>
            <a:r>
              <a:rPr lang="en-US" sz="1200" dirty="0">
                <a:solidFill>
                  <a:srgbClr val="2B3240"/>
                </a:solidFill>
                <a:latin typeface="IBM Plex Sans" pitchFamily="34" charset="0"/>
                <a:ea typeface="IBM Plex Sans" pitchFamily="34" charset="-122"/>
                <a:cs typeface="IBM Plex Sans" pitchFamily="34" charset="-120"/>
              </a:rPr>
              <a:t> at workflow, job or step level — the most specific wins.</a:t>
            </a:r>
            <a:endParaRPr lang="en-US" sz="1200" dirty="0"/>
          </a:p>
        </p:txBody>
      </p:sp>
      <p:sp>
        <p:nvSpPr>
          <p:cNvPr id="4" name="Text 2"/>
          <p:cNvSpPr/>
          <p:nvPr/>
        </p:nvSpPr>
        <p:spPr>
          <a:xfrm>
            <a:off x="812800" y="1813558"/>
            <a:ext cx="454433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vars.*</a:t>
            </a:r>
            <a:r>
              <a:rPr lang="en-US" sz="1200" dirty="0">
                <a:solidFill>
                  <a:srgbClr val="2B3240"/>
                </a:solidFill>
                <a:latin typeface="IBM Plex Sans" pitchFamily="34" charset="0"/>
                <a:ea typeface="IBM Plex Sans" pitchFamily="34" charset="-122"/>
                <a:cs typeface="IBM Plex Sans" pitchFamily="34" charset="-120"/>
              </a:rPr>
              <a:t> are configuration variables set in repository, organization or environment settings; they are not secret.</a:t>
            </a:r>
            <a:endParaRPr lang="en-US" sz="1200" dirty="0"/>
          </a:p>
        </p:txBody>
      </p:sp>
      <p:sp>
        <p:nvSpPr>
          <p:cNvPr id="5" name="Text 3"/>
          <p:cNvSpPr/>
          <p:nvPr/>
        </p:nvSpPr>
        <p:spPr>
          <a:xfrm>
            <a:off x="812800" y="2354585"/>
            <a:ext cx="454433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Defaults</a:t>
            </a:r>
            <a:r>
              <a:rPr lang="en-US" sz="1200" dirty="0">
                <a:solidFill>
                  <a:srgbClr val="2B3240"/>
                </a:solidFill>
                <a:latin typeface="IBM Plex Sans" pitchFamily="34" charset="0"/>
                <a:ea typeface="IBM Plex Sans" pitchFamily="34" charset="-122"/>
                <a:cs typeface="IBM Plex Sans" pitchFamily="34" charset="-120"/>
              </a:rPr>
              <a:t> are always there: GITHUB_SHA, GITHUB_REF_NAME, RUNNER_OS …</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905760"/>
          <a:ext cx="4401820" cy="2077720"/>
        </p:xfrm>
        <a:graphic>
          <a:graphicData uri="http://schemas.openxmlformats.org/drawingml/2006/table">
            <a:tbl>
              <a:tblPr/>
              <a:tblGrid>
                <a:gridCol w="2112874"/>
                <a:gridCol w="2288946"/>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Write 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Effect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$GITHUB_ENV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An env var for later steps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$GITHUB_OUTPUT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step output: steps.&lt;id&gt;.outputs.&lt;name&gt;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$GITHUB_PATH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folder added to 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$GITHUB_STEP_SUMMARY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Markdown on the run summary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7" name="Text 4"/>
          <p:cNvSpPr/>
          <p:nvPr/>
        </p:nvSpPr>
        <p:spPr>
          <a:xfrm>
            <a:off x="5529580" y="1485900"/>
            <a:ext cx="5849620" cy="3497580"/>
          </a:xfrm>
          <a:prstGeom prst="roundRect">
            <a:avLst>
              <a:gd name="adj" fmla="val 2905"/>
            </a:avLst>
          </a:prstGeom>
          <a:solidFill>
            <a:srgbClr val="161B26"/>
          </a:solidFill>
          <a:ln/>
        </p:spPr>
        <p:txBody>
          <a:bodyPr wrap="none" lIns="198842" tIns="148042" rIns="37070" bIns="1480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workflow level: env: {APP: shop}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NODE_ENV: production    </a:t>
            </a:r>
            <a:r>
              <a:rPr lang="en-US" sz="1200" dirty="0">
                <a:solidFill>
                  <a:srgbClr val="8C95A5"/>
                </a:solidFill>
                <a:latin typeface="JetBrains Mono" pitchFamily="49" charset="0"/>
                <a:ea typeface="JetBrains Mono" pitchFamily="49" charset="-122"/>
                <a:cs typeface="JetBrains Mono" pitchFamily="49" charset="-120"/>
              </a:rPr>
              <a:t># job level</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id: meta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echo "TAG=${GITHUB_SHA::7}" &gt;&gt; "</a:t>
            </a:r>
            <a:r>
              <a:rPr lang="en-US" sz="1200" dirty="0">
                <a:solidFill>
                  <a:srgbClr val="FFA06A"/>
                </a:solidFill>
                <a:latin typeface="JetBrains Mono" pitchFamily="49" charset="0"/>
                <a:ea typeface="JetBrains Mono" pitchFamily="49" charset="-122"/>
                <a:cs typeface="JetBrains Mono" pitchFamily="49" charset="-120"/>
              </a:rPr>
              <a:t>$GITHUB_ENV</a:t>
            </a:r>
            <a:r>
              <a:rPr lang="en-US" sz="1200" dirty="0">
                <a:solidFill>
                  <a:srgbClr val="E4E7EC"/>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echo "image=acme/$APP" &gt;&gt; "</a:t>
            </a:r>
            <a:r>
              <a:rPr lang="en-US" sz="1200" dirty="0">
                <a:solidFill>
                  <a:srgbClr val="FFA06A"/>
                </a:solidFill>
                <a:latin typeface="JetBrains Mono" pitchFamily="49" charset="0"/>
                <a:ea typeface="JetBrains Mono" pitchFamily="49" charset="-122"/>
                <a:cs typeface="JetBrains Mono" pitchFamily="49" charset="-120"/>
              </a:rPr>
              <a:t>$GITHUB_OUTPUT</a:t>
            </a:r>
            <a:r>
              <a:rPr lang="en-US" sz="1200" dirty="0">
                <a:solidFill>
                  <a:srgbClr val="E4E7EC"/>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echo "${{ steps.meta.outputs.image }}:$TAG"</a:t>
            </a:r>
            <a:endParaRPr lang="en-US" sz="1200" dirty="0"/>
          </a:p>
        </p:txBody>
      </p:sp>
      <p:sp>
        <p:nvSpPr>
          <p:cNvPr id="8" name="Text 5"/>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Secrets and the GITHUB_TOKEN</a:t>
            </a:r>
            <a:endParaRPr lang="en-US" sz="3000" dirty="0"/>
          </a:p>
        </p:txBody>
      </p:sp>
      <p:sp>
        <p:nvSpPr>
          <p:cNvPr id="3" name="Text 1"/>
          <p:cNvSpPr/>
          <p:nvPr/>
        </p:nvSpPr>
        <p:spPr>
          <a:xfrm>
            <a:off x="812800" y="1536700"/>
            <a:ext cx="479680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Encrypted values</a:t>
            </a:r>
            <a:r>
              <a:rPr lang="en-US" sz="1200" dirty="0">
                <a:solidFill>
                  <a:srgbClr val="2B3240"/>
                </a:solidFill>
                <a:latin typeface="IBM Plex Sans" pitchFamily="34" charset="0"/>
                <a:ea typeface="IBM Plex Sans" pitchFamily="34" charset="-122"/>
                <a:cs typeface="IBM Plex Sans" pitchFamily="34" charset="-120"/>
              </a:rPr>
              <a:t> at repository, organization or environment level — set in Settings or with gh secret set NAME.</a:t>
            </a:r>
            <a:endParaRPr lang="en-US" sz="1200" dirty="0"/>
          </a:p>
        </p:txBody>
      </p:sp>
      <p:sp>
        <p:nvSpPr>
          <p:cNvPr id="4" name="Text 2"/>
          <p:cNvSpPr/>
          <p:nvPr/>
        </p:nvSpPr>
        <p:spPr>
          <a:xfrm>
            <a:off x="812800" y="2077727"/>
            <a:ext cx="47968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 with </a:t>
            </a:r>
            <a:r>
              <a:rPr lang="en-US" sz="1200" b="1" dirty="0">
                <a:solidFill>
                  <a:srgbClr val="2B3240"/>
                </a:solidFill>
                <a:latin typeface="IBM Plex Sans" pitchFamily="34" charset="0"/>
                <a:ea typeface="IBM Plex Sans" pitchFamily="34" charset="-122"/>
                <a:cs typeface="IBM Plex Sans" pitchFamily="34" charset="-120"/>
              </a:rPr>
              <a:t>${{ secrets.NAME }}</a:t>
            </a:r>
            <a:r>
              <a:rPr lang="en-US" sz="1200" dirty="0">
                <a:solidFill>
                  <a:srgbClr val="2B3240"/>
                </a:solidFill>
                <a:latin typeface="IBM Plex Sans" pitchFamily="34" charset="0"/>
                <a:ea typeface="IBM Plex Sans" pitchFamily="34" charset="-122"/>
                <a:cs typeface="IBM Plex Sans" pitchFamily="34" charset="-120"/>
              </a:rPr>
              <a:t>; values are masked as *** in logs.</a:t>
            </a:r>
            <a:endParaRPr lang="en-US" sz="1200" dirty="0"/>
          </a:p>
        </p:txBody>
      </p:sp>
      <p:sp>
        <p:nvSpPr>
          <p:cNvPr id="5" name="Text 3"/>
          <p:cNvSpPr/>
          <p:nvPr/>
        </p:nvSpPr>
        <p:spPr>
          <a:xfrm>
            <a:off x="812800" y="2405385"/>
            <a:ext cx="4796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Workflows triggered from </a:t>
            </a:r>
            <a:r>
              <a:rPr lang="en-US" sz="1200" b="1" dirty="0">
                <a:solidFill>
                  <a:srgbClr val="2B3240"/>
                </a:solidFill>
                <a:latin typeface="IBM Plex Sans" pitchFamily="34" charset="0"/>
                <a:ea typeface="IBM Plex Sans" pitchFamily="34" charset="-122"/>
                <a:cs typeface="IBM Plex Sans" pitchFamily="34" charset="-120"/>
              </a:rPr>
              <a:t>forks</a:t>
            </a:r>
            <a:r>
              <a:rPr lang="en-US" sz="1200" dirty="0">
                <a:solidFill>
                  <a:srgbClr val="2B3240"/>
                </a:solidFill>
                <a:latin typeface="IBM Plex Sans" pitchFamily="34" charset="0"/>
                <a:ea typeface="IBM Plex Sans" pitchFamily="34" charset="-122"/>
                <a:cs typeface="IBM Plex Sans" pitchFamily="34" charset="-120"/>
              </a:rPr>
              <a:t> don’t receive secrets, only a read-only GITHUB_TOKEN.</a:t>
            </a:r>
            <a:endParaRPr lang="en-US" sz="1200" dirty="0"/>
          </a:p>
        </p:txBody>
      </p:sp>
      <p:sp>
        <p:nvSpPr>
          <p:cNvPr id="6" name="Text 4"/>
          <p:cNvSpPr/>
          <p:nvPr/>
        </p:nvSpPr>
        <p:spPr>
          <a:xfrm>
            <a:off x="812800" y="2946400"/>
            <a:ext cx="479680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GITHUB_TOKEN</a:t>
            </a:r>
            <a:r>
              <a:rPr lang="en-US" sz="1200" dirty="0">
                <a:solidFill>
                  <a:srgbClr val="2B3240"/>
                </a:solidFill>
                <a:latin typeface="IBM Plex Sans" pitchFamily="34" charset="0"/>
                <a:ea typeface="IBM Plex Sans" pitchFamily="34" charset="-122"/>
                <a:cs typeface="IBM Plex Sans" pitchFamily="34" charset="-120"/>
              </a:rPr>
              <a:t> is created for every job and expires when it ends; limit it with permissions:.</a:t>
            </a:r>
            <a:endParaRPr lang="en-US" sz="1200" dirty="0"/>
          </a:p>
        </p:txBody>
      </p:sp>
      <p:sp>
        <p:nvSpPr>
          <p:cNvPr id="7" name="Text 5"/>
          <p:cNvSpPr/>
          <p:nvPr/>
        </p:nvSpPr>
        <p:spPr>
          <a:xfrm>
            <a:off x="812800" y="3487427"/>
            <a:ext cx="4796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Pass secrets to scripts through </a:t>
            </a:r>
            <a:r>
              <a:rPr lang="en-US" sz="1200" b="1" dirty="0">
                <a:solidFill>
                  <a:srgbClr val="2B3240"/>
                </a:solidFill>
                <a:latin typeface="IBM Plex Sans" pitchFamily="34" charset="0"/>
                <a:ea typeface="IBM Plex Sans" pitchFamily="34" charset="-122"/>
                <a:cs typeface="IBM Plex Sans" pitchFamily="34" charset="-120"/>
              </a:rPr>
              <a:t>env:</a:t>
            </a:r>
            <a:r>
              <a:rPr lang="en-US" sz="1200" dirty="0">
                <a:solidFill>
                  <a:srgbClr val="2B3240"/>
                </a:solidFill>
                <a:latin typeface="IBM Plex Sans" pitchFamily="34" charset="0"/>
                <a:ea typeface="IBM Plex Sans" pitchFamily="34" charset="-122"/>
                <a:cs typeface="IBM Plex Sans" pitchFamily="34" charset="-120"/>
              </a:rPr>
              <a:t>, not pasted into the command text.</a:t>
            </a:r>
            <a:endParaRPr lang="en-US" sz="1200" dirty="0"/>
          </a:p>
        </p:txBody>
      </p:sp>
      <p:sp>
        <p:nvSpPr>
          <p:cNvPr id="8" name="Text 6"/>
          <p:cNvSpPr/>
          <p:nvPr/>
        </p:nvSpPr>
        <p:spPr>
          <a:xfrm>
            <a:off x="812800" y="4028442"/>
            <a:ext cx="4796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For cloud access, prefer OIDC: short-lived tokens and no stored keys.</a:t>
            </a:r>
            <a:endParaRPr lang="en-US" sz="1200" dirty="0"/>
          </a:p>
        </p:txBody>
      </p:sp>
      <p:sp>
        <p:nvSpPr>
          <p:cNvPr id="9" name="Text 7"/>
          <p:cNvSpPr/>
          <p:nvPr/>
        </p:nvSpPr>
        <p:spPr>
          <a:xfrm>
            <a:off x="5774690" y="1536700"/>
            <a:ext cx="5604510" cy="3449320"/>
          </a:xfrm>
          <a:prstGeom prst="roundRect">
            <a:avLst>
              <a:gd name="adj" fmla="val 2946"/>
            </a:avLst>
          </a:prstGeom>
          <a:solidFill>
            <a:srgbClr val="161B26"/>
          </a:solidFill>
          <a:ln/>
        </p:spPr>
        <p:txBody>
          <a:bodyPr wrap="none" lIns="198842" tIns="148042" rIns="44423" bIns="122642" rtlCol="0" anchor="t">
            <a:normAutofit/>
          </a:bodyPr>
          <a:lstStyle/>
          <a:p>
            <a:pPr algn="l" indent="0" marL="0">
              <a:lnSpc>
                <a:spcPts val="1740"/>
              </a:lnSpc>
              <a:buNone/>
            </a:pPr>
            <a:r>
              <a:rPr lang="en-US" sz="1200" dirty="0">
                <a:solidFill>
                  <a:srgbClr val="FFA06A"/>
                </a:solidFill>
                <a:latin typeface="JetBrains Mono" pitchFamily="49" charset="0"/>
                <a:ea typeface="JetBrains Mono" pitchFamily="49" charset="-122"/>
                <a:cs typeface="JetBrains Mono" pitchFamily="49" charset="-120"/>
              </a:rPr>
              <a:t>permissions: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contents: read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deploy: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environment: production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Trigger deploy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env: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API_TOKEN: ${{ secrets.API_TOKEN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curl -fsS -X POST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 "Authorization: Bearer $API_TOKEN"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https://deploy.example.com/hooks/shop</a:t>
            </a:r>
            <a:endParaRPr lang="en-US" sz="1200" dirty="0"/>
          </a:p>
        </p:txBody>
      </p:sp>
      <p:sp>
        <p:nvSpPr>
          <p:cNvPr id="10" name="Text 8"/>
          <p:cNvSpPr/>
          <p:nvPr/>
        </p:nvSpPr>
        <p:spPr>
          <a:xfrm>
            <a:off x="812800" y="6238242"/>
            <a:ext cx="38034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Workflow logic</a:t>
            </a:r>
            <a:endParaRPr lang="en-US" sz="1200" dirty="0"/>
          </a:p>
        </p:txBody>
      </p:sp>
      <p:sp>
        <p:nvSpPr>
          <p:cNvPr id="11" name="Text 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Matrix builds</a:t>
            </a:r>
            <a:endParaRPr lang="en-US" sz="3000" dirty="0"/>
          </a:p>
        </p:txBody>
      </p:sp>
      <p:sp>
        <p:nvSpPr>
          <p:cNvPr id="3" name="Text 1"/>
          <p:cNvSpPr/>
          <p:nvPr/>
        </p:nvSpPr>
        <p:spPr>
          <a:xfrm>
            <a:off x="812800" y="1536700"/>
            <a:ext cx="6339840" cy="3891280"/>
          </a:xfrm>
          <a:prstGeom prst="roundRect">
            <a:avLst>
              <a:gd name="adj" fmla="val 2611"/>
            </a:avLst>
          </a:prstGeom>
          <a:solidFill>
            <a:srgbClr val="161B26"/>
          </a:solidFill>
          <a:ln/>
        </p:spPr>
        <p:txBody>
          <a:bodyPr wrap="none" lIns="198842" tIns="148042" rIns="22363"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 matrix.os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strategy: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fail-fast: false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matrix:</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os: [ubuntu-latest, windows-latest, macos-latest]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python: ['3.12', '3.13', '3.14']</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exclude: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{os: windows-latest, python: '3.12'}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actions/checkout@v7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actions/setup-python@v7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python-version: ${{ matrix.python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pytest</a:t>
            </a:r>
            <a:endParaRPr lang="en-US" sz="1200" dirty="0"/>
          </a:p>
        </p:txBody>
      </p:sp>
      <p:sp>
        <p:nvSpPr>
          <p:cNvPr id="4" name="Text 2"/>
          <p:cNvSpPr/>
          <p:nvPr/>
        </p:nvSpPr>
        <p:spPr>
          <a:xfrm>
            <a:off x="8435340" y="1536700"/>
            <a:ext cx="9897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3.12</a:t>
            </a:r>
            <a:endParaRPr lang="en-US" sz="1200" dirty="0"/>
          </a:p>
        </p:txBody>
      </p:sp>
      <p:sp>
        <p:nvSpPr>
          <p:cNvPr id="5" name="Text 3"/>
          <p:cNvSpPr/>
          <p:nvPr/>
        </p:nvSpPr>
        <p:spPr>
          <a:xfrm>
            <a:off x="9425067" y="1536700"/>
            <a:ext cx="9897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3.13</a:t>
            </a:r>
            <a:endParaRPr lang="en-US" sz="1200" dirty="0"/>
          </a:p>
        </p:txBody>
      </p:sp>
      <p:sp>
        <p:nvSpPr>
          <p:cNvPr id="6" name="Text 4"/>
          <p:cNvSpPr/>
          <p:nvPr/>
        </p:nvSpPr>
        <p:spPr>
          <a:xfrm>
            <a:off x="10414794" y="1536700"/>
            <a:ext cx="9897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3.14</a:t>
            </a:r>
            <a:endParaRPr lang="en-US" sz="1200" dirty="0"/>
          </a:p>
        </p:txBody>
      </p:sp>
      <p:sp>
        <p:nvSpPr>
          <p:cNvPr id="7" name="Text 5"/>
          <p:cNvSpPr/>
          <p:nvPr/>
        </p:nvSpPr>
        <p:spPr>
          <a:xfrm>
            <a:off x="7457440" y="1800858"/>
            <a:ext cx="1003300" cy="3149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ubuntu</a:t>
            </a:r>
            <a:endParaRPr lang="en-US" sz="1200" dirty="0"/>
          </a:p>
        </p:txBody>
      </p:sp>
      <p:sp>
        <p:nvSpPr>
          <p:cNvPr id="8" name="Text 6"/>
          <p:cNvSpPr/>
          <p:nvPr/>
        </p:nvSpPr>
        <p:spPr>
          <a:xfrm>
            <a:off x="8460740" y="1800858"/>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9" name="Text 7"/>
          <p:cNvSpPr/>
          <p:nvPr/>
        </p:nvSpPr>
        <p:spPr>
          <a:xfrm>
            <a:off x="9450467" y="1800858"/>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0" name="Text 8"/>
          <p:cNvSpPr/>
          <p:nvPr/>
        </p:nvSpPr>
        <p:spPr>
          <a:xfrm>
            <a:off x="10440194" y="1800858"/>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1" name="Text 9"/>
          <p:cNvSpPr/>
          <p:nvPr/>
        </p:nvSpPr>
        <p:spPr>
          <a:xfrm>
            <a:off x="7457440" y="2141227"/>
            <a:ext cx="1003300" cy="3149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windows</a:t>
            </a:r>
            <a:endParaRPr lang="en-US" sz="1200" dirty="0"/>
          </a:p>
        </p:txBody>
      </p:sp>
      <p:sp>
        <p:nvSpPr>
          <p:cNvPr id="12" name="Text 10"/>
          <p:cNvSpPr/>
          <p:nvPr/>
        </p:nvSpPr>
        <p:spPr>
          <a:xfrm>
            <a:off x="8463915" y="2144402"/>
            <a:ext cx="932577" cy="283210"/>
          </a:xfrm>
          <a:custGeom>
            <a:avLst/>
            <a:gdLst/>
            <a:ahLst/>
            <a:cxnLst/>
            <a:rect l="l" t="t" r="r" b="b"/>
            <a:pathLst>
              <a:path w="932577" h="283210">
                <a:moveTo>
                  <a:pt x="47625" y="0"/>
                </a:moveTo>
                <a:lnTo>
                  <a:pt x="884952" y="0"/>
                </a:lnTo>
                <a:arcTo hR="47625" wR="47625" stAng="16200000" swAng="5400000"/>
                <a:lnTo>
                  <a:pt x="932577" y="235585"/>
                </a:lnTo>
                <a:arcTo hR="47625" wR="47625" stAng="0" swAng="5400000"/>
                <a:lnTo>
                  <a:pt x="47625" y="283210"/>
                </a:lnTo>
                <a:arcTo hR="47625" wR="47625" stAng="5400000" swAng="5400000"/>
                <a:lnTo>
                  <a:pt x="0" y="47625"/>
                </a:lnTo>
                <a:arcTo hR="47625" wR="47625" stAng="10800000" swAng="5400000"/>
                <a:close/>
              </a:path>
            </a:pathLst>
          </a:custGeom>
          <a:noFill/>
          <a:ln w="6350">
            <a:solidFill>
              <a:srgbClr val="9AA3B2"/>
            </a:solidFill>
            <a:prstDash val="dash"/>
          </a:ln>
        </p:spPr>
        <p:txBody>
          <a:bodyPr wrap="square" lIns="0" tIns="33655" rIns="0" bIns="8255"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skipped</a:t>
            </a:r>
            <a:endParaRPr lang="en-US" sz="1200" dirty="0"/>
          </a:p>
        </p:txBody>
      </p:sp>
      <p:sp>
        <p:nvSpPr>
          <p:cNvPr id="13" name="Text 11"/>
          <p:cNvSpPr/>
          <p:nvPr/>
        </p:nvSpPr>
        <p:spPr>
          <a:xfrm>
            <a:off x="9450467" y="2141227"/>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4" name="Text 12"/>
          <p:cNvSpPr/>
          <p:nvPr/>
        </p:nvSpPr>
        <p:spPr>
          <a:xfrm>
            <a:off x="10440194" y="2141227"/>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5" name="Text 13"/>
          <p:cNvSpPr/>
          <p:nvPr/>
        </p:nvSpPr>
        <p:spPr>
          <a:xfrm>
            <a:off x="7457440" y="2481585"/>
            <a:ext cx="1003300" cy="3149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macos</a:t>
            </a:r>
            <a:endParaRPr lang="en-US" sz="1200" dirty="0"/>
          </a:p>
        </p:txBody>
      </p:sp>
      <p:sp>
        <p:nvSpPr>
          <p:cNvPr id="16" name="Text 14"/>
          <p:cNvSpPr/>
          <p:nvPr/>
        </p:nvSpPr>
        <p:spPr>
          <a:xfrm>
            <a:off x="8460740" y="2481585"/>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7" name="Text 15"/>
          <p:cNvSpPr/>
          <p:nvPr/>
        </p:nvSpPr>
        <p:spPr>
          <a:xfrm>
            <a:off x="9450467" y="2481585"/>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8" name="Text 16"/>
          <p:cNvSpPr/>
          <p:nvPr/>
        </p:nvSpPr>
        <p:spPr>
          <a:xfrm>
            <a:off x="10440194" y="2481585"/>
            <a:ext cx="938927" cy="289560"/>
          </a:xfrm>
          <a:custGeom>
            <a:avLst/>
            <a:gdLst/>
            <a:ahLst/>
            <a:cxnLst/>
            <a:rect l="l" t="t" r="r" b="b"/>
            <a:pathLst>
              <a:path w="938927" h="289560">
                <a:moveTo>
                  <a:pt x="50800" y="0"/>
                </a:moveTo>
                <a:lnTo>
                  <a:pt x="888127" y="0"/>
                </a:lnTo>
                <a:arcTo hR="50800" wR="50800" stAng="16200000" swAng="5400000"/>
                <a:lnTo>
                  <a:pt x="938927" y="238760"/>
                </a:lnTo>
                <a:arcTo hR="50800" wR="50800" stAng="0" swAng="5400000"/>
                <a:lnTo>
                  <a:pt x="50800" y="289560"/>
                </a:lnTo>
                <a:arcTo hR="50800" wR="50800" stAng="5400000" swAng="5400000"/>
                <a:lnTo>
                  <a:pt x="0" y="50800"/>
                </a:lnTo>
                <a:arcTo hR="50800" wR="50800" stAng="10800000" swAng="5400000"/>
                <a:close/>
              </a:path>
            </a:pathLst>
          </a:custGeom>
          <a:solidFill>
            <a:srgbClr val="FFE3D3"/>
          </a:solidFill>
          <a:ln/>
        </p:spPr>
        <p:txBody>
          <a:bodyPr wrap="square" lIns="0" tIns="38100" rIns="0" bIns="1270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job</a:t>
            </a:r>
            <a:endParaRPr lang="en-US" sz="1200" dirty="0"/>
          </a:p>
        </p:txBody>
      </p:sp>
      <p:sp>
        <p:nvSpPr>
          <p:cNvPr id="19" name="Text 17"/>
          <p:cNvSpPr/>
          <p:nvPr/>
        </p:nvSpPr>
        <p:spPr>
          <a:xfrm>
            <a:off x="7457440" y="2898142"/>
            <a:ext cx="40394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One job per combination:</a:t>
            </a:r>
            <a:r>
              <a:rPr lang="en-US" sz="1200" dirty="0">
                <a:solidFill>
                  <a:srgbClr val="2B3240"/>
                </a:solidFill>
                <a:latin typeface="IBM Plex Sans" pitchFamily="34" charset="0"/>
                <a:ea typeface="IBM Plex Sans" pitchFamily="34" charset="-122"/>
                <a:cs typeface="IBM Plex Sans" pitchFamily="34" charset="-120"/>
              </a:rPr>
              <a:t> 3 × 3 − 1 excluded = 8 jobs, run in parallel.</a:t>
            </a:r>
            <a:endParaRPr lang="en-US" sz="1200" dirty="0"/>
          </a:p>
        </p:txBody>
      </p:sp>
      <p:sp>
        <p:nvSpPr>
          <p:cNvPr id="20" name="Text 18"/>
          <p:cNvSpPr/>
          <p:nvPr/>
        </p:nvSpPr>
        <p:spPr>
          <a:xfrm>
            <a:off x="7457440" y="3451858"/>
            <a:ext cx="40394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fail-fast</a:t>
            </a:r>
            <a:r>
              <a:rPr lang="en-US" sz="1200" dirty="0">
                <a:solidFill>
                  <a:srgbClr val="2B3240"/>
                </a:solidFill>
                <a:latin typeface="IBM Plex Sans" pitchFamily="34" charset="0"/>
                <a:ea typeface="IBM Plex Sans" pitchFamily="34" charset="-122"/>
                <a:cs typeface="IBM Plex Sans" pitchFamily="34" charset="-120"/>
              </a:rPr>
              <a:t> (on by default) cancels the rest when one fails; </a:t>
            </a:r>
            <a:r>
              <a:rPr lang="en-US" sz="1200" b="1" dirty="0">
                <a:solidFill>
                  <a:srgbClr val="2B3240"/>
                </a:solidFill>
                <a:latin typeface="IBM Plex Sans" pitchFamily="34" charset="0"/>
                <a:ea typeface="IBM Plex Sans" pitchFamily="34" charset="-122"/>
                <a:cs typeface="IBM Plex Sans" pitchFamily="34" charset="-120"/>
              </a:rPr>
              <a:t>max-parallel</a:t>
            </a:r>
            <a:r>
              <a:rPr lang="en-US" sz="1200" dirty="0">
                <a:solidFill>
                  <a:srgbClr val="2B3240"/>
                </a:solidFill>
                <a:latin typeface="IBM Plex Sans" pitchFamily="34" charset="0"/>
                <a:ea typeface="IBM Plex Sans" pitchFamily="34" charset="-122"/>
                <a:cs typeface="IBM Plex Sans" pitchFamily="34" charset="-120"/>
              </a:rPr>
              <a:t> caps how many run at once.</a:t>
            </a:r>
            <a:endParaRPr lang="en-US" sz="1200" dirty="0"/>
          </a:p>
        </p:txBody>
      </p:sp>
      <p:sp>
        <p:nvSpPr>
          <p:cNvPr id="21" name="Text 19"/>
          <p:cNvSpPr/>
          <p:nvPr/>
        </p:nvSpPr>
        <p:spPr>
          <a:xfrm>
            <a:off x="7457440" y="4005585"/>
            <a:ext cx="403941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include</a:t>
            </a:r>
            <a:r>
              <a:rPr lang="en-US" sz="1200" dirty="0">
                <a:solidFill>
                  <a:srgbClr val="2B3240"/>
                </a:solidFill>
                <a:latin typeface="IBM Plex Sans" pitchFamily="34" charset="0"/>
                <a:ea typeface="IBM Plex Sans" pitchFamily="34" charset="-122"/>
                <a:cs typeface="IBM Plex Sans" pitchFamily="34" charset="-120"/>
              </a:rPr>
              <a:t> adds extra combinations or variables. A matrix can produce up to 256 jobs.</a:t>
            </a:r>
            <a:endParaRPr lang="en-US" sz="1200" dirty="0"/>
          </a:p>
        </p:txBody>
      </p:sp>
      <p:sp>
        <p:nvSpPr>
          <p:cNvPr id="22" name="Text 20"/>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23" name="Text 2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Caching dependencies</a:t>
            </a:r>
            <a:endParaRPr lang="en-US" sz="3000" dirty="0"/>
          </a:p>
        </p:txBody>
      </p:sp>
      <p:sp>
        <p:nvSpPr>
          <p:cNvPr id="3" name="Text 1"/>
          <p:cNvSpPr/>
          <p:nvPr/>
        </p:nvSpPr>
        <p:spPr>
          <a:xfrm>
            <a:off x="812800" y="1536700"/>
            <a:ext cx="687014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D420E"/>
                </a:solidFill>
                <a:latin typeface="IBM Plex Sans" pitchFamily="34" charset="0"/>
                <a:ea typeface="IBM Plex Sans" pitchFamily="34" charset="-122"/>
                <a:cs typeface="IBM Plex Sans" pitchFamily="34" charset="-120"/>
              </a:rPr>
              <a:t>EASIEST: BUILT INTO THE SETUP ACTIONS</a:t>
            </a:r>
            <a:endParaRPr lang="en-US" sz="1200" dirty="0"/>
          </a:p>
        </p:txBody>
      </p:sp>
      <p:sp>
        <p:nvSpPr>
          <p:cNvPr id="4" name="Text 2"/>
          <p:cNvSpPr/>
          <p:nvPr/>
        </p:nvSpPr>
        <p:spPr>
          <a:xfrm>
            <a:off x="812800" y="1826258"/>
            <a:ext cx="6670040" cy="1188720"/>
          </a:xfrm>
          <a:prstGeom prst="roundRect">
            <a:avLst>
              <a:gd name="adj" fmla="val 8547"/>
            </a:avLst>
          </a:prstGeom>
          <a:solidFill>
            <a:srgbClr val="161B26"/>
          </a:solidFill>
          <a:ln/>
        </p:spPr>
        <p:txBody>
          <a:bodyPr wrap="none" lIns="198842" tIns="122642" rIns="12457"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uses: actions/setup-node@v7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node-version: 24</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cache: npm</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keyed on package-lock.json</a:t>
            </a:r>
            <a:endParaRPr lang="en-US" sz="1200" dirty="0"/>
          </a:p>
        </p:txBody>
      </p:sp>
      <p:sp>
        <p:nvSpPr>
          <p:cNvPr id="5" name="Text 3"/>
          <p:cNvSpPr/>
          <p:nvPr/>
        </p:nvSpPr>
        <p:spPr>
          <a:xfrm>
            <a:off x="812800" y="3167385"/>
            <a:ext cx="687014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D420E"/>
                </a:solidFill>
                <a:latin typeface="IBM Plex Sans" pitchFamily="34" charset="0"/>
                <a:ea typeface="IBM Plex Sans" pitchFamily="34" charset="-122"/>
                <a:cs typeface="IBM Plex Sans" pitchFamily="34" charset="-120"/>
              </a:rPr>
              <a:t>FULL CONTROL: ACTIONS/CACHE</a:t>
            </a:r>
            <a:endParaRPr lang="en-US" sz="1200" dirty="0"/>
          </a:p>
        </p:txBody>
      </p:sp>
      <p:sp>
        <p:nvSpPr>
          <p:cNvPr id="6" name="Text 4"/>
          <p:cNvSpPr/>
          <p:nvPr/>
        </p:nvSpPr>
        <p:spPr>
          <a:xfrm>
            <a:off x="812800" y="3456942"/>
            <a:ext cx="6670040" cy="1630680"/>
          </a:xfrm>
          <a:prstGeom prst="roundRect">
            <a:avLst>
              <a:gd name="adj" fmla="val 6231"/>
            </a:avLst>
          </a:prstGeom>
          <a:solidFill>
            <a:srgbClr val="161B26"/>
          </a:solidFill>
          <a:ln/>
        </p:spPr>
        <p:txBody>
          <a:bodyPr wrap="none" lIns="198842" tIns="122642" rIns="12457"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uses: actions/cache@v6</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path: ~/.cache/pip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key:</a:t>
            </a:r>
            <a:r>
              <a:rPr lang="en-US" sz="1200" dirty="0">
                <a:solidFill>
                  <a:srgbClr val="E4E7EC"/>
                </a:solidFill>
                <a:latin typeface="JetBrains Mono" pitchFamily="49" charset="0"/>
                <a:ea typeface="JetBrains Mono" pitchFamily="49" charset="-122"/>
                <a:cs typeface="JetBrains Mono" pitchFamily="49" charset="-120"/>
              </a:rPr>
              <a:t> pip-${{ runner.os }}-${{ hashFiles('requirements.txt')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restore-keys:</a:t>
            </a:r>
            <a:r>
              <a:rPr lang="en-US" sz="1200" dirty="0">
                <a:solidFill>
                  <a:srgbClr val="E4E7EC"/>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pip-${{ runner.os }}-</a:t>
            </a:r>
            <a:endParaRPr lang="en-US" sz="1200" dirty="0"/>
          </a:p>
        </p:txBody>
      </p:sp>
      <p:sp>
        <p:nvSpPr>
          <p:cNvPr id="7" name="Text 5"/>
          <p:cNvSpPr/>
          <p:nvPr/>
        </p:nvSpPr>
        <p:spPr>
          <a:xfrm>
            <a:off x="7787640" y="1536700"/>
            <a:ext cx="3699307"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Exact key match</a:t>
            </a:r>
            <a:r>
              <a:rPr lang="en-US" sz="1200" dirty="0">
                <a:solidFill>
                  <a:srgbClr val="2B3240"/>
                </a:solidFill>
                <a:latin typeface="IBM Plex Sans" pitchFamily="34" charset="0"/>
                <a:ea typeface="IBM Plex Sans" pitchFamily="34" charset="-122"/>
                <a:cs typeface="IBM Plex Sans" pitchFamily="34" charset="-120"/>
              </a:rPr>
              <a:t> → restore. Otherwise restore-keys try a prefix match.</a:t>
            </a:r>
            <a:endParaRPr lang="en-US" sz="1200" dirty="0"/>
          </a:p>
        </p:txBody>
      </p:sp>
      <p:sp>
        <p:nvSpPr>
          <p:cNvPr id="8" name="Text 6"/>
          <p:cNvSpPr/>
          <p:nvPr/>
        </p:nvSpPr>
        <p:spPr>
          <a:xfrm>
            <a:off x="7787640" y="2077727"/>
            <a:ext cx="36993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When the key missed, a new cache is </a:t>
            </a:r>
            <a:r>
              <a:rPr lang="en-US" sz="1200" b="1" dirty="0">
                <a:solidFill>
                  <a:srgbClr val="2B3240"/>
                </a:solidFill>
                <a:latin typeface="IBM Plex Sans" pitchFamily="34" charset="0"/>
                <a:ea typeface="IBM Plex Sans" pitchFamily="34" charset="-122"/>
                <a:cs typeface="IBM Plex Sans" pitchFamily="34" charset="-120"/>
              </a:rPr>
              <a:t>saved at the end</a:t>
            </a:r>
            <a:r>
              <a:rPr lang="en-US" sz="1200" dirty="0">
                <a:solidFill>
                  <a:srgbClr val="2B3240"/>
                </a:solidFill>
                <a:latin typeface="IBM Plex Sans" pitchFamily="34" charset="0"/>
                <a:ea typeface="IBM Plex Sans" pitchFamily="34" charset="-122"/>
                <a:cs typeface="IBM Plex Sans" pitchFamily="34" charset="-120"/>
              </a:rPr>
              <a:t> of the job.</a:t>
            </a:r>
            <a:endParaRPr lang="en-US" sz="1200" dirty="0"/>
          </a:p>
        </p:txBody>
      </p:sp>
      <p:sp>
        <p:nvSpPr>
          <p:cNvPr id="9" name="Text 7"/>
          <p:cNvSpPr/>
          <p:nvPr/>
        </p:nvSpPr>
        <p:spPr>
          <a:xfrm>
            <a:off x="7787640" y="2618742"/>
            <a:ext cx="369930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Caches are immutable; branches can also read caches from the default branch.</a:t>
            </a:r>
            <a:endParaRPr lang="en-US" sz="1200" dirty="0"/>
          </a:p>
        </p:txBody>
      </p:sp>
      <p:sp>
        <p:nvSpPr>
          <p:cNvPr id="10" name="Text 8"/>
          <p:cNvSpPr/>
          <p:nvPr/>
        </p:nvSpPr>
        <p:spPr>
          <a:xfrm>
            <a:off x="7787640" y="3159758"/>
            <a:ext cx="3699307"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10 GB per repository</a:t>
            </a:r>
            <a:r>
              <a:rPr lang="en-US" sz="1200" dirty="0">
                <a:solidFill>
                  <a:srgbClr val="2B3240"/>
                </a:solidFill>
                <a:latin typeface="IBM Plex Sans" pitchFamily="34" charset="0"/>
                <a:ea typeface="IBM Plex Sans" pitchFamily="34" charset="-122"/>
                <a:cs typeface="IBM Plex Sans" pitchFamily="34" charset="-120"/>
              </a:rPr>
              <a:t> free; entries unused for 7 days are evicted. Paid plans can raise the limit.</a:t>
            </a:r>
            <a:endParaRPr lang="en-US" sz="1200" dirty="0"/>
          </a:p>
        </p:txBody>
      </p:sp>
      <p:sp>
        <p:nvSpPr>
          <p:cNvPr id="11" name="Text 9"/>
          <p:cNvSpPr/>
          <p:nvPr/>
        </p:nvSpPr>
        <p:spPr>
          <a:xfrm>
            <a:off x="7787640" y="3700785"/>
            <a:ext cx="3591560" cy="467360"/>
          </a:xfrm>
          <a:prstGeom prst="roundRect">
            <a:avLst>
              <a:gd name="adj" fmla="val 21739"/>
            </a:avLst>
          </a:prstGeom>
          <a:solidFill>
            <a:srgbClr val="FFE3D3"/>
          </a:solidFill>
          <a:ln/>
        </p:spPr>
        <p:txBody>
          <a:bodyPr wrap="square" lIns="122642" tIns="97242" rIns="24040" bIns="71842"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Cache</a:t>
            </a:r>
            <a:r>
              <a:rPr lang="en-US" sz="1200" dirty="0">
                <a:solidFill>
                  <a:srgbClr val="121722"/>
                </a:solidFill>
                <a:latin typeface="IBM Plex Sans" pitchFamily="34" charset="0"/>
                <a:ea typeface="IBM Plex Sans" pitchFamily="34" charset="-122"/>
                <a:cs typeface="IBM Plex Sans" pitchFamily="34" charset="-120"/>
              </a:rPr>
              <a:t> = speed. </a:t>
            </a:r>
            <a:r>
              <a:rPr lang="en-US" sz="1200" b="1" dirty="0">
                <a:solidFill>
                  <a:srgbClr val="121722"/>
                </a:solidFill>
                <a:latin typeface="IBM Plex Sans" pitchFamily="34" charset="0"/>
                <a:ea typeface="IBM Plex Sans" pitchFamily="34" charset="-122"/>
                <a:cs typeface="IBM Plex Sans" pitchFamily="34" charset="-120"/>
              </a:rPr>
              <a:t>Artifacts</a:t>
            </a:r>
            <a:r>
              <a:rPr lang="en-US" sz="1200" dirty="0">
                <a:solidFill>
                  <a:srgbClr val="121722"/>
                </a:solidFill>
                <a:latin typeface="IBM Plex Sans" pitchFamily="34" charset="0"/>
                <a:ea typeface="IBM Plex Sans" pitchFamily="34" charset="-122"/>
                <a:cs typeface="IBM Plex Sans" pitchFamily="34" charset="-120"/>
              </a:rPr>
              <a:t> = files you keep.</a:t>
            </a:r>
            <a:endParaRPr lang="en-US" sz="1200" dirty="0"/>
          </a:p>
        </p:txBody>
      </p:sp>
      <p:sp>
        <p:nvSpPr>
          <p:cNvPr id="12" name="Text 10"/>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13" name="Text 1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Artifacts: keeping and passing files</a:t>
            </a:r>
            <a:endParaRPr lang="en-US" sz="3000" dirty="0"/>
          </a:p>
        </p:txBody>
      </p:sp>
      <p:sp>
        <p:nvSpPr>
          <p:cNvPr id="3" name="Text 1"/>
          <p:cNvSpPr/>
          <p:nvPr/>
        </p:nvSpPr>
        <p:spPr>
          <a:xfrm>
            <a:off x="812800" y="1536700"/>
            <a:ext cx="5604510" cy="4112260"/>
          </a:xfrm>
          <a:prstGeom prst="roundRect">
            <a:avLst>
              <a:gd name="adj" fmla="val 2471"/>
            </a:avLst>
          </a:prstGeom>
          <a:solidFill>
            <a:srgbClr val="161B26"/>
          </a:solidFill>
          <a:ln/>
        </p:spPr>
        <p:txBody>
          <a:bodyPr wrap="none" lIns="198842" tIns="148042" rIns="44423"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actions/checkout@v7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npm ci &amp;&amp; npm run 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t>
            </a:r>
            <a:r>
              <a:rPr lang="en-US" sz="1200" dirty="0">
                <a:solidFill>
                  <a:srgbClr val="FFA06A"/>
                </a:solidFill>
                <a:latin typeface="JetBrains Mono" pitchFamily="49" charset="0"/>
                <a:ea typeface="JetBrains Mono" pitchFamily="49" charset="-122"/>
                <a:cs typeface="JetBrains Mono" pitchFamily="49" charset="-120"/>
              </a:rPr>
              <a:t>actions/upload-artifact@v7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dist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path: dist/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retention-days: 7</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deploy: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needs: 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uses: </a:t>
            </a:r>
            <a:r>
              <a:rPr lang="en-US" sz="1200" dirty="0">
                <a:solidFill>
                  <a:srgbClr val="FFA06A"/>
                </a:solidFill>
                <a:latin typeface="JetBrains Mono" pitchFamily="49" charset="0"/>
                <a:ea typeface="JetBrains Mono" pitchFamily="49" charset="-122"/>
                <a:cs typeface="JetBrains Mono" pitchFamily="49" charset="-120"/>
              </a:rPr>
              <a:t>actions/download-artifact@v8</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with: {name: dist, path: dist/}</a:t>
            </a:r>
            <a:endParaRPr lang="en-US" sz="1200" dirty="0"/>
          </a:p>
        </p:txBody>
      </p:sp>
      <p:sp>
        <p:nvSpPr>
          <p:cNvPr id="4" name="Text 2"/>
          <p:cNvSpPr/>
          <p:nvPr/>
        </p:nvSpPr>
        <p:spPr>
          <a:xfrm>
            <a:off x="6722110" y="1536700"/>
            <a:ext cx="47968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Files a job produces that you </a:t>
            </a:r>
            <a:r>
              <a:rPr lang="en-US" sz="1400" b="1" dirty="0">
                <a:solidFill>
                  <a:srgbClr val="2B3240"/>
                </a:solidFill>
                <a:latin typeface="IBM Plex Sans" pitchFamily="34" charset="0"/>
                <a:ea typeface="IBM Plex Sans" pitchFamily="34" charset="-122"/>
                <a:cs typeface="IBM Plex Sans" pitchFamily="34" charset="-120"/>
              </a:rPr>
              <a:t>keep</a:t>
            </a:r>
            <a:r>
              <a:rPr lang="en-US" sz="1400" dirty="0">
                <a:solidFill>
                  <a:srgbClr val="2B3240"/>
                </a:solidFill>
                <a:latin typeface="IBM Plex Sans" pitchFamily="34" charset="0"/>
                <a:ea typeface="IBM Plex Sans" pitchFamily="34" charset="-122"/>
                <a:cs typeface="IBM Plex Sans" pitchFamily="34" charset="-120"/>
              </a:rPr>
              <a:t> or </a:t>
            </a:r>
            <a:r>
              <a:rPr lang="en-US" sz="1400" b="1" dirty="0">
                <a:solidFill>
                  <a:srgbClr val="2B3240"/>
                </a:solidFill>
                <a:latin typeface="IBM Plex Sans" pitchFamily="34" charset="0"/>
                <a:ea typeface="IBM Plex Sans" pitchFamily="34" charset="-122"/>
                <a:cs typeface="IBM Plex Sans" pitchFamily="34" charset="-120"/>
              </a:rPr>
              <a:t>hand to later jobs</a:t>
            </a:r>
            <a:r>
              <a:rPr lang="en-US" sz="1400" dirty="0">
                <a:solidFill>
                  <a:srgbClr val="2B3240"/>
                </a:solidFill>
                <a:latin typeface="IBM Plex Sans" pitchFamily="34" charset="0"/>
                <a:ea typeface="IBM Plex Sans" pitchFamily="34" charset="-122"/>
                <a:cs typeface="IBM Plex Sans" pitchFamily="34" charset="-120"/>
              </a:rPr>
              <a:t>: builds, test reports, coverage.</a:t>
            </a:r>
            <a:endParaRPr lang="en-US" sz="1400" dirty="0"/>
          </a:p>
        </p:txBody>
      </p:sp>
      <p:sp>
        <p:nvSpPr>
          <p:cNvPr id="5" name="Text 3"/>
          <p:cNvSpPr/>
          <p:nvPr/>
        </p:nvSpPr>
        <p:spPr>
          <a:xfrm>
            <a:off x="6722110" y="2161542"/>
            <a:ext cx="47968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Jobs run on different machines — artifacts are how files travel between them.</a:t>
            </a:r>
            <a:endParaRPr lang="en-US" sz="1400" dirty="0"/>
          </a:p>
        </p:txBody>
      </p:sp>
      <p:sp>
        <p:nvSpPr>
          <p:cNvPr id="6" name="Text 4"/>
          <p:cNvSpPr/>
          <p:nvPr/>
        </p:nvSpPr>
        <p:spPr>
          <a:xfrm>
            <a:off x="6722110" y="2786385"/>
            <a:ext cx="479680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Download from the run page or with </a:t>
            </a:r>
            <a:r>
              <a:rPr lang="en-US" sz="1400" b="1" dirty="0">
                <a:solidFill>
                  <a:srgbClr val="2B3240"/>
                </a:solidFill>
                <a:latin typeface="IBM Plex Sans" pitchFamily="34" charset="0"/>
                <a:ea typeface="IBM Plex Sans" pitchFamily="34" charset="-122"/>
                <a:cs typeface="IBM Plex Sans" pitchFamily="34" charset="-120"/>
              </a:rPr>
              <a:t>gh run download</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6722110" y="3162300"/>
            <a:ext cx="479680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Kept 90 days by default (configurable); storage counts toward your quota.</a:t>
            </a:r>
            <a:endParaRPr lang="en-US" sz="1400" dirty="0"/>
          </a:p>
        </p:txBody>
      </p:sp>
      <p:sp>
        <p:nvSpPr>
          <p:cNvPr id="8" name="Text 6"/>
          <p:cNvSpPr/>
          <p:nvPr/>
        </p:nvSpPr>
        <p:spPr>
          <a:xfrm>
            <a:off x="6722110" y="3787142"/>
            <a:ext cx="479680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Names are unique per run — in a matrix, use name: report-${{ matrix.os }}.</a:t>
            </a:r>
            <a:endParaRPr lang="en-US" sz="1200" dirty="0"/>
          </a:p>
        </p:txBody>
      </p:sp>
      <p:sp>
        <p:nvSpPr>
          <p:cNvPr id="9" name="Text 7"/>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10"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GitHub-hosted runners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70660"/>
          <a:ext cx="10556240" cy="2311400"/>
        </p:xfrm>
        <a:graphic>
          <a:graphicData uri="http://schemas.openxmlformats.org/drawingml/2006/table">
            <a:tbl>
              <a:tblPr/>
              <a:tblGrid>
                <a:gridCol w="4222496"/>
                <a:gridCol w="3589122"/>
                <a:gridCol w="2744622"/>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runs-on label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Image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Architecture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ubuntu-latest · ubuntu-24.04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Ubuntu 24.04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x64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ubuntu-26.04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Ubuntu 26.04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x64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ubuntu-24.04-arm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Ubuntu 24.04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arm64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windows-latest · windows-2025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Windows Server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x64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windows-11-arm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Windows 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arm64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macos-latest · macos-26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macOS 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arm64 (Apple silicon)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3858258"/>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Label mapping as listed in actions/runner-images, October 2026.</a:t>
            </a:r>
            <a:endParaRPr lang="en-US" sz="1200" dirty="0"/>
          </a:p>
        </p:txBody>
      </p:sp>
      <p:sp>
        <p:nvSpPr>
          <p:cNvPr id="5" name="Text 2"/>
          <p:cNvSpPr/>
          <p:nvPr/>
        </p:nvSpPr>
        <p:spPr>
          <a:xfrm>
            <a:off x="815975" y="4303402"/>
            <a:ext cx="3397250" cy="923290"/>
          </a:xfrm>
          <a:prstGeom prst="roundRect">
            <a:avLst>
              <a:gd name="adj" fmla="val 10660"/>
            </a:avLst>
          </a:prstGeom>
          <a:solidFill>
            <a:srgbClr val="FDFCFA"/>
          </a:solidFill>
          <a:ln w="6350">
            <a:solidFill>
              <a:srgbClr val="E2DED5"/>
            </a:solidFill>
            <a:prstDash val="solid"/>
          </a:ln>
        </p:spPr>
        <p:txBody>
          <a:bodyPr wrap="square" lIns="138177" tIns="112777" rIns="46280" bIns="1127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Each job gets a </a:t>
            </a:r>
            <a:r>
              <a:rPr lang="en-US" sz="1200" b="1" dirty="0">
                <a:solidFill>
                  <a:srgbClr val="2B3240"/>
                </a:solidFill>
                <a:latin typeface="IBM Plex Sans" pitchFamily="34" charset="0"/>
                <a:ea typeface="IBM Plex Sans" pitchFamily="34" charset="-122"/>
                <a:cs typeface="IBM Plex Sans" pitchFamily="34" charset="-120"/>
              </a:rPr>
              <a:t>fresh VM</a:t>
            </a:r>
            <a:r>
              <a:rPr lang="en-US" sz="1200" dirty="0">
                <a:solidFill>
                  <a:srgbClr val="2B3240"/>
                </a:solidFill>
                <a:latin typeface="IBM Plex Sans" pitchFamily="34" charset="0"/>
                <a:ea typeface="IBM Plex Sans" pitchFamily="34" charset="-122"/>
                <a:cs typeface="IBM Plex Sans" pitchFamily="34" charset="-120"/>
              </a:rPr>
              <a:t> with common tools preinstalled; it’s thrown away afterwards.</a:t>
            </a:r>
            <a:endParaRPr lang="en-US" sz="1200" dirty="0"/>
          </a:p>
        </p:txBody>
      </p:sp>
      <p:sp>
        <p:nvSpPr>
          <p:cNvPr id="6" name="Text 3"/>
          <p:cNvSpPr/>
          <p:nvPr/>
        </p:nvSpPr>
        <p:spPr>
          <a:xfrm>
            <a:off x="4397375" y="4303402"/>
            <a:ext cx="3397250" cy="923290"/>
          </a:xfrm>
          <a:prstGeom prst="roundRect">
            <a:avLst>
              <a:gd name="adj" fmla="val 10660"/>
            </a:avLst>
          </a:prstGeom>
          <a:solidFill>
            <a:srgbClr val="FDFCFA"/>
          </a:solidFill>
          <a:ln w="6350">
            <a:solidFill>
              <a:srgbClr val="E2DED5"/>
            </a:solidFill>
            <a:prstDash val="solid"/>
          </a:ln>
        </p:spPr>
        <p:txBody>
          <a:bodyPr wrap="square" lIns="138177" tIns="112777" rIns="46280" bIns="87377"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-latest moves</a:t>
            </a:r>
            <a:r>
              <a:rPr lang="en-US" sz="1200" dirty="0">
                <a:solidFill>
                  <a:srgbClr val="2B3240"/>
                </a:solidFill>
                <a:latin typeface="IBM Plex Sans" pitchFamily="34" charset="0"/>
                <a:ea typeface="IBM Plex Sans" pitchFamily="34" charset="-122"/>
                <a:cs typeface="IBM Plex Sans" pitchFamily="34" charset="-120"/>
              </a:rPr>
              <a:t> to newer OS versions over time — pin ubuntu-24.04 when you need stability.</a:t>
            </a:r>
            <a:endParaRPr lang="en-US" sz="1200" dirty="0"/>
          </a:p>
        </p:txBody>
      </p:sp>
      <p:sp>
        <p:nvSpPr>
          <p:cNvPr id="7" name="Text 4"/>
          <p:cNvSpPr/>
          <p:nvPr/>
        </p:nvSpPr>
        <p:spPr>
          <a:xfrm>
            <a:off x="7978775" y="4303402"/>
            <a:ext cx="3397250" cy="923290"/>
          </a:xfrm>
          <a:prstGeom prst="roundRect">
            <a:avLst>
              <a:gd name="adj" fmla="val 10660"/>
            </a:avLst>
          </a:prstGeom>
          <a:solidFill>
            <a:srgbClr val="FDFCFA"/>
          </a:solidFill>
          <a:ln w="6350">
            <a:solidFill>
              <a:srgbClr val="E2DED5"/>
            </a:solidFill>
            <a:prstDash val="solid"/>
          </a:ln>
        </p:spPr>
        <p:txBody>
          <a:bodyPr wrap="square" lIns="138178" tIns="112777" rIns="46280" bIns="112777"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Free for public repositories</a:t>
            </a:r>
            <a:r>
              <a:rPr lang="en-US" sz="1200" dirty="0">
                <a:solidFill>
                  <a:srgbClr val="2B3240"/>
                </a:solidFill>
                <a:latin typeface="IBM Plex Sans" pitchFamily="34" charset="0"/>
                <a:ea typeface="IBM Plex Sans" pitchFamily="34" charset="-122"/>
                <a:cs typeface="IBM Plex Sans" pitchFamily="34" charset="-120"/>
              </a:rPr>
              <a:t>; private ones use plan minutes. Larger runners cost extra.</a:t>
            </a:r>
            <a:endParaRPr lang="en-US" sz="1200" dirty="0"/>
          </a:p>
        </p:txBody>
      </p:sp>
      <p:sp>
        <p:nvSpPr>
          <p:cNvPr id="8" name="Text 5"/>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Self-hosted runners and ARC on Kubernetes</a:t>
            </a:r>
            <a:endParaRPr lang="en-US" sz="3000" dirty="0"/>
          </a:p>
        </p:txBody>
      </p:sp>
      <p:sp>
        <p:nvSpPr>
          <p:cNvPr id="3" name="Shape 1"/>
          <p:cNvSpPr/>
          <p:nvPr/>
        </p:nvSpPr>
        <p:spPr>
          <a:xfrm>
            <a:off x="815975" y="1489075"/>
            <a:ext cx="3400584" cy="1286510"/>
          </a:xfrm>
          <a:prstGeom prst="roundRect">
            <a:avLst>
              <a:gd name="adj" fmla="val 7651"/>
            </a:avLst>
          </a:prstGeom>
          <a:solidFill>
            <a:srgbClr val="FDFCFA"/>
          </a:solidFill>
          <a:ln w="6350">
            <a:solidFill>
              <a:srgbClr val="E2DED5"/>
            </a:solidFill>
            <a:prstDash val="solid"/>
          </a:ln>
        </p:spPr>
      </p:sp>
      <p:sp>
        <p:nvSpPr>
          <p:cNvPr id="4" name="Text 2"/>
          <p:cNvSpPr/>
          <p:nvPr/>
        </p:nvSpPr>
        <p:spPr>
          <a:xfrm>
            <a:off x="995680" y="1643385"/>
            <a:ext cx="313240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Why self-host</a:t>
            </a:r>
            <a:endParaRPr lang="en-US" sz="1800" dirty="0"/>
          </a:p>
        </p:txBody>
      </p:sp>
      <p:sp>
        <p:nvSpPr>
          <p:cNvPr id="5" name="Text 3"/>
          <p:cNvSpPr/>
          <p:nvPr/>
        </p:nvSpPr>
        <p:spPr>
          <a:xfrm>
            <a:off x="995680" y="1981200"/>
            <a:ext cx="313240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Special hardware (GPUs, ARM boards), access to private networks, custom images, lower cost at scale.</a:t>
            </a:r>
            <a:endParaRPr lang="en-US" sz="1200" dirty="0"/>
          </a:p>
        </p:txBody>
      </p:sp>
      <p:sp>
        <p:nvSpPr>
          <p:cNvPr id="6" name="Shape 4"/>
          <p:cNvSpPr/>
          <p:nvPr/>
        </p:nvSpPr>
        <p:spPr>
          <a:xfrm>
            <a:off x="4400709" y="1489075"/>
            <a:ext cx="3400663" cy="1286510"/>
          </a:xfrm>
          <a:prstGeom prst="roundRect">
            <a:avLst>
              <a:gd name="adj" fmla="val 7651"/>
            </a:avLst>
          </a:prstGeom>
          <a:solidFill>
            <a:srgbClr val="FDFCFA"/>
          </a:solidFill>
          <a:ln w="6350">
            <a:solidFill>
              <a:srgbClr val="E2DED5"/>
            </a:solidFill>
            <a:prstDash val="solid"/>
          </a:ln>
        </p:spPr>
      </p:sp>
      <p:sp>
        <p:nvSpPr>
          <p:cNvPr id="7" name="Text 5"/>
          <p:cNvSpPr/>
          <p:nvPr/>
        </p:nvSpPr>
        <p:spPr>
          <a:xfrm>
            <a:off x="4580414" y="1643385"/>
            <a:ext cx="31324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How it connects</a:t>
            </a:r>
            <a:endParaRPr lang="en-US" sz="1800" dirty="0"/>
          </a:p>
        </p:txBody>
      </p:sp>
      <p:sp>
        <p:nvSpPr>
          <p:cNvPr id="8" name="Text 6"/>
          <p:cNvSpPr/>
          <p:nvPr/>
        </p:nvSpPr>
        <p:spPr>
          <a:xfrm>
            <a:off x="4580414" y="1981200"/>
            <a:ext cx="313249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runner app calls out to GitHub over HTTPS — no inbound ports. Jobs pick it by label: runs-on: [self-hosted, linux, gpu].</a:t>
            </a:r>
            <a:endParaRPr lang="en-US" sz="1200" dirty="0"/>
          </a:p>
        </p:txBody>
      </p:sp>
      <p:sp>
        <p:nvSpPr>
          <p:cNvPr id="9" name="Shape 7"/>
          <p:cNvSpPr/>
          <p:nvPr/>
        </p:nvSpPr>
        <p:spPr>
          <a:xfrm>
            <a:off x="7982347" y="1485900"/>
            <a:ext cx="3396853" cy="1292860"/>
          </a:xfrm>
          <a:prstGeom prst="roundRect">
            <a:avLst>
              <a:gd name="adj" fmla="val 7859"/>
            </a:avLst>
          </a:prstGeom>
          <a:solidFill>
            <a:srgbClr val="FFE3D3"/>
          </a:solidFill>
          <a:ln/>
        </p:spPr>
      </p:sp>
      <p:sp>
        <p:nvSpPr>
          <p:cNvPr id="10" name="Text 8"/>
          <p:cNvSpPr/>
          <p:nvPr/>
        </p:nvSpPr>
        <p:spPr>
          <a:xfrm>
            <a:off x="8160147" y="1638300"/>
            <a:ext cx="31324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Stay safe</a:t>
            </a:r>
            <a:endParaRPr lang="en-US" sz="1800" dirty="0"/>
          </a:p>
        </p:txBody>
      </p:sp>
      <p:sp>
        <p:nvSpPr>
          <p:cNvPr id="11" name="Text 9"/>
          <p:cNvSpPr/>
          <p:nvPr/>
        </p:nvSpPr>
        <p:spPr>
          <a:xfrm>
            <a:off x="8160147" y="1976127"/>
            <a:ext cx="313249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Prefer ephemeral runners: one job, then gone. Never attach self-hosted runners to public repositories.</a:t>
            </a:r>
            <a:endParaRPr lang="en-US" sz="1200" dirty="0"/>
          </a:p>
        </p:txBody>
      </p:sp>
      <p:sp>
        <p:nvSpPr>
          <p:cNvPr id="12" name="Text 10"/>
          <p:cNvSpPr/>
          <p:nvPr/>
        </p:nvSpPr>
        <p:spPr>
          <a:xfrm>
            <a:off x="812800" y="3032758"/>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D420E"/>
                </a:solidFill>
                <a:latin typeface="IBM Plex Sans" pitchFamily="34" charset="0"/>
                <a:ea typeface="IBM Plex Sans" pitchFamily="34" charset="-122"/>
                <a:cs typeface="IBM Plex Sans" pitchFamily="34" charset="-120"/>
              </a:rPr>
              <a:t>ACTIONS RUNNER CONTROLLER (ARC): AUTOSCALING RUNNER PODS ON KUBERNETES</a:t>
            </a:r>
            <a:endParaRPr lang="en-US" sz="1200" dirty="0"/>
          </a:p>
        </p:txBody>
      </p:sp>
      <p:sp>
        <p:nvSpPr>
          <p:cNvPr id="13" name="Text 11"/>
          <p:cNvSpPr/>
          <p:nvPr/>
        </p:nvSpPr>
        <p:spPr>
          <a:xfrm>
            <a:off x="812800" y="3322327"/>
            <a:ext cx="10566400" cy="2072640"/>
          </a:xfrm>
          <a:prstGeom prst="roundRect">
            <a:avLst>
              <a:gd name="adj" fmla="val 4902"/>
            </a:avLst>
          </a:prstGeom>
          <a:solidFill>
            <a:srgbClr val="161B26"/>
          </a:solidFill>
          <a:ln/>
        </p:spPr>
        <p:txBody>
          <a:bodyPr wrap="none" lIns="198842" tIns="122642" rIns="0"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CHARTS=oci://ghcr.io/actions/actions-runner-controller-charts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helm install arc -n arc-systems --create-namespace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$CHARTS/gha-runner-scale-set-controller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helm install </a:t>
            </a:r>
            <a:r>
              <a:rPr lang="en-US" sz="1200" dirty="0">
                <a:solidFill>
                  <a:srgbClr val="FFA06A"/>
                </a:solidFill>
                <a:latin typeface="JetBrains Mono" pitchFamily="49" charset="0"/>
                <a:ea typeface="JetBrains Mono" pitchFamily="49" charset="-122"/>
                <a:cs typeface="JetBrains Mono" pitchFamily="49" charset="-120"/>
              </a:rPr>
              <a:t>arc-runner-set</a:t>
            </a:r>
            <a:r>
              <a:rPr lang="en-US" sz="1200" dirty="0">
                <a:solidFill>
                  <a:srgbClr val="E4E7EC"/>
                </a:solidFill>
                <a:latin typeface="JetBrains Mono" pitchFamily="49" charset="0"/>
                <a:ea typeface="JetBrains Mono" pitchFamily="49" charset="-122"/>
                <a:cs typeface="JetBrains Mono" pitchFamily="49" charset="-120"/>
              </a:rPr>
              <a:t> -n arc-runners --create-namespace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--set githubConfigUrl=https://github.com/acme/shop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--set githubConfigSecret.github_token=$GITHUB_PAT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$CHARTS/gha-runner-scale-set</a:t>
            </a: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then in a workflow: runs-on: arc-runner-set</a:t>
            </a:r>
            <a:endParaRPr lang="en-US" sz="1200" dirty="0"/>
          </a:p>
        </p:txBody>
      </p:sp>
      <p:sp>
        <p:nvSpPr>
          <p:cNvPr id="14" name="Text 12"/>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15"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Concurrency and timeouts</a:t>
            </a:r>
            <a:endParaRPr lang="en-US" sz="3000" dirty="0"/>
          </a:p>
        </p:txBody>
      </p:sp>
      <p:sp>
        <p:nvSpPr>
          <p:cNvPr id="3" name="Text 1"/>
          <p:cNvSpPr/>
          <p:nvPr/>
        </p:nvSpPr>
        <p:spPr>
          <a:xfrm>
            <a:off x="812800" y="15367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D420E"/>
                </a:solidFill>
                <a:latin typeface="IBM Plex Sans" pitchFamily="34" charset="0"/>
                <a:ea typeface="IBM Plex Sans" pitchFamily="34" charset="-122"/>
                <a:cs typeface="IBM Plex Sans" pitchFamily="34" charset="-120"/>
              </a:rPr>
              <a:t>CI: CANCEL SUPERSEDED RUNS</a:t>
            </a:r>
            <a:endParaRPr lang="en-US" sz="1200" dirty="0"/>
          </a:p>
        </p:txBody>
      </p:sp>
      <p:sp>
        <p:nvSpPr>
          <p:cNvPr id="4" name="Text 2"/>
          <p:cNvSpPr/>
          <p:nvPr/>
        </p:nvSpPr>
        <p:spPr>
          <a:xfrm>
            <a:off x="812800" y="1826258"/>
            <a:ext cx="5130800" cy="967740"/>
          </a:xfrm>
          <a:prstGeom prst="roundRect">
            <a:avLst>
              <a:gd name="adj" fmla="val 10499"/>
            </a:avLst>
          </a:prstGeom>
          <a:solidFill>
            <a:srgbClr val="161B26"/>
          </a:solidFill>
          <a:ln/>
        </p:spPr>
        <p:txBody>
          <a:bodyPr wrap="none" lIns="173442" tIns="122642" rIns="31710"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concurrency: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group: ${{ github.workflow }}-${{ github.ref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cancel-in-progress: true</a:t>
            </a:r>
            <a:endParaRPr lang="en-US" sz="1200" dirty="0"/>
          </a:p>
        </p:txBody>
      </p:sp>
      <p:sp>
        <p:nvSpPr>
          <p:cNvPr id="5" name="Text 3"/>
          <p:cNvSpPr/>
          <p:nvPr/>
        </p:nvSpPr>
        <p:spPr>
          <a:xfrm>
            <a:off x="812800" y="29464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D420E"/>
                </a:solidFill>
                <a:latin typeface="IBM Plex Sans" pitchFamily="34" charset="0"/>
                <a:ea typeface="IBM Plex Sans" pitchFamily="34" charset="-122"/>
                <a:cs typeface="IBM Plex Sans" pitchFamily="34" charset="-120"/>
              </a:rPr>
              <a:t>DEPLOYS: QUEUE, NEVER CANCEL</a:t>
            </a:r>
            <a:endParaRPr lang="en-US" sz="1200" dirty="0"/>
          </a:p>
        </p:txBody>
      </p:sp>
      <p:sp>
        <p:nvSpPr>
          <p:cNvPr id="6" name="Text 4"/>
          <p:cNvSpPr/>
          <p:nvPr/>
        </p:nvSpPr>
        <p:spPr>
          <a:xfrm>
            <a:off x="812800" y="3235958"/>
            <a:ext cx="5130800" cy="1409700"/>
          </a:xfrm>
          <a:prstGeom prst="roundRect">
            <a:avLst>
              <a:gd name="adj" fmla="val 7207"/>
            </a:avLst>
          </a:prstGeom>
          <a:solidFill>
            <a:srgbClr val="161B26"/>
          </a:solidFill>
          <a:ln/>
        </p:spPr>
        <p:txBody>
          <a:bodyPr wrap="none" lIns="173442" tIns="122642" rIns="31710"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deploy: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concurrency: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group: deploy-production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cancel-in-progress: false</a:t>
            </a:r>
            <a:endParaRPr lang="en-US" sz="1200" dirty="0"/>
          </a:p>
        </p:txBody>
      </p:sp>
      <p:sp>
        <p:nvSpPr>
          <p:cNvPr id="7" name="Text 5"/>
          <p:cNvSpPr/>
          <p:nvPr/>
        </p:nvSpPr>
        <p:spPr>
          <a:xfrm>
            <a:off x="6248400" y="153670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D420E"/>
                </a:solidFill>
                <a:latin typeface="IBM Plex Sans" pitchFamily="34" charset="0"/>
                <a:ea typeface="IBM Plex Sans" pitchFamily="34" charset="-122"/>
                <a:cs typeface="IBM Plex Sans" pitchFamily="34" charset="-120"/>
              </a:rPr>
              <a:t>TIMEOUTS</a:t>
            </a:r>
            <a:endParaRPr lang="en-US" sz="1200" dirty="0"/>
          </a:p>
        </p:txBody>
      </p:sp>
      <p:sp>
        <p:nvSpPr>
          <p:cNvPr id="8" name="Text 6"/>
          <p:cNvSpPr/>
          <p:nvPr/>
        </p:nvSpPr>
        <p:spPr>
          <a:xfrm>
            <a:off x="6248400" y="1826258"/>
            <a:ext cx="5130800" cy="1851660"/>
          </a:xfrm>
          <a:prstGeom prst="roundRect">
            <a:avLst>
              <a:gd name="adj" fmla="val 5487"/>
            </a:avLst>
          </a:prstGeom>
          <a:solidFill>
            <a:srgbClr val="161B26"/>
          </a:solidFill>
          <a:ln/>
        </p:spPr>
        <p:txBody>
          <a:bodyPr wrap="none" lIns="173442" tIns="122642" rIns="31710"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timeout-minutes: 15</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default 360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npm 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timeout-minutes: 10</a:t>
            </a:r>
            <a:endParaRPr lang="en-US" sz="1200" dirty="0"/>
          </a:p>
        </p:txBody>
      </p:sp>
      <p:sp>
        <p:nvSpPr>
          <p:cNvPr id="9" name="Text 7"/>
          <p:cNvSpPr/>
          <p:nvPr/>
        </p:nvSpPr>
        <p:spPr>
          <a:xfrm>
            <a:off x="6248400" y="3804927"/>
            <a:ext cx="52847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group runs one at a time. By default only one run waits; a newer one replaces it. </a:t>
            </a:r>
            <a:r>
              <a:rPr lang="en-US" sz="1200" b="1" dirty="0">
                <a:solidFill>
                  <a:srgbClr val="2B3240"/>
                </a:solidFill>
                <a:latin typeface="IBM Plex Sans" pitchFamily="34" charset="0"/>
                <a:ea typeface="IBM Plex Sans" pitchFamily="34" charset="-122"/>
                <a:cs typeface="IBM Plex Sans" pitchFamily="34" charset="-120"/>
              </a:rPr>
              <a:t>queue: max</a:t>
            </a:r>
            <a:r>
              <a:rPr lang="en-US" sz="1200" dirty="0">
                <a:solidFill>
                  <a:srgbClr val="2B3240"/>
                </a:solidFill>
                <a:latin typeface="IBM Plex Sans" pitchFamily="34" charset="0"/>
                <a:ea typeface="IBM Plex Sans" pitchFamily="34" charset="-122"/>
                <a:cs typeface="IBM Plex Sans" pitchFamily="34" charset="-120"/>
              </a:rPr>
              <a:t> keeps up to 100 waiting, in order.</a:t>
            </a:r>
            <a:endParaRPr lang="en-US" sz="1200" dirty="0"/>
          </a:p>
        </p:txBody>
      </p:sp>
      <p:sp>
        <p:nvSpPr>
          <p:cNvPr id="10" name="Text 8"/>
          <p:cNvSpPr/>
          <p:nvPr/>
        </p:nvSpPr>
        <p:spPr>
          <a:xfrm>
            <a:off x="6248400" y="4307842"/>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Timeouts stop hung jobs early and save minutes — the default is 6 hours.</a:t>
            </a:r>
            <a:endParaRPr lang="en-US" sz="1200" dirty="0"/>
          </a:p>
        </p:txBody>
      </p:sp>
      <p:sp>
        <p:nvSpPr>
          <p:cNvPr id="11" name="Text 9"/>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12" name="Text 1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Environments and approvals</a:t>
            </a:r>
            <a:endParaRPr lang="en-US" sz="3000" dirty="0"/>
          </a:p>
        </p:txBody>
      </p:sp>
      <p:sp>
        <p:nvSpPr>
          <p:cNvPr id="3" name="Text 1"/>
          <p:cNvSpPr/>
          <p:nvPr/>
        </p:nvSpPr>
        <p:spPr>
          <a:xfrm>
            <a:off x="812800" y="1536700"/>
            <a:ext cx="5359400" cy="3891280"/>
          </a:xfrm>
          <a:prstGeom prst="roundRect">
            <a:avLst>
              <a:gd name="adj" fmla="val 2611"/>
            </a:avLst>
          </a:prstGeom>
          <a:solidFill>
            <a:srgbClr val="161B26"/>
          </a:solidFill>
          <a:ln/>
        </p:spPr>
        <p:txBody>
          <a:bodyPr wrap="none" lIns="198842" tIns="148042" rIns="51776"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jobs: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deploy-staging: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environment: staging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./deploy.sh staging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deploy-prod: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needs: deploy-staging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environment: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name: production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url: https://shop.example.com</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run: ./deploy.sh production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DEPLOY_KEY: ${{ secrets.DEPLOY_KEY }}</a:t>
            </a:r>
            <a:endParaRPr lang="en-US" sz="1200" dirty="0"/>
          </a:p>
        </p:txBody>
      </p:sp>
      <p:sp>
        <p:nvSpPr>
          <p:cNvPr id="4" name="Text 2"/>
          <p:cNvSpPr/>
          <p:nvPr/>
        </p:nvSpPr>
        <p:spPr>
          <a:xfrm>
            <a:off x="6477000" y="1536700"/>
            <a:ext cx="504926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An </a:t>
            </a:r>
            <a:r>
              <a:rPr lang="en-US" sz="1400" b="1" dirty="0">
                <a:solidFill>
                  <a:srgbClr val="2B3240"/>
                </a:solidFill>
                <a:latin typeface="IBM Plex Sans" pitchFamily="34" charset="0"/>
                <a:ea typeface="IBM Plex Sans" pitchFamily="34" charset="-122"/>
                <a:cs typeface="IBM Plex Sans" pitchFamily="34" charset="-120"/>
              </a:rPr>
              <a:t>environment</a:t>
            </a:r>
            <a:r>
              <a:rPr lang="en-US" sz="1400" dirty="0">
                <a:solidFill>
                  <a:srgbClr val="2B3240"/>
                </a:solidFill>
                <a:latin typeface="IBM Plex Sans" pitchFamily="34" charset="0"/>
                <a:ea typeface="IBM Plex Sans" pitchFamily="34" charset="-122"/>
                <a:cs typeface="IBM Plex Sans" pitchFamily="34" charset="-120"/>
              </a:rPr>
              <a:t> is a deployment target with its own secrets, variables and protection rules.</a:t>
            </a:r>
            <a:endParaRPr lang="en-US" sz="1400" dirty="0"/>
          </a:p>
        </p:txBody>
      </p:sp>
      <p:sp>
        <p:nvSpPr>
          <p:cNvPr id="5" name="Shape 3"/>
          <p:cNvSpPr/>
          <p:nvPr/>
        </p:nvSpPr>
        <p:spPr>
          <a:xfrm>
            <a:off x="6477000" y="2742567"/>
            <a:ext cx="4902200" cy="0"/>
          </a:xfrm>
          <a:prstGeom prst="line">
            <a:avLst/>
          </a:prstGeom>
          <a:noFill/>
          <a:ln w="6350">
            <a:solidFill>
              <a:srgbClr val="E2DED5"/>
            </a:solidFill>
            <a:prstDash val="solid"/>
          </a:ln>
        </p:spPr>
      </p:sp>
      <p:pic>
        <p:nvPicPr>
          <p:cNvPr id="6" name="Image 0" descr="Users">    </p:cNvPr>
          <p:cNvPicPr>
            <a:picLocks noChangeAspect="1"/>
          </p:cNvPicPr>
          <p:nvPr/>
        </p:nvPicPr>
        <p:blipFill>
          <a:blip r:embed="rId1"/>
          <a:srcRect l="0" r="0" t="0" b="0"/>
          <a:stretch/>
        </p:blipFill>
        <p:spPr>
          <a:xfrm>
            <a:off x="6477000" y="2237742"/>
            <a:ext cx="203200" cy="203200"/>
          </a:xfrm>
          <a:prstGeom prst="rect">
            <a:avLst/>
          </a:prstGeom>
        </p:spPr>
      </p:pic>
      <p:sp>
        <p:nvSpPr>
          <p:cNvPr id="7" name="Text 4"/>
          <p:cNvSpPr/>
          <p:nvPr/>
        </p:nvSpPr>
        <p:spPr>
          <a:xfrm>
            <a:off x="6781800" y="2237742"/>
            <a:ext cx="473532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Required reviewers</a:t>
            </a:r>
            <a:r>
              <a:rPr lang="en-US" sz="1200" dirty="0">
                <a:solidFill>
                  <a:srgbClr val="2B3240"/>
                </a:solidFill>
                <a:latin typeface="IBM Plex Sans" pitchFamily="34" charset="0"/>
                <a:ea typeface="IBM Plex Sans" pitchFamily="34" charset="-122"/>
                <a:cs typeface="IBM Plex Sans" pitchFamily="34" charset="-120"/>
              </a:rPr>
              <a:t> — up to six people or teams; the job waits for approval</a:t>
            </a:r>
            <a:endParaRPr lang="en-US" sz="1200" dirty="0"/>
          </a:p>
        </p:txBody>
      </p:sp>
      <p:sp>
        <p:nvSpPr>
          <p:cNvPr id="8" name="Shape 5"/>
          <p:cNvSpPr/>
          <p:nvPr/>
        </p:nvSpPr>
        <p:spPr>
          <a:xfrm>
            <a:off x="6477000" y="3113407"/>
            <a:ext cx="4902200" cy="0"/>
          </a:xfrm>
          <a:prstGeom prst="line">
            <a:avLst/>
          </a:prstGeom>
          <a:noFill/>
          <a:ln w="6350">
            <a:solidFill>
              <a:srgbClr val="E2DED5"/>
            </a:solidFill>
            <a:prstDash val="solid"/>
          </a:ln>
        </p:spPr>
      </p:sp>
      <p:pic>
        <p:nvPicPr>
          <p:cNvPr id="9" name="Image 1" descr="Clock">    </p:cNvPr>
          <p:cNvPicPr>
            <a:picLocks noChangeAspect="1"/>
          </p:cNvPicPr>
          <p:nvPr/>
        </p:nvPicPr>
        <p:blipFill>
          <a:blip r:embed="rId2"/>
          <a:srcRect l="0" r="0" t="0" b="0"/>
          <a:stretch/>
        </p:blipFill>
        <p:spPr>
          <a:xfrm>
            <a:off x="6477000" y="2821942"/>
            <a:ext cx="203200" cy="203200"/>
          </a:xfrm>
          <a:prstGeom prst="rect">
            <a:avLst/>
          </a:prstGeom>
        </p:spPr>
      </p:pic>
      <p:sp>
        <p:nvSpPr>
          <p:cNvPr id="10" name="Text 6"/>
          <p:cNvSpPr/>
          <p:nvPr/>
        </p:nvSpPr>
        <p:spPr>
          <a:xfrm>
            <a:off x="6781800" y="2821942"/>
            <a:ext cx="47353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Wait timers</a:t>
            </a:r>
            <a:r>
              <a:rPr lang="en-US" sz="1200" dirty="0">
                <a:solidFill>
                  <a:srgbClr val="2B3240"/>
                </a:solidFill>
                <a:latin typeface="IBM Plex Sans" pitchFamily="34" charset="0"/>
                <a:ea typeface="IBM Plex Sans" pitchFamily="34" charset="-122"/>
                <a:cs typeface="IBM Plex Sans" pitchFamily="34" charset="-120"/>
              </a:rPr>
              <a:t> — a delay before the job may start</a:t>
            </a:r>
            <a:endParaRPr lang="en-US" sz="1200" dirty="0"/>
          </a:p>
        </p:txBody>
      </p:sp>
      <p:sp>
        <p:nvSpPr>
          <p:cNvPr id="11" name="Shape 7"/>
          <p:cNvSpPr/>
          <p:nvPr/>
        </p:nvSpPr>
        <p:spPr>
          <a:xfrm>
            <a:off x="6477000" y="3484250"/>
            <a:ext cx="4902200" cy="0"/>
          </a:xfrm>
          <a:prstGeom prst="line">
            <a:avLst/>
          </a:prstGeom>
          <a:noFill/>
          <a:ln w="6350">
            <a:solidFill>
              <a:srgbClr val="E2DED5"/>
            </a:solidFill>
            <a:prstDash val="solid"/>
          </a:ln>
        </p:spPr>
      </p:sp>
      <p:pic>
        <p:nvPicPr>
          <p:cNvPr id="12" name="Image 2" descr="Lock">    </p:cNvPr>
          <p:cNvPicPr>
            <a:picLocks noChangeAspect="1"/>
          </p:cNvPicPr>
          <p:nvPr/>
        </p:nvPicPr>
        <p:blipFill>
          <a:blip r:embed="rId3"/>
          <a:srcRect l="0" r="0" t="0" b="0"/>
          <a:stretch/>
        </p:blipFill>
        <p:spPr>
          <a:xfrm>
            <a:off x="6477000" y="3192785"/>
            <a:ext cx="203200" cy="203200"/>
          </a:xfrm>
          <a:prstGeom prst="rect">
            <a:avLst/>
          </a:prstGeom>
        </p:spPr>
      </p:pic>
      <p:sp>
        <p:nvSpPr>
          <p:cNvPr id="13" name="Text 8"/>
          <p:cNvSpPr/>
          <p:nvPr/>
        </p:nvSpPr>
        <p:spPr>
          <a:xfrm>
            <a:off x="6781800" y="3192785"/>
            <a:ext cx="47353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Branch and tag rules</a:t>
            </a:r>
            <a:r>
              <a:rPr lang="en-US" sz="1200" dirty="0">
                <a:solidFill>
                  <a:srgbClr val="2B3240"/>
                </a:solidFill>
                <a:latin typeface="IBM Plex Sans" pitchFamily="34" charset="0"/>
                <a:ea typeface="IBM Plex Sans" pitchFamily="34" charset="-122"/>
                <a:cs typeface="IBM Plex Sans" pitchFamily="34" charset="-120"/>
              </a:rPr>
              <a:t> — only main, or only v* tags, can deploy</a:t>
            </a:r>
            <a:endParaRPr lang="en-US" sz="1200" dirty="0"/>
          </a:p>
        </p:txBody>
      </p:sp>
      <p:sp>
        <p:nvSpPr>
          <p:cNvPr id="14" name="Shape 9"/>
          <p:cNvSpPr/>
          <p:nvPr/>
        </p:nvSpPr>
        <p:spPr>
          <a:xfrm>
            <a:off x="6477000" y="4068452"/>
            <a:ext cx="4902200" cy="0"/>
          </a:xfrm>
          <a:prstGeom prst="line">
            <a:avLst/>
          </a:prstGeom>
          <a:noFill/>
          <a:ln w="6350">
            <a:solidFill>
              <a:srgbClr val="E2DED5"/>
            </a:solidFill>
            <a:prstDash val="solid"/>
          </a:ln>
        </p:spPr>
      </p:sp>
      <p:pic>
        <p:nvPicPr>
          <p:cNvPr id="15" name="Image 3" descr="Activity">    </p:cNvPr>
          <p:cNvPicPr>
            <a:picLocks noChangeAspect="1"/>
          </p:cNvPicPr>
          <p:nvPr/>
        </p:nvPicPr>
        <p:blipFill>
          <a:blip r:embed="rId4"/>
          <a:srcRect l="0" r="0" t="0" b="0"/>
          <a:stretch/>
        </p:blipFill>
        <p:spPr>
          <a:xfrm>
            <a:off x="6477000" y="3563627"/>
            <a:ext cx="203200" cy="203200"/>
          </a:xfrm>
          <a:prstGeom prst="rect">
            <a:avLst/>
          </a:prstGeom>
        </p:spPr>
      </p:pic>
      <p:sp>
        <p:nvSpPr>
          <p:cNvPr id="16" name="Text 10"/>
          <p:cNvSpPr/>
          <p:nvPr/>
        </p:nvSpPr>
        <p:spPr>
          <a:xfrm>
            <a:off x="6781800" y="3563627"/>
            <a:ext cx="473532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Deployment history</a:t>
            </a:r>
            <a:r>
              <a:rPr lang="en-US" sz="1200" dirty="0">
                <a:solidFill>
                  <a:srgbClr val="2B3240"/>
                </a:solidFill>
                <a:latin typeface="IBM Plex Sans" pitchFamily="34" charset="0"/>
                <a:ea typeface="IBM Plex Sans" pitchFamily="34" charset="-122"/>
                <a:cs typeface="IBM Plex Sans" pitchFamily="34" charset="-120"/>
              </a:rPr>
              <a:t> and the live URL appear on the repository page</a:t>
            </a:r>
            <a:endParaRPr lang="en-US" sz="1200" dirty="0"/>
          </a:p>
        </p:txBody>
      </p:sp>
      <p:sp>
        <p:nvSpPr>
          <p:cNvPr id="17" name="Text 11"/>
          <p:cNvSpPr/>
          <p:nvPr/>
        </p:nvSpPr>
        <p:spPr>
          <a:xfrm>
            <a:off x="6477000" y="4198627"/>
            <a:ext cx="504926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Here DEPLOY_KEY can be a production-only secret that staging jobs never see.</a:t>
            </a:r>
            <a:endParaRPr lang="en-US" sz="1200" dirty="0"/>
          </a:p>
        </p:txBody>
      </p:sp>
      <p:sp>
        <p:nvSpPr>
          <p:cNvPr id="18" name="Text 12"/>
          <p:cNvSpPr/>
          <p:nvPr/>
        </p:nvSpPr>
        <p:spPr>
          <a:xfrm>
            <a:off x="812800" y="6238242"/>
            <a:ext cx="40720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Scale and runners</a:t>
            </a:r>
            <a:endParaRPr lang="en-US" sz="1200" dirty="0"/>
          </a:p>
        </p:txBody>
      </p:sp>
      <p:sp>
        <p:nvSpPr>
          <p:cNvPr id="19"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Putting it together (1 of 2): CI</a:t>
            </a:r>
            <a:endParaRPr lang="en-US" sz="3000" dirty="0"/>
          </a:p>
        </p:txBody>
      </p:sp>
      <p:sp>
        <p:nvSpPr>
          <p:cNvPr id="3" name="Text 1"/>
          <p:cNvSpPr/>
          <p:nvPr/>
        </p:nvSpPr>
        <p:spPr>
          <a:xfrm>
            <a:off x="812800" y="1485900"/>
            <a:ext cx="7355840" cy="3983196"/>
          </a:xfrm>
          <a:prstGeom prst="roundRect">
            <a:avLst>
              <a:gd name="adj" fmla="val 2551"/>
            </a:avLst>
          </a:prstGeom>
          <a:solidFill>
            <a:srgbClr val="161B26"/>
          </a:solidFill>
          <a:ln/>
        </p:spPr>
        <p:txBody>
          <a:bodyPr wrap="none" lIns="198842" tIns="122642" rIns="0" bIns="97242" rtlCol="0" anchor="t">
            <a:normAutofit/>
          </a:bodyPr>
          <a:lstStyle/>
          <a:p>
            <a:pPr algn="l" indent="0" marL="0">
              <a:lnSpc>
                <a:spcPts val="1704"/>
              </a:lnSpc>
              <a:buNone/>
            </a:pPr>
            <a:r>
              <a:rPr lang="en-US" sz="1200" dirty="0">
                <a:solidFill>
                  <a:srgbClr val="FFA06A"/>
                </a:solidFill>
                <a:latin typeface="JetBrains Mono" pitchFamily="49" charset="0"/>
                <a:ea typeface="JetBrains Mono" pitchFamily="49" charset="-122"/>
                <a:cs typeface="JetBrains Mono" pitchFamily="49" charset="-120"/>
              </a:rPr>
              <a:t>1</a:t>
            </a:r>
            <a:r>
              <a:rPr lang="en-US" sz="1200" dirty="0">
                <a:solidFill>
                  <a:srgbClr val="E4E7EC"/>
                </a:solidFill>
                <a:latin typeface="JetBrains Mono" pitchFamily="49" charset="0"/>
                <a:ea typeface="JetBrains Mono" pitchFamily="49" charset="-122"/>
                <a:cs typeface="JetBrains Mono" pitchFamily="49" charset="-120"/>
              </a:rPr>
              <a:t> on:</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push: {branches: [main], paths-ignore: ['docs/**']}</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pull_request:</a:t>
            </a:r>
            <a:endParaRPr lang="en-US" sz="1200" dirty="0"/>
          </a:p>
          <a:p>
            <a:pPr algn="l" indent="0" marL="0">
              <a:lnSpc>
                <a:spcPts val="1704"/>
              </a:lnSpc>
              <a:buNone/>
            </a:pPr>
            <a:r>
              <a:rPr lang="en-US" sz="1200" dirty="0">
                <a:solidFill>
                  <a:srgbClr val="FFA06A"/>
                </a:solidFill>
                <a:latin typeface="JetBrains Mono" pitchFamily="49" charset="0"/>
                <a:ea typeface="JetBrains Mono" pitchFamily="49" charset="-122"/>
                <a:cs typeface="JetBrains Mono" pitchFamily="49" charset="-120"/>
              </a:rPr>
              <a:t>2</a:t>
            </a:r>
            <a:r>
              <a:rPr lang="en-US" sz="1200" dirty="0">
                <a:solidFill>
                  <a:srgbClr val="E4E7EC"/>
                </a:solidFill>
                <a:latin typeface="JetBrains Mono" pitchFamily="49" charset="0"/>
                <a:ea typeface="JetBrains Mono" pitchFamily="49" charset="-122"/>
                <a:cs typeface="JetBrains Mono" pitchFamily="49" charset="-120"/>
              </a:rPr>
              <a:t> concurrency:</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group: ${{ github.workflow }}-${{ github.ref }}</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cancel-in-progress: ${{ github.event_name == 'pull_request' }}</a:t>
            </a:r>
            <a:endParaRPr lang="en-US" sz="1200" dirty="0"/>
          </a:p>
          <a:p>
            <a:pPr algn="l" indent="0" marL="0">
              <a:lnSpc>
                <a:spcPts val="1704"/>
              </a:lnSpc>
              <a:buNone/>
            </a:pPr>
            <a:r>
              <a:rPr lang="en-US" sz="1200" dirty="0">
                <a:solidFill>
                  <a:srgbClr val="FFA06A"/>
                </a:solidFill>
                <a:latin typeface="JetBrains Mono" pitchFamily="49" charset="0"/>
                <a:ea typeface="JetBrains Mono" pitchFamily="49" charset="-122"/>
                <a:cs typeface="JetBrains Mono" pitchFamily="49" charset="-120"/>
              </a:rPr>
              <a:t>3</a:t>
            </a:r>
            <a:r>
              <a:rPr lang="en-US" sz="1200" dirty="0">
                <a:solidFill>
                  <a:srgbClr val="E4E7EC"/>
                </a:solidFill>
                <a:latin typeface="JetBrains Mono" pitchFamily="49" charset="0"/>
                <a:ea typeface="JetBrains Mono" pitchFamily="49" charset="-122"/>
                <a:cs typeface="JetBrains Mono" pitchFamily="49" charset="-120"/>
              </a:rPr>
              <a:t> permissions: {contents: read}</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jobs:</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test:</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704"/>
              </a:lnSpc>
              <a:buNone/>
            </a:pPr>
            <a:r>
              <a:rPr lang="en-US" sz="1200" dirty="0">
                <a:solidFill>
                  <a:srgbClr val="FFA06A"/>
                </a:solidFill>
                <a:latin typeface="JetBrains Mono" pitchFamily="49" charset="0"/>
                <a:ea typeface="JetBrains Mono" pitchFamily="49" charset="-122"/>
                <a:cs typeface="JetBrains Mono" pitchFamily="49" charset="-120"/>
              </a:rPr>
              <a:t>4</a:t>
            </a:r>
            <a:r>
              <a:rPr lang="en-US" sz="1200" dirty="0">
                <a:solidFill>
                  <a:srgbClr val="E4E7EC"/>
                </a:solidFill>
                <a:latin typeface="JetBrains Mono" pitchFamily="49" charset="0"/>
                <a:ea typeface="JetBrains Mono" pitchFamily="49" charset="-122"/>
                <a:cs typeface="JetBrains Mono" pitchFamily="49" charset="-120"/>
              </a:rPr>
              <a:t>     timeout-minutes: 15</a:t>
            </a:r>
            <a:endParaRPr lang="en-US" sz="1200" dirty="0"/>
          </a:p>
          <a:p>
            <a:pPr algn="l" indent="0" marL="0">
              <a:lnSpc>
                <a:spcPts val="1704"/>
              </a:lnSpc>
              <a:buNone/>
            </a:pPr>
            <a:r>
              <a:rPr lang="en-US" sz="1200" dirty="0">
                <a:solidFill>
                  <a:srgbClr val="FFA06A"/>
                </a:solidFill>
                <a:latin typeface="JetBrains Mono" pitchFamily="49" charset="0"/>
                <a:ea typeface="JetBrains Mono" pitchFamily="49" charset="-122"/>
                <a:cs typeface="JetBrains Mono" pitchFamily="49" charset="-120"/>
              </a:rPr>
              <a:t>5</a:t>
            </a:r>
            <a:r>
              <a:rPr lang="en-US" sz="1200" dirty="0">
                <a:solidFill>
                  <a:srgbClr val="E4E7EC"/>
                </a:solidFill>
                <a:latin typeface="JetBrains Mono" pitchFamily="49" charset="0"/>
                <a:ea typeface="JetBrains Mono" pitchFamily="49" charset="-122"/>
                <a:cs typeface="JetBrains Mono" pitchFamily="49" charset="-120"/>
              </a:rPr>
              <a:t>     strategy: {matrix: {node: [22, 24]}}</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 uses: actions/checkout@v7</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 uses: actions/setup-node@v7</a:t>
            </a:r>
            <a:endParaRPr lang="en-US" sz="1200" dirty="0"/>
          </a:p>
          <a:p>
            <a:pPr algn="l" indent="0" marL="0">
              <a:lnSpc>
                <a:spcPts val="1704"/>
              </a:lnSpc>
              <a:buNone/>
            </a:pPr>
            <a:r>
              <a:rPr lang="en-US" sz="1200" dirty="0">
                <a:solidFill>
                  <a:srgbClr val="FFA06A"/>
                </a:solidFill>
                <a:latin typeface="JetBrains Mono" pitchFamily="49" charset="0"/>
                <a:ea typeface="JetBrains Mono" pitchFamily="49" charset="-122"/>
                <a:cs typeface="JetBrains Mono" pitchFamily="49" charset="-120"/>
              </a:rPr>
              <a:t>6</a:t>
            </a:r>
            <a:r>
              <a:rPr lang="en-US" sz="1200" dirty="0">
                <a:solidFill>
                  <a:srgbClr val="E4E7EC"/>
                </a:solidFill>
                <a:latin typeface="JetBrains Mono" pitchFamily="49" charset="0"/>
                <a:ea typeface="JetBrains Mono" pitchFamily="49" charset="-122"/>
                <a:cs typeface="JetBrains Mono" pitchFamily="49" charset="-120"/>
              </a:rPr>
              <a:t>         with: {node-version: '${{ matrix.node }}', cache: npm}</a:t>
            </a:r>
            <a:endParaRPr lang="en-US" sz="1200" dirty="0"/>
          </a:p>
          <a:p>
            <a:pPr algn="l" indent="0" marL="0">
              <a:lnSpc>
                <a:spcPts val="1704"/>
              </a:lnSpc>
              <a:buNone/>
            </a:pPr>
            <a:r>
              <a:rPr lang="en-US" sz="1200" dirty="0">
                <a:solidFill>
                  <a:srgbClr val="E4E7EC"/>
                </a:solidFill>
                <a:latin typeface="JetBrains Mono" pitchFamily="49" charset="0"/>
                <a:ea typeface="JetBrains Mono" pitchFamily="49" charset="-122"/>
                <a:cs typeface="JetBrains Mono" pitchFamily="49" charset="-120"/>
              </a:rPr>
              <a:t>        - run: npm ci &amp;&amp; npm test</a:t>
            </a:r>
            <a:endParaRPr lang="en-US" sz="1200" dirty="0"/>
          </a:p>
        </p:txBody>
      </p:sp>
      <p:sp>
        <p:nvSpPr>
          <p:cNvPr id="4" name="Shape 2"/>
          <p:cNvSpPr/>
          <p:nvPr/>
        </p:nvSpPr>
        <p:spPr>
          <a:xfrm>
            <a:off x="8422640" y="1828165"/>
            <a:ext cx="2956560" cy="0"/>
          </a:xfrm>
          <a:prstGeom prst="line">
            <a:avLst/>
          </a:prstGeom>
          <a:noFill/>
          <a:ln w="6350">
            <a:solidFill>
              <a:srgbClr val="E2DED5"/>
            </a:solidFill>
            <a:prstDash val="solid"/>
          </a:ln>
        </p:spPr>
      </p:sp>
      <p:sp>
        <p:nvSpPr>
          <p:cNvPr id="5" name="Text 3"/>
          <p:cNvSpPr/>
          <p:nvPr/>
        </p:nvSpPr>
        <p:spPr>
          <a:xfrm>
            <a:off x="8422640" y="1549400"/>
            <a:ext cx="254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8714740" y="1549400"/>
            <a:ext cx="2744394"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3240"/>
                </a:solidFill>
                <a:latin typeface="IBM Plex Sans" pitchFamily="34" charset="0"/>
                <a:ea typeface="IBM Plex Sans" pitchFamily="34" charset="-122"/>
                <a:cs typeface="IBM Plex Sans" pitchFamily="34" charset="-120"/>
              </a:rPr>
              <a:t>Triggers with a path filter </a:t>
            </a:r>
            <a:r>
              <a:rPr lang="en-US" sz="1200" dirty="0">
                <a:solidFill>
                  <a:srgbClr val="5D6470"/>
                </a:solidFill>
                <a:latin typeface="IBM Plex Sans" pitchFamily="34" charset="0"/>
                <a:ea typeface="IBM Plex Sans" pitchFamily="34" charset="-122"/>
                <a:cs typeface="IBM Plex Sans" pitchFamily="34" charset="-120"/>
              </a:rPr>
              <a:t>(7–8)</a:t>
            </a:r>
            <a:endParaRPr lang="en-US" sz="1200" dirty="0"/>
          </a:p>
        </p:txBody>
      </p:sp>
      <p:sp>
        <p:nvSpPr>
          <p:cNvPr id="7" name="Shape 5"/>
          <p:cNvSpPr/>
          <p:nvPr/>
        </p:nvSpPr>
        <p:spPr>
          <a:xfrm>
            <a:off x="8422640" y="2173607"/>
            <a:ext cx="2956560" cy="0"/>
          </a:xfrm>
          <a:prstGeom prst="line">
            <a:avLst/>
          </a:prstGeom>
          <a:noFill/>
          <a:ln w="6350">
            <a:solidFill>
              <a:srgbClr val="E2DED5"/>
            </a:solidFill>
            <a:prstDash val="solid"/>
          </a:ln>
        </p:spPr>
      </p:sp>
      <p:sp>
        <p:nvSpPr>
          <p:cNvPr id="8" name="Text 6"/>
          <p:cNvSpPr/>
          <p:nvPr/>
        </p:nvSpPr>
        <p:spPr>
          <a:xfrm>
            <a:off x="8422640" y="1894842"/>
            <a:ext cx="254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2</a:t>
            </a:r>
            <a:endParaRPr lang="en-US" sz="1200" dirty="0"/>
          </a:p>
        </p:txBody>
      </p:sp>
      <p:sp>
        <p:nvSpPr>
          <p:cNvPr id="9" name="Text 7"/>
          <p:cNvSpPr/>
          <p:nvPr/>
        </p:nvSpPr>
        <p:spPr>
          <a:xfrm>
            <a:off x="8714740" y="1894842"/>
            <a:ext cx="2744394"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3240"/>
                </a:solidFill>
                <a:latin typeface="IBM Plex Sans" pitchFamily="34" charset="0"/>
                <a:ea typeface="IBM Plex Sans" pitchFamily="34" charset="-122"/>
                <a:cs typeface="IBM Plex Sans" pitchFamily="34" charset="-120"/>
              </a:rPr>
              <a:t>Cancel stale PR runs, never main </a:t>
            </a:r>
            <a:r>
              <a:rPr lang="en-US" sz="1200" dirty="0">
                <a:solidFill>
                  <a:srgbClr val="5D6470"/>
                </a:solidFill>
                <a:latin typeface="IBM Plex Sans" pitchFamily="34" charset="0"/>
                <a:ea typeface="IBM Plex Sans" pitchFamily="34" charset="-122"/>
                <a:cs typeface="IBM Plex Sans" pitchFamily="34" charset="-120"/>
              </a:rPr>
              <a:t>(23)</a:t>
            </a:r>
            <a:endParaRPr lang="en-US" sz="1200" dirty="0"/>
          </a:p>
        </p:txBody>
      </p:sp>
      <p:sp>
        <p:nvSpPr>
          <p:cNvPr id="10" name="Shape 8"/>
          <p:cNvSpPr/>
          <p:nvPr/>
        </p:nvSpPr>
        <p:spPr>
          <a:xfrm>
            <a:off x="8422640" y="2519050"/>
            <a:ext cx="2956560" cy="0"/>
          </a:xfrm>
          <a:prstGeom prst="line">
            <a:avLst/>
          </a:prstGeom>
          <a:noFill/>
          <a:ln w="6350">
            <a:solidFill>
              <a:srgbClr val="E2DED5"/>
            </a:solidFill>
            <a:prstDash val="solid"/>
          </a:ln>
        </p:spPr>
      </p:sp>
      <p:sp>
        <p:nvSpPr>
          <p:cNvPr id="11" name="Text 9"/>
          <p:cNvSpPr/>
          <p:nvPr/>
        </p:nvSpPr>
        <p:spPr>
          <a:xfrm>
            <a:off x="8422640" y="2240285"/>
            <a:ext cx="254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3</a:t>
            </a:r>
            <a:endParaRPr lang="en-US" sz="1200" dirty="0"/>
          </a:p>
        </p:txBody>
      </p:sp>
      <p:sp>
        <p:nvSpPr>
          <p:cNvPr id="12" name="Text 10"/>
          <p:cNvSpPr/>
          <p:nvPr/>
        </p:nvSpPr>
        <p:spPr>
          <a:xfrm>
            <a:off x="8714740" y="2240285"/>
            <a:ext cx="2744394"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3240"/>
                </a:solidFill>
                <a:latin typeface="IBM Plex Sans" pitchFamily="34" charset="0"/>
                <a:ea typeface="IBM Plex Sans" pitchFamily="34" charset="-122"/>
                <a:cs typeface="IBM Plex Sans" pitchFamily="34" charset="-120"/>
              </a:rPr>
              <a:t>Least-privilege token </a:t>
            </a:r>
            <a:r>
              <a:rPr lang="en-US" sz="1200" dirty="0">
                <a:solidFill>
                  <a:srgbClr val="5D6470"/>
                </a:solidFill>
                <a:latin typeface="IBM Plex Sans" pitchFamily="34" charset="0"/>
                <a:ea typeface="IBM Plex Sans" pitchFamily="34" charset="-122"/>
                <a:cs typeface="IBM Plex Sans" pitchFamily="34" charset="-120"/>
              </a:rPr>
              <a:t>(17)</a:t>
            </a:r>
            <a:endParaRPr lang="en-US" sz="1200" dirty="0"/>
          </a:p>
        </p:txBody>
      </p:sp>
      <p:sp>
        <p:nvSpPr>
          <p:cNvPr id="13" name="Shape 11"/>
          <p:cNvSpPr/>
          <p:nvPr/>
        </p:nvSpPr>
        <p:spPr>
          <a:xfrm>
            <a:off x="8422640" y="2864492"/>
            <a:ext cx="2956560" cy="0"/>
          </a:xfrm>
          <a:prstGeom prst="line">
            <a:avLst/>
          </a:prstGeom>
          <a:noFill/>
          <a:ln w="6350">
            <a:solidFill>
              <a:srgbClr val="E2DED5"/>
            </a:solidFill>
            <a:prstDash val="solid"/>
          </a:ln>
        </p:spPr>
      </p:sp>
      <p:sp>
        <p:nvSpPr>
          <p:cNvPr id="14" name="Text 12"/>
          <p:cNvSpPr/>
          <p:nvPr/>
        </p:nvSpPr>
        <p:spPr>
          <a:xfrm>
            <a:off x="8422640" y="2585727"/>
            <a:ext cx="254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4</a:t>
            </a:r>
            <a:endParaRPr lang="en-US" sz="1200" dirty="0"/>
          </a:p>
        </p:txBody>
      </p:sp>
      <p:sp>
        <p:nvSpPr>
          <p:cNvPr id="15" name="Text 13"/>
          <p:cNvSpPr/>
          <p:nvPr/>
        </p:nvSpPr>
        <p:spPr>
          <a:xfrm>
            <a:off x="8714740" y="2585727"/>
            <a:ext cx="2744394"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3240"/>
                </a:solidFill>
                <a:latin typeface="IBM Plex Sans" pitchFamily="34" charset="0"/>
                <a:ea typeface="IBM Plex Sans" pitchFamily="34" charset="-122"/>
                <a:cs typeface="IBM Plex Sans" pitchFamily="34" charset="-120"/>
              </a:rPr>
              <a:t>A timeout for hung tests </a:t>
            </a:r>
            <a:r>
              <a:rPr lang="en-US" sz="1200" dirty="0">
                <a:solidFill>
                  <a:srgbClr val="5D6470"/>
                </a:solidFill>
                <a:latin typeface="IBM Plex Sans" pitchFamily="34" charset="0"/>
                <a:ea typeface="IBM Plex Sans" pitchFamily="34" charset="-122"/>
                <a:cs typeface="IBM Plex Sans" pitchFamily="34" charset="-120"/>
              </a:rPr>
              <a:t>(23)</a:t>
            </a:r>
            <a:endParaRPr lang="en-US" sz="1200" dirty="0"/>
          </a:p>
        </p:txBody>
      </p:sp>
      <p:sp>
        <p:nvSpPr>
          <p:cNvPr id="16" name="Shape 14"/>
          <p:cNvSpPr/>
          <p:nvPr/>
        </p:nvSpPr>
        <p:spPr>
          <a:xfrm>
            <a:off x="8422640" y="3209923"/>
            <a:ext cx="2956560" cy="0"/>
          </a:xfrm>
          <a:prstGeom prst="line">
            <a:avLst/>
          </a:prstGeom>
          <a:noFill/>
          <a:ln w="6350">
            <a:solidFill>
              <a:srgbClr val="E2DED5"/>
            </a:solidFill>
            <a:prstDash val="solid"/>
          </a:ln>
        </p:spPr>
      </p:sp>
      <p:sp>
        <p:nvSpPr>
          <p:cNvPr id="17" name="Text 15"/>
          <p:cNvSpPr/>
          <p:nvPr/>
        </p:nvSpPr>
        <p:spPr>
          <a:xfrm>
            <a:off x="8422640" y="2931158"/>
            <a:ext cx="254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5</a:t>
            </a:r>
            <a:endParaRPr lang="en-US" sz="1200" dirty="0"/>
          </a:p>
        </p:txBody>
      </p:sp>
      <p:sp>
        <p:nvSpPr>
          <p:cNvPr id="18" name="Text 16"/>
          <p:cNvSpPr/>
          <p:nvPr/>
        </p:nvSpPr>
        <p:spPr>
          <a:xfrm>
            <a:off x="8714740" y="2931158"/>
            <a:ext cx="2744394"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3240"/>
                </a:solidFill>
                <a:latin typeface="IBM Plex Sans" pitchFamily="34" charset="0"/>
                <a:ea typeface="IBM Plex Sans" pitchFamily="34" charset="-122"/>
                <a:cs typeface="IBM Plex Sans" pitchFamily="34" charset="-120"/>
              </a:rPr>
              <a:t>Two Node versions in parallel </a:t>
            </a:r>
            <a:r>
              <a:rPr lang="en-US" sz="1200" dirty="0">
                <a:solidFill>
                  <a:srgbClr val="5D6470"/>
                </a:solidFill>
                <a:latin typeface="IBM Plex Sans" pitchFamily="34" charset="0"/>
                <a:ea typeface="IBM Plex Sans" pitchFamily="34" charset="-122"/>
                <a:cs typeface="IBM Plex Sans" pitchFamily="34" charset="-120"/>
              </a:rPr>
              <a:t>(18)</a:t>
            </a:r>
            <a:endParaRPr lang="en-US" sz="1200" dirty="0"/>
          </a:p>
        </p:txBody>
      </p:sp>
      <p:sp>
        <p:nvSpPr>
          <p:cNvPr id="19" name="Shape 17"/>
          <p:cNvSpPr/>
          <p:nvPr/>
        </p:nvSpPr>
        <p:spPr>
          <a:xfrm>
            <a:off x="8422640" y="3555365"/>
            <a:ext cx="2956560" cy="0"/>
          </a:xfrm>
          <a:prstGeom prst="line">
            <a:avLst/>
          </a:prstGeom>
          <a:noFill/>
          <a:ln w="6350">
            <a:solidFill>
              <a:srgbClr val="E2DED5"/>
            </a:solidFill>
            <a:prstDash val="solid"/>
          </a:ln>
        </p:spPr>
      </p:sp>
      <p:sp>
        <p:nvSpPr>
          <p:cNvPr id="20" name="Text 18"/>
          <p:cNvSpPr/>
          <p:nvPr/>
        </p:nvSpPr>
        <p:spPr>
          <a:xfrm>
            <a:off x="8422640" y="3276600"/>
            <a:ext cx="2540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JetBrains Mono" pitchFamily="49" charset="0"/>
                <a:ea typeface="JetBrains Mono" pitchFamily="49" charset="-122"/>
                <a:cs typeface="JetBrains Mono" pitchFamily="49" charset="-120"/>
              </a:rPr>
              <a:t>6</a:t>
            </a:r>
            <a:endParaRPr lang="en-US" sz="1200" dirty="0"/>
          </a:p>
        </p:txBody>
      </p:sp>
      <p:sp>
        <p:nvSpPr>
          <p:cNvPr id="21" name="Text 19"/>
          <p:cNvSpPr/>
          <p:nvPr/>
        </p:nvSpPr>
        <p:spPr>
          <a:xfrm>
            <a:off x="8714740" y="3276600"/>
            <a:ext cx="2744394" cy="2387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B3240"/>
                </a:solidFill>
                <a:latin typeface="IBM Plex Sans" pitchFamily="34" charset="0"/>
                <a:ea typeface="IBM Plex Sans" pitchFamily="34" charset="-122"/>
                <a:cs typeface="IBM Plex Sans" pitchFamily="34" charset="-120"/>
              </a:rPr>
              <a:t>Built-in npm caching </a:t>
            </a:r>
            <a:r>
              <a:rPr lang="en-US" sz="1200" dirty="0">
                <a:solidFill>
                  <a:srgbClr val="5D6470"/>
                </a:solidFill>
                <a:latin typeface="IBM Plex Sans" pitchFamily="34" charset="0"/>
                <a:ea typeface="IBM Plex Sans" pitchFamily="34" charset="-122"/>
                <a:cs typeface="IBM Plex Sans" pitchFamily="34" charset="-120"/>
              </a:rPr>
              <a:t>(19)</a:t>
            </a:r>
            <a:endParaRPr lang="en-US" sz="1200" dirty="0"/>
          </a:p>
        </p:txBody>
      </p:sp>
      <p:sp>
        <p:nvSpPr>
          <p:cNvPr id="22" name="Text 20"/>
          <p:cNvSpPr/>
          <p:nvPr/>
        </p:nvSpPr>
        <p:spPr>
          <a:xfrm>
            <a:off x="812800" y="6238242"/>
            <a:ext cx="40779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Putting it together</a:t>
            </a:r>
            <a:endParaRPr lang="en-US" sz="1200" dirty="0"/>
          </a:p>
        </p:txBody>
      </p:sp>
      <p:sp>
        <p:nvSpPr>
          <p:cNvPr id="23" name="Text 2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Putting it together (2 of 2): CD</a:t>
            </a:r>
            <a:endParaRPr lang="en-US" sz="3000" dirty="0"/>
          </a:p>
        </p:txBody>
      </p:sp>
      <p:sp>
        <p:nvSpPr>
          <p:cNvPr id="3" name="Text 1"/>
          <p:cNvSpPr/>
          <p:nvPr/>
        </p:nvSpPr>
        <p:spPr>
          <a:xfrm>
            <a:off x="812800" y="1485900"/>
            <a:ext cx="6123940" cy="4145280"/>
          </a:xfrm>
          <a:prstGeom prst="roundRect">
            <a:avLst>
              <a:gd name="adj" fmla="val 2451"/>
            </a:avLst>
          </a:prstGeom>
          <a:solidFill>
            <a:srgbClr val="161B26"/>
          </a:solidFill>
          <a:ln/>
        </p:spPr>
        <p:txBody>
          <a:bodyPr wrap="none" lIns="198842" tIns="122642" rIns="28840" bIns="97242" rtlCol="0" anchor="t">
            <a:normAutofit/>
          </a:bodyPr>
          <a:lstStyle/>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build:</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needs: test</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 uses: actions/checkout@v7</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 run: npm ci &amp;&amp; npm run build</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 uses: </a:t>
            </a:r>
            <a:r>
              <a:rPr lang="en-US" sz="1200" dirty="0">
                <a:solidFill>
                  <a:srgbClr val="FFA06A"/>
                </a:solidFill>
                <a:latin typeface="JetBrains Mono" pitchFamily="49" charset="0"/>
                <a:ea typeface="JetBrains Mono" pitchFamily="49" charset="-122"/>
                <a:cs typeface="JetBrains Mono" pitchFamily="49" charset="-120"/>
              </a:rPr>
              <a:t>actions/upload-artifact@v7</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with: {name: dist, path: dist/}</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deploy:</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needs: build</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if: github.event_name == 'push'</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FFA06A"/>
                </a:solidFill>
                <a:latin typeface="JetBrains Mono" pitchFamily="49" charset="0"/>
                <a:ea typeface="JetBrains Mono" pitchFamily="49" charset="-122"/>
                <a:cs typeface="JetBrains Mono" pitchFamily="49" charset="-120"/>
              </a:rPr>
              <a:t>environment: production</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steps:</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 uses: </a:t>
            </a:r>
            <a:r>
              <a:rPr lang="en-US" sz="1200" dirty="0">
                <a:solidFill>
                  <a:srgbClr val="FFA06A"/>
                </a:solidFill>
                <a:latin typeface="JetBrains Mono" pitchFamily="49" charset="0"/>
                <a:ea typeface="JetBrains Mono" pitchFamily="49" charset="-122"/>
                <a:cs typeface="JetBrains Mono" pitchFamily="49" charset="-120"/>
              </a:rPr>
              <a:t>actions/download-artifact@v8</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with: {name: dist, path: dist/}</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 run: ./scripts/deploy.sh</a:t>
            </a:r>
            <a:endParaRPr lang="en-US" sz="1200" dirty="0"/>
          </a:p>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env: {DEPLOY_TOKEN: '${{ secrets.DEPLOY_TOKEN }}'}</a:t>
            </a:r>
            <a:endParaRPr lang="en-US" sz="1200" dirty="0"/>
          </a:p>
        </p:txBody>
      </p:sp>
      <p:sp>
        <p:nvSpPr>
          <p:cNvPr id="4" name="Text 2"/>
          <p:cNvSpPr/>
          <p:nvPr/>
        </p:nvSpPr>
        <p:spPr>
          <a:xfrm>
            <a:off x="7190740" y="1485900"/>
            <a:ext cx="1337786" cy="340360"/>
          </a:xfrm>
          <a:custGeom>
            <a:avLst/>
            <a:gdLst/>
            <a:ahLst/>
            <a:cxnLst/>
            <a:rect l="l" t="t" r="r" b="b"/>
            <a:pathLst>
              <a:path w="1337786" h="340360">
                <a:moveTo>
                  <a:pt x="63500" y="0"/>
                </a:moveTo>
                <a:lnTo>
                  <a:pt x="1274286" y="0"/>
                </a:lnTo>
                <a:arcTo hR="63500" wR="63500" stAng="16200000" swAng="5400000"/>
                <a:lnTo>
                  <a:pt x="1337786" y="276860"/>
                </a:lnTo>
                <a:arcTo hR="63500" wR="63500" stAng="0" swAng="5400000"/>
                <a:lnTo>
                  <a:pt x="63500" y="340360"/>
                </a:lnTo>
                <a:arcTo hR="63500" wR="63500" stAng="5400000" swAng="5400000"/>
                <a:lnTo>
                  <a:pt x="0" y="63500"/>
                </a:lnTo>
                <a:arcTo hR="63500" wR="63500" stAng="10800000" swAng="5400000"/>
                <a:close/>
              </a:path>
            </a:pathLst>
          </a:custGeom>
          <a:solidFill>
            <a:srgbClr val="FFE3D3"/>
          </a:solidFill>
          <a:ln/>
        </p:spPr>
        <p:txBody>
          <a:bodyPr wrap="square" lIns="12700" tIns="63500" rIns="12700" bIns="381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test ×2</a:t>
            </a:r>
            <a:endParaRPr lang="en-US" sz="1200" dirty="0"/>
          </a:p>
        </p:txBody>
      </p:sp>
      <p:pic>
        <p:nvPicPr>
          <p:cNvPr id="5" name="Image 0" descr="arrow-right">    </p:cNvPr>
          <p:cNvPicPr>
            <a:picLocks noChangeAspect="1"/>
          </p:cNvPicPr>
          <p:nvPr/>
        </p:nvPicPr>
        <p:blipFill>
          <a:blip r:embed="rId1"/>
          <a:srcRect l="0" r="0" t="0" b="0"/>
          <a:stretch/>
        </p:blipFill>
        <p:spPr>
          <a:xfrm>
            <a:off x="8592027" y="1605285"/>
            <a:ext cx="203200" cy="101600"/>
          </a:xfrm>
          <a:prstGeom prst="rect">
            <a:avLst/>
          </a:prstGeom>
        </p:spPr>
      </p:pic>
      <p:sp>
        <p:nvSpPr>
          <p:cNvPr id="6" name="Text 3"/>
          <p:cNvSpPr/>
          <p:nvPr/>
        </p:nvSpPr>
        <p:spPr>
          <a:xfrm>
            <a:off x="8858727" y="1485900"/>
            <a:ext cx="1046639" cy="340360"/>
          </a:xfrm>
          <a:custGeom>
            <a:avLst/>
            <a:gdLst/>
            <a:ahLst/>
            <a:cxnLst/>
            <a:rect l="l" t="t" r="r" b="b"/>
            <a:pathLst>
              <a:path w="1046639" h="340360">
                <a:moveTo>
                  <a:pt x="63500" y="0"/>
                </a:moveTo>
                <a:lnTo>
                  <a:pt x="983139" y="0"/>
                </a:lnTo>
                <a:arcTo hR="63500" wR="63500" stAng="16200000" swAng="5400000"/>
                <a:lnTo>
                  <a:pt x="1046639" y="276860"/>
                </a:lnTo>
                <a:arcTo hR="63500" wR="63500" stAng="0" swAng="5400000"/>
                <a:lnTo>
                  <a:pt x="63500" y="340360"/>
                </a:lnTo>
                <a:arcTo hR="63500" wR="63500" stAng="5400000" swAng="5400000"/>
                <a:lnTo>
                  <a:pt x="0" y="63500"/>
                </a:lnTo>
                <a:arcTo hR="63500" wR="63500" stAng="10800000" swAng="5400000"/>
                <a:close/>
              </a:path>
            </a:pathLst>
          </a:custGeom>
          <a:solidFill>
            <a:srgbClr val="FFE3D3"/>
          </a:solidFill>
          <a:ln/>
        </p:spPr>
        <p:txBody>
          <a:bodyPr wrap="square" lIns="12700" tIns="63500" rIns="12700" bIns="381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build</a:t>
            </a:r>
            <a:endParaRPr lang="en-US" sz="1200" dirty="0"/>
          </a:p>
        </p:txBody>
      </p:sp>
      <p:pic>
        <p:nvPicPr>
          <p:cNvPr id="7" name="Image 1" descr="arrow-right">    </p:cNvPr>
          <p:cNvPicPr>
            <a:picLocks noChangeAspect="1"/>
          </p:cNvPicPr>
          <p:nvPr/>
        </p:nvPicPr>
        <p:blipFill>
          <a:blip r:embed="rId2"/>
          <a:srcRect l="0" r="0" t="0" b="0"/>
          <a:stretch/>
        </p:blipFill>
        <p:spPr>
          <a:xfrm>
            <a:off x="9968865" y="1605285"/>
            <a:ext cx="203200" cy="101600"/>
          </a:xfrm>
          <a:prstGeom prst="rect">
            <a:avLst/>
          </a:prstGeom>
        </p:spPr>
      </p:pic>
      <p:sp>
        <p:nvSpPr>
          <p:cNvPr id="8" name="Text 4"/>
          <p:cNvSpPr/>
          <p:nvPr/>
        </p:nvSpPr>
        <p:spPr>
          <a:xfrm>
            <a:off x="10235565" y="1485900"/>
            <a:ext cx="1143635" cy="340360"/>
          </a:xfrm>
          <a:custGeom>
            <a:avLst/>
            <a:gdLst/>
            <a:ahLst/>
            <a:cxnLst/>
            <a:rect l="l" t="t" r="r" b="b"/>
            <a:pathLst>
              <a:path w="1143635" h="340360">
                <a:moveTo>
                  <a:pt x="63500" y="0"/>
                </a:moveTo>
                <a:lnTo>
                  <a:pt x="1080135" y="0"/>
                </a:lnTo>
                <a:arcTo hR="63500" wR="63500" stAng="16200000" swAng="5400000"/>
                <a:lnTo>
                  <a:pt x="1143635" y="276860"/>
                </a:lnTo>
                <a:arcTo hR="63500" wR="63500" stAng="0" swAng="5400000"/>
                <a:lnTo>
                  <a:pt x="63500" y="340360"/>
                </a:lnTo>
                <a:arcTo hR="63500" wR="63500" stAng="5400000" swAng="5400000"/>
                <a:lnTo>
                  <a:pt x="0" y="63500"/>
                </a:lnTo>
                <a:arcTo hR="63500" wR="63500" stAng="10800000" swAng="5400000"/>
                <a:close/>
              </a:path>
            </a:pathLst>
          </a:custGeom>
          <a:solidFill>
            <a:srgbClr val="AD420E"/>
          </a:solidFill>
          <a:ln/>
        </p:spPr>
        <p:txBody>
          <a:bodyPr wrap="square" lIns="12700" tIns="63500" rIns="12700" bIns="3810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deploy</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200900" y="1988818"/>
          <a:ext cx="4178300" cy="1960880"/>
        </p:xfrm>
        <a:graphic>
          <a:graphicData uri="http://schemas.openxmlformats.org/drawingml/2006/table">
            <a:tbl>
              <a:tblPr/>
              <a:tblGrid>
                <a:gridCol w="1587754"/>
                <a:gridCol w="2590546"/>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What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Pull request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test on Node 22 and 24, then 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75692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Push to main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test, build, then deploy — after approval if production requires a reviewer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Docs-only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Nothing: the path filter skips the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0" name="Text 5"/>
          <p:cNvSpPr/>
          <p:nvPr/>
        </p:nvSpPr>
        <p:spPr>
          <a:xfrm>
            <a:off x="7190740" y="4102100"/>
            <a:ext cx="43141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Build once, deploy that exact artifact.</a:t>
            </a:r>
            <a:endParaRPr lang="en-US" sz="1200" dirty="0"/>
          </a:p>
        </p:txBody>
      </p:sp>
      <p:sp>
        <p:nvSpPr>
          <p:cNvPr id="11" name="Text 6"/>
          <p:cNvSpPr/>
          <p:nvPr/>
        </p:nvSpPr>
        <p:spPr>
          <a:xfrm>
            <a:off x="812800" y="6238242"/>
            <a:ext cx="40779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Putting it together</a:t>
            </a:r>
            <a:endParaRPr lang="en-US" sz="1200" dirty="0"/>
          </a:p>
        </p:txBody>
      </p:sp>
      <p:sp>
        <p:nvSpPr>
          <p:cNvPr id="12" name="Text 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Best practices</a:t>
            </a:r>
            <a:endParaRPr lang="en-US" sz="3000" dirty="0"/>
          </a:p>
        </p:txBody>
      </p:sp>
      <p:sp>
        <p:nvSpPr>
          <p:cNvPr id="3" name="Shape 1"/>
          <p:cNvSpPr/>
          <p:nvPr/>
        </p:nvSpPr>
        <p:spPr>
          <a:xfrm>
            <a:off x="815975" y="1539875"/>
            <a:ext cx="5149850" cy="2603500"/>
          </a:xfrm>
          <a:prstGeom prst="roundRect">
            <a:avLst>
              <a:gd name="adj" fmla="val 3780"/>
            </a:avLst>
          </a:prstGeom>
          <a:solidFill>
            <a:srgbClr val="FDFCFA"/>
          </a:solidFill>
          <a:ln w="6350">
            <a:solidFill>
              <a:srgbClr val="E2DED5"/>
            </a:solidFill>
            <a:prstDash val="solid"/>
          </a:ln>
        </p:spPr>
      </p:sp>
      <p:pic>
        <p:nvPicPr>
          <p:cNvPr id="4" name="Image 0" descr="CheckCircle">    </p:cNvPr>
          <p:cNvPicPr>
            <a:picLocks noChangeAspect="1"/>
          </p:cNvPicPr>
          <p:nvPr/>
        </p:nvPicPr>
        <p:blipFill>
          <a:blip r:embed="rId1"/>
          <a:srcRect l="0" r="0" t="0" b="0"/>
          <a:stretch/>
        </p:blipFill>
        <p:spPr>
          <a:xfrm>
            <a:off x="1046480" y="1767842"/>
            <a:ext cx="228600" cy="228600"/>
          </a:xfrm>
          <a:prstGeom prst="rect">
            <a:avLst/>
          </a:prstGeom>
        </p:spPr>
      </p:pic>
      <p:sp>
        <p:nvSpPr>
          <p:cNvPr id="5" name="Text 2"/>
          <p:cNvSpPr/>
          <p:nvPr/>
        </p:nvSpPr>
        <p:spPr>
          <a:xfrm>
            <a:off x="1363980" y="1744985"/>
            <a:ext cx="35061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Do</a:t>
            </a:r>
            <a:endParaRPr lang="en-US" sz="1800" dirty="0"/>
          </a:p>
        </p:txBody>
      </p:sp>
      <p:sp>
        <p:nvSpPr>
          <p:cNvPr id="6" name="Text 3"/>
          <p:cNvSpPr/>
          <p:nvPr/>
        </p:nvSpPr>
        <p:spPr>
          <a:xfrm>
            <a:off x="1124712" y="2133600"/>
            <a:ext cx="4743653" cy="183007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Set least-privilege permissions: in every workflow</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Pin third-party actions to a full commit SHA; let Dependabot update them</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Cache dependencies; skip and cancel redundant runs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Set timeout-minutes on every job</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Gate production behind an environment with reviewers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Pass secrets to scripts through env:</a:t>
            </a:r>
            <a:endParaRPr lang="en-US" sz="1400" dirty="0"/>
          </a:p>
        </p:txBody>
      </p:sp>
      <p:sp>
        <p:nvSpPr>
          <p:cNvPr id="7" name="Shape 4"/>
          <p:cNvSpPr/>
          <p:nvPr/>
        </p:nvSpPr>
        <p:spPr>
          <a:xfrm>
            <a:off x="6226175" y="1539875"/>
            <a:ext cx="5149850" cy="2603500"/>
          </a:xfrm>
          <a:prstGeom prst="roundRect">
            <a:avLst>
              <a:gd name="adj" fmla="val 3780"/>
            </a:avLst>
          </a:prstGeom>
          <a:solidFill>
            <a:srgbClr val="FDFCFA"/>
          </a:solidFill>
          <a:ln w="6350">
            <a:solidFill>
              <a:srgbClr val="E2DED5"/>
            </a:solidFill>
            <a:prstDash val="solid"/>
          </a:ln>
        </p:spPr>
      </p:sp>
      <p:pic>
        <p:nvPicPr>
          <p:cNvPr id="8" name="Image 1" descr="Warning">    </p:cNvPr>
          <p:cNvPicPr>
            <a:picLocks noChangeAspect="1"/>
          </p:cNvPicPr>
          <p:nvPr/>
        </p:nvPicPr>
        <p:blipFill>
          <a:blip r:embed="rId2"/>
          <a:srcRect l="0" r="0" t="0" b="0"/>
          <a:stretch/>
        </p:blipFill>
        <p:spPr>
          <a:xfrm>
            <a:off x="6456680" y="1767842"/>
            <a:ext cx="228600" cy="228600"/>
          </a:xfrm>
          <a:prstGeom prst="rect">
            <a:avLst/>
          </a:prstGeom>
        </p:spPr>
      </p:pic>
      <p:sp>
        <p:nvSpPr>
          <p:cNvPr id="9" name="Text 5"/>
          <p:cNvSpPr/>
          <p:nvPr/>
        </p:nvSpPr>
        <p:spPr>
          <a:xfrm>
            <a:off x="6774180" y="1744985"/>
            <a:ext cx="73094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Avoid</a:t>
            </a:r>
            <a:endParaRPr lang="en-US" sz="1800" dirty="0"/>
          </a:p>
        </p:txBody>
      </p:sp>
      <p:sp>
        <p:nvSpPr>
          <p:cNvPr id="10" name="Text 6"/>
          <p:cNvSpPr/>
          <p:nvPr/>
        </p:nvSpPr>
        <p:spPr>
          <a:xfrm>
            <a:off x="6534912" y="2133600"/>
            <a:ext cx="4743653" cy="183007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Unpinned actions (@main) from unknown authors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Untrusted input, such as an issue title, pasted into run: with ${{ }}</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Self-hosted runners on public repositories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One giant job — split it for speed and clarity</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-latest runner labels when builds must be reproducible</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Printing secrets, or values derived from them, to logs</a:t>
            </a:r>
            <a:endParaRPr lang="en-US" sz="1400" dirty="0"/>
          </a:p>
        </p:txBody>
      </p:sp>
      <p:sp>
        <p:nvSpPr>
          <p:cNvPr id="11" name="Text 7"/>
          <p:cNvSpPr/>
          <p:nvPr/>
        </p:nvSpPr>
        <p:spPr>
          <a:xfrm>
            <a:off x="812800" y="6238242"/>
            <a:ext cx="3312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Wrap-up</a:t>
            </a:r>
            <a:endParaRPr lang="en-US" sz="1200" dirty="0"/>
          </a:p>
        </p:txBody>
      </p:sp>
      <p:sp>
        <p:nvSpPr>
          <p:cNvPr id="12"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Hands-on lab: build a CI/CD workflow</a:t>
            </a:r>
            <a:endParaRPr lang="en-US" sz="3000" dirty="0"/>
          </a:p>
        </p:txBody>
      </p:sp>
      <p:sp>
        <p:nvSpPr>
          <p:cNvPr id="3" name="Shape 1"/>
          <p:cNvSpPr/>
          <p:nvPr/>
        </p:nvSpPr>
        <p:spPr>
          <a:xfrm>
            <a:off x="815975" y="1489075"/>
            <a:ext cx="2280920" cy="608330"/>
          </a:xfrm>
          <a:prstGeom prst="roundRect">
            <a:avLst>
              <a:gd name="adj" fmla="val 14092"/>
            </a:avLst>
          </a:prstGeom>
          <a:solidFill>
            <a:srgbClr val="FDFCFA"/>
          </a:solidFill>
          <a:ln w="6350">
            <a:solidFill>
              <a:srgbClr val="E2DED5"/>
            </a:solidFill>
            <a:prstDash val="solid"/>
          </a:ln>
        </p:spPr>
      </p:sp>
      <p:sp>
        <p:nvSpPr>
          <p:cNvPr id="4" name="Text 2"/>
          <p:cNvSpPr/>
          <p:nvPr/>
        </p:nvSpPr>
        <p:spPr>
          <a:xfrm>
            <a:off x="888371"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push / PR</a:t>
            </a:r>
            <a:endParaRPr lang="en-US" sz="1200" dirty="0"/>
          </a:p>
        </p:txBody>
      </p:sp>
      <p:sp>
        <p:nvSpPr>
          <p:cNvPr id="5" name="Text 3"/>
          <p:cNvSpPr/>
          <p:nvPr/>
        </p:nvSpPr>
        <p:spPr>
          <a:xfrm>
            <a:off x="888371"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with path filters</a:t>
            </a:r>
            <a:endParaRPr lang="en-US" sz="1200" dirty="0"/>
          </a:p>
        </p:txBody>
      </p:sp>
      <p:pic>
        <p:nvPicPr>
          <p:cNvPr id="6" name="Image 0" descr="arrow-right">    </p:cNvPr>
          <p:cNvPicPr>
            <a:picLocks noChangeAspect="1"/>
          </p:cNvPicPr>
          <p:nvPr/>
        </p:nvPicPr>
        <p:blipFill>
          <a:blip r:embed="rId1"/>
          <a:srcRect l="0" r="0" t="0" b="0"/>
          <a:stretch/>
        </p:blipFill>
        <p:spPr>
          <a:xfrm>
            <a:off x="3188970" y="1717042"/>
            <a:ext cx="304800" cy="152400"/>
          </a:xfrm>
          <a:prstGeom prst="rect">
            <a:avLst/>
          </a:prstGeom>
        </p:spPr>
      </p:pic>
      <p:sp>
        <p:nvSpPr>
          <p:cNvPr id="7" name="Shape 4"/>
          <p:cNvSpPr/>
          <p:nvPr/>
        </p:nvSpPr>
        <p:spPr>
          <a:xfrm>
            <a:off x="3582670" y="1490985"/>
            <a:ext cx="2277110" cy="604520"/>
          </a:xfrm>
          <a:prstGeom prst="roundRect">
            <a:avLst>
              <a:gd name="adj" fmla="val 14706"/>
            </a:avLst>
          </a:prstGeom>
          <a:solidFill>
            <a:srgbClr val="FFE3D3"/>
          </a:solidFill>
          <a:ln/>
        </p:spPr>
      </p:sp>
      <p:sp>
        <p:nvSpPr>
          <p:cNvPr id="8" name="Text 5"/>
          <p:cNvSpPr/>
          <p:nvPr/>
        </p:nvSpPr>
        <p:spPr>
          <a:xfrm>
            <a:off x="3653161"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test</a:t>
            </a:r>
            <a:endParaRPr lang="en-US" sz="1200" dirty="0"/>
          </a:p>
        </p:txBody>
      </p:sp>
      <p:sp>
        <p:nvSpPr>
          <p:cNvPr id="9" name="Text 6"/>
          <p:cNvSpPr/>
          <p:nvPr/>
        </p:nvSpPr>
        <p:spPr>
          <a:xfrm>
            <a:off x="3653161"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matrix + cache</a:t>
            </a:r>
            <a:endParaRPr lang="en-US" sz="1200" dirty="0"/>
          </a:p>
        </p:txBody>
      </p:sp>
      <p:pic>
        <p:nvPicPr>
          <p:cNvPr id="10" name="Image 1" descr="arrow-right">    </p:cNvPr>
          <p:cNvPicPr>
            <a:picLocks noChangeAspect="1"/>
          </p:cNvPicPr>
          <p:nvPr/>
        </p:nvPicPr>
        <p:blipFill>
          <a:blip r:embed="rId2"/>
          <a:srcRect l="0" r="0" t="0" b="0"/>
          <a:stretch/>
        </p:blipFill>
        <p:spPr>
          <a:xfrm>
            <a:off x="5948680" y="1717042"/>
            <a:ext cx="304800" cy="152400"/>
          </a:xfrm>
          <a:prstGeom prst="rect">
            <a:avLst/>
          </a:prstGeom>
        </p:spPr>
      </p:pic>
      <p:sp>
        <p:nvSpPr>
          <p:cNvPr id="11" name="Shape 7"/>
          <p:cNvSpPr/>
          <p:nvPr/>
        </p:nvSpPr>
        <p:spPr>
          <a:xfrm>
            <a:off x="6342380" y="1490985"/>
            <a:ext cx="2277110" cy="604520"/>
          </a:xfrm>
          <a:prstGeom prst="roundRect">
            <a:avLst>
              <a:gd name="adj" fmla="val 14706"/>
            </a:avLst>
          </a:prstGeom>
          <a:solidFill>
            <a:srgbClr val="FFE3D3"/>
          </a:solidFill>
          <a:ln/>
        </p:spPr>
      </p:sp>
      <p:sp>
        <p:nvSpPr>
          <p:cNvPr id="12" name="Text 8"/>
          <p:cNvSpPr/>
          <p:nvPr/>
        </p:nvSpPr>
        <p:spPr>
          <a:xfrm>
            <a:off x="6412871"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build</a:t>
            </a:r>
            <a:endParaRPr lang="en-US" sz="1200" dirty="0"/>
          </a:p>
        </p:txBody>
      </p:sp>
      <p:sp>
        <p:nvSpPr>
          <p:cNvPr id="13" name="Text 9"/>
          <p:cNvSpPr/>
          <p:nvPr/>
        </p:nvSpPr>
        <p:spPr>
          <a:xfrm>
            <a:off x="6412871"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artifact + version</a:t>
            </a:r>
            <a:endParaRPr lang="en-US" sz="1200" dirty="0"/>
          </a:p>
        </p:txBody>
      </p:sp>
      <p:pic>
        <p:nvPicPr>
          <p:cNvPr id="14" name="Image 2" descr="arrow-right">    </p:cNvPr>
          <p:cNvPicPr>
            <a:picLocks noChangeAspect="1"/>
          </p:cNvPicPr>
          <p:nvPr/>
        </p:nvPicPr>
        <p:blipFill>
          <a:blip r:embed="rId3"/>
          <a:srcRect l="0" r="0" t="0" b="0"/>
          <a:stretch/>
        </p:blipFill>
        <p:spPr>
          <a:xfrm>
            <a:off x="8708390" y="1717042"/>
            <a:ext cx="304800" cy="152400"/>
          </a:xfrm>
          <a:prstGeom prst="rect">
            <a:avLst/>
          </a:prstGeom>
        </p:spPr>
      </p:pic>
      <p:sp>
        <p:nvSpPr>
          <p:cNvPr id="15" name="Shape 10"/>
          <p:cNvSpPr/>
          <p:nvPr/>
        </p:nvSpPr>
        <p:spPr>
          <a:xfrm>
            <a:off x="9102090" y="1490985"/>
            <a:ext cx="2277110" cy="604520"/>
          </a:xfrm>
          <a:prstGeom prst="roundRect">
            <a:avLst>
              <a:gd name="adj" fmla="val 14706"/>
            </a:avLst>
          </a:prstGeom>
          <a:solidFill>
            <a:srgbClr val="AD420E"/>
          </a:solidFill>
          <a:ln/>
        </p:spPr>
      </p:sp>
      <p:sp>
        <p:nvSpPr>
          <p:cNvPr id="16" name="Text 11"/>
          <p:cNvSpPr/>
          <p:nvPr/>
        </p:nvSpPr>
        <p:spPr>
          <a:xfrm>
            <a:off x="9172582"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deploy</a:t>
            </a:r>
            <a:endParaRPr lang="en-US" sz="1200" dirty="0"/>
          </a:p>
        </p:txBody>
      </p:sp>
      <p:sp>
        <p:nvSpPr>
          <p:cNvPr id="17" name="Text 12"/>
          <p:cNvSpPr/>
          <p:nvPr/>
        </p:nvSpPr>
        <p:spPr>
          <a:xfrm>
            <a:off x="9172582"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E3D3"/>
                </a:solidFill>
                <a:latin typeface="IBM Plex Sans" pitchFamily="34" charset="0"/>
                <a:ea typeface="IBM Plex Sans" pitchFamily="34" charset="-122"/>
                <a:cs typeface="IBM Plex Sans" pitchFamily="34" charset="-120"/>
              </a:rPr>
              <a:t>needs approval</a:t>
            </a:r>
            <a:endParaRPr lang="en-US" sz="1200" dirty="0"/>
          </a:p>
        </p:txBody>
      </p:sp>
      <p:sp>
        <p:nvSpPr>
          <p:cNvPr id="18" name="Text 13"/>
          <p:cNvSpPr/>
          <p:nvPr/>
        </p:nvSpPr>
        <p:spPr>
          <a:xfrm>
            <a:off x="812800" y="2354585"/>
            <a:ext cx="68361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Tasks</a:t>
            </a:r>
            <a:endParaRPr lang="en-US" sz="1800" dirty="0"/>
          </a:p>
        </p:txBody>
      </p:sp>
      <p:sp>
        <p:nvSpPr>
          <p:cNvPr id="19" name="Text 14"/>
          <p:cNvSpPr/>
          <p:nvPr/>
        </p:nvSpPr>
        <p:spPr>
          <a:xfrm>
            <a:off x="897890" y="2705100"/>
            <a:ext cx="6743421" cy="1854200"/>
          </a:xfrm>
          <a:prstGeom prst="rect">
            <a:avLst/>
          </a:prstGeom>
          <a:noFill/>
          <a:ln/>
        </p:spPr>
        <p:txBody>
          <a:bodyPr wrap="square" lIns="0" tIns="0" rIns="0" bIns="0" rtlCol="0" anchor="t">
            <a:normAutofit/>
          </a:bodyPr>
          <a:lstStyle/>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.github/workflows/ci.yml that runs tests on pushes and pull requests to main</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Skip docs-only changes with a path filter</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Make tests a matrix: two runtime versions × Linux and Windows</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dependency caching; compare run times before and after</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a build job (needs: test) that uploads its output as an artifact</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Pass the version number from build to deploy as a job output</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Create staging and production environments; require approval for production</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concurrency and timeouts</a:t>
            </a:r>
            <a:endParaRPr lang="en-US" sz="1200" dirty="0"/>
          </a:p>
        </p:txBody>
      </p:sp>
      <p:sp>
        <p:nvSpPr>
          <p:cNvPr id="20" name="Shape 15"/>
          <p:cNvSpPr/>
          <p:nvPr/>
        </p:nvSpPr>
        <p:spPr>
          <a:xfrm>
            <a:off x="7808595" y="2357760"/>
            <a:ext cx="3567430" cy="1212850"/>
          </a:xfrm>
          <a:prstGeom prst="roundRect">
            <a:avLst>
              <a:gd name="adj" fmla="val 8115"/>
            </a:avLst>
          </a:prstGeom>
          <a:solidFill>
            <a:srgbClr val="FDFCFA"/>
          </a:solidFill>
          <a:ln w="6350">
            <a:solidFill>
              <a:srgbClr val="E2DED5"/>
            </a:solidFill>
            <a:prstDash val="solid"/>
          </a:ln>
        </p:spPr>
      </p:sp>
      <p:sp>
        <p:nvSpPr>
          <p:cNvPr id="21" name="Text 16"/>
          <p:cNvSpPr/>
          <p:nvPr/>
        </p:nvSpPr>
        <p:spPr>
          <a:xfrm>
            <a:off x="7988300" y="2512058"/>
            <a:ext cx="33042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D420E"/>
                </a:solidFill>
                <a:latin typeface="IBM Plex Sans" pitchFamily="34" charset="0"/>
                <a:ea typeface="IBM Plex Sans" pitchFamily="34" charset="-122"/>
                <a:cs typeface="IBM Plex Sans" pitchFamily="34" charset="-120"/>
              </a:rPr>
              <a:t>STRETCH</a:t>
            </a:r>
            <a:endParaRPr lang="en-US" sz="1200" dirty="0"/>
          </a:p>
        </p:txBody>
      </p:sp>
      <p:sp>
        <p:nvSpPr>
          <p:cNvPr id="22" name="Text 17"/>
          <p:cNvSpPr/>
          <p:nvPr/>
        </p:nvSpPr>
        <p:spPr>
          <a:xfrm>
            <a:off x="7988300" y="2776227"/>
            <a:ext cx="330426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Build the Docker lab’s image and push it to GHCR; deploy it to your kind cluster from a self-hosted runner.</a:t>
            </a:r>
            <a:endParaRPr lang="en-US" sz="1200" dirty="0"/>
          </a:p>
        </p:txBody>
      </p:sp>
      <p:sp>
        <p:nvSpPr>
          <p:cNvPr id="23" name="Shape 18"/>
          <p:cNvSpPr/>
          <p:nvPr/>
        </p:nvSpPr>
        <p:spPr>
          <a:xfrm>
            <a:off x="7805420" y="3726185"/>
            <a:ext cx="3573780" cy="995680"/>
          </a:xfrm>
          <a:prstGeom prst="roundRect">
            <a:avLst>
              <a:gd name="adj" fmla="val 10204"/>
            </a:avLst>
          </a:prstGeom>
          <a:solidFill>
            <a:srgbClr val="AD420E"/>
          </a:solidFill>
          <a:ln/>
        </p:spPr>
      </p:sp>
      <p:sp>
        <p:nvSpPr>
          <p:cNvPr id="24" name="Text 19"/>
          <p:cNvSpPr/>
          <p:nvPr/>
        </p:nvSpPr>
        <p:spPr>
          <a:xfrm>
            <a:off x="7983220" y="3878585"/>
            <a:ext cx="33147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E3D3"/>
                </a:solidFill>
                <a:latin typeface="IBM Plex Sans" pitchFamily="34" charset="0"/>
                <a:ea typeface="IBM Plex Sans" pitchFamily="34" charset="-122"/>
                <a:cs typeface="IBM Plex Sans" pitchFamily="34" charset="-120"/>
              </a:rPr>
              <a:t>DONE WHEN</a:t>
            </a:r>
            <a:endParaRPr lang="en-US" sz="1200" dirty="0"/>
          </a:p>
        </p:txBody>
      </p:sp>
      <p:sp>
        <p:nvSpPr>
          <p:cNvPr id="25" name="Text 20"/>
          <p:cNvSpPr/>
          <p:nvPr/>
        </p:nvSpPr>
        <p:spPr>
          <a:xfrm>
            <a:off x="7983220" y="4142742"/>
            <a:ext cx="3314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PR checks are green, production waits for your approval and the cached run is faster.</a:t>
            </a:r>
            <a:endParaRPr lang="en-US" sz="1200" dirty="0"/>
          </a:p>
        </p:txBody>
      </p:sp>
      <p:sp>
        <p:nvSpPr>
          <p:cNvPr id="26" name="Text 21"/>
          <p:cNvSpPr/>
          <p:nvPr/>
        </p:nvSpPr>
        <p:spPr>
          <a:xfrm>
            <a:off x="812800" y="6238242"/>
            <a:ext cx="3312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Wrap-up</a:t>
            </a:r>
            <a:endParaRPr lang="en-US" sz="1200" dirty="0"/>
          </a:p>
        </p:txBody>
      </p:sp>
      <p:sp>
        <p:nvSpPr>
          <p:cNvPr id="27" name="Text 2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Recap quiz</a:t>
            </a:r>
            <a:endParaRPr lang="en-US" sz="3000" dirty="0"/>
          </a:p>
        </p:txBody>
      </p:sp>
      <p:sp>
        <p:nvSpPr>
          <p:cNvPr id="3" name="Shape 1"/>
          <p:cNvSpPr/>
          <p:nvPr/>
        </p:nvSpPr>
        <p:spPr>
          <a:xfrm>
            <a:off x="815975" y="1539875"/>
            <a:ext cx="3397250" cy="1182370"/>
          </a:xfrm>
          <a:prstGeom prst="roundRect">
            <a:avLst>
              <a:gd name="adj" fmla="val 8324"/>
            </a:avLst>
          </a:prstGeom>
          <a:solidFill>
            <a:srgbClr val="FDFCFA"/>
          </a:solidFill>
          <a:ln w="6350">
            <a:solidFill>
              <a:srgbClr val="E2DED5"/>
            </a:solidFill>
            <a:prstDash val="solid"/>
          </a:ln>
        </p:spPr>
      </p:sp>
      <p:sp>
        <p:nvSpPr>
          <p:cNvPr id="4" name="Text 2"/>
          <p:cNvSpPr/>
          <p:nvPr/>
        </p:nvSpPr>
        <p:spPr>
          <a:xfrm>
            <a:off x="10210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D420E"/>
                </a:solidFill>
                <a:latin typeface="JetBrains Mono" pitchFamily="49" charset="0"/>
                <a:ea typeface="JetBrains Mono" pitchFamily="49" charset="-122"/>
                <a:cs typeface="JetBrains Mono" pitchFamily="49" charset="-120"/>
              </a:rPr>
              <a:t>Q1</a:t>
            </a:r>
            <a:endParaRPr lang="en-US" sz="1400" dirty="0"/>
          </a:p>
        </p:txBody>
      </p:sp>
      <p:sp>
        <p:nvSpPr>
          <p:cNvPr id="5" name="Text 3"/>
          <p:cNvSpPr/>
          <p:nvPr/>
        </p:nvSpPr>
        <p:spPr>
          <a:xfrm>
            <a:off x="1021080" y="2044700"/>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Steps or jobs: which ones share a filesystem, and why?</a:t>
            </a:r>
            <a:endParaRPr lang="en-US" sz="1400" dirty="0"/>
          </a:p>
        </p:txBody>
      </p:sp>
      <p:sp>
        <p:nvSpPr>
          <p:cNvPr id="6" name="Shape 4"/>
          <p:cNvSpPr/>
          <p:nvPr/>
        </p:nvSpPr>
        <p:spPr>
          <a:xfrm>
            <a:off x="4397375" y="1539875"/>
            <a:ext cx="3397250" cy="1182370"/>
          </a:xfrm>
          <a:prstGeom prst="roundRect">
            <a:avLst>
              <a:gd name="adj" fmla="val 8324"/>
            </a:avLst>
          </a:prstGeom>
          <a:solidFill>
            <a:srgbClr val="FDFCFA"/>
          </a:solidFill>
          <a:ln w="6350">
            <a:solidFill>
              <a:srgbClr val="E2DED5"/>
            </a:solidFill>
            <a:prstDash val="solid"/>
          </a:ln>
        </p:spPr>
      </p:sp>
      <p:sp>
        <p:nvSpPr>
          <p:cNvPr id="7" name="Text 5"/>
          <p:cNvSpPr/>
          <p:nvPr/>
        </p:nvSpPr>
        <p:spPr>
          <a:xfrm>
            <a:off x="46024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D420E"/>
                </a:solidFill>
                <a:latin typeface="JetBrains Mono" pitchFamily="49" charset="0"/>
                <a:ea typeface="JetBrains Mono" pitchFamily="49" charset="-122"/>
                <a:cs typeface="JetBrains Mono" pitchFamily="49" charset="-120"/>
              </a:rPr>
              <a:t>Q2</a:t>
            </a:r>
            <a:endParaRPr lang="en-US" sz="1400" dirty="0"/>
          </a:p>
        </p:txBody>
      </p:sp>
      <p:sp>
        <p:nvSpPr>
          <p:cNvPr id="8" name="Text 6"/>
          <p:cNvSpPr/>
          <p:nvPr/>
        </p:nvSpPr>
        <p:spPr>
          <a:xfrm>
            <a:off x="4602480" y="2044700"/>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How do you pass a version number from one job to another?</a:t>
            </a:r>
            <a:endParaRPr lang="en-US" sz="1400" dirty="0"/>
          </a:p>
        </p:txBody>
      </p:sp>
      <p:sp>
        <p:nvSpPr>
          <p:cNvPr id="9" name="Shape 7"/>
          <p:cNvSpPr/>
          <p:nvPr/>
        </p:nvSpPr>
        <p:spPr>
          <a:xfrm>
            <a:off x="7978775" y="1539875"/>
            <a:ext cx="3397250" cy="1182370"/>
          </a:xfrm>
          <a:prstGeom prst="roundRect">
            <a:avLst>
              <a:gd name="adj" fmla="val 8324"/>
            </a:avLst>
          </a:prstGeom>
          <a:solidFill>
            <a:srgbClr val="FDFCFA"/>
          </a:solidFill>
          <a:ln w="6350">
            <a:solidFill>
              <a:srgbClr val="E2DED5"/>
            </a:solidFill>
            <a:prstDash val="solid"/>
          </a:ln>
        </p:spPr>
      </p:sp>
      <p:sp>
        <p:nvSpPr>
          <p:cNvPr id="10" name="Text 8"/>
          <p:cNvSpPr/>
          <p:nvPr/>
        </p:nvSpPr>
        <p:spPr>
          <a:xfrm>
            <a:off x="81838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D420E"/>
                </a:solidFill>
                <a:latin typeface="JetBrains Mono" pitchFamily="49" charset="0"/>
                <a:ea typeface="JetBrains Mono" pitchFamily="49" charset="-122"/>
                <a:cs typeface="JetBrains Mono" pitchFamily="49" charset="-120"/>
              </a:rPr>
              <a:t>Q3</a:t>
            </a:r>
            <a:endParaRPr lang="en-US" sz="1400" dirty="0"/>
          </a:p>
        </p:txBody>
      </p:sp>
      <p:sp>
        <p:nvSpPr>
          <p:cNvPr id="11" name="Text 9"/>
          <p:cNvSpPr/>
          <p:nvPr/>
        </p:nvSpPr>
        <p:spPr>
          <a:xfrm>
            <a:off x="8183880" y="2044700"/>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cron of "0 0 * * *" ran at 5:30 a.m. in India. Why, and what’s the fix?</a:t>
            </a:r>
            <a:endParaRPr lang="en-US" sz="1400" dirty="0"/>
          </a:p>
        </p:txBody>
      </p:sp>
      <p:sp>
        <p:nvSpPr>
          <p:cNvPr id="12" name="Shape 10"/>
          <p:cNvSpPr/>
          <p:nvPr/>
        </p:nvSpPr>
        <p:spPr>
          <a:xfrm>
            <a:off x="815975" y="2906402"/>
            <a:ext cx="3397250" cy="1431290"/>
          </a:xfrm>
          <a:prstGeom prst="roundRect">
            <a:avLst>
              <a:gd name="adj" fmla="val 6877"/>
            </a:avLst>
          </a:prstGeom>
          <a:solidFill>
            <a:srgbClr val="FDFCFA"/>
          </a:solidFill>
          <a:ln w="6350">
            <a:solidFill>
              <a:srgbClr val="E2DED5"/>
            </a:solidFill>
            <a:prstDash val="solid"/>
          </a:ln>
        </p:spPr>
      </p:sp>
      <p:sp>
        <p:nvSpPr>
          <p:cNvPr id="13" name="Text 11"/>
          <p:cNvSpPr/>
          <p:nvPr/>
        </p:nvSpPr>
        <p:spPr>
          <a:xfrm>
            <a:off x="1021080" y="3086100"/>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D420E"/>
                </a:solidFill>
                <a:latin typeface="JetBrains Mono" pitchFamily="49" charset="0"/>
                <a:ea typeface="JetBrains Mono" pitchFamily="49" charset="-122"/>
                <a:cs typeface="JetBrains Mono" pitchFamily="49" charset="-120"/>
              </a:rPr>
              <a:t>Q4</a:t>
            </a:r>
            <a:endParaRPr lang="en-US" sz="1400" dirty="0"/>
          </a:p>
        </p:txBody>
      </p:sp>
      <p:sp>
        <p:nvSpPr>
          <p:cNvPr id="14" name="Text 12"/>
          <p:cNvSpPr/>
          <p:nvPr/>
        </p:nvSpPr>
        <p:spPr>
          <a:xfrm>
            <a:off x="1021080" y="3411227"/>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Why is uses: some-org/some-action@main risky?</a:t>
            </a:r>
            <a:endParaRPr lang="en-US" sz="1400" dirty="0"/>
          </a:p>
        </p:txBody>
      </p:sp>
      <p:sp>
        <p:nvSpPr>
          <p:cNvPr id="15" name="Shape 13"/>
          <p:cNvSpPr/>
          <p:nvPr/>
        </p:nvSpPr>
        <p:spPr>
          <a:xfrm>
            <a:off x="4397375" y="2906402"/>
            <a:ext cx="3397250" cy="1431290"/>
          </a:xfrm>
          <a:prstGeom prst="roundRect">
            <a:avLst>
              <a:gd name="adj" fmla="val 6877"/>
            </a:avLst>
          </a:prstGeom>
          <a:solidFill>
            <a:srgbClr val="FDFCFA"/>
          </a:solidFill>
          <a:ln w="6350">
            <a:solidFill>
              <a:srgbClr val="E2DED5"/>
            </a:solidFill>
            <a:prstDash val="solid"/>
          </a:ln>
        </p:spPr>
      </p:sp>
      <p:sp>
        <p:nvSpPr>
          <p:cNvPr id="16" name="Text 14"/>
          <p:cNvSpPr/>
          <p:nvPr/>
        </p:nvSpPr>
        <p:spPr>
          <a:xfrm>
            <a:off x="4602480" y="3086100"/>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D420E"/>
                </a:solidFill>
                <a:latin typeface="JetBrains Mono" pitchFamily="49" charset="0"/>
                <a:ea typeface="JetBrains Mono" pitchFamily="49" charset="-122"/>
                <a:cs typeface="JetBrains Mono" pitchFamily="49" charset="-120"/>
              </a:rPr>
              <a:t>Q5</a:t>
            </a:r>
            <a:endParaRPr lang="en-US" sz="1400" dirty="0"/>
          </a:p>
        </p:txBody>
      </p:sp>
      <p:sp>
        <p:nvSpPr>
          <p:cNvPr id="17" name="Text 15"/>
          <p:cNvSpPr/>
          <p:nvPr/>
        </p:nvSpPr>
        <p:spPr>
          <a:xfrm>
            <a:off x="4602480" y="3411227"/>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Cache or artifact: which for downloaded dependencies, and which for a test report?</a:t>
            </a:r>
            <a:endParaRPr lang="en-US" sz="1400" dirty="0"/>
          </a:p>
        </p:txBody>
      </p:sp>
      <p:sp>
        <p:nvSpPr>
          <p:cNvPr id="18" name="Shape 16"/>
          <p:cNvSpPr/>
          <p:nvPr/>
        </p:nvSpPr>
        <p:spPr>
          <a:xfrm>
            <a:off x="7978775" y="2906402"/>
            <a:ext cx="3397250" cy="1431290"/>
          </a:xfrm>
          <a:prstGeom prst="roundRect">
            <a:avLst>
              <a:gd name="adj" fmla="val 6877"/>
            </a:avLst>
          </a:prstGeom>
          <a:solidFill>
            <a:srgbClr val="FDFCFA"/>
          </a:solidFill>
          <a:ln w="6350">
            <a:solidFill>
              <a:srgbClr val="E2DED5"/>
            </a:solidFill>
            <a:prstDash val="solid"/>
          </a:ln>
        </p:spPr>
      </p:sp>
      <p:sp>
        <p:nvSpPr>
          <p:cNvPr id="19" name="Text 17"/>
          <p:cNvSpPr/>
          <p:nvPr/>
        </p:nvSpPr>
        <p:spPr>
          <a:xfrm>
            <a:off x="8183880" y="3086100"/>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D420E"/>
                </a:solidFill>
                <a:latin typeface="JetBrains Mono" pitchFamily="49" charset="0"/>
                <a:ea typeface="JetBrains Mono" pitchFamily="49" charset="-122"/>
                <a:cs typeface="JetBrains Mono" pitchFamily="49" charset="-120"/>
              </a:rPr>
              <a:t>Q6</a:t>
            </a:r>
            <a:endParaRPr lang="en-US" sz="1400" dirty="0"/>
          </a:p>
        </p:txBody>
      </p:sp>
      <p:sp>
        <p:nvSpPr>
          <p:cNvPr id="20" name="Text 18"/>
          <p:cNvSpPr/>
          <p:nvPr/>
        </p:nvSpPr>
        <p:spPr>
          <a:xfrm>
            <a:off x="8183880" y="3411227"/>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How do you stop two production deployments from running at once?</a:t>
            </a:r>
            <a:endParaRPr lang="en-US" sz="1400" dirty="0"/>
          </a:p>
        </p:txBody>
      </p:sp>
      <p:sp>
        <p:nvSpPr>
          <p:cNvPr id="21" name="Text 19"/>
          <p:cNvSpPr/>
          <p:nvPr/>
        </p:nvSpPr>
        <p:spPr>
          <a:xfrm>
            <a:off x="812800" y="6238242"/>
            <a:ext cx="3312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GitHub Actions Fundamentals · Wrap-up</a:t>
            </a:r>
            <a:endParaRPr lang="en-US" sz="1200" dirty="0"/>
          </a:p>
        </p:txBody>
      </p:sp>
      <p:sp>
        <p:nvSpPr>
          <p:cNvPr id="22" name="Text 2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17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A06A"/>
                </a:solidFill>
                <a:latin typeface="IBM Plex Sans" pitchFamily="34" charset="0"/>
                <a:ea typeface="IBM Plex Sans" pitchFamily="34" charset="-122"/>
                <a:cs typeface="IBM Plex Sans" pitchFamily="34" charset="-120"/>
              </a:rPr>
              <a:t>RESOURCES AND Q&amp;A</a:t>
            </a:r>
            <a:endParaRPr lang="en-US" sz="1200" dirty="0"/>
          </a:p>
        </p:txBody>
      </p:sp>
      <p:sp>
        <p:nvSpPr>
          <p:cNvPr id="3" name="Text 1"/>
          <p:cNvSpPr/>
          <p:nvPr>
            <p:ph type="title"/>
          </p:nvPr>
        </p:nvSpPr>
        <p:spPr>
          <a:xfrm>
            <a:off x="812800" y="1178558"/>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Questions?</a:t>
            </a:r>
            <a:endParaRPr lang="en-US" sz="5600" dirty="0"/>
          </a:p>
        </p:txBody>
      </p:sp>
      <p:sp>
        <p:nvSpPr>
          <p:cNvPr id="4" name="Shape 2"/>
          <p:cNvSpPr/>
          <p:nvPr/>
        </p:nvSpPr>
        <p:spPr>
          <a:xfrm>
            <a:off x="812800" y="4865377"/>
            <a:ext cx="3318907" cy="0"/>
          </a:xfrm>
          <a:prstGeom prst="line">
            <a:avLst/>
          </a:prstGeom>
          <a:noFill/>
          <a:ln w="12700">
            <a:solidFill>
              <a:srgbClr val="4A3428"/>
            </a:solidFill>
            <a:prstDash val="solid"/>
          </a:ln>
        </p:spPr>
      </p:sp>
      <p:sp>
        <p:nvSpPr>
          <p:cNvPr id="5" name="Text 3"/>
          <p:cNvSpPr/>
          <p:nvPr/>
        </p:nvSpPr>
        <p:spPr>
          <a:xfrm>
            <a:off x="812800" y="5021585"/>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A06A"/>
                </a:solidFill>
                <a:latin typeface="IBM Plex Sans" pitchFamily="34" charset="0"/>
                <a:ea typeface="IBM Plex Sans" pitchFamily="34" charset="-122"/>
                <a:cs typeface="IBM Plex Sans" pitchFamily="34" charset="-120"/>
              </a:rPr>
              <a:t>DOCUMENTATION</a:t>
            </a:r>
            <a:endParaRPr lang="en-US" sz="1200" dirty="0"/>
          </a:p>
        </p:txBody>
      </p:sp>
      <p:sp>
        <p:nvSpPr>
          <p:cNvPr id="6" name="Text 4"/>
          <p:cNvSpPr/>
          <p:nvPr/>
        </p:nvSpPr>
        <p:spPr>
          <a:xfrm>
            <a:off x="812800" y="5298442"/>
            <a:ext cx="3418474" cy="52324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C9CED8"/>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docs.github.com/actions</a:t>
            </a:r>
            <a:r>
              <a:rPr lang="en-US" sz="1400" dirty="0">
                <a:solidFill>
                  <a:srgbClr val="C9CED8"/>
                </a:solidFill>
                <a:latin typeface="IBM Plex Sans" pitchFamily="34" charset="0"/>
                <a:ea typeface="IBM Plex Sans" pitchFamily="34" charset="-122"/>
                <a:cs typeface="IBM Plex Sans" pitchFamily="34" charset="-120"/>
              </a:rPr>
              <a:t> — workflow syntax, events, contexts and expressions</a:t>
            </a:r>
            <a:endParaRPr lang="en-US" sz="1400" dirty="0"/>
          </a:p>
        </p:txBody>
      </p:sp>
      <p:sp>
        <p:nvSpPr>
          <p:cNvPr id="7" name="Shape 5"/>
          <p:cNvSpPr/>
          <p:nvPr/>
        </p:nvSpPr>
        <p:spPr>
          <a:xfrm>
            <a:off x="4436507" y="4865377"/>
            <a:ext cx="3318986" cy="0"/>
          </a:xfrm>
          <a:prstGeom prst="line">
            <a:avLst/>
          </a:prstGeom>
          <a:noFill/>
          <a:ln w="12700">
            <a:solidFill>
              <a:srgbClr val="4A3428"/>
            </a:solidFill>
            <a:prstDash val="solid"/>
          </a:ln>
        </p:spPr>
      </p:sp>
      <p:sp>
        <p:nvSpPr>
          <p:cNvPr id="8" name="Text 6"/>
          <p:cNvSpPr/>
          <p:nvPr/>
        </p:nvSpPr>
        <p:spPr>
          <a:xfrm>
            <a:off x="4436507" y="5021585"/>
            <a:ext cx="34185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A06A"/>
                </a:solidFill>
                <a:latin typeface="IBM Plex Sans" pitchFamily="34" charset="0"/>
                <a:ea typeface="IBM Plex Sans" pitchFamily="34" charset="-122"/>
                <a:cs typeface="IBM Plex Sans" pitchFamily="34" charset="-120"/>
              </a:rPr>
              <a:t>TOOLS AND REFERENCE</a:t>
            </a:r>
            <a:endParaRPr lang="en-US" sz="1200" dirty="0"/>
          </a:p>
        </p:txBody>
      </p:sp>
      <p:sp>
        <p:nvSpPr>
          <p:cNvPr id="9" name="Text 7"/>
          <p:cNvSpPr/>
          <p:nvPr/>
        </p:nvSpPr>
        <p:spPr>
          <a:xfrm>
            <a:off x="4436507" y="5298442"/>
            <a:ext cx="341855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The Actions Marketplace; </a:t>
            </a:r>
            <a:r>
              <a:rPr lang="en-US" sz="1400" u="sng" dirty="0">
                <a:solidFill>
                  <a:srgbClr val="C9CED8"/>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actions/runner-images</a:t>
            </a:r>
            <a:r>
              <a:rPr lang="en-US" sz="1400" dirty="0">
                <a:solidFill>
                  <a:srgbClr val="C9CED8"/>
                </a:solidFill>
                <a:latin typeface="IBM Plex Sans" pitchFamily="34" charset="0"/>
                <a:ea typeface="IBM Plex Sans" pitchFamily="34" charset="-122"/>
                <a:cs typeface="IBM Plex Sans" pitchFamily="34" charset="-120"/>
              </a:rPr>
              <a:t> for what each runner includes; the gh CLI</a:t>
            </a:r>
            <a:endParaRPr lang="en-US" sz="1400" dirty="0"/>
          </a:p>
        </p:txBody>
      </p:sp>
      <p:sp>
        <p:nvSpPr>
          <p:cNvPr id="10" name="Shape 8"/>
          <p:cNvSpPr/>
          <p:nvPr/>
        </p:nvSpPr>
        <p:spPr>
          <a:xfrm>
            <a:off x="8060293" y="4865377"/>
            <a:ext cx="3318907" cy="0"/>
          </a:xfrm>
          <a:prstGeom prst="line">
            <a:avLst/>
          </a:prstGeom>
          <a:noFill/>
          <a:ln w="12700">
            <a:solidFill>
              <a:srgbClr val="4A3428"/>
            </a:solidFill>
            <a:prstDash val="solid"/>
          </a:ln>
        </p:spPr>
      </p:sp>
      <p:sp>
        <p:nvSpPr>
          <p:cNvPr id="11" name="Text 9"/>
          <p:cNvSpPr/>
          <p:nvPr/>
        </p:nvSpPr>
        <p:spPr>
          <a:xfrm>
            <a:off x="8060293" y="5021585"/>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A06A"/>
                </a:solidFill>
                <a:latin typeface="IBM Plex Sans" pitchFamily="34" charset="0"/>
                <a:ea typeface="IBM Plex Sans" pitchFamily="34" charset="-122"/>
                <a:cs typeface="IBM Plex Sans" pitchFamily="34" charset="-120"/>
              </a:rPr>
              <a:t>THE SERIES, END TO END</a:t>
            </a:r>
            <a:endParaRPr lang="en-US" sz="1200" dirty="0"/>
          </a:p>
        </p:txBody>
      </p:sp>
      <p:sp>
        <p:nvSpPr>
          <p:cNvPr id="12" name="Text 10"/>
          <p:cNvSpPr/>
          <p:nvPr/>
        </p:nvSpPr>
        <p:spPr>
          <a:xfrm>
            <a:off x="8060293" y="5298442"/>
            <a:ext cx="341847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Docker packages the app, Kubernetes runs it, GitHub Actions ships every change.</a:t>
            </a:r>
            <a:endParaRPr lang="en-US" sz="1400" dirty="0"/>
          </a:p>
        </p:txBody>
      </p:sp>
    </p:spTree>
  </p:cSld>
  <p:clrMapOvr>
    <a:masterClrMapping/>
  </p:clrMapOvr>
</p:sld>
</file>

<file path=ppt/theme/theme1.xml><?xml version="1.0" encoding="utf-8"?>
<a:theme xmlns:a="http://schemas.openxmlformats.org/drawingml/2006/main" name="GitHub Actions Fundamentals">
  <a:themeElements>
    <a:clrScheme name="GitHub Actions Fundamentals">
      <a:dk1>
        <a:srgbClr val="2B3240"/>
      </a:dk1>
      <a:lt1>
        <a:srgbClr val="F6F5F1"/>
      </a:lt1>
      <a:dk2>
        <a:srgbClr val="5E636C"/>
      </a:dk2>
      <a:lt2>
        <a:srgbClr val="E2E2DF"/>
      </a:lt2>
      <a:accent1>
        <a:srgbClr val="AD420E"/>
      </a:accent1>
      <a:accent2>
        <a:srgbClr val="FFE3D3"/>
      </a:accent2>
      <a:accent3>
        <a:srgbClr val="FFA06A"/>
      </a:accent3>
      <a:accent4>
        <a:srgbClr val="5D6470"/>
      </a:accent4>
      <a:accent5>
        <a:srgbClr val="121722"/>
      </a:accent5>
      <a:accent6>
        <a:srgbClr val="161B26"/>
      </a:accent6>
      <a:hlink>
        <a:srgbClr val="0563C1"/>
      </a:hlink>
      <a:folHlink>
        <a:srgbClr val="954F72"/>
      </a:folHlink>
    </a:clrScheme>
    <a:fontScheme name="GitHub Actions Fundamental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 Fundamentals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2026-10-30T07:06:53Z</dcterms:created>
  <dcterms:modified xsi:type="dcterms:W3CDTF">2026-10-30T07:06:53Z</dcterms:modified>
</cp:coreProperties>
</file>