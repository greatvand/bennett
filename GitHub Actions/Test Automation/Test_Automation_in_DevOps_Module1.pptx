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143000"/>
            <a:ext cx="5334000" cy="5334000"/>
          </a:xfrm>
          <a:prstGeom prst="ellipse">
            <a:avLst/>
          </a:prstGeom>
          <a:solidFill>
            <a:srgbClr val="831B8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7239000"/>
            <a:ext cx="4572000" cy="4572000"/>
          </a:xfrm>
          <a:prstGeom prst="ellipse">
            <a:avLst/>
          </a:prstGeom>
          <a:solidFill>
            <a:srgbClr val="3F0F7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246376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IN DEVOPS — 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3088600"/>
            <a:ext cx="15716250" cy="934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17"/>
              </a:lnSpc>
              <a:buNone/>
            </a:pPr>
            <a:r>
              <a:rPr lang="en-US" sz="7200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Software Testing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19200" y="4289465"/>
            <a:ext cx="117729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Principles, life cycles, and the testing types every automation engineer must master.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19200" y="6057305"/>
            <a:ext cx="9480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topics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48295" y="6057305"/>
            <a:ext cx="1784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7769" y="6057305"/>
            <a:ext cx="257471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45–60 minute session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05619" y="6057305"/>
            <a:ext cx="1784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5094" y="6057305"/>
            <a:ext cx="26785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&amp; trainees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9200" y="6986945"/>
            <a:ext cx="5130761" cy="1141095"/>
          </a:xfrm>
          <a:prstGeom prst="roundRect">
            <a:avLst>
              <a:gd name="adj" fmla="val 1335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3520" y="7223165"/>
            <a:ext cx="504033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3520" y="7619405"/>
            <a:ext cx="5040332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19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Manifesto &amp; testing principles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78561" y="6986945"/>
            <a:ext cx="5130879" cy="1141095"/>
          </a:xfrm>
          <a:prstGeom prst="roundRect">
            <a:avLst>
              <a:gd name="adj" fmla="val 1335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2881" y="7223165"/>
            <a:ext cx="50404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2881" y="7619405"/>
            <a:ext cx="504046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19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and the Software Testing Life Cycle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938040" y="6986945"/>
            <a:ext cx="5130761" cy="1141095"/>
          </a:xfrm>
          <a:prstGeom prst="roundRect">
            <a:avLst>
              <a:gd name="adj" fmla="val 1335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12360" y="7223165"/>
            <a:ext cx="504033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212360" y="7619405"/>
            <a:ext cx="5040332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19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core testing types, with examples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we’ll cover today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19200" y="370070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773680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81200" y="2811780"/>
            <a:ext cx="359797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Manifesto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448800" y="370070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2773680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10800" y="2811780"/>
            <a:ext cx="270843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Testing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9200" y="486394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93692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81200" y="3975021"/>
            <a:ext cx="444612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Life Cycle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48800" y="486394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393692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210800" y="3975021"/>
            <a:ext cx="362023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Life Cycle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19200" y="602730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510016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81200" y="5138261"/>
            <a:ext cx="192249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vs STLC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48800" y="602730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510016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210800" y="5138261"/>
            <a:ext cx="219569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19200" y="719066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626352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981200" y="6301621"/>
            <a:ext cx="245173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448800" y="719066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9448800" y="626352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210800" y="6301621"/>
            <a:ext cx="313290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Testing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219200" y="835402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" y="742688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981200" y="7464981"/>
            <a:ext cx="260575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448800" y="8354021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9448800" y="7426881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210800" y="7464981"/>
            <a:ext cx="368834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&amp; GUI Testing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19200" y="9517380"/>
            <a:ext cx="76200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5" name="Text 33"/>
          <p:cNvSpPr/>
          <p:nvPr/>
        </p:nvSpPr>
        <p:spPr>
          <a:xfrm>
            <a:off x="1219200" y="8590240"/>
            <a:ext cx="6096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981200" y="8628340"/>
            <a:ext cx="150915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Automation Manifesto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316480"/>
            <a:ext cx="147161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of values for automation work — it favors the item on the left over the item on the right, without discarding the right entirely.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19200" y="3520440"/>
            <a:ext cx="7810500" cy="2887980"/>
          </a:xfrm>
          <a:prstGeom prst="roundRect">
            <a:avLst>
              <a:gd name="adj" fmla="val 7916"/>
            </a:avLst>
          </a:prstGeom>
          <a:solidFill>
            <a:srgbClr val="F3F2F4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3863340"/>
            <a:ext cx="320860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Testers &amp; programmers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106829" y="3903345"/>
            <a:ext cx="4916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11836" y="3890010"/>
            <a:ext cx="27905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automation experts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4351020"/>
            <a:ext cx="77533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is built collaboratively, not handed off to a separate team.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58300" y="3520440"/>
            <a:ext cx="7810500" cy="2887980"/>
          </a:xfrm>
          <a:prstGeom prst="roundRect">
            <a:avLst>
              <a:gd name="adj" fmla="val 7916"/>
            </a:avLst>
          </a:prstGeom>
          <a:solidFill>
            <a:srgbClr val="F3F2F4"/>
          </a:solidFill>
          <a:ln/>
        </p:spPr>
      </p:sp>
      <p:sp>
        <p:nvSpPr>
          <p:cNvPr id="11" name="Text 9"/>
          <p:cNvSpPr/>
          <p:nvPr/>
        </p:nvSpPr>
        <p:spPr>
          <a:xfrm>
            <a:off x="9639300" y="3863340"/>
            <a:ext cx="220184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software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01494" y="3903345"/>
            <a:ext cx="4916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577299" y="3890010"/>
            <a:ext cx="23215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testing software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39300" y="4351020"/>
            <a:ext cx="77533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exists to build quality in, not to catch bugs after the fact.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19200" y="6637020"/>
            <a:ext cx="7810500" cy="2887980"/>
          </a:xfrm>
          <a:prstGeom prst="roundRect">
            <a:avLst>
              <a:gd name="adj" fmla="val 7916"/>
            </a:avLst>
          </a:prstGeom>
          <a:solidFill>
            <a:srgbClr val="F3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6979920"/>
            <a:ext cx="27457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 of small tests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166360" y="7019925"/>
            <a:ext cx="4916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51784" y="7006590"/>
            <a:ext cx="21966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huge test suite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7467600"/>
            <a:ext cx="77533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independent suites run faster and fail with a clearer signal.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258300" y="6637020"/>
            <a:ext cx="7810500" cy="2887980"/>
          </a:xfrm>
          <a:prstGeom prst="roundRect">
            <a:avLst>
              <a:gd name="adj" fmla="val 7916"/>
            </a:avLst>
          </a:prstGeom>
          <a:solidFill>
            <a:srgbClr val="F3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9639300" y="6979920"/>
            <a:ext cx="36486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maintainable tests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223438" y="7019925"/>
            <a:ext cx="4916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905905" y="7006590"/>
            <a:ext cx="30600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quickly written, brittle tests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39300" y="7467600"/>
            <a:ext cx="77533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that breaks on every unrelated change costs more than it saves.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Principles of Testing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19200" y="269748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96418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85900" y="3592830"/>
            <a:ext cx="338470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shows presence of defects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5900" y="432816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proves defects exist — it can never prove the software is defect-free.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9225" y="269748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9" name="Text 7"/>
          <p:cNvSpPr/>
          <p:nvPr/>
        </p:nvSpPr>
        <p:spPr>
          <a:xfrm>
            <a:off x="5495925" y="296418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95925" y="3592830"/>
            <a:ext cx="338470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testing is impossible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95925" y="432816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every input/path combination isn’t feasible; risk-based selection 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39250" y="269748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9505950" y="296418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05950" y="3592830"/>
            <a:ext cx="338470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testing saves time &amp; money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05950" y="4328160"/>
            <a:ext cx="338470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found in requirements cost far less than those found in production.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249275" y="269748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3515975" y="296418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515975" y="3592830"/>
            <a:ext cx="3614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cluster together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15975" y="400812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number of modules usually contain most reported defects.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19200" y="620649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1485900" y="647319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85900" y="7101840"/>
            <a:ext cx="3614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Beware the pesticide paradox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5900" y="751713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the same tests stops finding new bugs — tests must evolve.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229225" y="620649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495925" y="647319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95925" y="7101840"/>
            <a:ext cx="3614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is context dependent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95925" y="751713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banking app and a game website are tested very differently.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39250" y="620649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FA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05950" y="6473190"/>
            <a:ext cx="36147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505950" y="7101840"/>
            <a:ext cx="36147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Absence-of-errors is a fallacy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05950" y="7517130"/>
            <a:ext cx="3384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bug-free product that ignores user needs still fails in the market.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249275" y="6206490"/>
            <a:ext cx="3819525" cy="3318510"/>
          </a:xfrm>
          <a:prstGeom prst="roundRect">
            <a:avLst>
              <a:gd name="adj" fmla="val 5741"/>
            </a:avLst>
          </a:prstGeom>
          <a:solidFill>
            <a:srgbClr val="831B84"/>
          </a:solidFill>
          <a:ln/>
        </p:spPr>
      </p:sp>
      <p:sp>
        <p:nvSpPr>
          <p:cNvPr id="33" name="Text 31"/>
          <p:cNvSpPr/>
          <p:nvPr/>
        </p:nvSpPr>
        <p:spPr>
          <a:xfrm>
            <a:off x="13515975" y="7385685"/>
            <a:ext cx="338470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principles apply whether tests are run manually or by an automated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Life Cycle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316480"/>
            <a:ext cx="157162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process for building software — testing is one phase nested inside 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932146" y="4721543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6" name="Text 4"/>
          <p:cNvSpPr/>
          <p:nvPr/>
        </p:nvSpPr>
        <p:spPr>
          <a:xfrm>
            <a:off x="1894046" y="472154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21631" y="5712143"/>
            <a:ext cx="145923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6504623"/>
            <a:ext cx="2340412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&amp; document what the system must do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4196477" y="4881563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10" name="Text 8"/>
          <p:cNvSpPr/>
          <p:nvPr/>
        </p:nvSpPr>
        <p:spPr>
          <a:xfrm>
            <a:off x="4158377" y="48815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1347" y="5872163"/>
            <a:ext cx="10084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45312" y="6344603"/>
            <a:ext cx="2340531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cost, resources, schedule, and risk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60689" y="4881563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22589" y="48815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66404" y="5872163"/>
            <a:ext cx="8267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09642" y="6344603"/>
            <a:ext cx="2340412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architecture, data model, and UI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724900" y="5008245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5008245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0676" y="5998845"/>
            <a:ext cx="1566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67109" y="6471285"/>
            <a:ext cx="2353901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review the code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0989112" y="4881563"/>
            <a:ext cx="838200" cy="838200"/>
          </a:xfrm>
          <a:prstGeom prst="ellipse">
            <a:avLst/>
          </a:prstGeom>
          <a:solidFill>
            <a:srgbClr val="831B8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51012" y="48815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81611" y="5872163"/>
            <a:ext cx="8533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38066" y="6344603"/>
            <a:ext cx="2340412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STLC runs here — verify against requirements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3253324" y="4881563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13215224" y="48815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961394" y="5872163"/>
            <a:ext cx="14220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502278" y="6344603"/>
            <a:ext cx="2340412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to staging, then production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5517535" y="4881563"/>
            <a:ext cx="838200" cy="838200"/>
          </a:xfrm>
          <a:prstGeom prst="ellipse">
            <a:avLst/>
          </a:prstGeom>
          <a:solidFill>
            <a:srgbClr val="F3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15479435" y="48815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5168634" y="5872163"/>
            <a:ext cx="153600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766488" y="6344603"/>
            <a:ext cx="2340412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Patch, monitor, and improve post-release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219200" y="8814435"/>
            <a:ext cx="15849600" cy="710565"/>
          </a:xfrm>
          <a:prstGeom prst="roundRect">
            <a:avLst>
              <a:gd name="adj" fmla="val 21448"/>
            </a:avLst>
          </a:prstGeom>
          <a:solidFill>
            <a:srgbClr val="FA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1524000" y="9043035"/>
            <a:ext cx="15715488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highlight>
                  <a:srgbClr val="FAFA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SDLC is the umbrella process for the whole product. The </a:t>
            </a:r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</a:t>
            </a:r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highlight>
                  <a:srgbClr val="FAFA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phase highlighted above is where the Software Testing Life Cycle (STLC) takes over — covered next.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Life Cycle (STLC)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2316480"/>
            <a:ext cx="157162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sequence of testing activities, each with a defined deliverable, feeding the next.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19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D8C3E6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3375660"/>
            <a:ext cx="23469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3F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09700" y="3783330"/>
            <a:ext cx="22098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what’s testable and flag ambiguous requirements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9700" y="8980170"/>
            <a:ext cx="2133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RTM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D8C3E6"/>
          </a:solidFill>
          <a:ln/>
        </p:spPr>
      </p:sp>
      <p:sp>
        <p:nvSpPr>
          <p:cNvPr id="11" name="Text 9"/>
          <p:cNvSpPr/>
          <p:nvPr/>
        </p:nvSpPr>
        <p:spPr>
          <a:xfrm>
            <a:off x="4076700" y="3375660"/>
            <a:ext cx="23469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3F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Planning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076700" y="3783330"/>
            <a:ext cx="22098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scope, strategy, tools, timeline, and resources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76700" y="8980170"/>
            <a:ext cx="2133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4076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Test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3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D8C3E6"/>
          </a:solidFill>
          <a:ln/>
        </p:spPr>
      </p:sp>
      <p:sp>
        <p:nvSpPr>
          <p:cNvPr id="16" name="Text 14"/>
          <p:cNvSpPr/>
          <p:nvPr/>
        </p:nvSpPr>
        <p:spPr>
          <a:xfrm>
            <a:off x="6743700" y="3375660"/>
            <a:ext cx="22098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3F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Development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743700" y="4076700"/>
            <a:ext cx="2209800" cy="4827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cases, scripts, and prepare test data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43700" y="8980170"/>
            <a:ext cx="2133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6743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Test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0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D8C3E6"/>
          </a:solidFill>
          <a:ln/>
        </p:spPr>
      </p:sp>
      <p:sp>
        <p:nvSpPr>
          <p:cNvPr id="21" name="Text 19"/>
          <p:cNvSpPr/>
          <p:nvPr/>
        </p:nvSpPr>
        <p:spPr>
          <a:xfrm>
            <a:off x="9410700" y="3375660"/>
            <a:ext cx="23469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3F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410700" y="3783330"/>
            <a:ext cx="22098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hardware, software, and test data setup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410700" y="8980170"/>
            <a:ext cx="2133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9410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Ready Env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887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831B8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7700" y="3375660"/>
            <a:ext cx="23469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077700" y="3783330"/>
            <a:ext cx="22098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tests, log results, raise and retest defects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2077700" y="8980170"/>
            <a:ext cx="21336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077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Defect Reports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554200" y="3147060"/>
            <a:ext cx="2514600" cy="6377940"/>
          </a:xfrm>
          <a:prstGeom prst="roundRect">
            <a:avLst>
              <a:gd name="adj" fmla="val 7576"/>
            </a:avLst>
          </a:prstGeom>
          <a:solidFill>
            <a:srgbClr val="D8C3E6"/>
          </a:solidFill>
          <a:ln/>
        </p:spPr>
      </p:sp>
      <p:sp>
        <p:nvSpPr>
          <p:cNvPr id="31" name="Text 29"/>
          <p:cNvSpPr/>
          <p:nvPr/>
        </p:nvSpPr>
        <p:spPr>
          <a:xfrm>
            <a:off x="14744700" y="3375660"/>
            <a:ext cx="23469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3F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Closure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744700" y="3783330"/>
            <a:ext cx="22098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coverage, cost, and lessons learned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4744700" y="8980170"/>
            <a:ext cx="2133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14744700" y="9083040"/>
            <a:ext cx="22098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2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Closure Report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48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vs STLC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19200" y="2697480"/>
            <a:ext cx="15849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" name="Shape 3"/>
          <p:cNvSpPr/>
          <p:nvPr/>
        </p:nvSpPr>
        <p:spPr>
          <a:xfrm>
            <a:off x="4457700" y="2705100"/>
            <a:ext cx="6305550" cy="1229916"/>
          </a:xfrm>
          <a:custGeom>
            <a:avLst/>
            <a:gdLst/>
            <a:ahLst/>
            <a:cxnLst/>
            <a:rect l="l" t="t" r="r" b="b"/>
            <a:pathLst>
              <a:path w="6305550" h="1229916">
                <a:moveTo>
                  <a:pt x="152400" y="0"/>
                </a:moveTo>
                <a:lnTo>
                  <a:pt x="6153150" y="0"/>
                </a:lnTo>
                <a:arcTo hR="152400" wR="152400" stAng="16200000" swAng="5400000"/>
                <a:lnTo>
                  <a:pt x="6305550" y="1229916"/>
                </a:lnTo>
                <a:lnTo>
                  <a:pt x="0" y="1229916"/>
                </a:lnTo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3F2F4"/>
          </a:solidFill>
          <a:ln/>
        </p:spPr>
      </p:sp>
      <p:sp>
        <p:nvSpPr>
          <p:cNvPr id="6" name="Text 4"/>
          <p:cNvSpPr/>
          <p:nvPr/>
        </p:nvSpPr>
        <p:spPr>
          <a:xfrm>
            <a:off x="4686300" y="3133368"/>
            <a:ext cx="77104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839450" y="2705100"/>
            <a:ext cx="6229350" cy="1229916"/>
          </a:xfrm>
          <a:custGeom>
            <a:avLst/>
            <a:gdLst/>
            <a:ahLst/>
            <a:cxnLst/>
            <a:rect l="l" t="t" r="r" b="b"/>
            <a:pathLst>
              <a:path w="6229350" h="1229916">
                <a:moveTo>
                  <a:pt x="152400" y="0"/>
                </a:moveTo>
                <a:lnTo>
                  <a:pt x="6076950" y="0"/>
                </a:lnTo>
                <a:arcTo hR="152400" wR="152400" stAng="16200000" swAng="5400000"/>
                <a:lnTo>
                  <a:pt x="6229350" y="1229916"/>
                </a:lnTo>
                <a:lnTo>
                  <a:pt x="0" y="1229916"/>
                </a:lnTo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831B84"/>
          </a:solidFill>
          <a:ln/>
        </p:spPr>
      </p:sp>
      <p:sp>
        <p:nvSpPr>
          <p:cNvPr id="8" name="Text 6"/>
          <p:cNvSpPr/>
          <p:nvPr/>
        </p:nvSpPr>
        <p:spPr>
          <a:xfrm>
            <a:off x="11068050" y="3133368"/>
            <a:ext cx="73425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STLC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19200" y="5046821"/>
            <a:ext cx="32385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4144566"/>
            <a:ext cx="2878455" cy="730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57700" y="5046821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4686300" y="4144566"/>
            <a:ext cx="6037517" cy="730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entire product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763250" y="5046821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8050" y="4144566"/>
            <a:ext cx="5961317" cy="730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&amp; validating the product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19200" y="6166366"/>
            <a:ext cx="32385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5263991"/>
            <a:ext cx="28784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457700" y="6166366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4686300" y="5263991"/>
            <a:ext cx="60375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through maintenance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0763250" y="6166366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8050" y="5263991"/>
            <a:ext cx="59613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inside the SDLC testing phase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19200" y="7285911"/>
            <a:ext cx="32385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6383536"/>
            <a:ext cx="28784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4457700" y="7285911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4686300" y="6383536"/>
            <a:ext cx="60375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delivery team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763250" y="7285911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11068050" y="6383536"/>
            <a:ext cx="59613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engineers &amp; QA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19200" y="8405456"/>
            <a:ext cx="32385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7503081"/>
            <a:ext cx="28784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when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4457700" y="8405456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86300" y="7503081"/>
            <a:ext cx="60375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is approved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763250" y="8405456"/>
            <a:ext cx="630555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11068050" y="7503081"/>
            <a:ext cx="59613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are baselined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47800" y="8622625"/>
            <a:ext cx="28784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output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4686300" y="8622625"/>
            <a:ext cx="60375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deployed system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068050" y="8622625"/>
            <a:ext cx="5961317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the system meets requirements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82104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8210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415540"/>
            <a:ext cx="7687949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how easy, efficient, and satisfying a product is for real users to operate — not whether features work, but whether people can succeed with them.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19200" y="3798570"/>
            <a:ext cx="821043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9200" y="4244340"/>
            <a:ext cx="116276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Learnability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58164" y="4282440"/>
            <a:ext cx="4208321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how fast a new user completes basic tasks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219200" y="4657725"/>
            <a:ext cx="98821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2283619" y="4695825"/>
            <a:ext cx="4673596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time and steps to complete a task once learned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219200" y="5071110"/>
            <a:ext cx="94892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2244328" y="5109210"/>
            <a:ext cx="4015049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how often and how badly users go wrong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219200" y="5484495"/>
            <a:ext cx="118443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2479834" y="5522595"/>
            <a:ext cx="4024125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subjective comfort, often scored via SUS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445228" y="914400"/>
            <a:ext cx="7623572" cy="8610600"/>
          </a:xfrm>
          <a:prstGeom prst="roundRect">
            <a:avLst>
              <a:gd name="adj" fmla="val 2999"/>
            </a:avLst>
          </a:prstGeom>
          <a:solidFill>
            <a:srgbClr val="F4F1F1"/>
          </a:solidFill>
          <a:ln/>
        </p:spPr>
      </p:sp>
      <p:sp>
        <p:nvSpPr>
          <p:cNvPr id="15" name="Text 13"/>
          <p:cNvSpPr/>
          <p:nvPr/>
        </p:nvSpPr>
        <p:spPr>
          <a:xfrm>
            <a:off x="9864328" y="1333500"/>
            <a:ext cx="74639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864328" y="1817370"/>
            <a:ext cx="698893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checkout redesign is given to 8 first-time users with the task: “buy this item and check out.”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864328" y="2655570"/>
            <a:ext cx="6785372" cy="62484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4828" y="2841308"/>
            <a:ext cx="1627418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 rate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5979735" y="2807970"/>
            <a:ext cx="5556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64328" y="3394710"/>
            <a:ext cx="6785372" cy="62484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4828" y="3580447"/>
            <a:ext cx="1550015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time on task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6059150" y="3547110"/>
            <a:ext cx="4762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64328" y="4133850"/>
            <a:ext cx="6785372" cy="62484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4828" y="4319588"/>
            <a:ext cx="206747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Usability Scale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5639098" y="4286250"/>
            <a:ext cx="89630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/ 100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64328" y="4987290"/>
            <a:ext cx="746390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users missed the “apply promo code” link entirely — flagged for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82104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8210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415540"/>
            <a:ext cx="7687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each feature against its functional specification: given a defined input, does the system produce the expected output?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19200" y="3451860"/>
            <a:ext cx="821043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sub-types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9200" y="3897630"/>
            <a:ext cx="372624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</a:t>
            </a:r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 function/class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065514" y="3897630"/>
            <a:ext cx="372624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</a:t>
            </a:r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modules working together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219200" y="4591050"/>
            <a:ext cx="372624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</a:t>
            </a:r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 the build stable enough to test?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065514" y="4591050"/>
            <a:ext cx="372624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</a:t>
            </a:r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did a fix break something else?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445228" y="914400"/>
            <a:ext cx="7623572" cy="8610600"/>
          </a:xfrm>
          <a:prstGeom prst="roundRect">
            <a:avLst>
              <a:gd name="adj" fmla="val 2999"/>
            </a:avLst>
          </a:prstGeom>
          <a:solidFill>
            <a:srgbClr val="F4F1F1"/>
          </a:solidFill>
          <a:ln/>
        </p:spPr>
      </p:sp>
      <p:sp>
        <p:nvSpPr>
          <p:cNvPr id="11" name="Text 9"/>
          <p:cNvSpPr/>
          <p:nvPr/>
        </p:nvSpPr>
        <p:spPr>
          <a:xfrm>
            <a:off x="9864328" y="1333500"/>
            <a:ext cx="74639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Login feature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864328" y="1836420"/>
            <a:ext cx="6785372" cy="558165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4828" y="1988820"/>
            <a:ext cx="280797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email + correct password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248216" y="1988820"/>
            <a:ext cx="133208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access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864328" y="2489835"/>
            <a:ext cx="6785372" cy="558165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4828" y="2642235"/>
            <a:ext cx="2712887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email + wrong password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4684098" y="2642235"/>
            <a:ext cx="195261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“Incorrect password”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864328" y="3143250"/>
            <a:ext cx="6785372" cy="558165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4828" y="3295650"/>
            <a:ext cx="1741492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Unregistered email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4776252" y="3295650"/>
            <a:ext cx="185124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“Account not found”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864328" y="3796665"/>
            <a:ext cx="6785372" cy="558165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4828" y="3949065"/>
            <a:ext cx="1533906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failed attempts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4695170" y="3949065"/>
            <a:ext cx="1940433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locks 15 min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864328" y="4450080"/>
            <a:ext cx="6785372" cy="558165"/>
          </a:xfrm>
          <a:prstGeom prst="roundRect">
            <a:avLst>
              <a:gd name="adj" fmla="val 2047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4828" y="4602480"/>
            <a:ext cx="2092881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fields submitted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4694218" y="4602480"/>
            <a:ext cx="1941481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validation error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263140"/>
            <a:ext cx="15716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</a:t>
            </a:r>
            <a:pPr algn="l" indent="0" marL="0">
              <a:lnSpc>
                <a:spcPct val="122973"/>
              </a:lnSpc>
              <a:buNone/>
            </a:pPr>
            <a:r>
              <a:rPr lang="en-US" sz="1950" i="1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</a:t>
            </a:r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performs — speed, safety, scale, and resilience — rather than whether a feature is correct.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219200" y="3006090"/>
            <a:ext cx="3819525" cy="5604510"/>
          </a:xfrm>
          <a:prstGeom prst="roundRect">
            <a:avLst>
              <a:gd name="adj" fmla="val 4988"/>
            </a:avLst>
          </a:prstGeom>
          <a:solidFill>
            <a:srgbClr val="F3F2F4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3272790"/>
            <a:ext cx="36147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85900" y="3733800"/>
            <a:ext cx="3384709" cy="420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time, throughput under expected load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485900" y="8014335"/>
            <a:ext cx="3286125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8117205"/>
            <a:ext cx="33847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page loads &lt; 2s at 5,000 users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5229225" y="3006090"/>
            <a:ext cx="3819525" cy="5604510"/>
          </a:xfrm>
          <a:prstGeom prst="roundRect">
            <a:avLst>
              <a:gd name="adj" fmla="val 4988"/>
            </a:avLst>
          </a:prstGeom>
          <a:solidFill>
            <a:srgbClr val="F3F2F4"/>
          </a:solidFill>
          <a:ln/>
        </p:spPr>
      </p:sp>
      <p:sp>
        <p:nvSpPr>
          <p:cNvPr id="11" name="Text 9"/>
          <p:cNvSpPr/>
          <p:nvPr/>
        </p:nvSpPr>
        <p:spPr>
          <a:xfrm>
            <a:off x="5495925" y="3272790"/>
            <a:ext cx="36147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95925" y="3733800"/>
            <a:ext cx="3384709" cy="420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against unauthorized access &amp; data loss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5495925" y="8014335"/>
            <a:ext cx="3286125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95925" y="8117205"/>
            <a:ext cx="33847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SQL-injection &amp; auth bypass attempts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239250" y="3006090"/>
            <a:ext cx="3819525" cy="5604510"/>
          </a:xfrm>
          <a:prstGeom prst="roundRect">
            <a:avLst>
              <a:gd name="adj" fmla="val 4988"/>
            </a:avLst>
          </a:prstGeom>
          <a:solidFill>
            <a:srgbClr val="F3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9505950" y="3272790"/>
            <a:ext cx="36147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05950" y="3733800"/>
            <a:ext cx="3384709" cy="420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as load grows well beyond normal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505950" y="8014335"/>
            <a:ext cx="3286125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9505950" y="8117205"/>
            <a:ext cx="33847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ramp from 1k to 50k concurrent users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3249275" y="3006090"/>
            <a:ext cx="3819525" cy="5604510"/>
          </a:xfrm>
          <a:prstGeom prst="roundRect">
            <a:avLst>
              <a:gd name="adj" fmla="val 4988"/>
            </a:avLst>
          </a:prstGeom>
          <a:solidFill>
            <a:srgbClr val="F3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13515975" y="3272790"/>
            <a:ext cx="36147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515975" y="3733800"/>
            <a:ext cx="3384709" cy="420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operation over an extended period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3515975" y="8014335"/>
            <a:ext cx="3286125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13515975" y="8117205"/>
            <a:ext cx="3384709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72-hour soak test, zero crashes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219200" y="8801100"/>
            <a:ext cx="15849600" cy="723900"/>
          </a:xfrm>
          <a:prstGeom prst="roundRect">
            <a:avLst>
              <a:gd name="adj" fmla="val 26316"/>
            </a:avLst>
          </a:prstGeom>
          <a:solidFill>
            <a:srgbClr val="831B84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9029700"/>
            <a:ext cx="15715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functional testing asks “does it work?”; non-functional testing asks “does it hold up?”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(E2E)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263140"/>
            <a:ext cx="1471612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 complete real-world workflow across every integrated system it touches — UI, services, database, and third parties — not just one component.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103120" y="5415915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D8C3E6"/>
          </a:solidFill>
          <a:ln/>
        </p:spPr>
      </p:sp>
      <p:sp>
        <p:nvSpPr>
          <p:cNvPr id="6" name="Text 4"/>
          <p:cNvSpPr/>
          <p:nvPr/>
        </p:nvSpPr>
        <p:spPr>
          <a:xfrm>
            <a:off x="2065020" y="541591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734437" y="6463665"/>
            <a:ext cx="165164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catalog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42862" y="6890385"/>
            <a:ext cx="1234797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service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901440" y="6256973"/>
            <a:ext cx="609600" cy="19050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0" y="5415915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D8C3E6"/>
          </a:solidFill>
          <a:ln/>
        </p:spPr>
      </p:sp>
      <p:sp>
        <p:nvSpPr>
          <p:cNvPr id="11" name="Text 9"/>
          <p:cNvSpPr/>
          <p:nvPr/>
        </p:nvSpPr>
        <p:spPr>
          <a:xfrm>
            <a:off x="5356860" y="541591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79350" y="6463665"/>
            <a:ext cx="114561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67695" y="6890385"/>
            <a:ext cx="968812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service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193280" y="6256973"/>
            <a:ext cx="609600" cy="19050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5415915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D8C3E6"/>
          </a:solidFill>
          <a:ln/>
        </p:spPr>
      </p:sp>
      <p:sp>
        <p:nvSpPr>
          <p:cNvPr id="16" name="Text 14"/>
          <p:cNvSpPr/>
          <p:nvPr/>
        </p:nvSpPr>
        <p:spPr>
          <a:xfrm>
            <a:off x="8648700" y="541591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931116" y="6463665"/>
            <a:ext cx="42576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31530" y="6890385"/>
            <a:ext cx="1424940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0485120" y="6256973"/>
            <a:ext cx="609600" cy="19050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78640" y="5415915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D8C3E6"/>
          </a:solidFill>
          <a:ln/>
        </p:spPr>
      </p:sp>
      <p:sp>
        <p:nvSpPr>
          <p:cNvPr id="21" name="Text 19"/>
          <p:cNvSpPr/>
          <p:nvPr/>
        </p:nvSpPr>
        <p:spPr>
          <a:xfrm>
            <a:off x="11940540" y="541591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1684603" y="6463665"/>
            <a:ext cx="150247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14692" y="6890385"/>
            <a:ext cx="1242298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database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3776960" y="6256973"/>
            <a:ext cx="609600" cy="19050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5270481" y="5415915"/>
            <a:ext cx="914400" cy="914400"/>
          </a:xfrm>
          <a:prstGeom prst="roundRect">
            <a:avLst>
              <a:gd name="adj" fmla="val 20833"/>
            </a:avLst>
          </a:prstGeom>
          <a:solidFill>
            <a:srgbClr val="831B84"/>
          </a:solidFill>
          <a:ln/>
        </p:spPr>
      </p:sp>
      <p:sp>
        <p:nvSpPr>
          <p:cNvPr id="26" name="Text 24"/>
          <p:cNvSpPr/>
          <p:nvPr/>
        </p:nvSpPr>
        <p:spPr>
          <a:xfrm>
            <a:off x="15232381" y="541591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4701802" y="6463665"/>
            <a:ext cx="20517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email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940296" y="6890385"/>
            <a:ext cx="1574768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219200" y="9271635"/>
            <a:ext cx="1743456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E2E test can pass through five or more independent services — a failure anywhere breaks the chain.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263140"/>
            <a:ext cx="1471612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software behaves correctly across the browsers, operating systems, devices, and networks real users actually have.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219200" y="3337560"/>
            <a:ext cx="15849600" cy="5756910"/>
          </a:xfrm>
          <a:prstGeom prst="roundRect">
            <a:avLst>
              <a:gd name="adj" fmla="val 2647"/>
            </a:avLst>
          </a:prstGeom>
          <a:solidFill>
            <a:srgbClr val="ECEBEE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3337560"/>
            <a:ext cx="2095500" cy="13463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0" y="3337560"/>
            <a:ext cx="3419475" cy="1346359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8" name="Text 6"/>
          <p:cNvSpPr/>
          <p:nvPr/>
        </p:nvSpPr>
        <p:spPr>
          <a:xfrm>
            <a:off x="3453908" y="3509010"/>
            <a:ext cx="3179159" cy="104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72275" y="3337560"/>
            <a:ext cx="3419475" cy="1346359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10" name="Text 8"/>
          <p:cNvSpPr/>
          <p:nvPr/>
        </p:nvSpPr>
        <p:spPr>
          <a:xfrm>
            <a:off x="6892433" y="3509010"/>
            <a:ext cx="3179159" cy="104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10800" y="3337560"/>
            <a:ext cx="3419475" cy="1346359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0958" y="3509010"/>
            <a:ext cx="3179159" cy="104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649325" y="3337560"/>
            <a:ext cx="3419475" cy="1346359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69483" y="3509010"/>
            <a:ext cx="3179159" cy="104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19200" y="4702969"/>
            <a:ext cx="2095500" cy="1083588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1409700" y="4702969"/>
            <a:ext cx="1981200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3750" y="4702969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82458" y="4702969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772275" y="4702969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983" y="4702969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210800" y="4702969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59508" y="4702969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649325" y="4702969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598033" y="4702969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19200" y="5805607"/>
            <a:ext cx="2095500" cy="1083588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1409700" y="5805607"/>
            <a:ext cx="1981200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33750" y="5805607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458" y="5805607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772275" y="5805607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983" y="5805607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210800" y="5805607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159508" y="5805607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649325" y="5805607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3598033" y="5805607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19200" y="6908245"/>
            <a:ext cx="2095500" cy="1083588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36" name="Text 34"/>
          <p:cNvSpPr/>
          <p:nvPr/>
        </p:nvSpPr>
        <p:spPr>
          <a:xfrm>
            <a:off x="1409700" y="6908245"/>
            <a:ext cx="1981200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333750" y="6908245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82458" y="6908245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6772275" y="6908245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983" y="6908245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210800" y="6908245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159508" y="6908245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649325" y="6908245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3598033" y="6908245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19200" y="8010883"/>
            <a:ext cx="2095500" cy="1083588"/>
          </a:xfrm>
          <a:prstGeom prst="rect">
            <a:avLst/>
          </a:prstGeom>
          <a:solidFill>
            <a:srgbClr val="F3F2F4"/>
          </a:solidFill>
          <a:ln/>
        </p:spPr>
      </p:sp>
      <p:sp>
        <p:nvSpPr>
          <p:cNvPr id="46" name="Text 44"/>
          <p:cNvSpPr/>
          <p:nvPr/>
        </p:nvSpPr>
        <p:spPr>
          <a:xfrm>
            <a:off x="1409700" y="8010883"/>
            <a:ext cx="1981200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333750" y="8010883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282458" y="8010883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772275" y="8010883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720983" y="8010883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0210800" y="8010883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10159508" y="8010883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3649325" y="8010883"/>
            <a:ext cx="3419475" cy="1083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13598033" y="8010883"/>
            <a:ext cx="3522059" cy="112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219200" y="9284970"/>
            <a:ext cx="1743456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compatibility matrix like this one drives which combinations get automated cross-browser coverage.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821043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821043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415540"/>
            <a:ext cx="7687949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visual and interactive layer — layout, alignment, color, typography, and responsiveness — independent of underlying logic.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19200" y="3798570"/>
            <a:ext cx="821043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checklist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9200" y="4244340"/>
            <a:ext cx="82104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elements render at every supported screen size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219200" y="4638675"/>
            <a:ext cx="82104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isn’t truncated, overlapping, or clipped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219200" y="5033010"/>
            <a:ext cx="82104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show correct enabled / disabled / hover states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19200" y="5427345"/>
            <a:ext cx="82104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meet contrast requirements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219200" y="5821680"/>
            <a:ext cx="82104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and alignment match the design spec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445228" y="914400"/>
            <a:ext cx="7623572" cy="8610600"/>
          </a:xfrm>
          <a:prstGeom prst="roundRect">
            <a:avLst>
              <a:gd name="adj" fmla="val 2999"/>
            </a:avLst>
          </a:prstGeom>
          <a:solidFill>
            <a:srgbClr val="F4F1F1"/>
          </a:solidFill>
          <a:ln/>
        </p:spPr>
      </p:sp>
      <p:sp>
        <p:nvSpPr>
          <p:cNvPr id="12" name="Text 10"/>
          <p:cNvSpPr/>
          <p:nvPr/>
        </p:nvSpPr>
        <p:spPr>
          <a:xfrm>
            <a:off x="9864328" y="1333500"/>
            <a:ext cx="746390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sign-up form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864328" y="1798320"/>
            <a:ext cx="6785372" cy="598170"/>
          </a:xfrm>
          <a:prstGeom prst="roundRect">
            <a:avLst>
              <a:gd name="adj" fmla="val 1910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4828" y="1950720"/>
            <a:ext cx="2332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364272" y="1970723"/>
            <a:ext cx="4365188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button disables while request is pending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864328" y="2567940"/>
            <a:ext cx="6785372" cy="598170"/>
          </a:xfrm>
          <a:prstGeom prst="roundRect">
            <a:avLst>
              <a:gd name="adj" fmla="val 1910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4828" y="2720340"/>
            <a:ext cx="24741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378440" y="2740343"/>
            <a:ext cx="4327732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text overlaps the field label at 320px width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864328" y="3337560"/>
            <a:ext cx="6785372" cy="598170"/>
          </a:xfrm>
          <a:prstGeom prst="roundRect">
            <a:avLst>
              <a:gd name="adj" fmla="val 1910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4828" y="3489960"/>
            <a:ext cx="24741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378440" y="3509963"/>
            <a:ext cx="3654814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gray fails 4.5:1 contrast ratio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864328" y="4107180"/>
            <a:ext cx="6785372" cy="598170"/>
          </a:xfrm>
          <a:prstGeom prst="roundRect">
            <a:avLst>
              <a:gd name="adj" fmla="val 1910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4828" y="4259580"/>
            <a:ext cx="2332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364272" y="4279583"/>
            <a:ext cx="342850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order follows the visual field order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82543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825430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2415540"/>
            <a:ext cx="7729031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the business-logic layer directly through requests and responses — skipping the UI, so it runs faster and breaks less often on cosmetic changes.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19200" y="3798570"/>
            <a:ext cx="825430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verified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9200" y="4244340"/>
            <a:ext cx="825430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status codes &amp; response payloads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219200" y="4638675"/>
            <a:ext cx="825430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validation, error handling, edge cases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219200" y="5033010"/>
            <a:ext cx="825430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authorization rules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19200" y="5427345"/>
            <a:ext cx="825430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48"/>
              </a:lnSpc>
              <a:buNone/>
            </a:pPr>
            <a:r>
              <a:rPr lang="en-US" sz="1575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under normal load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219200" y="5935980"/>
            <a:ext cx="825430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35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tools: Postman, REST Assured, Karate, Playwright API testing.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85114" y="914400"/>
            <a:ext cx="7583686" cy="8610600"/>
          </a:xfrm>
          <a:prstGeom prst="roundRect">
            <a:avLst>
              <a:gd name="adj" fmla="val 3014"/>
            </a:avLst>
          </a:prstGeom>
          <a:solidFill>
            <a:srgbClr val="150027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114" y="1295400"/>
            <a:ext cx="7503855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48"/>
              </a:lnSpc>
              <a:buNone/>
            </a:pPr>
            <a:r>
              <a:rPr lang="en-US" sz="1425" spc="75" kern="0" dirty="0">
                <a:solidFill>
                  <a:srgbClr val="E33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866114" y="1739265"/>
            <a:ext cx="7026337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741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/api/v1/login Content-Type: application/json { "email": "ana@example.com", "password": "•••••••••" }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866114" y="3377565"/>
            <a:ext cx="6821686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66114" y="3577590"/>
            <a:ext cx="7503855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48"/>
              </a:lnSpc>
              <a:buNone/>
            </a:pPr>
            <a:r>
              <a:rPr lang="en-US" sz="1425" spc="75" kern="0" dirty="0">
                <a:solidFill>
                  <a:srgbClr val="E33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— 200 OK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866114" y="4021455"/>
            <a:ext cx="7026337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741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"token": "eyJhbGciOi...", "expiresIn": 3600, "userId": "u_48213" }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1386840"/>
            <a:ext cx="17434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Types at a Glance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19200" y="2567940"/>
            <a:ext cx="15849600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3436620"/>
            <a:ext cx="3234571" cy="15240"/>
          </a:xfrm>
          <a:prstGeom prst="rect">
            <a:avLst/>
          </a:prstGeom>
          <a:solidFill>
            <a:srgbClr val="150027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272796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53771" y="3436620"/>
            <a:ext cx="5175409" cy="15240"/>
          </a:xfrm>
          <a:prstGeom prst="rect">
            <a:avLst/>
          </a:prstGeom>
          <a:solidFill>
            <a:srgbClr val="150027"/>
          </a:solidFill>
          <a:ln/>
        </p:spPr>
      </p:sp>
      <p:sp>
        <p:nvSpPr>
          <p:cNvPr id="8" name="Text 6"/>
          <p:cNvSpPr/>
          <p:nvPr/>
        </p:nvSpPr>
        <p:spPr>
          <a:xfrm>
            <a:off x="4644271" y="272796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29180" y="3436620"/>
            <a:ext cx="2911078" cy="15240"/>
          </a:xfrm>
          <a:prstGeom prst="rect">
            <a:avLst/>
          </a:prstGeom>
          <a:solidFill>
            <a:srgbClr val="150027"/>
          </a:solidFill>
          <a:ln/>
        </p:spPr>
      </p:sp>
      <p:sp>
        <p:nvSpPr>
          <p:cNvPr id="10" name="Text 8"/>
          <p:cNvSpPr/>
          <p:nvPr/>
        </p:nvSpPr>
        <p:spPr>
          <a:xfrm>
            <a:off x="9819680" y="272796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540258" y="3436620"/>
            <a:ext cx="4528542" cy="15240"/>
          </a:xfrm>
          <a:prstGeom prst="rect">
            <a:avLst/>
          </a:prstGeom>
          <a:solidFill>
            <a:srgbClr val="150027"/>
          </a:solidFill>
          <a:ln/>
        </p:spPr>
      </p:sp>
      <p:sp>
        <p:nvSpPr>
          <p:cNvPr id="12" name="Text 10"/>
          <p:cNvSpPr/>
          <p:nvPr/>
        </p:nvSpPr>
        <p:spPr>
          <a:xfrm>
            <a:off x="12730758" y="272796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736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tool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19200" y="431292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360426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53771" y="431292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4644271" y="360426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 &amp; user satisfaction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29180" y="431292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9819680" y="360426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540258" y="431292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730758" y="360426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Maze, UserTesting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19200" y="518160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409700" y="447294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3771" y="518160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4644271" y="447294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behavior vs. spec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29180" y="518160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9819680" y="447294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540258" y="518160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2730758" y="447294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JUnit, Selenium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19200" y="605028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1409700" y="534162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453771" y="605028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4644271" y="534162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security, scale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629180" y="605028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9819680" y="534162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540258" y="605028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6" name="Text 34"/>
          <p:cNvSpPr/>
          <p:nvPr/>
        </p:nvSpPr>
        <p:spPr>
          <a:xfrm>
            <a:off x="12730758" y="534162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JMeter, OWASP ZAP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19200" y="691896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38" name="Text 36"/>
          <p:cNvSpPr/>
          <p:nvPr/>
        </p:nvSpPr>
        <p:spPr>
          <a:xfrm>
            <a:off x="1409700" y="621030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453771" y="691896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40" name="Text 38"/>
          <p:cNvSpPr/>
          <p:nvPr/>
        </p:nvSpPr>
        <p:spPr>
          <a:xfrm>
            <a:off x="4644271" y="621030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workflow across systems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629180" y="691896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42" name="Text 40"/>
          <p:cNvSpPr/>
          <p:nvPr/>
        </p:nvSpPr>
        <p:spPr>
          <a:xfrm>
            <a:off x="9819680" y="621030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2540258" y="691896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44" name="Text 42"/>
          <p:cNvSpPr/>
          <p:nvPr/>
        </p:nvSpPr>
        <p:spPr>
          <a:xfrm>
            <a:off x="12730758" y="621030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Cypress, Playwright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19200" y="778764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46" name="Text 44"/>
          <p:cNvSpPr/>
          <p:nvPr/>
        </p:nvSpPr>
        <p:spPr>
          <a:xfrm>
            <a:off x="1409700" y="707898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3771" y="778764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48" name="Text 46"/>
          <p:cNvSpPr/>
          <p:nvPr/>
        </p:nvSpPr>
        <p:spPr>
          <a:xfrm>
            <a:off x="4644271" y="707898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OS/browser/device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629180" y="778764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0" name="Text 48"/>
          <p:cNvSpPr/>
          <p:nvPr/>
        </p:nvSpPr>
        <p:spPr>
          <a:xfrm>
            <a:off x="9819680" y="707898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2540258" y="778764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2" name="Text 50"/>
          <p:cNvSpPr/>
          <p:nvPr/>
        </p:nvSpPr>
        <p:spPr>
          <a:xfrm>
            <a:off x="12730758" y="707898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BrowserStack, Sauce Labs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219200" y="8656320"/>
            <a:ext cx="3234571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4" name="Text 52"/>
          <p:cNvSpPr/>
          <p:nvPr/>
        </p:nvSpPr>
        <p:spPr>
          <a:xfrm>
            <a:off x="1409700" y="794766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453771" y="8656320"/>
            <a:ext cx="5175409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6" name="Text 54"/>
          <p:cNvSpPr/>
          <p:nvPr/>
        </p:nvSpPr>
        <p:spPr>
          <a:xfrm>
            <a:off x="4644271" y="794766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layout &amp; interaction states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629180" y="8656320"/>
            <a:ext cx="2911078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58" name="Text 56"/>
          <p:cNvSpPr/>
          <p:nvPr/>
        </p:nvSpPr>
        <p:spPr>
          <a:xfrm>
            <a:off x="9819680" y="794766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2540258" y="8656320"/>
            <a:ext cx="4528542" cy="9525"/>
          </a:xfrm>
          <a:prstGeom prst="rect">
            <a:avLst/>
          </a:prstGeom>
          <a:solidFill>
            <a:srgbClr val="ECEBEE"/>
          </a:solidFill>
          <a:ln/>
        </p:spPr>
      </p:sp>
      <p:sp>
        <p:nvSpPr>
          <p:cNvPr id="60" name="Text 58"/>
          <p:cNvSpPr/>
          <p:nvPr/>
        </p:nvSpPr>
        <p:spPr>
          <a:xfrm>
            <a:off x="12730758" y="794766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Applitools, Percy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409700" y="8816340"/>
            <a:ext cx="29506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644271" y="8816340"/>
            <a:ext cx="494967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via requests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819680" y="8816340"/>
            <a:ext cx="26174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2730758" y="8816340"/>
            <a:ext cx="428339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5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Postman, REST Assured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0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134553"/>
            <a:ext cx="174345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2606993"/>
            <a:ext cx="17434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4500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automate anything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19200" y="3940493"/>
            <a:ext cx="38993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23430" y="3940493"/>
            <a:ext cx="736848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Manifesto favors collaboration and maintainability over solo, throwaway scripts.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410700" y="3940493"/>
            <a:ext cx="457557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82557" y="3940493"/>
            <a:ext cx="636705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proves defects exist — never that a system is defect-free.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19200" y="4793933"/>
            <a:ext cx="4566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90105" y="4793933"/>
            <a:ext cx="628979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STLC is testing’s own life cycle, nested inside the broader SDLC.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10700" y="4793933"/>
            <a:ext cx="46791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92916" y="4793933"/>
            <a:ext cx="7288161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testing types each answer a different question — know which one fits.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19200" y="5990273"/>
            <a:ext cx="158496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6418898"/>
            <a:ext cx="1797022" cy="3314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E33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in Module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081457" y="6418898"/>
            <a:ext cx="68522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F4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what to automate, and writing your first automated test.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19200" y="7131368"/>
            <a:ext cx="15849600" cy="1021080"/>
          </a:xfrm>
          <a:prstGeom prst="roundRect">
            <a:avLst>
              <a:gd name="adj" fmla="val 1865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7820" y="7481887"/>
            <a:ext cx="165795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“Automation doesn’t replace good testing — it scales the testing discipline you already have.”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3149918"/>
            <a:ext cx="59855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IN DEVOPS — MODULE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19200" y="3698558"/>
            <a:ext cx="422204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6000" spc="-150" kern="0" dirty="0">
                <a:solidFill>
                  <a:srgbClr val="150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4993957"/>
            <a:ext cx="107918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4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picks up from here: selecting the right tests to automate and building your first automated suite.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19200" y="6502718"/>
            <a:ext cx="3695700" cy="634365"/>
          </a:xfrm>
          <a:prstGeom prst="roundRect">
            <a:avLst>
              <a:gd name="adj" fmla="val 24024"/>
            </a:avLst>
          </a:prstGeom>
          <a:solidFill>
            <a:srgbClr val="FAFAFB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6693218"/>
            <a:ext cx="356235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Manifesto &amp; Principles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5067300" y="6502718"/>
            <a:ext cx="3695700" cy="634365"/>
          </a:xfrm>
          <a:prstGeom prst="roundRect">
            <a:avLst>
              <a:gd name="adj" fmla="val 24024"/>
            </a:avLst>
          </a:prstGeom>
          <a:solidFill>
            <a:srgbClr val="FAFAFB"/>
          </a:solidFill>
          <a:ln/>
        </p:spPr>
      </p:sp>
      <p:sp>
        <p:nvSpPr>
          <p:cNvPr id="8" name="Text 6"/>
          <p:cNvSpPr/>
          <p:nvPr/>
        </p:nvSpPr>
        <p:spPr>
          <a:xfrm>
            <a:off x="5295900" y="6693218"/>
            <a:ext cx="356235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&amp; STLC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8915400" y="6502718"/>
            <a:ext cx="3695700" cy="634365"/>
          </a:xfrm>
          <a:prstGeom prst="roundRect">
            <a:avLst>
              <a:gd name="adj" fmla="val 24024"/>
            </a:avLst>
          </a:prstGeom>
          <a:solidFill>
            <a:srgbClr val="FAFA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6693218"/>
            <a:ext cx="356235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&amp; Functional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2763500" y="6502718"/>
            <a:ext cx="3695700" cy="634365"/>
          </a:xfrm>
          <a:prstGeom prst="roundRect">
            <a:avLst>
              <a:gd name="adj" fmla="val 24024"/>
            </a:avLst>
          </a:prstGeom>
          <a:solidFill>
            <a:srgbClr val="FA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92100" y="6693218"/>
            <a:ext cx="3562350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831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GUI &amp; E2E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2026-09-08T15:14:55Z</dcterms:created>
  <dcterms:modified xsi:type="dcterms:W3CDTF">2026-09-08T15:14:55Z</dcterms:modified>
</cp:coreProperties>
</file>